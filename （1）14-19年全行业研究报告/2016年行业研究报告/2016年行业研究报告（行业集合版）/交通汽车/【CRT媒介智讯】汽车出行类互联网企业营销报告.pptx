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theme/themeOverride1.xml" ContentType="application/vnd.openxmlformats-officedocument.themeOverr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9" r:id="rId2"/>
  </p:sldMasterIdLst>
  <p:notesMasterIdLst>
    <p:notesMasterId r:id="rId21"/>
  </p:notesMasterIdLst>
  <p:sldIdLst>
    <p:sldId id="256" r:id="rId3"/>
    <p:sldId id="257" r:id="rId4"/>
    <p:sldId id="472" r:id="rId5"/>
    <p:sldId id="473" r:id="rId6"/>
    <p:sldId id="261" r:id="rId7"/>
    <p:sldId id="474" r:id="rId8"/>
    <p:sldId id="364" r:id="rId9"/>
    <p:sldId id="461" r:id="rId10"/>
    <p:sldId id="266" r:id="rId11"/>
    <p:sldId id="454" r:id="rId12"/>
    <p:sldId id="456" r:id="rId13"/>
    <p:sldId id="460" r:id="rId14"/>
    <p:sldId id="470" r:id="rId15"/>
    <p:sldId id="468" r:id="rId16"/>
    <p:sldId id="476" r:id="rId17"/>
    <p:sldId id="467" r:id="rId18"/>
    <p:sldId id="469" r:id="rId19"/>
    <p:sldId id="471" r:id="rId2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B0F0"/>
    <a:srgbClr val="F1B015"/>
    <a:srgbClr val="996600"/>
    <a:srgbClr val="FFC00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12668" autoAdjust="0"/>
    <p:restoredTop sz="94618" autoAdjust="0"/>
  </p:normalViewPr>
  <p:slideViewPr>
    <p:cSldViewPr>
      <p:cViewPr>
        <p:scale>
          <a:sx n="80" d="100"/>
          <a:sy n="80" d="100"/>
        </p:scale>
        <p:origin x="-158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31"/>
    </mc:Choice>
    <mc:Fallback>
      <c:style val="31"/>
    </mc:Fallback>
  </mc:AlternateContent>
  <c:chart>
    <c:autoTitleDeleted val="1"/>
    <c:plotArea>
      <c:layout>
        <c:manualLayout>
          <c:layoutTarget val="inner"/>
          <c:xMode val="edge"/>
          <c:yMode val="edge"/>
          <c:x val="4.1666666666666675E-3"/>
          <c:y val="1.9771969781135424E-2"/>
          <c:w val="0.99583328038283037"/>
          <c:h val="0.87189062326408173"/>
        </c:manualLayout>
      </c:layout>
      <c:barChart>
        <c:barDir val="col"/>
        <c:grouping val="clustered"/>
        <c:varyColors val="0"/>
        <c:ser>
          <c:idx val="0"/>
          <c:order val="0"/>
          <c:tx>
            <c:strRef>
              <c:f>Sheet1!$B$1</c:f>
              <c:strCache>
                <c:ptCount val="1"/>
                <c:pt idx="0">
                  <c:v>汽车交易</c:v>
                </c:pt>
              </c:strCache>
            </c:strRef>
          </c:tx>
          <c:spPr>
            <a:solidFill>
              <a:srgbClr val="FF0000"/>
            </a:solidFill>
          </c:spPr>
          <c:invertIfNegative val="0"/>
          <c:dPt>
            <c:idx val="0"/>
            <c:invertIfNegative val="0"/>
            <c:bubble3D val="0"/>
            <c:spPr>
              <a:solidFill>
                <a:srgbClr val="FF0000"/>
              </a:solidFill>
            </c:spPr>
          </c:dPt>
          <c:dLbls>
            <c:dLbl>
              <c:idx val="0"/>
              <c:layout/>
              <c:tx>
                <c:rich>
                  <a:bodyPr/>
                  <a:lstStyle/>
                  <a:p>
                    <a:r>
                      <a:rPr lang="en-US" altLang="en-US" smtClean="0">
                        <a:latin typeface="Vrinda"/>
                        <a:cs typeface="Vrinda"/>
                      </a:rPr>
                      <a:t>&gt;</a:t>
                    </a:r>
                    <a:r>
                      <a:rPr lang="en-US" altLang="en-US" smtClean="0"/>
                      <a:t>1000.0</a:t>
                    </a:r>
                    <a:r>
                      <a:rPr lang="en-US" altLang="en-US"/>
                      <a:t>%</a:t>
                    </a:r>
                  </a:p>
                </c:rich>
              </c:tx>
              <c:showLegendKey val="0"/>
              <c:showVal val="1"/>
              <c:showCatName val="0"/>
              <c:showSerName val="0"/>
              <c:showPercent val="0"/>
              <c:showBubbleSize val="0"/>
            </c:dLbl>
            <c:dLbl>
              <c:idx val="1"/>
              <c:layout/>
              <c:tx>
                <c:rich>
                  <a:bodyPr/>
                  <a:lstStyle/>
                  <a:p>
                    <a:r>
                      <a:rPr lang="en-US" altLang="en-US" smtClean="0">
                        <a:latin typeface="Vrinda"/>
                        <a:cs typeface="Vrinda"/>
                      </a:rPr>
                      <a:t>&gt;</a:t>
                    </a:r>
                    <a:r>
                      <a:rPr lang="en-US" altLang="en-US" smtClean="0"/>
                      <a:t>1000.0</a:t>
                    </a:r>
                    <a:r>
                      <a:rPr lang="en-US" altLang="en-US"/>
                      <a:t>%</a:t>
                    </a:r>
                  </a:p>
                </c:rich>
              </c:tx>
              <c:showLegendKey val="0"/>
              <c:showVal val="1"/>
              <c:showCatName val="0"/>
              <c:showSerName val="0"/>
              <c:showPercent val="0"/>
              <c:showBubbleSize val="0"/>
            </c:dLbl>
            <c:dLbl>
              <c:idx val="2"/>
              <c:layout/>
              <c:tx>
                <c:rich>
                  <a:bodyPr/>
                  <a:lstStyle/>
                  <a:p>
                    <a:r>
                      <a:rPr lang="en-US" altLang="en-US" smtClean="0">
                        <a:latin typeface="Vrinda"/>
                        <a:cs typeface="Vrinda"/>
                      </a:rPr>
                      <a:t>&gt;</a:t>
                    </a:r>
                    <a:r>
                      <a:rPr lang="en-US" altLang="en-US" smtClean="0"/>
                      <a:t>1000.0</a:t>
                    </a:r>
                    <a:r>
                      <a:rPr lang="en-US" altLang="en-US"/>
                      <a:t>%</a:t>
                    </a:r>
                  </a:p>
                </c:rich>
              </c:tx>
              <c:showLegendKey val="0"/>
              <c:showVal val="1"/>
              <c:showCatName val="0"/>
              <c:showSerName val="0"/>
              <c:showPercent val="0"/>
              <c:showBubbleSize val="0"/>
            </c:dLbl>
            <c:dLbl>
              <c:idx val="3"/>
              <c:layout/>
              <c:tx>
                <c:rich>
                  <a:bodyPr/>
                  <a:lstStyle/>
                  <a:p>
                    <a:r>
                      <a:rPr lang="en-US" altLang="en-US" smtClean="0">
                        <a:latin typeface="Vrinda"/>
                        <a:cs typeface="Vrinda"/>
                      </a:rPr>
                      <a:t>&gt;</a:t>
                    </a:r>
                    <a:r>
                      <a:rPr lang="en-US" altLang="en-US" smtClean="0"/>
                      <a:t>1000.0</a:t>
                    </a:r>
                    <a:r>
                      <a:rPr lang="en-US" altLang="en-US"/>
                      <a:t>%</a:t>
                    </a:r>
                  </a:p>
                </c:rich>
              </c:tx>
              <c:showLegendKey val="0"/>
              <c:showVal val="1"/>
              <c:showCatName val="0"/>
              <c:showSerName val="0"/>
              <c:showPercent val="0"/>
              <c:showBubbleSize val="0"/>
            </c:dLbl>
            <c:txPr>
              <a:bodyPr/>
              <a:lstStyle/>
              <a:p>
                <a:pPr>
                  <a:defRPr sz="1200" b="1">
                    <a:solidFill>
                      <a:schemeClr val="bg1"/>
                    </a:solidFill>
                    <a:latin typeface="+mn-lt"/>
                    <a:ea typeface="华文中宋" panose="02010600040101010101" pitchFamily="2" charset="-122"/>
                  </a:defRPr>
                </a:pPr>
                <a:endParaRPr lang="zh-CN"/>
              </a:p>
            </c:txPr>
            <c:showLegendKey val="0"/>
            <c:showVal val="1"/>
            <c:showCatName val="0"/>
            <c:showSerName val="0"/>
            <c:showPercent val="0"/>
            <c:showBubbleSize val="0"/>
            <c:showLeaderLines val="0"/>
          </c:dLbls>
          <c:cat>
            <c:numRef>
              <c:f>Sheet1!$A$2:$A$5</c:f>
              <c:numCache>
                <c:formatCode>yyyy"年"m"月"</c:formatCode>
                <c:ptCount val="4"/>
                <c:pt idx="0">
                  <c:v>42370</c:v>
                </c:pt>
                <c:pt idx="1">
                  <c:v>42401</c:v>
                </c:pt>
                <c:pt idx="2">
                  <c:v>42430</c:v>
                </c:pt>
                <c:pt idx="3">
                  <c:v>42461</c:v>
                </c:pt>
              </c:numCache>
            </c:numRef>
          </c:cat>
          <c:val>
            <c:numRef>
              <c:f>Sheet1!$B$2:$B$5</c:f>
              <c:numCache>
                <c:formatCode>0.0%</c:formatCode>
                <c:ptCount val="4"/>
                <c:pt idx="0">
                  <c:v>10</c:v>
                </c:pt>
                <c:pt idx="1">
                  <c:v>10</c:v>
                </c:pt>
                <c:pt idx="2">
                  <c:v>10</c:v>
                </c:pt>
                <c:pt idx="3">
                  <c:v>10</c:v>
                </c:pt>
              </c:numCache>
            </c:numRef>
          </c:val>
        </c:ser>
        <c:ser>
          <c:idx val="1"/>
          <c:order val="1"/>
          <c:tx>
            <c:strRef>
              <c:f>Sheet1!$C$1</c:f>
              <c:strCache>
                <c:ptCount val="1"/>
                <c:pt idx="0">
                  <c:v>出行软件</c:v>
                </c:pt>
              </c:strCache>
            </c:strRef>
          </c:tx>
          <c:spPr>
            <a:solidFill>
              <a:srgbClr val="00B0F0"/>
            </a:solidFill>
          </c:spPr>
          <c:invertIfNegative val="0"/>
          <c:dLbls>
            <c:dLbl>
              <c:idx val="1"/>
              <c:layout>
                <c:manualLayout>
                  <c:x val="1.508347038111179E-2"/>
                  <c:y val="-2.1164315076102648E-2"/>
                </c:manualLayout>
              </c:layout>
              <c:showLegendKey val="0"/>
              <c:showVal val="1"/>
              <c:showCatName val="0"/>
              <c:showSerName val="0"/>
              <c:showPercent val="0"/>
              <c:showBubbleSize val="0"/>
            </c:dLbl>
            <c:txPr>
              <a:bodyPr/>
              <a:lstStyle/>
              <a:p>
                <a:pPr>
                  <a:defRPr sz="1200" b="1">
                    <a:solidFill>
                      <a:schemeClr val="bg1"/>
                    </a:solidFill>
                  </a:defRPr>
                </a:pPr>
                <a:endParaRPr lang="zh-CN"/>
              </a:p>
            </c:txPr>
            <c:showLegendKey val="0"/>
            <c:showVal val="1"/>
            <c:showCatName val="0"/>
            <c:showSerName val="0"/>
            <c:showPercent val="0"/>
            <c:showBubbleSize val="0"/>
            <c:showLeaderLines val="0"/>
          </c:dLbls>
          <c:cat>
            <c:numRef>
              <c:f>Sheet1!$A$2:$A$5</c:f>
              <c:numCache>
                <c:formatCode>yyyy"年"m"月"</c:formatCode>
                <c:ptCount val="4"/>
                <c:pt idx="0">
                  <c:v>42370</c:v>
                </c:pt>
                <c:pt idx="1">
                  <c:v>42401</c:v>
                </c:pt>
                <c:pt idx="2">
                  <c:v>42430</c:v>
                </c:pt>
                <c:pt idx="3">
                  <c:v>42461</c:v>
                </c:pt>
              </c:numCache>
            </c:numRef>
          </c:cat>
          <c:val>
            <c:numRef>
              <c:f>Sheet1!$C$2:$C$5</c:f>
              <c:numCache>
                <c:formatCode>0.0%</c:formatCode>
                <c:ptCount val="4"/>
                <c:pt idx="0">
                  <c:v>4.0860000000000003</c:v>
                </c:pt>
                <c:pt idx="1">
                  <c:v>9.8330000000000002</c:v>
                </c:pt>
                <c:pt idx="2">
                  <c:v>3.6840000000000002</c:v>
                </c:pt>
                <c:pt idx="3">
                  <c:v>-0.41299999999999998</c:v>
                </c:pt>
              </c:numCache>
            </c:numRef>
          </c:val>
        </c:ser>
        <c:ser>
          <c:idx val="2"/>
          <c:order val="2"/>
          <c:tx>
            <c:strRef>
              <c:f>Sheet1!$D$1</c:f>
              <c:strCache>
                <c:ptCount val="1"/>
                <c:pt idx="0">
                  <c:v>导航软件</c:v>
                </c:pt>
              </c:strCache>
            </c:strRef>
          </c:tx>
          <c:spPr>
            <a:solidFill>
              <a:srgbClr val="FFC000"/>
            </a:solidFill>
          </c:spPr>
          <c:invertIfNegative val="0"/>
          <c:dLbls>
            <c:dLbl>
              <c:idx val="0"/>
              <c:layout/>
              <c:tx>
                <c:rich>
                  <a:bodyPr/>
                  <a:lstStyle/>
                  <a:p>
                    <a:r>
                      <a:rPr lang="en-US" altLang="en-US" smtClean="0">
                        <a:latin typeface="Vrinda"/>
                        <a:cs typeface="Vrinda"/>
                      </a:rPr>
                      <a:t>&gt;</a:t>
                    </a:r>
                    <a:r>
                      <a:rPr lang="en-US" altLang="en-US" smtClean="0"/>
                      <a:t>1000.0</a:t>
                    </a:r>
                    <a:r>
                      <a:rPr lang="en-US" altLang="en-US"/>
                      <a:t>%</a:t>
                    </a:r>
                  </a:p>
                </c:rich>
              </c:tx>
              <c:showLegendKey val="0"/>
              <c:showVal val="1"/>
              <c:showCatName val="0"/>
              <c:showSerName val="0"/>
              <c:showPercent val="0"/>
              <c:showBubbleSize val="0"/>
            </c:dLbl>
            <c:txPr>
              <a:bodyPr/>
              <a:lstStyle/>
              <a:p>
                <a:pPr>
                  <a:defRPr sz="1200" b="1">
                    <a:solidFill>
                      <a:schemeClr val="bg1"/>
                    </a:solidFill>
                  </a:defRPr>
                </a:pPr>
                <a:endParaRPr lang="zh-CN"/>
              </a:p>
            </c:txPr>
            <c:showLegendKey val="0"/>
            <c:showVal val="1"/>
            <c:showCatName val="0"/>
            <c:showSerName val="0"/>
            <c:showPercent val="0"/>
            <c:showBubbleSize val="0"/>
            <c:showLeaderLines val="0"/>
          </c:dLbls>
          <c:cat>
            <c:numRef>
              <c:f>Sheet1!$A$2:$A$5</c:f>
              <c:numCache>
                <c:formatCode>yyyy"年"m"月"</c:formatCode>
                <c:ptCount val="4"/>
                <c:pt idx="0">
                  <c:v>42370</c:v>
                </c:pt>
                <c:pt idx="1">
                  <c:v>42401</c:v>
                </c:pt>
                <c:pt idx="2">
                  <c:v>42430</c:v>
                </c:pt>
                <c:pt idx="3">
                  <c:v>42461</c:v>
                </c:pt>
              </c:numCache>
            </c:numRef>
          </c:cat>
          <c:val>
            <c:numRef>
              <c:f>Sheet1!$D$2:$D$5</c:f>
              <c:numCache>
                <c:formatCode>0.0%</c:formatCode>
                <c:ptCount val="4"/>
                <c:pt idx="0">
                  <c:v>10</c:v>
                </c:pt>
                <c:pt idx="1">
                  <c:v>-0.68200000000000005</c:v>
                </c:pt>
                <c:pt idx="2">
                  <c:v>2.2050000000000001</c:v>
                </c:pt>
                <c:pt idx="3">
                  <c:v>-0.318</c:v>
                </c:pt>
              </c:numCache>
            </c:numRef>
          </c:val>
        </c:ser>
        <c:ser>
          <c:idx val="3"/>
          <c:order val="3"/>
          <c:tx>
            <c:strRef>
              <c:f>Sheet1!$E$1</c:f>
              <c:strCache>
                <c:ptCount val="1"/>
                <c:pt idx="0">
                  <c:v>汽车保养</c:v>
                </c:pt>
              </c:strCache>
            </c:strRef>
          </c:tx>
          <c:spPr>
            <a:solidFill>
              <a:srgbClr val="92D050"/>
            </a:solidFill>
          </c:spPr>
          <c:invertIfNegative val="0"/>
          <c:dLbls>
            <c:txPr>
              <a:bodyPr/>
              <a:lstStyle/>
              <a:p>
                <a:pPr>
                  <a:defRPr sz="1200" b="1">
                    <a:solidFill>
                      <a:schemeClr val="bg1"/>
                    </a:solidFill>
                  </a:defRPr>
                </a:pPr>
                <a:endParaRPr lang="zh-CN"/>
              </a:p>
            </c:txPr>
            <c:showLegendKey val="0"/>
            <c:showVal val="1"/>
            <c:showCatName val="0"/>
            <c:showSerName val="0"/>
            <c:showPercent val="0"/>
            <c:showBubbleSize val="0"/>
            <c:showLeaderLines val="0"/>
          </c:dLbls>
          <c:cat>
            <c:numRef>
              <c:f>Sheet1!$A$2:$A$5</c:f>
              <c:numCache>
                <c:formatCode>yyyy"年"m"月"</c:formatCode>
                <c:ptCount val="4"/>
                <c:pt idx="0">
                  <c:v>42370</c:v>
                </c:pt>
                <c:pt idx="1">
                  <c:v>42401</c:v>
                </c:pt>
                <c:pt idx="2">
                  <c:v>42430</c:v>
                </c:pt>
                <c:pt idx="3">
                  <c:v>42461</c:v>
                </c:pt>
              </c:numCache>
            </c:numRef>
          </c:cat>
          <c:val>
            <c:numRef>
              <c:f>Sheet1!$E$2:$E$5</c:f>
              <c:numCache>
                <c:formatCode>0.0%</c:formatCode>
                <c:ptCount val="4"/>
                <c:pt idx="0">
                  <c:v>0.94899999999999995</c:v>
                </c:pt>
                <c:pt idx="1">
                  <c:v>6.5000000000000002E-2</c:v>
                </c:pt>
                <c:pt idx="2">
                  <c:v>0.89400000000000002</c:v>
                </c:pt>
                <c:pt idx="3">
                  <c:v>9.7000000000000003E-2</c:v>
                </c:pt>
              </c:numCache>
            </c:numRef>
          </c:val>
        </c:ser>
        <c:dLbls>
          <c:showLegendKey val="0"/>
          <c:showVal val="1"/>
          <c:showCatName val="0"/>
          <c:showSerName val="0"/>
          <c:showPercent val="0"/>
          <c:showBubbleSize val="0"/>
        </c:dLbls>
        <c:gapWidth val="95"/>
        <c:axId val="36325632"/>
        <c:axId val="36347904"/>
      </c:barChart>
      <c:dateAx>
        <c:axId val="36325632"/>
        <c:scaling>
          <c:orientation val="minMax"/>
        </c:scaling>
        <c:delete val="0"/>
        <c:axPos val="b"/>
        <c:numFmt formatCode="yyyy&quot;年&quot;m&quot;月&quot;" sourceLinked="1"/>
        <c:majorTickMark val="none"/>
        <c:minorTickMark val="none"/>
        <c:tickLblPos val="low"/>
        <c:txPr>
          <a:bodyPr/>
          <a:lstStyle/>
          <a:p>
            <a:pPr>
              <a:defRPr sz="1400" b="1">
                <a:solidFill>
                  <a:schemeClr val="bg1"/>
                </a:solidFill>
                <a:latin typeface="华文中宋" panose="02010600040101010101" pitchFamily="2" charset="-122"/>
                <a:ea typeface="华文中宋" panose="02010600040101010101" pitchFamily="2" charset="-122"/>
              </a:defRPr>
            </a:pPr>
            <a:endParaRPr lang="zh-CN"/>
          </a:p>
        </c:txPr>
        <c:crossAx val="36347904"/>
        <c:crosses val="autoZero"/>
        <c:auto val="1"/>
        <c:lblOffset val="100"/>
        <c:baseTimeUnit val="months"/>
      </c:dateAx>
      <c:valAx>
        <c:axId val="36347904"/>
        <c:scaling>
          <c:orientation val="minMax"/>
        </c:scaling>
        <c:delete val="1"/>
        <c:axPos val="l"/>
        <c:numFmt formatCode="0.0%" sourceLinked="1"/>
        <c:majorTickMark val="out"/>
        <c:minorTickMark val="none"/>
        <c:tickLblPos val="nextTo"/>
        <c:crossAx val="36325632"/>
        <c:crosses val="autoZero"/>
        <c:crossBetween val="between"/>
      </c:valAx>
      <c:spPr>
        <a:solidFill>
          <a:schemeClr val="bg2">
            <a:alpha val="20000"/>
          </a:schemeClr>
        </a:solidFill>
      </c:spPr>
    </c:plotArea>
    <c:legend>
      <c:legendPos val="r"/>
      <c:layout>
        <c:manualLayout>
          <c:xMode val="edge"/>
          <c:yMode val="edge"/>
          <c:x val="0.86537325710202839"/>
          <c:y val="2.1122653038551282E-2"/>
          <c:w val="0.13311839585986054"/>
          <c:h val="0.25933229641150984"/>
        </c:manualLayout>
      </c:layout>
      <c:overlay val="0"/>
      <c:txPr>
        <a:bodyPr/>
        <a:lstStyle/>
        <a:p>
          <a:pPr>
            <a:defRPr sz="1100">
              <a:solidFill>
                <a:schemeClr val="bg1"/>
              </a:solidFill>
              <a:latin typeface="华文中宋" panose="02010600040101010101" pitchFamily="2" charset="-122"/>
              <a:ea typeface="华文中宋" panose="02010600040101010101" pitchFamily="2" charset="-122"/>
            </a:defRPr>
          </a:pPr>
          <a:endParaRPr lang="zh-CN"/>
        </a:p>
      </c:txPr>
    </c:legend>
    <c:plotVisOnly val="1"/>
    <c:dispBlanksAs val="gap"/>
    <c:showDLblsOverMax val="0"/>
  </c:chart>
  <c:txPr>
    <a:bodyPr/>
    <a:lstStyle/>
    <a:p>
      <a:pPr>
        <a:defRPr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5994208533584151"/>
          <c:y val="3.5412669796677822E-2"/>
          <c:w val="0.6903553843795911"/>
          <c:h val="0.83351248951574808"/>
        </c:manualLayout>
      </c:layout>
      <c:barChart>
        <c:barDir val="bar"/>
        <c:grouping val="percentStacked"/>
        <c:varyColors val="0"/>
        <c:ser>
          <c:idx val="0"/>
          <c:order val="0"/>
          <c:tx>
            <c:strRef>
              <c:f>Sheet1!$B$1</c:f>
              <c:strCache>
                <c:ptCount val="1"/>
                <c:pt idx="0">
                  <c:v>一线城市</c:v>
                </c:pt>
              </c:strCache>
            </c:strRef>
          </c:tx>
          <c:spPr>
            <a:solidFill>
              <a:srgbClr val="FF0000"/>
            </a:solidFill>
          </c:spPr>
          <c:invertIfNegative val="0"/>
          <c:dLbls>
            <c:dLbl>
              <c:idx val="1"/>
              <c:layout>
                <c:manualLayout>
                  <c:x val="1.2698334997112426E-2"/>
                  <c:y val="-3.759869657851861E-3"/>
                </c:manualLayout>
              </c:layout>
              <c:dLblPos val="ctr"/>
              <c:showLegendKey val="0"/>
              <c:showVal val="1"/>
              <c:showCatName val="0"/>
              <c:showSerName val="0"/>
              <c:showPercent val="0"/>
              <c:showBubbleSize val="0"/>
            </c:dLbl>
            <c:dLbl>
              <c:idx val="16"/>
              <c:layout>
                <c:manualLayout>
                  <c:x val="1.4109298850058814E-2"/>
                  <c:y val="1.2618243874289703E-2"/>
                </c:manualLayout>
              </c:layout>
              <c:dLblPos val="ctr"/>
              <c:showLegendKey val="0"/>
              <c:showVal val="1"/>
              <c:showCatName val="0"/>
              <c:showSerName val="0"/>
              <c:showPercent val="0"/>
              <c:showBubbleSize val="0"/>
            </c:dLbl>
            <c:txPr>
              <a:bodyPr/>
              <a:lstStyle/>
              <a:p>
                <a:pPr>
                  <a:defRPr sz="1100" b="1">
                    <a:solidFill>
                      <a:schemeClr val="bg1"/>
                    </a:solidFill>
                    <a:latin typeface="+mn-lt"/>
                  </a:defRPr>
                </a:pPr>
                <a:endParaRPr lang="zh-CN"/>
              </a:p>
            </c:txPr>
            <c:dLblPos val="ctr"/>
            <c:showLegendKey val="0"/>
            <c:showVal val="1"/>
            <c:showCatName val="0"/>
            <c:showSerName val="0"/>
            <c:showPercent val="0"/>
            <c:showBubbleSize val="0"/>
            <c:showLeaderLines val="0"/>
          </c:dLbls>
          <c:cat>
            <c:strRef>
              <c:f>Sheet1!$A$2:$A$6</c:f>
              <c:strCache>
                <c:ptCount val="5"/>
                <c:pt idx="0">
                  <c:v>汽车交易</c:v>
                </c:pt>
                <c:pt idx="1">
                  <c:v>出行用车</c:v>
                </c:pt>
                <c:pt idx="2">
                  <c:v>学车</c:v>
                </c:pt>
                <c:pt idx="3">
                  <c:v>汽车保养</c:v>
                </c:pt>
                <c:pt idx="4">
                  <c:v>导航软件</c:v>
                </c:pt>
              </c:strCache>
            </c:strRef>
          </c:cat>
          <c:val>
            <c:numRef>
              <c:f>Sheet1!$B$2:$B$6</c:f>
              <c:numCache>
                <c:formatCode>0.0%</c:formatCode>
                <c:ptCount val="5"/>
                <c:pt idx="0">
                  <c:v>0.33233846033049114</c:v>
                </c:pt>
                <c:pt idx="1">
                  <c:v>0.7249077322268217</c:v>
                </c:pt>
                <c:pt idx="2">
                  <c:v>1</c:v>
                </c:pt>
                <c:pt idx="3">
                  <c:v>0.73387747525303171</c:v>
                </c:pt>
                <c:pt idx="4">
                  <c:v>9.0508090212308892E-2</c:v>
                </c:pt>
              </c:numCache>
            </c:numRef>
          </c:val>
        </c:ser>
        <c:ser>
          <c:idx val="1"/>
          <c:order val="1"/>
          <c:tx>
            <c:strRef>
              <c:f>Sheet1!$C$1</c:f>
              <c:strCache>
                <c:ptCount val="1"/>
                <c:pt idx="0">
                  <c:v>二线城市</c:v>
                </c:pt>
              </c:strCache>
            </c:strRef>
          </c:tx>
          <c:spPr>
            <a:solidFill>
              <a:srgbClr val="00B0F0"/>
            </a:solidFill>
          </c:spPr>
          <c:invertIfNegative val="0"/>
          <c:dLbls>
            <c:dLbl>
              <c:idx val="1"/>
              <c:delete val="1"/>
            </c:dLbl>
            <c:dLbl>
              <c:idx val="2"/>
              <c:delete val="1"/>
            </c:dLbl>
            <c:dLbl>
              <c:idx val="6"/>
              <c:delete val="1"/>
            </c:dLbl>
            <c:dLbl>
              <c:idx val="12"/>
              <c:delete val="1"/>
            </c:dLbl>
            <c:dLbl>
              <c:idx val="13"/>
              <c:delete val="1"/>
            </c:dLbl>
            <c:dLbl>
              <c:idx val="14"/>
              <c:delete val="1"/>
            </c:dLbl>
            <c:dLbl>
              <c:idx val="16"/>
              <c:delete val="1"/>
            </c:dLbl>
            <c:txPr>
              <a:bodyPr/>
              <a:lstStyle/>
              <a:p>
                <a:pPr>
                  <a:defRPr sz="1100" b="1">
                    <a:solidFill>
                      <a:schemeClr val="bg1"/>
                    </a:solidFill>
                    <a:latin typeface="+mn-lt"/>
                  </a:defRPr>
                </a:pPr>
                <a:endParaRPr lang="zh-CN"/>
              </a:p>
            </c:txPr>
            <c:dLblPos val="inEnd"/>
            <c:showLegendKey val="0"/>
            <c:showVal val="1"/>
            <c:showCatName val="0"/>
            <c:showSerName val="0"/>
            <c:showPercent val="0"/>
            <c:showBubbleSize val="0"/>
            <c:showLeaderLines val="0"/>
          </c:dLbls>
          <c:cat>
            <c:strRef>
              <c:f>Sheet1!$A$2:$A$6</c:f>
              <c:strCache>
                <c:ptCount val="5"/>
                <c:pt idx="0">
                  <c:v>汽车交易</c:v>
                </c:pt>
                <c:pt idx="1">
                  <c:v>出行用车</c:v>
                </c:pt>
                <c:pt idx="2">
                  <c:v>学车</c:v>
                </c:pt>
                <c:pt idx="3">
                  <c:v>汽车保养</c:v>
                </c:pt>
                <c:pt idx="4">
                  <c:v>导航软件</c:v>
                </c:pt>
              </c:strCache>
            </c:strRef>
          </c:cat>
          <c:val>
            <c:numRef>
              <c:f>Sheet1!$C$2:$C$6</c:f>
              <c:numCache>
                <c:formatCode>0.0%</c:formatCode>
                <c:ptCount val="5"/>
                <c:pt idx="0">
                  <c:v>0.50676308664104319</c:v>
                </c:pt>
                <c:pt idx="1">
                  <c:v>0.27400128798075424</c:v>
                </c:pt>
                <c:pt idx="2">
                  <c:v>0</c:v>
                </c:pt>
                <c:pt idx="3">
                  <c:v>0.22904770217661519</c:v>
                </c:pt>
                <c:pt idx="4">
                  <c:v>0.90859831881768593</c:v>
                </c:pt>
              </c:numCache>
            </c:numRef>
          </c:val>
        </c:ser>
        <c:ser>
          <c:idx val="2"/>
          <c:order val="2"/>
          <c:tx>
            <c:strRef>
              <c:f>Sheet1!$D$1</c:f>
              <c:strCache>
                <c:ptCount val="1"/>
                <c:pt idx="0">
                  <c:v>低线城市</c:v>
                </c:pt>
              </c:strCache>
            </c:strRef>
          </c:tx>
          <c:spPr>
            <a:solidFill>
              <a:srgbClr val="FFC000"/>
            </a:solidFill>
          </c:spPr>
          <c:invertIfNegative val="0"/>
          <c:dLbls>
            <c:dLbl>
              <c:idx val="0"/>
              <c:layout>
                <c:manualLayout>
                  <c:x val="7.5803057507315086E-2"/>
                  <c:y val="9.5965852670953557E-3"/>
                </c:manualLayout>
              </c:layout>
              <c:dLblPos val="ctr"/>
              <c:showLegendKey val="0"/>
              <c:showVal val="1"/>
              <c:showCatName val="0"/>
              <c:showSerName val="0"/>
              <c:showPercent val="0"/>
              <c:showBubbleSize val="0"/>
            </c:dLbl>
            <c:dLbl>
              <c:idx val="1"/>
              <c:layout>
                <c:manualLayout>
                  <c:x val="0.20714964629396848"/>
                  <c:y val="8.2765335929892896E-4"/>
                </c:manualLayout>
              </c:layout>
              <c:dLblPos val="ctr"/>
              <c:showLegendKey val="0"/>
              <c:showVal val="1"/>
              <c:showCatName val="0"/>
              <c:showSerName val="0"/>
              <c:showPercent val="0"/>
              <c:showBubbleSize val="0"/>
            </c:dLbl>
            <c:dLbl>
              <c:idx val="2"/>
              <c:delete val="1"/>
            </c:dLbl>
            <c:dLbl>
              <c:idx val="3"/>
              <c:layout>
                <c:manualLayout>
                  <c:x val="3.8791169791133076E-2"/>
                  <c:y val="-6.1213570237257419E-3"/>
                </c:manualLayout>
              </c:layout>
              <c:dLblPos val="ctr"/>
              <c:showLegendKey val="0"/>
              <c:showVal val="1"/>
              <c:showCatName val="0"/>
              <c:showSerName val="0"/>
              <c:showPercent val="0"/>
              <c:showBubbleSize val="0"/>
            </c:dLbl>
            <c:dLbl>
              <c:idx val="4"/>
              <c:layout>
                <c:manualLayout>
                  <c:x val="4.7971616090199967E-2"/>
                  <c:y val="-2.5234500623559832E-3"/>
                </c:manualLayout>
              </c:layout>
              <c:dLblPos val="inEnd"/>
              <c:showLegendKey val="0"/>
              <c:showVal val="1"/>
              <c:showCatName val="0"/>
              <c:showSerName val="0"/>
              <c:showPercent val="0"/>
              <c:showBubbleSize val="0"/>
            </c:dLbl>
            <c:dLbl>
              <c:idx val="5"/>
              <c:layout>
                <c:manualLayout>
                  <c:x val="6.1548842641497521E-2"/>
                  <c:y val="0"/>
                </c:manualLayout>
              </c:layout>
              <c:dLblPos val="ctr"/>
              <c:showLegendKey val="0"/>
              <c:showVal val="1"/>
              <c:showCatName val="0"/>
              <c:showSerName val="0"/>
              <c:showPercent val="0"/>
              <c:showBubbleSize val="0"/>
            </c:dLbl>
            <c:dLbl>
              <c:idx val="6"/>
              <c:layout>
                <c:manualLayout>
                  <c:x val="0.33489885913123341"/>
                  <c:y val="-1.98574141737451E-3"/>
                </c:manualLayout>
              </c:layout>
              <c:dLblPos val="ctr"/>
              <c:showLegendKey val="0"/>
              <c:showVal val="1"/>
              <c:showCatName val="0"/>
              <c:showSerName val="0"/>
              <c:showPercent val="0"/>
              <c:showBubbleSize val="0"/>
            </c:dLbl>
            <c:dLbl>
              <c:idx val="7"/>
              <c:layout>
                <c:manualLayout>
                  <c:x val="0.19855510547077374"/>
                  <c:y val="6.1218390582972052E-3"/>
                </c:manualLayout>
              </c:layout>
              <c:dLblPos val="ctr"/>
              <c:showLegendKey val="0"/>
              <c:showVal val="1"/>
              <c:showCatName val="0"/>
              <c:showSerName val="0"/>
              <c:showPercent val="0"/>
              <c:showBubbleSize val="0"/>
            </c:dLbl>
            <c:dLbl>
              <c:idx val="8"/>
              <c:layout>
                <c:manualLayout>
                  <c:x val="4.7329920734625643E-2"/>
                  <c:y val="2.5244436248658161E-3"/>
                </c:manualLayout>
              </c:layout>
              <c:dLblPos val="inEnd"/>
              <c:showLegendKey val="0"/>
              <c:showVal val="1"/>
              <c:showCatName val="0"/>
              <c:showSerName val="0"/>
              <c:showPercent val="0"/>
              <c:showBubbleSize val="0"/>
            </c:dLbl>
            <c:dLbl>
              <c:idx val="10"/>
              <c:layout>
                <c:manualLayout>
                  <c:x val="0.19142200955376337"/>
                  <c:y val="0"/>
                </c:manualLayout>
              </c:layout>
              <c:dLblPos val="ctr"/>
              <c:showLegendKey val="0"/>
              <c:showVal val="1"/>
              <c:showCatName val="0"/>
              <c:showSerName val="0"/>
              <c:showPercent val="0"/>
              <c:showBubbleSize val="0"/>
            </c:dLbl>
            <c:dLbl>
              <c:idx val="11"/>
              <c:layout>
                <c:manualLayout>
                  <c:x val="4.7971616090199967E-2"/>
                  <c:y val="-2.5234500623559832E-3"/>
                </c:manualLayout>
              </c:layout>
              <c:dLblPos val="inEnd"/>
              <c:showLegendKey val="0"/>
              <c:showVal val="1"/>
              <c:showCatName val="0"/>
              <c:showSerName val="0"/>
              <c:showPercent val="0"/>
              <c:showBubbleSize val="0"/>
            </c:dLbl>
            <c:dLbl>
              <c:idx val="12"/>
              <c:layout>
                <c:manualLayout>
                  <c:x val="0.35105191049043311"/>
                  <c:y val="0"/>
                </c:manualLayout>
              </c:layout>
              <c:dLblPos val="ctr"/>
              <c:showLegendKey val="0"/>
              <c:showVal val="1"/>
              <c:showCatName val="0"/>
              <c:showSerName val="0"/>
              <c:showPercent val="0"/>
              <c:showBubbleSize val="0"/>
            </c:dLbl>
            <c:dLbl>
              <c:idx val="13"/>
              <c:layout>
                <c:manualLayout>
                  <c:x val="0.34895467469476499"/>
                  <c:y val="6.1218390582972607E-3"/>
                </c:manualLayout>
              </c:layout>
              <c:dLblPos val="ctr"/>
              <c:showLegendKey val="0"/>
              <c:showVal val="1"/>
              <c:showCatName val="0"/>
              <c:showSerName val="0"/>
              <c:showPercent val="0"/>
              <c:showBubbleSize val="0"/>
            </c:dLbl>
            <c:dLbl>
              <c:idx val="14"/>
              <c:layout>
                <c:manualLayout>
                  <c:x val="0.3393227049609755"/>
                  <c:y val="1.1223241955029531E-16"/>
                </c:manualLayout>
              </c:layout>
              <c:dLblPos val="ctr"/>
              <c:showLegendKey val="0"/>
              <c:showVal val="1"/>
              <c:showCatName val="0"/>
              <c:showSerName val="0"/>
              <c:showPercent val="0"/>
              <c:showBubbleSize val="0"/>
            </c:dLbl>
            <c:dLbl>
              <c:idx val="16"/>
              <c:layout>
                <c:manualLayout>
                  <c:x val="0.36439174742259939"/>
                  <c:y val="7.116758413913446E-3"/>
                </c:manualLayout>
              </c:layout>
              <c:dLblPos val="ctr"/>
              <c:showLegendKey val="0"/>
              <c:showVal val="1"/>
              <c:showCatName val="0"/>
              <c:showSerName val="0"/>
              <c:showPercent val="0"/>
              <c:showBubbleSize val="0"/>
            </c:dLbl>
            <c:dLbl>
              <c:idx val="17"/>
              <c:layout>
                <c:manualLayout>
                  <c:x val="4.3027017324864775E-2"/>
                  <c:y val="4.8203457151946937E-7"/>
                </c:manualLayout>
              </c:layout>
              <c:dLblPos val="ctr"/>
              <c:showLegendKey val="0"/>
              <c:showVal val="1"/>
              <c:showCatName val="0"/>
              <c:showSerName val="0"/>
              <c:showPercent val="0"/>
              <c:showBubbleSize val="0"/>
            </c:dLbl>
            <c:txPr>
              <a:bodyPr/>
              <a:lstStyle/>
              <a:p>
                <a:pPr>
                  <a:defRPr sz="1100" b="1">
                    <a:solidFill>
                      <a:schemeClr val="bg1"/>
                    </a:solidFill>
                    <a:latin typeface="+mn-lt"/>
                  </a:defRPr>
                </a:pPr>
                <a:endParaRPr lang="zh-CN"/>
              </a:p>
            </c:txPr>
            <c:dLblPos val="inEnd"/>
            <c:showLegendKey val="0"/>
            <c:showVal val="1"/>
            <c:showCatName val="0"/>
            <c:showSerName val="0"/>
            <c:showPercent val="0"/>
            <c:showBubbleSize val="0"/>
            <c:showLeaderLines val="0"/>
          </c:dLbls>
          <c:cat>
            <c:strRef>
              <c:f>Sheet1!$A$2:$A$6</c:f>
              <c:strCache>
                <c:ptCount val="5"/>
                <c:pt idx="0">
                  <c:v>汽车交易</c:v>
                </c:pt>
                <c:pt idx="1">
                  <c:v>出行用车</c:v>
                </c:pt>
                <c:pt idx="2">
                  <c:v>学车</c:v>
                </c:pt>
                <c:pt idx="3">
                  <c:v>汽车保养</c:v>
                </c:pt>
                <c:pt idx="4">
                  <c:v>导航软件</c:v>
                </c:pt>
              </c:strCache>
            </c:strRef>
          </c:cat>
          <c:val>
            <c:numRef>
              <c:f>Sheet1!$D$2:$D$6</c:f>
              <c:numCache>
                <c:formatCode>0.0%</c:formatCode>
                <c:ptCount val="5"/>
                <c:pt idx="0">
                  <c:v>0.16089845302846567</c:v>
                </c:pt>
                <c:pt idx="1">
                  <c:v>1.0909797924240697E-3</c:v>
                </c:pt>
                <c:pt idx="2">
                  <c:v>0</c:v>
                </c:pt>
                <c:pt idx="3">
                  <c:v>3.7074822570353126E-2</c:v>
                </c:pt>
                <c:pt idx="4">
                  <c:v>8.9359097000522034E-4</c:v>
                </c:pt>
              </c:numCache>
            </c:numRef>
          </c:val>
        </c:ser>
        <c:dLbls>
          <c:dLblPos val="inEnd"/>
          <c:showLegendKey val="0"/>
          <c:showVal val="1"/>
          <c:showCatName val="0"/>
          <c:showSerName val="0"/>
          <c:showPercent val="0"/>
          <c:showBubbleSize val="0"/>
        </c:dLbls>
        <c:gapWidth val="150"/>
        <c:overlap val="100"/>
        <c:axId val="37152640"/>
        <c:axId val="37154176"/>
      </c:barChart>
      <c:catAx>
        <c:axId val="37152640"/>
        <c:scaling>
          <c:orientation val="maxMin"/>
        </c:scaling>
        <c:delete val="0"/>
        <c:axPos val="l"/>
        <c:majorTickMark val="out"/>
        <c:minorTickMark val="none"/>
        <c:tickLblPos val="nextTo"/>
        <c:txPr>
          <a:bodyPr/>
          <a:lstStyle/>
          <a:p>
            <a:pPr>
              <a:defRPr sz="1200" b="1">
                <a:solidFill>
                  <a:schemeClr val="bg1"/>
                </a:solidFill>
                <a:latin typeface="华文中宋" pitchFamily="2" charset="-122"/>
                <a:ea typeface="华文中宋" pitchFamily="2" charset="-122"/>
              </a:defRPr>
            </a:pPr>
            <a:endParaRPr lang="zh-CN"/>
          </a:p>
        </c:txPr>
        <c:crossAx val="37154176"/>
        <c:crosses val="autoZero"/>
        <c:auto val="1"/>
        <c:lblAlgn val="ctr"/>
        <c:lblOffset val="100"/>
        <c:noMultiLvlLbl val="0"/>
      </c:catAx>
      <c:valAx>
        <c:axId val="37154176"/>
        <c:scaling>
          <c:orientation val="minMax"/>
        </c:scaling>
        <c:delete val="1"/>
        <c:axPos val="t"/>
        <c:numFmt formatCode="0%" sourceLinked="1"/>
        <c:majorTickMark val="out"/>
        <c:minorTickMark val="none"/>
        <c:tickLblPos val="nextTo"/>
        <c:crossAx val="37152640"/>
        <c:crosses val="autoZero"/>
        <c:crossBetween val="between"/>
      </c:valAx>
    </c:plotArea>
    <c:legend>
      <c:legendPos val="b"/>
      <c:layout>
        <c:manualLayout>
          <c:xMode val="edge"/>
          <c:yMode val="edge"/>
          <c:x val="0.34197426183279106"/>
          <c:y val="0.88512441312290913"/>
          <c:w val="0.35722011706051976"/>
          <c:h val="5.1276851320305496E-2"/>
        </c:manualLayout>
      </c:layout>
      <c:overlay val="0"/>
      <c:txPr>
        <a:bodyPr/>
        <a:lstStyle/>
        <a:p>
          <a:pPr>
            <a:defRPr sz="1000">
              <a:solidFill>
                <a:schemeClr val="bg1"/>
              </a:solidFill>
              <a:latin typeface="华文中宋" pitchFamily="2" charset="-122"/>
              <a:ea typeface="华文中宋" pitchFamily="2" charset="-122"/>
            </a:defRPr>
          </a:pPr>
          <a:endParaRPr lang="zh-CN"/>
        </a:p>
      </c:txPr>
    </c:legend>
    <c:plotVisOnly val="1"/>
    <c:dispBlanksAs val="gap"/>
    <c:showDLblsOverMax val="0"/>
  </c:chart>
  <c:txPr>
    <a:bodyPr/>
    <a:lstStyle/>
    <a:p>
      <a:pPr>
        <a:defRPr sz="1800"/>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083333561169462E-2"/>
          <c:y val="9.0173202466993681E-4"/>
          <c:w val="0.92180478147471367"/>
          <c:h val="0.9207391160357522"/>
        </c:manualLayout>
      </c:layout>
      <c:barChart>
        <c:barDir val="col"/>
        <c:grouping val="clustered"/>
        <c:varyColors val="0"/>
        <c:ser>
          <c:idx val="0"/>
          <c:order val="0"/>
          <c:tx>
            <c:strRef>
              <c:f>Sheet1!$B$1</c:f>
              <c:strCache>
                <c:ptCount val="1"/>
                <c:pt idx="0">
                  <c:v>列2</c:v>
                </c:pt>
              </c:strCache>
            </c:strRef>
          </c:tx>
          <c:spPr>
            <a:solidFill>
              <a:srgbClr val="FF0000"/>
            </a:solidFill>
            <a:ln>
              <a:noFill/>
            </a:ln>
            <a:effectLst/>
          </c:spPr>
          <c:invertIfNegative val="0"/>
          <c:dPt>
            <c:idx val="4"/>
            <c:invertIfNegative val="0"/>
            <c:bubble3D val="0"/>
            <c:spPr>
              <a:solidFill>
                <a:srgbClr val="FF0000"/>
              </a:solidFill>
              <a:ln>
                <a:noFill/>
              </a:ln>
              <a:effectLst/>
            </c:spPr>
          </c:dPt>
          <c:dPt>
            <c:idx val="5"/>
            <c:invertIfNegative val="0"/>
            <c:bubble3D val="0"/>
            <c:spPr>
              <a:solidFill>
                <a:srgbClr val="00B0F0"/>
              </a:solidFill>
              <a:ln>
                <a:noFill/>
              </a:ln>
              <a:effectLst/>
            </c:spPr>
          </c:dPt>
          <c:dPt>
            <c:idx val="6"/>
            <c:invertIfNegative val="0"/>
            <c:bubble3D val="0"/>
          </c:dPt>
          <c:dPt>
            <c:idx val="8"/>
            <c:invertIfNegative val="0"/>
            <c:bubble3D val="0"/>
            <c:spPr>
              <a:solidFill>
                <a:srgbClr val="FF0000"/>
              </a:solidFill>
              <a:ln>
                <a:noFill/>
              </a:ln>
              <a:effectLst/>
            </c:spPr>
          </c:dPt>
          <c:dLbls>
            <c:dLbl>
              <c:idx val="1"/>
              <c:layout>
                <c:manualLayout>
                  <c:x val="4.393701267902588E-3"/>
                  <c:y val="4.2172450979162494E-3"/>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0-DA73-475E-999D-246AB91BB73F}"/>
                </c:ext>
              </c:extLst>
            </c:dLbl>
            <c:dLbl>
              <c:idx val="3"/>
              <c:layout>
                <c:manualLayout>
                  <c:x val="4.974628715510577E-3"/>
                  <c:y val="6.7783348406677676E-3"/>
                </c:manualLayout>
              </c:layout>
              <c:tx>
                <c:rich>
                  <a:bodyPr/>
                  <a:lstStyle/>
                  <a:p>
                    <a:r>
                      <a:rPr lang="en-US" altLang="en-US" dirty="0" smtClean="0">
                        <a:latin typeface="Calibri"/>
                        <a:cs typeface="Calibri"/>
                      </a:rPr>
                      <a:t>&gt;</a:t>
                    </a:r>
                    <a:r>
                      <a:rPr lang="en-US" altLang="en-US" dirty="0" smtClean="0"/>
                      <a:t>1000%</a:t>
                    </a:r>
                    <a:endParaRPr lang="en-US" altLang="en-US" dirty="0"/>
                  </a:p>
                </c:rich>
              </c:tx>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1-DA73-475E-999D-246AB91BB73F}"/>
                </c:ext>
              </c:extLst>
            </c:dLbl>
            <c:dLbl>
              <c:idx val="5"/>
              <c:layout>
                <c:manualLayout>
                  <c:x val="0"/>
                  <c:y val="3.3889005567574806E-3"/>
                </c:manualLayout>
              </c:layout>
              <c:showLegendKey val="0"/>
              <c:showVal val="1"/>
              <c:showCatName val="0"/>
              <c:showSerName val="0"/>
              <c:showPercent val="0"/>
              <c:showBubbleSize val="0"/>
            </c:dLbl>
            <c:dLbl>
              <c:idx val="6"/>
              <c:layout>
                <c:manualLayout>
                  <c:x val="3.2952759509269412E-3"/>
                  <c:y val="1.3994059083062088E-2"/>
                </c:manualLayout>
              </c:layout>
              <c:tx>
                <c:rich>
                  <a:bodyPr/>
                  <a:lstStyle/>
                  <a:p>
                    <a:r>
                      <a:rPr lang="en-US" altLang="en-US" dirty="0" smtClean="0">
                        <a:latin typeface="Calibri"/>
                        <a:cs typeface="Calibri"/>
                      </a:rPr>
                      <a:t>&gt;</a:t>
                    </a:r>
                    <a:r>
                      <a:rPr lang="en-US" altLang="en-US" dirty="0" smtClean="0"/>
                      <a:t>1000%</a:t>
                    </a:r>
                    <a:endParaRPr lang="en-US" altLang="en-US" dirty="0"/>
                  </a:p>
                </c:rich>
              </c:tx>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2-DA73-475E-999D-246AB91BB73F}"/>
                </c:ext>
              </c:extLst>
            </c:dLbl>
            <c:dLbl>
              <c:idx val="8"/>
              <c:layout>
                <c:manualLayout>
                  <c:x val="-7.6706236615667707E-3"/>
                  <c:y val="-8.902101418391992E-3"/>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DA73-475E-999D-246AB91BB73F}"/>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华文中宋" panose="02010600040101010101" pitchFamily="2" charset="-122"/>
                    <a:cs typeface="+mn-cs"/>
                  </a:defRPr>
                </a:pPr>
                <a:endParaRPr lang="zh-CN"/>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商务楼宇视频</c:v>
                </c:pt>
                <c:pt idx="1">
                  <c:v>电视</c:v>
                </c:pt>
                <c:pt idx="2">
                  <c:v>电台</c:v>
                </c:pt>
                <c:pt idx="3">
                  <c:v>影院视频</c:v>
                </c:pt>
                <c:pt idx="4">
                  <c:v>传统户外</c:v>
                </c:pt>
                <c:pt idx="5">
                  <c:v>传统地铁</c:v>
                </c:pt>
                <c:pt idx="6">
                  <c:v>交通类视频</c:v>
                </c:pt>
                <c:pt idx="7">
                  <c:v>报纸</c:v>
                </c:pt>
              </c:strCache>
            </c:strRef>
          </c:cat>
          <c:val>
            <c:numRef>
              <c:f>Sheet1!$B$2:$B$9</c:f>
              <c:numCache>
                <c:formatCode>0.0%</c:formatCode>
                <c:ptCount val="8"/>
                <c:pt idx="0">
                  <c:v>5.1994255723818599</c:v>
                </c:pt>
                <c:pt idx="1">
                  <c:v>4.3757856675564595</c:v>
                </c:pt>
                <c:pt idx="2">
                  <c:v>1.9156745759377192</c:v>
                </c:pt>
                <c:pt idx="3">
                  <c:v>10</c:v>
                </c:pt>
                <c:pt idx="4">
                  <c:v>1.5809746381467706</c:v>
                </c:pt>
                <c:pt idx="5">
                  <c:v>-0.62454342138780605</c:v>
                </c:pt>
                <c:pt idx="6">
                  <c:v>10</c:v>
                </c:pt>
                <c:pt idx="7">
                  <c:v>4.2531057638500283</c:v>
                </c:pt>
              </c:numCache>
            </c:numRef>
          </c:val>
          <c:extLst xmlns:c16r2="http://schemas.microsoft.com/office/drawing/2015/06/chart">
            <c:ext xmlns:c16="http://schemas.microsoft.com/office/drawing/2014/chart" uri="{C3380CC4-5D6E-409C-BE32-E72D297353CC}">
              <c16:uniqueId val="{00000004-DA73-475E-999D-246AB91BB73F}"/>
            </c:ext>
          </c:extLst>
        </c:ser>
        <c:dLbls>
          <c:showLegendKey val="0"/>
          <c:showVal val="0"/>
          <c:showCatName val="0"/>
          <c:showSerName val="0"/>
          <c:showPercent val="0"/>
          <c:showBubbleSize val="0"/>
        </c:dLbls>
        <c:gapWidth val="72"/>
        <c:axId val="32696192"/>
        <c:axId val="32697728"/>
      </c:barChart>
      <c:catAx>
        <c:axId val="32696192"/>
        <c:scaling>
          <c:orientation val="minMax"/>
        </c:scaling>
        <c:delete val="0"/>
        <c:axPos val="b"/>
        <c:numFmt formatCode="General" sourceLinked="1"/>
        <c:majorTickMark val="none"/>
        <c:minorTickMark val="none"/>
        <c:tickLblPos val="low"/>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200" b="1" i="0" u="none" strike="noStrike" kern="1200" cap="none" spc="20" normalizeH="0" baseline="0">
                <a:solidFill>
                  <a:schemeClr val="bg1"/>
                </a:solidFill>
                <a:latin typeface="华文中宋" panose="02010600040101010101" pitchFamily="2" charset="-122"/>
                <a:ea typeface="华文中宋" panose="02010600040101010101" pitchFamily="2" charset="-122"/>
                <a:cs typeface="+mn-cs"/>
              </a:defRPr>
            </a:pPr>
            <a:endParaRPr lang="zh-CN"/>
          </a:p>
        </c:txPr>
        <c:crossAx val="32697728"/>
        <c:crosses val="autoZero"/>
        <c:auto val="1"/>
        <c:lblAlgn val="ctr"/>
        <c:lblOffset val="0"/>
        <c:noMultiLvlLbl val="0"/>
      </c:catAx>
      <c:valAx>
        <c:axId val="32697728"/>
        <c:scaling>
          <c:orientation val="minMax"/>
        </c:scaling>
        <c:delete val="1"/>
        <c:axPos val="l"/>
        <c:numFmt formatCode="0.0%" sourceLinked="1"/>
        <c:majorTickMark val="none"/>
        <c:minorTickMark val="none"/>
        <c:tickLblPos val="nextTo"/>
        <c:crossAx val="32696192"/>
        <c:crosses val="autoZero"/>
        <c:crossBetween val="between"/>
      </c:valAx>
      <c:spPr>
        <a:solidFill>
          <a:sysClr val="window" lastClr="FFFFFF">
            <a:lumMod val="95000"/>
            <a:alpha val="30000"/>
          </a:sysClr>
        </a:solidFill>
        <a:effectLst/>
      </c:spPr>
    </c:plotArea>
    <c:plotVisOnly val="1"/>
    <c:dispBlanksAs val="gap"/>
    <c:showDLblsOverMax val="0"/>
  </c:chart>
  <c:spPr>
    <a:noFill/>
    <a:ln>
      <a:noFill/>
    </a:ln>
    <a:effectLst/>
  </c:spPr>
  <c:txPr>
    <a:bodyPr/>
    <a:lstStyle/>
    <a:p>
      <a:pPr>
        <a:defRPr/>
      </a:pPr>
      <a:endParaRPr lang="zh-CN"/>
    </a:p>
  </c:tx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CAFA64-20C5-4033-BC95-92CF60827222}" type="datetimeFigureOut">
              <a:rPr lang="zh-CN" altLang="en-US" smtClean="0"/>
              <a:pPr/>
              <a:t>2016/7/1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6C4602-3FE8-4E71-9BDB-68FD4C7F28CD}" type="slidenum">
              <a:rPr lang="zh-CN" altLang="en-US" smtClean="0"/>
              <a:pPr/>
              <a:t>‹#›</a:t>
            </a:fld>
            <a:endParaRPr lang="zh-CN" altLang="en-US"/>
          </a:p>
        </p:txBody>
      </p:sp>
    </p:spTree>
    <p:extLst>
      <p:ext uri="{BB962C8B-B14F-4D97-AF65-F5344CB8AC3E}">
        <p14:creationId xmlns:p14="http://schemas.microsoft.com/office/powerpoint/2010/main" val="2390932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6</a:t>
            </a:fld>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7</a:t>
            </a:fld>
            <a:endParaRPr lang="zh-CN" alt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8</a:t>
            </a:fld>
            <a:endParaRPr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pPr/>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10</a:t>
            </a:fld>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11</a:t>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12</a:t>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13</a:t>
            </a:fld>
            <a:endParaRPr lang="zh-CN" alt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14</a:t>
            </a:fld>
            <a:endParaRPr lang="zh-CN" alt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15</a:t>
            </a:fld>
            <a:endParaRPr lang="zh-CN" alt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16</a:t>
            </a:fld>
            <a:endParaRPr lang="zh-CN" alt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17</a:t>
            </a:fld>
            <a:endParaRPr lang="zh-CN" alt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18</a:t>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2016/7/1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Title Slide">
    <p:bg>
      <p:bgPr>
        <a:blipFill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2814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95798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502774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21582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918064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763337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045286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370837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52587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941859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094779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892357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969852"/>
      </p:ext>
    </p:extLst>
  </p:cSld>
  <p:clrMapOvr>
    <a:masterClrMapping/>
  </p:clrMapOvr>
  <p:transition spd="slow">
    <p:push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_Title Slide">
    <p:bg>
      <p:bgPr>
        <a:blipFill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06460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6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729420"/>
      </p:ext>
    </p:extLst>
  </p:cSld>
  <p:clrMapOvr>
    <a:masterClrMapping/>
  </p:clrMapOvr>
  <p:transition spd="slow">
    <p:push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2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145790"/>
      </p:ext>
    </p:extLst>
  </p:cSld>
  <p:clrMapOvr>
    <a:masterClrMapping/>
  </p:clrMapOvr>
  <p:transition spd="slow">
    <p:push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465174"/>
      </p:ext>
    </p:extLst>
  </p:cSld>
  <p:clrMapOvr>
    <a:masterClrMapping/>
  </p:clrMapOvr>
  <p:transition spd="slow">
    <p:push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9447187"/>
      </p:ext>
    </p:extLst>
  </p:cSld>
  <p:clrMapOvr>
    <a:masterClrMapping/>
  </p:clrMapOvr>
  <p:transition spd="slow">
    <p:push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2016/7/1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2016/7/1</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5982099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3.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3.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0.xml"/><Relationship Id="rId7" Type="http://schemas.openxmlformats.org/officeDocument/2006/relationships/notesSlide" Target="../notesSlides/notesSlide4.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Layout" Target="../slideLayouts/slideLayout12.xml"/><Relationship Id="rId5" Type="http://schemas.openxmlformats.org/officeDocument/2006/relationships/tags" Target="../tags/tag22.xml"/><Relationship Id="rId4" Type="http://schemas.openxmlformats.org/officeDocument/2006/relationships/tags" Target="../tags/tag2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tags" Target="../tags/tag34.xml"/><Relationship Id="rId2" Type="http://schemas.openxmlformats.org/officeDocument/2006/relationships/tags" Target="../tags/tag24.xml"/><Relationship Id="rId16" Type="http://schemas.openxmlformats.org/officeDocument/2006/relationships/image" Target="../media/image3.png"/><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5" Type="http://schemas.openxmlformats.org/officeDocument/2006/relationships/tags" Target="../tags/tag27.xml"/><Relationship Id="rId15" Type="http://schemas.openxmlformats.org/officeDocument/2006/relationships/notesSlide" Target="../notesSlides/notesSlide11.xml"/><Relationship Id="rId10" Type="http://schemas.openxmlformats.org/officeDocument/2006/relationships/tags" Target="../tags/tag32.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image" Target="../media/image3.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notesSlide" Target="../notesSlides/notesSlide15.xml"/><Relationship Id="rId5" Type="http://schemas.openxmlformats.org/officeDocument/2006/relationships/slideLayout" Target="../slideLayouts/slideLayout12.xml"/><Relationship Id="rId4" Type="http://schemas.openxmlformats.org/officeDocument/2006/relationships/tags" Target="../tags/tag39.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1"/>
          <p:cNvSpPr txBox="1"/>
          <p:nvPr/>
        </p:nvSpPr>
        <p:spPr>
          <a:xfrm>
            <a:off x="971600" y="2659065"/>
            <a:ext cx="7632848" cy="1345999"/>
          </a:xfrm>
          <a:prstGeom prst="rect">
            <a:avLst/>
          </a:prstGeom>
        </p:spPr>
        <p:txBody>
          <a:bodyPr vert="horz" lIns="91440" tIns="45720" rIns="91440" bIns="45720" rtlCol="0" anchor="ctr">
            <a:noAutofit/>
          </a:bodyPr>
          <a:lstStyle>
            <a:lvl1pPr algn="ctr" defTabSz="914400" rtl="0" eaLnBrk="1" latinLnBrk="0" hangingPunct="1">
              <a:lnSpc>
                <a:spcPct val="100000"/>
              </a:lnSpc>
              <a:spcBef>
                <a:spcPct val="0"/>
              </a:spcBef>
              <a:buNone/>
              <a:defRPr sz="3400" b="1" i="0" kern="1200">
                <a:ln w="14605">
                  <a:noFill/>
                </a:ln>
                <a:solidFill>
                  <a:schemeClr val="tx1"/>
                </a:solidFill>
                <a:effectLst/>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4800" noProof="0" dirty="0">
                <a:solidFill>
                  <a:srgbClr val="FFFFFF"/>
                </a:solidFill>
                <a:latin typeface="Arial Black"/>
                <a:ea typeface="微软雅黑"/>
              </a:rPr>
              <a:t>汽车出行</a:t>
            </a:r>
            <a:r>
              <a:rPr lang="zh-CN" altLang="en-US" sz="4800" noProof="0" dirty="0" smtClean="0">
                <a:solidFill>
                  <a:srgbClr val="FFFFFF"/>
                </a:solidFill>
                <a:latin typeface="Arial Black"/>
                <a:ea typeface="微软雅黑"/>
              </a:rPr>
              <a:t>类互联网企业</a:t>
            </a:r>
            <a:endParaRPr lang="en-US" altLang="zh-CN" sz="4800" noProof="0" dirty="0" smtClean="0">
              <a:solidFill>
                <a:srgbClr val="FFFFFF"/>
              </a:solidFill>
              <a:latin typeface="Arial Black"/>
              <a:ea typeface="微软雅黑"/>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4800" noProof="0" dirty="0" smtClean="0">
                <a:solidFill>
                  <a:srgbClr val="FFFFFF"/>
                </a:solidFill>
                <a:latin typeface="Arial Black"/>
                <a:ea typeface="微软雅黑"/>
              </a:rPr>
              <a:t>广告营销报告</a:t>
            </a:r>
            <a:endParaRPr kumimoji="0" lang="zh-CN" altLang="en-US" sz="4800" b="1" i="0" u="none" strike="noStrike" kern="1200" cap="none" spc="0" normalizeH="0" baseline="0" noProof="0" dirty="0">
              <a:ln w="14605">
                <a:noFill/>
              </a:ln>
              <a:solidFill>
                <a:srgbClr val="FFFFFF"/>
              </a:solidFill>
              <a:effectLst/>
              <a:uLnTx/>
              <a:uFillTx/>
              <a:latin typeface="Arial Black"/>
              <a:ea typeface="微软雅黑"/>
              <a:cs typeface="+mj-cs"/>
            </a:endParaRPr>
          </a:p>
        </p:txBody>
      </p:sp>
      <p:sp>
        <p:nvSpPr>
          <p:cNvPr id="34" name="副标题 2"/>
          <p:cNvSpPr txBox="1"/>
          <p:nvPr/>
        </p:nvSpPr>
        <p:spPr>
          <a:xfrm>
            <a:off x="3287271" y="4143305"/>
            <a:ext cx="5770760" cy="403225"/>
          </a:xfrm>
          <a:prstGeom prst="rect">
            <a:avLst/>
          </a:prstGeom>
          <a:noFill/>
          <a:ln w="19050">
            <a:noFill/>
          </a:ln>
        </p:spPr>
        <p:txBody>
          <a:bodyPr vert="horz" lIns="91440" tIns="45720" rIns="91440" bIns="45720" rtlCol="0" anchor="ctr">
            <a:noAutofit/>
          </a:bodyPr>
          <a:lstStyle>
            <a:lvl1pPr marL="0" indent="0" algn="ctr" defTabSz="914400" rtl="0" eaLnBrk="1" latinLnBrk="0" hangingPunct="1">
              <a:lnSpc>
                <a:spcPct val="90000"/>
              </a:lnSpc>
              <a:spcBef>
                <a:spcPts val="1800"/>
              </a:spcBef>
              <a:buClr>
                <a:schemeClr val="accent1"/>
              </a:buClr>
              <a:buSzPct val="70000"/>
              <a:buFont typeface="Wingdings" pitchFamily="2" charset="2"/>
              <a:buNone/>
              <a:defRPr sz="1600" kern="1200">
                <a:solidFill>
                  <a:schemeClr val="tx1"/>
                </a:solidFill>
                <a:latin typeface="+mn-lt"/>
                <a:ea typeface="+mn-ea"/>
                <a:cs typeface="+mn-cs"/>
              </a:defRPr>
            </a:lvl1pPr>
            <a:lvl2pPr marL="457200" indent="0" algn="ctr" defTabSz="914400" rtl="0" eaLnBrk="1" latinLnBrk="0" hangingPunct="1">
              <a:lnSpc>
                <a:spcPct val="130000"/>
              </a:lnSpc>
              <a:spcBef>
                <a:spcPts val="0"/>
              </a:spcBef>
              <a:buFont typeface="Calibri"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itchFamily="34" charset="0"/>
              <a:buNone/>
              <a:defRPr sz="1800" kern="1200">
                <a:solidFill>
                  <a:schemeClr val="bg1">
                    <a:lumMod val="50000"/>
                  </a:schemeClr>
                </a:solidFill>
                <a:latin typeface="+mn-lt"/>
                <a:ea typeface="+mn-ea"/>
                <a:cs typeface="+mn-cs"/>
              </a:defRPr>
            </a:lvl3pPr>
            <a:lvl4pPr marL="1371600" indent="0" algn="ctr" defTabSz="914400" rtl="0" eaLnBrk="1" latinLnBrk="0" hangingPunct="1">
              <a:lnSpc>
                <a:spcPct val="90000"/>
              </a:lnSpc>
              <a:spcBef>
                <a:spcPts val="500"/>
              </a:spcBef>
              <a:buFont typeface="Arial" pitchFamily="34" charset="0"/>
              <a:buNone/>
              <a:defRPr sz="1600" kern="1200">
                <a:solidFill>
                  <a:schemeClr val="bg1">
                    <a:lumMod val="50000"/>
                  </a:schemeClr>
                </a:solidFill>
                <a:latin typeface="+mn-lt"/>
                <a:ea typeface="+mn-ea"/>
                <a:cs typeface="+mn-cs"/>
              </a:defRPr>
            </a:lvl4pPr>
            <a:lvl5pPr marL="1828800" indent="0" algn="ctr" defTabSz="914400" rtl="0" eaLnBrk="1" latinLnBrk="0" hangingPunct="1">
              <a:lnSpc>
                <a:spcPct val="90000"/>
              </a:lnSpc>
              <a:spcBef>
                <a:spcPts val="500"/>
              </a:spcBef>
              <a:buFont typeface="Arial" pitchFamily="34" charset="0"/>
              <a:buNone/>
              <a:defRPr sz="1600" kern="1200">
                <a:solidFill>
                  <a:schemeClr val="bg1">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800"/>
              </a:spcBef>
              <a:spcAft>
                <a:spcPts val="0"/>
              </a:spcAft>
              <a:buClr>
                <a:srgbClr val="6D8A8C"/>
              </a:buClr>
              <a:buSzPct val="70000"/>
              <a:buFont typeface="Wingdings" pitchFamily="2" charset="2"/>
              <a:buNone/>
              <a:defRPr/>
            </a:pPr>
            <a:r>
              <a:rPr kumimoji="0" lang="en-US" altLang="zh-CN" sz="2000" b="0" i="0" u="none" strike="noStrike" kern="1200" cap="none" spc="0" normalizeH="0" baseline="0" noProof="0" dirty="0">
                <a:ln>
                  <a:noFill/>
                </a:ln>
                <a:solidFill>
                  <a:srgbClr val="FFFFFF"/>
                </a:solidFill>
                <a:effectLst/>
                <a:uLnTx/>
                <a:uFillTx/>
                <a:latin typeface="华文中宋" panose="02010600040101010101" pitchFamily="2" charset="-122"/>
                <a:ea typeface="华文中宋" panose="02010600040101010101" pitchFamily="2" charset="-122"/>
              </a:rPr>
              <a:t>——</a:t>
            </a:r>
            <a:r>
              <a:rPr kumimoji="0" lang="en-US" altLang="zh-CN" sz="2000" b="0" i="0" u="none" strike="noStrike" kern="1200" cap="none" spc="0" normalizeH="0" baseline="0" noProof="0" dirty="0" smtClean="0">
                <a:ln>
                  <a:noFill/>
                </a:ln>
                <a:solidFill>
                  <a:srgbClr val="FFFFFF"/>
                </a:solidFill>
                <a:effectLst/>
                <a:uLnTx/>
                <a:uFillTx/>
                <a:latin typeface="华文中宋" panose="02010600040101010101" pitchFamily="2" charset="-122"/>
                <a:ea typeface="华文中宋" panose="02010600040101010101" pitchFamily="2" charset="-122"/>
              </a:rPr>
              <a:t>CTR</a:t>
            </a:r>
            <a:r>
              <a:rPr kumimoji="0" lang="zh-CN" altLang="en-US" sz="2000" b="0" i="0" u="none" strike="noStrike" kern="1200" cap="none" spc="0" normalizeH="0" baseline="0" noProof="0" dirty="0" smtClean="0">
                <a:ln>
                  <a:noFill/>
                </a:ln>
                <a:solidFill>
                  <a:srgbClr val="FFFFFF"/>
                </a:solidFill>
                <a:effectLst/>
                <a:uLnTx/>
                <a:uFillTx/>
                <a:latin typeface="华文中宋" panose="02010600040101010101" pitchFamily="2" charset="-122"/>
                <a:ea typeface="华文中宋" panose="02010600040101010101" pitchFamily="2" charset="-122"/>
              </a:rPr>
              <a:t>市场研究</a:t>
            </a:r>
            <a:r>
              <a:rPr kumimoji="0" lang="en-US" altLang="zh-CN" sz="2000" b="0" i="0" u="none" strike="noStrike" kern="1200" cap="none" spc="0" normalizeH="0" baseline="0" noProof="0" dirty="0" smtClean="0">
                <a:ln>
                  <a:noFill/>
                </a:ln>
                <a:solidFill>
                  <a:srgbClr val="FFFFFF"/>
                </a:solidFill>
                <a:effectLst/>
                <a:uLnTx/>
                <a:uFillTx/>
                <a:latin typeface="华文中宋" panose="02010600040101010101" pitchFamily="2" charset="-122"/>
                <a:ea typeface="华文中宋" panose="02010600040101010101" pitchFamily="2" charset="-122"/>
              </a:rPr>
              <a:t>-</a:t>
            </a:r>
            <a:r>
              <a:rPr kumimoji="0" lang="zh-CN" altLang="en-US" sz="2000" b="0" i="0" u="none" strike="noStrike" kern="1200" cap="none" spc="0" normalizeH="0" baseline="0" noProof="0" dirty="0" smtClean="0">
                <a:ln>
                  <a:noFill/>
                </a:ln>
                <a:solidFill>
                  <a:srgbClr val="FFFFFF"/>
                </a:solidFill>
                <a:effectLst/>
                <a:uLnTx/>
                <a:uFillTx/>
                <a:latin typeface="华文中宋" panose="02010600040101010101" pitchFamily="2" charset="-122"/>
                <a:ea typeface="华文中宋" panose="02010600040101010101" pitchFamily="2" charset="-122"/>
              </a:rPr>
              <a:t>媒介</a:t>
            </a:r>
            <a:r>
              <a:rPr kumimoji="0" lang="zh-CN" altLang="en-US" sz="2000" b="0" i="0" u="none" strike="noStrike" kern="1200" cap="none" spc="0" normalizeH="0" baseline="0" noProof="0" dirty="0">
                <a:ln>
                  <a:noFill/>
                </a:ln>
                <a:solidFill>
                  <a:srgbClr val="FFFFFF"/>
                </a:solidFill>
                <a:effectLst/>
                <a:uLnTx/>
                <a:uFillTx/>
                <a:latin typeface="华文中宋" panose="02010600040101010101" pitchFamily="2" charset="-122"/>
                <a:ea typeface="华文中宋" panose="02010600040101010101" pitchFamily="2" charset="-122"/>
              </a:rPr>
              <a:t>智讯</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23528" y="1700813"/>
            <a:ext cx="3677394" cy="3677395"/>
          </a:xfrm>
          <a:prstGeom prst="rect">
            <a:avLst/>
          </a:prstGeom>
        </p:spPr>
      </p:pic>
      <p:sp>
        <p:nvSpPr>
          <p:cNvPr id="3" name="标题 1"/>
          <p:cNvSpPr txBox="1"/>
          <p:nvPr/>
        </p:nvSpPr>
        <p:spPr>
          <a:xfrm>
            <a:off x="3810602" y="2924944"/>
            <a:ext cx="5219341" cy="111363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smtClean="0">
                <a:ln>
                  <a:noFill/>
                </a:ln>
                <a:solidFill>
                  <a:srgbClr val="FFFFFF"/>
                </a:solidFill>
                <a:effectLst/>
                <a:uLnTx/>
                <a:uFillTx/>
                <a:latin typeface="Arial Black"/>
                <a:ea typeface="微软雅黑"/>
                <a:cs typeface="+mj-cs"/>
              </a:rPr>
              <a:t>汽车出行类互联网企业</a:t>
            </a:r>
            <a:endParaRPr kumimoji="0" lang="en-US" altLang="zh-CN" sz="2800" b="1" i="0" u="none" strike="noStrike" kern="1200" cap="none" spc="0" normalizeH="0" baseline="0" noProof="0" dirty="0" smtClean="0">
              <a:ln>
                <a:noFill/>
              </a:ln>
              <a:solidFill>
                <a:srgbClr val="FFFFFF"/>
              </a:solidFill>
              <a:effectLst/>
              <a:uLnTx/>
              <a:uFillTx/>
              <a:latin typeface="Arial Black"/>
              <a:ea typeface="微软雅黑"/>
              <a:cs typeface="+mj-cs"/>
            </a:endParaRPr>
          </a:p>
          <a:p>
            <a:pPr marL="0" marR="0" lvl="0" indent="0" algn="l" defTabSz="914400" rtl="0" eaLnBrk="1" fontAlgn="auto" latinLnBrk="0" hangingPunct="1">
              <a:lnSpc>
                <a:spcPct val="90000"/>
              </a:lnSpc>
              <a:spcBef>
                <a:spcPct val="0"/>
              </a:spcBef>
              <a:spcAft>
                <a:spcPts val="0"/>
              </a:spcAft>
              <a:buClrTx/>
              <a:buSzTx/>
              <a:buFontTx/>
              <a:buNone/>
              <a:defRPr/>
            </a:pPr>
            <a:r>
              <a:rPr lang="en-US" altLang="zh-CN" b="1" dirty="0">
                <a:solidFill>
                  <a:srgbClr val="FFFFFF"/>
                </a:solidFill>
                <a:latin typeface="Arial Black"/>
                <a:ea typeface="微软雅黑"/>
              </a:rPr>
              <a:t> </a:t>
            </a:r>
            <a:r>
              <a:rPr lang="en-US" altLang="zh-CN" b="1" dirty="0" smtClean="0">
                <a:solidFill>
                  <a:srgbClr val="FFFFFF"/>
                </a:solidFill>
                <a:latin typeface="Arial Black"/>
                <a:ea typeface="微软雅黑"/>
              </a:rPr>
              <a:t>              </a:t>
            </a:r>
            <a:r>
              <a:rPr lang="zh-CN" altLang="en-US" b="1" dirty="0" smtClean="0">
                <a:solidFill>
                  <a:srgbClr val="FFFFFF"/>
                </a:solidFill>
                <a:latin typeface="Arial Black"/>
                <a:ea typeface="微软雅黑"/>
              </a:rPr>
              <a:t>广告营销概览</a:t>
            </a:r>
            <a:endPar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7" name="标题 1"/>
          <p:cNvSpPr txBox="1"/>
          <p:nvPr/>
        </p:nvSpPr>
        <p:spPr>
          <a:xfrm>
            <a:off x="251521" y="163359"/>
            <a:ext cx="6552728" cy="60134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b="1" dirty="0">
                <a:solidFill>
                  <a:srgbClr val="FFC000"/>
                </a:solidFill>
                <a:latin typeface="Arial Black"/>
                <a:ea typeface="微软雅黑"/>
              </a:rPr>
              <a:t>汽车</a:t>
            </a:r>
            <a:r>
              <a:rPr lang="zh-CN" altLang="en-US" b="1" dirty="0" smtClean="0">
                <a:solidFill>
                  <a:srgbClr val="FFC000"/>
                </a:solidFill>
                <a:latin typeface="Arial Black"/>
                <a:ea typeface="微软雅黑"/>
              </a:rPr>
              <a:t>出行类互联网生态链</a:t>
            </a:r>
            <a:endParaRPr kumimoji="0" lang="zh-CN" altLang="en-US" sz="2800" b="1" i="0" u="none" strike="noStrike" kern="1200" cap="none" spc="0" normalizeH="0" baseline="0" noProof="0" dirty="0">
              <a:ln>
                <a:noFill/>
              </a:ln>
              <a:solidFill>
                <a:srgbClr val="FFC000"/>
              </a:solidFill>
              <a:effectLst/>
              <a:uLnTx/>
              <a:uFillTx/>
              <a:latin typeface="Arial Black"/>
              <a:ea typeface="微软雅黑"/>
              <a:cs typeface="+mj-cs"/>
            </a:endParaRPr>
          </a:p>
        </p:txBody>
      </p:sp>
      <p:sp>
        <p:nvSpPr>
          <p:cNvPr id="12" name="矩形 11"/>
          <p:cNvSpPr/>
          <p:nvPr/>
        </p:nvSpPr>
        <p:spPr>
          <a:xfrm>
            <a:off x="2444632" y="6554331"/>
            <a:ext cx="6591869" cy="259045"/>
          </a:xfrm>
          <a:prstGeom prst="rect">
            <a:avLst/>
          </a:prstGeom>
        </p:spPr>
        <p:txBody>
          <a:bodyPr wrap="none">
            <a:spAutoFit/>
          </a:bodyPr>
          <a:lstStyle/>
          <a:p>
            <a:pPr algn="r" latinLnBrk="1">
              <a:lnSpc>
                <a:spcPts val="1300"/>
              </a:lnSpc>
            </a:pPr>
            <a:r>
              <a:rPr lang="zh-CN" altLang="zh-CN" sz="1100" kern="100" dirty="0">
                <a:solidFill>
                  <a:srgbClr val="FFFFFF"/>
                </a:solidFill>
                <a:latin typeface="华文中宋" panose="02010600040101010101" pitchFamily="2" charset="-122"/>
                <a:ea typeface="华文中宋" panose="02010600040101010101" pitchFamily="2" charset="-122"/>
              </a:rPr>
              <a:t>数据来源：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smtClean="0">
                <a:solidFill>
                  <a:srgbClr val="FFFFFF"/>
                </a:solidFill>
                <a:latin typeface="华文中宋" panose="02010600040101010101" pitchFamily="2" charset="-122"/>
                <a:ea typeface="华文中宋" panose="02010600040101010101" pitchFamily="2" charset="-122"/>
              </a:rPr>
              <a:t>市场研究</a:t>
            </a:r>
            <a:r>
              <a:rPr lang="en-US" altLang="zh-CN" sz="1100" kern="100" dirty="0" smtClean="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cxnSp>
        <p:nvCxnSpPr>
          <p:cNvPr id="8" name="MH_Other_1"/>
          <p:cNvCxnSpPr/>
          <p:nvPr>
            <p:custDataLst>
              <p:tags r:id="rId1"/>
            </p:custDataLst>
          </p:nvPr>
        </p:nvCxnSpPr>
        <p:spPr>
          <a:xfrm>
            <a:off x="69850" y="3130500"/>
            <a:ext cx="574675" cy="0"/>
          </a:xfrm>
          <a:prstGeom prst="line">
            <a:avLst/>
          </a:prstGeom>
          <a:ln w="25400">
            <a:solidFill>
              <a:srgbClr val="D5D5D5"/>
            </a:solidFill>
            <a:headEnd type="oval"/>
          </a:ln>
        </p:spPr>
        <p:style>
          <a:lnRef idx="1">
            <a:schemeClr val="accent1"/>
          </a:lnRef>
          <a:fillRef idx="0">
            <a:schemeClr val="accent1"/>
          </a:fillRef>
          <a:effectRef idx="0">
            <a:schemeClr val="accent1"/>
          </a:effectRef>
          <a:fontRef idx="minor">
            <a:schemeClr val="tx1"/>
          </a:fontRef>
        </p:style>
      </p:cxnSp>
      <p:sp>
        <p:nvSpPr>
          <p:cNvPr id="9" name="MH_SubTitle_1"/>
          <p:cNvSpPr>
            <a:spLocks noChangeArrowheads="1"/>
          </p:cNvSpPr>
          <p:nvPr>
            <p:custDataLst>
              <p:tags r:id="rId2"/>
            </p:custDataLst>
          </p:nvPr>
        </p:nvSpPr>
        <p:spPr bwMode="auto">
          <a:xfrm>
            <a:off x="830263" y="2606625"/>
            <a:ext cx="1047750" cy="1047750"/>
          </a:xfrm>
          <a:prstGeom prst="ellipse">
            <a:avLst/>
          </a:prstGeom>
          <a:solidFill>
            <a:srgbClr val="00B0F0"/>
          </a:solidFill>
          <a:ln>
            <a:noFill/>
          </a:ln>
        </p:spPr>
        <p:txBody>
          <a:bodyPr lIns="0" tIns="0" rIns="0" bIns="0"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fontAlgn="auto" hangingPunct="1">
              <a:spcBef>
                <a:spcPts val="0"/>
              </a:spcBef>
              <a:spcAft>
                <a:spcPts val="0"/>
              </a:spcAft>
              <a:defRPr/>
            </a:pPr>
            <a:r>
              <a:rPr lang="zh-CN" altLang="en-US" sz="2000" b="1" dirty="0" smtClean="0">
                <a:solidFill>
                  <a:srgbClr val="FFFFFF"/>
                </a:solidFill>
                <a:latin typeface="华文中宋" panose="02010600040101010101" pitchFamily="2" charset="-122"/>
                <a:ea typeface="华文中宋" panose="02010600040101010101" pitchFamily="2" charset="-122"/>
              </a:rPr>
              <a:t>学车</a:t>
            </a:r>
            <a:endParaRPr lang="en-US" altLang="zh-CN" sz="2000" b="1" dirty="0" smtClean="0">
              <a:solidFill>
                <a:srgbClr val="FFFFFF"/>
              </a:solidFill>
              <a:latin typeface="华文中宋" panose="02010600040101010101" pitchFamily="2" charset="-122"/>
              <a:ea typeface="华文中宋" panose="02010600040101010101" pitchFamily="2" charset="-122"/>
            </a:endParaRPr>
          </a:p>
        </p:txBody>
      </p:sp>
      <p:sp>
        <p:nvSpPr>
          <p:cNvPr id="10" name="MH_Other_2"/>
          <p:cNvSpPr>
            <a:spLocks/>
          </p:cNvSpPr>
          <p:nvPr>
            <p:custDataLst>
              <p:tags r:id="rId3"/>
            </p:custDataLst>
          </p:nvPr>
        </p:nvSpPr>
        <p:spPr bwMode="auto">
          <a:xfrm flipH="1">
            <a:off x="1354138" y="2420888"/>
            <a:ext cx="720725" cy="709612"/>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11" name="MH_Other_3"/>
          <p:cNvSpPr>
            <a:spLocks/>
          </p:cNvSpPr>
          <p:nvPr>
            <p:custDataLst>
              <p:tags r:id="rId4"/>
            </p:custDataLst>
          </p:nvPr>
        </p:nvSpPr>
        <p:spPr bwMode="auto">
          <a:xfrm flipV="1">
            <a:off x="633413" y="3130500"/>
            <a:ext cx="720725" cy="709613"/>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13" name="MH_SubTitle_2"/>
          <p:cNvSpPr>
            <a:spLocks noChangeArrowheads="1"/>
          </p:cNvSpPr>
          <p:nvPr>
            <p:custDataLst>
              <p:tags r:id="rId5"/>
            </p:custDataLst>
          </p:nvPr>
        </p:nvSpPr>
        <p:spPr bwMode="auto">
          <a:xfrm>
            <a:off x="2974975" y="2606625"/>
            <a:ext cx="1046163" cy="1047750"/>
          </a:xfrm>
          <a:prstGeom prst="ellipse">
            <a:avLst/>
          </a:prstGeom>
          <a:solidFill>
            <a:srgbClr val="F1B015"/>
          </a:solidFill>
          <a:ln>
            <a:noFill/>
          </a:ln>
        </p:spPr>
        <p:txBody>
          <a:bodyPr lIns="0" tIns="0" rIns="0" bIns="0"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fontAlgn="auto" hangingPunct="1">
              <a:spcBef>
                <a:spcPts val="0"/>
              </a:spcBef>
              <a:spcAft>
                <a:spcPts val="0"/>
              </a:spcAft>
              <a:defRPr/>
            </a:pPr>
            <a:r>
              <a:rPr lang="zh-CN" altLang="en-US" sz="2000" b="1" dirty="0" smtClean="0">
                <a:solidFill>
                  <a:srgbClr val="FFFFFF"/>
                </a:solidFill>
                <a:latin typeface="华文中宋" panose="02010600040101010101" pitchFamily="2" charset="-122"/>
                <a:ea typeface="华文中宋" panose="02010600040101010101" pitchFamily="2" charset="-122"/>
              </a:rPr>
              <a:t>买车</a:t>
            </a:r>
            <a:endParaRPr lang="en-US" altLang="zh-CN" sz="2000" b="1" dirty="0" smtClean="0">
              <a:solidFill>
                <a:srgbClr val="FFFFFF"/>
              </a:solidFill>
              <a:latin typeface="华文中宋" panose="02010600040101010101" pitchFamily="2" charset="-122"/>
              <a:ea typeface="华文中宋" panose="02010600040101010101" pitchFamily="2" charset="-122"/>
            </a:endParaRPr>
          </a:p>
        </p:txBody>
      </p:sp>
      <p:sp>
        <p:nvSpPr>
          <p:cNvPr id="14" name="MH_Other_4"/>
          <p:cNvSpPr>
            <a:spLocks/>
          </p:cNvSpPr>
          <p:nvPr>
            <p:custDataLst>
              <p:tags r:id="rId6"/>
            </p:custDataLst>
          </p:nvPr>
        </p:nvSpPr>
        <p:spPr bwMode="auto">
          <a:xfrm flipH="1">
            <a:off x="3498850" y="2420888"/>
            <a:ext cx="720725" cy="709612"/>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15" name="MH_Other_5"/>
          <p:cNvSpPr>
            <a:spLocks/>
          </p:cNvSpPr>
          <p:nvPr>
            <p:custDataLst>
              <p:tags r:id="rId7"/>
            </p:custDataLst>
          </p:nvPr>
        </p:nvSpPr>
        <p:spPr bwMode="auto">
          <a:xfrm flipV="1">
            <a:off x="2778125" y="3130500"/>
            <a:ext cx="720725" cy="709613"/>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18" name="MH_SubTitle_3"/>
          <p:cNvSpPr>
            <a:spLocks noChangeArrowheads="1"/>
          </p:cNvSpPr>
          <p:nvPr>
            <p:custDataLst>
              <p:tags r:id="rId8"/>
            </p:custDataLst>
          </p:nvPr>
        </p:nvSpPr>
        <p:spPr bwMode="auto">
          <a:xfrm>
            <a:off x="5118100" y="2606625"/>
            <a:ext cx="1046163" cy="1047750"/>
          </a:xfrm>
          <a:prstGeom prst="ellipse">
            <a:avLst/>
          </a:prstGeom>
          <a:solidFill>
            <a:srgbClr val="00B050"/>
          </a:solidFill>
          <a:ln>
            <a:noFill/>
          </a:ln>
        </p:spPr>
        <p:txBody>
          <a:bodyPr lIns="0" tIns="0" rIns="0" bIns="0"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fontAlgn="auto" hangingPunct="1">
              <a:spcBef>
                <a:spcPts val="0"/>
              </a:spcBef>
              <a:spcAft>
                <a:spcPts val="0"/>
              </a:spcAft>
              <a:defRPr/>
            </a:pPr>
            <a:r>
              <a:rPr lang="zh-CN" altLang="en-US" sz="2000" b="1" dirty="0" smtClean="0">
                <a:solidFill>
                  <a:srgbClr val="FFFFFF"/>
                </a:solidFill>
                <a:latin typeface="华文中宋" panose="02010600040101010101" pitchFamily="2" charset="-122"/>
                <a:ea typeface="华文中宋" panose="02010600040101010101" pitchFamily="2" charset="-122"/>
              </a:rPr>
              <a:t>用车</a:t>
            </a:r>
            <a:endParaRPr lang="en-US" altLang="zh-CN" sz="2000" b="1" dirty="0" smtClean="0">
              <a:solidFill>
                <a:srgbClr val="FFFFFF"/>
              </a:solidFill>
              <a:latin typeface="华文中宋" panose="02010600040101010101" pitchFamily="2" charset="-122"/>
              <a:ea typeface="华文中宋" panose="02010600040101010101" pitchFamily="2" charset="-122"/>
            </a:endParaRPr>
          </a:p>
        </p:txBody>
      </p:sp>
      <p:sp>
        <p:nvSpPr>
          <p:cNvPr id="19" name="MH_Other_6"/>
          <p:cNvSpPr>
            <a:spLocks/>
          </p:cNvSpPr>
          <p:nvPr>
            <p:custDataLst>
              <p:tags r:id="rId9"/>
            </p:custDataLst>
          </p:nvPr>
        </p:nvSpPr>
        <p:spPr bwMode="auto">
          <a:xfrm flipH="1">
            <a:off x="5640388" y="2420888"/>
            <a:ext cx="720725" cy="709612"/>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20" name="MH_Other_7"/>
          <p:cNvSpPr>
            <a:spLocks/>
          </p:cNvSpPr>
          <p:nvPr>
            <p:custDataLst>
              <p:tags r:id="rId10"/>
            </p:custDataLst>
          </p:nvPr>
        </p:nvSpPr>
        <p:spPr bwMode="auto">
          <a:xfrm flipV="1">
            <a:off x="4919663" y="3130500"/>
            <a:ext cx="720725" cy="709613"/>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cxnSp>
        <p:nvCxnSpPr>
          <p:cNvPr id="21" name="MH_Other_8"/>
          <p:cNvCxnSpPr/>
          <p:nvPr>
            <p:custDataLst>
              <p:tags r:id="rId11"/>
            </p:custDataLst>
          </p:nvPr>
        </p:nvCxnSpPr>
        <p:spPr>
          <a:xfrm>
            <a:off x="6350000" y="3130500"/>
            <a:ext cx="727075" cy="0"/>
          </a:xfrm>
          <a:prstGeom prst="line">
            <a:avLst/>
          </a:prstGeom>
          <a:ln w="25400">
            <a:solidFill>
              <a:srgbClr val="D5D5D5"/>
            </a:solidFill>
            <a:headEnd type="none"/>
          </a:ln>
        </p:spPr>
        <p:style>
          <a:lnRef idx="1">
            <a:schemeClr val="accent1"/>
          </a:lnRef>
          <a:fillRef idx="0">
            <a:schemeClr val="accent1"/>
          </a:fillRef>
          <a:effectRef idx="0">
            <a:schemeClr val="accent1"/>
          </a:effectRef>
          <a:fontRef idx="minor">
            <a:schemeClr val="tx1"/>
          </a:fontRef>
        </p:style>
      </p:cxnSp>
      <p:sp>
        <p:nvSpPr>
          <p:cNvPr id="22" name="MH_SubTitle_4"/>
          <p:cNvSpPr>
            <a:spLocks noChangeArrowheads="1"/>
          </p:cNvSpPr>
          <p:nvPr>
            <p:custDataLst>
              <p:tags r:id="rId12"/>
            </p:custDataLst>
          </p:nvPr>
        </p:nvSpPr>
        <p:spPr bwMode="auto">
          <a:xfrm>
            <a:off x="7267575" y="2606625"/>
            <a:ext cx="1046163" cy="1047750"/>
          </a:xfrm>
          <a:prstGeom prst="ellipse">
            <a:avLst/>
          </a:prstGeom>
          <a:solidFill>
            <a:schemeClr val="accent2">
              <a:lumMod val="60000"/>
              <a:lumOff val="40000"/>
            </a:schemeClr>
          </a:solidFill>
          <a:ln>
            <a:noFill/>
          </a:ln>
        </p:spPr>
        <p:txBody>
          <a:bodyPr lIns="0" tIns="0" rIns="0" bIns="0"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fontAlgn="auto" hangingPunct="1">
              <a:spcBef>
                <a:spcPts val="0"/>
              </a:spcBef>
              <a:spcAft>
                <a:spcPts val="0"/>
              </a:spcAft>
              <a:defRPr/>
            </a:pPr>
            <a:r>
              <a:rPr lang="zh-CN" altLang="en-US" sz="2000" b="1" dirty="0">
                <a:solidFill>
                  <a:srgbClr val="FFFFFF"/>
                </a:solidFill>
                <a:latin typeface="华文中宋" panose="02010600040101010101" pitchFamily="2" charset="-122"/>
                <a:ea typeface="华文中宋" panose="02010600040101010101" pitchFamily="2" charset="-122"/>
              </a:rPr>
              <a:t>养车</a:t>
            </a:r>
            <a:endParaRPr lang="en-US" altLang="zh-CN" sz="2000" b="1" dirty="0" smtClean="0">
              <a:solidFill>
                <a:srgbClr val="FFFFFF"/>
              </a:solidFill>
              <a:latin typeface="华文中宋" panose="02010600040101010101" pitchFamily="2" charset="-122"/>
              <a:ea typeface="华文中宋" panose="02010600040101010101" pitchFamily="2" charset="-122"/>
            </a:endParaRPr>
          </a:p>
        </p:txBody>
      </p:sp>
      <p:sp>
        <p:nvSpPr>
          <p:cNvPr id="23" name="MH_Other_9"/>
          <p:cNvSpPr>
            <a:spLocks/>
          </p:cNvSpPr>
          <p:nvPr>
            <p:custDataLst>
              <p:tags r:id="rId13"/>
            </p:custDataLst>
          </p:nvPr>
        </p:nvSpPr>
        <p:spPr bwMode="auto">
          <a:xfrm flipH="1">
            <a:off x="7789863" y="2420888"/>
            <a:ext cx="720725" cy="709612"/>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24" name="MH_Other_10"/>
          <p:cNvSpPr>
            <a:spLocks/>
          </p:cNvSpPr>
          <p:nvPr>
            <p:custDataLst>
              <p:tags r:id="rId14"/>
            </p:custDataLst>
          </p:nvPr>
        </p:nvSpPr>
        <p:spPr bwMode="auto">
          <a:xfrm flipV="1">
            <a:off x="7069138" y="3130500"/>
            <a:ext cx="720725" cy="709613"/>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cxnSp>
        <p:nvCxnSpPr>
          <p:cNvPr id="25" name="MH_Other_11"/>
          <p:cNvCxnSpPr/>
          <p:nvPr>
            <p:custDataLst>
              <p:tags r:id="rId15"/>
            </p:custDataLst>
          </p:nvPr>
        </p:nvCxnSpPr>
        <p:spPr>
          <a:xfrm>
            <a:off x="8499475" y="3130500"/>
            <a:ext cx="574675" cy="0"/>
          </a:xfrm>
          <a:prstGeom prst="line">
            <a:avLst/>
          </a:prstGeom>
          <a:ln w="25400">
            <a:solidFill>
              <a:srgbClr val="D5D5D5"/>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26" name="MH_Other_12"/>
          <p:cNvCxnSpPr/>
          <p:nvPr>
            <p:custDataLst>
              <p:tags r:id="rId16"/>
            </p:custDataLst>
          </p:nvPr>
        </p:nvCxnSpPr>
        <p:spPr>
          <a:xfrm>
            <a:off x="2062163" y="3130500"/>
            <a:ext cx="728662" cy="0"/>
          </a:xfrm>
          <a:prstGeom prst="line">
            <a:avLst/>
          </a:prstGeom>
          <a:ln w="25400">
            <a:solidFill>
              <a:srgbClr val="D5D5D5"/>
            </a:solidFill>
            <a:headEnd type="none"/>
          </a:ln>
        </p:spPr>
        <p:style>
          <a:lnRef idx="1">
            <a:schemeClr val="accent1"/>
          </a:lnRef>
          <a:fillRef idx="0">
            <a:schemeClr val="accent1"/>
          </a:fillRef>
          <a:effectRef idx="0">
            <a:schemeClr val="accent1"/>
          </a:effectRef>
          <a:fontRef idx="minor">
            <a:schemeClr val="tx1"/>
          </a:fontRef>
        </p:style>
      </p:cxnSp>
      <p:cxnSp>
        <p:nvCxnSpPr>
          <p:cNvPr id="27" name="MH_Other_13"/>
          <p:cNvCxnSpPr/>
          <p:nvPr>
            <p:custDataLst>
              <p:tags r:id="rId17"/>
            </p:custDataLst>
          </p:nvPr>
        </p:nvCxnSpPr>
        <p:spPr>
          <a:xfrm>
            <a:off x="4206875" y="3130500"/>
            <a:ext cx="727075" cy="0"/>
          </a:xfrm>
          <a:prstGeom prst="line">
            <a:avLst/>
          </a:prstGeom>
          <a:ln w="25400">
            <a:solidFill>
              <a:srgbClr val="D5D5D5"/>
            </a:solidFill>
            <a:headEnd type="non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44525" y="3933056"/>
            <a:ext cx="1447570" cy="954107"/>
          </a:xfrm>
          <a:prstGeom prst="rect">
            <a:avLst/>
          </a:prstGeom>
          <a:noFill/>
          <a:ln w="28575">
            <a:solidFill>
              <a:srgbClr val="00B0F0"/>
            </a:solidFill>
          </a:ln>
        </p:spPr>
        <p:txBody>
          <a:bodyPr wrap="square" rtlCol="0" anchor="ctr">
            <a:spAutoFit/>
          </a:bodyPr>
          <a:lstStyle/>
          <a:p>
            <a:pPr algn="ctr"/>
            <a:r>
              <a:rPr lang="zh-CN" altLang="en-US" sz="1400" b="1" dirty="0" smtClean="0">
                <a:solidFill>
                  <a:schemeClr val="bg1"/>
                </a:solidFill>
                <a:latin typeface="华文中宋" panose="02010600040101010101" pitchFamily="2" charset="-122"/>
                <a:ea typeface="华文中宋" panose="02010600040101010101" pitchFamily="2" charset="-122"/>
              </a:rPr>
              <a:t>车轮考驾照</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a:solidFill>
                  <a:schemeClr val="bg1"/>
                </a:solidFill>
                <a:latin typeface="华文中宋" panose="02010600040101010101" pitchFamily="2" charset="-122"/>
                <a:ea typeface="华文中宋" panose="02010600040101010101" pitchFamily="2" charset="-122"/>
              </a:rPr>
              <a:t>猪兼</a:t>
            </a:r>
            <a:r>
              <a:rPr lang="zh-CN" altLang="en-US" sz="1400" b="1" dirty="0" smtClean="0">
                <a:solidFill>
                  <a:schemeClr val="bg1"/>
                </a:solidFill>
                <a:latin typeface="华文中宋" panose="02010600040101010101" pitchFamily="2" charset="-122"/>
                <a:ea typeface="华文中宋" panose="02010600040101010101" pitchFamily="2" charset="-122"/>
              </a:rPr>
              <a:t>强网校</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9" name="TextBox 28"/>
          <p:cNvSpPr txBox="1"/>
          <p:nvPr/>
        </p:nvSpPr>
        <p:spPr>
          <a:xfrm>
            <a:off x="2706117" y="3933056"/>
            <a:ext cx="1649859" cy="2246769"/>
          </a:xfrm>
          <a:prstGeom prst="rect">
            <a:avLst/>
          </a:prstGeom>
          <a:noFill/>
          <a:ln w="28575">
            <a:solidFill>
              <a:srgbClr val="FFC000"/>
            </a:solidFill>
          </a:ln>
        </p:spPr>
        <p:txBody>
          <a:bodyPr wrap="square" rtlCol="0" anchor="ctr">
            <a:spAutoFit/>
          </a:bodyPr>
          <a:lstStyle/>
          <a:p>
            <a:pPr algn="ctr"/>
            <a:r>
              <a:rPr lang="zh-CN" altLang="en-US" sz="1400" b="1" dirty="0" smtClean="0">
                <a:solidFill>
                  <a:schemeClr val="bg1"/>
                </a:solidFill>
                <a:latin typeface="华文中宋" panose="02010600040101010101" pitchFamily="2" charset="-122"/>
                <a:ea typeface="华文中宋" panose="02010600040101010101" pitchFamily="2" charset="-122"/>
              </a:rPr>
              <a:t>瓜子二手车直卖网</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人</a:t>
            </a:r>
            <a:r>
              <a:rPr lang="zh-CN" altLang="en-US" sz="1400" b="1" dirty="0">
                <a:solidFill>
                  <a:schemeClr val="bg1"/>
                </a:solidFill>
                <a:latin typeface="华文中宋" panose="02010600040101010101" pitchFamily="2" charset="-122"/>
                <a:ea typeface="华文中宋" panose="02010600040101010101" pitchFamily="2" charset="-122"/>
              </a:rPr>
              <a:t>人车</a:t>
            </a:r>
            <a:r>
              <a:rPr lang="zh-CN" altLang="en-US" sz="1400" b="1" dirty="0" smtClean="0">
                <a:solidFill>
                  <a:schemeClr val="bg1"/>
                </a:solidFill>
                <a:latin typeface="华文中宋" panose="02010600040101010101" pitchFamily="2" charset="-122"/>
                <a:ea typeface="华文中宋" panose="02010600040101010101" pitchFamily="2" charset="-122"/>
              </a:rPr>
              <a:t>网</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a:solidFill>
                  <a:schemeClr val="bg1"/>
                </a:solidFill>
                <a:latin typeface="华文中宋" panose="02010600040101010101" pitchFamily="2" charset="-122"/>
                <a:ea typeface="华文中宋" panose="02010600040101010101" pitchFamily="2" charset="-122"/>
              </a:rPr>
              <a:t>优信</a:t>
            </a:r>
            <a:r>
              <a:rPr lang="zh-CN" altLang="en-US" sz="1400" b="1" dirty="0" smtClean="0">
                <a:solidFill>
                  <a:schemeClr val="bg1"/>
                </a:solidFill>
                <a:latin typeface="华文中宋" panose="02010600040101010101" pitchFamily="2" charset="-122"/>
                <a:ea typeface="华文中宋" panose="02010600040101010101" pitchFamily="2" charset="-122"/>
              </a:rPr>
              <a:t>二手车网</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车</a:t>
            </a:r>
            <a:r>
              <a:rPr lang="zh-CN" altLang="en-US" sz="1400" b="1" dirty="0">
                <a:solidFill>
                  <a:schemeClr val="bg1"/>
                </a:solidFill>
                <a:latin typeface="华文中宋" panose="02010600040101010101" pitchFamily="2" charset="-122"/>
                <a:ea typeface="华文中宋" panose="02010600040101010101" pitchFamily="2" charset="-122"/>
              </a:rPr>
              <a:t>置</a:t>
            </a:r>
            <a:r>
              <a:rPr lang="zh-CN" altLang="en-US" sz="1400" b="1" dirty="0" smtClean="0">
                <a:solidFill>
                  <a:schemeClr val="bg1"/>
                </a:solidFill>
                <a:latin typeface="华文中宋" panose="02010600040101010101" pitchFamily="2" charset="-122"/>
                <a:ea typeface="华文中宋" panose="02010600040101010101" pitchFamily="2" charset="-122"/>
              </a:rPr>
              <a:t>宝网</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车</a:t>
            </a:r>
            <a:r>
              <a:rPr lang="zh-CN" altLang="en-US" sz="1400" b="1" dirty="0">
                <a:solidFill>
                  <a:schemeClr val="bg1"/>
                </a:solidFill>
                <a:latin typeface="华文中宋" panose="02010600040101010101" pitchFamily="2" charset="-122"/>
                <a:ea typeface="华文中宋" panose="02010600040101010101" pitchFamily="2" charset="-122"/>
              </a:rPr>
              <a:t>享</a:t>
            </a:r>
            <a:r>
              <a:rPr lang="zh-CN" altLang="en-US" sz="1400" b="1" dirty="0" smtClean="0">
                <a:solidFill>
                  <a:schemeClr val="bg1"/>
                </a:solidFill>
                <a:latin typeface="华文中宋" panose="02010600040101010101" pitchFamily="2" charset="-122"/>
                <a:ea typeface="华文中宋" panose="02010600040101010101" pitchFamily="2" charset="-122"/>
              </a:rPr>
              <a:t>网</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30" name="TextBox 29"/>
          <p:cNvSpPr txBox="1"/>
          <p:nvPr/>
        </p:nvSpPr>
        <p:spPr>
          <a:xfrm>
            <a:off x="4860032" y="3933056"/>
            <a:ext cx="1728192" cy="2462213"/>
          </a:xfrm>
          <a:prstGeom prst="rect">
            <a:avLst/>
          </a:prstGeom>
          <a:noFill/>
          <a:ln w="28575">
            <a:solidFill>
              <a:srgbClr val="00B050"/>
            </a:solidFill>
          </a:ln>
        </p:spPr>
        <p:txBody>
          <a:bodyPr wrap="square" rtlCol="0" anchor="ctr">
            <a:spAutoFit/>
          </a:bodyPr>
          <a:lstStyle/>
          <a:p>
            <a:r>
              <a:rPr lang="zh-CN" altLang="en-US" sz="1400" b="1" dirty="0" smtClean="0">
                <a:solidFill>
                  <a:schemeClr val="bg1"/>
                </a:solidFill>
                <a:latin typeface="华文中宋" panose="02010600040101010101" pitchFamily="2" charset="-122"/>
                <a:ea typeface="华文中宋" panose="02010600040101010101" pitchFamily="2" charset="-122"/>
              </a:rPr>
              <a:t>出行：</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易</a:t>
            </a:r>
            <a:r>
              <a:rPr lang="zh-CN" altLang="en-US" sz="1400" b="1" dirty="0">
                <a:solidFill>
                  <a:schemeClr val="bg1"/>
                </a:solidFill>
                <a:latin typeface="华文中宋" panose="02010600040101010101" pitchFamily="2" charset="-122"/>
                <a:ea typeface="华文中宋" panose="02010600040101010101" pitchFamily="2" charset="-122"/>
              </a:rPr>
              <a:t>到用车</a:t>
            </a:r>
            <a:r>
              <a:rPr lang="zh-CN" altLang="en-US" sz="1400" b="1" dirty="0" smtClean="0">
                <a:solidFill>
                  <a:schemeClr val="bg1"/>
                </a:solidFill>
                <a:latin typeface="华文中宋" panose="02010600040101010101" pitchFamily="2" charset="-122"/>
                <a:ea typeface="华文中宋" panose="02010600040101010101" pitchFamily="2" charset="-122"/>
              </a:rPr>
              <a:t>网</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a:solidFill>
                  <a:schemeClr val="bg1"/>
                </a:solidFill>
                <a:latin typeface="华文中宋" panose="02010600040101010101" pitchFamily="2" charset="-122"/>
                <a:ea typeface="华文中宋" panose="02010600040101010101" pitchFamily="2" charset="-122"/>
              </a:rPr>
              <a:t>优</a:t>
            </a:r>
            <a:r>
              <a:rPr lang="zh-CN" altLang="en-US" sz="1400" b="1" dirty="0" smtClean="0">
                <a:solidFill>
                  <a:schemeClr val="bg1"/>
                </a:solidFill>
                <a:latin typeface="华文中宋" panose="02010600040101010101" pitchFamily="2" charset="-122"/>
                <a:ea typeface="华文中宋" panose="02010600040101010101" pitchFamily="2" charset="-122"/>
              </a:rPr>
              <a:t>步手机应用软件</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滴滴</a:t>
            </a:r>
            <a:r>
              <a:rPr lang="zh-CN" altLang="en-US" sz="1400" b="1" dirty="0">
                <a:solidFill>
                  <a:schemeClr val="bg1"/>
                </a:solidFill>
                <a:latin typeface="华文中宋" panose="02010600040101010101" pitchFamily="2" charset="-122"/>
                <a:ea typeface="华文中宋" panose="02010600040101010101" pitchFamily="2" charset="-122"/>
              </a:rPr>
              <a:t>打</a:t>
            </a:r>
            <a:r>
              <a:rPr lang="zh-CN" altLang="en-US" sz="1400" b="1" dirty="0" smtClean="0">
                <a:solidFill>
                  <a:schemeClr val="bg1"/>
                </a:solidFill>
                <a:latin typeface="华文中宋" panose="02010600040101010101" pitchFamily="2" charset="-122"/>
                <a:ea typeface="华文中宋" panose="02010600040101010101" pitchFamily="2" charset="-122"/>
              </a:rPr>
              <a:t>车软件</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endParaRPr lang="en-US" altLang="zh-CN" sz="1400" b="1" dirty="0" smtClean="0">
              <a:solidFill>
                <a:schemeClr val="bg1"/>
              </a:solidFill>
              <a:latin typeface="华文中宋" panose="02010600040101010101" pitchFamily="2" charset="-122"/>
              <a:ea typeface="华文中宋" panose="02010600040101010101" pitchFamily="2" charset="-122"/>
            </a:endParaRPr>
          </a:p>
          <a:p>
            <a:r>
              <a:rPr lang="zh-CN" altLang="en-US" sz="1400" b="1" dirty="0" smtClean="0">
                <a:solidFill>
                  <a:schemeClr val="bg1"/>
                </a:solidFill>
                <a:latin typeface="华文中宋" panose="02010600040101010101" pitchFamily="2" charset="-122"/>
                <a:ea typeface="华文中宋" panose="02010600040101010101" pitchFamily="2" charset="-122"/>
              </a:rPr>
              <a:t>导航：</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百</a:t>
            </a:r>
            <a:r>
              <a:rPr lang="zh-CN" altLang="en-US" sz="1400" b="1" dirty="0">
                <a:solidFill>
                  <a:schemeClr val="bg1"/>
                </a:solidFill>
                <a:latin typeface="华文中宋" panose="02010600040101010101" pitchFamily="2" charset="-122"/>
                <a:ea typeface="华文中宋" panose="02010600040101010101" pitchFamily="2" charset="-122"/>
              </a:rPr>
              <a:t>度地图</a:t>
            </a:r>
          </a:p>
        </p:txBody>
      </p:sp>
      <p:sp>
        <p:nvSpPr>
          <p:cNvPr id="31" name="TextBox 30"/>
          <p:cNvSpPr txBox="1"/>
          <p:nvPr/>
        </p:nvSpPr>
        <p:spPr>
          <a:xfrm>
            <a:off x="7020272" y="3933056"/>
            <a:ext cx="1537948" cy="1169551"/>
          </a:xfrm>
          <a:prstGeom prst="rect">
            <a:avLst/>
          </a:prstGeom>
          <a:noFill/>
          <a:ln w="28575">
            <a:solidFill>
              <a:schemeClr val="accent2">
                <a:lumMod val="60000"/>
                <a:lumOff val="40000"/>
              </a:schemeClr>
            </a:solidFill>
          </a:ln>
        </p:spPr>
        <p:txBody>
          <a:bodyPr wrap="square" rtlCol="0" anchor="ctr">
            <a:spAutoFit/>
          </a:bodyPr>
          <a:lstStyle/>
          <a:p>
            <a:pPr algn="ctr"/>
            <a:r>
              <a:rPr lang="zh-CN" altLang="en-US" sz="1400" b="1" dirty="0" smtClean="0">
                <a:solidFill>
                  <a:schemeClr val="bg1"/>
                </a:solidFill>
                <a:latin typeface="华文中宋" panose="02010600040101010101" pitchFamily="2" charset="-122"/>
                <a:ea typeface="华文中宋" panose="02010600040101010101" pitchFamily="2" charset="-122"/>
              </a:rPr>
              <a:t>途虎养车网</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乐车邦应用软件</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endParaRPr lang="en-US" altLang="zh-CN" sz="1400" b="1" dirty="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汽车超人</a:t>
            </a:r>
            <a:r>
              <a:rPr lang="en-US" altLang="zh-CN" sz="1400" b="1" dirty="0" smtClean="0">
                <a:solidFill>
                  <a:schemeClr val="bg1"/>
                </a:solidFill>
                <a:latin typeface="华文中宋" panose="02010600040101010101" pitchFamily="2" charset="-122"/>
                <a:ea typeface="华文中宋" panose="02010600040101010101" pitchFamily="2" charset="-122"/>
              </a:rPr>
              <a:t>APP</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32" name="TextBox 31"/>
          <p:cNvSpPr txBox="1"/>
          <p:nvPr/>
        </p:nvSpPr>
        <p:spPr>
          <a:xfrm>
            <a:off x="136782" y="776898"/>
            <a:ext cx="8899719" cy="1477328"/>
          </a:xfrm>
          <a:prstGeom prst="rect">
            <a:avLst/>
          </a:prstGeom>
          <a:noFill/>
        </p:spPr>
        <p:txBody>
          <a:bodyPr wrap="square" rtlCol="0">
            <a:spAutoFit/>
          </a:bodyPr>
          <a:lstStyle/>
          <a:p>
            <a:pPr marL="342900" indent="-342900">
              <a:buFont typeface="Arial" panose="020B0604020202020204" pitchFamily="34" charset="0"/>
              <a:buChar char="•"/>
            </a:pPr>
            <a:r>
              <a:rPr lang="en-US" altLang="zh-CN" b="1" dirty="0" smtClean="0">
                <a:solidFill>
                  <a:schemeClr val="bg1"/>
                </a:solidFill>
                <a:latin typeface="华文中宋" panose="02010600040101010101" pitchFamily="2" charset="-122"/>
                <a:ea typeface="华文中宋" panose="02010600040101010101" pitchFamily="2" charset="-122"/>
              </a:rPr>
              <a:t>2016</a:t>
            </a:r>
            <a:r>
              <a:rPr lang="zh-CN" altLang="en-US" b="1" dirty="0" smtClean="0">
                <a:solidFill>
                  <a:schemeClr val="bg1"/>
                </a:solidFill>
                <a:latin typeface="华文中宋" panose="02010600040101010101" pitchFamily="2" charset="-122"/>
                <a:ea typeface="华文中宋" panose="02010600040101010101" pitchFamily="2" charset="-122"/>
              </a:rPr>
              <a:t>年</a:t>
            </a:r>
            <a:r>
              <a:rPr lang="en-US" altLang="zh-CN" b="1" dirty="0" smtClean="0">
                <a:solidFill>
                  <a:schemeClr val="bg1"/>
                </a:solidFill>
                <a:latin typeface="华文中宋" panose="02010600040101010101" pitchFamily="2" charset="-122"/>
                <a:ea typeface="华文中宋" panose="02010600040101010101" pitchFamily="2" charset="-122"/>
              </a:rPr>
              <a:t>1-4</a:t>
            </a:r>
            <a:r>
              <a:rPr lang="zh-CN" altLang="en-US" b="1" dirty="0" smtClean="0">
                <a:solidFill>
                  <a:schemeClr val="bg1"/>
                </a:solidFill>
                <a:latin typeface="华文中宋" panose="02010600040101010101" pitchFamily="2" charset="-122"/>
                <a:ea typeface="华文中宋" panose="02010600040101010101" pitchFamily="2" charset="-122"/>
              </a:rPr>
              <a:t>月广告花费排名前</a:t>
            </a:r>
            <a:r>
              <a:rPr lang="en-US" altLang="zh-CN" b="1" dirty="0" smtClean="0">
                <a:solidFill>
                  <a:schemeClr val="bg1"/>
                </a:solidFill>
                <a:latin typeface="华文中宋" panose="02010600040101010101" pitchFamily="2" charset="-122"/>
                <a:ea typeface="华文中宋" panose="02010600040101010101" pitchFamily="2" charset="-122"/>
              </a:rPr>
              <a:t>200</a:t>
            </a:r>
            <a:r>
              <a:rPr lang="zh-CN" altLang="en-US" b="1" dirty="0" smtClean="0">
                <a:solidFill>
                  <a:schemeClr val="bg1"/>
                </a:solidFill>
                <a:latin typeface="华文中宋" panose="02010600040101010101" pitchFamily="2" charset="-122"/>
                <a:ea typeface="华文中宋" panose="02010600040101010101" pitchFamily="2" charset="-122"/>
              </a:rPr>
              <a:t>的互联网企业中，有</a:t>
            </a:r>
            <a:r>
              <a:rPr lang="en-US" altLang="zh-CN" b="1" dirty="0" smtClean="0">
                <a:solidFill>
                  <a:schemeClr val="bg1"/>
                </a:solidFill>
                <a:latin typeface="华文中宋" panose="02010600040101010101" pitchFamily="2" charset="-122"/>
                <a:ea typeface="华文中宋" panose="02010600040101010101" pitchFamily="2" charset="-122"/>
              </a:rPr>
              <a:t>14</a:t>
            </a:r>
            <a:r>
              <a:rPr lang="zh-CN" altLang="en-US" b="1" dirty="0" smtClean="0">
                <a:solidFill>
                  <a:schemeClr val="bg1"/>
                </a:solidFill>
                <a:latin typeface="华文中宋" panose="02010600040101010101" pitchFamily="2" charset="-122"/>
                <a:ea typeface="华文中宋" panose="02010600040101010101" pitchFamily="2" charset="-122"/>
              </a:rPr>
              <a:t>家企业属于汽车出行类别。其中，涉及到学车的企业有两家，汽车交易五家，用车出行三家，导航一家，养车维护三家。</a:t>
            </a:r>
            <a:endParaRPr lang="en-US" altLang="zh-CN" b="1" dirty="0" smtClean="0">
              <a:solidFill>
                <a:schemeClr val="bg1"/>
              </a:solidFill>
              <a:latin typeface="华文中宋" panose="02010600040101010101" pitchFamily="2" charset="-122"/>
              <a:ea typeface="华文中宋" panose="02010600040101010101" pitchFamily="2" charset="-122"/>
            </a:endParaRPr>
          </a:p>
          <a:p>
            <a:pPr marL="342900" indent="-342900">
              <a:buFont typeface="Arial" panose="020B0604020202020204" pitchFamily="34" charset="0"/>
              <a:buChar char="•"/>
            </a:pPr>
            <a:r>
              <a:rPr lang="zh-CN" altLang="en-US" b="1" dirty="0" smtClean="0">
                <a:solidFill>
                  <a:schemeClr val="bg1"/>
                </a:solidFill>
                <a:latin typeface="华文中宋" panose="02010600040101010101" pitchFamily="2" charset="-122"/>
                <a:ea typeface="华文中宋" panose="02010600040101010101" pitchFamily="2" charset="-122"/>
              </a:rPr>
              <a:t>汽车交易是汽车出行类互联网企业中较为活跃的小类别之一。其中一些大品牌如瓜子二手车，人人车，优信二手车的广告在我们日常生活中随处可见。</a:t>
            </a:r>
            <a:endParaRPr lang="zh-CN" altLang="en-US"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5174630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7" name="标题 1"/>
          <p:cNvSpPr txBox="1"/>
          <p:nvPr/>
        </p:nvSpPr>
        <p:spPr>
          <a:xfrm>
            <a:off x="251521" y="163359"/>
            <a:ext cx="6552728" cy="60134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smtClean="0">
                <a:ln>
                  <a:noFill/>
                </a:ln>
                <a:solidFill>
                  <a:srgbClr val="FFC000"/>
                </a:solidFill>
                <a:effectLst/>
                <a:uLnTx/>
                <a:uFillTx/>
                <a:latin typeface="Arial Black"/>
                <a:ea typeface="微软雅黑"/>
                <a:cs typeface="+mj-cs"/>
              </a:rPr>
              <a:t>广告花费</a:t>
            </a:r>
            <a:endParaRPr kumimoji="0" lang="zh-CN" altLang="en-US" sz="2800" b="1" i="0" u="none" strike="noStrike" kern="1200" cap="none" spc="0" normalizeH="0" baseline="0" noProof="0" dirty="0">
              <a:ln>
                <a:noFill/>
              </a:ln>
              <a:solidFill>
                <a:srgbClr val="FFC000"/>
              </a:solidFill>
              <a:effectLst/>
              <a:uLnTx/>
              <a:uFillTx/>
              <a:latin typeface="Arial Black"/>
              <a:ea typeface="微软雅黑"/>
              <a:cs typeface="+mj-cs"/>
            </a:endParaRPr>
          </a:p>
        </p:txBody>
      </p:sp>
      <p:sp>
        <p:nvSpPr>
          <p:cNvPr id="12" name="矩形 11"/>
          <p:cNvSpPr/>
          <p:nvPr/>
        </p:nvSpPr>
        <p:spPr>
          <a:xfrm>
            <a:off x="2388527" y="6554331"/>
            <a:ext cx="6647974" cy="259045"/>
          </a:xfrm>
          <a:prstGeom prst="rect">
            <a:avLst/>
          </a:prstGeom>
        </p:spPr>
        <p:txBody>
          <a:bodyPr wrap="none">
            <a:spAutoFit/>
          </a:bodyPr>
          <a:lstStyle/>
          <a:p>
            <a:pPr algn="r" latinLnBrk="1">
              <a:lnSpc>
                <a:spcPts val="1300"/>
              </a:lnSpc>
            </a:pPr>
            <a:r>
              <a:rPr lang="zh-CN" altLang="zh-CN" sz="1100" kern="100" dirty="0">
                <a:solidFill>
                  <a:srgbClr val="FFFFFF"/>
                </a:solidFill>
                <a:latin typeface="华文中宋" panose="02010600040101010101" pitchFamily="2" charset="-122"/>
                <a:ea typeface="华文中宋" panose="02010600040101010101" pitchFamily="2" charset="-122"/>
              </a:rPr>
              <a:t>数据来源：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8" name="KSO_Shape"/>
          <p:cNvSpPr>
            <a:spLocks/>
          </p:cNvSpPr>
          <p:nvPr/>
        </p:nvSpPr>
        <p:spPr bwMode="auto">
          <a:xfrm>
            <a:off x="3008890" y="3258617"/>
            <a:ext cx="1368152" cy="1293142"/>
          </a:xfrm>
          <a:custGeom>
            <a:avLst/>
            <a:gdLst>
              <a:gd name="T0" fmla="*/ 1140900 w 4256"/>
              <a:gd name="T1" fmla="*/ 195955 h 3910"/>
              <a:gd name="T2" fmla="*/ 1325762 w 4256"/>
              <a:gd name="T3" fmla="*/ 788052 h 3910"/>
              <a:gd name="T4" fmla="*/ 1162051 w 4256"/>
              <a:gd name="T5" fmla="*/ 668278 h 3910"/>
              <a:gd name="T6" fmla="*/ 668380 w 4256"/>
              <a:gd name="T7" fmla="*/ 174794 h 3910"/>
              <a:gd name="T8" fmla="*/ 174710 w 4256"/>
              <a:gd name="T9" fmla="*/ 668278 h 3910"/>
              <a:gd name="T10" fmla="*/ 346035 w 4256"/>
              <a:gd name="T11" fmla="*/ 1042413 h 3910"/>
              <a:gd name="T12" fmla="*/ 195861 w 4256"/>
              <a:gd name="T13" fmla="*/ 1141025 h 3910"/>
              <a:gd name="T14" fmla="*/ 195861 w 4256"/>
              <a:gd name="T15" fmla="*/ 195955 h 3910"/>
              <a:gd name="T16" fmla="*/ 1765286 w 4256"/>
              <a:gd name="T17" fmla="*/ 1281114 h 3910"/>
              <a:gd name="T18" fmla="*/ 1429404 w 4256"/>
              <a:gd name="T19" fmla="*/ 1061458 h 3910"/>
              <a:gd name="T20" fmla="*/ 1398523 w 4256"/>
              <a:gd name="T21" fmla="*/ 1042413 h 3910"/>
              <a:gd name="T22" fmla="*/ 1137516 w 4256"/>
              <a:gd name="T23" fmla="*/ 969194 h 3910"/>
              <a:gd name="T24" fmla="*/ 484364 w 4256"/>
              <a:gd name="T25" fmla="*/ 1077118 h 3910"/>
              <a:gd name="T26" fmla="*/ 519898 w 4256"/>
              <a:gd name="T27" fmla="*/ 1536321 h 3910"/>
              <a:gd name="T28" fmla="*/ 604504 w 4256"/>
              <a:gd name="T29" fmla="*/ 1604038 h 3910"/>
              <a:gd name="T30" fmla="*/ 851128 w 4256"/>
              <a:gd name="T31" fmla="*/ 1604038 h 3910"/>
              <a:gd name="T32" fmla="*/ 1354951 w 4256"/>
              <a:gd name="T33" fmla="*/ 1533782 h 3910"/>
              <a:gd name="T34" fmla="*/ 1521200 w 4256"/>
              <a:gd name="T35" fmla="*/ 1654825 h 3910"/>
              <a:gd name="T36" fmla="*/ 1687449 w 4256"/>
              <a:gd name="T37" fmla="*/ 1532935 h 3910"/>
              <a:gd name="T38" fmla="*/ 1765286 w 4256"/>
              <a:gd name="T39" fmla="*/ 1532512 h 3910"/>
              <a:gd name="T40" fmla="*/ 1800397 w 4256"/>
              <a:gd name="T41" fmla="*/ 1416124 h 3910"/>
              <a:gd name="T42" fmla="*/ 1765286 w 4256"/>
              <a:gd name="T43" fmla="*/ 1281114 h 3910"/>
              <a:gd name="T44" fmla="*/ 727604 w 4256"/>
              <a:gd name="T45" fmla="*/ 1393270 h 3910"/>
              <a:gd name="T46" fmla="*/ 815170 w 4256"/>
              <a:gd name="T47" fmla="*/ 1480878 h 3910"/>
              <a:gd name="T48" fmla="*/ 727604 w 4256"/>
              <a:gd name="T49" fmla="*/ 1568063 h 3910"/>
              <a:gd name="T50" fmla="*/ 640038 w 4256"/>
              <a:gd name="T51" fmla="*/ 1480878 h 3910"/>
              <a:gd name="T52" fmla="*/ 1459015 w 4256"/>
              <a:gd name="T53" fmla="*/ 1418663 h 3910"/>
              <a:gd name="T54" fmla="*/ 1582962 w 4256"/>
              <a:gd name="T55" fmla="*/ 1418663 h 3910"/>
              <a:gd name="T56" fmla="*/ 1582962 w 4256"/>
              <a:gd name="T57" fmla="*/ 1542669 h 3910"/>
              <a:gd name="T58" fmla="*/ 1459015 w 4256"/>
              <a:gd name="T59" fmla="*/ 1542669 h 3910"/>
              <a:gd name="T60" fmla="*/ 1459015 w 4256"/>
              <a:gd name="T61" fmla="*/ 1418663 h 3910"/>
              <a:gd name="T62" fmla="*/ 1377371 w 4256"/>
              <a:gd name="T63" fmla="*/ 1111822 h 3910"/>
              <a:gd name="T64" fmla="*/ 1170089 w 4256"/>
              <a:gd name="T65" fmla="*/ 1229903 h 3910"/>
              <a:gd name="T66" fmla="*/ 392568 w 4256"/>
              <a:gd name="T67" fmla="*/ 488829 h 3910"/>
              <a:gd name="T68" fmla="*/ 595620 w 4256"/>
              <a:gd name="T69" fmla="*/ 728800 h 3910"/>
              <a:gd name="T70" fmla="*/ 595197 w 4256"/>
              <a:gd name="T71" fmla="*/ 821064 h 3910"/>
              <a:gd name="T72" fmla="*/ 714490 w 4256"/>
              <a:gd name="T73" fmla="*/ 823180 h 3910"/>
              <a:gd name="T74" fmla="*/ 787674 w 4256"/>
              <a:gd name="T75" fmla="*/ 884548 h 3910"/>
              <a:gd name="T76" fmla="*/ 774137 w 4256"/>
              <a:gd name="T77" fmla="*/ 780434 h 3910"/>
              <a:gd name="T78" fmla="*/ 774983 w 4256"/>
              <a:gd name="T79" fmla="*/ 678436 h 3910"/>
              <a:gd name="T80" fmla="*/ 755101 w 4256"/>
              <a:gd name="T81" fmla="*/ 438888 h 3910"/>
              <a:gd name="T82" fmla="*/ 640884 w 4256"/>
              <a:gd name="T83" fmla="*/ 647117 h 3910"/>
              <a:gd name="T84" fmla="*/ 392568 w 4256"/>
              <a:gd name="T85" fmla="*/ 488829 h 39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256" h="3910">
                <a:moveTo>
                  <a:pt x="1580" y="0"/>
                </a:moveTo>
                <a:cubicBezTo>
                  <a:pt x="2016" y="0"/>
                  <a:pt x="2411" y="177"/>
                  <a:pt x="2697" y="463"/>
                </a:cubicBezTo>
                <a:cubicBezTo>
                  <a:pt x="2983" y="748"/>
                  <a:pt x="3159" y="1143"/>
                  <a:pt x="3159" y="1579"/>
                </a:cubicBezTo>
                <a:cubicBezTo>
                  <a:pt x="3159" y="1676"/>
                  <a:pt x="3151" y="1771"/>
                  <a:pt x="3134" y="1862"/>
                </a:cubicBezTo>
                <a:cubicBezTo>
                  <a:pt x="2712" y="1862"/>
                  <a:pt x="2712" y="1862"/>
                  <a:pt x="2712" y="1862"/>
                </a:cubicBezTo>
                <a:cubicBezTo>
                  <a:pt x="2735" y="1772"/>
                  <a:pt x="2747" y="1677"/>
                  <a:pt x="2747" y="1579"/>
                </a:cubicBezTo>
                <a:cubicBezTo>
                  <a:pt x="2747" y="1257"/>
                  <a:pt x="2616" y="966"/>
                  <a:pt x="2405" y="755"/>
                </a:cubicBezTo>
                <a:cubicBezTo>
                  <a:pt x="2194" y="543"/>
                  <a:pt x="1902" y="413"/>
                  <a:pt x="1580" y="413"/>
                </a:cubicBezTo>
                <a:cubicBezTo>
                  <a:pt x="1257" y="413"/>
                  <a:pt x="966" y="543"/>
                  <a:pt x="755" y="755"/>
                </a:cubicBezTo>
                <a:cubicBezTo>
                  <a:pt x="544" y="966"/>
                  <a:pt x="413" y="1257"/>
                  <a:pt x="413" y="1579"/>
                </a:cubicBezTo>
                <a:cubicBezTo>
                  <a:pt x="413" y="1902"/>
                  <a:pt x="544" y="2194"/>
                  <a:pt x="755" y="2405"/>
                </a:cubicBezTo>
                <a:cubicBezTo>
                  <a:pt x="775" y="2425"/>
                  <a:pt x="796" y="2444"/>
                  <a:pt x="818" y="2463"/>
                </a:cubicBezTo>
                <a:cubicBezTo>
                  <a:pt x="818" y="2963"/>
                  <a:pt x="818" y="2963"/>
                  <a:pt x="818" y="2963"/>
                </a:cubicBezTo>
                <a:cubicBezTo>
                  <a:pt x="687" y="2891"/>
                  <a:pt x="568" y="2801"/>
                  <a:pt x="463" y="2696"/>
                </a:cubicBezTo>
                <a:cubicBezTo>
                  <a:pt x="177" y="2411"/>
                  <a:pt x="0" y="2016"/>
                  <a:pt x="0" y="1579"/>
                </a:cubicBezTo>
                <a:cubicBezTo>
                  <a:pt x="0" y="1143"/>
                  <a:pt x="177" y="748"/>
                  <a:pt x="463" y="463"/>
                </a:cubicBezTo>
                <a:cubicBezTo>
                  <a:pt x="749" y="177"/>
                  <a:pt x="1144" y="0"/>
                  <a:pt x="1580" y="0"/>
                </a:cubicBezTo>
                <a:close/>
                <a:moveTo>
                  <a:pt x="4173" y="3027"/>
                </a:moveTo>
                <a:cubicBezTo>
                  <a:pt x="3586" y="2919"/>
                  <a:pt x="3586" y="2919"/>
                  <a:pt x="3586" y="2919"/>
                </a:cubicBezTo>
                <a:cubicBezTo>
                  <a:pt x="3379" y="2508"/>
                  <a:pt x="3379" y="2508"/>
                  <a:pt x="3379" y="2508"/>
                </a:cubicBezTo>
                <a:cubicBezTo>
                  <a:pt x="3356" y="2463"/>
                  <a:pt x="3356" y="2463"/>
                  <a:pt x="3356" y="2463"/>
                </a:cubicBezTo>
                <a:cubicBezTo>
                  <a:pt x="3306" y="2463"/>
                  <a:pt x="3306" y="2463"/>
                  <a:pt x="3306" y="2463"/>
                </a:cubicBezTo>
                <a:cubicBezTo>
                  <a:pt x="2842" y="2463"/>
                  <a:pt x="2842" y="2463"/>
                  <a:pt x="2842" y="2463"/>
                </a:cubicBezTo>
                <a:cubicBezTo>
                  <a:pt x="2689" y="2290"/>
                  <a:pt x="2689" y="2290"/>
                  <a:pt x="2689" y="2290"/>
                </a:cubicBezTo>
                <a:cubicBezTo>
                  <a:pt x="1323" y="2290"/>
                  <a:pt x="1323" y="2290"/>
                  <a:pt x="1323" y="2290"/>
                </a:cubicBezTo>
                <a:cubicBezTo>
                  <a:pt x="1145" y="2545"/>
                  <a:pt x="1145" y="2545"/>
                  <a:pt x="1145" y="2545"/>
                </a:cubicBezTo>
                <a:cubicBezTo>
                  <a:pt x="1147" y="3630"/>
                  <a:pt x="1147" y="3630"/>
                  <a:pt x="1147" y="3630"/>
                </a:cubicBezTo>
                <a:cubicBezTo>
                  <a:pt x="1229" y="3630"/>
                  <a:pt x="1229" y="3630"/>
                  <a:pt x="1229" y="3630"/>
                </a:cubicBezTo>
                <a:cubicBezTo>
                  <a:pt x="1329" y="3630"/>
                  <a:pt x="1329" y="3630"/>
                  <a:pt x="1329" y="3630"/>
                </a:cubicBezTo>
                <a:cubicBezTo>
                  <a:pt x="1350" y="3691"/>
                  <a:pt x="1384" y="3745"/>
                  <a:pt x="1429" y="3790"/>
                </a:cubicBezTo>
                <a:cubicBezTo>
                  <a:pt x="1503" y="3864"/>
                  <a:pt x="1606" y="3910"/>
                  <a:pt x="1720" y="3910"/>
                </a:cubicBezTo>
                <a:cubicBezTo>
                  <a:pt x="1834" y="3910"/>
                  <a:pt x="1937" y="3864"/>
                  <a:pt x="2012" y="3790"/>
                </a:cubicBezTo>
                <a:cubicBezTo>
                  <a:pt x="2056" y="3745"/>
                  <a:pt x="2091" y="3690"/>
                  <a:pt x="2111" y="3627"/>
                </a:cubicBezTo>
                <a:cubicBezTo>
                  <a:pt x="2462" y="3626"/>
                  <a:pt x="2853" y="3625"/>
                  <a:pt x="3203" y="3624"/>
                </a:cubicBezTo>
                <a:cubicBezTo>
                  <a:pt x="3223" y="3687"/>
                  <a:pt x="3259" y="3744"/>
                  <a:pt x="3304" y="3790"/>
                </a:cubicBezTo>
                <a:cubicBezTo>
                  <a:pt x="3379" y="3864"/>
                  <a:pt x="3482" y="3910"/>
                  <a:pt x="3596" y="3910"/>
                </a:cubicBezTo>
                <a:cubicBezTo>
                  <a:pt x="3710" y="3910"/>
                  <a:pt x="3813" y="3864"/>
                  <a:pt x="3887" y="3790"/>
                </a:cubicBezTo>
                <a:cubicBezTo>
                  <a:pt x="3934" y="3743"/>
                  <a:pt x="3969" y="3686"/>
                  <a:pt x="3989" y="3622"/>
                </a:cubicBezTo>
                <a:cubicBezTo>
                  <a:pt x="4040" y="3621"/>
                  <a:pt x="4084" y="3621"/>
                  <a:pt x="4120" y="3621"/>
                </a:cubicBezTo>
                <a:cubicBezTo>
                  <a:pt x="4173" y="3621"/>
                  <a:pt x="4173" y="3621"/>
                  <a:pt x="4173" y="3621"/>
                </a:cubicBezTo>
                <a:cubicBezTo>
                  <a:pt x="4256" y="3621"/>
                  <a:pt x="4256" y="3621"/>
                  <a:pt x="4256" y="3621"/>
                </a:cubicBezTo>
                <a:cubicBezTo>
                  <a:pt x="4256" y="3346"/>
                  <a:pt x="4256" y="3346"/>
                  <a:pt x="4256" y="3346"/>
                </a:cubicBezTo>
                <a:cubicBezTo>
                  <a:pt x="4173" y="3346"/>
                  <a:pt x="4173" y="3346"/>
                  <a:pt x="4173" y="3346"/>
                </a:cubicBezTo>
                <a:cubicBezTo>
                  <a:pt x="4173" y="3027"/>
                  <a:pt x="4173" y="3027"/>
                  <a:pt x="4173" y="3027"/>
                </a:cubicBezTo>
                <a:close/>
                <a:moveTo>
                  <a:pt x="1573" y="3352"/>
                </a:moveTo>
                <a:cubicBezTo>
                  <a:pt x="1611" y="3315"/>
                  <a:pt x="1663" y="3292"/>
                  <a:pt x="1720" y="3292"/>
                </a:cubicBezTo>
                <a:cubicBezTo>
                  <a:pt x="1777" y="3292"/>
                  <a:pt x="1829" y="3315"/>
                  <a:pt x="1866" y="3352"/>
                </a:cubicBezTo>
                <a:cubicBezTo>
                  <a:pt x="1904" y="3390"/>
                  <a:pt x="1927" y="3441"/>
                  <a:pt x="1927" y="3499"/>
                </a:cubicBezTo>
                <a:cubicBezTo>
                  <a:pt x="1927" y="3556"/>
                  <a:pt x="1904" y="3607"/>
                  <a:pt x="1866" y="3645"/>
                </a:cubicBezTo>
                <a:cubicBezTo>
                  <a:pt x="1829" y="3682"/>
                  <a:pt x="1777" y="3705"/>
                  <a:pt x="1720" y="3705"/>
                </a:cubicBezTo>
                <a:cubicBezTo>
                  <a:pt x="1663" y="3705"/>
                  <a:pt x="1611" y="3682"/>
                  <a:pt x="1573" y="3645"/>
                </a:cubicBezTo>
                <a:cubicBezTo>
                  <a:pt x="1536" y="3607"/>
                  <a:pt x="1513" y="3556"/>
                  <a:pt x="1513" y="3499"/>
                </a:cubicBezTo>
                <a:cubicBezTo>
                  <a:pt x="1513" y="3441"/>
                  <a:pt x="1536" y="3390"/>
                  <a:pt x="1573" y="3352"/>
                </a:cubicBezTo>
                <a:close/>
                <a:moveTo>
                  <a:pt x="3449" y="3352"/>
                </a:moveTo>
                <a:cubicBezTo>
                  <a:pt x="3487" y="3315"/>
                  <a:pt x="3539" y="3292"/>
                  <a:pt x="3596" y="3292"/>
                </a:cubicBezTo>
                <a:cubicBezTo>
                  <a:pt x="3653" y="3292"/>
                  <a:pt x="3705" y="3315"/>
                  <a:pt x="3742" y="3352"/>
                </a:cubicBezTo>
                <a:cubicBezTo>
                  <a:pt x="3779" y="3390"/>
                  <a:pt x="3803" y="3441"/>
                  <a:pt x="3803" y="3499"/>
                </a:cubicBezTo>
                <a:cubicBezTo>
                  <a:pt x="3803" y="3556"/>
                  <a:pt x="3779" y="3607"/>
                  <a:pt x="3742" y="3645"/>
                </a:cubicBezTo>
                <a:cubicBezTo>
                  <a:pt x="3705" y="3682"/>
                  <a:pt x="3653" y="3705"/>
                  <a:pt x="3596" y="3705"/>
                </a:cubicBezTo>
                <a:cubicBezTo>
                  <a:pt x="3539" y="3705"/>
                  <a:pt x="3487" y="3682"/>
                  <a:pt x="3449" y="3645"/>
                </a:cubicBezTo>
                <a:cubicBezTo>
                  <a:pt x="3412" y="3607"/>
                  <a:pt x="3389" y="3556"/>
                  <a:pt x="3389" y="3499"/>
                </a:cubicBezTo>
                <a:cubicBezTo>
                  <a:pt x="3389" y="3441"/>
                  <a:pt x="3412" y="3390"/>
                  <a:pt x="3449" y="3352"/>
                </a:cubicBezTo>
                <a:close/>
                <a:moveTo>
                  <a:pt x="3397" y="2905"/>
                </a:moveTo>
                <a:cubicBezTo>
                  <a:pt x="3256" y="2627"/>
                  <a:pt x="3256" y="2627"/>
                  <a:pt x="3256" y="2627"/>
                </a:cubicBezTo>
                <a:cubicBezTo>
                  <a:pt x="2766" y="2627"/>
                  <a:pt x="2766" y="2627"/>
                  <a:pt x="2766" y="2627"/>
                </a:cubicBezTo>
                <a:cubicBezTo>
                  <a:pt x="2766" y="2906"/>
                  <a:pt x="2766" y="2906"/>
                  <a:pt x="2766" y="2906"/>
                </a:cubicBezTo>
                <a:cubicBezTo>
                  <a:pt x="3397" y="2905"/>
                  <a:pt x="3397" y="2905"/>
                  <a:pt x="3397" y="2905"/>
                </a:cubicBezTo>
                <a:close/>
                <a:moveTo>
                  <a:pt x="928" y="1155"/>
                </a:moveTo>
                <a:cubicBezTo>
                  <a:pt x="1420" y="1648"/>
                  <a:pt x="1420" y="1648"/>
                  <a:pt x="1420" y="1648"/>
                </a:cubicBezTo>
                <a:cubicBezTo>
                  <a:pt x="1412" y="1671"/>
                  <a:pt x="1408" y="1696"/>
                  <a:pt x="1408" y="1722"/>
                </a:cubicBezTo>
                <a:cubicBezTo>
                  <a:pt x="1408" y="1769"/>
                  <a:pt x="1421" y="1812"/>
                  <a:pt x="1445" y="1848"/>
                </a:cubicBezTo>
                <a:cubicBezTo>
                  <a:pt x="1407" y="1940"/>
                  <a:pt x="1407" y="1940"/>
                  <a:pt x="1407" y="1940"/>
                </a:cubicBezTo>
                <a:cubicBezTo>
                  <a:pt x="1648" y="2041"/>
                  <a:pt x="1648" y="2041"/>
                  <a:pt x="1648" y="2041"/>
                </a:cubicBezTo>
                <a:cubicBezTo>
                  <a:pt x="1689" y="1945"/>
                  <a:pt x="1689" y="1945"/>
                  <a:pt x="1689" y="1945"/>
                </a:cubicBezTo>
                <a:cubicBezTo>
                  <a:pt x="1696" y="1943"/>
                  <a:pt x="1703" y="1941"/>
                  <a:pt x="1711" y="1939"/>
                </a:cubicBezTo>
                <a:cubicBezTo>
                  <a:pt x="1862" y="2090"/>
                  <a:pt x="1862" y="2090"/>
                  <a:pt x="1862" y="2090"/>
                </a:cubicBezTo>
                <a:cubicBezTo>
                  <a:pt x="1969" y="1983"/>
                  <a:pt x="1969" y="1983"/>
                  <a:pt x="1969" y="1983"/>
                </a:cubicBezTo>
                <a:cubicBezTo>
                  <a:pt x="1830" y="1844"/>
                  <a:pt x="1830" y="1844"/>
                  <a:pt x="1830" y="1844"/>
                </a:cubicBezTo>
                <a:cubicBezTo>
                  <a:pt x="1852" y="1809"/>
                  <a:pt x="1865" y="1767"/>
                  <a:pt x="1865" y="1722"/>
                </a:cubicBezTo>
                <a:cubicBezTo>
                  <a:pt x="1865" y="1679"/>
                  <a:pt x="1853" y="1638"/>
                  <a:pt x="1832" y="1603"/>
                </a:cubicBezTo>
                <a:cubicBezTo>
                  <a:pt x="2027" y="1139"/>
                  <a:pt x="2027" y="1139"/>
                  <a:pt x="2027" y="1139"/>
                </a:cubicBezTo>
                <a:cubicBezTo>
                  <a:pt x="1785" y="1037"/>
                  <a:pt x="1785" y="1037"/>
                  <a:pt x="1785" y="1037"/>
                </a:cubicBezTo>
                <a:cubicBezTo>
                  <a:pt x="1592" y="1498"/>
                  <a:pt x="1592" y="1498"/>
                  <a:pt x="1592" y="1498"/>
                </a:cubicBezTo>
                <a:cubicBezTo>
                  <a:pt x="1564" y="1503"/>
                  <a:pt x="1538" y="1514"/>
                  <a:pt x="1515" y="1529"/>
                </a:cubicBezTo>
                <a:cubicBezTo>
                  <a:pt x="1034" y="1049"/>
                  <a:pt x="1034" y="1049"/>
                  <a:pt x="1034" y="1049"/>
                </a:cubicBezTo>
                <a:lnTo>
                  <a:pt x="928" y="1155"/>
                </a:lnTo>
                <a:close/>
              </a:path>
            </a:pathLst>
          </a:custGeom>
          <a:solidFill>
            <a:srgbClr val="00B0F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9" name="KSO_Shape"/>
          <p:cNvSpPr>
            <a:spLocks noChangeArrowheads="1"/>
          </p:cNvSpPr>
          <p:nvPr/>
        </p:nvSpPr>
        <p:spPr bwMode="auto">
          <a:xfrm>
            <a:off x="683568" y="3347401"/>
            <a:ext cx="1456556" cy="1224210"/>
          </a:xfrm>
          <a:custGeom>
            <a:avLst/>
            <a:gdLst>
              <a:gd name="T0" fmla="*/ 564805 w 3025775"/>
              <a:gd name="T1" fmla="*/ 2324854 h 2514600"/>
              <a:gd name="T2" fmla="*/ 1007608 w 3025775"/>
              <a:gd name="T3" fmla="*/ 1525217 h 2514600"/>
              <a:gd name="T4" fmla="*/ 1078496 w 3025775"/>
              <a:gd name="T5" fmla="*/ 1380572 h 2514600"/>
              <a:gd name="T6" fmla="*/ 1007608 w 3025775"/>
              <a:gd name="T7" fmla="*/ 1235926 h 2514600"/>
              <a:gd name="T8" fmla="*/ 710569 w 3025775"/>
              <a:gd name="T9" fmla="*/ 612921 h 2514600"/>
              <a:gd name="T10" fmla="*/ 570116 w 3025775"/>
              <a:gd name="T11" fmla="*/ 716579 h 2514600"/>
              <a:gd name="T12" fmla="*/ 553982 w 3025775"/>
              <a:gd name="T13" fmla="*/ 873652 h 2514600"/>
              <a:gd name="T14" fmla="*/ 671422 w 3025775"/>
              <a:gd name="T15" fmla="*/ 993970 h 2514600"/>
              <a:gd name="T16" fmla="*/ 947037 w 3025775"/>
              <a:gd name="T17" fmla="*/ 472771 h 2514600"/>
              <a:gd name="T18" fmla="*/ 1100185 w 3025775"/>
              <a:gd name="T19" fmla="*/ 540466 h 2514600"/>
              <a:gd name="T20" fmla="*/ 1208368 w 3025775"/>
              <a:gd name="T21" fmla="*/ 649148 h 2514600"/>
              <a:gd name="T22" fmla="*/ 1256243 w 3025775"/>
              <a:gd name="T23" fmla="*/ 786389 h 2514600"/>
              <a:gd name="T24" fmla="*/ 1034852 w 3025775"/>
              <a:gd name="T25" fmla="*/ 693573 h 2514600"/>
              <a:gd name="T26" fmla="*/ 878530 w 3025775"/>
              <a:gd name="T27" fmla="*/ 604194 h 2514600"/>
              <a:gd name="T28" fmla="*/ 1036439 w 3025775"/>
              <a:gd name="T29" fmla="*/ 1074357 h 2514600"/>
              <a:gd name="T30" fmla="*/ 1166047 w 3025775"/>
              <a:gd name="T31" fmla="*/ 1166380 h 2514600"/>
              <a:gd name="T32" fmla="*/ 1242753 w 3025775"/>
              <a:gd name="T33" fmla="*/ 1292251 h 2514600"/>
              <a:gd name="T34" fmla="*/ 1250953 w 3025775"/>
              <a:gd name="T35" fmla="*/ 1437689 h 2514600"/>
              <a:gd name="T36" fmla="*/ 1188265 w 3025775"/>
              <a:gd name="T37" fmla="*/ 1569642 h 2514600"/>
              <a:gd name="T38" fmla="*/ 1068973 w 3025775"/>
              <a:gd name="T39" fmla="*/ 1670127 h 2514600"/>
              <a:gd name="T40" fmla="*/ 908419 w 3025775"/>
              <a:gd name="T41" fmla="*/ 1727509 h 2514600"/>
              <a:gd name="T42" fmla="*/ 627514 w 3025775"/>
              <a:gd name="T43" fmla="*/ 1705296 h 2514600"/>
              <a:gd name="T44" fmla="*/ 485475 w 3025775"/>
              <a:gd name="T45" fmla="*/ 1624908 h 2514600"/>
              <a:gd name="T46" fmla="*/ 392633 w 3025775"/>
              <a:gd name="T47" fmla="*/ 1507235 h 2514600"/>
              <a:gd name="T48" fmla="*/ 541814 w 3025775"/>
              <a:gd name="T49" fmla="*/ 1389827 h 2514600"/>
              <a:gd name="T50" fmla="*/ 620108 w 3025775"/>
              <a:gd name="T51" fmla="*/ 1531828 h 2514600"/>
              <a:gd name="T52" fmla="*/ 702633 w 3025775"/>
              <a:gd name="T53" fmla="*/ 1156068 h 2514600"/>
              <a:gd name="T54" fmla="*/ 543930 w 3025775"/>
              <a:gd name="T55" fmla="*/ 1096041 h 2514600"/>
              <a:gd name="T56" fmla="*/ 427284 w 3025775"/>
              <a:gd name="T57" fmla="*/ 993441 h 2514600"/>
              <a:gd name="T58" fmla="*/ 368563 w 3025775"/>
              <a:gd name="T59" fmla="*/ 860431 h 2514600"/>
              <a:gd name="T60" fmla="*/ 380995 w 3025775"/>
              <a:gd name="T61" fmla="*/ 715257 h 2514600"/>
              <a:gd name="T62" fmla="*/ 460611 w 3025775"/>
              <a:gd name="T63" fmla="*/ 590708 h 2514600"/>
              <a:gd name="T64" fmla="*/ 592864 w 3025775"/>
              <a:gd name="T65" fmla="*/ 500801 h 2514600"/>
              <a:gd name="T66" fmla="*/ 142657 w 3025775"/>
              <a:gd name="T67" fmla="*/ 168575 h 2514600"/>
              <a:gd name="T68" fmla="*/ 2952420 w 3025775"/>
              <a:gd name="T69" fmla="*/ 101075 h 2514600"/>
              <a:gd name="T70" fmla="*/ 3024978 w 3025775"/>
              <a:gd name="T71" fmla="*/ 221216 h 2514600"/>
              <a:gd name="T72" fmla="*/ 2982719 w 3025775"/>
              <a:gd name="T73" fmla="*/ 1603101 h 2514600"/>
              <a:gd name="T74" fmla="*/ 2790825 w 3025775"/>
              <a:gd name="T75" fmla="*/ 1657350 h 2514600"/>
              <a:gd name="T76" fmla="*/ 2047448 w 3025775"/>
              <a:gd name="T77" fmla="*/ 1624536 h 2514600"/>
              <a:gd name="T78" fmla="*/ 1981200 w 3025775"/>
              <a:gd name="T79" fmla="*/ 1500690 h 2514600"/>
              <a:gd name="T80" fmla="*/ 2213863 w 3025775"/>
              <a:gd name="T81" fmla="*/ 1000280 h 2514600"/>
              <a:gd name="T82" fmla="*/ 2263151 w 3025775"/>
              <a:gd name="T83" fmla="*/ 570260 h 2514600"/>
              <a:gd name="T84" fmla="*/ 2208298 w 3025775"/>
              <a:gd name="T85" fmla="*/ 454353 h 2514600"/>
              <a:gd name="T86" fmla="*/ 1981995 w 3025775"/>
              <a:gd name="T87" fmla="*/ 221216 h 2514600"/>
              <a:gd name="T88" fmla="*/ 2053808 w 3025775"/>
              <a:gd name="T89" fmla="*/ 101075 h 2514600"/>
              <a:gd name="T90" fmla="*/ 1490620 w 3025775"/>
              <a:gd name="T91" fmla="*/ 3440 h 2514600"/>
              <a:gd name="T92" fmla="*/ 1602840 w 3025775"/>
              <a:gd name="T93" fmla="*/ 86537 h 2514600"/>
              <a:gd name="T94" fmla="*/ 1788503 w 3025775"/>
              <a:gd name="T95" fmla="*/ 578518 h 2514600"/>
              <a:gd name="T96" fmla="*/ 1848535 w 3025775"/>
              <a:gd name="T97" fmla="*/ 507488 h 2514600"/>
              <a:gd name="T98" fmla="*/ 2102942 w 3025775"/>
              <a:gd name="T99" fmla="*/ 505633 h 2514600"/>
              <a:gd name="T100" fmla="*/ 2166675 w 3025775"/>
              <a:gd name="T101" fmla="*/ 576133 h 2514600"/>
              <a:gd name="T102" fmla="*/ 2155304 w 3025775"/>
              <a:gd name="T103" fmla="*/ 907692 h 2514600"/>
              <a:gd name="T104" fmla="*/ 2076496 w 3025775"/>
              <a:gd name="T105" fmla="*/ 960700 h 2514600"/>
              <a:gd name="T106" fmla="*/ 1824998 w 3025775"/>
              <a:gd name="T107" fmla="*/ 936316 h 2514600"/>
              <a:gd name="T108" fmla="*/ 1784008 w 3025775"/>
              <a:gd name="T109" fmla="*/ 849119 h 2514600"/>
              <a:gd name="T110" fmla="*/ 1579549 w 3025775"/>
              <a:gd name="T111" fmla="*/ 2460349 h 2514600"/>
              <a:gd name="T112" fmla="*/ 165154 w 3025775"/>
              <a:gd name="T113" fmla="*/ 2514600 h 2514600"/>
              <a:gd name="T114" fmla="*/ 37848 w 3025775"/>
              <a:gd name="T115" fmla="*/ 2454527 h 2514600"/>
              <a:gd name="T116" fmla="*/ 2117 w 3025775"/>
              <a:gd name="T117" fmla="*/ 139994 h 2514600"/>
              <a:gd name="T118" fmla="*/ 79666 w 3025775"/>
              <a:gd name="T119" fmla="*/ 24082 h 2514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25775" h="2514600">
                <a:moveTo>
                  <a:pt x="747713" y="2141537"/>
                </a:moveTo>
                <a:lnTo>
                  <a:pt x="871538" y="2141537"/>
                </a:lnTo>
                <a:lnTo>
                  <a:pt x="871538" y="2263775"/>
                </a:lnTo>
                <a:lnTo>
                  <a:pt x="747713" y="2263775"/>
                </a:lnTo>
                <a:lnTo>
                  <a:pt x="747713" y="2141537"/>
                </a:lnTo>
                <a:close/>
                <a:moveTo>
                  <a:pt x="1057885" y="2079269"/>
                </a:moveTo>
                <a:lnTo>
                  <a:pt x="1057885" y="2324854"/>
                </a:lnTo>
                <a:lnTo>
                  <a:pt x="1303498" y="2324854"/>
                </a:lnTo>
                <a:lnTo>
                  <a:pt x="1303498" y="2079269"/>
                </a:lnTo>
                <a:lnTo>
                  <a:pt x="1057885" y="2079269"/>
                </a:lnTo>
                <a:close/>
                <a:moveTo>
                  <a:pt x="687876" y="2079269"/>
                </a:moveTo>
                <a:lnTo>
                  <a:pt x="687876" y="2324854"/>
                </a:lnTo>
                <a:lnTo>
                  <a:pt x="933225" y="2324854"/>
                </a:lnTo>
                <a:lnTo>
                  <a:pt x="933225" y="2079269"/>
                </a:lnTo>
                <a:lnTo>
                  <a:pt x="687876" y="2079269"/>
                </a:lnTo>
                <a:close/>
                <a:moveTo>
                  <a:pt x="319191" y="2079269"/>
                </a:moveTo>
                <a:lnTo>
                  <a:pt x="319191" y="2324854"/>
                </a:lnTo>
                <a:lnTo>
                  <a:pt x="564805" y="2324854"/>
                </a:lnTo>
                <a:lnTo>
                  <a:pt x="564805" y="2079269"/>
                </a:lnTo>
                <a:lnTo>
                  <a:pt x="319191" y="2079269"/>
                </a:lnTo>
                <a:close/>
                <a:moveTo>
                  <a:pt x="878530" y="1174049"/>
                </a:moveTo>
                <a:lnTo>
                  <a:pt x="878530" y="1587359"/>
                </a:lnTo>
                <a:lnTo>
                  <a:pt x="889374" y="1584979"/>
                </a:lnTo>
                <a:lnTo>
                  <a:pt x="899955" y="1582070"/>
                </a:lnTo>
                <a:lnTo>
                  <a:pt x="910270" y="1579161"/>
                </a:lnTo>
                <a:lnTo>
                  <a:pt x="920322" y="1575724"/>
                </a:lnTo>
                <a:lnTo>
                  <a:pt x="930108" y="1572022"/>
                </a:lnTo>
                <a:lnTo>
                  <a:pt x="939895" y="1567791"/>
                </a:lnTo>
                <a:lnTo>
                  <a:pt x="949417" y="1563560"/>
                </a:lnTo>
                <a:lnTo>
                  <a:pt x="958410" y="1559064"/>
                </a:lnTo>
                <a:lnTo>
                  <a:pt x="967403" y="1553776"/>
                </a:lnTo>
                <a:lnTo>
                  <a:pt x="975868" y="1548487"/>
                </a:lnTo>
                <a:lnTo>
                  <a:pt x="984332" y="1543198"/>
                </a:lnTo>
                <a:lnTo>
                  <a:pt x="992531" y="1537381"/>
                </a:lnTo>
                <a:lnTo>
                  <a:pt x="1000202" y="1531563"/>
                </a:lnTo>
                <a:lnTo>
                  <a:pt x="1007608" y="1525217"/>
                </a:lnTo>
                <a:lnTo>
                  <a:pt x="1014750" y="1518871"/>
                </a:lnTo>
                <a:lnTo>
                  <a:pt x="1021627" y="1512260"/>
                </a:lnTo>
                <a:lnTo>
                  <a:pt x="1027975" y="1505384"/>
                </a:lnTo>
                <a:lnTo>
                  <a:pt x="1034323" y="1497980"/>
                </a:lnTo>
                <a:lnTo>
                  <a:pt x="1040142" y="1490841"/>
                </a:lnTo>
                <a:lnTo>
                  <a:pt x="1045697" y="1483172"/>
                </a:lnTo>
                <a:lnTo>
                  <a:pt x="1050723" y="1475503"/>
                </a:lnTo>
                <a:lnTo>
                  <a:pt x="1055219" y="1467835"/>
                </a:lnTo>
                <a:lnTo>
                  <a:pt x="1059451" y="1459637"/>
                </a:lnTo>
                <a:lnTo>
                  <a:pt x="1063419" y="1451176"/>
                </a:lnTo>
                <a:lnTo>
                  <a:pt x="1066857" y="1442978"/>
                </a:lnTo>
                <a:lnTo>
                  <a:pt x="1069767" y="1434516"/>
                </a:lnTo>
                <a:lnTo>
                  <a:pt x="1072412" y="1425790"/>
                </a:lnTo>
                <a:lnTo>
                  <a:pt x="1074528" y="1417064"/>
                </a:lnTo>
                <a:lnTo>
                  <a:pt x="1076115" y="1408337"/>
                </a:lnTo>
                <a:lnTo>
                  <a:pt x="1077438" y="1399082"/>
                </a:lnTo>
                <a:lnTo>
                  <a:pt x="1078231" y="1389827"/>
                </a:lnTo>
                <a:lnTo>
                  <a:pt x="1078496" y="1380572"/>
                </a:lnTo>
                <a:lnTo>
                  <a:pt x="1078231" y="1371581"/>
                </a:lnTo>
                <a:lnTo>
                  <a:pt x="1077438" y="1362326"/>
                </a:lnTo>
                <a:lnTo>
                  <a:pt x="1076115" y="1353071"/>
                </a:lnTo>
                <a:lnTo>
                  <a:pt x="1074528" y="1344344"/>
                </a:lnTo>
                <a:lnTo>
                  <a:pt x="1072412" y="1335618"/>
                </a:lnTo>
                <a:lnTo>
                  <a:pt x="1069767" y="1326892"/>
                </a:lnTo>
                <a:lnTo>
                  <a:pt x="1066857" y="1318430"/>
                </a:lnTo>
                <a:lnTo>
                  <a:pt x="1063419" y="1309968"/>
                </a:lnTo>
                <a:lnTo>
                  <a:pt x="1059451" y="1301506"/>
                </a:lnTo>
                <a:lnTo>
                  <a:pt x="1055219" y="1293573"/>
                </a:lnTo>
                <a:lnTo>
                  <a:pt x="1050723" y="1285640"/>
                </a:lnTo>
                <a:lnTo>
                  <a:pt x="1045697" y="1277971"/>
                </a:lnTo>
                <a:lnTo>
                  <a:pt x="1040142" y="1270567"/>
                </a:lnTo>
                <a:lnTo>
                  <a:pt x="1034323" y="1263428"/>
                </a:lnTo>
                <a:lnTo>
                  <a:pt x="1027975" y="1256023"/>
                </a:lnTo>
                <a:lnTo>
                  <a:pt x="1021627" y="1249148"/>
                </a:lnTo>
                <a:lnTo>
                  <a:pt x="1014750" y="1242537"/>
                </a:lnTo>
                <a:lnTo>
                  <a:pt x="1007608" y="1235926"/>
                </a:lnTo>
                <a:lnTo>
                  <a:pt x="1000202" y="1229845"/>
                </a:lnTo>
                <a:lnTo>
                  <a:pt x="992531" y="1224027"/>
                </a:lnTo>
                <a:lnTo>
                  <a:pt x="984332" y="1218209"/>
                </a:lnTo>
                <a:lnTo>
                  <a:pt x="975868" y="1212656"/>
                </a:lnTo>
                <a:lnTo>
                  <a:pt x="967403" y="1207632"/>
                </a:lnTo>
                <a:lnTo>
                  <a:pt x="958410" y="1202343"/>
                </a:lnTo>
                <a:lnTo>
                  <a:pt x="949417" y="1197848"/>
                </a:lnTo>
                <a:lnTo>
                  <a:pt x="939895" y="1193617"/>
                </a:lnTo>
                <a:lnTo>
                  <a:pt x="930108" y="1189386"/>
                </a:lnTo>
                <a:lnTo>
                  <a:pt x="920322" y="1185684"/>
                </a:lnTo>
                <a:lnTo>
                  <a:pt x="910270" y="1182246"/>
                </a:lnTo>
                <a:lnTo>
                  <a:pt x="899955" y="1179338"/>
                </a:lnTo>
                <a:lnTo>
                  <a:pt x="889374" y="1176429"/>
                </a:lnTo>
                <a:lnTo>
                  <a:pt x="878530" y="1174049"/>
                </a:lnTo>
                <a:close/>
                <a:moveTo>
                  <a:pt x="742309" y="604459"/>
                </a:moveTo>
                <a:lnTo>
                  <a:pt x="731465" y="606839"/>
                </a:lnTo>
                <a:lnTo>
                  <a:pt x="720884" y="609748"/>
                </a:lnTo>
                <a:lnTo>
                  <a:pt x="710569" y="612921"/>
                </a:lnTo>
                <a:lnTo>
                  <a:pt x="700517" y="616358"/>
                </a:lnTo>
                <a:lnTo>
                  <a:pt x="690731" y="620060"/>
                </a:lnTo>
                <a:lnTo>
                  <a:pt x="680944" y="624291"/>
                </a:lnTo>
                <a:lnTo>
                  <a:pt x="671422" y="628522"/>
                </a:lnTo>
                <a:lnTo>
                  <a:pt x="662429" y="633018"/>
                </a:lnTo>
                <a:lnTo>
                  <a:pt x="653436" y="638042"/>
                </a:lnTo>
                <a:lnTo>
                  <a:pt x="644971" y="643066"/>
                </a:lnTo>
                <a:lnTo>
                  <a:pt x="636507" y="648619"/>
                </a:lnTo>
                <a:lnTo>
                  <a:pt x="628308" y="654437"/>
                </a:lnTo>
                <a:lnTo>
                  <a:pt x="620637" y="660254"/>
                </a:lnTo>
                <a:lnTo>
                  <a:pt x="613231" y="666865"/>
                </a:lnTo>
                <a:lnTo>
                  <a:pt x="606089" y="673212"/>
                </a:lnTo>
                <a:lnTo>
                  <a:pt x="599212" y="679822"/>
                </a:lnTo>
                <a:lnTo>
                  <a:pt x="592864" y="686698"/>
                </a:lnTo>
                <a:lnTo>
                  <a:pt x="586516" y="693837"/>
                </a:lnTo>
                <a:lnTo>
                  <a:pt x="580697" y="700977"/>
                </a:lnTo>
                <a:lnTo>
                  <a:pt x="575142" y="708646"/>
                </a:lnTo>
                <a:lnTo>
                  <a:pt x="570116" y="716579"/>
                </a:lnTo>
                <a:lnTo>
                  <a:pt x="565620" y="724247"/>
                </a:lnTo>
                <a:lnTo>
                  <a:pt x="561388" y="732445"/>
                </a:lnTo>
                <a:lnTo>
                  <a:pt x="557420" y="740642"/>
                </a:lnTo>
                <a:lnTo>
                  <a:pt x="553982" y="748840"/>
                </a:lnTo>
                <a:lnTo>
                  <a:pt x="551072" y="757301"/>
                </a:lnTo>
                <a:lnTo>
                  <a:pt x="548427" y="766292"/>
                </a:lnTo>
                <a:lnTo>
                  <a:pt x="546311" y="775019"/>
                </a:lnTo>
                <a:lnTo>
                  <a:pt x="544724" y="783745"/>
                </a:lnTo>
                <a:lnTo>
                  <a:pt x="543401" y="792736"/>
                </a:lnTo>
                <a:lnTo>
                  <a:pt x="542608" y="801991"/>
                </a:lnTo>
                <a:lnTo>
                  <a:pt x="542343" y="811510"/>
                </a:lnTo>
                <a:lnTo>
                  <a:pt x="542608" y="820501"/>
                </a:lnTo>
                <a:lnTo>
                  <a:pt x="543401" y="829756"/>
                </a:lnTo>
                <a:lnTo>
                  <a:pt x="544724" y="838747"/>
                </a:lnTo>
                <a:lnTo>
                  <a:pt x="546311" y="847473"/>
                </a:lnTo>
                <a:lnTo>
                  <a:pt x="548427" y="856200"/>
                </a:lnTo>
                <a:lnTo>
                  <a:pt x="551072" y="865190"/>
                </a:lnTo>
                <a:lnTo>
                  <a:pt x="553982" y="873652"/>
                </a:lnTo>
                <a:lnTo>
                  <a:pt x="557420" y="882114"/>
                </a:lnTo>
                <a:lnTo>
                  <a:pt x="561388" y="890312"/>
                </a:lnTo>
                <a:lnTo>
                  <a:pt x="565620" y="898245"/>
                </a:lnTo>
                <a:lnTo>
                  <a:pt x="570116" y="905913"/>
                </a:lnTo>
                <a:lnTo>
                  <a:pt x="575142" y="913846"/>
                </a:lnTo>
                <a:lnTo>
                  <a:pt x="580697" y="921515"/>
                </a:lnTo>
                <a:lnTo>
                  <a:pt x="586516" y="928655"/>
                </a:lnTo>
                <a:lnTo>
                  <a:pt x="592864" y="935794"/>
                </a:lnTo>
                <a:lnTo>
                  <a:pt x="599212" y="942670"/>
                </a:lnTo>
                <a:lnTo>
                  <a:pt x="606089" y="949280"/>
                </a:lnTo>
                <a:lnTo>
                  <a:pt x="613231" y="955891"/>
                </a:lnTo>
                <a:lnTo>
                  <a:pt x="620637" y="962238"/>
                </a:lnTo>
                <a:lnTo>
                  <a:pt x="628308" y="968055"/>
                </a:lnTo>
                <a:lnTo>
                  <a:pt x="636507" y="973873"/>
                </a:lnTo>
                <a:lnTo>
                  <a:pt x="644971" y="979426"/>
                </a:lnTo>
                <a:lnTo>
                  <a:pt x="653436" y="984450"/>
                </a:lnTo>
                <a:lnTo>
                  <a:pt x="662429" y="989474"/>
                </a:lnTo>
                <a:lnTo>
                  <a:pt x="671422" y="993970"/>
                </a:lnTo>
                <a:lnTo>
                  <a:pt x="680944" y="998201"/>
                </a:lnTo>
                <a:lnTo>
                  <a:pt x="690731" y="1002432"/>
                </a:lnTo>
                <a:lnTo>
                  <a:pt x="700517" y="1006134"/>
                </a:lnTo>
                <a:lnTo>
                  <a:pt x="710569" y="1009836"/>
                </a:lnTo>
                <a:lnTo>
                  <a:pt x="720884" y="1012744"/>
                </a:lnTo>
                <a:lnTo>
                  <a:pt x="731465" y="1015653"/>
                </a:lnTo>
                <a:lnTo>
                  <a:pt x="742309" y="1018033"/>
                </a:lnTo>
                <a:lnTo>
                  <a:pt x="742309" y="604459"/>
                </a:lnTo>
                <a:close/>
                <a:moveTo>
                  <a:pt x="742309" y="403225"/>
                </a:moveTo>
                <a:lnTo>
                  <a:pt x="878530" y="403225"/>
                </a:lnTo>
                <a:lnTo>
                  <a:pt x="878530" y="459814"/>
                </a:lnTo>
                <a:lnTo>
                  <a:pt x="888845" y="461136"/>
                </a:lnTo>
                <a:lnTo>
                  <a:pt x="898632" y="462722"/>
                </a:lnTo>
                <a:lnTo>
                  <a:pt x="908419" y="464573"/>
                </a:lnTo>
                <a:lnTo>
                  <a:pt x="918206" y="466425"/>
                </a:lnTo>
                <a:lnTo>
                  <a:pt x="927992" y="468276"/>
                </a:lnTo>
                <a:lnTo>
                  <a:pt x="937514" y="470391"/>
                </a:lnTo>
                <a:lnTo>
                  <a:pt x="947037" y="472771"/>
                </a:lnTo>
                <a:lnTo>
                  <a:pt x="956559" y="475151"/>
                </a:lnTo>
                <a:lnTo>
                  <a:pt x="965816" y="477795"/>
                </a:lnTo>
                <a:lnTo>
                  <a:pt x="975074" y="480704"/>
                </a:lnTo>
                <a:lnTo>
                  <a:pt x="984067" y="483613"/>
                </a:lnTo>
                <a:lnTo>
                  <a:pt x="993325" y="486786"/>
                </a:lnTo>
                <a:lnTo>
                  <a:pt x="1002318" y="489959"/>
                </a:lnTo>
                <a:lnTo>
                  <a:pt x="1011047" y="493397"/>
                </a:lnTo>
                <a:lnTo>
                  <a:pt x="1019511" y="496834"/>
                </a:lnTo>
                <a:lnTo>
                  <a:pt x="1028240" y="500536"/>
                </a:lnTo>
                <a:lnTo>
                  <a:pt x="1036704" y="504503"/>
                </a:lnTo>
                <a:lnTo>
                  <a:pt x="1045168" y="508469"/>
                </a:lnTo>
                <a:lnTo>
                  <a:pt x="1053368" y="512965"/>
                </a:lnTo>
                <a:lnTo>
                  <a:pt x="1061567" y="517196"/>
                </a:lnTo>
                <a:lnTo>
                  <a:pt x="1069502" y="521691"/>
                </a:lnTo>
                <a:lnTo>
                  <a:pt x="1077173" y="526187"/>
                </a:lnTo>
                <a:lnTo>
                  <a:pt x="1084844" y="530682"/>
                </a:lnTo>
                <a:lnTo>
                  <a:pt x="1092779" y="535442"/>
                </a:lnTo>
                <a:lnTo>
                  <a:pt x="1100185" y="540466"/>
                </a:lnTo>
                <a:lnTo>
                  <a:pt x="1107591" y="545490"/>
                </a:lnTo>
                <a:lnTo>
                  <a:pt x="1114733" y="550779"/>
                </a:lnTo>
                <a:lnTo>
                  <a:pt x="1121610" y="556068"/>
                </a:lnTo>
                <a:lnTo>
                  <a:pt x="1128487" y="561621"/>
                </a:lnTo>
                <a:lnTo>
                  <a:pt x="1135364" y="567174"/>
                </a:lnTo>
                <a:lnTo>
                  <a:pt x="1141977" y="572991"/>
                </a:lnTo>
                <a:lnTo>
                  <a:pt x="1148590" y="578544"/>
                </a:lnTo>
                <a:lnTo>
                  <a:pt x="1154673" y="584362"/>
                </a:lnTo>
                <a:lnTo>
                  <a:pt x="1160757" y="590444"/>
                </a:lnTo>
                <a:lnTo>
                  <a:pt x="1166840" y="596526"/>
                </a:lnTo>
                <a:lnTo>
                  <a:pt x="1172395" y="602608"/>
                </a:lnTo>
                <a:lnTo>
                  <a:pt x="1178214" y="608954"/>
                </a:lnTo>
                <a:lnTo>
                  <a:pt x="1183504" y="615565"/>
                </a:lnTo>
                <a:lnTo>
                  <a:pt x="1188794" y="622176"/>
                </a:lnTo>
                <a:lnTo>
                  <a:pt x="1194084" y="628787"/>
                </a:lnTo>
                <a:lnTo>
                  <a:pt x="1199110" y="635398"/>
                </a:lnTo>
                <a:lnTo>
                  <a:pt x="1203871" y="642273"/>
                </a:lnTo>
                <a:lnTo>
                  <a:pt x="1208368" y="649148"/>
                </a:lnTo>
                <a:lnTo>
                  <a:pt x="1212600" y="656023"/>
                </a:lnTo>
                <a:lnTo>
                  <a:pt x="1216832" y="663428"/>
                </a:lnTo>
                <a:lnTo>
                  <a:pt x="1220799" y="670567"/>
                </a:lnTo>
                <a:lnTo>
                  <a:pt x="1224767" y="677707"/>
                </a:lnTo>
                <a:lnTo>
                  <a:pt x="1228206" y="684847"/>
                </a:lnTo>
                <a:lnTo>
                  <a:pt x="1231644" y="692251"/>
                </a:lnTo>
                <a:lnTo>
                  <a:pt x="1234818" y="699655"/>
                </a:lnTo>
                <a:lnTo>
                  <a:pt x="1237728" y="707324"/>
                </a:lnTo>
                <a:lnTo>
                  <a:pt x="1240637" y="714992"/>
                </a:lnTo>
                <a:lnTo>
                  <a:pt x="1243547" y="722661"/>
                </a:lnTo>
                <a:lnTo>
                  <a:pt x="1245927" y="730329"/>
                </a:lnTo>
                <a:lnTo>
                  <a:pt x="1248043" y="738262"/>
                </a:lnTo>
                <a:lnTo>
                  <a:pt x="1249895" y="746195"/>
                </a:lnTo>
                <a:lnTo>
                  <a:pt x="1251747" y="753864"/>
                </a:lnTo>
                <a:lnTo>
                  <a:pt x="1253069" y="762326"/>
                </a:lnTo>
                <a:lnTo>
                  <a:pt x="1254392" y="770259"/>
                </a:lnTo>
                <a:lnTo>
                  <a:pt x="1255450" y="778192"/>
                </a:lnTo>
                <a:lnTo>
                  <a:pt x="1256243" y="786389"/>
                </a:lnTo>
                <a:lnTo>
                  <a:pt x="1257037" y="794587"/>
                </a:lnTo>
                <a:lnTo>
                  <a:pt x="1257301" y="802784"/>
                </a:lnTo>
                <a:lnTo>
                  <a:pt x="1257301" y="811510"/>
                </a:lnTo>
                <a:lnTo>
                  <a:pt x="1079289" y="811510"/>
                </a:lnTo>
                <a:lnTo>
                  <a:pt x="1079025" y="801991"/>
                </a:lnTo>
                <a:lnTo>
                  <a:pt x="1078231" y="792736"/>
                </a:lnTo>
                <a:lnTo>
                  <a:pt x="1076909" y="783745"/>
                </a:lnTo>
                <a:lnTo>
                  <a:pt x="1075322" y="775019"/>
                </a:lnTo>
                <a:lnTo>
                  <a:pt x="1073206" y="766028"/>
                </a:lnTo>
                <a:lnTo>
                  <a:pt x="1070560" y="757301"/>
                </a:lnTo>
                <a:lnTo>
                  <a:pt x="1067651" y="748840"/>
                </a:lnTo>
                <a:lnTo>
                  <a:pt x="1064212" y="740378"/>
                </a:lnTo>
                <a:lnTo>
                  <a:pt x="1060245" y="732180"/>
                </a:lnTo>
                <a:lnTo>
                  <a:pt x="1056013" y="724247"/>
                </a:lnTo>
                <a:lnTo>
                  <a:pt x="1051252" y="716314"/>
                </a:lnTo>
                <a:lnTo>
                  <a:pt x="1046226" y="708381"/>
                </a:lnTo>
                <a:lnTo>
                  <a:pt x="1040936" y="700713"/>
                </a:lnTo>
                <a:lnTo>
                  <a:pt x="1034852" y="693573"/>
                </a:lnTo>
                <a:lnTo>
                  <a:pt x="1028769" y="686433"/>
                </a:lnTo>
                <a:lnTo>
                  <a:pt x="1022156" y="679558"/>
                </a:lnTo>
                <a:lnTo>
                  <a:pt x="1015279" y="672947"/>
                </a:lnTo>
                <a:lnTo>
                  <a:pt x="1008137" y="666601"/>
                </a:lnTo>
                <a:lnTo>
                  <a:pt x="1000731" y="659990"/>
                </a:lnTo>
                <a:lnTo>
                  <a:pt x="993060" y="654172"/>
                </a:lnTo>
                <a:lnTo>
                  <a:pt x="984596" y="648355"/>
                </a:lnTo>
                <a:lnTo>
                  <a:pt x="976132" y="642802"/>
                </a:lnTo>
                <a:lnTo>
                  <a:pt x="967668" y="637778"/>
                </a:lnTo>
                <a:lnTo>
                  <a:pt x="958675" y="632753"/>
                </a:lnTo>
                <a:lnTo>
                  <a:pt x="949682" y="628258"/>
                </a:lnTo>
                <a:lnTo>
                  <a:pt x="940159" y="624027"/>
                </a:lnTo>
                <a:lnTo>
                  <a:pt x="930373" y="619796"/>
                </a:lnTo>
                <a:lnTo>
                  <a:pt x="920322" y="616094"/>
                </a:lnTo>
                <a:lnTo>
                  <a:pt x="910270" y="612656"/>
                </a:lnTo>
                <a:lnTo>
                  <a:pt x="899955" y="609483"/>
                </a:lnTo>
                <a:lnTo>
                  <a:pt x="889639" y="606574"/>
                </a:lnTo>
                <a:lnTo>
                  <a:pt x="878530" y="604194"/>
                </a:lnTo>
                <a:lnTo>
                  <a:pt x="878530" y="1029404"/>
                </a:lnTo>
                <a:lnTo>
                  <a:pt x="888845" y="1030726"/>
                </a:lnTo>
                <a:lnTo>
                  <a:pt x="898632" y="1032313"/>
                </a:lnTo>
                <a:lnTo>
                  <a:pt x="908419" y="1033899"/>
                </a:lnTo>
                <a:lnTo>
                  <a:pt x="918206" y="1035750"/>
                </a:lnTo>
                <a:lnTo>
                  <a:pt x="927728" y="1037866"/>
                </a:lnTo>
                <a:lnTo>
                  <a:pt x="937250" y="1039981"/>
                </a:lnTo>
                <a:lnTo>
                  <a:pt x="947037" y="1042361"/>
                </a:lnTo>
                <a:lnTo>
                  <a:pt x="956294" y="1044741"/>
                </a:lnTo>
                <a:lnTo>
                  <a:pt x="965552" y="1047385"/>
                </a:lnTo>
                <a:lnTo>
                  <a:pt x="974810" y="1050294"/>
                </a:lnTo>
                <a:lnTo>
                  <a:pt x="983803" y="1053203"/>
                </a:lnTo>
                <a:lnTo>
                  <a:pt x="993060" y="1056376"/>
                </a:lnTo>
                <a:lnTo>
                  <a:pt x="1002054" y="1059814"/>
                </a:lnTo>
                <a:lnTo>
                  <a:pt x="1010782" y="1063251"/>
                </a:lnTo>
                <a:lnTo>
                  <a:pt x="1019246" y="1066689"/>
                </a:lnTo>
                <a:lnTo>
                  <a:pt x="1027975" y="1070391"/>
                </a:lnTo>
                <a:lnTo>
                  <a:pt x="1036439" y="1074357"/>
                </a:lnTo>
                <a:lnTo>
                  <a:pt x="1044903" y="1078324"/>
                </a:lnTo>
                <a:lnTo>
                  <a:pt x="1053103" y="1082555"/>
                </a:lnTo>
                <a:lnTo>
                  <a:pt x="1061038" y="1086786"/>
                </a:lnTo>
                <a:lnTo>
                  <a:pt x="1068973" y="1091017"/>
                </a:lnTo>
                <a:lnTo>
                  <a:pt x="1076909" y="1095777"/>
                </a:lnTo>
                <a:lnTo>
                  <a:pt x="1084579" y="1100272"/>
                </a:lnTo>
                <a:lnTo>
                  <a:pt x="1092250" y="1105032"/>
                </a:lnTo>
                <a:lnTo>
                  <a:pt x="1099656" y="1110320"/>
                </a:lnTo>
                <a:lnTo>
                  <a:pt x="1107062" y="1115345"/>
                </a:lnTo>
                <a:lnTo>
                  <a:pt x="1114204" y="1120633"/>
                </a:lnTo>
                <a:lnTo>
                  <a:pt x="1121081" y="1125922"/>
                </a:lnTo>
                <a:lnTo>
                  <a:pt x="1127958" y="1131211"/>
                </a:lnTo>
                <a:lnTo>
                  <a:pt x="1134835" y="1136764"/>
                </a:lnTo>
                <a:lnTo>
                  <a:pt x="1141448" y="1142317"/>
                </a:lnTo>
                <a:lnTo>
                  <a:pt x="1147796" y="1148134"/>
                </a:lnTo>
                <a:lnTo>
                  <a:pt x="1154144" y="1153952"/>
                </a:lnTo>
                <a:lnTo>
                  <a:pt x="1160228" y="1160298"/>
                </a:lnTo>
                <a:lnTo>
                  <a:pt x="1166047" y="1166380"/>
                </a:lnTo>
                <a:lnTo>
                  <a:pt x="1171866" y="1172462"/>
                </a:lnTo>
                <a:lnTo>
                  <a:pt x="1177421" y="1178809"/>
                </a:lnTo>
                <a:lnTo>
                  <a:pt x="1182975" y="1185155"/>
                </a:lnTo>
                <a:lnTo>
                  <a:pt x="1188265" y="1191766"/>
                </a:lnTo>
                <a:lnTo>
                  <a:pt x="1193555" y="1198377"/>
                </a:lnTo>
                <a:lnTo>
                  <a:pt x="1198317" y="1204988"/>
                </a:lnTo>
                <a:lnTo>
                  <a:pt x="1203078" y="1211863"/>
                </a:lnTo>
                <a:lnTo>
                  <a:pt x="1207574" y="1218738"/>
                </a:lnTo>
                <a:lnTo>
                  <a:pt x="1212071" y="1225878"/>
                </a:lnTo>
                <a:lnTo>
                  <a:pt x="1216038" y="1232753"/>
                </a:lnTo>
                <a:lnTo>
                  <a:pt x="1220006" y="1239893"/>
                </a:lnTo>
                <a:lnTo>
                  <a:pt x="1223974" y="1247033"/>
                </a:lnTo>
                <a:lnTo>
                  <a:pt x="1227412" y="1254437"/>
                </a:lnTo>
                <a:lnTo>
                  <a:pt x="1230851" y="1262105"/>
                </a:lnTo>
                <a:lnTo>
                  <a:pt x="1234025" y="1269510"/>
                </a:lnTo>
                <a:lnTo>
                  <a:pt x="1236934" y="1276914"/>
                </a:lnTo>
                <a:lnTo>
                  <a:pt x="1239844" y="1284582"/>
                </a:lnTo>
                <a:lnTo>
                  <a:pt x="1242753" y="1292251"/>
                </a:lnTo>
                <a:lnTo>
                  <a:pt x="1245134" y="1299919"/>
                </a:lnTo>
                <a:lnTo>
                  <a:pt x="1247250" y="1307852"/>
                </a:lnTo>
                <a:lnTo>
                  <a:pt x="1249101" y="1315785"/>
                </a:lnTo>
                <a:lnTo>
                  <a:pt x="1250953" y="1323718"/>
                </a:lnTo>
                <a:lnTo>
                  <a:pt x="1252276" y="1331651"/>
                </a:lnTo>
                <a:lnTo>
                  <a:pt x="1253598" y="1339584"/>
                </a:lnTo>
                <a:lnTo>
                  <a:pt x="1254656" y="1347517"/>
                </a:lnTo>
                <a:lnTo>
                  <a:pt x="1255450" y="1355715"/>
                </a:lnTo>
                <a:lnTo>
                  <a:pt x="1255979" y="1364177"/>
                </a:lnTo>
                <a:lnTo>
                  <a:pt x="1256508" y="1372374"/>
                </a:lnTo>
                <a:lnTo>
                  <a:pt x="1256508" y="1380572"/>
                </a:lnTo>
                <a:lnTo>
                  <a:pt x="1256508" y="1389034"/>
                </a:lnTo>
                <a:lnTo>
                  <a:pt x="1255979" y="1397231"/>
                </a:lnTo>
                <a:lnTo>
                  <a:pt x="1255450" y="1405428"/>
                </a:lnTo>
                <a:lnTo>
                  <a:pt x="1254656" y="1413626"/>
                </a:lnTo>
                <a:lnTo>
                  <a:pt x="1253598" y="1421823"/>
                </a:lnTo>
                <a:lnTo>
                  <a:pt x="1252276" y="1429756"/>
                </a:lnTo>
                <a:lnTo>
                  <a:pt x="1250953" y="1437689"/>
                </a:lnTo>
                <a:lnTo>
                  <a:pt x="1249101" y="1445622"/>
                </a:lnTo>
                <a:lnTo>
                  <a:pt x="1247250" y="1453555"/>
                </a:lnTo>
                <a:lnTo>
                  <a:pt x="1245134" y="1461488"/>
                </a:lnTo>
                <a:lnTo>
                  <a:pt x="1242753" y="1469157"/>
                </a:lnTo>
                <a:lnTo>
                  <a:pt x="1239844" y="1476826"/>
                </a:lnTo>
                <a:lnTo>
                  <a:pt x="1236934" y="1484494"/>
                </a:lnTo>
                <a:lnTo>
                  <a:pt x="1234025" y="1491898"/>
                </a:lnTo>
                <a:lnTo>
                  <a:pt x="1230851" y="1499302"/>
                </a:lnTo>
                <a:lnTo>
                  <a:pt x="1227412" y="1506971"/>
                </a:lnTo>
                <a:lnTo>
                  <a:pt x="1223974" y="1514111"/>
                </a:lnTo>
                <a:lnTo>
                  <a:pt x="1220006" y="1521515"/>
                </a:lnTo>
                <a:lnTo>
                  <a:pt x="1216038" y="1528655"/>
                </a:lnTo>
                <a:lnTo>
                  <a:pt x="1212071" y="1535530"/>
                </a:lnTo>
                <a:lnTo>
                  <a:pt x="1207574" y="1542405"/>
                </a:lnTo>
                <a:lnTo>
                  <a:pt x="1203078" y="1549280"/>
                </a:lnTo>
                <a:lnTo>
                  <a:pt x="1198317" y="1556420"/>
                </a:lnTo>
                <a:lnTo>
                  <a:pt x="1193555" y="1563031"/>
                </a:lnTo>
                <a:lnTo>
                  <a:pt x="1188265" y="1569642"/>
                </a:lnTo>
                <a:lnTo>
                  <a:pt x="1182975" y="1576253"/>
                </a:lnTo>
                <a:lnTo>
                  <a:pt x="1177421" y="1582599"/>
                </a:lnTo>
                <a:lnTo>
                  <a:pt x="1171866" y="1588681"/>
                </a:lnTo>
                <a:lnTo>
                  <a:pt x="1166047" y="1595027"/>
                </a:lnTo>
                <a:lnTo>
                  <a:pt x="1160228" y="1601109"/>
                </a:lnTo>
                <a:lnTo>
                  <a:pt x="1154144" y="1607191"/>
                </a:lnTo>
                <a:lnTo>
                  <a:pt x="1147796" y="1613273"/>
                </a:lnTo>
                <a:lnTo>
                  <a:pt x="1141448" y="1618826"/>
                </a:lnTo>
                <a:lnTo>
                  <a:pt x="1134835" y="1624644"/>
                </a:lnTo>
                <a:lnTo>
                  <a:pt x="1127958" y="1630197"/>
                </a:lnTo>
                <a:lnTo>
                  <a:pt x="1121081" y="1635486"/>
                </a:lnTo>
                <a:lnTo>
                  <a:pt x="1114204" y="1640774"/>
                </a:lnTo>
                <a:lnTo>
                  <a:pt x="1107062" y="1646063"/>
                </a:lnTo>
                <a:lnTo>
                  <a:pt x="1099656" y="1651087"/>
                </a:lnTo>
                <a:lnTo>
                  <a:pt x="1092250" y="1656112"/>
                </a:lnTo>
                <a:lnTo>
                  <a:pt x="1084579" y="1661136"/>
                </a:lnTo>
                <a:lnTo>
                  <a:pt x="1076909" y="1665631"/>
                </a:lnTo>
                <a:lnTo>
                  <a:pt x="1068973" y="1670127"/>
                </a:lnTo>
                <a:lnTo>
                  <a:pt x="1061038" y="1674622"/>
                </a:lnTo>
                <a:lnTo>
                  <a:pt x="1053103" y="1678853"/>
                </a:lnTo>
                <a:lnTo>
                  <a:pt x="1044903" y="1683084"/>
                </a:lnTo>
                <a:lnTo>
                  <a:pt x="1036439" y="1687050"/>
                </a:lnTo>
                <a:lnTo>
                  <a:pt x="1027975" y="1690752"/>
                </a:lnTo>
                <a:lnTo>
                  <a:pt x="1019246" y="1694455"/>
                </a:lnTo>
                <a:lnTo>
                  <a:pt x="1010782" y="1698157"/>
                </a:lnTo>
                <a:lnTo>
                  <a:pt x="1002054" y="1701594"/>
                </a:lnTo>
                <a:lnTo>
                  <a:pt x="993060" y="1705032"/>
                </a:lnTo>
                <a:lnTo>
                  <a:pt x="983803" y="1708205"/>
                </a:lnTo>
                <a:lnTo>
                  <a:pt x="974810" y="1711114"/>
                </a:lnTo>
                <a:lnTo>
                  <a:pt x="965552" y="1714023"/>
                </a:lnTo>
                <a:lnTo>
                  <a:pt x="956294" y="1716667"/>
                </a:lnTo>
                <a:lnTo>
                  <a:pt x="947037" y="1719047"/>
                </a:lnTo>
                <a:lnTo>
                  <a:pt x="937250" y="1721427"/>
                </a:lnTo>
                <a:lnTo>
                  <a:pt x="927728" y="1723542"/>
                </a:lnTo>
                <a:lnTo>
                  <a:pt x="918206" y="1725658"/>
                </a:lnTo>
                <a:lnTo>
                  <a:pt x="908419" y="1727509"/>
                </a:lnTo>
                <a:lnTo>
                  <a:pt x="898632" y="1729095"/>
                </a:lnTo>
                <a:lnTo>
                  <a:pt x="888845" y="1730682"/>
                </a:lnTo>
                <a:lnTo>
                  <a:pt x="878530" y="1732004"/>
                </a:lnTo>
                <a:lnTo>
                  <a:pt x="878530" y="1804988"/>
                </a:lnTo>
                <a:lnTo>
                  <a:pt x="742309" y="1804988"/>
                </a:lnTo>
                <a:lnTo>
                  <a:pt x="742309" y="1732004"/>
                </a:lnTo>
                <a:lnTo>
                  <a:pt x="731994" y="1730682"/>
                </a:lnTo>
                <a:lnTo>
                  <a:pt x="722207" y="1729360"/>
                </a:lnTo>
                <a:lnTo>
                  <a:pt x="712420" y="1727509"/>
                </a:lnTo>
                <a:lnTo>
                  <a:pt x="702633" y="1725658"/>
                </a:lnTo>
                <a:lnTo>
                  <a:pt x="692847" y="1723807"/>
                </a:lnTo>
                <a:lnTo>
                  <a:pt x="683060" y="1721691"/>
                </a:lnTo>
                <a:lnTo>
                  <a:pt x="673802" y="1719311"/>
                </a:lnTo>
                <a:lnTo>
                  <a:pt x="664280" y="1716931"/>
                </a:lnTo>
                <a:lnTo>
                  <a:pt x="655023" y="1714287"/>
                </a:lnTo>
                <a:lnTo>
                  <a:pt x="645765" y="1711378"/>
                </a:lnTo>
                <a:lnTo>
                  <a:pt x="636772" y="1708470"/>
                </a:lnTo>
                <a:lnTo>
                  <a:pt x="627514" y="1705296"/>
                </a:lnTo>
                <a:lnTo>
                  <a:pt x="618521" y="1701859"/>
                </a:lnTo>
                <a:lnTo>
                  <a:pt x="609792" y="1698421"/>
                </a:lnTo>
                <a:lnTo>
                  <a:pt x="601064" y="1694719"/>
                </a:lnTo>
                <a:lnTo>
                  <a:pt x="592599" y="1691017"/>
                </a:lnTo>
                <a:lnTo>
                  <a:pt x="584135" y="1687315"/>
                </a:lnTo>
                <a:lnTo>
                  <a:pt x="575671" y="1683348"/>
                </a:lnTo>
                <a:lnTo>
                  <a:pt x="567471" y="1679117"/>
                </a:lnTo>
                <a:lnTo>
                  <a:pt x="559272" y="1674886"/>
                </a:lnTo>
                <a:lnTo>
                  <a:pt x="551337" y="1670391"/>
                </a:lnTo>
                <a:lnTo>
                  <a:pt x="543666" y="1665896"/>
                </a:lnTo>
                <a:lnTo>
                  <a:pt x="535731" y="1661400"/>
                </a:lnTo>
                <a:lnTo>
                  <a:pt x="528060" y="1656376"/>
                </a:lnTo>
                <a:lnTo>
                  <a:pt x="520654" y="1651352"/>
                </a:lnTo>
                <a:lnTo>
                  <a:pt x="513248" y="1646328"/>
                </a:lnTo>
                <a:lnTo>
                  <a:pt x="506106" y="1641039"/>
                </a:lnTo>
                <a:lnTo>
                  <a:pt x="499229" y="1635750"/>
                </a:lnTo>
                <a:lnTo>
                  <a:pt x="492352" y="1630462"/>
                </a:lnTo>
                <a:lnTo>
                  <a:pt x="485475" y="1624908"/>
                </a:lnTo>
                <a:lnTo>
                  <a:pt x="478862" y="1619091"/>
                </a:lnTo>
                <a:lnTo>
                  <a:pt x="472249" y="1613538"/>
                </a:lnTo>
                <a:lnTo>
                  <a:pt x="466166" y="1607456"/>
                </a:lnTo>
                <a:lnTo>
                  <a:pt x="460082" y="1601374"/>
                </a:lnTo>
                <a:lnTo>
                  <a:pt x="453999" y="1595292"/>
                </a:lnTo>
                <a:lnTo>
                  <a:pt x="448180" y="1588945"/>
                </a:lnTo>
                <a:lnTo>
                  <a:pt x="442625" y="1582864"/>
                </a:lnTo>
                <a:lnTo>
                  <a:pt x="437335" y="1576517"/>
                </a:lnTo>
                <a:lnTo>
                  <a:pt x="432045" y="1569906"/>
                </a:lnTo>
                <a:lnTo>
                  <a:pt x="426755" y="1563295"/>
                </a:lnTo>
                <a:lnTo>
                  <a:pt x="421729" y="1556685"/>
                </a:lnTo>
                <a:lnTo>
                  <a:pt x="416968" y="1549545"/>
                </a:lnTo>
                <a:lnTo>
                  <a:pt x="412471" y="1542670"/>
                </a:lnTo>
                <a:lnTo>
                  <a:pt x="408239" y="1535794"/>
                </a:lnTo>
                <a:lnTo>
                  <a:pt x="404007" y="1528655"/>
                </a:lnTo>
                <a:lnTo>
                  <a:pt x="400040" y="1521515"/>
                </a:lnTo>
                <a:lnTo>
                  <a:pt x="396072" y="1514375"/>
                </a:lnTo>
                <a:lnTo>
                  <a:pt x="392633" y="1507235"/>
                </a:lnTo>
                <a:lnTo>
                  <a:pt x="389195" y="1499567"/>
                </a:lnTo>
                <a:lnTo>
                  <a:pt x="386021" y="1492163"/>
                </a:lnTo>
                <a:lnTo>
                  <a:pt x="383111" y="1484494"/>
                </a:lnTo>
                <a:lnTo>
                  <a:pt x="380202" y="1477090"/>
                </a:lnTo>
                <a:lnTo>
                  <a:pt x="377292" y="1469421"/>
                </a:lnTo>
                <a:lnTo>
                  <a:pt x="374912" y="1461753"/>
                </a:lnTo>
                <a:lnTo>
                  <a:pt x="372796" y="1453555"/>
                </a:lnTo>
                <a:lnTo>
                  <a:pt x="370944" y="1445622"/>
                </a:lnTo>
                <a:lnTo>
                  <a:pt x="369092" y="1437954"/>
                </a:lnTo>
                <a:lnTo>
                  <a:pt x="367770" y="1429756"/>
                </a:lnTo>
                <a:lnTo>
                  <a:pt x="366447" y="1421823"/>
                </a:lnTo>
                <a:lnTo>
                  <a:pt x="365389" y="1413890"/>
                </a:lnTo>
                <a:lnTo>
                  <a:pt x="364596" y="1405428"/>
                </a:lnTo>
                <a:lnTo>
                  <a:pt x="363802" y="1397231"/>
                </a:lnTo>
                <a:lnTo>
                  <a:pt x="363538" y="1389034"/>
                </a:lnTo>
                <a:lnTo>
                  <a:pt x="363538" y="1380572"/>
                </a:lnTo>
                <a:lnTo>
                  <a:pt x="541550" y="1380572"/>
                </a:lnTo>
                <a:lnTo>
                  <a:pt x="541814" y="1389827"/>
                </a:lnTo>
                <a:lnTo>
                  <a:pt x="542608" y="1399082"/>
                </a:lnTo>
                <a:lnTo>
                  <a:pt x="543930" y="1408337"/>
                </a:lnTo>
                <a:lnTo>
                  <a:pt x="545517" y="1417064"/>
                </a:lnTo>
                <a:lnTo>
                  <a:pt x="547633" y="1426054"/>
                </a:lnTo>
                <a:lnTo>
                  <a:pt x="550279" y="1434516"/>
                </a:lnTo>
                <a:lnTo>
                  <a:pt x="553188" y="1442978"/>
                </a:lnTo>
                <a:lnTo>
                  <a:pt x="556627" y="1451440"/>
                </a:lnTo>
                <a:lnTo>
                  <a:pt x="560594" y="1459902"/>
                </a:lnTo>
                <a:lnTo>
                  <a:pt x="564826" y="1467835"/>
                </a:lnTo>
                <a:lnTo>
                  <a:pt x="569587" y="1475768"/>
                </a:lnTo>
                <a:lnTo>
                  <a:pt x="574613" y="1483436"/>
                </a:lnTo>
                <a:lnTo>
                  <a:pt x="579903" y="1491105"/>
                </a:lnTo>
                <a:lnTo>
                  <a:pt x="585987" y="1498245"/>
                </a:lnTo>
                <a:lnTo>
                  <a:pt x="592070" y="1505649"/>
                </a:lnTo>
                <a:lnTo>
                  <a:pt x="598683" y="1512524"/>
                </a:lnTo>
                <a:lnTo>
                  <a:pt x="605560" y="1519135"/>
                </a:lnTo>
                <a:lnTo>
                  <a:pt x="612702" y="1525481"/>
                </a:lnTo>
                <a:lnTo>
                  <a:pt x="620108" y="1531828"/>
                </a:lnTo>
                <a:lnTo>
                  <a:pt x="627779" y="1537645"/>
                </a:lnTo>
                <a:lnTo>
                  <a:pt x="636243" y="1543463"/>
                </a:lnTo>
                <a:lnTo>
                  <a:pt x="644707" y="1549016"/>
                </a:lnTo>
                <a:lnTo>
                  <a:pt x="653171" y="1554040"/>
                </a:lnTo>
                <a:lnTo>
                  <a:pt x="662164" y="1559329"/>
                </a:lnTo>
                <a:lnTo>
                  <a:pt x="671157" y="1563824"/>
                </a:lnTo>
                <a:lnTo>
                  <a:pt x="680680" y="1568055"/>
                </a:lnTo>
                <a:lnTo>
                  <a:pt x="690466" y="1572286"/>
                </a:lnTo>
                <a:lnTo>
                  <a:pt x="700517" y="1575988"/>
                </a:lnTo>
                <a:lnTo>
                  <a:pt x="710569" y="1579161"/>
                </a:lnTo>
                <a:lnTo>
                  <a:pt x="720884" y="1582335"/>
                </a:lnTo>
                <a:lnTo>
                  <a:pt x="731200" y="1584979"/>
                </a:lnTo>
                <a:lnTo>
                  <a:pt x="742309" y="1587623"/>
                </a:lnTo>
                <a:lnTo>
                  <a:pt x="742309" y="1162678"/>
                </a:lnTo>
                <a:lnTo>
                  <a:pt x="731994" y="1161356"/>
                </a:lnTo>
                <a:lnTo>
                  <a:pt x="722207" y="1159770"/>
                </a:lnTo>
                <a:lnTo>
                  <a:pt x="712420" y="1158183"/>
                </a:lnTo>
                <a:lnTo>
                  <a:pt x="702633" y="1156068"/>
                </a:lnTo>
                <a:lnTo>
                  <a:pt x="693111" y="1153952"/>
                </a:lnTo>
                <a:lnTo>
                  <a:pt x="683325" y="1151837"/>
                </a:lnTo>
                <a:lnTo>
                  <a:pt x="673802" y="1149457"/>
                </a:lnTo>
                <a:lnTo>
                  <a:pt x="664545" y="1147077"/>
                </a:lnTo>
                <a:lnTo>
                  <a:pt x="655287" y="1144432"/>
                </a:lnTo>
                <a:lnTo>
                  <a:pt x="646029" y="1141524"/>
                </a:lnTo>
                <a:lnTo>
                  <a:pt x="637036" y="1138615"/>
                </a:lnTo>
                <a:lnTo>
                  <a:pt x="627779" y="1135442"/>
                </a:lnTo>
                <a:lnTo>
                  <a:pt x="618785" y="1132268"/>
                </a:lnTo>
                <a:lnTo>
                  <a:pt x="610057" y="1128831"/>
                </a:lnTo>
                <a:lnTo>
                  <a:pt x="601593" y="1125393"/>
                </a:lnTo>
                <a:lnTo>
                  <a:pt x="592864" y="1121691"/>
                </a:lnTo>
                <a:lnTo>
                  <a:pt x="584400" y="1117725"/>
                </a:lnTo>
                <a:lnTo>
                  <a:pt x="575936" y="1113758"/>
                </a:lnTo>
                <a:lnTo>
                  <a:pt x="567736" y="1109527"/>
                </a:lnTo>
                <a:lnTo>
                  <a:pt x="559801" y="1105032"/>
                </a:lnTo>
                <a:lnTo>
                  <a:pt x="551866" y="1100801"/>
                </a:lnTo>
                <a:lnTo>
                  <a:pt x="543930" y="1096041"/>
                </a:lnTo>
                <a:lnTo>
                  <a:pt x="536260" y="1091546"/>
                </a:lnTo>
                <a:lnTo>
                  <a:pt x="528589" y="1086786"/>
                </a:lnTo>
                <a:lnTo>
                  <a:pt x="521183" y="1081762"/>
                </a:lnTo>
                <a:lnTo>
                  <a:pt x="513777" y="1076737"/>
                </a:lnTo>
                <a:lnTo>
                  <a:pt x="506635" y="1071449"/>
                </a:lnTo>
                <a:lnTo>
                  <a:pt x="499758" y="1066160"/>
                </a:lnTo>
                <a:lnTo>
                  <a:pt x="492881" y="1060871"/>
                </a:lnTo>
                <a:lnTo>
                  <a:pt x="486004" y="1055054"/>
                </a:lnTo>
                <a:lnTo>
                  <a:pt x="479391" y="1049501"/>
                </a:lnTo>
                <a:lnTo>
                  <a:pt x="473043" y="1043683"/>
                </a:lnTo>
                <a:lnTo>
                  <a:pt x="466695" y="1037866"/>
                </a:lnTo>
                <a:lnTo>
                  <a:pt x="460611" y="1031784"/>
                </a:lnTo>
                <a:lnTo>
                  <a:pt x="454792" y="1025702"/>
                </a:lnTo>
                <a:lnTo>
                  <a:pt x="448973" y="1019620"/>
                </a:lnTo>
                <a:lnTo>
                  <a:pt x="443418" y="1013273"/>
                </a:lnTo>
                <a:lnTo>
                  <a:pt x="437864" y="1006662"/>
                </a:lnTo>
                <a:lnTo>
                  <a:pt x="432574" y="1000052"/>
                </a:lnTo>
                <a:lnTo>
                  <a:pt x="427284" y="993441"/>
                </a:lnTo>
                <a:lnTo>
                  <a:pt x="422523" y="986830"/>
                </a:lnTo>
                <a:lnTo>
                  <a:pt x="417761" y="980219"/>
                </a:lnTo>
                <a:lnTo>
                  <a:pt x="413265" y="973344"/>
                </a:lnTo>
                <a:lnTo>
                  <a:pt x="408768" y="966204"/>
                </a:lnTo>
                <a:lnTo>
                  <a:pt x="404801" y="959329"/>
                </a:lnTo>
                <a:lnTo>
                  <a:pt x="400833" y="951925"/>
                </a:lnTo>
                <a:lnTo>
                  <a:pt x="396866" y="944785"/>
                </a:lnTo>
                <a:lnTo>
                  <a:pt x="393427" y="937381"/>
                </a:lnTo>
                <a:lnTo>
                  <a:pt x="389988" y="929977"/>
                </a:lnTo>
                <a:lnTo>
                  <a:pt x="386814" y="922573"/>
                </a:lnTo>
                <a:lnTo>
                  <a:pt x="383640" y="915168"/>
                </a:lnTo>
                <a:lnTo>
                  <a:pt x="380995" y="907235"/>
                </a:lnTo>
                <a:lnTo>
                  <a:pt x="378086" y="899567"/>
                </a:lnTo>
                <a:lnTo>
                  <a:pt x="375705" y="891898"/>
                </a:lnTo>
                <a:lnTo>
                  <a:pt x="373589" y="884230"/>
                </a:lnTo>
                <a:lnTo>
                  <a:pt x="371738" y="876297"/>
                </a:lnTo>
                <a:lnTo>
                  <a:pt x="369886" y="868364"/>
                </a:lnTo>
                <a:lnTo>
                  <a:pt x="368563" y="860431"/>
                </a:lnTo>
                <a:lnTo>
                  <a:pt x="367241" y="852233"/>
                </a:lnTo>
                <a:lnTo>
                  <a:pt x="366183" y="844300"/>
                </a:lnTo>
                <a:lnTo>
                  <a:pt x="365389" y="836103"/>
                </a:lnTo>
                <a:lnTo>
                  <a:pt x="364860" y="827905"/>
                </a:lnTo>
                <a:lnTo>
                  <a:pt x="364331" y="819708"/>
                </a:lnTo>
                <a:lnTo>
                  <a:pt x="364331" y="811510"/>
                </a:lnTo>
                <a:lnTo>
                  <a:pt x="364331" y="802784"/>
                </a:lnTo>
                <a:lnTo>
                  <a:pt x="364860" y="794587"/>
                </a:lnTo>
                <a:lnTo>
                  <a:pt x="365389" y="786389"/>
                </a:lnTo>
                <a:lnTo>
                  <a:pt x="366183" y="778456"/>
                </a:lnTo>
                <a:lnTo>
                  <a:pt x="367241" y="770259"/>
                </a:lnTo>
                <a:lnTo>
                  <a:pt x="368563" y="762326"/>
                </a:lnTo>
                <a:lnTo>
                  <a:pt x="369886" y="754128"/>
                </a:lnTo>
                <a:lnTo>
                  <a:pt x="371738" y="746195"/>
                </a:lnTo>
                <a:lnTo>
                  <a:pt x="373589" y="738262"/>
                </a:lnTo>
                <a:lnTo>
                  <a:pt x="375705" y="730594"/>
                </a:lnTo>
                <a:lnTo>
                  <a:pt x="378086" y="722925"/>
                </a:lnTo>
                <a:lnTo>
                  <a:pt x="380995" y="715257"/>
                </a:lnTo>
                <a:lnTo>
                  <a:pt x="383640" y="707324"/>
                </a:lnTo>
                <a:lnTo>
                  <a:pt x="386814" y="699919"/>
                </a:lnTo>
                <a:lnTo>
                  <a:pt x="389988" y="692515"/>
                </a:lnTo>
                <a:lnTo>
                  <a:pt x="393427" y="685111"/>
                </a:lnTo>
                <a:lnTo>
                  <a:pt x="396866" y="677707"/>
                </a:lnTo>
                <a:lnTo>
                  <a:pt x="400833" y="670567"/>
                </a:lnTo>
                <a:lnTo>
                  <a:pt x="404801" y="663428"/>
                </a:lnTo>
                <a:lnTo>
                  <a:pt x="408768" y="656288"/>
                </a:lnTo>
                <a:lnTo>
                  <a:pt x="413265" y="649413"/>
                </a:lnTo>
                <a:lnTo>
                  <a:pt x="417761" y="642537"/>
                </a:lnTo>
                <a:lnTo>
                  <a:pt x="422523" y="635662"/>
                </a:lnTo>
                <a:lnTo>
                  <a:pt x="427284" y="629051"/>
                </a:lnTo>
                <a:lnTo>
                  <a:pt x="432574" y="622440"/>
                </a:lnTo>
                <a:lnTo>
                  <a:pt x="437864" y="615830"/>
                </a:lnTo>
                <a:lnTo>
                  <a:pt x="443418" y="609219"/>
                </a:lnTo>
                <a:lnTo>
                  <a:pt x="448973" y="602872"/>
                </a:lnTo>
                <a:lnTo>
                  <a:pt x="454792" y="596790"/>
                </a:lnTo>
                <a:lnTo>
                  <a:pt x="460611" y="590708"/>
                </a:lnTo>
                <a:lnTo>
                  <a:pt x="466695" y="584891"/>
                </a:lnTo>
                <a:lnTo>
                  <a:pt x="473043" y="578809"/>
                </a:lnTo>
                <a:lnTo>
                  <a:pt x="479391" y="573256"/>
                </a:lnTo>
                <a:lnTo>
                  <a:pt x="486004" y="567438"/>
                </a:lnTo>
                <a:lnTo>
                  <a:pt x="492881" y="561885"/>
                </a:lnTo>
                <a:lnTo>
                  <a:pt x="499758" y="556332"/>
                </a:lnTo>
                <a:lnTo>
                  <a:pt x="506635" y="551043"/>
                </a:lnTo>
                <a:lnTo>
                  <a:pt x="513777" y="545755"/>
                </a:lnTo>
                <a:lnTo>
                  <a:pt x="521183" y="540730"/>
                </a:lnTo>
                <a:lnTo>
                  <a:pt x="528589" y="535971"/>
                </a:lnTo>
                <a:lnTo>
                  <a:pt x="536260" y="530946"/>
                </a:lnTo>
                <a:lnTo>
                  <a:pt x="543930" y="526451"/>
                </a:lnTo>
                <a:lnTo>
                  <a:pt x="551866" y="521956"/>
                </a:lnTo>
                <a:lnTo>
                  <a:pt x="559801" y="517460"/>
                </a:lnTo>
                <a:lnTo>
                  <a:pt x="567736" y="513229"/>
                </a:lnTo>
                <a:lnTo>
                  <a:pt x="575936" y="508734"/>
                </a:lnTo>
                <a:lnTo>
                  <a:pt x="584400" y="504767"/>
                </a:lnTo>
                <a:lnTo>
                  <a:pt x="592864" y="500801"/>
                </a:lnTo>
                <a:lnTo>
                  <a:pt x="601593" y="497099"/>
                </a:lnTo>
                <a:lnTo>
                  <a:pt x="610057" y="493661"/>
                </a:lnTo>
                <a:lnTo>
                  <a:pt x="618785" y="490224"/>
                </a:lnTo>
                <a:lnTo>
                  <a:pt x="627779" y="487050"/>
                </a:lnTo>
                <a:lnTo>
                  <a:pt x="637036" y="483877"/>
                </a:lnTo>
                <a:lnTo>
                  <a:pt x="646029" y="480968"/>
                </a:lnTo>
                <a:lnTo>
                  <a:pt x="655287" y="478060"/>
                </a:lnTo>
                <a:lnTo>
                  <a:pt x="664545" y="475415"/>
                </a:lnTo>
                <a:lnTo>
                  <a:pt x="673802" y="473035"/>
                </a:lnTo>
                <a:lnTo>
                  <a:pt x="683325" y="470655"/>
                </a:lnTo>
                <a:lnTo>
                  <a:pt x="693111" y="468540"/>
                </a:lnTo>
                <a:lnTo>
                  <a:pt x="702633" y="466425"/>
                </a:lnTo>
                <a:lnTo>
                  <a:pt x="712420" y="464573"/>
                </a:lnTo>
                <a:lnTo>
                  <a:pt x="722207" y="462987"/>
                </a:lnTo>
                <a:lnTo>
                  <a:pt x="731994" y="461136"/>
                </a:lnTo>
                <a:lnTo>
                  <a:pt x="742309" y="459814"/>
                </a:lnTo>
                <a:lnTo>
                  <a:pt x="742309" y="403225"/>
                </a:lnTo>
                <a:close/>
                <a:moveTo>
                  <a:pt x="142657" y="168575"/>
                </a:moveTo>
                <a:lnTo>
                  <a:pt x="142657" y="1998818"/>
                </a:lnTo>
                <a:lnTo>
                  <a:pt x="1480298" y="1998818"/>
                </a:lnTo>
                <a:lnTo>
                  <a:pt x="1480298" y="168575"/>
                </a:lnTo>
                <a:lnTo>
                  <a:pt x="142657" y="168575"/>
                </a:lnTo>
                <a:close/>
                <a:moveTo>
                  <a:pt x="2790825" y="73025"/>
                </a:moveTo>
                <a:lnTo>
                  <a:pt x="2859662" y="73025"/>
                </a:lnTo>
                <a:lnTo>
                  <a:pt x="2868433" y="73290"/>
                </a:lnTo>
                <a:lnTo>
                  <a:pt x="2876938" y="73819"/>
                </a:lnTo>
                <a:lnTo>
                  <a:pt x="2885177" y="74877"/>
                </a:lnTo>
                <a:lnTo>
                  <a:pt x="2893151" y="76200"/>
                </a:lnTo>
                <a:lnTo>
                  <a:pt x="2901124" y="78053"/>
                </a:lnTo>
                <a:lnTo>
                  <a:pt x="2909098" y="80434"/>
                </a:lnTo>
                <a:lnTo>
                  <a:pt x="2916805" y="82816"/>
                </a:lnTo>
                <a:lnTo>
                  <a:pt x="2924513" y="85992"/>
                </a:lnTo>
                <a:lnTo>
                  <a:pt x="2931689" y="89167"/>
                </a:lnTo>
                <a:lnTo>
                  <a:pt x="2938865" y="92872"/>
                </a:lnTo>
                <a:lnTo>
                  <a:pt x="2945775" y="96841"/>
                </a:lnTo>
                <a:lnTo>
                  <a:pt x="2952420" y="101075"/>
                </a:lnTo>
                <a:lnTo>
                  <a:pt x="2958799" y="105574"/>
                </a:lnTo>
                <a:lnTo>
                  <a:pt x="2965177" y="110337"/>
                </a:lnTo>
                <a:lnTo>
                  <a:pt x="2971290" y="115895"/>
                </a:lnTo>
                <a:lnTo>
                  <a:pt x="2977137" y="121452"/>
                </a:lnTo>
                <a:lnTo>
                  <a:pt x="2982719" y="127009"/>
                </a:lnTo>
                <a:lnTo>
                  <a:pt x="2987769" y="133095"/>
                </a:lnTo>
                <a:lnTo>
                  <a:pt x="2992553" y="139182"/>
                </a:lnTo>
                <a:lnTo>
                  <a:pt x="2997337" y="145533"/>
                </a:lnTo>
                <a:lnTo>
                  <a:pt x="3001589" y="152413"/>
                </a:lnTo>
                <a:lnTo>
                  <a:pt x="3005576" y="159029"/>
                </a:lnTo>
                <a:lnTo>
                  <a:pt x="3009297" y="166438"/>
                </a:lnTo>
                <a:lnTo>
                  <a:pt x="3012486" y="173848"/>
                </a:lnTo>
                <a:lnTo>
                  <a:pt x="3015410" y="181258"/>
                </a:lnTo>
                <a:lnTo>
                  <a:pt x="3018068" y="188932"/>
                </a:lnTo>
                <a:lnTo>
                  <a:pt x="3020460" y="196606"/>
                </a:lnTo>
                <a:lnTo>
                  <a:pt x="3022320" y="204545"/>
                </a:lnTo>
                <a:lnTo>
                  <a:pt x="3023915" y="212748"/>
                </a:lnTo>
                <a:lnTo>
                  <a:pt x="3024978" y="221216"/>
                </a:lnTo>
                <a:lnTo>
                  <a:pt x="3025509" y="229420"/>
                </a:lnTo>
                <a:lnTo>
                  <a:pt x="3025775" y="237888"/>
                </a:lnTo>
                <a:lnTo>
                  <a:pt x="3025775" y="1492222"/>
                </a:lnTo>
                <a:lnTo>
                  <a:pt x="3025509" y="1500690"/>
                </a:lnTo>
                <a:lnTo>
                  <a:pt x="3024978" y="1509158"/>
                </a:lnTo>
                <a:lnTo>
                  <a:pt x="3023915" y="1517362"/>
                </a:lnTo>
                <a:lnTo>
                  <a:pt x="3022320" y="1525565"/>
                </a:lnTo>
                <a:lnTo>
                  <a:pt x="3020460" y="1533504"/>
                </a:lnTo>
                <a:lnTo>
                  <a:pt x="3018068" y="1541178"/>
                </a:lnTo>
                <a:lnTo>
                  <a:pt x="3015410" y="1548853"/>
                </a:lnTo>
                <a:lnTo>
                  <a:pt x="3012486" y="1556527"/>
                </a:lnTo>
                <a:lnTo>
                  <a:pt x="3009297" y="1563936"/>
                </a:lnTo>
                <a:lnTo>
                  <a:pt x="3005576" y="1570817"/>
                </a:lnTo>
                <a:lnTo>
                  <a:pt x="3001589" y="1577697"/>
                </a:lnTo>
                <a:lnTo>
                  <a:pt x="2997337" y="1584577"/>
                </a:lnTo>
                <a:lnTo>
                  <a:pt x="2992553" y="1590928"/>
                </a:lnTo>
                <a:lnTo>
                  <a:pt x="2987769" y="1597015"/>
                </a:lnTo>
                <a:lnTo>
                  <a:pt x="2982719" y="1603101"/>
                </a:lnTo>
                <a:lnTo>
                  <a:pt x="2977137" y="1608923"/>
                </a:lnTo>
                <a:lnTo>
                  <a:pt x="2971290" y="1614480"/>
                </a:lnTo>
                <a:lnTo>
                  <a:pt x="2965177" y="1619773"/>
                </a:lnTo>
                <a:lnTo>
                  <a:pt x="2958799" y="1624536"/>
                </a:lnTo>
                <a:lnTo>
                  <a:pt x="2952420" y="1629035"/>
                </a:lnTo>
                <a:lnTo>
                  <a:pt x="2945775" y="1633269"/>
                </a:lnTo>
                <a:lnTo>
                  <a:pt x="2938865" y="1637238"/>
                </a:lnTo>
                <a:lnTo>
                  <a:pt x="2931689" y="1640943"/>
                </a:lnTo>
                <a:lnTo>
                  <a:pt x="2924513" y="1644118"/>
                </a:lnTo>
                <a:lnTo>
                  <a:pt x="2916805" y="1647294"/>
                </a:lnTo>
                <a:lnTo>
                  <a:pt x="2909098" y="1649676"/>
                </a:lnTo>
                <a:lnTo>
                  <a:pt x="2901124" y="1652057"/>
                </a:lnTo>
                <a:lnTo>
                  <a:pt x="2893151" y="1653910"/>
                </a:lnTo>
                <a:lnTo>
                  <a:pt x="2885177" y="1655497"/>
                </a:lnTo>
                <a:lnTo>
                  <a:pt x="2876938" y="1656556"/>
                </a:lnTo>
                <a:lnTo>
                  <a:pt x="2868433" y="1657085"/>
                </a:lnTo>
                <a:lnTo>
                  <a:pt x="2859662" y="1657350"/>
                </a:lnTo>
                <a:lnTo>
                  <a:pt x="2790825" y="1657350"/>
                </a:lnTo>
                <a:lnTo>
                  <a:pt x="2790825" y="73025"/>
                </a:lnTo>
                <a:close/>
                <a:moveTo>
                  <a:pt x="2146290" y="73025"/>
                </a:moveTo>
                <a:lnTo>
                  <a:pt x="2668588" y="73025"/>
                </a:lnTo>
                <a:lnTo>
                  <a:pt x="2668588" y="1657350"/>
                </a:lnTo>
                <a:lnTo>
                  <a:pt x="2146290" y="1657350"/>
                </a:lnTo>
                <a:lnTo>
                  <a:pt x="2137810" y="1657085"/>
                </a:lnTo>
                <a:lnTo>
                  <a:pt x="2129595" y="1656556"/>
                </a:lnTo>
                <a:lnTo>
                  <a:pt x="2121381" y="1655497"/>
                </a:lnTo>
                <a:lnTo>
                  <a:pt x="2113166" y="1653910"/>
                </a:lnTo>
                <a:lnTo>
                  <a:pt x="2104951" y="1652057"/>
                </a:lnTo>
                <a:lnTo>
                  <a:pt x="2097266" y="1649676"/>
                </a:lnTo>
                <a:lnTo>
                  <a:pt x="2089582" y="1647294"/>
                </a:lnTo>
                <a:lnTo>
                  <a:pt x="2082162" y="1644118"/>
                </a:lnTo>
                <a:lnTo>
                  <a:pt x="2074742" y="1640943"/>
                </a:lnTo>
                <a:lnTo>
                  <a:pt x="2067852" y="1637238"/>
                </a:lnTo>
                <a:lnTo>
                  <a:pt x="2060963" y="1633269"/>
                </a:lnTo>
                <a:lnTo>
                  <a:pt x="2053808" y="1629035"/>
                </a:lnTo>
                <a:lnTo>
                  <a:pt x="2047448" y="1624536"/>
                </a:lnTo>
                <a:lnTo>
                  <a:pt x="2041353" y="1619773"/>
                </a:lnTo>
                <a:lnTo>
                  <a:pt x="2035258" y="1614480"/>
                </a:lnTo>
                <a:lnTo>
                  <a:pt x="2029694" y="1608923"/>
                </a:lnTo>
                <a:lnTo>
                  <a:pt x="2024129" y="1603101"/>
                </a:lnTo>
                <a:lnTo>
                  <a:pt x="2018829" y="1597015"/>
                </a:lnTo>
                <a:lnTo>
                  <a:pt x="2014059" y="1590928"/>
                </a:lnTo>
                <a:lnTo>
                  <a:pt x="2009554" y="1584577"/>
                </a:lnTo>
                <a:lnTo>
                  <a:pt x="2005314" y="1577697"/>
                </a:lnTo>
                <a:lnTo>
                  <a:pt x="2001074" y="1570817"/>
                </a:lnTo>
                <a:lnTo>
                  <a:pt x="1997365" y="1563936"/>
                </a:lnTo>
                <a:lnTo>
                  <a:pt x="1993920" y="1556527"/>
                </a:lnTo>
                <a:lnTo>
                  <a:pt x="1991005" y="1548853"/>
                </a:lnTo>
                <a:lnTo>
                  <a:pt x="1988620" y="1541178"/>
                </a:lnTo>
                <a:lnTo>
                  <a:pt x="1986235" y="1533504"/>
                </a:lnTo>
                <a:lnTo>
                  <a:pt x="1984380" y="1525565"/>
                </a:lnTo>
                <a:lnTo>
                  <a:pt x="1983055" y="1517362"/>
                </a:lnTo>
                <a:lnTo>
                  <a:pt x="1981995" y="1509158"/>
                </a:lnTo>
                <a:lnTo>
                  <a:pt x="1981200" y="1500690"/>
                </a:lnTo>
                <a:lnTo>
                  <a:pt x="1981200" y="1492222"/>
                </a:lnTo>
                <a:lnTo>
                  <a:pt x="1981200" y="1039180"/>
                </a:lnTo>
                <a:lnTo>
                  <a:pt x="2112901" y="1039180"/>
                </a:lnTo>
                <a:lnTo>
                  <a:pt x="2120586" y="1039180"/>
                </a:lnTo>
                <a:lnTo>
                  <a:pt x="2128005" y="1038386"/>
                </a:lnTo>
                <a:lnTo>
                  <a:pt x="2135425" y="1037592"/>
                </a:lnTo>
                <a:lnTo>
                  <a:pt x="2142845" y="1036269"/>
                </a:lnTo>
                <a:lnTo>
                  <a:pt x="2150265" y="1034681"/>
                </a:lnTo>
                <a:lnTo>
                  <a:pt x="2157419" y="1032564"/>
                </a:lnTo>
                <a:lnTo>
                  <a:pt x="2164574" y="1030183"/>
                </a:lnTo>
                <a:lnTo>
                  <a:pt x="2171199" y="1027536"/>
                </a:lnTo>
                <a:lnTo>
                  <a:pt x="2177824" y="1024625"/>
                </a:lnTo>
                <a:lnTo>
                  <a:pt x="2184449" y="1021185"/>
                </a:lnTo>
                <a:lnTo>
                  <a:pt x="2190543" y="1017745"/>
                </a:lnTo>
                <a:lnTo>
                  <a:pt x="2196638" y="1013776"/>
                </a:lnTo>
                <a:lnTo>
                  <a:pt x="2202468" y="1009542"/>
                </a:lnTo>
                <a:lnTo>
                  <a:pt x="2208298" y="1004778"/>
                </a:lnTo>
                <a:lnTo>
                  <a:pt x="2213863" y="1000280"/>
                </a:lnTo>
                <a:lnTo>
                  <a:pt x="2218898" y="995252"/>
                </a:lnTo>
                <a:lnTo>
                  <a:pt x="2223932" y="989959"/>
                </a:lnTo>
                <a:lnTo>
                  <a:pt x="2228702" y="984667"/>
                </a:lnTo>
                <a:lnTo>
                  <a:pt x="2233207" y="979109"/>
                </a:lnTo>
                <a:lnTo>
                  <a:pt x="2237182" y="973288"/>
                </a:lnTo>
                <a:lnTo>
                  <a:pt x="2241157" y="967201"/>
                </a:lnTo>
                <a:lnTo>
                  <a:pt x="2244867" y="960850"/>
                </a:lnTo>
                <a:lnTo>
                  <a:pt x="2248047" y="954234"/>
                </a:lnTo>
                <a:lnTo>
                  <a:pt x="2250962" y="947619"/>
                </a:lnTo>
                <a:lnTo>
                  <a:pt x="2253612" y="940738"/>
                </a:lnTo>
                <a:lnTo>
                  <a:pt x="2255996" y="933858"/>
                </a:lnTo>
                <a:lnTo>
                  <a:pt x="2258381" y="926713"/>
                </a:lnTo>
                <a:lnTo>
                  <a:pt x="2259971" y="919568"/>
                </a:lnTo>
                <a:lnTo>
                  <a:pt x="2261296" y="912159"/>
                </a:lnTo>
                <a:lnTo>
                  <a:pt x="2262356" y="904484"/>
                </a:lnTo>
                <a:lnTo>
                  <a:pt x="2262886" y="896810"/>
                </a:lnTo>
                <a:lnTo>
                  <a:pt x="2263151" y="889136"/>
                </a:lnTo>
                <a:lnTo>
                  <a:pt x="2263151" y="570260"/>
                </a:lnTo>
                <a:lnTo>
                  <a:pt x="2262886" y="562586"/>
                </a:lnTo>
                <a:lnTo>
                  <a:pt x="2262356" y="554647"/>
                </a:lnTo>
                <a:lnTo>
                  <a:pt x="2261296" y="547237"/>
                </a:lnTo>
                <a:lnTo>
                  <a:pt x="2259971" y="540092"/>
                </a:lnTo>
                <a:lnTo>
                  <a:pt x="2258381" y="532683"/>
                </a:lnTo>
                <a:lnTo>
                  <a:pt x="2255996" y="525538"/>
                </a:lnTo>
                <a:lnTo>
                  <a:pt x="2253612" y="518658"/>
                </a:lnTo>
                <a:lnTo>
                  <a:pt x="2250962" y="512042"/>
                </a:lnTo>
                <a:lnTo>
                  <a:pt x="2248047" y="505162"/>
                </a:lnTo>
                <a:lnTo>
                  <a:pt x="2244867" y="498546"/>
                </a:lnTo>
                <a:lnTo>
                  <a:pt x="2241157" y="492459"/>
                </a:lnTo>
                <a:lnTo>
                  <a:pt x="2237182" y="486373"/>
                </a:lnTo>
                <a:lnTo>
                  <a:pt x="2233207" y="480551"/>
                </a:lnTo>
                <a:lnTo>
                  <a:pt x="2228702" y="474729"/>
                </a:lnTo>
                <a:lnTo>
                  <a:pt x="2223932" y="469437"/>
                </a:lnTo>
                <a:lnTo>
                  <a:pt x="2218898" y="464144"/>
                </a:lnTo>
                <a:lnTo>
                  <a:pt x="2213863" y="459116"/>
                </a:lnTo>
                <a:lnTo>
                  <a:pt x="2208298" y="454353"/>
                </a:lnTo>
                <a:lnTo>
                  <a:pt x="2202468" y="449854"/>
                </a:lnTo>
                <a:lnTo>
                  <a:pt x="2196638" y="445620"/>
                </a:lnTo>
                <a:lnTo>
                  <a:pt x="2190543" y="441916"/>
                </a:lnTo>
                <a:lnTo>
                  <a:pt x="2184449" y="438211"/>
                </a:lnTo>
                <a:lnTo>
                  <a:pt x="2177824" y="435035"/>
                </a:lnTo>
                <a:lnTo>
                  <a:pt x="2171199" y="431860"/>
                </a:lnTo>
                <a:lnTo>
                  <a:pt x="2164574" y="429214"/>
                </a:lnTo>
                <a:lnTo>
                  <a:pt x="2157419" y="426832"/>
                </a:lnTo>
                <a:lnTo>
                  <a:pt x="2150265" y="424979"/>
                </a:lnTo>
                <a:lnTo>
                  <a:pt x="2142845" y="423127"/>
                </a:lnTo>
                <a:lnTo>
                  <a:pt x="2135425" y="421804"/>
                </a:lnTo>
                <a:lnTo>
                  <a:pt x="2128005" y="421010"/>
                </a:lnTo>
                <a:lnTo>
                  <a:pt x="2120586" y="420481"/>
                </a:lnTo>
                <a:lnTo>
                  <a:pt x="2112901" y="420216"/>
                </a:lnTo>
                <a:lnTo>
                  <a:pt x="1981200" y="420216"/>
                </a:lnTo>
                <a:lnTo>
                  <a:pt x="1981200" y="237888"/>
                </a:lnTo>
                <a:lnTo>
                  <a:pt x="1981200" y="229420"/>
                </a:lnTo>
                <a:lnTo>
                  <a:pt x="1981995" y="221216"/>
                </a:lnTo>
                <a:lnTo>
                  <a:pt x="1983055" y="212748"/>
                </a:lnTo>
                <a:lnTo>
                  <a:pt x="1984380" y="204545"/>
                </a:lnTo>
                <a:lnTo>
                  <a:pt x="1986235" y="196606"/>
                </a:lnTo>
                <a:lnTo>
                  <a:pt x="1988620" y="188932"/>
                </a:lnTo>
                <a:lnTo>
                  <a:pt x="1991005" y="181258"/>
                </a:lnTo>
                <a:lnTo>
                  <a:pt x="1993920" y="173848"/>
                </a:lnTo>
                <a:lnTo>
                  <a:pt x="1997365" y="166438"/>
                </a:lnTo>
                <a:lnTo>
                  <a:pt x="2001074" y="159029"/>
                </a:lnTo>
                <a:lnTo>
                  <a:pt x="2005314" y="152413"/>
                </a:lnTo>
                <a:lnTo>
                  <a:pt x="2009554" y="145533"/>
                </a:lnTo>
                <a:lnTo>
                  <a:pt x="2014059" y="139182"/>
                </a:lnTo>
                <a:lnTo>
                  <a:pt x="2018829" y="133095"/>
                </a:lnTo>
                <a:lnTo>
                  <a:pt x="2024129" y="127009"/>
                </a:lnTo>
                <a:lnTo>
                  <a:pt x="2029694" y="121452"/>
                </a:lnTo>
                <a:lnTo>
                  <a:pt x="2035258" y="115895"/>
                </a:lnTo>
                <a:lnTo>
                  <a:pt x="2041353" y="110337"/>
                </a:lnTo>
                <a:lnTo>
                  <a:pt x="2047448" y="105574"/>
                </a:lnTo>
                <a:lnTo>
                  <a:pt x="2053808" y="101075"/>
                </a:lnTo>
                <a:lnTo>
                  <a:pt x="2060963" y="96841"/>
                </a:lnTo>
                <a:lnTo>
                  <a:pt x="2067852" y="92872"/>
                </a:lnTo>
                <a:lnTo>
                  <a:pt x="2074742" y="89167"/>
                </a:lnTo>
                <a:lnTo>
                  <a:pt x="2082162" y="85992"/>
                </a:lnTo>
                <a:lnTo>
                  <a:pt x="2089582" y="82816"/>
                </a:lnTo>
                <a:lnTo>
                  <a:pt x="2097266" y="80434"/>
                </a:lnTo>
                <a:lnTo>
                  <a:pt x="2104951" y="78053"/>
                </a:lnTo>
                <a:lnTo>
                  <a:pt x="2113166" y="76200"/>
                </a:lnTo>
                <a:lnTo>
                  <a:pt x="2121381" y="74877"/>
                </a:lnTo>
                <a:lnTo>
                  <a:pt x="2129595" y="73819"/>
                </a:lnTo>
                <a:lnTo>
                  <a:pt x="2137810" y="73290"/>
                </a:lnTo>
                <a:lnTo>
                  <a:pt x="2146290" y="73025"/>
                </a:lnTo>
                <a:close/>
                <a:moveTo>
                  <a:pt x="165154" y="0"/>
                </a:moveTo>
                <a:lnTo>
                  <a:pt x="1457536" y="0"/>
                </a:lnTo>
                <a:lnTo>
                  <a:pt x="1466005" y="265"/>
                </a:lnTo>
                <a:lnTo>
                  <a:pt x="1474210" y="1058"/>
                </a:lnTo>
                <a:lnTo>
                  <a:pt x="1482680" y="2117"/>
                </a:lnTo>
                <a:lnTo>
                  <a:pt x="1490620" y="3440"/>
                </a:lnTo>
                <a:lnTo>
                  <a:pt x="1498824" y="5293"/>
                </a:lnTo>
                <a:lnTo>
                  <a:pt x="1506765" y="7410"/>
                </a:lnTo>
                <a:lnTo>
                  <a:pt x="1514175" y="10056"/>
                </a:lnTo>
                <a:lnTo>
                  <a:pt x="1521851" y="12967"/>
                </a:lnTo>
                <a:lnTo>
                  <a:pt x="1528997" y="16672"/>
                </a:lnTo>
                <a:lnTo>
                  <a:pt x="1536143" y="20112"/>
                </a:lnTo>
                <a:lnTo>
                  <a:pt x="1543024" y="24082"/>
                </a:lnTo>
                <a:lnTo>
                  <a:pt x="1549906" y="28316"/>
                </a:lnTo>
                <a:lnTo>
                  <a:pt x="1556258" y="33080"/>
                </a:lnTo>
                <a:lnTo>
                  <a:pt x="1562610" y="37843"/>
                </a:lnTo>
                <a:lnTo>
                  <a:pt x="1568433" y="43136"/>
                </a:lnTo>
                <a:lnTo>
                  <a:pt x="1574255" y="48429"/>
                </a:lnTo>
                <a:lnTo>
                  <a:pt x="1579549" y="54251"/>
                </a:lnTo>
                <a:lnTo>
                  <a:pt x="1584842" y="60073"/>
                </a:lnTo>
                <a:lnTo>
                  <a:pt x="1589606" y="66689"/>
                </a:lnTo>
                <a:lnTo>
                  <a:pt x="1594370" y="73040"/>
                </a:lnTo>
                <a:lnTo>
                  <a:pt x="1598605" y="79656"/>
                </a:lnTo>
                <a:lnTo>
                  <a:pt x="1602840" y="86537"/>
                </a:lnTo>
                <a:lnTo>
                  <a:pt x="1606280" y="93682"/>
                </a:lnTo>
                <a:lnTo>
                  <a:pt x="1609721" y="100827"/>
                </a:lnTo>
                <a:lnTo>
                  <a:pt x="1612632" y="108237"/>
                </a:lnTo>
                <a:lnTo>
                  <a:pt x="1615279" y="116176"/>
                </a:lnTo>
                <a:lnTo>
                  <a:pt x="1617396" y="124116"/>
                </a:lnTo>
                <a:lnTo>
                  <a:pt x="1619249" y="132055"/>
                </a:lnTo>
                <a:lnTo>
                  <a:pt x="1620572" y="139994"/>
                </a:lnTo>
                <a:lnTo>
                  <a:pt x="1621631" y="148198"/>
                </a:lnTo>
                <a:lnTo>
                  <a:pt x="1622425" y="156666"/>
                </a:lnTo>
                <a:lnTo>
                  <a:pt x="1622425" y="165399"/>
                </a:lnTo>
                <a:lnTo>
                  <a:pt x="1622425" y="605759"/>
                </a:lnTo>
                <a:lnTo>
                  <a:pt x="1622425" y="605817"/>
                </a:lnTo>
                <a:lnTo>
                  <a:pt x="1784272" y="605817"/>
                </a:lnTo>
                <a:lnTo>
                  <a:pt x="1784537" y="599986"/>
                </a:lnTo>
                <a:lnTo>
                  <a:pt x="1785330" y="594685"/>
                </a:lnTo>
                <a:lnTo>
                  <a:pt x="1786123" y="589119"/>
                </a:lnTo>
                <a:lnTo>
                  <a:pt x="1787181" y="583819"/>
                </a:lnTo>
                <a:lnTo>
                  <a:pt x="1788503" y="578518"/>
                </a:lnTo>
                <a:lnTo>
                  <a:pt x="1790090" y="573482"/>
                </a:lnTo>
                <a:lnTo>
                  <a:pt x="1791941" y="568447"/>
                </a:lnTo>
                <a:lnTo>
                  <a:pt x="1794057" y="563411"/>
                </a:lnTo>
                <a:lnTo>
                  <a:pt x="1796437" y="558375"/>
                </a:lnTo>
                <a:lnTo>
                  <a:pt x="1798817" y="553605"/>
                </a:lnTo>
                <a:lnTo>
                  <a:pt x="1801462" y="549099"/>
                </a:lnTo>
                <a:lnTo>
                  <a:pt x="1804900" y="544858"/>
                </a:lnTo>
                <a:lnTo>
                  <a:pt x="1807809" y="540618"/>
                </a:lnTo>
                <a:lnTo>
                  <a:pt x="1811247" y="536377"/>
                </a:lnTo>
                <a:lnTo>
                  <a:pt x="1814685" y="532667"/>
                </a:lnTo>
                <a:lnTo>
                  <a:pt x="1818387" y="528691"/>
                </a:lnTo>
                <a:lnTo>
                  <a:pt x="1822354" y="525246"/>
                </a:lnTo>
                <a:lnTo>
                  <a:pt x="1826321" y="521800"/>
                </a:lnTo>
                <a:lnTo>
                  <a:pt x="1830552" y="518620"/>
                </a:lnTo>
                <a:lnTo>
                  <a:pt x="1834783" y="515704"/>
                </a:lnTo>
                <a:lnTo>
                  <a:pt x="1839279" y="512789"/>
                </a:lnTo>
                <a:lnTo>
                  <a:pt x="1843775" y="509874"/>
                </a:lnTo>
                <a:lnTo>
                  <a:pt x="1848535" y="507488"/>
                </a:lnTo>
                <a:lnTo>
                  <a:pt x="1853824" y="505368"/>
                </a:lnTo>
                <a:lnTo>
                  <a:pt x="1858849" y="503513"/>
                </a:lnTo>
                <a:lnTo>
                  <a:pt x="1863873" y="501658"/>
                </a:lnTo>
                <a:lnTo>
                  <a:pt x="1869163" y="500332"/>
                </a:lnTo>
                <a:lnTo>
                  <a:pt x="1874452" y="499007"/>
                </a:lnTo>
                <a:lnTo>
                  <a:pt x="1879741" y="498212"/>
                </a:lnTo>
                <a:lnTo>
                  <a:pt x="1885294" y="497417"/>
                </a:lnTo>
                <a:lnTo>
                  <a:pt x="1890848" y="497152"/>
                </a:lnTo>
                <a:lnTo>
                  <a:pt x="1896402" y="496887"/>
                </a:lnTo>
                <a:lnTo>
                  <a:pt x="2059306" y="496887"/>
                </a:lnTo>
                <a:lnTo>
                  <a:pt x="2065124" y="497152"/>
                </a:lnTo>
                <a:lnTo>
                  <a:pt x="2070942" y="497417"/>
                </a:lnTo>
                <a:lnTo>
                  <a:pt x="2076496" y="498212"/>
                </a:lnTo>
                <a:lnTo>
                  <a:pt x="2082050" y="499272"/>
                </a:lnTo>
                <a:lnTo>
                  <a:pt x="2087339" y="500332"/>
                </a:lnTo>
                <a:lnTo>
                  <a:pt x="2092628" y="501923"/>
                </a:lnTo>
                <a:lnTo>
                  <a:pt x="2097917" y="503778"/>
                </a:lnTo>
                <a:lnTo>
                  <a:pt x="2102942" y="505633"/>
                </a:lnTo>
                <a:lnTo>
                  <a:pt x="2108231" y="508018"/>
                </a:lnTo>
                <a:lnTo>
                  <a:pt x="2112991" y="510404"/>
                </a:lnTo>
                <a:lnTo>
                  <a:pt x="2117751" y="513319"/>
                </a:lnTo>
                <a:lnTo>
                  <a:pt x="2122247" y="516234"/>
                </a:lnTo>
                <a:lnTo>
                  <a:pt x="2126478" y="519415"/>
                </a:lnTo>
                <a:lnTo>
                  <a:pt x="2130709" y="522860"/>
                </a:lnTo>
                <a:lnTo>
                  <a:pt x="2134941" y="526306"/>
                </a:lnTo>
                <a:lnTo>
                  <a:pt x="2138643" y="530016"/>
                </a:lnTo>
                <a:lnTo>
                  <a:pt x="2142346" y="533992"/>
                </a:lnTo>
                <a:lnTo>
                  <a:pt x="2146048" y="537967"/>
                </a:lnTo>
                <a:lnTo>
                  <a:pt x="2149221" y="542208"/>
                </a:lnTo>
                <a:lnTo>
                  <a:pt x="2152395" y="546714"/>
                </a:lnTo>
                <a:lnTo>
                  <a:pt x="2155304" y="551219"/>
                </a:lnTo>
                <a:lnTo>
                  <a:pt x="2158213" y="555725"/>
                </a:lnTo>
                <a:lnTo>
                  <a:pt x="2160857" y="560761"/>
                </a:lnTo>
                <a:lnTo>
                  <a:pt x="2162973" y="565796"/>
                </a:lnTo>
                <a:lnTo>
                  <a:pt x="2165089" y="571097"/>
                </a:lnTo>
                <a:lnTo>
                  <a:pt x="2166675" y="576133"/>
                </a:lnTo>
                <a:lnTo>
                  <a:pt x="2168262" y="581433"/>
                </a:lnTo>
                <a:lnTo>
                  <a:pt x="2169585" y="586999"/>
                </a:lnTo>
                <a:lnTo>
                  <a:pt x="2170378" y="592565"/>
                </a:lnTo>
                <a:lnTo>
                  <a:pt x="2171171" y="598131"/>
                </a:lnTo>
                <a:lnTo>
                  <a:pt x="2171700" y="603696"/>
                </a:lnTo>
                <a:lnTo>
                  <a:pt x="2171700" y="609527"/>
                </a:lnTo>
                <a:lnTo>
                  <a:pt x="2171700" y="849119"/>
                </a:lnTo>
                <a:lnTo>
                  <a:pt x="2171700" y="854950"/>
                </a:lnTo>
                <a:lnTo>
                  <a:pt x="2171171" y="861046"/>
                </a:lnTo>
                <a:lnTo>
                  <a:pt x="2170378" y="866612"/>
                </a:lnTo>
                <a:lnTo>
                  <a:pt x="2169585" y="872178"/>
                </a:lnTo>
                <a:lnTo>
                  <a:pt x="2168262" y="877478"/>
                </a:lnTo>
                <a:lnTo>
                  <a:pt x="2166675" y="882779"/>
                </a:lnTo>
                <a:lnTo>
                  <a:pt x="2165089" y="888080"/>
                </a:lnTo>
                <a:lnTo>
                  <a:pt x="2162973" y="893115"/>
                </a:lnTo>
                <a:lnTo>
                  <a:pt x="2160857" y="898151"/>
                </a:lnTo>
                <a:lnTo>
                  <a:pt x="2158213" y="902922"/>
                </a:lnTo>
                <a:lnTo>
                  <a:pt x="2155304" y="907692"/>
                </a:lnTo>
                <a:lnTo>
                  <a:pt x="2152395" y="912463"/>
                </a:lnTo>
                <a:lnTo>
                  <a:pt x="2149221" y="916704"/>
                </a:lnTo>
                <a:lnTo>
                  <a:pt x="2146048" y="920944"/>
                </a:lnTo>
                <a:lnTo>
                  <a:pt x="2142346" y="925185"/>
                </a:lnTo>
                <a:lnTo>
                  <a:pt x="2138643" y="928895"/>
                </a:lnTo>
                <a:lnTo>
                  <a:pt x="2134941" y="932606"/>
                </a:lnTo>
                <a:lnTo>
                  <a:pt x="2130709" y="936316"/>
                </a:lnTo>
                <a:lnTo>
                  <a:pt x="2126478" y="939497"/>
                </a:lnTo>
                <a:lnTo>
                  <a:pt x="2122247" y="942677"/>
                </a:lnTo>
                <a:lnTo>
                  <a:pt x="2117751" y="945593"/>
                </a:lnTo>
                <a:lnTo>
                  <a:pt x="2112991" y="948243"/>
                </a:lnTo>
                <a:lnTo>
                  <a:pt x="2108231" y="950893"/>
                </a:lnTo>
                <a:lnTo>
                  <a:pt x="2102942" y="953014"/>
                </a:lnTo>
                <a:lnTo>
                  <a:pt x="2097917" y="955134"/>
                </a:lnTo>
                <a:lnTo>
                  <a:pt x="2092628" y="956724"/>
                </a:lnTo>
                <a:lnTo>
                  <a:pt x="2087339" y="958314"/>
                </a:lnTo>
                <a:lnTo>
                  <a:pt x="2082050" y="959904"/>
                </a:lnTo>
                <a:lnTo>
                  <a:pt x="2076496" y="960700"/>
                </a:lnTo>
                <a:lnTo>
                  <a:pt x="2070942" y="961495"/>
                </a:lnTo>
                <a:lnTo>
                  <a:pt x="2065124" y="962025"/>
                </a:lnTo>
                <a:lnTo>
                  <a:pt x="2059306" y="962025"/>
                </a:lnTo>
                <a:lnTo>
                  <a:pt x="1896402" y="962025"/>
                </a:lnTo>
                <a:lnTo>
                  <a:pt x="1890583" y="962025"/>
                </a:lnTo>
                <a:lnTo>
                  <a:pt x="1885030" y="961495"/>
                </a:lnTo>
                <a:lnTo>
                  <a:pt x="1879476" y="960700"/>
                </a:lnTo>
                <a:lnTo>
                  <a:pt x="1873923" y="959904"/>
                </a:lnTo>
                <a:lnTo>
                  <a:pt x="1868369" y="958314"/>
                </a:lnTo>
                <a:lnTo>
                  <a:pt x="1863080" y="956724"/>
                </a:lnTo>
                <a:lnTo>
                  <a:pt x="1858055" y="955134"/>
                </a:lnTo>
                <a:lnTo>
                  <a:pt x="1852766" y="953014"/>
                </a:lnTo>
                <a:lnTo>
                  <a:pt x="1847742" y="950893"/>
                </a:lnTo>
                <a:lnTo>
                  <a:pt x="1842717" y="948243"/>
                </a:lnTo>
                <a:lnTo>
                  <a:pt x="1838221" y="945593"/>
                </a:lnTo>
                <a:lnTo>
                  <a:pt x="1833725" y="942677"/>
                </a:lnTo>
                <a:lnTo>
                  <a:pt x="1829230" y="939497"/>
                </a:lnTo>
                <a:lnTo>
                  <a:pt x="1824998" y="936316"/>
                </a:lnTo>
                <a:lnTo>
                  <a:pt x="1821032" y="932606"/>
                </a:lnTo>
                <a:lnTo>
                  <a:pt x="1817065" y="928895"/>
                </a:lnTo>
                <a:lnTo>
                  <a:pt x="1813362" y="925185"/>
                </a:lnTo>
                <a:lnTo>
                  <a:pt x="1809924" y="920944"/>
                </a:lnTo>
                <a:lnTo>
                  <a:pt x="1806486" y="916704"/>
                </a:lnTo>
                <a:lnTo>
                  <a:pt x="1803313" y="912463"/>
                </a:lnTo>
                <a:lnTo>
                  <a:pt x="1800140" y="907692"/>
                </a:lnTo>
                <a:lnTo>
                  <a:pt x="1797495" y="902922"/>
                </a:lnTo>
                <a:lnTo>
                  <a:pt x="1795115" y="898151"/>
                </a:lnTo>
                <a:lnTo>
                  <a:pt x="1792735" y="893115"/>
                </a:lnTo>
                <a:lnTo>
                  <a:pt x="1790884" y="888080"/>
                </a:lnTo>
                <a:lnTo>
                  <a:pt x="1789032" y="882779"/>
                </a:lnTo>
                <a:lnTo>
                  <a:pt x="1787446" y="877478"/>
                </a:lnTo>
                <a:lnTo>
                  <a:pt x="1786388" y="872178"/>
                </a:lnTo>
                <a:lnTo>
                  <a:pt x="1785330" y="866612"/>
                </a:lnTo>
                <a:lnTo>
                  <a:pt x="1784537" y="861046"/>
                </a:lnTo>
                <a:lnTo>
                  <a:pt x="1784272" y="854950"/>
                </a:lnTo>
                <a:lnTo>
                  <a:pt x="1784008" y="849119"/>
                </a:lnTo>
                <a:lnTo>
                  <a:pt x="1784008" y="729588"/>
                </a:lnTo>
                <a:lnTo>
                  <a:pt x="1622425" y="729588"/>
                </a:lnTo>
                <a:lnTo>
                  <a:pt x="1622425" y="2349201"/>
                </a:lnTo>
                <a:lnTo>
                  <a:pt x="1622425" y="2357934"/>
                </a:lnTo>
                <a:lnTo>
                  <a:pt x="1621631" y="2366402"/>
                </a:lnTo>
                <a:lnTo>
                  <a:pt x="1620572" y="2374606"/>
                </a:lnTo>
                <a:lnTo>
                  <a:pt x="1619249" y="2382545"/>
                </a:lnTo>
                <a:lnTo>
                  <a:pt x="1617396" y="2390484"/>
                </a:lnTo>
                <a:lnTo>
                  <a:pt x="1615279" y="2398424"/>
                </a:lnTo>
                <a:lnTo>
                  <a:pt x="1612632" y="2406363"/>
                </a:lnTo>
                <a:lnTo>
                  <a:pt x="1609721" y="2413773"/>
                </a:lnTo>
                <a:lnTo>
                  <a:pt x="1606280" y="2420918"/>
                </a:lnTo>
                <a:lnTo>
                  <a:pt x="1602840" y="2428063"/>
                </a:lnTo>
                <a:lnTo>
                  <a:pt x="1598605" y="2434944"/>
                </a:lnTo>
                <a:lnTo>
                  <a:pt x="1594370" y="2441560"/>
                </a:lnTo>
                <a:lnTo>
                  <a:pt x="1589606" y="2448176"/>
                </a:lnTo>
                <a:lnTo>
                  <a:pt x="1584842" y="2454527"/>
                </a:lnTo>
                <a:lnTo>
                  <a:pt x="1579549" y="2460349"/>
                </a:lnTo>
                <a:lnTo>
                  <a:pt x="1574255" y="2466171"/>
                </a:lnTo>
                <a:lnTo>
                  <a:pt x="1568433" y="2471729"/>
                </a:lnTo>
                <a:lnTo>
                  <a:pt x="1562610" y="2476757"/>
                </a:lnTo>
                <a:lnTo>
                  <a:pt x="1556258" y="2481520"/>
                </a:lnTo>
                <a:lnTo>
                  <a:pt x="1549906" y="2486284"/>
                </a:lnTo>
                <a:lnTo>
                  <a:pt x="1543024" y="2490518"/>
                </a:lnTo>
                <a:lnTo>
                  <a:pt x="1536143" y="2494488"/>
                </a:lnTo>
                <a:lnTo>
                  <a:pt x="1528997" y="2498193"/>
                </a:lnTo>
                <a:lnTo>
                  <a:pt x="1521851" y="2501633"/>
                </a:lnTo>
                <a:lnTo>
                  <a:pt x="1514175" y="2504544"/>
                </a:lnTo>
                <a:lnTo>
                  <a:pt x="1506765" y="2507190"/>
                </a:lnTo>
                <a:lnTo>
                  <a:pt x="1498824" y="2509307"/>
                </a:lnTo>
                <a:lnTo>
                  <a:pt x="1490620" y="2511160"/>
                </a:lnTo>
                <a:lnTo>
                  <a:pt x="1482680" y="2512748"/>
                </a:lnTo>
                <a:lnTo>
                  <a:pt x="1474210" y="2513542"/>
                </a:lnTo>
                <a:lnTo>
                  <a:pt x="1466005" y="2514335"/>
                </a:lnTo>
                <a:lnTo>
                  <a:pt x="1457536" y="2514600"/>
                </a:lnTo>
                <a:lnTo>
                  <a:pt x="165154" y="2514600"/>
                </a:lnTo>
                <a:lnTo>
                  <a:pt x="156684" y="2514335"/>
                </a:lnTo>
                <a:lnTo>
                  <a:pt x="148480" y="2513542"/>
                </a:lnTo>
                <a:lnTo>
                  <a:pt x="140010" y="2512748"/>
                </a:lnTo>
                <a:lnTo>
                  <a:pt x="132070" y="2511160"/>
                </a:lnTo>
                <a:lnTo>
                  <a:pt x="123865" y="2509307"/>
                </a:lnTo>
                <a:lnTo>
                  <a:pt x="115925" y="2507190"/>
                </a:lnTo>
                <a:lnTo>
                  <a:pt x="108514" y="2504544"/>
                </a:lnTo>
                <a:lnTo>
                  <a:pt x="100839" y="2501633"/>
                </a:lnTo>
                <a:lnTo>
                  <a:pt x="93693" y="2498193"/>
                </a:lnTo>
                <a:lnTo>
                  <a:pt x="86547" y="2494488"/>
                </a:lnTo>
                <a:lnTo>
                  <a:pt x="79666" y="2490518"/>
                </a:lnTo>
                <a:lnTo>
                  <a:pt x="72784" y="2486284"/>
                </a:lnTo>
                <a:lnTo>
                  <a:pt x="66432" y="2481520"/>
                </a:lnTo>
                <a:lnTo>
                  <a:pt x="60080" y="2476757"/>
                </a:lnTo>
                <a:lnTo>
                  <a:pt x="54257" y="2471729"/>
                </a:lnTo>
                <a:lnTo>
                  <a:pt x="48435" y="2466171"/>
                </a:lnTo>
                <a:lnTo>
                  <a:pt x="43141" y="2460349"/>
                </a:lnTo>
                <a:lnTo>
                  <a:pt x="37848" y="2454527"/>
                </a:lnTo>
                <a:lnTo>
                  <a:pt x="33084" y="2448176"/>
                </a:lnTo>
                <a:lnTo>
                  <a:pt x="28320" y="2441560"/>
                </a:lnTo>
                <a:lnTo>
                  <a:pt x="23820" y="2434944"/>
                </a:lnTo>
                <a:lnTo>
                  <a:pt x="19850" y="2428063"/>
                </a:lnTo>
                <a:lnTo>
                  <a:pt x="16409" y="2420918"/>
                </a:lnTo>
                <a:lnTo>
                  <a:pt x="12969" y="2413773"/>
                </a:lnTo>
                <a:lnTo>
                  <a:pt x="10058" y="2406363"/>
                </a:lnTo>
                <a:lnTo>
                  <a:pt x="7411" y="2398424"/>
                </a:lnTo>
                <a:lnTo>
                  <a:pt x="5293" y="2390484"/>
                </a:lnTo>
                <a:lnTo>
                  <a:pt x="3441" y="2382545"/>
                </a:lnTo>
                <a:lnTo>
                  <a:pt x="2117" y="2374606"/>
                </a:lnTo>
                <a:lnTo>
                  <a:pt x="1059" y="2366402"/>
                </a:lnTo>
                <a:lnTo>
                  <a:pt x="265" y="2357934"/>
                </a:lnTo>
                <a:lnTo>
                  <a:pt x="0" y="2349201"/>
                </a:lnTo>
                <a:lnTo>
                  <a:pt x="0" y="165399"/>
                </a:lnTo>
                <a:lnTo>
                  <a:pt x="265" y="156666"/>
                </a:lnTo>
                <a:lnTo>
                  <a:pt x="1059" y="148198"/>
                </a:lnTo>
                <a:lnTo>
                  <a:pt x="2117" y="139994"/>
                </a:lnTo>
                <a:lnTo>
                  <a:pt x="3441" y="132055"/>
                </a:lnTo>
                <a:lnTo>
                  <a:pt x="5293" y="124116"/>
                </a:lnTo>
                <a:lnTo>
                  <a:pt x="7411" y="116176"/>
                </a:lnTo>
                <a:lnTo>
                  <a:pt x="10058" y="108237"/>
                </a:lnTo>
                <a:lnTo>
                  <a:pt x="12969" y="100827"/>
                </a:lnTo>
                <a:lnTo>
                  <a:pt x="16409" y="93682"/>
                </a:lnTo>
                <a:lnTo>
                  <a:pt x="19850" y="86537"/>
                </a:lnTo>
                <a:lnTo>
                  <a:pt x="23820" y="79656"/>
                </a:lnTo>
                <a:lnTo>
                  <a:pt x="28320" y="73040"/>
                </a:lnTo>
                <a:lnTo>
                  <a:pt x="33084" y="66689"/>
                </a:lnTo>
                <a:lnTo>
                  <a:pt x="37848" y="60073"/>
                </a:lnTo>
                <a:lnTo>
                  <a:pt x="43141" y="54251"/>
                </a:lnTo>
                <a:lnTo>
                  <a:pt x="48435" y="48429"/>
                </a:lnTo>
                <a:lnTo>
                  <a:pt x="54257" y="43136"/>
                </a:lnTo>
                <a:lnTo>
                  <a:pt x="60080" y="37843"/>
                </a:lnTo>
                <a:lnTo>
                  <a:pt x="66432" y="33080"/>
                </a:lnTo>
                <a:lnTo>
                  <a:pt x="72784" y="28316"/>
                </a:lnTo>
                <a:lnTo>
                  <a:pt x="79666" y="24082"/>
                </a:lnTo>
                <a:lnTo>
                  <a:pt x="86547" y="20112"/>
                </a:lnTo>
                <a:lnTo>
                  <a:pt x="93693" y="16672"/>
                </a:lnTo>
                <a:lnTo>
                  <a:pt x="100839" y="12967"/>
                </a:lnTo>
                <a:lnTo>
                  <a:pt x="108514" y="10056"/>
                </a:lnTo>
                <a:lnTo>
                  <a:pt x="115925" y="7410"/>
                </a:lnTo>
                <a:lnTo>
                  <a:pt x="123865" y="5293"/>
                </a:lnTo>
                <a:lnTo>
                  <a:pt x="132070" y="3440"/>
                </a:lnTo>
                <a:lnTo>
                  <a:pt x="140010" y="2117"/>
                </a:lnTo>
                <a:lnTo>
                  <a:pt x="148480" y="1058"/>
                </a:lnTo>
                <a:lnTo>
                  <a:pt x="156684" y="265"/>
                </a:lnTo>
                <a:lnTo>
                  <a:pt x="165154"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0" name="KSO_Shape"/>
          <p:cNvSpPr>
            <a:spLocks/>
          </p:cNvSpPr>
          <p:nvPr/>
        </p:nvSpPr>
        <p:spPr bwMode="auto">
          <a:xfrm>
            <a:off x="5220072" y="3273433"/>
            <a:ext cx="1296145" cy="1298178"/>
          </a:xfrm>
          <a:custGeom>
            <a:avLst/>
            <a:gdLst>
              <a:gd name="T0" fmla="*/ 1344688 w 3370"/>
              <a:gd name="T1" fmla="*/ 1184672 h 3368"/>
              <a:gd name="T2" fmla="*/ 876692 w 3370"/>
              <a:gd name="T3" fmla="*/ 462220 h 3368"/>
              <a:gd name="T4" fmla="*/ 1800397 w 3370"/>
              <a:gd name="T5" fmla="*/ 462220 h 3368"/>
              <a:gd name="T6" fmla="*/ 1338812 w 3370"/>
              <a:gd name="T7" fmla="*/ 97253 h 3368"/>
              <a:gd name="T8" fmla="*/ 1338812 w 3370"/>
              <a:gd name="T9" fmla="*/ 755048 h 3368"/>
              <a:gd name="T10" fmla="*/ 1338812 w 3370"/>
              <a:gd name="T11" fmla="*/ 97253 h 3368"/>
              <a:gd name="T12" fmla="*/ 1342017 w 3370"/>
              <a:gd name="T13" fmla="*/ 539167 h 3368"/>
              <a:gd name="T14" fmla="*/ 1225552 w 3370"/>
              <a:gd name="T15" fmla="*/ 454739 h 3368"/>
              <a:gd name="T16" fmla="*/ 1269894 w 3370"/>
              <a:gd name="T17" fmla="*/ 317409 h 3368"/>
              <a:gd name="T18" fmla="*/ 1414140 w 3370"/>
              <a:gd name="T19" fmla="*/ 317409 h 3368"/>
              <a:gd name="T20" fmla="*/ 1458482 w 3370"/>
              <a:gd name="T21" fmla="*/ 454739 h 3368"/>
              <a:gd name="T22" fmla="*/ 800829 w 3370"/>
              <a:gd name="T23" fmla="*/ 988028 h 3368"/>
              <a:gd name="T24" fmla="*/ 1014526 w 3370"/>
              <a:gd name="T25" fmla="*/ 1061769 h 3368"/>
              <a:gd name="T26" fmla="*/ 800829 w 3370"/>
              <a:gd name="T27" fmla="*/ 1318261 h 3368"/>
              <a:gd name="T28" fmla="*/ 1116032 w 3370"/>
              <a:gd name="T29" fmla="*/ 1168107 h 3368"/>
              <a:gd name="T30" fmla="*/ 1119238 w 3370"/>
              <a:gd name="T31" fmla="*/ 1404293 h 3368"/>
              <a:gd name="T32" fmla="*/ 1421619 w 3370"/>
              <a:gd name="T33" fmla="*/ 1298490 h 3368"/>
              <a:gd name="T34" fmla="*/ 771980 w 3370"/>
              <a:gd name="T35" fmla="*/ 1799718 h 3368"/>
              <a:gd name="T36" fmla="*/ 771980 w 3370"/>
              <a:gd name="T37" fmla="*/ 255423 h 3368"/>
              <a:gd name="T38" fmla="*/ 747939 w 3370"/>
              <a:gd name="T39" fmla="*/ 425883 h 3368"/>
              <a:gd name="T40" fmla="*/ 814720 w 3370"/>
              <a:gd name="T41" fmla="*/ 735277 h 3368"/>
              <a:gd name="T42" fmla="*/ 800829 w 3370"/>
              <a:gd name="T43" fmla="*/ 988028 h 3368"/>
              <a:gd name="T44" fmla="*/ 1094129 w 3370"/>
              <a:gd name="T45" fmla="*/ 1461469 h 3368"/>
              <a:gd name="T46" fmla="*/ 1248525 w 3370"/>
              <a:gd name="T47" fmla="*/ 1547501 h 3368"/>
              <a:gd name="T48" fmla="*/ 876158 w 3370"/>
              <a:gd name="T49" fmla="*/ 1722236 h 3368"/>
              <a:gd name="T50" fmla="*/ 800829 w 3370"/>
              <a:gd name="T51" fmla="*/ 1388797 h 3368"/>
              <a:gd name="T52" fmla="*/ 576982 w 3370"/>
              <a:gd name="T53" fmla="*/ 1699793 h 3368"/>
              <a:gd name="T54" fmla="*/ 294902 w 3370"/>
              <a:gd name="T55" fmla="*/ 1547501 h 3368"/>
              <a:gd name="T56" fmla="*/ 247354 w 3370"/>
              <a:gd name="T57" fmla="*/ 1499943 h 3368"/>
              <a:gd name="T58" fmla="*/ 347258 w 3370"/>
              <a:gd name="T59" fmla="*/ 1061769 h 3368"/>
              <a:gd name="T60" fmla="*/ 247354 w 3370"/>
              <a:gd name="T61" fmla="*/ 1499943 h 3368"/>
              <a:gd name="T62" fmla="*/ 347258 w 3370"/>
              <a:gd name="T63" fmla="*/ 988028 h 3368"/>
              <a:gd name="T64" fmla="*/ 247354 w 3370"/>
              <a:gd name="T65" fmla="*/ 555198 h 3368"/>
              <a:gd name="T66" fmla="*/ 294902 w 3370"/>
              <a:gd name="T67" fmla="*/ 507640 h 3368"/>
              <a:gd name="T68" fmla="*/ 576982 w 3370"/>
              <a:gd name="T69" fmla="*/ 353211 h 3368"/>
              <a:gd name="T70" fmla="*/ 727104 w 3370"/>
              <a:gd name="T71" fmla="*/ 325958 h 3368"/>
              <a:gd name="T72" fmla="*/ 506462 w 3370"/>
              <a:gd name="T73" fmla="*/ 616649 h 3368"/>
              <a:gd name="T74" fmla="*/ 727104 w 3370"/>
              <a:gd name="T75" fmla="*/ 325958 h 3368"/>
              <a:gd name="T76" fmla="*/ 485626 w 3370"/>
              <a:gd name="T77" fmla="*/ 673291 h 3368"/>
              <a:gd name="T78" fmla="*/ 727104 w 3370"/>
              <a:gd name="T79" fmla="*/ 988028 h 3368"/>
              <a:gd name="T80" fmla="*/ 727104 w 3370"/>
              <a:gd name="T81" fmla="*/ 1061769 h 3368"/>
              <a:gd name="T82" fmla="*/ 485626 w 3370"/>
              <a:gd name="T83" fmla="*/ 1381850 h 3368"/>
              <a:gd name="T84" fmla="*/ 727104 w 3370"/>
              <a:gd name="T85" fmla="*/ 1061769 h 3368"/>
              <a:gd name="T86" fmla="*/ 508599 w 3370"/>
              <a:gd name="T87" fmla="*/ 1436355 h 3368"/>
              <a:gd name="T88" fmla="*/ 727104 w 3370"/>
              <a:gd name="T89" fmla="*/ 1729183 h 336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370" h="3368">
                <a:moveTo>
                  <a:pt x="3365" y="958"/>
                </a:moveTo>
                <a:cubicBezTo>
                  <a:pt x="3334" y="1719"/>
                  <a:pt x="2517" y="2217"/>
                  <a:pt x="2517" y="2217"/>
                </a:cubicBezTo>
                <a:cubicBezTo>
                  <a:pt x="2517" y="2217"/>
                  <a:pt x="1819" y="1795"/>
                  <a:pt x="1685" y="1134"/>
                </a:cubicBezTo>
                <a:cubicBezTo>
                  <a:pt x="1657" y="1049"/>
                  <a:pt x="1641" y="959"/>
                  <a:pt x="1641" y="865"/>
                </a:cubicBezTo>
                <a:cubicBezTo>
                  <a:pt x="1641" y="388"/>
                  <a:pt x="2028" y="0"/>
                  <a:pt x="2506" y="0"/>
                </a:cubicBezTo>
                <a:cubicBezTo>
                  <a:pt x="2983" y="0"/>
                  <a:pt x="3370" y="388"/>
                  <a:pt x="3370" y="865"/>
                </a:cubicBezTo>
                <a:cubicBezTo>
                  <a:pt x="3370" y="896"/>
                  <a:pt x="3368" y="927"/>
                  <a:pt x="3365" y="958"/>
                </a:cubicBezTo>
                <a:close/>
                <a:moveTo>
                  <a:pt x="2506" y="182"/>
                </a:moveTo>
                <a:cubicBezTo>
                  <a:pt x="2166" y="182"/>
                  <a:pt x="1890" y="458"/>
                  <a:pt x="1890" y="797"/>
                </a:cubicBezTo>
                <a:cubicBezTo>
                  <a:pt x="1890" y="1137"/>
                  <a:pt x="2166" y="1413"/>
                  <a:pt x="2506" y="1413"/>
                </a:cubicBezTo>
                <a:cubicBezTo>
                  <a:pt x="2846" y="1413"/>
                  <a:pt x="3121" y="1137"/>
                  <a:pt x="3121" y="797"/>
                </a:cubicBezTo>
                <a:cubicBezTo>
                  <a:pt x="3121" y="458"/>
                  <a:pt x="2846" y="182"/>
                  <a:pt x="2506" y="182"/>
                </a:cubicBezTo>
                <a:close/>
                <a:moveTo>
                  <a:pt x="2765" y="1127"/>
                </a:moveTo>
                <a:cubicBezTo>
                  <a:pt x="2512" y="1009"/>
                  <a:pt x="2512" y="1009"/>
                  <a:pt x="2512" y="1009"/>
                </a:cubicBezTo>
                <a:cubicBezTo>
                  <a:pt x="2259" y="1127"/>
                  <a:pt x="2259" y="1127"/>
                  <a:pt x="2259" y="1127"/>
                </a:cubicBezTo>
                <a:cubicBezTo>
                  <a:pt x="2294" y="851"/>
                  <a:pt x="2294" y="851"/>
                  <a:pt x="2294" y="851"/>
                </a:cubicBezTo>
                <a:cubicBezTo>
                  <a:pt x="2103" y="647"/>
                  <a:pt x="2103" y="647"/>
                  <a:pt x="2103" y="647"/>
                </a:cubicBezTo>
                <a:cubicBezTo>
                  <a:pt x="2377" y="594"/>
                  <a:pt x="2377" y="594"/>
                  <a:pt x="2377" y="594"/>
                </a:cubicBezTo>
                <a:cubicBezTo>
                  <a:pt x="2512" y="350"/>
                  <a:pt x="2512" y="350"/>
                  <a:pt x="2512" y="350"/>
                </a:cubicBezTo>
                <a:cubicBezTo>
                  <a:pt x="2647" y="594"/>
                  <a:pt x="2647" y="594"/>
                  <a:pt x="2647" y="594"/>
                </a:cubicBezTo>
                <a:cubicBezTo>
                  <a:pt x="2921" y="647"/>
                  <a:pt x="2921" y="647"/>
                  <a:pt x="2921" y="647"/>
                </a:cubicBezTo>
                <a:cubicBezTo>
                  <a:pt x="2730" y="851"/>
                  <a:pt x="2730" y="851"/>
                  <a:pt x="2730" y="851"/>
                </a:cubicBezTo>
                <a:lnTo>
                  <a:pt x="2765" y="1127"/>
                </a:lnTo>
                <a:close/>
                <a:moveTo>
                  <a:pt x="1499" y="1849"/>
                </a:moveTo>
                <a:cubicBezTo>
                  <a:pt x="1788" y="1849"/>
                  <a:pt x="1788" y="1849"/>
                  <a:pt x="1788" y="1849"/>
                </a:cubicBezTo>
                <a:cubicBezTo>
                  <a:pt x="1824" y="1898"/>
                  <a:pt x="1861" y="1943"/>
                  <a:pt x="1899" y="1987"/>
                </a:cubicBezTo>
                <a:cubicBezTo>
                  <a:pt x="1499" y="1987"/>
                  <a:pt x="1499" y="1987"/>
                  <a:pt x="1499" y="1987"/>
                </a:cubicBezTo>
                <a:cubicBezTo>
                  <a:pt x="1499" y="2467"/>
                  <a:pt x="1499" y="2467"/>
                  <a:pt x="1499" y="2467"/>
                </a:cubicBezTo>
                <a:cubicBezTo>
                  <a:pt x="1643" y="2475"/>
                  <a:pt x="1819" y="2518"/>
                  <a:pt x="1980" y="2586"/>
                </a:cubicBezTo>
                <a:cubicBezTo>
                  <a:pt x="2031" y="2451"/>
                  <a:pt x="2067" y="2317"/>
                  <a:pt x="2089" y="2186"/>
                </a:cubicBezTo>
                <a:cubicBezTo>
                  <a:pt x="2127" y="2222"/>
                  <a:pt x="2164" y="2255"/>
                  <a:pt x="2200" y="2286"/>
                </a:cubicBezTo>
                <a:cubicBezTo>
                  <a:pt x="2175" y="2396"/>
                  <a:pt x="2140" y="2513"/>
                  <a:pt x="2095" y="2628"/>
                </a:cubicBezTo>
                <a:cubicBezTo>
                  <a:pt x="2222" y="2684"/>
                  <a:pt x="2337" y="2743"/>
                  <a:pt x="2426" y="2807"/>
                </a:cubicBezTo>
                <a:cubicBezTo>
                  <a:pt x="2526" y="2697"/>
                  <a:pt x="2605" y="2570"/>
                  <a:pt x="2661" y="2430"/>
                </a:cubicBezTo>
                <a:cubicBezTo>
                  <a:pt x="2713" y="2391"/>
                  <a:pt x="2775" y="2341"/>
                  <a:pt x="2845" y="2281"/>
                </a:cubicBezTo>
                <a:cubicBezTo>
                  <a:pt x="2688" y="2911"/>
                  <a:pt x="2128" y="3368"/>
                  <a:pt x="1445" y="3368"/>
                </a:cubicBezTo>
                <a:cubicBezTo>
                  <a:pt x="638" y="3368"/>
                  <a:pt x="0" y="2730"/>
                  <a:pt x="0" y="1923"/>
                </a:cubicBezTo>
                <a:cubicBezTo>
                  <a:pt x="0" y="1116"/>
                  <a:pt x="638" y="478"/>
                  <a:pt x="1445" y="478"/>
                </a:cubicBezTo>
                <a:cubicBezTo>
                  <a:pt x="1445" y="478"/>
                  <a:pt x="1446" y="478"/>
                  <a:pt x="1447" y="478"/>
                </a:cubicBezTo>
                <a:cubicBezTo>
                  <a:pt x="1417" y="579"/>
                  <a:pt x="1400" y="686"/>
                  <a:pt x="1400" y="797"/>
                </a:cubicBezTo>
                <a:cubicBezTo>
                  <a:pt x="1400" y="917"/>
                  <a:pt x="1420" y="1033"/>
                  <a:pt x="1455" y="1141"/>
                </a:cubicBezTo>
                <a:cubicBezTo>
                  <a:pt x="1472" y="1223"/>
                  <a:pt x="1497" y="1301"/>
                  <a:pt x="1525" y="1376"/>
                </a:cubicBezTo>
                <a:cubicBezTo>
                  <a:pt x="1517" y="1377"/>
                  <a:pt x="1507" y="1378"/>
                  <a:pt x="1499" y="1379"/>
                </a:cubicBezTo>
                <a:lnTo>
                  <a:pt x="1499" y="1849"/>
                </a:lnTo>
                <a:close/>
                <a:moveTo>
                  <a:pt x="2337" y="2896"/>
                </a:moveTo>
                <a:cubicBezTo>
                  <a:pt x="2256" y="2837"/>
                  <a:pt x="2159" y="2781"/>
                  <a:pt x="2048" y="2735"/>
                </a:cubicBezTo>
                <a:cubicBezTo>
                  <a:pt x="1989" y="2896"/>
                  <a:pt x="1908" y="3049"/>
                  <a:pt x="1810" y="3181"/>
                </a:cubicBezTo>
                <a:cubicBezTo>
                  <a:pt x="2010" y="3134"/>
                  <a:pt x="2188" y="3032"/>
                  <a:pt x="2337" y="2896"/>
                </a:cubicBezTo>
                <a:close/>
                <a:moveTo>
                  <a:pt x="1499" y="3236"/>
                </a:moveTo>
                <a:cubicBezTo>
                  <a:pt x="1541" y="3236"/>
                  <a:pt x="1594" y="3232"/>
                  <a:pt x="1640" y="3223"/>
                </a:cubicBezTo>
                <a:cubicBezTo>
                  <a:pt x="1759" y="3066"/>
                  <a:pt x="1861" y="2879"/>
                  <a:pt x="1938" y="2688"/>
                </a:cubicBezTo>
                <a:cubicBezTo>
                  <a:pt x="1793" y="2637"/>
                  <a:pt x="1635" y="2607"/>
                  <a:pt x="1499" y="2599"/>
                </a:cubicBezTo>
                <a:lnTo>
                  <a:pt x="1499" y="3236"/>
                </a:lnTo>
                <a:close/>
                <a:moveTo>
                  <a:pt x="1080" y="3181"/>
                </a:moveTo>
                <a:cubicBezTo>
                  <a:pt x="982" y="3049"/>
                  <a:pt x="901" y="2896"/>
                  <a:pt x="842" y="2735"/>
                </a:cubicBezTo>
                <a:cubicBezTo>
                  <a:pt x="731" y="2781"/>
                  <a:pt x="633" y="2837"/>
                  <a:pt x="552" y="2896"/>
                </a:cubicBezTo>
                <a:cubicBezTo>
                  <a:pt x="701" y="3032"/>
                  <a:pt x="880" y="3134"/>
                  <a:pt x="1080" y="3181"/>
                </a:cubicBezTo>
                <a:close/>
                <a:moveTo>
                  <a:pt x="463" y="2807"/>
                </a:moveTo>
                <a:cubicBezTo>
                  <a:pt x="552" y="2743"/>
                  <a:pt x="667" y="2684"/>
                  <a:pt x="795" y="2628"/>
                </a:cubicBezTo>
                <a:cubicBezTo>
                  <a:pt x="706" y="2399"/>
                  <a:pt x="655" y="2165"/>
                  <a:pt x="650" y="1987"/>
                </a:cubicBezTo>
                <a:cubicBezTo>
                  <a:pt x="136" y="1987"/>
                  <a:pt x="136" y="1987"/>
                  <a:pt x="136" y="1987"/>
                </a:cubicBezTo>
                <a:cubicBezTo>
                  <a:pt x="149" y="2305"/>
                  <a:pt x="268" y="2590"/>
                  <a:pt x="463" y="2807"/>
                </a:cubicBezTo>
                <a:close/>
                <a:moveTo>
                  <a:pt x="136" y="1849"/>
                </a:moveTo>
                <a:cubicBezTo>
                  <a:pt x="650" y="1849"/>
                  <a:pt x="650" y="1849"/>
                  <a:pt x="650" y="1849"/>
                </a:cubicBezTo>
                <a:cubicBezTo>
                  <a:pt x="659" y="1667"/>
                  <a:pt x="710" y="1447"/>
                  <a:pt x="795" y="1218"/>
                </a:cubicBezTo>
                <a:cubicBezTo>
                  <a:pt x="667" y="1162"/>
                  <a:pt x="552" y="1103"/>
                  <a:pt x="463" y="1039"/>
                </a:cubicBezTo>
                <a:cubicBezTo>
                  <a:pt x="268" y="1256"/>
                  <a:pt x="149" y="1531"/>
                  <a:pt x="136" y="1849"/>
                </a:cubicBezTo>
                <a:close/>
                <a:moveTo>
                  <a:pt x="552" y="950"/>
                </a:moveTo>
                <a:cubicBezTo>
                  <a:pt x="629" y="1005"/>
                  <a:pt x="727" y="1060"/>
                  <a:pt x="837" y="1107"/>
                </a:cubicBezTo>
                <a:cubicBezTo>
                  <a:pt x="901" y="946"/>
                  <a:pt x="986" y="788"/>
                  <a:pt x="1080" y="661"/>
                </a:cubicBezTo>
                <a:cubicBezTo>
                  <a:pt x="880" y="712"/>
                  <a:pt x="701" y="814"/>
                  <a:pt x="552" y="950"/>
                </a:cubicBezTo>
                <a:close/>
                <a:moveTo>
                  <a:pt x="1361" y="610"/>
                </a:moveTo>
                <a:cubicBezTo>
                  <a:pt x="1319" y="610"/>
                  <a:pt x="1296" y="614"/>
                  <a:pt x="1249" y="623"/>
                </a:cubicBezTo>
                <a:cubicBezTo>
                  <a:pt x="1135" y="780"/>
                  <a:pt x="1028" y="958"/>
                  <a:pt x="948" y="1154"/>
                </a:cubicBezTo>
                <a:cubicBezTo>
                  <a:pt x="1088" y="1205"/>
                  <a:pt x="1221" y="1239"/>
                  <a:pt x="1361" y="1247"/>
                </a:cubicBezTo>
                <a:lnTo>
                  <a:pt x="1361" y="610"/>
                </a:lnTo>
                <a:close/>
                <a:moveTo>
                  <a:pt x="1361" y="1379"/>
                </a:moveTo>
                <a:cubicBezTo>
                  <a:pt x="1217" y="1371"/>
                  <a:pt x="1071" y="1328"/>
                  <a:pt x="909" y="1260"/>
                </a:cubicBezTo>
                <a:cubicBezTo>
                  <a:pt x="833" y="1460"/>
                  <a:pt x="786" y="1650"/>
                  <a:pt x="778" y="1849"/>
                </a:cubicBezTo>
                <a:cubicBezTo>
                  <a:pt x="1361" y="1849"/>
                  <a:pt x="1361" y="1849"/>
                  <a:pt x="1361" y="1849"/>
                </a:cubicBezTo>
                <a:lnTo>
                  <a:pt x="1361" y="1379"/>
                </a:lnTo>
                <a:close/>
                <a:moveTo>
                  <a:pt x="1361" y="1987"/>
                </a:moveTo>
                <a:cubicBezTo>
                  <a:pt x="778" y="1987"/>
                  <a:pt x="778" y="1987"/>
                  <a:pt x="778" y="1987"/>
                </a:cubicBezTo>
                <a:cubicBezTo>
                  <a:pt x="786" y="2178"/>
                  <a:pt x="833" y="2382"/>
                  <a:pt x="909" y="2586"/>
                </a:cubicBezTo>
                <a:cubicBezTo>
                  <a:pt x="1071" y="2518"/>
                  <a:pt x="1217" y="2475"/>
                  <a:pt x="1361" y="2467"/>
                </a:cubicBezTo>
                <a:lnTo>
                  <a:pt x="1361" y="1987"/>
                </a:lnTo>
                <a:close/>
                <a:moveTo>
                  <a:pt x="1361" y="2599"/>
                </a:moveTo>
                <a:cubicBezTo>
                  <a:pt x="1226" y="2607"/>
                  <a:pt x="1096" y="2637"/>
                  <a:pt x="952" y="2688"/>
                </a:cubicBezTo>
                <a:cubicBezTo>
                  <a:pt x="1028" y="2879"/>
                  <a:pt x="1130" y="3066"/>
                  <a:pt x="1249" y="3223"/>
                </a:cubicBezTo>
                <a:cubicBezTo>
                  <a:pt x="1296" y="3232"/>
                  <a:pt x="1319" y="3236"/>
                  <a:pt x="1361" y="3236"/>
                </a:cubicBezTo>
                <a:lnTo>
                  <a:pt x="1361" y="2599"/>
                </a:lnTo>
                <a:close/>
              </a:path>
            </a:pathLst>
          </a:custGeom>
          <a:solidFill>
            <a:srgbClr val="92D05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1" name="KSO_Shape"/>
          <p:cNvSpPr>
            <a:spLocks/>
          </p:cNvSpPr>
          <p:nvPr/>
        </p:nvSpPr>
        <p:spPr bwMode="auto">
          <a:xfrm>
            <a:off x="7308304" y="3273433"/>
            <a:ext cx="1273945" cy="1293142"/>
          </a:xfrm>
          <a:custGeom>
            <a:avLst/>
            <a:gdLst>
              <a:gd name="T0" fmla="*/ 1166395 w 3845"/>
              <a:gd name="T1" fmla="*/ 911373 h 3810"/>
              <a:gd name="T2" fmla="*/ 1340582 w 3845"/>
              <a:gd name="T3" fmla="*/ 945561 h 3810"/>
              <a:gd name="T4" fmla="*/ 1800397 w 3845"/>
              <a:gd name="T5" fmla="*/ 485660 h 3810"/>
              <a:gd name="T6" fmla="*/ 1793842 w 3845"/>
              <a:gd name="T7" fmla="*/ 407917 h 3810"/>
              <a:gd name="T8" fmla="*/ 1467476 w 3845"/>
              <a:gd name="T9" fmla="*/ 757292 h 3810"/>
              <a:gd name="T10" fmla="*/ 1159371 w 3845"/>
              <a:gd name="T11" fmla="*/ 701561 h 3810"/>
              <a:gd name="T12" fmla="*/ 1053548 w 3845"/>
              <a:gd name="T13" fmla="*/ 406512 h 3810"/>
              <a:gd name="T14" fmla="*/ 1405199 w 3845"/>
              <a:gd name="T15" fmla="*/ 30442 h 3810"/>
              <a:gd name="T16" fmla="*/ 1340582 w 3845"/>
              <a:gd name="T17" fmla="*/ 25290 h 3810"/>
              <a:gd name="T18" fmla="*/ 880766 w 3845"/>
              <a:gd name="T19" fmla="*/ 485660 h 3810"/>
              <a:gd name="T20" fmla="*/ 919162 w 3845"/>
              <a:gd name="T21" fmla="*/ 669246 h 3810"/>
              <a:gd name="T22" fmla="*/ 480418 w 3845"/>
              <a:gd name="T23" fmla="*/ 1205485 h 3810"/>
              <a:gd name="T24" fmla="*/ 398475 w 3845"/>
              <a:gd name="T25" fmla="*/ 1193309 h 3810"/>
              <a:gd name="T26" fmla="*/ 114720 w 3845"/>
              <a:gd name="T27" fmla="*/ 1477586 h 3810"/>
              <a:gd name="T28" fmla="*/ 398475 w 3845"/>
              <a:gd name="T29" fmla="*/ 1761395 h 3810"/>
              <a:gd name="T30" fmla="*/ 682699 w 3845"/>
              <a:gd name="T31" fmla="*/ 1477586 h 3810"/>
              <a:gd name="T32" fmla="*/ 661628 w 3845"/>
              <a:gd name="T33" fmla="*/ 1370338 h 3810"/>
              <a:gd name="T34" fmla="*/ 1166395 w 3845"/>
              <a:gd name="T35" fmla="*/ 911373 h 3810"/>
              <a:gd name="T36" fmla="*/ 398475 w 3845"/>
              <a:gd name="T37" fmla="*/ 1628389 h 3810"/>
              <a:gd name="T38" fmla="*/ 247701 w 3845"/>
              <a:gd name="T39" fmla="*/ 1477586 h 3810"/>
              <a:gd name="T40" fmla="*/ 398475 w 3845"/>
              <a:gd name="T41" fmla="*/ 1326315 h 3810"/>
              <a:gd name="T42" fmla="*/ 549718 w 3845"/>
              <a:gd name="T43" fmla="*/ 1477586 h 3810"/>
              <a:gd name="T44" fmla="*/ 398475 w 3845"/>
              <a:gd name="T45" fmla="*/ 1628389 h 3810"/>
              <a:gd name="T46" fmla="*/ 426102 w 3845"/>
              <a:gd name="T47" fmla="*/ 554973 h 3810"/>
              <a:gd name="T48" fmla="*/ 694874 w 3845"/>
              <a:gd name="T49" fmla="*/ 830820 h 3810"/>
              <a:gd name="T50" fmla="*/ 824109 w 3845"/>
              <a:gd name="T51" fmla="*/ 701561 h 3810"/>
              <a:gd name="T52" fmla="*/ 554869 w 3845"/>
              <a:gd name="T53" fmla="*/ 425713 h 3810"/>
              <a:gd name="T54" fmla="*/ 619486 w 3845"/>
              <a:gd name="T55" fmla="*/ 361084 h 3810"/>
              <a:gd name="T56" fmla="*/ 258471 w 3845"/>
              <a:gd name="T57" fmla="*/ 0 h 3810"/>
              <a:gd name="T58" fmla="*/ 0 w 3845"/>
              <a:gd name="T59" fmla="*/ 258051 h 3810"/>
              <a:gd name="T60" fmla="*/ 361484 w 3845"/>
              <a:gd name="T61" fmla="*/ 619134 h 3810"/>
              <a:gd name="T62" fmla="*/ 426102 w 3845"/>
              <a:gd name="T63" fmla="*/ 554973 h 3810"/>
              <a:gd name="T64" fmla="*/ 889663 w 3845"/>
              <a:gd name="T65" fmla="*/ 1296342 h 3810"/>
              <a:gd name="T66" fmla="*/ 890131 w 3845"/>
              <a:gd name="T67" fmla="*/ 1296342 h 3810"/>
              <a:gd name="T68" fmla="*/ 889663 w 3845"/>
              <a:gd name="T69" fmla="*/ 1296342 h 3810"/>
              <a:gd name="T70" fmla="*/ 1263321 w 3845"/>
              <a:gd name="T71" fmla="*/ 971788 h 3810"/>
              <a:gd name="T72" fmla="*/ 890131 w 3845"/>
              <a:gd name="T73" fmla="*/ 1296342 h 3810"/>
              <a:gd name="T74" fmla="*/ 1297035 w 3845"/>
              <a:gd name="T75" fmla="*/ 1713157 h 3810"/>
              <a:gd name="T76" fmla="*/ 1555037 w 3845"/>
              <a:gd name="T77" fmla="*/ 1713157 h 3810"/>
              <a:gd name="T78" fmla="*/ 1658519 w 3845"/>
              <a:gd name="T79" fmla="*/ 1610124 h 3810"/>
              <a:gd name="T80" fmla="*/ 1658519 w 3845"/>
              <a:gd name="T81" fmla="*/ 1352073 h 3810"/>
              <a:gd name="T82" fmla="*/ 1263321 w 3845"/>
              <a:gd name="T83" fmla="*/ 971788 h 3810"/>
              <a:gd name="T84" fmla="*/ 1441254 w 3845"/>
              <a:gd name="T85" fmla="*/ 1641970 h 3810"/>
              <a:gd name="T86" fmla="*/ 1376636 w 3845"/>
              <a:gd name="T87" fmla="*/ 1641970 h 3810"/>
              <a:gd name="T88" fmla="*/ 1044652 w 3845"/>
              <a:gd name="T89" fmla="*/ 1310392 h 3810"/>
              <a:gd name="T90" fmla="*/ 1044652 w 3845"/>
              <a:gd name="T91" fmla="*/ 1245293 h 3810"/>
              <a:gd name="T92" fmla="*/ 1109738 w 3845"/>
              <a:gd name="T93" fmla="*/ 1245293 h 3810"/>
              <a:gd name="T94" fmla="*/ 1441254 w 3845"/>
              <a:gd name="T95" fmla="*/ 1577340 h 3810"/>
              <a:gd name="T96" fmla="*/ 1441254 w 3845"/>
              <a:gd name="T97" fmla="*/ 1641970 h 3810"/>
              <a:gd name="T98" fmla="*/ 1587346 w 3845"/>
              <a:gd name="T99" fmla="*/ 1495851 h 3810"/>
              <a:gd name="T100" fmla="*/ 1522260 w 3845"/>
              <a:gd name="T101" fmla="*/ 1495851 h 3810"/>
              <a:gd name="T102" fmla="*/ 1190744 w 3845"/>
              <a:gd name="T103" fmla="*/ 1164272 h 3810"/>
              <a:gd name="T104" fmla="*/ 1190744 w 3845"/>
              <a:gd name="T105" fmla="*/ 1099642 h 3810"/>
              <a:gd name="T106" fmla="*/ 1255830 w 3845"/>
              <a:gd name="T107" fmla="*/ 1099642 h 3810"/>
              <a:gd name="T108" fmla="*/ 1587346 w 3845"/>
              <a:gd name="T109" fmla="*/ 1431221 h 3810"/>
              <a:gd name="T110" fmla="*/ 1587346 w 3845"/>
              <a:gd name="T111" fmla="*/ 1495851 h 381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845" h="3810">
                <a:moveTo>
                  <a:pt x="2491" y="1946"/>
                </a:moveTo>
                <a:cubicBezTo>
                  <a:pt x="2606" y="1993"/>
                  <a:pt x="2731" y="2019"/>
                  <a:pt x="2863" y="2019"/>
                </a:cubicBezTo>
                <a:cubicBezTo>
                  <a:pt x="3405" y="2019"/>
                  <a:pt x="3845" y="1579"/>
                  <a:pt x="3845" y="1037"/>
                </a:cubicBezTo>
                <a:cubicBezTo>
                  <a:pt x="3845" y="980"/>
                  <a:pt x="3840" y="925"/>
                  <a:pt x="3831" y="871"/>
                </a:cubicBezTo>
                <a:cubicBezTo>
                  <a:pt x="3134" y="1617"/>
                  <a:pt x="3134" y="1617"/>
                  <a:pt x="3134" y="1617"/>
                </a:cubicBezTo>
                <a:cubicBezTo>
                  <a:pt x="2476" y="1498"/>
                  <a:pt x="2476" y="1498"/>
                  <a:pt x="2476" y="1498"/>
                </a:cubicBezTo>
                <a:cubicBezTo>
                  <a:pt x="2250" y="868"/>
                  <a:pt x="2250" y="868"/>
                  <a:pt x="2250" y="868"/>
                </a:cubicBezTo>
                <a:cubicBezTo>
                  <a:pt x="3001" y="65"/>
                  <a:pt x="3001" y="65"/>
                  <a:pt x="3001" y="65"/>
                </a:cubicBezTo>
                <a:cubicBezTo>
                  <a:pt x="2956" y="59"/>
                  <a:pt x="2910" y="54"/>
                  <a:pt x="2863" y="54"/>
                </a:cubicBezTo>
                <a:cubicBezTo>
                  <a:pt x="2320" y="54"/>
                  <a:pt x="1881" y="494"/>
                  <a:pt x="1881" y="1037"/>
                </a:cubicBezTo>
                <a:cubicBezTo>
                  <a:pt x="1881" y="1176"/>
                  <a:pt x="1910" y="1309"/>
                  <a:pt x="1963" y="1429"/>
                </a:cubicBezTo>
                <a:cubicBezTo>
                  <a:pt x="1659" y="1963"/>
                  <a:pt x="1205" y="2409"/>
                  <a:pt x="1026" y="2574"/>
                </a:cubicBezTo>
                <a:cubicBezTo>
                  <a:pt x="971" y="2557"/>
                  <a:pt x="912" y="2548"/>
                  <a:pt x="851" y="2548"/>
                </a:cubicBezTo>
                <a:cubicBezTo>
                  <a:pt x="516" y="2548"/>
                  <a:pt x="245" y="2820"/>
                  <a:pt x="245" y="3155"/>
                </a:cubicBezTo>
                <a:cubicBezTo>
                  <a:pt x="245" y="3490"/>
                  <a:pt x="516" y="3761"/>
                  <a:pt x="851" y="3761"/>
                </a:cubicBezTo>
                <a:cubicBezTo>
                  <a:pt x="1186" y="3761"/>
                  <a:pt x="1458" y="3490"/>
                  <a:pt x="1458" y="3155"/>
                </a:cubicBezTo>
                <a:cubicBezTo>
                  <a:pt x="1458" y="3074"/>
                  <a:pt x="1442" y="2997"/>
                  <a:pt x="1413" y="2926"/>
                </a:cubicBezTo>
                <a:cubicBezTo>
                  <a:pt x="1548" y="2747"/>
                  <a:pt x="1914" y="2308"/>
                  <a:pt x="2491" y="1946"/>
                </a:cubicBezTo>
                <a:close/>
                <a:moveTo>
                  <a:pt x="851" y="3477"/>
                </a:moveTo>
                <a:cubicBezTo>
                  <a:pt x="673" y="3477"/>
                  <a:pt x="529" y="3333"/>
                  <a:pt x="529" y="3155"/>
                </a:cubicBezTo>
                <a:cubicBezTo>
                  <a:pt x="529" y="2976"/>
                  <a:pt x="673" y="2832"/>
                  <a:pt x="851" y="2832"/>
                </a:cubicBezTo>
                <a:cubicBezTo>
                  <a:pt x="1029" y="2832"/>
                  <a:pt x="1174" y="2976"/>
                  <a:pt x="1174" y="3155"/>
                </a:cubicBezTo>
                <a:cubicBezTo>
                  <a:pt x="1174" y="3333"/>
                  <a:pt x="1029" y="3477"/>
                  <a:pt x="851" y="3477"/>
                </a:cubicBezTo>
                <a:close/>
                <a:moveTo>
                  <a:pt x="910" y="1185"/>
                </a:moveTo>
                <a:cubicBezTo>
                  <a:pt x="1484" y="1774"/>
                  <a:pt x="1484" y="1774"/>
                  <a:pt x="1484" y="1774"/>
                </a:cubicBezTo>
                <a:cubicBezTo>
                  <a:pt x="1760" y="1498"/>
                  <a:pt x="1760" y="1498"/>
                  <a:pt x="1760" y="1498"/>
                </a:cubicBezTo>
                <a:cubicBezTo>
                  <a:pt x="1185" y="909"/>
                  <a:pt x="1185" y="909"/>
                  <a:pt x="1185" y="909"/>
                </a:cubicBezTo>
                <a:cubicBezTo>
                  <a:pt x="1323" y="771"/>
                  <a:pt x="1323" y="771"/>
                  <a:pt x="1323" y="771"/>
                </a:cubicBezTo>
                <a:cubicBezTo>
                  <a:pt x="552" y="0"/>
                  <a:pt x="552" y="0"/>
                  <a:pt x="552" y="0"/>
                </a:cubicBezTo>
                <a:cubicBezTo>
                  <a:pt x="0" y="551"/>
                  <a:pt x="0" y="551"/>
                  <a:pt x="0" y="551"/>
                </a:cubicBezTo>
                <a:cubicBezTo>
                  <a:pt x="772" y="1322"/>
                  <a:pt x="772" y="1322"/>
                  <a:pt x="772" y="1322"/>
                </a:cubicBezTo>
                <a:lnTo>
                  <a:pt x="910" y="1185"/>
                </a:lnTo>
                <a:close/>
                <a:moveTo>
                  <a:pt x="1900" y="2768"/>
                </a:moveTo>
                <a:cubicBezTo>
                  <a:pt x="1900" y="2768"/>
                  <a:pt x="1901" y="2768"/>
                  <a:pt x="1901" y="2768"/>
                </a:cubicBezTo>
                <a:cubicBezTo>
                  <a:pt x="1900" y="2767"/>
                  <a:pt x="1900" y="2768"/>
                  <a:pt x="1900" y="2768"/>
                </a:cubicBezTo>
                <a:close/>
                <a:moveTo>
                  <a:pt x="2698" y="2075"/>
                </a:moveTo>
                <a:cubicBezTo>
                  <a:pt x="2698" y="2075"/>
                  <a:pt x="2225" y="2203"/>
                  <a:pt x="1901" y="2768"/>
                </a:cubicBezTo>
                <a:cubicBezTo>
                  <a:pt x="1926" y="2776"/>
                  <a:pt x="2770" y="3658"/>
                  <a:pt x="2770" y="3658"/>
                </a:cubicBezTo>
                <a:cubicBezTo>
                  <a:pt x="2923" y="3810"/>
                  <a:pt x="3169" y="3810"/>
                  <a:pt x="3321" y="3658"/>
                </a:cubicBezTo>
                <a:cubicBezTo>
                  <a:pt x="3542" y="3438"/>
                  <a:pt x="3542" y="3438"/>
                  <a:pt x="3542" y="3438"/>
                </a:cubicBezTo>
                <a:cubicBezTo>
                  <a:pt x="3694" y="3285"/>
                  <a:pt x="3694" y="3039"/>
                  <a:pt x="3542" y="2887"/>
                </a:cubicBezTo>
                <a:lnTo>
                  <a:pt x="2698" y="2075"/>
                </a:lnTo>
                <a:close/>
                <a:moveTo>
                  <a:pt x="3078" y="3506"/>
                </a:moveTo>
                <a:cubicBezTo>
                  <a:pt x="3040" y="3544"/>
                  <a:pt x="2978" y="3544"/>
                  <a:pt x="2940" y="3506"/>
                </a:cubicBezTo>
                <a:cubicBezTo>
                  <a:pt x="2231" y="2798"/>
                  <a:pt x="2231" y="2798"/>
                  <a:pt x="2231" y="2798"/>
                </a:cubicBezTo>
                <a:cubicBezTo>
                  <a:pt x="2193" y="2760"/>
                  <a:pt x="2193" y="2698"/>
                  <a:pt x="2231" y="2659"/>
                </a:cubicBezTo>
                <a:cubicBezTo>
                  <a:pt x="2270" y="2621"/>
                  <a:pt x="2332" y="2621"/>
                  <a:pt x="2370" y="2659"/>
                </a:cubicBezTo>
                <a:cubicBezTo>
                  <a:pt x="3078" y="3368"/>
                  <a:pt x="3078" y="3368"/>
                  <a:pt x="3078" y="3368"/>
                </a:cubicBezTo>
                <a:cubicBezTo>
                  <a:pt x="3116" y="3406"/>
                  <a:pt x="3116" y="3468"/>
                  <a:pt x="3078" y="3506"/>
                </a:cubicBezTo>
                <a:close/>
                <a:moveTo>
                  <a:pt x="3390" y="3194"/>
                </a:moveTo>
                <a:cubicBezTo>
                  <a:pt x="3352" y="3233"/>
                  <a:pt x="3290" y="3233"/>
                  <a:pt x="3251" y="3194"/>
                </a:cubicBezTo>
                <a:cubicBezTo>
                  <a:pt x="2543" y="2486"/>
                  <a:pt x="2543" y="2486"/>
                  <a:pt x="2543" y="2486"/>
                </a:cubicBezTo>
                <a:cubicBezTo>
                  <a:pt x="2505" y="2448"/>
                  <a:pt x="2505" y="2386"/>
                  <a:pt x="2543" y="2348"/>
                </a:cubicBezTo>
                <a:cubicBezTo>
                  <a:pt x="2581" y="2309"/>
                  <a:pt x="2643" y="2309"/>
                  <a:pt x="2682" y="2348"/>
                </a:cubicBezTo>
                <a:cubicBezTo>
                  <a:pt x="3390" y="3056"/>
                  <a:pt x="3390" y="3056"/>
                  <a:pt x="3390" y="3056"/>
                </a:cubicBezTo>
                <a:cubicBezTo>
                  <a:pt x="3428" y="3094"/>
                  <a:pt x="3428" y="3156"/>
                  <a:pt x="3390" y="3194"/>
                </a:cubicBez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3" name="TextBox 12"/>
          <p:cNvSpPr txBox="1"/>
          <p:nvPr/>
        </p:nvSpPr>
        <p:spPr>
          <a:xfrm>
            <a:off x="378459" y="2348880"/>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smtClean="0">
                <a:solidFill>
                  <a:schemeClr val="tx1"/>
                </a:solidFill>
                <a:latin typeface="华文中宋" panose="02010600040101010101" pitchFamily="2" charset="-122"/>
                <a:ea typeface="华文中宋" panose="02010600040101010101" pitchFamily="2" charset="-122"/>
              </a:rPr>
              <a:t>汽车出行类</a:t>
            </a: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a:t>
            </a:r>
            <a:r>
              <a:rPr lang="en-US" altLang="zh-CN" b="1" dirty="0" smtClean="0">
                <a:solidFill>
                  <a:schemeClr val="tx1"/>
                </a:solidFill>
                <a:latin typeface="华文中宋" panose="02010600040101010101" pitchFamily="2" charset="-122"/>
                <a:ea typeface="华文中宋" panose="02010600040101010101" pitchFamily="2" charset="-122"/>
              </a:rPr>
              <a:t>2016</a:t>
            </a:r>
            <a:r>
              <a:rPr lang="zh-CN" altLang="en-US" b="1" dirty="0" smtClean="0">
                <a:solidFill>
                  <a:schemeClr val="tx1"/>
                </a:solidFill>
                <a:latin typeface="华文中宋" panose="02010600040101010101" pitchFamily="2" charset="-122"/>
                <a:ea typeface="华文中宋" panose="02010600040101010101" pitchFamily="2" charset="-122"/>
              </a:rPr>
              <a:t>年</a:t>
            </a:r>
            <a:r>
              <a:rPr lang="en-US" altLang="zh-CN" b="1" dirty="0" smtClean="0">
                <a:solidFill>
                  <a:schemeClr val="tx1"/>
                </a:solidFill>
                <a:latin typeface="华文中宋" panose="02010600040101010101" pitchFamily="2" charset="-122"/>
                <a:ea typeface="华文中宋" panose="02010600040101010101" pitchFamily="2" charset="-122"/>
              </a:rPr>
              <a:t>1-4</a:t>
            </a:r>
            <a:r>
              <a:rPr lang="zh-CN" altLang="en-US" b="1" dirty="0">
                <a:solidFill>
                  <a:schemeClr val="tx1"/>
                </a:solidFill>
                <a:latin typeface="华文中宋" panose="02010600040101010101" pitchFamily="2" charset="-122"/>
                <a:ea typeface="华文中宋" panose="02010600040101010101" pitchFamily="2" charset="-122"/>
              </a:rPr>
              <a:t>月同期广告花费</a:t>
            </a:r>
            <a:r>
              <a:rPr lang="zh-CN" altLang="en-US" b="1" dirty="0" smtClean="0">
                <a:solidFill>
                  <a:schemeClr val="tx1"/>
                </a:solidFill>
                <a:latin typeface="华文中宋" panose="02010600040101010101" pitchFamily="2" charset="-122"/>
                <a:ea typeface="华文中宋" panose="02010600040101010101" pitchFamily="2" charset="-122"/>
              </a:rPr>
              <a:t>增幅</a:t>
            </a:r>
            <a:endParaRPr lang="zh-CN" altLang="en-US" sz="1400" b="1" dirty="0">
              <a:solidFill>
                <a:schemeClr val="tx1"/>
              </a:solidFill>
              <a:latin typeface="华文中宋" panose="02010600040101010101" pitchFamily="2" charset="-122"/>
              <a:ea typeface="华文中宋" panose="02010600040101010101" pitchFamily="2" charset="-122"/>
            </a:endParaRPr>
          </a:p>
        </p:txBody>
      </p:sp>
      <p:sp>
        <p:nvSpPr>
          <p:cNvPr id="14" name="MH_Text_2"/>
          <p:cNvSpPr txBox="1">
            <a:spLocks noChangeArrowheads="1"/>
          </p:cNvSpPr>
          <p:nvPr>
            <p:custDataLst>
              <p:tags r:id="rId1"/>
            </p:custDataLst>
          </p:nvPr>
        </p:nvSpPr>
        <p:spPr bwMode="auto">
          <a:xfrm>
            <a:off x="694656" y="5784748"/>
            <a:ext cx="1080145" cy="236540"/>
          </a:xfrm>
          <a:prstGeom prst="rect">
            <a:avLst/>
          </a:prstGeom>
          <a:solidFill>
            <a:srgbClr val="FF00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a:solidFill>
                  <a:schemeClr val="bg1"/>
                </a:solidFill>
                <a:latin typeface="华文中宋" panose="02010600040101010101" pitchFamily="2" charset="-122"/>
                <a:ea typeface="华文中宋" panose="02010600040101010101" pitchFamily="2" charset="-122"/>
              </a:rPr>
              <a:t>汽车交易</a:t>
            </a:r>
            <a:r>
              <a:rPr lang="en-US" altLang="zh-CN" sz="1400" b="1" dirty="0" smtClean="0">
                <a:solidFill>
                  <a:schemeClr val="bg1"/>
                </a:solidFill>
                <a:latin typeface="华文中宋" panose="02010600040101010101" pitchFamily="2" charset="-122"/>
                <a:ea typeface="华文中宋" panose="02010600040101010101" pitchFamily="2" charset="-122"/>
              </a:rPr>
              <a:t> </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5" name="MH_Text_2"/>
          <p:cNvSpPr txBox="1">
            <a:spLocks noChangeArrowheads="1"/>
          </p:cNvSpPr>
          <p:nvPr>
            <p:custDataLst>
              <p:tags r:id="rId2"/>
            </p:custDataLst>
          </p:nvPr>
        </p:nvSpPr>
        <p:spPr bwMode="auto">
          <a:xfrm>
            <a:off x="3059832" y="5775231"/>
            <a:ext cx="1224161" cy="236540"/>
          </a:xfrm>
          <a:prstGeom prst="rect">
            <a:avLst/>
          </a:prstGeom>
          <a:solidFill>
            <a:srgbClr val="00B0F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出行软件</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8" name="MH_Text_2"/>
          <p:cNvSpPr txBox="1">
            <a:spLocks noChangeArrowheads="1"/>
          </p:cNvSpPr>
          <p:nvPr>
            <p:custDataLst>
              <p:tags r:id="rId3"/>
            </p:custDataLst>
          </p:nvPr>
        </p:nvSpPr>
        <p:spPr bwMode="auto">
          <a:xfrm>
            <a:off x="7349282" y="5757720"/>
            <a:ext cx="1224161" cy="236540"/>
          </a:xfrm>
          <a:prstGeom prst="rect">
            <a:avLst/>
          </a:prstGeom>
          <a:solidFill>
            <a:srgbClr val="FFC0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汽车保养</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9" name="MH_Text_2"/>
          <p:cNvSpPr txBox="1">
            <a:spLocks noChangeArrowheads="1"/>
          </p:cNvSpPr>
          <p:nvPr>
            <p:custDataLst>
              <p:tags r:id="rId4"/>
            </p:custDataLst>
          </p:nvPr>
        </p:nvSpPr>
        <p:spPr bwMode="auto">
          <a:xfrm>
            <a:off x="5273725" y="5768716"/>
            <a:ext cx="1224161" cy="236540"/>
          </a:xfrm>
          <a:prstGeom prst="rect">
            <a:avLst/>
          </a:prstGeom>
          <a:solidFill>
            <a:srgbClr val="92D05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a:solidFill>
                  <a:schemeClr val="bg1"/>
                </a:solidFill>
                <a:latin typeface="华文中宋" panose="02010600040101010101" pitchFamily="2" charset="-122"/>
                <a:ea typeface="华文中宋" panose="02010600040101010101" pitchFamily="2" charset="-122"/>
              </a:rPr>
              <a:t>导航软件</a:t>
            </a:r>
          </a:p>
        </p:txBody>
      </p:sp>
      <p:sp>
        <p:nvSpPr>
          <p:cNvPr id="20" name="MH_Text_2"/>
          <p:cNvSpPr txBox="1">
            <a:spLocks noChangeArrowheads="1"/>
          </p:cNvSpPr>
          <p:nvPr>
            <p:custDataLst>
              <p:tags r:id="rId5"/>
            </p:custDataLst>
          </p:nvPr>
        </p:nvSpPr>
        <p:spPr bwMode="auto">
          <a:xfrm>
            <a:off x="539552" y="4941168"/>
            <a:ext cx="842493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mn-lt"/>
                <a:ea typeface="华文中宋" panose="02010600040101010101" pitchFamily="2" charset="-122"/>
              </a:rPr>
              <a:t>     </a:t>
            </a:r>
            <a:r>
              <a:rPr lang="en-US" altLang="zh-CN" sz="2000" b="1" dirty="0" smtClean="0">
                <a:solidFill>
                  <a:schemeClr val="bg1"/>
                </a:solidFill>
                <a:latin typeface="Vrinda"/>
                <a:ea typeface="华文中宋" panose="02010600040101010101" pitchFamily="2" charset="-122"/>
                <a:cs typeface="Vrinda"/>
              </a:rPr>
              <a:t>&gt;</a:t>
            </a:r>
            <a:r>
              <a:rPr lang="en-US" altLang="zh-CN" sz="2000" b="1" dirty="0" smtClean="0">
                <a:solidFill>
                  <a:schemeClr val="bg1"/>
                </a:solidFill>
                <a:latin typeface="+mn-lt"/>
                <a:ea typeface="华文中宋" panose="02010600040101010101" pitchFamily="2" charset="-122"/>
              </a:rPr>
              <a:t>1000%                             58.3%                           -48.4%                          54.9%</a:t>
            </a:r>
            <a:endParaRPr lang="zh-CN" altLang="en-US" sz="2000" b="1" dirty="0">
              <a:solidFill>
                <a:schemeClr val="bg1"/>
              </a:solidFill>
              <a:latin typeface="+mn-lt"/>
              <a:ea typeface="华文中宋" panose="02010600040101010101" pitchFamily="2" charset="-122"/>
            </a:endParaRPr>
          </a:p>
        </p:txBody>
      </p:sp>
      <p:sp>
        <p:nvSpPr>
          <p:cNvPr id="21" name="TextBox 20"/>
          <p:cNvSpPr txBox="1"/>
          <p:nvPr/>
        </p:nvSpPr>
        <p:spPr>
          <a:xfrm>
            <a:off x="136782" y="776898"/>
            <a:ext cx="8827705" cy="1323439"/>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smtClean="0">
                <a:solidFill>
                  <a:schemeClr val="bg1"/>
                </a:solidFill>
                <a:latin typeface="华文中宋" panose="02010600040101010101" pitchFamily="2" charset="-122"/>
                <a:ea typeface="华文中宋" panose="02010600040101010101" pitchFamily="2" charset="-122"/>
              </a:rPr>
              <a:t>2016</a:t>
            </a:r>
            <a:r>
              <a:rPr lang="zh-CN" altLang="en-US" sz="2000" b="1" dirty="0" smtClean="0">
                <a:solidFill>
                  <a:schemeClr val="bg1"/>
                </a:solidFill>
                <a:latin typeface="华文中宋" panose="02010600040101010101" pitchFamily="2" charset="-122"/>
                <a:ea typeface="华文中宋" panose="02010600040101010101" pitchFamily="2" charset="-122"/>
              </a:rPr>
              <a:t>年</a:t>
            </a:r>
            <a:r>
              <a:rPr lang="en-US" altLang="zh-CN" sz="2000" b="1" dirty="0" smtClean="0">
                <a:solidFill>
                  <a:schemeClr val="bg1"/>
                </a:solidFill>
                <a:latin typeface="华文中宋" panose="02010600040101010101" pitchFamily="2" charset="-122"/>
                <a:ea typeface="华文中宋" panose="02010600040101010101" pitchFamily="2" charset="-122"/>
              </a:rPr>
              <a:t>1-4</a:t>
            </a:r>
            <a:r>
              <a:rPr lang="zh-CN" altLang="en-US" sz="2000" b="1" dirty="0" smtClean="0">
                <a:solidFill>
                  <a:schemeClr val="bg1"/>
                </a:solidFill>
                <a:latin typeface="华文中宋" panose="02010600040101010101" pitchFamily="2" charset="-122"/>
                <a:ea typeface="华文中宋" panose="02010600040101010101" pitchFamily="2" charset="-122"/>
              </a:rPr>
              <a:t>月汽车出行类互联网企业广告花费同比</a:t>
            </a:r>
            <a:r>
              <a:rPr lang="zh-CN" altLang="en-US" sz="2000" b="1" dirty="0" smtClean="0">
                <a:solidFill>
                  <a:srgbClr val="FF0000"/>
                </a:solidFill>
                <a:latin typeface="华文中宋" panose="02010600040101010101" pitchFamily="2" charset="-122"/>
                <a:ea typeface="华文中宋" panose="02010600040101010101" pitchFamily="2" charset="-122"/>
              </a:rPr>
              <a:t>增长</a:t>
            </a:r>
            <a:r>
              <a:rPr lang="en-US" altLang="zh-CN" sz="2000" b="1" dirty="0" smtClean="0">
                <a:solidFill>
                  <a:srgbClr val="FF0000"/>
                </a:solidFill>
                <a:latin typeface="华文中宋" panose="02010600040101010101" pitchFamily="2" charset="-122"/>
                <a:ea typeface="华文中宋" panose="02010600040101010101" pitchFamily="2" charset="-122"/>
              </a:rPr>
              <a:t>443.2%</a:t>
            </a:r>
            <a:r>
              <a:rPr lang="zh-CN" altLang="en-US" sz="2000" b="1" dirty="0" smtClean="0">
                <a:solidFill>
                  <a:schemeClr val="bg1"/>
                </a:solidFill>
                <a:latin typeface="华文中宋" panose="02010600040101010101" pitchFamily="2" charset="-122"/>
                <a:ea typeface="华文中宋" panose="02010600040101010101" pitchFamily="2" charset="-122"/>
              </a:rPr>
              <a:t>。</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342900" indent="-342900">
              <a:buFont typeface="Arial" panose="020B0604020202020204" pitchFamily="34" charset="0"/>
              <a:buChar char="•"/>
            </a:pPr>
            <a:r>
              <a:rPr lang="zh-CN" altLang="en-US" sz="2000" b="1" dirty="0" smtClean="0">
                <a:solidFill>
                  <a:schemeClr val="bg1"/>
                </a:solidFill>
                <a:latin typeface="华文中宋" panose="02010600040101010101" pitchFamily="2" charset="-122"/>
                <a:ea typeface="华文中宋" panose="02010600040101010101" pitchFamily="2" charset="-122"/>
              </a:rPr>
              <a:t>汽车交易类企业的广告花费最多并且同比增长较大，出行软件如滴滴、优步等广告花费同比</a:t>
            </a:r>
            <a:r>
              <a:rPr lang="zh-CN" altLang="en-US" sz="2000" b="1" dirty="0" smtClean="0">
                <a:solidFill>
                  <a:srgbClr val="FF0000"/>
                </a:solidFill>
                <a:latin typeface="华文中宋" panose="02010600040101010101" pitchFamily="2" charset="-122"/>
                <a:ea typeface="华文中宋" panose="02010600040101010101" pitchFamily="2" charset="-122"/>
              </a:rPr>
              <a:t>增长</a:t>
            </a:r>
            <a:r>
              <a:rPr lang="en-US" altLang="zh-CN" sz="2000" b="1" dirty="0" smtClean="0">
                <a:solidFill>
                  <a:srgbClr val="FF0000"/>
                </a:solidFill>
                <a:latin typeface="华文中宋" panose="02010600040101010101" pitchFamily="2" charset="-122"/>
                <a:ea typeface="华文中宋" panose="02010600040101010101" pitchFamily="2" charset="-122"/>
              </a:rPr>
              <a:t>58.3%</a:t>
            </a:r>
            <a:r>
              <a:rPr lang="zh-CN" altLang="en-US" sz="2000" b="1" dirty="0" smtClean="0">
                <a:solidFill>
                  <a:schemeClr val="bg1"/>
                </a:solidFill>
                <a:latin typeface="华文中宋" panose="02010600040101010101" pitchFamily="2" charset="-122"/>
                <a:ea typeface="华文中宋" panose="02010600040101010101" pitchFamily="2" charset="-122"/>
              </a:rPr>
              <a:t>。</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342900" indent="-342900">
              <a:buFont typeface="Arial" panose="020B0604020202020204" pitchFamily="34" charset="0"/>
              <a:buChar char="•"/>
            </a:pPr>
            <a:r>
              <a:rPr lang="zh-CN" altLang="en-US" sz="2000" b="1" dirty="0" smtClean="0">
                <a:solidFill>
                  <a:schemeClr val="bg1"/>
                </a:solidFill>
                <a:latin typeface="华文中宋" panose="02010600040101010101" pitchFamily="2" charset="-122"/>
                <a:ea typeface="华文中宋" panose="02010600040101010101" pitchFamily="2" charset="-122"/>
              </a:rPr>
              <a:t>冲进前</a:t>
            </a:r>
            <a:r>
              <a:rPr lang="en-US" altLang="zh-CN" sz="2000" b="1" dirty="0" smtClean="0">
                <a:solidFill>
                  <a:schemeClr val="bg1"/>
                </a:solidFill>
                <a:latin typeface="华文中宋" panose="02010600040101010101" pitchFamily="2" charset="-122"/>
                <a:ea typeface="华文中宋" panose="02010600040101010101" pitchFamily="2" charset="-122"/>
              </a:rPr>
              <a:t>200</a:t>
            </a:r>
            <a:r>
              <a:rPr lang="zh-CN" altLang="en-US" sz="2000" b="1" dirty="0" smtClean="0">
                <a:solidFill>
                  <a:schemeClr val="bg1"/>
                </a:solidFill>
                <a:latin typeface="华文中宋" panose="02010600040101010101" pitchFamily="2" charset="-122"/>
                <a:ea typeface="华文中宋" panose="02010600040101010101" pitchFamily="2" charset="-122"/>
              </a:rPr>
              <a:t>的导航软件只有百度地图，并且其广告花费同比减少近五成。</a:t>
            </a:r>
            <a:endParaRPr lang="en-US" altLang="zh-CN" sz="2000" b="1" dirty="0" smtClean="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058886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4" name="TextBox 3"/>
          <p:cNvSpPr txBox="1"/>
          <p:nvPr/>
        </p:nvSpPr>
        <p:spPr>
          <a:xfrm>
            <a:off x="299372" y="2123564"/>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汽车出行</a:t>
            </a:r>
            <a:r>
              <a:rPr lang="zh-CN" altLang="en-US" b="1" dirty="0" smtClean="0">
                <a:solidFill>
                  <a:schemeClr val="tx1"/>
                </a:solidFill>
                <a:latin typeface="华文中宋" panose="02010600040101010101" pitchFamily="2" charset="-122"/>
                <a:ea typeface="华文中宋" panose="02010600040101010101" pitchFamily="2" charset="-122"/>
              </a:rPr>
              <a:t>类互联网</a:t>
            </a:r>
            <a:r>
              <a:rPr lang="zh-CN" altLang="en-US" b="1" dirty="0">
                <a:solidFill>
                  <a:schemeClr val="tx1"/>
                </a:solidFill>
                <a:latin typeface="华文中宋" panose="02010600040101010101" pitchFamily="2" charset="-122"/>
                <a:ea typeface="华文中宋" panose="02010600040101010101" pitchFamily="2" charset="-122"/>
              </a:rPr>
              <a:t>企业</a:t>
            </a:r>
            <a:r>
              <a:rPr lang="zh-CN" altLang="en-US" b="1" dirty="0" smtClean="0">
                <a:solidFill>
                  <a:schemeClr val="tx1"/>
                </a:solidFill>
                <a:latin typeface="华文中宋" panose="02010600040101010101" pitchFamily="2" charset="-122"/>
                <a:ea typeface="华文中宋" panose="02010600040101010101" pitchFamily="2" charset="-122"/>
              </a:rPr>
              <a:t>广告分月花费同比增幅</a:t>
            </a:r>
            <a:endParaRPr lang="zh-CN" altLang="en-US" sz="1400" b="1" dirty="0">
              <a:solidFill>
                <a:schemeClr val="tx1"/>
              </a:solidFill>
              <a:latin typeface="华文中宋" panose="02010600040101010101" pitchFamily="2" charset="-122"/>
              <a:ea typeface="华文中宋" panose="02010600040101010101" pitchFamily="2" charset="-122"/>
            </a:endParaRPr>
          </a:p>
        </p:txBody>
      </p:sp>
      <p:sp>
        <p:nvSpPr>
          <p:cNvPr id="17" name="标题 1"/>
          <p:cNvSpPr txBox="1"/>
          <p:nvPr/>
        </p:nvSpPr>
        <p:spPr>
          <a:xfrm>
            <a:off x="251521" y="163359"/>
            <a:ext cx="6552728" cy="60134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smtClean="0">
                <a:ln>
                  <a:noFill/>
                </a:ln>
                <a:solidFill>
                  <a:srgbClr val="FFC000"/>
                </a:solidFill>
                <a:effectLst/>
                <a:uLnTx/>
                <a:uFillTx/>
                <a:latin typeface="Arial Black"/>
                <a:ea typeface="微软雅黑"/>
                <a:cs typeface="+mj-cs"/>
              </a:rPr>
              <a:t>广告花费</a:t>
            </a:r>
            <a:endParaRPr kumimoji="0" lang="zh-CN" altLang="en-US" sz="2800" b="1" i="0" u="none" strike="noStrike" kern="1200" cap="none" spc="0" normalizeH="0" baseline="0" noProof="0" dirty="0">
              <a:ln>
                <a:noFill/>
              </a:ln>
              <a:solidFill>
                <a:srgbClr val="FFC000"/>
              </a:solidFill>
              <a:effectLst/>
              <a:uLnTx/>
              <a:uFillTx/>
              <a:latin typeface="Arial Black"/>
              <a:ea typeface="微软雅黑"/>
              <a:cs typeface="+mj-cs"/>
            </a:endParaRPr>
          </a:p>
        </p:txBody>
      </p:sp>
      <p:graphicFrame>
        <p:nvGraphicFramePr>
          <p:cNvPr id="5" name="图表 4"/>
          <p:cNvGraphicFramePr/>
          <p:nvPr>
            <p:extLst>
              <p:ext uri="{D42A27DB-BD31-4B8C-83A1-F6EECF244321}">
                <p14:modId xmlns:p14="http://schemas.microsoft.com/office/powerpoint/2010/main" val="1908957472"/>
              </p:ext>
            </p:extLst>
          </p:nvPr>
        </p:nvGraphicFramePr>
        <p:xfrm>
          <a:off x="299371" y="2492896"/>
          <a:ext cx="8419813" cy="3816424"/>
        </p:xfrm>
        <a:graphic>
          <a:graphicData uri="http://schemas.openxmlformats.org/drawingml/2006/chart">
            <c:chart xmlns:c="http://schemas.openxmlformats.org/drawingml/2006/chart" xmlns:r="http://schemas.openxmlformats.org/officeDocument/2006/relationships" r:id="rId4"/>
          </a:graphicData>
        </a:graphic>
      </p:graphicFrame>
      <p:sp>
        <p:nvSpPr>
          <p:cNvPr id="12" name="矩形 11"/>
          <p:cNvSpPr/>
          <p:nvPr/>
        </p:nvSpPr>
        <p:spPr>
          <a:xfrm>
            <a:off x="2388527" y="6554331"/>
            <a:ext cx="6647974" cy="259045"/>
          </a:xfrm>
          <a:prstGeom prst="rect">
            <a:avLst/>
          </a:prstGeom>
        </p:spPr>
        <p:txBody>
          <a:bodyPr wrap="none">
            <a:spAutoFit/>
          </a:bodyPr>
          <a:lstStyle/>
          <a:p>
            <a:pPr algn="r" latinLnBrk="1">
              <a:lnSpc>
                <a:spcPts val="1300"/>
              </a:lnSpc>
            </a:pPr>
            <a:r>
              <a:rPr lang="zh-CN" altLang="zh-CN" sz="1100" kern="100" dirty="0">
                <a:solidFill>
                  <a:srgbClr val="FFFFFF"/>
                </a:solidFill>
                <a:latin typeface="华文中宋" panose="02010600040101010101" pitchFamily="2" charset="-122"/>
                <a:ea typeface="华文中宋" panose="02010600040101010101" pitchFamily="2" charset="-122"/>
              </a:rPr>
              <a:t>数据来源：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2" name="TextBox 1"/>
          <p:cNvSpPr txBox="1"/>
          <p:nvPr/>
        </p:nvSpPr>
        <p:spPr>
          <a:xfrm>
            <a:off x="136782" y="625912"/>
            <a:ext cx="8827705"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solidFill>
                  <a:srgbClr val="FF0000"/>
                </a:solidFill>
                <a:latin typeface="华文中宋" panose="02010600040101010101" pitchFamily="2" charset="-122"/>
                <a:ea typeface="华文中宋" panose="02010600040101010101" pitchFamily="2" charset="-122"/>
              </a:rPr>
              <a:t>汽车交易类</a:t>
            </a:r>
            <a:r>
              <a:rPr lang="zh-CN" altLang="en-US" sz="2000" b="1" dirty="0" smtClean="0">
                <a:solidFill>
                  <a:schemeClr val="bg1"/>
                </a:solidFill>
                <a:latin typeface="华文中宋" panose="02010600040101010101" pitchFamily="2" charset="-122"/>
                <a:ea typeface="华文中宋" panose="02010600040101010101" pitchFamily="2" charset="-122"/>
              </a:rPr>
              <a:t>互联网企业每个月的广告花费同比均呈现</a:t>
            </a:r>
            <a:r>
              <a:rPr lang="zh-CN" altLang="en-US" sz="2000" b="1" dirty="0" smtClean="0">
                <a:solidFill>
                  <a:srgbClr val="FF0000"/>
                </a:solidFill>
                <a:latin typeface="华文中宋" panose="02010600040101010101" pitchFamily="2" charset="-122"/>
                <a:ea typeface="华文中宋" panose="02010600040101010101" pitchFamily="2" charset="-122"/>
              </a:rPr>
              <a:t>较大的增长</a:t>
            </a:r>
            <a:r>
              <a:rPr lang="zh-CN" altLang="en-US" sz="2000" b="1" dirty="0" smtClean="0">
                <a:solidFill>
                  <a:schemeClr val="bg1"/>
                </a:solidFill>
                <a:latin typeface="华文中宋" panose="02010600040101010101" pitchFamily="2" charset="-122"/>
                <a:ea typeface="华文中宋" panose="02010600040101010101" pitchFamily="2" charset="-122"/>
              </a:rPr>
              <a:t>。</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342900" indent="-342900">
              <a:lnSpc>
                <a:spcPct val="150000"/>
              </a:lnSpc>
              <a:buFont typeface="Arial" panose="020B0604020202020204" pitchFamily="34" charset="0"/>
              <a:buChar char="•"/>
            </a:pPr>
            <a:r>
              <a:rPr lang="zh-CN" altLang="en-US" sz="2000" b="1" dirty="0" smtClean="0">
                <a:solidFill>
                  <a:schemeClr val="bg1"/>
                </a:solidFill>
                <a:latin typeface="华文中宋" panose="02010600040101010101" pitchFamily="2" charset="-122"/>
                <a:ea typeface="华文中宋" panose="02010600040101010101" pitchFamily="2" charset="-122"/>
              </a:rPr>
              <a:t>出行软件中，</a:t>
            </a:r>
            <a:r>
              <a:rPr lang="zh-CN" altLang="en-US" sz="2000" b="1" dirty="0" smtClean="0">
                <a:solidFill>
                  <a:srgbClr val="FF0000"/>
                </a:solidFill>
                <a:latin typeface="华文中宋" panose="02010600040101010101" pitchFamily="2" charset="-122"/>
                <a:ea typeface="华文中宋" panose="02010600040101010101" pitchFamily="2" charset="-122"/>
              </a:rPr>
              <a:t>易到用车</a:t>
            </a:r>
            <a:r>
              <a:rPr lang="zh-CN" altLang="en-US" sz="2000" b="1" dirty="0" smtClean="0">
                <a:solidFill>
                  <a:schemeClr val="bg1"/>
                </a:solidFill>
                <a:latin typeface="华文中宋" panose="02010600040101010101" pitchFamily="2" charset="-122"/>
                <a:ea typeface="华文中宋" panose="02010600040101010101" pitchFamily="2" charset="-122"/>
              </a:rPr>
              <a:t>在</a:t>
            </a:r>
            <a:r>
              <a:rPr lang="en-US" altLang="zh-CN" sz="2000" b="1" dirty="0" smtClean="0">
                <a:solidFill>
                  <a:schemeClr val="bg1"/>
                </a:solidFill>
                <a:latin typeface="华文中宋" panose="02010600040101010101" pitchFamily="2" charset="-122"/>
                <a:ea typeface="华文中宋" panose="02010600040101010101" pitchFamily="2" charset="-122"/>
              </a:rPr>
              <a:t>1</a:t>
            </a:r>
            <a:r>
              <a:rPr lang="zh-CN" altLang="en-US" sz="2000" b="1" dirty="0" smtClean="0">
                <a:solidFill>
                  <a:schemeClr val="bg1"/>
                </a:solidFill>
                <a:latin typeface="华文中宋" panose="02010600040101010101" pitchFamily="2" charset="-122"/>
                <a:ea typeface="华文中宋" panose="02010600040101010101" pitchFamily="2" charset="-122"/>
              </a:rPr>
              <a:t>、</a:t>
            </a:r>
            <a:r>
              <a:rPr lang="en-US" altLang="zh-CN" sz="2000" b="1" dirty="0" smtClean="0">
                <a:solidFill>
                  <a:schemeClr val="bg1"/>
                </a:solidFill>
                <a:latin typeface="华文中宋" panose="02010600040101010101" pitchFamily="2" charset="-122"/>
                <a:ea typeface="华文中宋" panose="02010600040101010101" pitchFamily="2" charset="-122"/>
              </a:rPr>
              <a:t>2</a:t>
            </a:r>
            <a:r>
              <a:rPr lang="zh-CN" altLang="en-US" sz="2000" b="1" dirty="0" smtClean="0">
                <a:solidFill>
                  <a:schemeClr val="bg1"/>
                </a:solidFill>
                <a:latin typeface="华文中宋" panose="02010600040101010101" pitchFamily="2" charset="-122"/>
                <a:ea typeface="华文中宋" panose="02010600040101010101" pitchFamily="2" charset="-122"/>
              </a:rPr>
              <a:t>月份的广告投放较多，</a:t>
            </a:r>
            <a:r>
              <a:rPr lang="zh-CN" altLang="en-US" sz="2000" b="1" dirty="0" smtClean="0">
                <a:solidFill>
                  <a:srgbClr val="FF0000"/>
                </a:solidFill>
                <a:latin typeface="华文中宋" panose="02010600040101010101" pitchFamily="2" charset="-122"/>
                <a:ea typeface="华文中宋" panose="02010600040101010101" pitchFamily="2" charset="-122"/>
              </a:rPr>
              <a:t>拉高</a:t>
            </a:r>
            <a:r>
              <a:rPr lang="zh-CN" altLang="en-US" sz="2000" b="1" dirty="0" smtClean="0">
                <a:solidFill>
                  <a:schemeClr val="bg1"/>
                </a:solidFill>
                <a:latin typeface="华文中宋" panose="02010600040101010101" pitchFamily="2" charset="-122"/>
                <a:ea typeface="华文中宋" panose="02010600040101010101" pitchFamily="2" charset="-122"/>
              </a:rPr>
              <a:t>出行软件在</a:t>
            </a:r>
            <a:r>
              <a:rPr lang="en-US" altLang="zh-CN" sz="2000" b="1" dirty="0" smtClean="0">
                <a:solidFill>
                  <a:schemeClr val="bg1"/>
                </a:solidFill>
                <a:latin typeface="华文中宋" panose="02010600040101010101" pitchFamily="2" charset="-122"/>
                <a:ea typeface="华文中宋" panose="02010600040101010101" pitchFamily="2" charset="-122"/>
              </a:rPr>
              <a:t>1</a:t>
            </a:r>
            <a:r>
              <a:rPr lang="zh-CN" altLang="en-US" sz="2000" b="1" dirty="0" smtClean="0">
                <a:solidFill>
                  <a:schemeClr val="bg1"/>
                </a:solidFill>
                <a:latin typeface="华文中宋" panose="02010600040101010101" pitchFamily="2" charset="-122"/>
                <a:ea typeface="华文中宋" panose="02010600040101010101" pitchFamily="2" charset="-122"/>
              </a:rPr>
              <a:t>、</a:t>
            </a:r>
            <a:r>
              <a:rPr lang="en-US" altLang="zh-CN" sz="2000" b="1" dirty="0" smtClean="0">
                <a:solidFill>
                  <a:schemeClr val="bg1"/>
                </a:solidFill>
                <a:latin typeface="华文中宋" panose="02010600040101010101" pitchFamily="2" charset="-122"/>
                <a:ea typeface="华文中宋" panose="02010600040101010101" pitchFamily="2" charset="-122"/>
              </a:rPr>
              <a:t>2</a:t>
            </a:r>
            <a:r>
              <a:rPr lang="zh-CN" altLang="en-US" sz="2000" b="1" dirty="0" smtClean="0">
                <a:solidFill>
                  <a:schemeClr val="bg1"/>
                </a:solidFill>
                <a:latin typeface="华文中宋" panose="02010600040101010101" pitchFamily="2" charset="-122"/>
                <a:ea typeface="华文中宋" panose="02010600040101010101" pitchFamily="2" charset="-122"/>
              </a:rPr>
              <a:t>月份的广告</a:t>
            </a:r>
            <a:r>
              <a:rPr lang="zh-CN" altLang="en-US" sz="2000" b="1" dirty="0" smtClean="0">
                <a:solidFill>
                  <a:srgbClr val="FF0000"/>
                </a:solidFill>
                <a:latin typeface="华文中宋" panose="02010600040101010101" pitchFamily="2" charset="-122"/>
                <a:ea typeface="华文中宋" panose="02010600040101010101" pitchFamily="2" charset="-122"/>
              </a:rPr>
              <a:t>花费增幅</a:t>
            </a:r>
            <a:r>
              <a:rPr lang="zh-CN" altLang="en-US" sz="2000" b="1" dirty="0" smtClean="0">
                <a:solidFill>
                  <a:schemeClr val="bg1"/>
                </a:solidFill>
                <a:latin typeface="华文中宋" panose="02010600040101010101" pitchFamily="2" charset="-122"/>
                <a:ea typeface="华文中宋" panose="02010600040101010101" pitchFamily="2" charset="-122"/>
              </a:rPr>
              <a:t>。</a:t>
            </a:r>
            <a:endParaRPr lang="en-US" altLang="zh-CN" sz="2000" b="1" dirty="0" smtClean="0">
              <a:solidFill>
                <a:schemeClr val="bg1"/>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79512" y="188640"/>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1B015"/>
                </a:solidFill>
                <a:latin typeface="微软雅黑" panose="020B0503020204020204" pitchFamily="34" charset="-122"/>
                <a:ea typeface="微软雅黑" panose="020B0503020204020204" pitchFamily="34" charset="-122"/>
              </a:rPr>
              <a:t>广告投放区域</a:t>
            </a:r>
            <a:endParaRPr lang="zh-CN" altLang="en-US" b="1" dirty="0">
              <a:solidFill>
                <a:srgbClr val="F1B015"/>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7" name="图表 6"/>
          <p:cNvGraphicFramePr/>
          <p:nvPr>
            <p:extLst>
              <p:ext uri="{D42A27DB-BD31-4B8C-83A1-F6EECF244321}">
                <p14:modId xmlns:p14="http://schemas.microsoft.com/office/powerpoint/2010/main" val="2542912051"/>
              </p:ext>
            </p:extLst>
          </p:nvPr>
        </p:nvGraphicFramePr>
        <p:xfrm>
          <a:off x="-105295" y="2648883"/>
          <a:ext cx="8579865" cy="3951148"/>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a:off x="472668" y="2276872"/>
            <a:ext cx="8275798"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汽车出行</a:t>
            </a:r>
            <a:r>
              <a:rPr lang="zh-CN" altLang="en-US" b="1" dirty="0" smtClean="0">
                <a:solidFill>
                  <a:schemeClr val="tx1"/>
                </a:solidFill>
                <a:latin typeface="华文中宋" panose="02010600040101010101" pitchFamily="2" charset="-122"/>
                <a:ea typeface="华文中宋" panose="02010600040101010101" pitchFamily="2" charset="-122"/>
              </a:rPr>
              <a:t>类</a:t>
            </a: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企业各级别城市广告花费占比</a:t>
            </a:r>
            <a:endParaRPr lang="zh-CN" altLang="en-US" sz="1400" b="1" dirty="0">
              <a:solidFill>
                <a:schemeClr val="tx1"/>
              </a:solidFill>
              <a:latin typeface="华文中宋" panose="02010600040101010101" pitchFamily="2" charset="-122"/>
              <a:ea typeface="华文中宋" panose="02010600040101010101" pitchFamily="2" charset="-122"/>
            </a:endParaRPr>
          </a:p>
        </p:txBody>
      </p:sp>
      <p:sp>
        <p:nvSpPr>
          <p:cNvPr id="10" name="TextBox 9"/>
          <p:cNvSpPr txBox="1"/>
          <p:nvPr/>
        </p:nvSpPr>
        <p:spPr>
          <a:xfrm>
            <a:off x="251521" y="757153"/>
            <a:ext cx="8496944" cy="1477328"/>
          </a:xfrm>
          <a:prstGeom prst="rect">
            <a:avLst/>
          </a:prstGeom>
          <a:noFill/>
        </p:spPr>
        <p:txBody>
          <a:bodyPr wrap="square" rtlCol="0">
            <a:spAutoFit/>
          </a:bodyPr>
          <a:lstStyle/>
          <a:p>
            <a:pPr marL="342900" indent="-342900">
              <a:lnSpc>
                <a:spcPct val="150000"/>
              </a:lnSpc>
              <a:buClr>
                <a:schemeClr val="bg1"/>
              </a:buClr>
              <a:buFont typeface="Arial" panose="020B0604020202020204" pitchFamily="34" charset="0"/>
              <a:buChar char="•"/>
            </a:pPr>
            <a:r>
              <a:rPr lang="zh-CN" altLang="en-US" sz="2000" b="1" dirty="0" smtClean="0">
                <a:solidFill>
                  <a:srgbClr val="FF0000"/>
                </a:solidFill>
                <a:latin typeface="华文中宋" panose="02010600040101010101" pitchFamily="2" charset="-122"/>
                <a:ea typeface="华文中宋" panose="02010600040101010101" pitchFamily="2" charset="-122"/>
              </a:rPr>
              <a:t>一线城市</a:t>
            </a:r>
            <a:r>
              <a:rPr lang="zh-CN" altLang="en-US" sz="2000" b="1" dirty="0" smtClean="0">
                <a:solidFill>
                  <a:schemeClr val="bg1"/>
                </a:solidFill>
                <a:latin typeface="华文中宋" panose="02010600040101010101" pitchFamily="2" charset="-122"/>
                <a:ea typeface="华文中宋" panose="02010600040101010101" pitchFamily="2" charset="-122"/>
              </a:rPr>
              <a:t>是汽车出行类互联网企业广告投放的重点区域。</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342900" indent="-342900">
              <a:lnSpc>
                <a:spcPct val="150000"/>
              </a:lnSpc>
              <a:buClr>
                <a:schemeClr val="bg1"/>
              </a:buClr>
              <a:buFont typeface="Arial" panose="020B0604020202020204" pitchFamily="34" charset="0"/>
              <a:buChar char="•"/>
            </a:pPr>
            <a:r>
              <a:rPr lang="zh-CN" altLang="en-US" sz="2000" b="1" dirty="0" smtClean="0">
                <a:solidFill>
                  <a:schemeClr val="bg1"/>
                </a:solidFill>
                <a:latin typeface="华文中宋" panose="02010600040101010101" pitchFamily="2" charset="-122"/>
                <a:ea typeface="华文中宋" panose="02010600040101010101" pitchFamily="2" charset="-122"/>
              </a:rPr>
              <a:t>导航软件在湖南卫视和二线城市的电台如成都交通广播等投放的广告较多。</a:t>
            </a:r>
            <a:endParaRPr lang="en-US" altLang="zh-CN" sz="2000" b="1" dirty="0" smtClean="0">
              <a:solidFill>
                <a:schemeClr val="bg1"/>
              </a:solidFill>
              <a:latin typeface="华文中宋" panose="02010600040101010101" pitchFamily="2" charset="-122"/>
              <a:ea typeface="华文中宋" panose="02010600040101010101" pitchFamily="2" charset="-122"/>
            </a:endParaRPr>
          </a:p>
        </p:txBody>
      </p:sp>
      <p:sp>
        <p:nvSpPr>
          <p:cNvPr id="11" name="矩形 10"/>
          <p:cNvSpPr/>
          <p:nvPr/>
        </p:nvSpPr>
        <p:spPr>
          <a:xfrm>
            <a:off x="519039" y="6597352"/>
            <a:ext cx="8733481" cy="259045"/>
          </a:xfrm>
          <a:prstGeom prst="rect">
            <a:avLst/>
          </a:prstGeom>
        </p:spPr>
        <p:txBody>
          <a:bodyPr wrap="non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按照</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月广告花费排序  </a:t>
            </a: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887033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nvSpPr>
        <p:spPr>
          <a:xfrm>
            <a:off x="251520" y="188640"/>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C000"/>
                </a:solidFill>
                <a:latin typeface="Arial Black"/>
                <a:ea typeface="微软雅黑"/>
              </a:rPr>
              <a:t>广告</a:t>
            </a:r>
            <a:r>
              <a:rPr lang="zh-CN" altLang="en-US" b="1" dirty="0">
                <a:solidFill>
                  <a:srgbClr val="FFC000"/>
                </a:solidFill>
                <a:latin typeface="Arial Black"/>
                <a:ea typeface="微软雅黑"/>
              </a:rPr>
              <a:t>花费</a:t>
            </a:r>
            <a:r>
              <a:rPr lang="zh-CN" altLang="en-US" b="1" dirty="0" smtClean="0">
                <a:solidFill>
                  <a:srgbClr val="FFC000"/>
                </a:solidFill>
                <a:latin typeface="Arial Black"/>
                <a:ea typeface="微软雅黑"/>
              </a:rPr>
              <a:t>榜单</a:t>
            </a:r>
            <a:endParaRPr lang="zh-CN" altLang="en-US" b="1" dirty="0">
              <a:solidFill>
                <a:srgbClr val="FFC000"/>
              </a:solidFill>
              <a:latin typeface="Arial Black"/>
              <a:ea typeface="微软雅黑"/>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6" name="表格 15"/>
          <p:cNvGraphicFramePr>
            <a:graphicFrameLocks noGrp="1"/>
          </p:cNvGraphicFramePr>
          <p:nvPr>
            <p:extLst>
              <p:ext uri="{D42A27DB-BD31-4B8C-83A1-F6EECF244321}">
                <p14:modId xmlns:p14="http://schemas.microsoft.com/office/powerpoint/2010/main" val="3718092006"/>
              </p:ext>
            </p:extLst>
          </p:nvPr>
        </p:nvGraphicFramePr>
        <p:xfrm>
          <a:off x="539552" y="2276868"/>
          <a:ext cx="7992888" cy="4248476"/>
        </p:xfrm>
        <a:graphic>
          <a:graphicData uri="http://schemas.openxmlformats.org/drawingml/2006/table">
            <a:tbl>
              <a:tblPr firstRow="1" bandRow="1">
                <a:tableStyleId>{46F890A9-2807-4EBB-B81D-B2AA78EC7F39}</a:tableStyleId>
              </a:tblPr>
              <a:tblGrid>
                <a:gridCol w="1558600">
                  <a:extLst>
                    <a:ext uri="{9D8B030D-6E8A-4147-A177-3AD203B41FA5}">
                      <a16:colId xmlns="" xmlns:a16="http://schemas.microsoft.com/office/drawing/2014/main" val="20000"/>
                    </a:ext>
                  </a:extLst>
                </a:gridCol>
                <a:gridCol w="3676734">
                  <a:extLst>
                    <a:ext uri="{9D8B030D-6E8A-4147-A177-3AD203B41FA5}">
                      <a16:colId xmlns="" xmlns:a16="http://schemas.microsoft.com/office/drawing/2014/main" val="20001"/>
                    </a:ext>
                  </a:extLst>
                </a:gridCol>
                <a:gridCol w="2757554">
                  <a:extLst>
                    <a:ext uri="{9D8B030D-6E8A-4147-A177-3AD203B41FA5}">
                      <a16:colId xmlns="" xmlns:a16="http://schemas.microsoft.com/office/drawing/2014/main" val="20002"/>
                    </a:ext>
                  </a:extLst>
                </a:gridCol>
              </a:tblGrid>
              <a:tr h="459596">
                <a:tc>
                  <a:txBody>
                    <a:bodyPr/>
                    <a:lstStyle/>
                    <a:p>
                      <a:pPr marL="0" algn="ctr" defTabSz="914400" rtl="0" eaLnBrk="1" fontAlgn="ctr" latinLnBrk="0" hangingPunct="1"/>
                      <a:r>
                        <a:rPr lang="zh-CN" altLang="en-US" sz="1500" b="1" u="none" strike="noStrike" kern="1200" dirty="0">
                          <a:effectLst/>
                          <a:latin typeface="华文中宋" panose="02010600040101010101" pitchFamily="2" charset="-122"/>
                          <a:ea typeface="华文中宋" panose="02010600040101010101" pitchFamily="2" charset="-122"/>
                        </a:rPr>
                        <a:t>排名</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u="none" strike="noStrike" kern="1200" dirty="0">
                          <a:effectLst/>
                          <a:latin typeface="华文中宋" panose="02010600040101010101" pitchFamily="2" charset="-122"/>
                          <a:ea typeface="华文中宋" panose="02010600040101010101" pitchFamily="2" charset="-122"/>
                        </a:rPr>
                        <a:t>产品</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u="none" strike="noStrike" kern="1200" dirty="0">
                          <a:effectLst/>
                          <a:latin typeface="华文中宋" panose="02010600040101010101" pitchFamily="2" charset="-122"/>
                          <a:ea typeface="华文中宋" panose="02010600040101010101" pitchFamily="2" charset="-122"/>
                        </a:rPr>
                        <a:t>花费增幅</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extLst>
                  <a:ext uri="{0D108BD9-81ED-4DB2-BD59-A6C34878D82A}">
                    <a16:rowId xmlns="" xmlns:a16="http://schemas.microsoft.com/office/drawing/2014/main" val="10000"/>
                  </a:ext>
                </a:extLst>
              </a:tr>
              <a:tr h="378888">
                <a:tc>
                  <a:txBody>
                    <a:bodyPr/>
                    <a:lstStyle/>
                    <a:p>
                      <a:pPr marL="0" algn="ctr" defTabSz="914400" rtl="0" eaLnBrk="1" fontAlgn="ctr" latinLnBrk="0" hangingPunct="1"/>
                      <a:r>
                        <a:rPr lang="en-US" altLang="zh-CN" sz="1500" u="none" strike="noStrike" kern="1200" dirty="0">
                          <a:effectLst/>
                        </a:rPr>
                        <a:t>1</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i="0" u="none" strike="noStrike" kern="1200" dirty="0">
                          <a:solidFill>
                            <a:srgbClr val="000000"/>
                          </a:solidFill>
                          <a:effectLst/>
                          <a:latin typeface="华文中宋" panose="02010600040101010101" pitchFamily="2" charset="-122"/>
                          <a:ea typeface="华文中宋" panose="02010600040101010101" pitchFamily="2" charset="-122"/>
                          <a:cs typeface="+mn-cs"/>
                        </a:rPr>
                        <a:t>瓜子二手车直卖网</a:t>
                      </a:r>
                    </a:p>
                  </a:txBody>
                  <a:tcPr marL="9525" marR="9525" marT="9525"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rPr>
                        <a:t>New</a:t>
                      </a:r>
                    </a:p>
                  </a:txBody>
                  <a:tcPr marL="9525" marR="9525" marT="9525" marB="0" anchor="ctr">
                    <a:solidFill>
                      <a:schemeClr val="bg1">
                        <a:lumMod val="95000"/>
                      </a:schemeClr>
                    </a:solidFill>
                  </a:tcPr>
                </a:tc>
                <a:extLst>
                  <a:ext uri="{0D108BD9-81ED-4DB2-BD59-A6C34878D82A}">
                    <a16:rowId xmlns="" xmlns:a16="http://schemas.microsoft.com/office/drawing/2014/main" val="10001"/>
                  </a:ext>
                </a:extLst>
              </a:tr>
              <a:tr h="378888">
                <a:tc>
                  <a:txBody>
                    <a:bodyPr/>
                    <a:lstStyle/>
                    <a:p>
                      <a:pPr marL="0" algn="ctr" defTabSz="914400" rtl="0" eaLnBrk="1" fontAlgn="ctr" latinLnBrk="0" hangingPunct="1"/>
                      <a:r>
                        <a:rPr lang="en-US" altLang="zh-CN" sz="1500" u="none" strike="noStrike" kern="1200" dirty="0">
                          <a:effectLst/>
                        </a:rPr>
                        <a:t>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i="0" u="none" strike="noStrike" kern="1200" dirty="0">
                          <a:solidFill>
                            <a:srgbClr val="000000"/>
                          </a:solidFill>
                          <a:effectLst/>
                          <a:latin typeface="华文中宋" panose="02010600040101010101" pitchFamily="2" charset="-122"/>
                          <a:ea typeface="华文中宋" panose="02010600040101010101" pitchFamily="2" charset="-122"/>
                          <a:cs typeface="+mn-cs"/>
                        </a:rPr>
                        <a:t>易到用车网</a:t>
                      </a:r>
                    </a:p>
                  </a:txBody>
                  <a:tcPr marL="9525" marR="9525" marT="9525"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cs typeface="Vrinda"/>
                        </a:rPr>
                        <a:t>&gt;1000</a:t>
                      </a:r>
                      <a:r>
                        <a:rPr lang="en-US" altLang="zh-CN" sz="1400" b="0" i="0" u="none" strike="noStrike" dirty="0" smtClean="0">
                          <a:solidFill>
                            <a:srgbClr val="000000"/>
                          </a:solidFill>
                          <a:effectLst/>
                          <a:latin typeface="+mn-lt"/>
                        </a:rPr>
                        <a:t>%</a:t>
                      </a:r>
                      <a:endParaRPr lang="en-US" altLang="zh-CN"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02"/>
                  </a:ext>
                </a:extLst>
              </a:tr>
              <a:tr h="378888">
                <a:tc>
                  <a:txBody>
                    <a:bodyPr/>
                    <a:lstStyle/>
                    <a:p>
                      <a:pPr marL="0" algn="ctr" defTabSz="914400" rtl="0" eaLnBrk="1" fontAlgn="ctr" latinLnBrk="0" hangingPunct="1"/>
                      <a:r>
                        <a:rPr lang="en-US" altLang="zh-CN" sz="1500" u="none" strike="noStrike" kern="1200" dirty="0">
                          <a:effectLst/>
                        </a:rPr>
                        <a:t>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i="0" u="none" strike="noStrike" kern="1200" dirty="0">
                          <a:solidFill>
                            <a:srgbClr val="000000"/>
                          </a:solidFill>
                          <a:effectLst/>
                          <a:latin typeface="华文中宋" panose="02010600040101010101" pitchFamily="2" charset="-122"/>
                          <a:ea typeface="华文中宋" panose="02010600040101010101" pitchFamily="2" charset="-122"/>
                          <a:cs typeface="+mn-cs"/>
                        </a:rPr>
                        <a:t>优步手机应用软件</a:t>
                      </a:r>
                    </a:p>
                  </a:txBody>
                  <a:tcPr marL="9525" marR="9525" marT="9525"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cs typeface="Calibri"/>
                        </a:rPr>
                        <a:t>&gt;</a:t>
                      </a:r>
                      <a:r>
                        <a:rPr lang="en-US" altLang="zh-CN" sz="1400" b="0" i="0" u="none" strike="noStrike" dirty="0" smtClean="0">
                          <a:solidFill>
                            <a:srgbClr val="000000"/>
                          </a:solidFill>
                          <a:effectLst/>
                          <a:latin typeface="+mn-lt"/>
                        </a:rPr>
                        <a:t>1000%</a:t>
                      </a:r>
                      <a:endParaRPr lang="en-US" altLang="zh-CN"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03"/>
                  </a:ext>
                </a:extLst>
              </a:tr>
              <a:tr h="378888">
                <a:tc>
                  <a:txBody>
                    <a:bodyPr/>
                    <a:lstStyle/>
                    <a:p>
                      <a:pPr marL="0" algn="ctr" defTabSz="914400" rtl="0" eaLnBrk="1" fontAlgn="ctr" latinLnBrk="0" hangingPunct="1"/>
                      <a:r>
                        <a:rPr lang="en-US" altLang="zh-CN" sz="1500" u="none" strike="noStrike" kern="1200" dirty="0">
                          <a:effectLst/>
                        </a:rPr>
                        <a:t>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i="0" u="none" strike="noStrike" kern="1200" dirty="0">
                          <a:solidFill>
                            <a:srgbClr val="000000"/>
                          </a:solidFill>
                          <a:effectLst/>
                          <a:latin typeface="华文中宋" panose="02010600040101010101" pitchFamily="2" charset="-122"/>
                          <a:ea typeface="华文中宋" panose="02010600040101010101" pitchFamily="2" charset="-122"/>
                          <a:cs typeface="+mn-cs"/>
                        </a:rPr>
                        <a:t>人人车网</a:t>
                      </a:r>
                    </a:p>
                  </a:txBody>
                  <a:tcPr marL="9525" marR="9525" marT="9525"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cs typeface="Calibri"/>
                        </a:rPr>
                        <a:t>&gt;</a:t>
                      </a:r>
                      <a:r>
                        <a:rPr lang="en-US" altLang="zh-CN" sz="1400" b="0" i="0" u="none" strike="noStrike" dirty="0" smtClean="0">
                          <a:solidFill>
                            <a:srgbClr val="000000"/>
                          </a:solidFill>
                          <a:effectLst/>
                          <a:latin typeface="+mn-lt"/>
                        </a:rPr>
                        <a:t>1000%</a:t>
                      </a:r>
                      <a:endParaRPr lang="en-US" altLang="zh-CN"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04"/>
                  </a:ext>
                </a:extLst>
              </a:tr>
              <a:tr h="378888">
                <a:tc>
                  <a:txBody>
                    <a:bodyPr/>
                    <a:lstStyle/>
                    <a:p>
                      <a:pPr marL="0" algn="ctr" defTabSz="914400" rtl="0" eaLnBrk="1" fontAlgn="ctr" latinLnBrk="0" hangingPunct="1"/>
                      <a:r>
                        <a:rPr lang="en-US" altLang="zh-CN" sz="1500" u="none" strike="noStrike" kern="1200" dirty="0">
                          <a:effectLst/>
                        </a:rPr>
                        <a:t>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i="0" u="none" strike="noStrike" kern="1200" dirty="0">
                          <a:solidFill>
                            <a:srgbClr val="000000"/>
                          </a:solidFill>
                          <a:effectLst/>
                          <a:latin typeface="华文中宋" panose="02010600040101010101" pitchFamily="2" charset="-122"/>
                          <a:ea typeface="华文中宋" panose="02010600040101010101" pitchFamily="2" charset="-122"/>
                          <a:cs typeface="+mn-cs"/>
                        </a:rPr>
                        <a:t>车轮考驾照手机应用软件</a:t>
                      </a:r>
                    </a:p>
                  </a:txBody>
                  <a:tcPr marL="9525" marR="9525" marT="9525"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rPr>
                        <a:t>New</a:t>
                      </a:r>
                      <a:endParaRPr lang="zh-CN" altLang="en-US"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05"/>
                  </a:ext>
                </a:extLst>
              </a:tr>
              <a:tr h="378888">
                <a:tc>
                  <a:txBody>
                    <a:bodyPr/>
                    <a:lstStyle/>
                    <a:p>
                      <a:pPr marL="0" algn="ctr" defTabSz="914400" rtl="0" eaLnBrk="1" fontAlgn="ctr" latinLnBrk="0" hangingPunct="1"/>
                      <a:r>
                        <a:rPr lang="en-US" altLang="zh-CN" sz="1500" u="none" strike="noStrike" kern="1200" dirty="0">
                          <a:effectLst/>
                        </a:rPr>
                        <a:t>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i="0" u="none" strike="noStrike" kern="1200" dirty="0">
                          <a:solidFill>
                            <a:srgbClr val="000000"/>
                          </a:solidFill>
                          <a:effectLst/>
                          <a:latin typeface="华文中宋" panose="02010600040101010101" pitchFamily="2" charset="-122"/>
                          <a:ea typeface="华文中宋" panose="02010600040101010101" pitchFamily="2" charset="-122"/>
                          <a:cs typeface="+mn-cs"/>
                        </a:rPr>
                        <a:t>百度地图软件</a:t>
                      </a:r>
                    </a:p>
                  </a:txBody>
                  <a:tcPr marL="9525" marR="9525" marT="9525" marB="0" anchor="ctr">
                    <a:solidFill>
                      <a:schemeClr val="bg1">
                        <a:lumMod val="95000"/>
                      </a:schemeClr>
                    </a:solidFill>
                  </a:tcPr>
                </a:tc>
                <a:tc>
                  <a:txBody>
                    <a:bodyPr/>
                    <a:lstStyle/>
                    <a:p>
                      <a:pPr algn="ctr" fontAlgn="ctr"/>
                      <a:r>
                        <a:rPr lang="en-US" altLang="zh-CN" sz="1400" b="0" i="0" u="none" strike="noStrike" dirty="0">
                          <a:solidFill>
                            <a:srgbClr val="000000"/>
                          </a:solidFill>
                          <a:effectLst/>
                          <a:latin typeface="+mn-lt"/>
                        </a:rPr>
                        <a:t>-48.4%</a:t>
                      </a:r>
                    </a:p>
                  </a:txBody>
                  <a:tcPr marL="9525" marR="9525" marT="9525" marB="0" anchor="ctr">
                    <a:solidFill>
                      <a:schemeClr val="bg1">
                        <a:lumMod val="95000"/>
                      </a:schemeClr>
                    </a:solidFill>
                  </a:tcPr>
                </a:tc>
                <a:extLst>
                  <a:ext uri="{0D108BD9-81ED-4DB2-BD59-A6C34878D82A}">
                    <a16:rowId xmlns="" xmlns:a16="http://schemas.microsoft.com/office/drawing/2014/main" val="10006"/>
                  </a:ext>
                </a:extLst>
              </a:tr>
              <a:tr h="378888">
                <a:tc>
                  <a:txBody>
                    <a:bodyPr/>
                    <a:lstStyle/>
                    <a:p>
                      <a:pPr marL="0" algn="ctr" defTabSz="914400" rtl="0" eaLnBrk="1" fontAlgn="ctr" latinLnBrk="0" hangingPunct="1"/>
                      <a:r>
                        <a:rPr lang="en-US" altLang="zh-CN" sz="1500" u="none" strike="noStrike" kern="1200" dirty="0">
                          <a:effectLst/>
                        </a:rPr>
                        <a:t>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i="0" u="none" strike="noStrike" kern="1200" dirty="0">
                          <a:solidFill>
                            <a:srgbClr val="000000"/>
                          </a:solidFill>
                          <a:effectLst/>
                          <a:latin typeface="华文中宋" panose="02010600040101010101" pitchFamily="2" charset="-122"/>
                          <a:ea typeface="华文中宋" panose="02010600040101010101" pitchFamily="2" charset="-122"/>
                          <a:cs typeface="+mn-cs"/>
                        </a:rPr>
                        <a:t>优信二手车网</a:t>
                      </a:r>
                    </a:p>
                  </a:txBody>
                  <a:tcPr marL="9525" marR="9525" marT="9525"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rPr>
                        <a:t>New</a:t>
                      </a:r>
                      <a:endParaRPr lang="zh-CN" altLang="en-US"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07"/>
                  </a:ext>
                </a:extLst>
              </a:tr>
              <a:tr h="378888">
                <a:tc>
                  <a:txBody>
                    <a:bodyPr/>
                    <a:lstStyle/>
                    <a:p>
                      <a:pPr marL="0" algn="ctr" defTabSz="914400" rtl="0" eaLnBrk="1" fontAlgn="ctr" latinLnBrk="0" hangingPunct="1"/>
                      <a:r>
                        <a:rPr lang="en-US" altLang="zh-CN" sz="1500" u="none" strike="noStrike" kern="1200" dirty="0">
                          <a:effectLst/>
                        </a:rPr>
                        <a:t>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i="0" u="none" strike="noStrike" kern="1200" dirty="0">
                          <a:solidFill>
                            <a:srgbClr val="000000"/>
                          </a:solidFill>
                          <a:effectLst/>
                          <a:latin typeface="华文中宋" panose="02010600040101010101" pitchFamily="2" charset="-122"/>
                          <a:ea typeface="华文中宋" panose="02010600040101010101" pitchFamily="2" charset="-122"/>
                          <a:cs typeface="+mn-cs"/>
                        </a:rPr>
                        <a:t>途虎养车网</a:t>
                      </a:r>
                    </a:p>
                  </a:txBody>
                  <a:tcPr marL="9525" marR="9525" marT="9525" marB="0" anchor="ctr">
                    <a:solidFill>
                      <a:schemeClr val="bg1">
                        <a:lumMod val="95000"/>
                      </a:schemeClr>
                    </a:solidFill>
                  </a:tcPr>
                </a:tc>
                <a:tc>
                  <a:txBody>
                    <a:bodyPr/>
                    <a:lstStyle/>
                    <a:p>
                      <a:pPr algn="ctr" fontAlgn="ctr"/>
                      <a:r>
                        <a:rPr lang="en-US" altLang="zh-CN" sz="1400" b="0" i="0" u="none" strike="noStrike" dirty="0">
                          <a:solidFill>
                            <a:srgbClr val="000000"/>
                          </a:solidFill>
                          <a:effectLst/>
                          <a:latin typeface="+mn-lt"/>
                        </a:rPr>
                        <a:t>-23.6%</a:t>
                      </a:r>
                    </a:p>
                  </a:txBody>
                  <a:tcPr marL="9525" marR="9525" marT="9525" marB="0" anchor="ctr">
                    <a:solidFill>
                      <a:schemeClr val="bg1">
                        <a:lumMod val="95000"/>
                      </a:schemeClr>
                    </a:solidFill>
                  </a:tcPr>
                </a:tc>
                <a:extLst>
                  <a:ext uri="{0D108BD9-81ED-4DB2-BD59-A6C34878D82A}">
                    <a16:rowId xmlns="" xmlns:a16="http://schemas.microsoft.com/office/drawing/2014/main" val="10008"/>
                  </a:ext>
                </a:extLst>
              </a:tr>
              <a:tr h="378888">
                <a:tc>
                  <a:txBody>
                    <a:bodyPr/>
                    <a:lstStyle/>
                    <a:p>
                      <a:pPr marL="0" algn="ctr" defTabSz="914400" rtl="0" eaLnBrk="1" fontAlgn="ctr" latinLnBrk="0" hangingPunct="1"/>
                      <a:r>
                        <a:rPr lang="en-US" altLang="zh-CN" sz="1500" u="none" strike="noStrike" kern="1200" dirty="0">
                          <a:effectLst/>
                        </a:rPr>
                        <a:t>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i="0" u="none" strike="noStrike" kern="1200" dirty="0">
                          <a:solidFill>
                            <a:srgbClr val="000000"/>
                          </a:solidFill>
                          <a:effectLst/>
                          <a:latin typeface="华文中宋" panose="02010600040101010101" pitchFamily="2" charset="-122"/>
                          <a:ea typeface="华文中宋" panose="02010600040101010101" pitchFamily="2" charset="-122"/>
                          <a:cs typeface="+mn-cs"/>
                        </a:rPr>
                        <a:t>滴滴打车软件</a:t>
                      </a:r>
                    </a:p>
                  </a:txBody>
                  <a:tcPr marL="9525" marR="9525" marT="9525" marB="0" anchor="ctr">
                    <a:solidFill>
                      <a:schemeClr val="bg1">
                        <a:lumMod val="95000"/>
                      </a:schemeClr>
                    </a:solidFill>
                  </a:tcPr>
                </a:tc>
                <a:tc>
                  <a:txBody>
                    <a:bodyPr/>
                    <a:lstStyle/>
                    <a:p>
                      <a:pPr algn="ctr" fontAlgn="ctr"/>
                      <a:r>
                        <a:rPr lang="en-US" altLang="zh-CN" sz="1400" b="0" i="0" u="none" strike="noStrike" dirty="0">
                          <a:solidFill>
                            <a:srgbClr val="000000"/>
                          </a:solidFill>
                          <a:effectLst/>
                          <a:latin typeface="+mn-lt"/>
                        </a:rPr>
                        <a:t>-90.0%</a:t>
                      </a:r>
                    </a:p>
                  </a:txBody>
                  <a:tcPr marL="9525" marR="9525" marT="9525" marB="0" anchor="ctr">
                    <a:solidFill>
                      <a:schemeClr val="bg1">
                        <a:lumMod val="95000"/>
                      </a:schemeClr>
                    </a:solidFill>
                  </a:tcPr>
                </a:tc>
                <a:extLst>
                  <a:ext uri="{0D108BD9-81ED-4DB2-BD59-A6C34878D82A}">
                    <a16:rowId xmlns="" xmlns:a16="http://schemas.microsoft.com/office/drawing/2014/main" val="10009"/>
                  </a:ext>
                </a:extLst>
              </a:tr>
              <a:tr h="378888">
                <a:tc>
                  <a:txBody>
                    <a:bodyPr/>
                    <a:lstStyle/>
                    <a:p>
                      <a:pPr marL="0" algn="ctr" defTabSz="914400" rtl="0" eaLnBrk="1" fontAlgn="ctr" latinLnBrk="0" hangingPunct="1"/>
                      <a:r>
                        <a:rPr lang="en-US" altLang="zh-CN" sz="1500" u="none" strike="noStrike" kern="1200" dirty="0">
                          <a:effectLst/>
                        </a:rPr>
                        <a:t>10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i="0" u="none" strike="noStrike" kern="1200" dirty="0">
                          <a:solidFill>
                            <a:srgbClr val="000000"/>
                          </a:solidFill>
                          <a:effectLst/>
                          <a:latin typeface="华文中宋" panose="02010600040101010101" pitchFamily="2" charset="-122"/>
                          <a:ea typeface="华文中宋" panose="02010600040101010101" pitchFamily="2" charset="-122"/>
                          <a:cs typeface="+mn-cs"/>
                        </a:rPr>
                        <a:t>猪兼强网</a:t>
                      </a:r>
                    </a:p>
                  </a:txBody>
                  <a:tcPr marL="9525" marR="9525" marT="9525"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rPr>
                        <a:t>New</a:t>
                      </a:r>
                      <a:endParaRPr lang="zh-CN" altLang="en-US"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10"/>
                  </a:ext>
                </a:extLst>
              </a:tr>
            </a:tbl>
          </a:graphicData>
        </a:graphic>
      </p:graphicFrame>
      <p:sp>
        <p:nvSpPr>
          <p:cNvPr id="6" name="TextBox 5"/>
          <p:cNvSpPr txBox="1"/>
          <p:nvPr/>
        </p:nvSpPr>
        <p:spPr>
          <a:xfrm>
            <a:off x="251521" y="692696"/>
            <a:ext cx="8535206" cy="1477328"/>
          </a:xfrm>
          <a:prstGeom prst="rect">
            <a:avLst/>
          </a:prstGeom>
          <a:noFill/>
        </p:spPr>
        <p:txBody>
          <a:bodyPr wrap="square" rtlCol="0">
            <a:spAutoFit/>
          </a:bodyPr>
          <a:lstStyle/>
          <a:p>
            <a:pPr marL="342900" indent="-342900">
              <a:buFont typeface="Arial" panose="020B0604020202020204" pitchFamily="34" charset="0"/>
              <a:buChar char="•"/>
            </a:pPr>
            <a:r>
              <a:rPr lang="zh-CN" altLang="en-US" b="1" dirty="0" smtClean="0">
                <a:solidFill>
                  <a:schemeClr val="bg1"/>
                </a:solidFill>
                <a:latin typeface="华文中宋" panose="02010600040101010101" pitchFamily="2" charset="-122"/>
                <a:ea typeface="华文中宋" panose="02010600040101010101" pitchFamily="2" charset="-122"/>
              </a:rPr>
              <a:t>在今年</a:t>
            </a:r>
            <a:r>
              <a:rPr lang="en-US" altLang="zh-CN" b="1" dirty="0" smtClean="0">
                <a:solidFill>
                  <a:schemeClr val="bg1"/>
                </a:solidFill>
                <a:latin typeface="华文中宋" panose="02010600040101010101" pitchFamily="2" charset="-122"/>
                <a:ea typeface="华文中宋" panose="02010600040101010101" pitchFamily="2" charset="-122"/>
              </a:rPr>
              <a:t>1-4</a:t>
            </a:r>
            <a:r>
              <a:rPr lang="zh-CN" altLang="en-US" b="1" dirty="0" smtClean="0">
                <a:solidFill>
                  <a:schemeClr val="bg1"/>
                </a:solidFill>
                <a:latin typeface="华文中宋" panose="02010600040101010101" pitchFamily="2" charset="-122"/>
                <a:ea typeface="华文中宋" panose="02010600040101010101" pitchFamily="2" charset="-122"/>
              </a:rPr>
              <a:t>月新投放广告的品牌中，</a:t>
            </a:r>
            <a:r>
              <a:rPr lang="zh-CN" altLang="en-US" b="1" dirty="0">
                <a:solidFill>
                  <a:schemeClr val="bg1"/>
                </a:solidFill>
                <a:latin typeface="华文中宋" panose="02010600040101010101" pitchFamily="2" charset="-122"/>
                <a:ea typeface="华文中宋" panose="02010600040101010101" pitchFamily="2" charset="-122"/>
              </a:rPr>
              <a:t>互联网学车</a:t>
            </a:r>
            <a:r>
              <a:rPr lang="zh-CN" altLang="en-US" b="1" dirty="0" smtClean="0">
                <a:solidFill>
                  <a:schemeClr val="bg1"/>
                </a:solidFill>
                <a:latin typeface="华文中宋" panose="02010600040101010101" pitchFamily="2" charset="-122"/>
                <a:ea typeface="华文中宋" panose="02010600040101010101" pitchFamily="2" charset="-122"/>
              </a:rPr>
              <a:t>类如车轮</a:t>
            </a:r>
            <a:r>
              <a:rPr lang="zh-CN" altLang="en-US" b="1" dirty="0">
                <a:solidFill>
                  <a:schemeClr val="bg1"/>
                </a:solidFill>
                <a:latin typeface="华文中宋" panose="02010600040101010101" pitchFamily="2" charset="-122"/>
                <a:ea typeface="华文中宋" panose="02010600040101010101" pitchFamily="2" charset="-122"/>
              </a:rPr>
              <a:t>考</a:t>
            </a:r>
            <a:r>
              <a:rPr lang="zh-CN" altLang="en-US" b="1" dirty="0" smtClean="0">
                <a:solidFill>
                  <a:schemeClr val="bg1"/>
                </a:solidFill>
                <a:latin typeface="华文中宋" panose="02010600040101010101" pitchFamily="2" charset="-122"/>
                <a:ea typeface="华文中宋" panose="02010600040101010101" pitchFamily="2" charset="-122"/>
              </a:rPr>
              <a:t>驾照和猪兼强网的广告投放量较大。</a:t>
            </a:r>
            <a:r>
              <a:rPr lang="zh-CN" altLang="en-US" b="1" dirty="0" smtClean="0">
                <a:solidFill>
                  <a:srgbClr val="FF0000"/>
                </a:solidFill>
                <a:latin typeface="华文中宋" panose="02010600040101010101" pitchFamily="2" charset="-122"/>
                <a:ea typeface="华文中宋" panose="02010600040101010101" pitchFamily="2" charset="-122"/>
              </a:rPr>
              <a:t>汽车</a:t>
            </a:r>
            <a:r>
              <a:rPr lang="en-US" altLang="zh-CN" b="1" dirty="0" smtClean="0">
                <a:solidFill>
                  <a:srgbClr val="FF0000"/>
                </a:solidFill>
                <a:latin typeface="华文中宋" panose="02010600040101010101" pitchFamily="2" charset="-122"/>
                <a:ea typeface="华文中宋" panose="02010600040101010101" pitchFamily="2" charset="-122"/>
              </a:rPr>
              <a:t>+</a:t>
            </a:r>
            <a:r>
              <a:rPr lang="zh-CN" altLang="en-US" b="1" dirty="0" smtClean="0">
                <a:solidFill>
                  <a:srgbClr val="FF0000"/>
                </a:solidFill>
                <a:latin typeface="华文中宋" panose="02010600040101010101" pitchFamily="2" charset="-122"/>
                <a:ea typeface="华文中宋" panose="02010600040101010101" pitchFamily="2" charset="-122"/>
              </a:rPr>
              <a:t>互联网</a:t>
            </a:r>
            <a:r>
              <a:rPr lang="zh-CN" altLang="en-US" b="1" dirty="0" smtClean="0">
                <a:solidFill>
                  <a:schemeClr val="bg1"/>
                </a:solidFill>
                <a:latin typeface="华文中宋" panose="02010600040101010101" pitchFamily="2" charset="-122"/>
                <a:ea typeface="华文中宋" panose="02010600040101010101" pitchFamily="2" charset="-122"/>
              </a:rPr>
              <a:t>的组合在发展中逐渐壮大，形成围绕汽车展开的</a:t>
            </a:r>
            <a:r>
              <a:rPr lang="en-US" altLang="zh-CN" b="1" dirty="0" smtClean="0">
                <a:solidFill>
                  <a:srgbClr val="FF0000"/>
                </a:solidFill>
                <a:latin typeface="华文中宋" panose="02010600040101010101" pitchFamily="2" charset="-122"/>
                <a:ea typeface="华文中宋" panose="02010600040101010101" pitchFamily="2" charset="-122"/>
              </a:rPr>
              <a:t>360°</a:t>
            </a:r>
            <a:r>
              <a:rPr lang="zh-CN" altLang="en-US" b="1" dirty="0" smtClean="0">
                <a:solidFill>
                  <a:srgbClr val="FF0000"/>
                </a:solidFill>
                <a:latin typeface="华文中宋" panose="02010600040101010101" pitchFamily="2" charset="-122"/>
                <a:ea typeface="华文中宋" panose="02010600040101010101" pitchFamily="2" charset="-122"/>
              </a:rPr>
              <a:t>互联网服务</a:t>
            </a:r>
            <a:r>
              <a:rPr lang="zh-CN" altLang="en-US" b="1" dirty="0" smtClean="0">
                <a:solidFill>
                  <a:schemeClr val="bg1"/>
                </a:solidFill>
                <a:latin typeface="华文中宋" panose="02010600040101010101" pitchFamily="2" charset="-122"/>
                <a:ea typeface="华文中宋" panose="02010600040101010101" pitchFamily="2" charset="-122"/>
              </a:rPr>
              <a:t>。</a:t>
            </a:r>
            <a:endParaRPr lang="en-US" altLang="zh-CN" b="1" dirty="0" smtClean="0">
              <a:solidFill>
                <a:schemeClr val="bg1"/>
              </a:solidFill>
              <a:latin typeface="华文中宋" panose="02010600040101010101" pitchFamily="2" charset="-122"/>
              <a:ea typeface="华文中宋" panose="02010600040101010101" pitchFamily="2" charset="-122"/>
            </a:endParaRPr>
          </a:p>
          <a:p>
            <a:pPr marL="342900" indent="-342900">
              <a:buFont typeface="Arial" panose="020B0604020202020204" pitchFamily="34" charset="0"/>
              <a:buChar char="•"/>
            </a:pPr>
            <a:r>
              <a:rPr lang="zh-CN" altLang="en-US" b="1" dirty="0" smtClean="0">
                <a:solidFill>
                  <a:srgbClr val="FF0000"/>
                </a:solidFill>
                <a:latin typeface="华文中宋" panose="02010600040101010101" pitchFamily="2" charset="-122"/>
                <a:ea typeface="华文中宋" panose="02010600040101010101" pitchFamily="2" charset="-122"/>
              </a:rPr>
              <a:t>易到用车</a:t>
            </a:r>
            <a:r>
              <a:rPr lang="zh-CN" altLang="en-US" b="1" dirty="0" smtClean="0">
                <a:solidFill>
                  <a:schemeClr val="bg1"/>
                </a:solidFill>
                <a:latin typeface="华文中宋" panose="02010600040101010101" pitchFamily="2" charset="-122"/>
                <a:ea typeface="华文中宋" panose="02010600040101010101" pitchFamily="2" charset="-122"/>
              </a:rPr>
              <a:t>广告</a:t>
            </a:r>
            <a:r>
              <a:rPr lang="zh-CN" altLang="en-US" b="1" dirty="0" smtClean="0">
                <a:solidFill>
                  <a:srgbClr val="FF0000"/>
                </a:solidFill>
                <a:latin typeface="华文中宋" panose="02010600040101010101" pitchFamily="2" charset="-122"/>
                <a:ea typeface="华文中宋" panose="02010600040101010101" pitchFamily="2" charset="-122"/>
              </a:rPr>
              <a:t>花费总量</a:t>
            </a:r>
            <a:r>
              <a:rPr lang="zh-CN" altLang="en-US" b="1" dirty="0" smtClean="0">
                <a:solidFill>
                  <a:schemeClr val="bg1"/>
                </a:solidFill>
                <a:latin typeface="华文中宋" panose="02010600040101010101" pitchFamily="2" charset="-122"/>
                <a:ea typeface="华文中宋" panose="02010600040101010101" pitchFamily="2" charset="-122"/>
              </a:rPr>
              <a:t>和</a:t>
            </a:r>
            <a:r>
              <a:rPr lang="zh-CN" altLang="en-US" b="1" dirty="0" smtClean="0">
                <a:solidFill>
                  <a:srgbClr val="FF0000"/>
                </a:solidFill>
                <a:latin typeface="华文中宋" panose="02010600040101010101" pitchFamily="2" charset="-122"/>
                <a:ea typeface="华文中宋" panose="02010600040101010101" pitchFamily="2" charset="-122"/>
              </a:rPr>
              <a:t>同比增幅</a:t>
            </a:r>
            <a:r>
              <a:rPr lang="zh-CN" altLang="en-US" b="1" dirty="0" smtClean="0">
                <a:solidFill>
                  <a:schemeClr val="bg1"/>
                </a:solidFill>
                <a:latin typeface="华文中宋" panose="02010600040101010101" pitchFamily="2" charset="-122"/>
                <a:ea typeface="华文中宋" panose="02010600040101010101" pitchFamily="2" charset="-122"/>
              </a:rPr>
              <a:t>为出行用车类互联网企业中</a:t>
            </a:r>
            <a:r>
              <a:rPr lang="zh-CN" altLang="en-US" b="1" dirty="0" smtClean="0">
                <a:solidFill>
                  <a:srgbClr val="FF0000"/>
                </a:solidFill>
                <a:latin typeface="华文中宋" panose="02010600040101010101" pitchFamily="2" charset="-122"/>
                <a:ea typeface="华文中宋" panose="02010600040101010101" pitchFamily="2" charset="-122"/>
              </a:rPr>
              <a:t>最高</a:t>
            </a:r>
            <a:r>
              <a:rPr lang="zh-CN" altLang="en-US" b="1" dirty="0" smtClean="0">
                <a:solidFill>
                  <a:schemeClr val="bg1"/>
                </a:solidFill>
                <a:latin typeface="华文中宋" panose="02010600040101010101" pitchFamily="2" charset="-122"/>
                <a:ea typeface="华文中宋" panose="02010600040101010101" pitchFamily="2" charset="-122"/>
              </a:rPr>
              <a:t>的，可见乐</a:t>
            </a:r>
            <a:r>
              <a:rPr lang="zh-CN" altLang="en-US" b="1" dirty="0">
                <a:solidFill>
                  <a:schemeClr val="bg1"/>
                </a:solidFill>
                <a:latin typeface="华文中宋" panose="02010600040101010101" pitchFamily="2" charset="-122"/>
                <a:ea typeface="华文中宋" panose="02010600040101010101" pitchFamily="2" charset="-122"/>
              </a:rPr>
              <a:t>视</a:t>
            </a:r>
            <a:r>
              <a:rPr lang="zh-CN" altLang="en-US" b="1" dirty="0" smtClean="0">
                <a:solidFill>
                  <a:schemeClr val="bg1"/>
                </a:solidFill>
                <a:latin typeface="华文中宋" panose="02010600040101010101" pitchFamily="2" charset="-122"/>
                <a:ea typeface="华文中宋" panose="02010600040101010101" pitchFamily="2" charset="-122"/>
              </a:rPr>
              <a:t>控股之后，易到用车的营销力度大大增强。</a:t>
            </a:r>
            <a:endParaRPr lang="en-US" altLang="zh-CN" b="1" dirty="0" smtClean="0">
              <a:solidFill>
                <a:schemeClr val="bg1"/>
              </a:solidFill>
              <a:latin typeface="华文中宋" panose="02010600040101010101" pitchFamily="2" charset="-122"/>
              <a:ea typeface="华文中宋" panose="02010600040101010101" pitchFamily="2" charset="-122"/>
            </a:endParaRPr>
          </a:p>
        </p:txBody>
      </p:sp>
      <p:sp>
        <p:nvSpPr>
          <p:cNvPr id="7" name="矩形 6"/>
          <p:cNvSpPr/>
          <p:nvPr/>
        </p:nvSpPr>
        <p:spPr>
          <a:xfrm>
            <a:off x="-56439" y="6597352"/>
            <a:ext cx="9308959" cy="259045"/>
          </a:xfrm>
          <a:prstGeom prst="rect">
            <a:avLst/>
          </a:prstGeom>
        </p:spPr>
        <p:txBody>
          <a:bodyPr wrap="non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按照</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月广告花费排序 </a:t>
            </a: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smtClean="0">
                <a:solidFill>
                  <a:srgbClr val="FFFFFF"/>
                </a:solidFill>
                <a:latin typeface="华文中宋" panose="02010600040101010101" pitchFamily="2" charset="-122"/>
                <a:ea typeface="华文中宋" panose="02010600040101010101" pitchFamily="2" charset="-122"/>
              </a:rPr>
              <a:t>-</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921434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378375" y="163179"/>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1B015"/>
                </a:solidFill>
                <a:latin typeface="微软雅黑" panose="020B0503020204020204" pitchFamily="34" charset="-122"/>
                <a:ea typeface="微软雅黑" panose="020B0503020204020204" pitchFamily="34" charset="-122"/>
              </a:rPr>
              <a:t>广告投放占比排位</a:t>
            </a:r>
            <a:endParaRPr lang="zh-CN" altLang="en-US" b="1" dirty="0">
              <a:solidFill>
                <a:srgbClr val="F1B015"/>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7" name="表格 6"/>
          <p:cNvGraphicFramePr>
            <a:graphicFrameLocks noGrp="1"/>
          </p:cNvGraphicFramePr>
          <p:nvPr>
            <p:extLst>
              <p:ext uri="{D42A27DB-BD31-4B8C-83A1-F6EECF244321}">
                <p14:modId xmlns:p14="http://schemas.microsoft.com/office/powerpoint/2010/main" val="2880099560"/>
              </p:ext>
            </p:extLst>
          </p:nvPr>
        </p:nvGraphicFramePr>
        <p:xfrm>
          <a:off x="306368" y="1844818"/>
          <a:ext cx="8731958" cy="4579260"/>
        </p:xfrm>
        <a:graphic>
          <a:graphicData uri="http://schemas.openxmlformats.org/drawingml/2006/table">
            <a:tbl>
              <a:tblPr firstRow="1" bandRow="1">
                <a:tableStyleId>{46F890A9-2807-4EBB-B81D-B2AA78EC7F39}</a:tableStyleId>
              </a:tblPr>
              <a:tblGrid>
                <a:gridCol w="797185">
                  <a:extLst>
                    <a:ext uri="{9D8B030D-6E8A-4147-A177-3AD203B41FA5}">
                      <a16:colId xmlns="" xmlns:a16="http://schemas.microsoft.com/office/drawing/2014/main" val="20000"/>
                    </a:ext>
                  </a:extLst>
                </a:gridCol>
                <a:gridCol w="1596239">
                  <a:extLst>
                    <a:ext uri="{9D8B030D-6E8A-4147-A177-3AD203B41FA5}">
                      <a16:colId xmlns="" xmlns:a16="http://schemas.microsoft.com/office/drawing/2014/main" val="20001"/>
                    </a:ext>
                  </a:extLst>
                </a:gridCol>
                <a:gridCol w="1224136">
                  <a:extLst>
                    <a:ext uri="{9D8B030D-6E8A-4147-A177-3AD203B41FA5}">
                      <a16:colId xmlns="" xmlns:a16="http://schemas.microsoft.com/office/drawing/2014/main" val="20002"/>
                    </a:ext>
                  </a:extLst>
                </a:gridCol>
                <a:gridCol w="3331836"/>
                <a:gridCol w="1782562"/>
              </a:tblGrid>
              <a:tr h="374836">
                <a:tc>
                  <a:txBody>
                    <a:bodyPr/>
                    <a:lstStyle/>
                    <a:p>
                      <a:pPr marL="0" algn="ctr" defTabSz="914400" rtl="0" eaLnBrk="1" fontAlgn="ctr" latinLnBrk="0" hangingPunct="1"/>
                      <a:r>
                        <a:rPr lang="zh-CN" altLang="en-US" sz="1500" b="1" u="none" strike="noStrike" kern="1200" dirty="0">
                          <a:effectLst/>
                          <a:latin typeface="华文中宋" panose="02010600040101010101" pitchFamily="2" charset="-122"/>
                          <a:ea typeface="华文中宋" panose="02010600040101010101" pitchFamily="2" charset="-122"/>
                        </a:rPr>
                        <a:t>排名</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lt1"/>
                          </a:solidFill>
                          <a:effectLst/>
                          <a:latin typeface="华文中宋" panose="02010600040101010101" pitchFamily="2" charset="-122"/>
                          <a:ea typeface="华文中宋" panose="02010600040101010101" pitchFamily="2" charset="-122"/>
                          <a:cs typeface="+mn-cs"/>
                        </a:rPr>
                        <a:t>类别</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u="none" strike="noStrike" kern="1200" dirty="0" smtClean="0">
                          <a:effectLst/>
                          <a:latin typeface="华文中宋" panose="02010600040101010101" pitchFamily="2" charset="-122"/>
                          <a:ea typeface="华文中宋" panose="02010600040101010101" pitchFamily="2" charset="-122"/>
                        </a:rPr>
                        <a:t>花费占比</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花费占比</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extLst>
                  <a:ext uri="{0D108BD9-81ED-4DB2-BD59-A6C34878D82A}">
                    <a16:rowId xmlns="" xmlns:a16="http://schemas.microsoft.com/office/drawing/2014/main" val="10000"/>
                  </a:ext>
                </a:extLst>
              </a:tr>
              <a:tr h="300316">
                <a:tc>
                  <a:txBody>
                    <a:bodyPr/>
                    <a:lstStyle/>
                    <a:p>
                      <a:pPr marL="0" algn="ctr" defTabSz="914400" rtl="0" eaLnBrk="1" fontAlgn="ctr" latinLnBrk="0" hangingPunct="1"/>
                      <a:r>
                        <a:rPr lang="en-US" altLang="zh-CN" sz="1500" u="none" strike="noStrike" kern="1200" dirty="0">
                          <a:effectLst/>
                        </a:rPr>
                        <a:t>1</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汽车交易</a:t>
                      </a:r>
                    </a:p>
                  </a:txBody>
                  <a:tcPr marL="9525" marR="9525" marT="9525" marB="0" anchor="ctr">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mn-lt"/>
                          <a:ea typeface="+mj-ea"/>
                        </a:rPr>
                        <a:t>72.8 %</a:t>
                      </a:r>
                      <a:endParaRPr lang="en-US" altLang="zh-CN" sz="1500" b="0" i="0" u="none" strike="noStrike" dirty="0">
                        <a:solidFill>
                          <a:srgbClr val="000000"/>
                        </a:solidFill>
                        <a:effectLst/>
                        <a:latin typeface="+mn-lt"/>
                        <a:ea typeface="+mj-ea"/>
                      </a:endParaRPr>
                    </a:p>
                  </a:txBody>
                  <a:tcPr marL="9525" marR="9525" marT="9525" marB="0" anchor="ctr">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瓜子二手车直卖网</a:t>
                      </a:r>
                    </a:p>
                  </a:txBody>
                  <a:tcPr marL="9525" marR="9525" marT="9525" marB="0" anchor="ctr">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63.8%</a:t>
                      </a:r>
                    </a:p>
                  </a:txBody>
                  <a:tcPr marL="9525" marR="9525" marT="9525" marB="0" anchor="ctr">
                    <a:solidFill>
                      <a:schemeClr val="bg1">
                        <a:lumMod val="95000"/>
                      </a:schemeClr>
                    </a:solidFill>
                  </a:tcPr>
                </a:tc>
                <a:extLst>
                  <a:ext uri="{0D108BD9-81ED-4DB2-BD59-A6C34878D82A}">
                    <a16:rowId xmlns="" xmlns:a16="http://schemas.microsoft.com/office/drawing/2014/main" val="10001"/>
                  </a:ext>
                </a:extLst>
              </a:tr>
              <a:tr h="300316">
                <a:tc>
                  <a:txBody>
                    <a:bodyPr/>
                    <a:lstStyle/>
                    <a:p>
                      <a:pPr marL="0" algn="ctr" defTabSz="914400" rtl="0" eaLnBrk="1" fontAlgn="ctr" latinLnBrk="0" hangingPunct="1"/>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endPar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endParaRPr lang="en-US" altLang="zh-CN" sz="1500" b="0" i="0" u="none" strike="noStrike" dirty="0">
                        <a:solidFill>
                          <a:srgbClr val="000000"/>
                        </a:solidFill>
                        <a:effectLst/>
                        <a:latin typeface="+mn-lt"/>
                        <a:ea typeface="+mj-ea"/>
                      </a:endParaRPr>
                    </a:p>
                  </a:txBody>
                  <a:tcPr marL="9525" marR="9525" marT="9525" marB="0" anchor="ctr">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人人车网</a:t>
                      </a:r>
                    </a:p>
                  </a:txBody>
                  <a:tcPr marL="9525" marR="9525" marT="9525" marB="0" anchor="ctr">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6.2%</a:t>
                      </a:r>
                    </a:p>
                  </a:txBody>
                  <a:tcPr marL="9525" marR="9525" marT="9525" marB="0" anchor="ctr">
                    <a:solidFill>
                      <a:schemeClr val="bg1">
                        <a:lumMod val="95000"/>
                      </a:schemeClr>
                    </a:solidFill>
                  </a:tcPr>
                </a:tc>
              </a:tr>
              <a:tr h="300316">
                <a:tc>
                  <a:txBody>
                    <a:bodyPr/>
                    <a:lstStyle/>
                    <a:p>
                      <a:pPr marL="0" algn="ctr" defTabSz="914400" rtl="0" eaLnBrk="1" fontAlgn="ctr" latinLnBrk="0" hangingPunct="1"/>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endPar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endParaRPr lang="en-US" altLang="zh-CN" sz="1500" b="0" i="0" u="none" strike="noStrike" dirty="0">
                        <a:solidFill>
                          <a:srgbClr val="000000"/>
                        </a:solidFill>
                        <a:effectLst/>
                        <a:latin typeface="+mn-lt"/>
                        <a:ea typeface="+mj-ea"/>
                      </a:endParaRPr>
                    </a:p>
                  </a:txBody>
                  <a:tcPr marL="9525" marR="9525" marT="9525" marB="0" anchor="ctr">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优信二手车网</a:t>
                      </a:r>
                    </a:p>
                  </a:txBody>
                  <a:tcPr marL="9525" marR="9525" marT="9525" marB="0" anchor="ctr">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1.6%</a:t>
                      </a:r>
                    </a:p>
                  </a:txBody>
                  <a:tcPr marL="9525" marR="9525" marT="9525" marB="0" anchor="ctr">
                    <a:solidFill>
                      <a:schemeClr val="bg1">
                        <a:lumMod val="95000"/>
                      </a:schemeClr>
                    </a:solidFill>
                  </a:tcPr>
                </a:tc>
              </a:tr>
              <a:tr h="300316">
                <a:tc>
                  <a:txBody>
                    <a:bodyPr/>
                    <a:lstStyle/>
                    <a:p>
                      <a:pPr marL="0" algn="ctr" defTabSz="914400" rtl="0" eaLnBrk="1" fontAlgn="ctr" latinLnBrk="0" hangingPunct="1"/>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endPar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endParaRPr lang="en-US" altLang="zh-CN" sz="1500" b="0" i="0" u="none" strike="noStrike" dirty="0">
                        <a:solidFill>
                          <a:srgbClr val="000000"/>
                        </a:solidFill>
                        <a:effectLst/>
                        <a:latin typeface="+mn-lt"/>
                        <a:ea typeface="+mj-ea"/>
                      </a:endParaRPr>
                    </a:p>
                  </a:txBody>
                  <a:tcPr marL="9525" marR="9525" marT="9525" marB="0" anchor="ctr">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车置宝网</a:t>
                      </a:r>
                    </a:p>
                  </a:txBody>
                  <a:tcPr marL="9525" marR="9525" marT="9525" marB="0" anchor="ctr">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0.7%</a:t>
                      </a:r>
                    </a:p>
                  </a:txBody>
                  <a:tcPr marL="9525" marR="9525" marT="9525" marB="0" anchor="ctr">
                    <a:solidFill>
                      <a:schemeClr val="bg1">
                        <a:lumMod val="95000"/>
                      </a:schemeClr>
                    </a:solidFill>
                  </a:tcPr>
                </a:tc>
              </a:tr>
              <a:tr h="300316">
                <a:tc>
                  <a:txBody>
                    <a:bodyPr/>
                    <a:lstStyle/>
                    <a:p>
                      <a:pPr marL="0" algn="ctr" defTabSz="914400" rtl="0" eaLnBrk="1" fontAlgn="ctr" latinLnBrk="0" hangingPunct="1"/>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endPar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endParaRPr lang="en-US" altLang="zh-CN" sz="1500" b="0" i="0" u="none" strike="noStrike" dirty="0">
                        <a:solidFill>
                          <a:srgbClr val="000000"/>
                        </a:solidFill>
                        <a:effectLst/>
                        <a:latin typeface="+mn-lt"/>
                        <a:ea typeface="+mj-ea"/>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车享网</a:t>
                      </a: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0.6%</a:t>
                      </a: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r>
              <a:tr h="300316">
                <a:tc>
                  <a:txBody>
                    <a:bodyPr/>
                    <a:lstStyle/>
                    <a:p>
                      <a:pPr marL="0" algn="ctr" defTabSz="914400" rtl="0" eaLnBrk="1" fontAlgn="ctr" latinLnBrk="0" hangingPunct="1"/>
                      <a:r>
                        <a:rPr lang="en-US" altLang="zh-CN" sz="1500" u="none" strike="noStrike" kern="1200" dirty="0">
                          <a:effectLst/>
                        </a:rPr>
                        <a:t>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出行软件</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mn-lt"/>
                          <a:ea typeface="+mj-ea"/>
                        </a:rPr>
                        <a:t>18.6%</a:t>
                      </a:r>
                      <a:endParaRPr lang="en-US" altLang="zh-CN" sz="1500" b="0" i="0" u="none" strike="noStrike" dirty="0">
                        <a:solidFill>
                          <a:srgbClr val="000000"/>
                        </a:solidFill>
                        <a:effectLst/>
                        <a:latin typeface="+mn-lt"/>
                        <a:ea typeface="+mj-ea"/>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易到用车网</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10.2%</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 xmlns:a16="http://schemas.microsoft.com/office/drawing/2014/main" val="10002"/>
                  </a:ext>
                </a:extLst>
              </a:tr>
              <a:tr h="300316">
                <a:tc>
                  <a:txBody>
                    <a:bodyPr/>
                    <a:lstStyle/>
                    <a:p>
                      <a:pPr marL="0" algn="ctr" defTabSz="914400" rtl="0" eaLnBrk="1" fontAlgn="ctr" latinLnBrk="0" hangingPunct="1"/>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endPar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endParaRPr lang="en-US" altLang="zh-CN" sz="1500" b="0" i="0" u="none" strike="noStrike" dirty="0">
                        <a:solidFill>
                          <a:srgbClr val="000000"/>
                        </a:solidFill>
                        <a:effectLst/>
                        <a:latin typeface="+mn-lt"/>
                        <a:ea typeface="+mj-ea"/>
                      </a:endParaRPr>
                    </a:p>
                  </a:txBody>
                  <a:tcPr marL="9525" marR="9525" marT="9525" marB="0" anchor="ctr">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优步手机应用软件</a:t>
                      </a:r>
                    </a:p>
                  </a:txBody>
                  <a:tcPr marL="9525" marR="9525" marT="9525" marB="0" anchor="ctr">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7.2%</a:t>
                      </a:r>
                    </a:p>
                  </a:txBody>
                  <a:tcPr marL="9525" marR="9525" marT="9525" marB="0" anchor="ctr">
                    <a:solidFill>
                      <a:schemeClr val="bg1">
                        <a:lumMod val="95000"/>
                      </a:schemeClr>
                    </a:solidFill>
                  </a:tcPr>
                </a:tc>
              </a:tr>
              <a:tr h="300316">
                <a:tc>
                  <a:txBody>
                    <a:bodyPr/>
                    <a:lstStyle/>
                    <a:p>
                      <a:pPr marL="0" algn="ctr" defTabSz="914400" rtl="0" eaLnBrk="1" fontAlgn="ctr" latinLnBrk="0" hangingPunct="1"/>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endPar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endParaRPr lang="en-US" altLang="zh-CN" sz="1500" b="0" i="0" u="none" strike="noStrike" dirty="0">
                        <a:solidFill>
                          <a:srgbClr val="000000"/>
                        </a:solidFill>
                        <a:effectLst/>
                        <a:latin typeface="+mn-lt"/>
                        <a:ea typeface="+mj-ea"/>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滴滴打车软件</a:t>
                      </a: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1.2%</a:t>
                      </a: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r>
              <a:tr h="300316">
                <a:tc>
                  <a:txBody>
                    <a:bodyPr/>
                    <a:lstStyle/>
                    <a:p>
                      <a:pPr marL="0" algn="ctr" defTabSz="914400" rtl="0" eaLnBrk="1" fontAlgn="ctr" latinLnBrk="0" hangingPunct="1"/>
                      <a:r>
                        <a:rPr lang="en-US" altLang="zh-CN" sz="1500" u="none" strike="noStrike" kern="1200" dirty="0">
                          <a:effectLst/>
                        </a:rPr>
                        <a:t>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zh-CN" altLang="en-US" sz="1500" b="0" i="0" u="none" strike="noStrike" kern="1200" dirty="0" smtClean="0">
                          <a:solidFill>
                            <a:srgbClr val="000000"/>
                          </a:solidFill>
                          <a:effectLst/>
                          <a:latin typeface="华文中宋" panose="02010600040101010101" pitchFamily="2" charset="-122"/>
                          <a:ea typeface="华文中宋" panose="02010600040101010101" pitchFamily="2" charset="-122"/>
                          <a:cs typeface="+mn-cs"/>
                        </a:rPr>
                        <a:t>学车</a:t>
                      </a:r>
                      <a:endPar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mn-lt"/>
                          <a:ea typeface="+mj-ea"/>
                        </a:rPr>
                        <a:t>3.4%</a:t>
                      </a:r>
                      <a:endParaRPr lang="en-US" altLang="zh-CN" sz="1500" b="0" i="0" u="none" strike="noStrike" dirty="0">
                        <a:solidFill>
                          <a:srgbClr val="000000"/>
                        </a:solidFill>
                        <a:effectLst/>
                        <a:latin typeface="+mn-lt"/>
                        <a:ea typeface="+mj-ea"/>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车轮考驾照手机应用软件</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2.4%</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 xmlns:a16="http://schemas.microsoft.com/office/drawing/2014/main" val="10003"/>
                  </a:ext>
                </a:extLst>
              </a:tr>
              <a:tr h="300316">
                <a:tc>
                  <a:txBody>
                    <a:bodyPr/>
                    <a:lstStyle/>
                    <a:p>
                      <a:pPr marL="0" algn="ctr" defTabSz="914400" rtl="0" eaLnBrk="1" fontAlgn="ctr" latinLnBrk="0" hangingPunct="1"/>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endPar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endParaRPr lang="en-US" altLang="zh-CN" sz="1500" b="0" i="0" u="none" strike="noStrike" dirty="0">
                        <a:solidFill>
                          <a:srgbClr val="000000"/>
                        </a:solidFill>
                        <a:effectLst/>
                        <a:latin typeface="+mn-lt"/>
                        <a:ea typeface="+mj-ea"/>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猪兼强网</a:t>
                      </a: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1.0%</a:t>
                      </a: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r>
              <a:tr h="300316">
                <a:tc>
                  <a:txBody>
                    <a:bodyPr/>
                    <a:lstStyle/>
                    <a:p>
                      <a:pPr marL="0" algn="ctr" defTabSz="914400" rtl="0" eaLnBrk="1" fontAlgn="ctr" latinLnBrk="0" hangingPunct="1"/>
                      <a:r>
                        <a:rPr lang="en-US" altLang="zh-CN" sz="1500" u="none" strike="noStrike" kern="1200" dirty="0">
                          <a:effectLst/>
                        </a:rPr>
                        <a:t>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汽车保养</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mn-lt"/>
                          <a:ea typeface="+mj-ea"/>
                        </a:rPr>
                        <a:t>3.1%</a:t>
                      </a:r>
                      <a:endParaRPr lang="en-US" altLang="zh-CN" sz="1500" b="0" i="0" u="none" strike="noStrike" dirty="0">
                        <a:solidFill>
                          <a:srgbClr val="000000"/>
                        </a:solidFill>
                        <a:effectLst/>
                        <a:latin typeface="+mn-lt"/>
                        <a:ea typeface="+mj-ea"/>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途虎养车网</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1.5%</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 xmlns:a16="http://schemas.microsoft.com/office/drawing/2014/main" val="10004"/>
                  </a:ext>
                </a:extLst>
              </a:tr>
              <a:tr h="300316">
                <a:tc>
                  <a:txBody>
                    <a:bodyPr/>
                    <a:lstStyle/>
                    <a:p>
                      <a:pPr marL="0" algn="ctr" defTabSz="914400" rtl="0" eaLnBrk="1" fontAlgn="ctr" latinLnBrk="0" hangingPunct="1"/>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endPar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endParaRPr lang="en-US" altLang="zh-CN" sz="1500" b="0" i="0" u="none" strike="noStrike" dirty="0">
                        <a:solidFill>
                          <a:srgbClr val="000000"/>
                        </a:solidFill>
                        <a:effectLst/>
                        <a:latin typeface="+mn-lt"/>
                        <a:ea typeface="+mj-ea"/>
                      </a:endParaRPr>
                    </a:p>
                  </a:txBody>
                  <a:tcPr marL="9525" marR="9525" marT="9525" marB="0" anchor="ctr">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乐车邦应用软件</a:t>
                      </a:r>
                    </a:p>
                  </a:txBody>
                  <a:tcPr marL="9525" marR="9525" marT="9525" marB="0" anchor="ctr">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0.8%</a:t>
                      </a:r>
                    </a:p>
                  </a:txBody>
                  <a:tcPr marL="9525" marR="9525" marT="9525" marB="0" anchor="ctr">
                    <a:solidFill>
                      <a:schemeClr val="bg1">
                        <a:lumMod val="95000"/>
                      </a:schemeClr>
                    </a:solidFill>
                  </a:tcPr>
                </a:tc>
              </a:tr>
              <a:tr h="300316">
                <a:tc>
                  <a:txBody>
                    <a:bodyPr/>
                    <a:lstStyle/>
                    <a:p>
                      <a:pPr marL="0" algn="ctr" defTabSz="914400" rtl="0" eaLnBrk="1" fontAlgn="ctr" latinLnBrk="0" hangingPunct="1"/>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endPar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endParaRPr lang="en-US" altLang="zh-CN" sz="1500" b="0" i="0" u="none" strike="noStrike" dirty="0">
                        <a:solidFill>
                          <a:srgbClr val="000000"/>
                        </a:solidFill>
                        <a:effectLst/>
                        <a:latin typeface="+mn-lt"/>
                        <a:ea typeface="+mj-ea"/>
                      </a:endParaRP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汽车超人</a:t>
                      </a:r>
                      <a:r>
                        <a:rPr lang="en-US" altLang="zh-CN"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APP</a:t>
                      </a: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软件</a:t>
                      </a: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0.7%</a:t>
                      </a:r>
                    </a:p>
                  </a:txBody>
                  <a:tcPr marL="9525" marR="9525" marT="9525" marB="0" anchor="ctr">
                    <a:lnB w="12700" cap="flat" cmpd="sng" algn="ctr">
                      <a:solidFill>
                        <a:schemeClr val="tx1"/>
                      </a:solidFill>
                      <a:prstDash val="solid"/>
                      <a:round/>
                      <a:headEnd type="none" w="med" len="med"/>
                      <a:tailEnd type="none" w="med" len="med"/>
                    </a:lnB>
                    <a:solidFill>
                      <a:schemeClr val="bg1">
                        <a:lumMod val="95000"/>
                      </a:schemeClr>
                    </a:solidFill>
                  </a:tcPr>
                </a:tc>
              </a:tr>
              <a:tr h="300316">
                <a:tc>
                  <a:txBody>
                    <a:bodyPr/>
                    <a:lstStyle/>
                    <a:p>
                      <a:pPr marL="0" algn="ctr" defTabSz="914400" rtl="0" eaLnBrk="1" fontAlgn="ctr" latinLnBrk="0" hangingPunct="1"/>
                      <a:r>
                        <a:rPr lang="en-US" altLang="zh-CN" sz="1500" u="none" strike="noStrike" kern="1200" dirty="0">
                          <a:effectLst/>
                        </a:rPr>
                        <a:t>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导航</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mn-lt"/>
                          <a:ea typeface="+mj-ea"/>
                        </a:rPr>
                        <a:t>2.2%</a:t>
                      </a:r>
                      <a:endParaRPr lang="en-US" altLang="zh-CN" sz="1500" b="0" i="0" u="none" strike="noStrike" dirty="0">
                        <a:solidFill>
                          <a:srgbClr val="000000"/>
                        </a:solidFill>
                        <a:effectLst/>
                        <a:latin typeface="+mn-lt"/>
                        <a:ea typeface="+mj-ea"/>
                      </a:endParaRP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zh-CN" altLang="en-US" sz="1500" b="0" i="0" u="none" strike="noStrike" kern="1200" dirty="0">
                          <a:solidFill>
                            <a:srgbClr val="000000"/>
                          </a:solidFill>
                          <a:effectLst/>
                          <a:latin typeface="华文中宋" panose="02010600040101010101" pitchFamily="2" charset="-122"/>
                          <a:ea typeface="华文中宋" panose="02010600040101010101" pitchFamily="2" charset="-122"/>
                          <a:cs typeface="+mn-cs"/>
                        </a:rPr>
                        <a:t>百度地图软件</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fontAlgn="ctr"/>
                      <a:r>
                        <a:rPr lang="en-US" altLang="zh-CN" sz="1500" b="0" i="0" u="none" strike="noStrike" kern="1200" dirty="0">
                          <a:solidFill>
                            <a:srgbClr val="000000"/>
                          </a:solidFill>
                          <a:effectLst/>
                          <a:latin typeface="+mn-lt"/>
                          <a:ea typeface="+mj-ea"/>
                          <a:cs typeface="+mn-cs"/>
                        </a:rPr>
                        <a:t>2.2%</a:t>
                      </a:r>
                    </a:p>
                  </a:txBody>
                  <a:tcPr marL="9525" marR="9525" marT="9525" marB="0"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 xmlns:a16="http://schemas.microsoft.com/office/drawing/2014/main" val="10005"/>
                  </a:ext>
                </a:extLst>
              </a:tr>
            </a:tbl>
          </a:graphicData>
        </a:graphic>
      </p:graphicFrame>
      <p:sp>
        <p:nvSpPr>
          <p:cNvPr id="13" name="矩形 12"/>
          <p:cNvSpPr/>
          <p:nvPr/>
        </p:nvSpPr>
        <p:spPr>
          <a:xfrm>
            <a:off x="563923" y="6597352"/>
            <a:ext cx="8688597" cy="259045"/>
          </a:xfrm>
          <a:prstGeom prst="rect">
            <a:avLst/>
          </a:prstGeom>
        </p:spPr>
        <p:txBody>
          <a:bodyPr wrap="non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按照</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月广告花费排序 </a:t>
            </a: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0" name="TextBox 9"/>
          <p:cNvSpPr txBox="1"/>
          <p:nvPr/>
        </p:nvSpPr>
        <p:spPr>
          <a:xfrm>
            <a:off x="251521" y="757153"/>
            <a:ext cx="8786806" cy="1015663"/>
          </a:xfrm>
          <a:prstGeom prst="rect">
            <a:avLst/>
          </a:prstGeom>
          <a:noFill/>
        </p:spPr>
        <p:txBody>
          <a:bodyPr wrap="square" rtlCol="0">
            <a:spAutoFit/>
          </a:bodyPr>
          <a:lstStyle/>
          <a:p>
            <a:pPr marL="342900" indent="-342900">
              <a:buFont typeface="Arial" panose="020B0604020202020204" pitchFamily="34" charset="0"/>
              <a:buChar char="•"/>
            </a:pPr>
            <a:r>
              <a:rPr lang="zh-CN" altLang="en-US" sz="2000" b="1" dirty="0" smtClean="0">
                <a:solidFill>
                  <a:schemeClr val="bg1"/>
                </a:solidFill>
                <a:latin typeface="华文中宋" panose="02010600040101010101" pitchFamily="2" charset="-122"/>
                <a:ea typeface="华文中宋" panose="02010600040101010101" pitchFamily="2" charset="-122"/>
              </a:rPr>
              <a:t>今年</a:t>
            </a:r>
            <a:r>
              <a:rPr lang="en-US" altLang="zh-CN" sz="2000" b="1" dirty="0" smtClean="0">
                <a:solidFill>
                  <a:schemeClr val="bg1"/>
                </a:solidFill>
                <a:latin typeface="华文中宋" panose="02010600040101010101" pitchFamily="2" charset="-122"/>
                <a:ea typeface="华文中宋" panose="02010600040101010101" pitchFamily="2" charset="-122"/>
              </a:rPr>
              <a:t>3</a:t>
            </a:r>
            <a:r>
              <a:rPr lang="zh-CN" altLang="en-US" sz="2000" b="1" dirty="0" smtClean="0">
                <a:solidFill>
                  <a:schemeClr val="bg1"/>
                </a:solidFill>
                <a:latin typeface="华文中宋" panose="02010600040101010101" pitchFamily="2" charset="-122"/>
                <a:ea typeface="华文中宋" panose="02010600040101010101" pitchFamily="2" charset="-122"/>
              </a:rPr>
              <a:t>月底，</a:t>
            </a:r>
            <a:r>
              <a:rPr lang="zh-CN" altLang="en-US" sz="2000" b="1" dirty="0">
                <a:solidFill>
                  <a:schemeClr val="bg1"/>
                </a:solidFill>
                <a:latin typeface="华文中宋" panose="02010600040101010101" pitchFamily="2" charset="-122"/>
                <a:ea typeface="华文中宋" panose="02010600040101010101" pitchFamily="2" charset="-122"/>
              </a:rPr>
              <a:t>瓜子二手车直卖网</a:t>
            </a:r>
            <a:r>
              <a:rPr lang="zh-CN" altLang="en-US" sz="2000" b="1" dirty="0" smtClean="0">
                <a:solidFill>
                  <a:schemeClr val="bg1"/>
                </a:solidFill>
                <a:latin typeface="华文中宋" panose="02010600040101010101" pitchFamily="2" charset="-122"/>
                <a:ea typeface="华文中宋" panose="02010600040101010101" pitchFamily="2" charset="-122"/>
              </a:rPr>
              <a:t>完成</a:t>
            </a:r>
            <a:r>
              <a:rPr lang="en-US" altLang="zh-CN" sz="2000" b="1" dirty="0" smtClean="0">
                <a:solidFill>
                  <a:schemeClr val="bg1"/>
                </a:solidFill>
                <a:latin typeface="华文中宋" panose="02010600040101010101" pitchFamily="2" charset="-122"/>
                <a:ea typeface="华文中宋" panose="02010600040101010101" pitchFamily="2" charset="-122"/>
              </a:rPr>
              <a:t>A</a:t>
            </a:r>
            <a:r>
              <a:rPr lang="zh-CN" altLang="en-US" sz="2000" b="1" dirty="0" smtClean="0">
                <a:solidFill>
                  <a:schemeClr val="bg1"/>
                </a:solidFill>
                <a:latin typeface="华文中宋" panose="02010600040101010101" pitchFamily="2" charset="-122"/>
                <a:ea typeface="华文中宋" panose="02010600040101010101" pitchFamily="2" charset="-122"/>
              </a:rPr>
              <a:t>轮融资</a:t>
            </a:r>
            <a:r>
              <a:rPr lang="en-US" altLang="zh-CN" sz="2000" b="1" dirty="0" smtClean="0">
                <a:solidFill>
                  <a:schemeClr val="bg1"/>
                </a:solidFill>
                <a:latin typeface="华文中宋" panose="02010600040101010101" pitchFamily="2" charset="-122"/>
                <a:ea typeface="华文中宋" panose="02010600040101010101" pitchFamily="2" charset="-122"/>
              </a:rPr>
              <a:t>2.045</a:t>
            </a:r>
            <a:r>
              <a:rPr lang="zh-CN" altLang="en-US" sz="2000" b="1" dirty="0" smtClean="0">
                <a:solidFill>
                  <a:schemeClr val="bg1"/>
                </a:solidFill>
                <a:latin typeface="华文中宋" panose="02010600040101010101" pitchFamily="2" charset="-122"/>
                <a:ea typeface="华文中宋" panose="02010600040101010101" pitchFamily="2" charset="-122"/>
              </a:rPr>
              <a:t>亿美元，堪称</a:t>
            </a:r>
            <a:r>
              <a:rPr lang="zh-CN" altLang="en-US" sz="2000" b="1" dirty="0" smtClean="0">
                <a:solidFill>
                  <a:srgbClr val="FF0000"/>
                </a:solidFill>
                <a:latin typeface="华文中宋" panose="02010600040101010101" pitchFamily="2" charset="-122"/>
                <a:ea typeface="华文中宋" panose="02010600040101010101" pitchFamily="2" charset="-122"/>
              </a:rPr>
              <a:t>二手车电子商务平台</a:t>
            </a:r>
            <a:r>
              <a:rPr lang="en-US" altLang="zh-CN" sz="2000" b="1" dirty="0" smtClean="0">
                <a:solidFill>
                  <a:schemeClr val="bg1"/>
                </a:solidFill>
                <a:latin typeface="华文中宋" panose="02010600040101010101" pitchFamily="2" charset="-122"/>
                <a:ea typeface="华文中宋" panose="02010600040101010101" pitchFamily="2" charset="-122"/>
              </a:rPr>
              <a:t>A</a:t>
            </a:r>
            <a:r>
              <a:rPr lang="zh-CN" altLang="en-US" sz="2000" b="1" dirty="0" smtClean="0">
                <a:solidFill>
                  <a:schemeClr val="bg1"/>
                </a:solidFill>
                <a:latin typeface="华文中宋" panose="02010600040101010101" pitchFamily="2" charset="-122"/>
                <a:ea typeface="华文中宋" panose="02010600040101010101" pitchFamily="2" charset="-122"/>
              </a:rPr>
              <a:t>轮融资</a:t>
            </a:r>
            <a:r>
              <a:rPr lang="zh-CN" altLang="en-US" sz="2000" b="1" dirty="0" smtClean="0">
                <a:solidFill>
                  <a:srgbClr val="FF0000"/>
                </a:solidFill>
                <a:latin typeface="华文中宋" panose="02010600040101010101" pitchFamily="2" charset="-122"/>
                <a:ea typeface="华文中宋" panose="02010600040101010101" pitchFamily="2" charset="-122"/>
              </a:rPr>
              <a:t>最高额</a:t>
            </a:r>
            <a:r>
              <a:rPr lang="zh-CN" altLang="en-US" sz="2000" b="1" dirty="0" smtClean="0">
                <a:solidFill>
                  <a:schemeClr val="bg1"/>
                </a:solidFill>
                <a:latin typeface="华文中宋" panose="02010600040101010101" pitchFamily="2" charset="-122"/>
                <a:ea typeface="华文中宋" panose="02010600040101010101" pitchFamily="2" charset="-122"/>
              </a:rPr>
              <a:t>。</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342900" indent="-342900">
              <a:buFont typeface="Arial" panose="020B0604020202020204" pitchFamily="34" charset="0"/>
              <a:buChar char="•"/>
            </a:pPr>
            <a:r>
              <a:rPr lang="zh-CN" altLang="en-US" sz="2000" b="1" dirty="0" smtClean="0">
                <a:solidFill>
                  <a:srgbClr val="FF0000"/>
                </a:solidFill>
                <a:latin typeface="华文中宋" panose="02010600040101010101" pitchFamily="2" charset="-122"/>
                <a:ea typeface="华文中宋" panose="02010600040101010101" pitchFamily="2" charset="-122"/>
              </a:rPr>
              <a:t>瓜子二手车</a:t>
            </a:r>
            <a:r>
              <a:rPr lang="zh-CN" altLang="en-US" sz="2000" b="1" dirty="0" smtClean="0">
                <a:solidFill>
                  <a:schemeClr val="bg1"/>
                </a:solidFill>
                <a:latin typeface="华文中宋" panose="02010600040101010101" pitchFamily="2" charset="-122"/>
                <a:ea typeface="华文中宋" panose="02010600040101010101" pitchFamily="2" charset="-122"/>
              </a:rPr>
              <a:t>在融资前后的广告花费</a:t>
            </a:r>
            <a:r>
              <a:rPr lang="zh-CN" altLang="en-US" sz="2000" b="1" dirty="0" smtClean="0">
                <a:solidFill>
                  <a:srgbClr val="FF0000"/>
                </a:solidFill>
                <a:latin typeface="华文中宋" panose="02010600040101010101" pitchFamily="2" charset="-122"/>
                <a:ea typeface="华文中宋" panose="02010600040101010101" pitchFamily="2" charset="-122"/>
              </a:rPr>
              <a:t>占</a:t>
            </a:r>
            <a:r>
              <a:rPr lang="zh-CN" altLang="en-US" sz="2000" b="1" dirty="0" smtClean="0">
                <a:solidFill>
                  <a:schemeClr val="bg1"/>
                </a:solidFill>
                <a:latin typeface="华文中宋" panose="02010600040101010101" pitchFamily="2" charset="-122"/>
                <a:ea typeface="华文中宋" panose="02010600040101010101" pitchFamily="2" charset="-122"/>
              </a:rPr>
              <a:t>据汽车类互联网企业</a:t>
            </a:r>
            <a:r>
              <a:rPr lang="zh-CN" altLang="en-US" sz="2000" b="1" dirty="0" smtClean="0">
                <a:solidFill>
                  <a:srgbClr val="FF0000"/>
                </a:solidFill>
                <a:latin typeface="华文中宋" panose="02010600040101010101" pitchFamily="2" charset="-122"/>
                <a:ea typeface="华文中宋" panose="02010600040101010101" pitchFamily="2" charset="-122"/>
              </a:rPr>
              <a:t>总花费的六成</a:t>
            </a:r>
            <a:r>
              <a:rPr lang="zh-CN" altLang="en-US" sz="2000" b="1" dirty="0" smtClean="0">
                <a:solidFill>
                  <a:schemeClr val="bg1"/>
                </a:solidFill>
                <a:latin typeface="华文中宋" panose="02010600040101010101" pitchFamily="2" charset="-122"/>
                <a:ea typeface="华文中宋" panose="02010600040101010101" pitchFamily="2" charset="-122"/>
              </a:rPr>
              <a:t>。</a:t>
            </a:r>
            <a:endParaRPr lang="en-US" altLang="zh-CN" sz="2000" b="1" dirty="0" smtClean="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8319475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23528" y="1700813"/>
            <a:ext cx="3677394" cy="3677395"/>
          </a:xfrm>
          <a:prstGeom prst="rect">
            <a:avLst/>
          </a:prstGeom>
        </p:spPr>
      </p:pic>
      <p:sp>
        <p:nvSpPr>
          <p:cNvPr id="3" name="标题 1"/>
          <p:cNvSpPr txBox="1"/>
          <p:nvPr/>
        </p:nvSpPr>
        <p:spPr>
          <a:xfrm>
            <a:off x="3779912" y="2924944"/>
            <a:ext cx="5219341" cy="111363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b="1" dirty="0">
                <a:solidFill>
                  <a:srgbClr val="FFFFFF"/>
                </a:solidFill>
                <a:latin typeface="Arial Black"/>
                <a:ea typeface="微软雅黑"/>
              </a:rPr>
              <a:t>汽车出行</a:t>
            </a:r>
            <a:r>
              <a:rPr kumimoji="0" lang="zh-CN" altLang="en-US" sz="2800" b="1" i="0" u="none" strike="noStrike" kern="1200" cap="none" spc="0" normalizeH="0" baseline="0" noProof="0" dirty="0" smtClean="0">
                <a:ln>
                  <a:noFill/>
                </a:ln>
                <a:solidFill>
                  <a:srgbClr val="FFFFFF"/>
                </a:solidFill>
                <a:effectLst/>
                <a:uLnTx/>
                <a:uFillTx/>
                <a:latin typeface="Arial Black"/>
                <a:ea typeface="微软雅黑"/>
                <a:cs typeface="+mj-cs"/>
              </a:rPr>
              <a:t>类互联网</a:t>
            </a:r>
            <a:r>
              <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rPr>
              <a:t>企业</a:t>
            </a:r>
            <a:endParaRPr kumimoji="0" lang="en-US" altLang="zh-CN" sz="2800" b="1" i="0" u="none" strike="noStrike" kern="1200" cap="none" spc="0" normalizeH="0" baseline="0" noProof="0" dirty="0">
              <a:ln>
                <a:noFill/>
              </a:ln>
              <a:solidFill>
                <a:srgbClr val="FFFFFF"/>
              </a:solidFill>
              <a:effectLst/>
              <a:uLnTx/>
              <a:uFillTx/>
              <a:latin typeface="Arial Black"/>
              <a:ea typeface="微软雅黑"/>
              <a:cs typeface="+mj-cs"/>
            </a:endParaRPr>
          </a:p>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rPr>
              <a:t>         </a:t>
            </a:r>
            <a:r>
              <a:rPr kumimoji="0" lang="zh-CN" altLang="en-US" sz="2800" b="1" i="0" u="none" strike="noStrike" kern="1200" cap="none" spc="0" normalizeH="0" baseline="0" noProof="0" dirty="0" smtClean="0">
                <a:ln>
                  <a:noFill/>
                </a:ln>
                <a:solidFill>
                  <a:srgbClr val="FFFFFF"/>
                </a:solidFill>
                <a:effectLst/>
                <a:uLnTx/>
                <a:uFillTx/>
                <a:latin typeface="Arial Black"/>
                <a:ea typeface="微软雅黑"/>
                <a:cs typeface="+mj-cs"/>
              </a:rPr>
              <a:t>广告投放媒体策略分析</a:t>
            </a:r>
            <a:endPar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标题 1"/>
          <p:cNvSpPr txBox="1">
            <a:spLocks/>
          </p:cNvSpPr>
          <p:nvPr/>
        </p:nvSpPr>
        <p:spPr>
          <a:xfrm>
            <a:off x="251520" y="332656"/>
            <a:ext cx="8690768" cy="480131"/>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C000"/>
                </a:solidFill>
                <a:latin typeface="Arial Black"/>
                <a:ea typeface="微软雅黑"/>
              </a:rPr>
              <a:t>分媒体花费增幅</a:t>
            </a:r>
            <a:endParaRPr lang="zh-CN" altLang="en-US" b="1" dirty="0">
              <a:solidFill>
                <a:srgbClr val="FFC000"/>
              </a:solidFill>
              <a:latin typeface="Arial Black"/>
              <a:ea typeface="微软雅黑"/>
            </a:endParaRPr>
          </a:p>
        </p:txBody>
      </p:sp>
      <p:sp>
        <p:nvSpPr>
          <p:cNvPr id="15" name="TextBox 14"/>
          <p:cNvSpPr txBox="1"/>
          <p:nvPr/>
        </p:nvSpPr>
        <p:spPr>
          <a:xfrm>
            <a:off x="366913" y="2264763"/>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汽车出行</a:t>
            </a:r>
            <a:r>
              <a:rPr lang="zh-CN" altLang="en-US" b="1" dirty="0" smtClean="0">
                <a:solidFill>
                  <a:schemeClr val="tx1"/>
                </a:solidFill>
                <a:latin typeface="华文中宋" panose="02010600040101010101" pitchFamily="2" charset="-122"/>
                <a:ea typeface="华文中宋" panose="02010600040101010101" pitchFamily="2" charset="-122"/>
              </a:rPr>
              <a:t>类互联网</a:t>
            </a:r>
            <a:r>
              <a:rPr lang="zh-CN" altLang="en-US" b="1" dirty="0">
                <a:solidFill>
                  <a:schemeClr val="tx1"/>
                </a:solidFill>
                <a:latin typeface="华文中宋" panose="02010600040101010101" pitchFamily="2" charset="-122"/>
                <a:ea typeface="华文中宋" panose="02010600040101010101" pitchFamily="2" charset="-122"/>
              </a:rPr>
              <a:t>企业</a:t>
            </a:r>
            <a:r>
              <a:rPr lang="zh-CN" altLang="en-US" b="1" dirty="0" smtClean="0">
                <a:solidFill>
                  <a:schemeClr val="tx1"/>
                </a:solidFill>
                <a:latin typeface="华文中宋" panose="02010600040101010101" pitchFamily="2" charset="-122"/>
                <a:ea typeface="华文中宋" panose="02010600040101010101" pitchFamily="2" charset="-122"/>
              </a:rPr>
              <a:t>广告分媒体花费</a:t>
            </a:r>
            <a:r>
              <a:rPr lang="zh-CN" altLang="en-US" b="1" dirty="0">
                <a:solidFill>
                  <a:schemeClr val="tx1"/>
                </a:solidFill>
                <a:latin typeface="华文中宋" panose="02010600040101010101" pitchFamily="2" charset="-122"/>
                <a:ea typeface="华文中宋" panose="02010600040101010101" pitchFamily="2" charset="-122"/>
              </a:rPr>
              <a:t>增幅</a:t>
            </a:r>
            <a:endParaRPr lang="zh-CN" altLang="en-US" sz="1400" b="1" dirty="0">
              <a:solidFill>
                <a:schemeClr val="tx1"/>
              </a:solidFill>
              <a:latin typeface="华文中宋" panose="02010600040101010101" pitchFamily="2" charset="-122"/>
              <a:ea typeface="华文中宋" panose="02010600040101010101" pitchFamily="2" charset="-122"/>
            </a:endParaRPr>
          </a:p>
        </p:txBody>
      </p:sp>
      <p:graphicFrame>
        <p:nvGraphicFramePr>
          <p:cNvPr id="12" name="图表 11"/>
          <p:cNvGraphicFramePr/>
          <p:nvPr>
            <p:extLst>
              <p:ext uri="{D42A27DB-BD31-4B8C-83A1-F6EECF244321}">
                <p14:modId xmlns:p14="http://schemas.microsoft.com/office/powerpoint/2010/main" val="2720114945"/>
              </p:ext>
            </p:extLst>
          </p:nvPr>
        </p:nvGraphicFramePr>
        <p:xfrm>
          <a:off x="179512" y="2706103"/>
          <a:ext cx="9143999" cy="3747233"/>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p:cNvSpPr txBox="1"/>
          <p:nvPr/>
        </p:nvSpPr>
        <p:spPr>
          <a:xfrm>
            <a:off x="179511" y="764704"/>
            <a:ext cx="8858815"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a:solidFill>
                  <a:schemeClr val="bg1"/>
                </a:solidFill>
                <a:latin typeface="华文中宋" panose="02010600040101010101" pitchFamily="2" charset="-122"/>
                <a:ea typeface="华文中宋" panose="02010600040101010101" pitchFamily="2" charset="-122"/>
              </a:rPr>
              <a:t>即便</a:t>
            </a:r>
            <a:r>
              <a:rPr lang="zh-CN" altLang="en-US" sz="2000" b="1" dirty="0" smtClean="0">
                <a:solidFill>
                  <a:schemeClr val="bg1"/>
                </a:solidFill>
                <a:latin typeface="华文中宋" panose="02010600040101010101" pitchFamily="2" charset="-122"/>
                <a:ea typeface="华文中宋" panose="02010600040101010101" pitchFamily="2" charset="-122"/>
              </a:rPr>
              <a:t>是新兴的汽车出行类互联网企业，也</a:t>
            </a:r>
            <a:r>
              <a:rPr lang="zh-CN" altLang="en-US" sz="2000" b="1" dirty="0" smtClean="0">
                <a:solidFill>
                  <a:srgbClr val="FF0000"/>
                </a:solidFill>
                <a:latin typeface="华文中宋" panose="02010600040101010101" pitchFamily="2" charset="-122"/>
                <a:ea typeface="华文中宋" panose="02010600040101010101" pitchFamily="2" charset="-122"/>
              </a:rPr>
              <a:t>离不开商务楼宇视频</a:t>
            </a:r>
            <a:r>
              <a:rPr lang="zh-CN" altLang="en-US" sz="2000" b="1" dirty="0" smtClean="0">
                <a:solidFill>
                  <a:schemeClr val="bg1"/>
                </a:solidFill>
                <a:latin typeface="华文中宋" panose="02010600040101010101" pitchFamily="2" charset="-122"/>
                <a:ea typeface="华文中宋" panose="02010600040101010101" pitchFamily="2" charset="-122"/>
              </a:rPr>
              <a:t>和</a:t>
            </a:r>
            <a:r>
              <a:rPr lang="zh-CN" altLang="en-US" sz="2000" b="1" dirty="0" smtClean="0">
                <a:solidFill>
                  <a:srgbClr val="FF0000"/>
                </a:solidFill>
                <a:latin typeface="华文中宋" panose="02010600040101010101" pitchFamily="2" charset="-122"/>
                <a:ea typeface="华文中宋" panose="02010600040101010101" pitchFamily="2" charset="-122"/>
              </a:rPr>
              <a:t>电视</a:t>
            </a:r>
            <a:r>
              <a:rPr lang="zh-CN" altLang="en-US" sz="2000" b="1" dirty="0" smtClean="0">
                <a:solidFill>
                  <a:schemeClr val="bg1"/>
                </a:solidFill>
                <a:latin typeface="华文中宋" panose="02010600040101010101" pitchFamily="2" charset="-122"/>
                <a:ea typeface="华文中宋" panose="02010600040101010101" pitchFamily="2" charset="-122"/>
              </a:rPr>
              <a:t>广告的宣传。</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342900" indent="-342900">
              <a:lnSpc>
                <a:spcPct val="150000"/>
              </a:lnSpc>
              <a:buFont typeface="Arial" panose="020B0604020202020204" pitchFamily="34" charset="0"/>
              <a:buChar char="•"/>
            </a:pPr>
            <a:r>
              <a:rPr lang="zh-CN" altLang="en-US" sz="2000" b="1" dirty="0" smtClean="0">
                <a:solidFill>
                  <a:schemeClr val="bg1"/>
                </a:solidFill>
                <a:latin typeface="华文中宋" panose="02010600040101010101" pitchFamily="2" charset="-122"/>
                <a:ea typeface="华文中宋" panose="02010600040101010101" pitchFamily="2" charset="-122"/>
              </a:rPr>
              <a:t>电台和传统户外媒体的广告花费增幅接近，</a:t>
            </a:r>
            <a:r>
              <a:rPr lang="zh-CN" altLang="en-US" sz="2000" b="1" dirty="0" smtClean="0">
                <a:solidFill>
                  <a:srgbClr val="FF0000"/>
                </a:solidFill>
                <a:latin typeface="华文中宋" panose="02010600040101010101" pitchFamily="2" charset="-122"/>
                <a:ea typeface="华文中宋" panose="02010600040101010101" pitchFamily="2" charset="-122"/>
              </a:rPr>
              <a:t>影院视频</a:t>
            </a:r>
            <a:r>
              <a:rPr lang="zh-CN" altLang="en-US" sz="2000" b="1" dirty="0" smtClean="0">
                <a:solidFill>
                  <a:schemeClr val="bg1"/>
                </a:solidFill>
                <a:latin typeface="华文中宋" panose="02010600040101010101" pitchFamily="2" charset="-122"/>
                <a:ea typeface="华文中宋" panose="02010600040101010101" pitchFamily="2" charset="-122"/>
              </a:rPr>
              <a:t>的广告花费</a:t>
            </a:r>
            <a:r>
              <a:rPr lang="zh-CN" altLang="en-US" sz="2000" b="1" dirty="0" smtClean="0">
                <a:solidFill>
                  <a:srgbClr val="FF0000"/>
                </a:solidFill>
                <a:latin typeface="华文中宋" panose="02010600040101010101" pitchFamily="2" charset="-122"/>
                <a:ea typeface="华文中宋" panose="02010600040101010101" pitchFamily="2" charset="-122"/>
              </a:rPr>
              <a:t>增幅明显</a:t>
            </a:r>
            <a:r>
              <a:rPr lang="zh-CN" altLang="en-US" sz="2000" b="1" dirty="0" smtClean="0">
                <a:solidFill>
                  <a:schemeClr val="bg1"/>
                </a:solidFill>
                <a:latin typeface="华文中宋" panose="02010600040101010101" pitchFamily="2" charset="-122"/>
                <a:ea typeface="华文中宋" panose="02010600040101010101" pitchFamily="2" charset="-122"/>
              </a:rPr>
              <a:t>。</a:t>
            </a:r>
            <a:endParaRPr lang="zh-CN" altLang="en-US" sz="2000" b="1" dirty="0">
              <a:solidFill>
                <a:schemeClr val="bg1"/>
              </a:solidFill>
              <a:latin typeface="华文中宋" panose="02010600040101010101" pitchFamily="2" charset="-122"/>
              <a:ea typeface="华文中宋" panose="02010600040101010101" pitchFamily="2" charset="-122"/>
            </a:endParaRPr>
          </a:p>
        </p:txBody>
      </p:sp>
      <p:sp>
        <p:nvSpPr>
          <p:cNvPr id="9" name="矩形 8"/>
          <p:cNvSpPr/>
          <p:nvPr/>
        </p:nvSpPr>
        <p:spPr>
          <a:xfrm>
            <a:off x="563923" y="6597352"/>
            <a:ext cx="8688597" cy="259045"/>
          </a:xfrm>
          <a:prstGeom prst="rect">
            <a:avLst/>
          </a:prstGeom>
        </p:spPr>
        <p:txBody>
          <a:bodyPr wrap="non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按照</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月广告花费排序 </a:t>
            </a: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5492781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标题 1"/>
          <p:cNvSpPr txBox="1">
            <a:spLocks/>
          </p:cNvSpPr>
          <p:nvPr/>
        </p:nvSpPr>
        <p:spPr>
          <a:xfrm>
            <a:off x="251520" y="332656"/>
            <a:ext cx="8690768" cy="480131"/>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C000"/>
                </a:solidFill>
                <a:latin typeface="Arial Black"/>
                <a:ea typeface="微软雅黑"/>
              </a:rPr>
              <a:t>分媒体花费占比</a:t>
            </a:r>
            <a:endParaRPr lang="zh-CN" altLang="en-US" b="1" dirty="0">
              <a:solidFill>
                <a:srgbClr val="FFC000"/>
              </a:solidFill>
              <a:latin typeface="Arial Black"/>
              <a:ea typeface="微软雅黑"/>
            </a:endParaRPr>
          </a:p>
        </p:txBody>
      </p:sp>
      <p:sp>
        <p:nvSpPr>
          <p:cNvPr id="15" name="TextBox 14"/>
          <p:cNvSpPr txBox="1"/>
          <p:nvPr/>
        </p:nvSpPr>
        <p:spPr>
          <a:xfrm>
            <a:off x="378459" y="2780928"/>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汽车出行</a:t>
            </a:r>
            <a:r>
              <a:rPr lang="zh-CN" altLang="en-US" b="1" dirty="0" smtClean="0">
                <a:solidFill>
                  <a:schemeClr val="tx1"/>
                </a:solidFill>
                <a:latin typeface="华文中宋" panose="02010600040101010101" pitchFamily="2" charset="-122"/>
                <a:ea typeface="华文中宋" panose="02010600040101010101" pitchFamily="2" charset="-122"/>
              </a:rPr>
              <a:t>类</a:t>
            </a:r>
            <a:r>
              <a:rPr lang="zh-CN" altLang="en-US" b="1" dirty="0">
                <a:solidFill>
                  <a:schemeClr val="tx1"/>
                </a:solidFill>
                <a:latin typeface="华文中宋" panose="02010600040101010101" pitchFamily="2" charset="-122"/>
                <a:ea typeface="华文中宋" panose="02010600040101010101" pitchFamily="2" charset="-122"/>
              </a:rPr>
              <a:t>互联网企业</a:t>
            </a:r>
            <a:r>
              <a:rPr lang="zh-CN" altLang="en-US" b="1" dirty="0" smtClean="0">
                <a:solidFill>
                  <a:schemeClr val="tx1"/>
                </a:solidFill>
                <a:latin typeface="华文中宋" panose="02010600040101010101" pitchFamily="2" charset="-122"/>
                <a:ea typeface="华文中宋" panose="02010600040101010101" pitchFamily="2" charset="-122"/>
              </a:rPr>
              <a:t>广告花费占比前三位的媒体类型</a:t>
            </a:r>
            <a:endParaRPr lang="zh-CN" altLang="en-US" sz="1400" b="1" dirty="0">
              <a:solidFill>
                <a:schemeClr val="tx1"/>
              </a:solidFill>
              <a:latin typeface="华文中宋" panose="02010600040101010101" pitchFamily="2" charset="-122"/>
              <a:ea typeface="华文中宋" panose="02010600040101010101" pitchFamily="2" charset="-122"/>
            </a:endParaRPr>
          </a:p>
        </p:txBody>
      </p:sp>
      <p:sp>
        <p:nvSpPr>
          <p:cNvPr id="8" name="MH_Other_1"/>
          <p:cNvSpPr/>
          <p:nvPr>
            <p:custDataLst>
              <p:tags r:id="rId1"/>
            </p:custDataLst>
          </p:nvPr>
        </p:nvSpPr>
        <p:spPr>
          <a:xfrm>
            <a:off x="1357883" y="3620375"/>
            <a:ext cx="945356" cy="945356"/>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9" name="MH_Other_9"/>
          <p:cNvSpPr/>
          <p:nvPr>
            <p:custDataLst>
              <p:tags r:id="rId2"/>
            </p:custDataLst>
          </p:nvPr>
        </p:nvSpPr>
        <p:spPr>
          <a:xfrm>
            <a:off x="1357883" y="3620375"/>
            <a:ext cx="945356" cy="945356"/>
          </a:xfrm>
          <a:prstGeom prst="pie">
            <a:avLst>
              <a:gd name="adj1" fmla="val 16149753"/>
              <a:gd name="adj2" fmla="val 6569203"/>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endParaRPr>
          </a:p>
        </p:txBody>
      </p:sp>
      <p:sp>
        <p:nvSpPr>
          <p:cNvPr id="11" name="MH_Other_10"/>
          <p:cNvSpPr/>
          <p:nvPr>
            <p:custDataLst>
              <p:tags r:id="rId3"/>
            </p:custDataLst>
          </p:nvPr>
        </p:nvSpPr>
        <p:spPr>
          <a:xfrm>
            <a:off x="1187624" y="3450115"/>
            <a:ext cx="1285875" cy="1285875"/>
          </a:xfrm>
          <a:prstGeom prst="donut">
            <a:avLst>
              <a:gd name="adj" fmla="val 9894"/>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endParaRPr>
          </a:p>
        </p:txBody>
      </p:sp>
      <p:sp>
        <p:nvSpPr>
          <p:cNvPr id="12" name="MH_Text_2"/>
          <p:cNvSpPr txBox="1">
            <a:spLocks noChangeArrowheads="1"/>
          </p:cNvSpPr>
          <p:nvPr>
            <p:custDataLst>
              <p:tags r:id="rId4"/>
            </p:custDataLst>
          </p:nvPr>
        </p:nvSpPr>
        <p:spPr bwMode="auto">
          <a:xfrm>
            <a:off x="1280566" y="5546732"/>
            <a:ext cx="1192933" cy="258532"/>
          </a:xfrm>
          <a:prstGeom prst="rect">
            <a:avLst/>
          </a:prstGeom>
          <a:solidFill>
            <a:srgbClr val="FF00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商务楼宇视频</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3" name="MH_Other_1"/>
          <p:cNvSpPr/>
          <p:nvPr>
            <p:custDataLst>
              <p:tags r:id="rId5"/>
            </p:custDataLst>
          </p:nvPr>
        </p:nvSpPr>
        <p:spPr>
          <a:xfrm>
            <a:off x="4011935" y="3609529"/>
            <a:ext cx="945356" cy="945356"/>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14" name="MH_Other_9"/>
          <p:cNvSpPr/>
          <p:nvPr>
            <p:custDataLst>
              <p:tags r:id="rId6"/>
            </p:custDataLst>
          </p:nvPr>
        </p:nvSpPr>
        <p:spPr>
          <a:xfrm>
            <a:off x="4011935" y="3609529"/>
            <a:ext cx="945356" cy="945356"/>
          </a:xfrm>
          <a:prstGeom prst="pie">
            <a:avLst>
              <a:gd name="adj1" fmla="val 16149753"/>
              <a:gd name="adj2" fmla="val 68756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endParaRPr>
          </a:p>
        </p:txBody>
      </p:sp>
      <p:sp>
        <p:nvSpPr>
          <p:cNvPr id="16" name="MH_Other_10"/>
          <p:cNvSpPr/>
          <p:nvPr>
            <p:custDataLst>
              <p:tags r:id="rId7"/>
            </p:custDataLst>
          </p:nvPr>
        </p:nvSpPr>
        <p:spPr>
          <a:xfrm>
            <a:off x="3841676" y="3439269"/>
            <a:ext cx="1285875" cy="1285875"/>
          </a:xfrm>
          <a:prstGeom prst="donut">
            <a:avLst>
              <a:gd name="adj" fmla="val 9894"/>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endParaRPr>
          </a:p>
        </p:txBody>
      </p:sp>
      <p:sp>
        <p:nvSpPr>
          <p:cNvPr id="17" name="MH_Text_2"/>
          <p:cNvSpPr txBox="1">
            <a:spLocks noChangeArrowheads="1"/>
          </p:cNvSpPr>
          <p:nvPr>
            <p:custDataLst>
              <p:tags r:id="rId8"/>
            </p:custDataLst>
          </p:nvPr>
        </p:nvSpPr>
        <p:spPr bwMode="auto">
          <a:xfrm>
            <a:off x="3851895" y="5557728"/>
            <a:ext cx="1224161" cy="236540"/>
          </a:xfrm>
          <a:prstGeom prst="rect">
            <a:avLst/>
          </a:prstGeom>
          <a:solidFill>
            <a:srgbClr val="00B0F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电视</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8" name="MH_Other_1"/>
          <p:cNvSpPr/>
          <p:nvPr>
            <p:custDataLst>
              <p:tags r:id="rId9"/>
            </p:custDataLst>
          </p:nvPr>
        </p:nvSpPr>
        <p:spPr>
          <a:xfrm>
            <a:off x="6758508" y="3599260"/>
            <a:ext cx="945356" cy="945356"/>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19" name="MH_Other_9"/>
          <p:cNvSpPr/>
          <p:nvPr>
            <p:custDataLst>
              <p:tags r:id="rId10"/>
            </p:custDataLst>
          </p:nvPr>
        </p:nvSpPr>
        <p:spPr>
          <a:xfrm>
            <a:off x="6758508" y="3599260"/>
            <a:ext cx="945356" cy="945356"/>
          </a:xfrm>
          <a:prstGeom prst="pie">
            <a:avLst>
              <a:gd name="adj1" fmla="val 16149753"/>
              <a:gd name="adj2" fmla="val 18925943"/>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endParaRPr>
          </a:p>
        </p:txBody>
      </p:sp>
      <p:sp>
        <p:nvSpPr>
          <p:cNvPr id="20" name="MH_Other_10"/>
          <p:cNvSpPr/>
          <p:nvPr>
            <p:custDataLst>
              <p:tags r:id="rId11"/>
            </p:custDataLst>
          </p:nvPr>
        </p:nvSpPr>
        <p:spPr>
          <a:xfrm>
            <a:off x="6588249" y="3429000"/>
            <a:ext cx="1285875" cy="1285875"/>
          </a:xfrm>
          <a:prstGeom prst="donut">
            <a:avLst>
              <a:gd name="adj" fmla="val 9894"/>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endParaRPr>
          </a:p>
        </p:txBody>
      </p:sp>
      <p:sp>
        <p:nvSpPr>
          <p:cNvPr id="21" name="MH_Text_2"/>
          <p:cNvSpPr txBox="1">
            <a:spLocks noChangeArrowheads="1"/>
          </p:cNvSpPr>
          <p:nvPr>
            <p:custDataLst>
              <p:tags r:id="rId12"/>
            </p:custDataLst>
          </p:nvPr>
        </p:nvSpPr>
        <p:spPr bwMode="auto">
          <a:xfrm>
            <a:off x="6732215" y="5547459"/>
            <a:ext cx="1224161" cy="236540"/>
          </a:xfrm>
          <a:prstGeom prst="rect">
            <a:avLst/>
          </a:prstGeom>
          <a:solidFill>
            <a:srgbClr val="FFC0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a:solidFill>
                  <a:schemeClr val="bg1"/>
                </a:solidFill>
                <a:latin typeface="华文中宋" panose="02010600040101010101" pitchFamily="2" charset="-122"/>
                <a:ea typeface="华文中宋" panose="02010600040101010101" pitchFamily="2" charset="-122"/>
              </a:rPr>
              <a:t>电台</a:t>
            </a:r>
          </a:p>
        </p:txBody>
      </p:sp>
      <p:sp>
        <p:nvSpPr>
          <p:cNvPr id="22" name="MH_Text_2"/>
          <p:cNvSpPr txBox="1">
            <a:spLocks noChangeArrowheads="1"/>
          </p:cNvSpPr>
          <p:nvPr>
            <p:custDataLst>
              <p:tags r:id="rId13"/>
            </p:custDataLst>
          </p:nvPr>
        </p:nvSpPr>
        <p:spPr bwMode="auto">
          <a:xfrm>
            <a:off x="1158926" y="4797152"/>
            <a:ext cx="701082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mn-lt"/>
                <a:ea typeface="华文中宋" panose="02010600040101010101" pitchFamily="2" charset="-122"/>
              </a:rPr>
              <a:t>     62.9%                                     25.0%                                      7.1% </a:t>
            </a:r>
            <a:endParaRPr lang="zh-CN" altLang="en-US" sz="2000" b="1" dirty="0">
              <a:solidFill>
                <a:schemeClr val="bg1"/>
              </a:solidFill>
              <a:latin typeface="+mn-lt"/>
              <a:ea typeface="华文中宋" panose="02010600040101010101" pitchFamily="2" charset="-122"/>
            </a:endParaRPr>
          </a:p>
        </p:txBody>
      </p:sp>
      <p:sp>
        <p:nvSpPr>
          <p:cNvPr id="23" name="TextBox 22"/>
          <p:cNvSpPr txBox="1"/>
          <p:nvPr/>
        </p:nvSpPr>
        <p:spPr>
          <a:xfrm>
            <a:off x="251520" y="811655"/>
            <a:ext cx="8690767" cy="193899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solidFill>
                  <a:schemeClr val="bg1"/>
                </a:solidFill>
                <a:latin typeface="华文中宋" panose="02010600040101010101" pitchFamily="2" charset="-122"/>
                <a:ea typeface="华文中宋" panose="02010600040101010101" pitchFamily="2" charset="-122"/>
              </a:rPr>
              <a:t>汽车出行类互联网企业广告花费的</a:t>
            </a:r>
            <a:r>
              <a:rPr lang="zh-CN" altLang="en-US" sz="2000" b="1" dirty="0" smtClean="0">
                <a:solidFill>
                  <a:srgbClr val="FF0000"/>
                </a:solidFill>
                <a:latin typeface="华文中宋" panose="02010600040101010101" pitchFamily="2" charset="-122"/>
                <a:ea typeface="华文中宋" panose="02010600040101010101" pitchFamily="2" charset="-122"/>
              </a:rPr>
              <a:t>九成</a:t>
            </a:r>
            <a:r>
              <a:rPr lang="zh-CN" altLang="en-US" sz="2000" b="1" dirty="0" smtClean="0">
                <a:solidFill>
                  <a:schemeClr val="bg1"/>
                </a:solidFill>
                <a:latin typeface="华文中宋" panose="02010600040101010101" pitchFamily="2" charset="-122"/>
                <a:ea typeface="华文中宋" panose="02010600040101010101" pitchFamily="2" charset="-122"/>
              </a:rPr>
              <a:t>投放在</a:t>
            </a:r>
            <a:r>
              <a:rPr lang="zh-CN" altLang="en-US" sz="2000" b="1" dirty="0">
                <a:solidFill>
                  <a:srgbClr val="FF0000"/>
                </a:solidFill>
                <a:latin typeface="华文中宋" panose="02010600040101010101" pitchFamily="2" charset="-122"/>
                <a:ea typeface="华文中宋" panose="02010600040101010101" pitchFamily="2" charset="-122"/>
              </a:rPr>
              <a:t>商务楼宇</a:t>
            </a:r>
            <a:r>
              <a:rPr lang="zh-CN" altLang="en-US" sz="2000" b="1" dirty="0" smtClean="0">
                <a:solidFill>
                  <a:srgbClr val="FF0000"/>
                </a:solidFill>
                <a:latin typeface="华文中宋" panose="02010600040101010101" pitchFamily="2" charset="-122"/>
                <a:ea typeface="华文中宋" panose="02010600040101010101" pitchFamily="2" charset="-122"/>
              </a:rPr>
              <a:t>视频、电视以及电台。</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342900" indent="-342900">
              <a:lnSpc>
                <a:spcPct val="150000"/>
              </a:lnSpc>
              <a:buClr>
                <a:schemeClr val="bg1"/>
              </a:buClr>
              <a:buFont typeface="Arial" panose="020B0604020202020204" pitchFamily="34" charset="0"/>
              <a:buChar char="•"/>
            </a:pPr>
            <a:r>
              <a:rPr lang="zh-CN" altLang="en-US" sz="2000" b="1" dirty="0" smtClean="0">
                <a:solidFill>
                  <a:srgbClr val="FF0000"/>
                </a:solidFill>
                <a:latin typeface="华文中宋" panose="02010600040101010101" pitchFamily="2" charset="-122"/>
                <a:ea typeface="华文中宋" panose="02010600040101010101" pitchFamily="2" charset="-122"/>
              </a:rPr>
              <a:t>商务楼宇视频</a:t>
            </a:r>
            <a:r>
              <a:rPr lang="zh-CN" altLang="en-US" sz="2000" b="1" dirty="0" smtClean="0">
                <a:solidFill>
                  <a:schemeClr val="bg1"/>
                </a:solidFill>
                <a:latin typeface="华文中宋" panose="02010600040101010101" pitchFamily="2" charset="-122"/>
                <a:ea typeface="华文中宋" panose="02010600040101010101" pitchFamily="2" charset="-122"/>
              </a:rPr>
              <a:t>的</a:t>
            </a:r>
            <a:r>
              <a:rPr lang="zh-CN" altLang="en-US" sz="2000" b="1" dirty="0">
                <a:solidFill>
                  <a:schemeClr val="bg1"/>
                </a:solidFill>
                <a:latin typeface="华文中宋" panose="02010600040101010101" pitchFamily="2" charset="-122"/>
                <a:ea typeface="华文中宋" panose="02010600040101010101" pitchFamily="2" charset="-122"/>
              </a:rPr>
              <a:t>广告花费</a:t>
            </a:r>
            <a:r>
              <a:rPr lang="zh-CN" altLang="en-US" sz="2000" b="1" dirty="0" smtClean="0">
                <a:solidFill>
                  <a:schemeClr val="bg1"/>
                </a:solidFill>
                <a:latin typeface="华文中宋" panose="02010600040101010101" pitchFamily="2" charset="-122"/>
                <a:ea typeface="华文中宋" panose="02010600040101010101" pitchFamily="2" charset="-122"/>
              </a:rPr>
              <a:t>占据汽车出行类</a:t>
            </a:r>
            <a:r>
              <a:rPr lang="zh-CN" altLang="en-US" sz="2000" b="1" dirty="0">
                <a:solidFill>
                  <a:schemeClr val="bg1"/>
                </a:solidFill>
                <a:latin typeface="华文中宋" panose="02010600040101010101" pitchFamily="2" charset="-122"/>
                <a:ea typeface="华文中宋" panose="02010600040101010101" pitchFamily="2" charset="-122"/>
              </a:rPr>
              <a:t>互联网企业广告总花费的</a:t>
            </a:r>
            <a:r>
              <a:rPr lang="zh-CN" altLang="en-US" sz="2000" b="1" dirty="0">
                <a:solidFill>
                  <a:srgbClr val="FF0000"/>
                </a:solidFill>
                <a:latin typeface="华文中宋" panose="02010600040101010101" pitchFamily="2" charset="-122"/>
                <a:ea typeface="华文中宋" panose="02010600040101010101" pitchFamily="2" charset="-122"/>
              </a:rPr>
              <a:t>一半</a:t>
            </a:r>
            <a:r>
              <a:rPr lang="zh-CN" altLang="en-US" sz="2000" b="1" dirty="0" smtClean="0">
                <a:solidFill>
                  <a:srgbClr val="FF0000"/>
                </a:solidFill>
                <a:latin typeface="华文中宋" panose="02010600040101010101" pitchFamily="2" charset="-122"/>
                <a:ea typeface="华文中宋" panose="02010600040101010101" pitchFamily="2" charset="-122"/>
              </a:rPr>
              <a:t>以上。</a:t>
            </a:r>
            <a:endParaRPr lang="en-US" altLang="zh-CN" sz="2000" b="1" dirty="0">
              <a:solidFill>
                <a:srgbClr val="FF0000"/>
              </a:solidFill>
              <a:latin typeface="华文中宋" panose="02010600040101010101" pitchFamily="2" charset="-122"/>
              <a:ea typeface="华文中宋" panose="02010600040101010101" pitchFamily="2" charset="-122"/>
            </a:endParaRPr>
          </a:p>
        </p:txBody>
      </p:sp>
      <p:sp>
        <p:nvSpPr>
          <p:cNvPr id="25" name="矩形 24"/>
          <p:cNvSpPr/>
          <p:nvPr/>
        </p:nvSpPr>
        <p:spPr>
          <a:xfrm>
            <a:off x="2604546" y="6597352"/>
            <a:ext cx="6647974" cy="259045"/>
          </a:xfrm>
          <a:prstGeom prst="rect">
            <a:avLst/>
          </a:prstGeom>
        </p:spPr>
        <p:txBody>
          <a:bodyPr wrap="none">
            <a:spAutoFit/>
          </a:bodyPr>
          <a:lstStyle/>
          <a:p>
            <a:pPr algn="r" latinLnBrk="1">
              <a:lnSpc>
                <a:spcPts val="1300"/>
              </a:lnSpc>
            </a:pP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412251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79512" y="116632"/>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1B015"/>
                </a:solidFill>
                <a:latin typeface="Arial Black"/>
                <a:ea typeface="微软雅黑"/>
              </a:rPr>
              <a:t>媒体选择</a:t>
            </a:r>
            <a:endParaRPr lang="zh-CN" altLang="en-US" b="1" dirty="0">
              <a:solidFill>
                <a:srgbClr val="F1B015"/>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5" name="表格 4"/>
          <p:cNvGraphicFramePr>
            <a:graphicFrameLocks noGrp="1"/>
          </p:cNvGraphicFramePr>
          <p:nvPr>
            <p:extLst>
              <p:ext uri="{D42A27DB-BD31-4B8C-83A1-F6EECF244321}">
                <p14:modId xmlns:p14="http://schemas.microsoft.com/office/powerpoint/2010/main" val="2405661555"/>
              </p:ext>
            </p:extLst>
          </p:nvPr>
        </p:nvGraphicFramePr>
        <p:xfrm>
          <a:off x="260460" y="856100"/>
          <a:ext cx="8777866" cy="5560913"/>
        </p:xfrm>
        <a:graphic>
          <a:graphicData uri="http://schemas.openxmlformats.org/drawingml/2006/table">
            <a:tbl>
              <a:tblPr firstRow="1" firstCol="1" bandRow="1">
                <a:tableStyleId>{3B4B98B0-60AC-42C2-AFA5-B58CD77FA1E5}</a:tableStyleId>
              </a:tblPr>
              <a:tblGrid>
                <a:gridCol w="1747639">
                  <a:extLst>
                    <a:ext uri="{9D8B030D-6E8A-4147-A177-3AD203B41FA5}">
                      <a16:colId xmlns:a16="http://schemas.microsoft.com/office/drawing/2014/main" xmlns="" val="20000"/>
                    </a:ext>
                  </a:extLst>
                </a:gridCol>
                <a:gridCol w="958667">
                  <a:extLst>
                    <a:ext uri="{9D8B030D-6E8A-4147-A177-3AD203B41FA5}">
                      <a16:colId xmlns:a16="http://schemas.microsoft.com/office/drawing/2014/main" xmlns="" val="20001"/>
                    </a:ext>
                  </a:extLst>
                </a:gridCol>
                <a:gridCol w="958667">
                  <a:extLst>
                    <a:ext uri="{9D8B030D-6E8A-4147-A177-3AD203B41FA5}">
                      <a16:colId xmlns:a16="http://schemas.microsoft.com/office/drawing/2014/main" xmlns="" val="20002"/>
                    </a:ext>
                  </a:extLst>
                </a:gridCol>
                <a:gridCol w="851267">
                  <a:extLst>
                    <a:ext uri="{9D8B030D-6E8A-4147-A177-3AD203B41FA5}">
                      <a16:colId xmlns:a16="http://schemas.microsoft.com/office/drawing/2014/main" xmlns="" val="20003"/>
                    </a:ext>
                  </a:extLst>
                </a:gridCol>
                <a:gridCol w="666624">
                  <a:extLst>
                    <a:ext uri="{9D8B030D-6E8A-4147-A177-3AD203B41FA5}">
                      <a16:colId xmlns:a16="http://schemas.microsoft.com/office/drawing/2014/main" xmlns="" val="20004"/>
                    </a:ext>
                  </a:extLst>
                </a:gridCol>
                <a:gridCol w="798890">
                  <a:extLst>
                    <a:ext uri="{9D8B030D-6E8A-4147-A177-3AD203B41FA5}">
                      <a16:colId xmlns:a16="http://schemas.microsoft.com/office/drawing/2014/main" xmlns="" val="20005"/>
                    </a:ext>
                  </a:extLst>
                </a:gridCol>
                <a:gridCol w="958667">
                  <a:extLst>
                    <a:ext uri="{9D8B030D-6E8A-4147-A177-3AD203B41FA5}">
                      <a16:colId xmlns:a16="http://schemas.microsoft.com/office/drawing/2014/main" xmlns="" val="20006"/>
                    </a:ext>
                  </a:extLst>
                </a:gridCol>
                <a:gridCol w="878778">
                  <a:extLst>
                    <a:ext uri="{9D8B030D-6E8A-4147-A177-3AD203B41FA5}">
                      <a16:colId xmlns:a16="http://schemas.microsoft.com/office/drawing/2014/main" xmlns="" val="20007"/>
                    </a:ext>
                  </a:extLst>
                </a:gridCol>
                <a:gridCol w="958667">
                  <a:extLst>
                    <a:ext uri="{9D8B030D-6E8A-4147-A177-3AD203B41FA5}">
                      <a16:colId xmlns:a16="http://schemas.microsoft.com/office/drawing/2014/main" xmlns="" val="20008"/>
                    </a:ext>
                  </a:extLst>
                </a:gridCol>
              </a:tblGrid>
              <a:tr h="340652">
                <a:tc gridSpan="9">
                  <a:txBody>
                    <a:bodyPr/>
                    <a:lstStyle>
                      <a:lvl1pPr marL="0" algn="l" defTabSz="914400" rtl="0" eaLnBrk="1" latinLnBrk="0" hangingPunct="1">
                        <a:defRPr sz="1800" b="1" kern="1200">
                          <a:solidFill>
                            <a:schemeClr val="tx1"/>
                          </a:solidFill>
                          <a:latin typeface="Times New Roman"/>
                          <a:ea typeface="幼圆"/>
                        </a:defRPr>
                      </a:lvl1pPr>
                      <a:lvl2pPr marL="457200" algn="l" defTabSz="914400" rtl="0" eaLnBrk="1" latinLnBrk="0" hangingPunct="1">
                        <a:defRPr sz="1800" b="1" kern="1200">
                          <a:solidFill>
                            <a:schemeClr val="tx1"/>
                          </a:solidFill>
                          <a:latin typeface="Times New Roman"/>
                          <a:ea typeface="幼圆"/>
                        </a:defRPr>
                      </a:lvl2pPr>
                      <a:lvl3pPr marL="914400" algn="l" defTabSz="914400" rtl="0" eaLnBrk="1" latinLnBrk="0" hangingPunct="1">
                        <a:defRPr sz="1800" b="1" kern="1200">
                          <a:solidFill>
                            <a:schemeClr val="tx1"/>
                          </a:solidFill>
                          <a:latin typeface="Times New Roman"/>
                          <a:ea typeface="幼圆"/>
                        </a:defRPr>
                      </a:lvl3pPr>
                      <a:lvl4pPr marL="1371600" algn="l" defTabSz="914400" rtl="0" eaLnBrk="1" latinLnBrk="0" hangingPunct="1">
                        <a:defRPr sz="1800" b="1" kern="1200">
                          <a:solidFill>
                            <a:schemeClr val="tx1"/>
                          </a:solidFill>
                          <a:latin typeface="Times New Roman"/>
                          <a:ea typeface="幼圆"/>
                        </a:defRPr>
                      </a:lvl4pPr>
                      <a:lvl5pPr marL="1828800" algn="l" defTabSz="914400" rtl="0" eaLnBrk="1" latinLnBrk="0" hangingPunct="1">
                        <a:defRPr sz="1800" b="1" kern="1200">
                          <a:solidFill>
                            <a:schemeClr val="tx1"/>
                          </a:solidFill>
                          <a:latin typeface="Times New Roman"/>
                          <a:ea typeface="幼圆"/>
                        </a:defRPr>
                      </a:lvl5pPr>
                      <a:lvl6pPr marL="2286000" algn="l" defTabSz="914400" rtl="0" eaLnBrk="1" latinLnBrk="0" hangingPunct="1">
                        <a:defRPr sz="1800" b="1" kern="1200">
                          <a:solidFill>
                            <a:schemeClr val="tx1"/>
                          </a:solidFill>
                          <a:latin typeface="Times New Roman"/>
                          <a:ea typeface="幼圆"/>
                        </a:defRPr>
                      </a:lvl6pPr>
                      <a:lvl7pPr marL="2743200" algn="l" defTabSz="914400" rtl="0" eaLnBrk="1" latinLnBrk="0" hangingPunct="1">
                        <a:defRPr sz="1800" b="1" kern="1200">
                          <a:solidFill>
                            <a:schemeClr val="tx1"/>
                          </a:solidFill>
                          <a:latin typeface="Times New Roman"/>
                          <a:ea typeface="幼圆"/>
                        </a:defRPr>
                      </a:lvl7pPr>
                      <a:lvl8pPr marL="3200400" algn="l" defTabSz="914400" rtl="0" eaLnBrk="1" latinLnBrk="0" hangingPunct="1">
                        <a:defRPr sz="1800" b="1" kern="1200">
                          <a:solidFill>
                            <a:schemeClr val="tx1"/>
                          </a:solidFill>
                          <a:latin typeface="Times New Roman"/>
                          <a:ea typeface="幼圆"/>
                        </a:defRPr>
                      </a:lvl8pPr>
                      <a:lvl9pPr marL="3657600" algn="l" defTabSz="914400" rtl="0" eaLnBrk="1" latinLnBrk="0" hangingPunct="1">
                        <a:defRPr sz="1800" b="1" kern="1200">
                          <a:solidFill>
                            <a:schemeClr val="tx1"/>
                          </a:solidFill>
                          <a:latin typeface="Times New Roman"/>
                          <a:ea typeface="幼圆"/>
                        </a:defRPr>
                      </a:lvl9pPr>
                    </a:lstStyle>
                    <a:p>
                      <a:pPr algn="ctr">
                        <a:lnSpc>
                          <a:spcPts val="1300"/>
                        </a:lnSpc>
                        <a:spcAft>
                          <a:spcPts val="0"/>
                        </a:spcAft>
                      </a:pPr>
                      <a:r>
                        <a:rPr lang="zh-CN" altLang="en-US" sz="1400" b="1" kern="100" dirty="0" smtClean="0">
                          <a:solidFill>
                            <a:schemeClr val="bg1"/>
                          </a:solidFill>
                          <a:effectLst/>
                          <a:latin typeface="华文中宋" panose="02010600040101010101" pitchFamily="2" charset="-122"/>
                          <a:ea typeface="华文中宋" panose="02010600040101010101" pitchFamily="2" charset="-122"/>
                        </a:rPr>
                        <a:t>汽车出行类互联网企业</a:t>
                      </a:r>
                      <a:r>
                        <a:rPr lang="zh-CN" altLang="en-US" sz="1400" b="1" kern="100" dirty="0">
                          <a:solidFill>
                            <a:schemeClr val="bg1"/>
                          </a:solidFill>
                          <a:effectLst/>
                          <a:latin typeface="华文中宋" panose="02010600040101010101" pitchFamily="2" charset="-122"/>
                          <a:ea typeface="华文中宋" panose="02010600040101010101" pitchFamily="2" charset="-122"/>
                        </a:rPr>
                        <a:t>分</a:t>
                      </a:r>
                      <a:r>
                        <a:rPr lang="zh-CN" altLang="en-US" sz="1400" b="1" kern="100" dirty="0" smtClean="0">
                          <a:solidFill>
                            <a:schemeClr val="bg1"/>
                          </a:solidFill>
                          <a:effectLst/>
                          <a:latin typeface="华文中宋" panose="02010600040101010101" pitchFamily="2" charset="-122"/>
                          <a:ea typeface="华文中宋" panose="02010600040101010101" pitchFamily="2" charset="-122"/>
                        </a:rPr>
                        <a:t>媒体花费占比</a:t>
                      </a:r>
                      <a:endParaRPr lang="zh-CN" sz="140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xmlns="" val="10000"/>
                  </a:ext>
                </a:extLst>
              </a:tr>
              <a:tr h="351847">
                <a:tc>
                  <a:txBody>
                    <a:bodyPr/>
                    <a:lstStyle>
                      <a:lvl1pPr marL="0" algn="l" defTabSz="914400" rtl="0" eaLnBrk="1" latinLnBrk="0" hangingPunct="1">
                        <a:defRPr sz="1800" b="1" kern="1200">
                          <a:solidFill>
                            <a:schemeClr val="tx1"/>
                          </a:solidFill>
                          <a:latin typeface="Times New Roman"/>
                          <a:ea typeface="幼圆"/>
                        </a:defRPr>
                      </a:lvl1pPr>
                      <a:lvl2pPr marL="457200" algn="l" defTabSz="914400" rtl="0" eaLnBrk="1" latinLnBrk="0" hangingPunct="1">
                        <a:defRPr sz="1800" b="1" kern="1200">
                          <a:solidFill>
                            <a:schemeClr val="tx1"/>
                          </a:solidFill>
                          <a:latin typeface="Times New Roman"/>
                          <a:ea typeface="幼圆"/>
                        </a:defRPr>
                      </a:lvl2pPr>
                      <a:lvl3pPr marL="914400" algn="l" defTabSz="914400" rtl="0" eaLnBrk="1" latinLnBrk="0" hangingPunct="1">
                        <a:defRPr sz="1800" b="1" kern="1200">
                          <a:solidFill>
                            <a:schemeClr val="tx1"/>
                          </a:solidFill>
                          <a:latin typeface="Times New Roman"/>
                          <a:ea typeface="幼圆"/>
                        </a:defRPr>
                      </a:lvl3pPr>
                      <a:lvl4pPr marL="1371600" algn="l" defTabSz="914400" rtl="0" eaLnBrk="1" latinLnBrk="0" hangingPunct="1">
                        <a:defRPr sz="1800" b="1" kern="1200">
                          <a:solidFill>
                            <a:schemeClr val="tx1"/>
                          </a:solidFill>
                          <a:latin typeface="Times New Roman"/>
                          <a:ea typeface="幼圆"/>
                        </a:defRPr>
                      </a:lvl4pPr>
                      <a:lvl5pPr marL="1828800" algn="l" defTabSz="914400" rtl="0" eaLnBrk="1" latinLnBrk="0" hangingPunct="1">
                        <a:defRPr sz="1800" b="1" kern="1200">
                          <a:solidFill>
                            <a:schemeClr val="tx1"/>
                          </a:solidFill>
                          <a:latin typeface="Times New Roman"/>
                          <a:ea typeface="幼圆"/>
                        </a:defRPr>
                      </a:lvl5pPr>
                      <a:lvl6pPr marL="2286000" algn="l" defTabSz="914400" rtl="0" eaLnBrk="1" latinLnBrk="0" hangingPunct="1">
                        <a:defRPr sz="1800" b="1" kern="1200">
                          <a:solidFill>
                            <a:schemeClr val="tx1"/>
                          </a:solidFill>
                          <a:latin typeface="Times New Roman"/>
                          <a:ea typeface="幼圆"/>
                        </a:defRPr>
                      </a:lvl6pPr>
                      <a:lvl7pPr marL="2743200" algn="l" defTabSz="914400" rtl="0" eaLnBrk="1" latinLnBrk="0" hangingPunct="1">
                        <a:defRPr sz="1800" b="1" kern="1200">
                          <a:solidFill>
                            <a:schemeClr val="tx1"/>
                          </a:solidFill>
                          <a:latin typeface="Times New Roman"/>
                          <a:ea typeface="幼圆"/>
                        </a:defRPr>
                      </a:lvl7pPr>
                      <a:lvl8pPr marL="3200400" algn="l" defTabSz="914400" rtl="0" eaLnBrk="1" latinLnBrk="0" hangingPunct="1">
                        <a:defRPr sz="1800" b="1" kern="1200">
                          <a:solidFill>
                            <a:schemeClr val="tx1"/>
                          </a:solidFill>
                          <a:latin typeface="Times New Roman"/>
                          <a:ea typeface="幼圆"/>
                        </a:defRPr>
                      </a:lvl8pPr>
                      <a:lvl9pPr marL="3657600" algn="l" defTabSz="914400" rtl="0" eaLnBrk="1" latinLnBrk="0" hangingPunct="1">
                        <a:defRPr sz="1800" b="1" kern="1200">
                          <a:solidFill>
                            <a:schemeClr val="tx1"/>
                          </a:solidFill>
                          <a:latin typeface="Times New Roman"/>
                          <a:ea typeface="幼圆"/>
                        </a:defRPr>
                      </a:lvl9pPr>
                    </a:lstStyle>
                    <a:p>
                      <a:pPr algn="ctr">
                        <a:lnSpc>
                          <a:spcPts val="1300"/>
                        </a:lnSpc>
                        <a:spcAft>
                          <a:spcPts val="0"/>
                        </a:spcAft>
                      </a:pPr>
                      <a:r>
                        <a:rPr lang="zh-CN" altLang="en-US" sz="1100" b="1" kern="100" dirty="0" smtClean="0">
                          <a:solidFill>
                            <a:schemeClr val="bg1"/>
                          </a:solidFill>
                          <a:effectLst/>
                          <a:latin typeface="华文中宋" panose="02010600040101010101" pitchFamily="2" charset="-122"/>
                          <a:ea typeface="华文中宋" panose="02010600040101010101" pitchFamily="2" charset="-122"/>
                          <a:cs typeface="Times New Roman"/>
                        </a:rPr>
                        <a:t>产品</a:t>
                      </a:r>
                      <a:endParaRPr lang="zh-CN" sz="110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tc>
                  <a:txBody>
                    <a:bodyPr/>
                    <a:lstStyle/>
                    <a:p>
                      <a:pPr algn="ctr" fontAlgn="ctr"/>
                      <a:r>
                        <a:rPr lang="zh-CN" altLang="en-US" sz="1100" b="1" kern="100" dirty="0" smtClean="0">
                          <a:solidFill>
                            <a:schemeClr val="bg1"/>
                          </a:solidFill>
                          <a:effectLst/>
                          <a:latin typeface="华文中宋" panose="02010600040101010101" pitchFamily="2" charset="-122"/>
                          <a:ea typeface="华文中宋" panose="02010600040101010101" pitchFamily="2" charset="-122"/>
                          <a:cs typeface="Times New Roman"/>
                        </a:rPr>
                        <a:t>商务楼宇</a:t>
                      </a:r>
                      <a:r>
                        <a:rPr lang="zh-CN" altLang="en-US" sz="1100" b="1" kern="100" dirty="0">
                          <a:solidFill>
                            <a:schemeClr val="bg1"/>
                          </a:solidFill>
                          <a:effectLst/>
                          <a:latin typeface="华文中宋" panose="02010600040101010101" pitchFamily="2" charset="-122"/>
                          <a:ea typeface="华文中宋" panose="02010600040101010101" pitchFamily="2" charset="-122"/>
                          <a:cs typeface="Times New Roman"/>
                        </a:rPr>
                        <a:t>视频</a:t>
                      </a:r>
                    </a:p>
                  </a:txBody>
                  <a:tcPr marL="9525" marR="9525" marT="9525" marB="0" anchor="ctr"/>
                </a:tc>
                <a:tc>
                  <a:txBody>
                    <a:bodyPr/>
                    <a:lstStyle/>
                    <a:p>
                      <a:pPr algn="ctr" fontAlgn="ctr"/>
                      <a:r>
                        <a:rPr lang="zh-CN" altLang="en-US" sz="1100" b="1" kern="100">
                          <a:solidFill>
                            <a:schemeClr val="bg1"/>
                          </a:solidFill>
                          <a:effectLst/>
                          <a:latin typeface="华文中宋" panose="02010600040101010101" pitchFamily="2" charset="-122"/>
                          <a:ea typeface="华文中宋" panose="02010600040101010101" pitchFamily="2" charset="-122"/>
                          <a:cs typeface="Times New Roman"/>
                        </a:rPr>
                        <a:t>电视</a:t>
                      </a:r>
                    </a:p>
                  </a:txBody>
                  <a:tcPr marL="9525" marR="9525" marT="9525" marB="0" anchor="ctr"/>
                </a:tc>
                <a:tc>
                  <a:txBody>
                    <a:bodyPr/>
                    <a:lstStyle/>
                    <a:p>
                      <a:pPr algn="ctr" fontAlgn="ctr"/>
                      <a:r>
                        <a:rPr lang="zh-CN" altLang="en-US" sz="1100" b="1" kern="100">
                          <a:solidFill>
                            <a:schemeClr val="bg1"/>
                          </a:solidFill>
                          <a:effectLst/>
                          <a:latin typeface="华文中宋" panose="02010600040101010101" pitchFamily="2" charset="-122"/>
                          <a:ea typeface="华文中宋" panose="02010600040101010101" pitchFamily="2" charset="-122"/>
                          <a:cs typeface="Times New Roman"/>
                        </a:rPr>
                        <a:t>电台</a:t>
                      </a:r>
                    </a:p>
                  </a:txBody>
                  <a:tcPr marL="9525" marR="9525" marT="9525" marB="0" anchor="ctr"/>
                </a:tc>
                <a:tc>
                  <a:txBody>
                    <a:bodyPr/>
                    <a:lstStyle/>
                    <a:p>
                      <a:pPr algn="ctr" fontAlgn="ctr"/>
                      <a:r>
                        <a:rPr lang="zh-CN" altLang="en-US" sz="1100" b="1" kern="100">
                          <a:solidFill>
                            <a:schemeClr val="bg1"/>
                          </a:solidFill>
                          <a:effectLst/>
                          <a:latin typeface="华文中宋" panose="02010600040101010101" pitchFamily="2" charset="-122"/>
                          <a:ea typeface="华文中宋" panose="02010600040101010101" pitchFamily="2" charset="-122"/>
                          <a:cs typeface="Times New Roman"/>
                        </a:rPr>
                        <a:t>影院视频</a:t>
                      </a:r>
                    </a:p>
                  </a:txBody>
                  <a:tcPr marL="9525" marR="9525" marT="9525" marB="0" anchor="ctr"/>
                </a:tc>
                <a:tc>
                  <a:txBody>
                    <a:bodyPr/>
                    <a:lstStyle/>
                    <a:p>
                      <a:pPr algn="ctr" fontAlgn="ctr"/>
                      <a:r>
                        <a:rPr lang="zh-CN" altLang="en-US" sz="1100" b="1" kern="100" dirty="0" smtClean="0">
                          <a:solidFill>
                            <a:schemeClr val="bg1"/>
                          </a:solidFill>
                          <a:effectLst/>
                          <a:latin typeface="华文中宋" panose="02010600040101010101" pitchFamily="2" charset="-122"/>
                          <a:ea typeface="华文中宋" panose="02010600040101010101" pitchFamily="2" charset="-122"/>
                          <a:cs typeface="Times New Roman"/>
                        </a:rPr>
                        <a:t>传统户外</a:t>
                      </a:r>
                      <a:endParaRPr lang="zh-CN" altLang="en-US" sz="110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zh-CN" altLang="en-US" sz="1100" b="1" kern="100" dirty="0" smtClean="0">
                          <a:solidFill>
                            <a:schemeClr val="bg1"/>
                          </a:solidFill>
                          <a:effectLst/>
                          <a:latin typeface="华文中宋" panose="02010600040101010101" pitchFamily="2" charset="-122"/>
                          <a:ea typeface="华文中宋" panose="02010600040101010101" pitchFamily="2" charset="-122"/>
                          <a:cs typeface="Times New Roman"/>
                        </a:rPr>
                        <a:t>传统地铁</a:t>
                      </a:r>
                      <a:endParaRPr lang="zh-CN" altLang="en-US" sz="110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zh-CN" altLang="en-US" sz="1100" b="1" kern="100">
                          <a:solidFill>
                            <a:schemeClr val="bg1"/>
                          </a:solidFill>
                          <a:effectLst/>
                          <a:latin typeface="华文中宋" panose="02010600040101010101" pitchFamily="2" charset="-122"/>
                          <a:ea typeface="华文中宋" panose="02010600040101010101" pitchFamily="2" charset="-122"/>
                          <a:cs typeface="Times New Roman"/>
                        </a:rPr>
                        <a:t>交通类视频</a:t>
                      </a:r>
                    </a:p>
                  </a:txBody>
                  <a:tcPr marL="9525" marR="9525" marT="9525" marB="0" anchor="ctr"/>
                </a:tc>
                <a:tc>
                  <a:txBody>
                    <a:bodyPr/>
                    <a:lstStyle/>
                    <a:p>
                      <a:pPr algn="ctr" fontAlgn="ctr"/>
                      <a:r>
                        <a:rPr lang="zh-CN" altLang="en-US" sz="1100" b="1" kern="100" dirty="0">
                          <a:solidFill>
                            <a:schemeClr val="bg1"/>
                          </a:solidFill>
                          <a:effectLst/>
                          <a:latin typeface="华文中宋" panose="02010600040101010101" pitchFamily="2" charset="-122"/>
                          <a:ea typeface="华文中宋" panose="02010600040101010101" pitchFamily="2" charset="-122"/>
                          <a:cs typeface="Times New Roman"/>
                        </a:rPr>
                        <a:t>报纸</a:t>
                      </a:r>
                    </a:p>
                  </a:txBody>
                  <a:tcPr marL="9525" marR="9525" marT="9525" marB="0" anchor="ctr"/>
                </a:tc>
                <a:extLst>
                  <a:ext uri="{0D108BD9-81ED-4DB2-BD59-A6C34878D82A}">
                    <a16:rowId xmlns:a16="http://schemas.microsoft.com/office/drawing/2014/main" xmlns="" val="10001"/>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瓜子二手车直卖网</a:t>
                      </a:r>
                    </a:p>
                  </a:txBody>
                  <a:tcPr marL="9525" marR="9525" marT="9525" marB="0" anchor="ctr"/>
                </a:tc>
                <a:tc>
                  <a:txBody>
                    <a:bodyPr/>
                    <a:lstStyle/>
                    <a:p>
                      <a:pPr algn="ctr" fontAlgn="ctr"/>
                      <a:r>
                        <a:rPr lang="en-US" altLang="zh-CN" sz="1050" b="1" kern="100" dirty="0">
                          <a:solidFill>
                            <a:srgbClr val="FF0000"/>
                          </a:solidFill>
                          <a:effectLst/>
                          <a:latin typeface="华文中宋" panose="02010600040101010101" pitchFamily="2" charset="-122"/>
                          <a:ea typeface="华文中宋" panose="02010600040101010101" pitchFamily="2" charset="-122"/>
                          <a:cs typeface="Times New Roman"/>
                        </a:rPr>
                        <a:t>68.8%</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26.2%</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4.8%</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0.2%</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0.0%</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02"/>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易到用车网</a:t>
                      </a:r>
                    </a:p>
                  </a:txBody>
                  <a:tcPr marL="9525" marR="9525" marT="9525" marB="0" anchor="ctr"/>
                </a:tc>
                <a:tc>
                  <a:txBody>
                    <a:bodyPr/>
                    <a:lstStyle/>
                    <a:p>
                      <a:pPr algn="ctr" fontAlgn="ctr"/>
                      <a:r>
                        <a:rPr lang="en-US" altLang="zh-CN" sz="1050" b="1" kern="100" dirty="0">
                          <a:solidFill>
                            <a:srgbClr val="FF0000"/>
                          </a:solidFill>
                          <a:effectLst/>
                          <a:latin typeface="华文中宋" panose="02010600040101010101" pitchFamily="2" charset="-122"/>
                          <a:ea typeface="华文中宋" panose="02010600040101010101" pitchFamily="2" charset="-122"/>
                          <a:cs typeface="Times New Roman"/>
                        </a:rPr>
                        <a:t>98.5%</a:t>
                      </a: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0.7%</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0.9%</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03"/>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优步手机应用软件</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49.6%</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38.8%</a:t>
                      </a: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10.4%</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1.2%</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04"/>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人人车网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16.2%</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83.0%</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0.7%</a:t>
                      </a: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05"/>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车轮考驾照手机应用软件</a:t>
                      </a:r>
                    </a:p>
                  </a:txBody>
                  <a:tcPr marL="9525" marR="9525" marT="9525" marB="0" anchor="ctr"/>
                </a:tc>
                <a:tc>
                  <a:txBody>
                    <a:bodyPr/>
                    <a:lstStyle/>
                    <a:p>
                      <a:pPr algn="ctr" fontAlgn="ctr"/>
                      <a:r>
                        <a:rPr lang="en-US" altLang="zh-CN" sz="1050" b="1" kern="100" dirty="0">
                          <a:solidFill>
                            <a:srgbClr val="FF0000"/>
                          </a:solidFill>
                          <a:effectLst/>
                          <a:latin typeface="华文中宋" panose="02010600040101010101" pitchFamily="2" charset="-122"/>
                          <a:ea typeface="华文中宋" panose="02010600040101010101" pitchFamily="2" charset="-122"/>
                          <a:cs typeface="Times New Roman"/>
                        </a:rPr>
                        <a:t>100.0%</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06"/>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百度地图软件</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72.9%</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25.2%</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1.7%</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0.2%</a:t>
                      </a:r>
                    </a:p>
                  </a:txBody>
                  <a:tcPr marL="9525" marR="9525" marT="9525" marB="0" anchor="ctr"/>
                </a:tc>
                <a:extLst>
                  <a:ext uri="{0D108BD9-81ED-4DB2-BD59-A6C34878D82A}">
                    <a16:rowId xmlns:a16="http://schemas.microsoft.com/office/drawing/2014/main" xmlns="" val="10007"/>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优信二手车网</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99.5%</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0.5%</a:t>
                      </a: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08"/>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途虎养车网</a:t>
                      </a: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dirty="0">
                          <a:solidFill>
                            <a:srgbClr val="FF0000"/>
                          </a:solidFill>
                          <a:effectLst/>
                          <a:latin typeface="华文中宋" panose="02010600040101010101" pitchFamily="2" charset="-122"/>
                          <a:ea typeface="华文中宋" panose="02010600040101010101" pitchFamily="2" charset="-122"/>
                          <a:cs typeface="Times New Roman"/>
                        </a:rPr>
                        <a:t>100.0%</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09"/>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滴滴打车软件</a:t>
                      </a:r>
                    </a:p>
                  </a:txBody>
                  <a:tcPr marL="9525" marR="9525" marT="9525" marB="0" anchor="ctr"/>
                </a:tc>
                <a:tc>
                  <a:txBody>
                    <a:bodyPr/>
                    <a:lstStyle/>
                    <a:p>
                      <a:pPr algn="ctr" fontAlgn="ctr"/>
                      <a:r>
                        <a:rPr lang="en-US" altLang="zh-CN" sz="1050" b="1" kern="100" dirty="0">
                          <a:solidFill>
                            <a:srgbClr val="FF0000"/>
                          </a:solidFill>
                          <a:effectLst/>
                          <a:latin typeface="华文中宋" panose="02010600040101010101" pitchFamily="2" charset="-122"/>
                          <a:ea typeface="华文中宋" panose="02010600040101010101" pitchFamily="2" charset="-122"/>
                          <a:cs typeface="Times New Roman"/>
                        </a:rPr>
                        <a:t>83.4%</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6.2%</a:t>
                      </a: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4.4%</a:t>
                      </a: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6.0%</a:t>
                      </a:r>
                    </a:p>
                  </a:txBody>
                  <a:tcPr marL="9525" marR="9525" marT="9525" marB="0" anchor="ctr"/>
                </a:tc>
                <a:extLst>
                  <a:ext uri="{0D108BD9-81ED-4DB2-BD59-A6C34878D82A}">
                    <a16:rowId xmlns:a16="http://schemas.microsoft.com/office/drawing/2014/main" xmlns="" val="10010"/>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猪兼强网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49.9%</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31.2%</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0.0%</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18.9%</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11"/>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乐车邦应用软件</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dirty="0">
                          <a:solidFill>
                            <a:srgbClr val="FF0000"/>
                          </a:solidFill>
                          <a:effectLst/>
                          <a:latin typeface="华文中宋" panose="02010600040101010101" pitchFamily="2" charset="-122"/>
                          <a:ea typeface="华文中宋" panose="02010600040101010101" pitchFamily="2" charset="-122"/>
                          <a:cs typeface="Times New Roman"/>
                        </a:rPr>
                        <a:t>100.0%</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12"/>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汽车超人</a:t>
                      </a: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dirty="0">
                          <a:solidFill>
                            <a:srgbClr val="FF0000"/>
                          </a:solidFill>
                          <a:effectLst/>
                          <a:latin typeface="华文中宋" panose="02010600040101010101" pitchFamily="2" charset="-122"/>
                          <a:ea typeface="华文中宋" panose="02010600040101010101" pitchFamily="2" charset="-122"/>
                          <a:cs typeface="Times New Roman"/>
                        </a:rPr>
                        <a:t>100.0%</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13"/>
                  </a:ext>
                </a:extLst>
              </a:tr>
              <a:tr h="310154">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车置宝网</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dirty="0">
                          <a:solidFill>
                            <a:srgbClr val="FF0000"/>
                          </a:solidFill>
                          <a:effectLst/>
                          <a:latin typeface="华文中宋" panose="02010600040101010101" pitchFamily="2" charset="-122"/>
                          <a:ea typeface="华文中宋" panose="02010600040101010101" pitchFamily="2" charset="-122"/>
                          <a:cs typeface="Times New Roman"/>
                        </a:rPr>
                        <a:t>100.0%</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14"/>
                  </a:ext>
                </a:extLst>
              </a:tr>
              <a:tr h="428537">
                <a:tc>
                  <a:txBody>
                    <a:bodyPr/>
                    <a:lstStyle/>
                    <a:p>
                      <a:pPr algn="ctr" fontAlgn="ct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车享网</a:t>
                      </a:r>
                    </a:p>
                  </a:txBody>
                  <a:tcPr marL="9525" marR="9525" marT="9525" marB="0" anchor="ctr"/>
                </a:tc>
                <a:tc>
                  <a:txBody>
                    <a:bodyPr/>
                    <a:lstStyle/>
                    <a:p>
                      <a:pPr algn="ctr" fontAlgn="ctr"/>
                      <a:r>
                        <a:rPr lang="en-US" altLang="zh-CN" sz="1050" b="1" kern="100" dirty="0">
                          <a:solidFill>
                            <a:srgbClr val="FF0000"/>
                          </a:solidFill>
                          <a:effectLst/>
                          <a:latin typeface="华文中宋" panose="02010600040101010101" pitchFamily="2" charset="-122"/>
                          <a:ea typeface="华文中宋" panose="02010600040101010101" pitchFamily="2" charset="-122"/>
                          <a:cs typeface="Times New Roman"/>
                        </a:rPr>
                        <a:t>86.1%</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2.1%</a:t>
                      </a: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11.8%</a:t>
                      </a: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tc>
                  <a:txBody>
                    <a:bodyPr/>
                    <a:lstStyle/>
                    <a:p>
                      <a:pPr algn="ctr" fontAlgn="ctr"/>
                      <a:endPar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a16="http://schemas.microsoft.com/office/drawing/2014/main" xmlns="" val="10015"/>
                  </a:ext>
                </a:extLst>
              </a:tr>
              <a:tr h="407875">
                <a:tc gridSpan="9">
                  <a:txBody>
                    <a:bodyPr/>
                    <a:lstStyle/>
                    <a:p>
                      <a:pPr algn="r" fontAlgn="ct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按照</a:t>
                      </a:r>
                      <a:r>
                        <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2016</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年</a:t>
                      </a:r>
                      <a:r>
                        <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1-4</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月广告花费排序</a:t>
                      </a:r>
                      <a:endPar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endParaRPr>
                    </a:p>
                    <a:p>
                      <a:pPr algn="r" fontAlgn="ct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数据来源：</a:t>
                      </a:r>
                      <a:r>
                        <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CTR</a:t>
                      </a:r>
                      <a:r>
                        <a:rPr lang="zh-CN" altLang="en-US" sz="1050" kern="100" dirty="0" smtClean="0">
                          <a:solidFill>
                            <a:srgbClr val="FFFFFF"/>
                          </a:solidFill>
                          <a:latin typeface="华文中宋" panose="02010600040101010101" pitchFamily="2" charset="-122"/>
                          <a:ea typeface="华文中宋" panose="02010600040101010101" pitchFamily="2" charset="-122"/>
                        </a:rPr>
                        <a:t>市场研究</a:t>
                      </a:r>
                      <a:r>
                        <a:rPr lang="en-US" altLang="zh-CN" sz="1050" kern="100" dirty="0" smtClean="0">
                          <a:solidFill>
                            <a:srgbClr val="FFFFFF"/>
                          </a:solidFill>
                          <a:latin typeface="华文中宋" panose="02010600040101010101" pitchFamily="2" charset="-122"/>
                          <a:ea typeface="华文中宋" panose="02010600040101010101" pitchFamily="2" charset="-122"/>
                        </a:rPr>
                        <a:t>-</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媒介</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智讯 统计范围为</a:t>
                      </a:r>
                      <a:r>
                        <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2016</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年</a:t>
                      </a:r>
                      <a:r>
                        <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1-4</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月广告花费前</a:t>
                      </a:r>
                      <a:r>
                        <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200</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的互联网产品（剔除游戏） </a:t>
                      </a:r>
                      <a:r>
                        <a:rPr kumimoji="0" lang="zh-CN" altLang="en-US" sz="1050" b="0" i="0" u="none" strike="noStrike" kern="1200" cap="none" spc="0" normalizeH="0" baseline="0" noProof="0" dirty="0" smtClean="0">
                          <a:ln>
                            <a:noFill/>
                          </a:ln>
                          <a:solidFill>
                            <a:srgbClr val="FF0000"/>
                          </a:solidFill>
                          <a:effectLst/>
                          <a:uLnTx/>
                          <a:uFillTx/>
                          <a:latin typeface="华文中宋" panose="02010600040101010101" pitchFamily="2" charset="-122"/>
                          <a:ea typeface="华文中宋" panose="02010600040101010101" pitchFamily="2" charset="-122"/>
                          <a:cs typeface="+mn-cs"/>
                        </a:rPr>
                        <a:t>红色字体为花费占比最大的媒体</a:t>
                      </a:r>
                      <a:endParaRPr lang="zh-CN" altLang="en-US" sz="1050" b="0" i="0" u="none" strike="noStrike" dirty="0" smtClean="0">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en-US" altLang="zh-CN" sz="1200" b="1" i="0" u="none" strike="noStrike" dirty="0">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dirty="0">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extLst>
                  <a:ext uri="{0D108BD9-81ED-4DB2-BD59-A6C34878D82A}">
                    <a16:rowId xmlns:a16="http://schemas.microsoft.com/office/drawing/2014/main" xmlns="" val="10029"/>
                  </a:ext>
                </a:extLst>
              </a:tr>
            </a:tbl>
          </a:graphicData>
        </a:graphic>
      </p:graphicFrame>
    </p:spTree>
    <p:extLst>
      <p:ext uri="{BB962C8B-B14F-4D97-AF65-F5344CB8AC3E}">
        <p14:creationId xmlns:p14="http://schemas.microsoft.com/office/powerpoint/2010/main" val="332296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nvSpPr>
        <p:spPr>
          <a:xfrm>
            <a:off x="251520" y="188640"/>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1B015"/>
                </a:solidFill>
                <a:latin typeface="Arial Black"/>
                <a:ea typeface="微软雅黑"/>
              </a:rPr>
              <a:t>覆盖城市数量</a:t>
            </a:r>
            <a:endParaRPr lang="zh-CN" altLang="en-US" b="1" dirty="0">
              <a:solidFill>
                <a:srgbClr val="F1B015"/>
              </a:solidFill>
              <a:latin typeface="Arial Black"/>
              <a:ea typeface="微软雅黑"/>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6" name="表格 15"/>
          <p:cNvGraphicFramePr>
            <a:graphicFrameLocks noGrp="1"/>
          </p:cNvGraphicFramePr>
          <p:nvPr>
            <p:extLst>
              <p:ext uri="{D42A27DB-BD31-4B8C-83A1-F6EECF244321}">
                <p14:modId xmlns:p14="http://schemas.microsoft.com/office/powerpoint/2010/main" val="1442946309"/>
              </p:ext>
            </p:extLst>
          </p:nvPr>
        </p:nvGraphicFramePr>
        <p:xfrm>
          <a:off x="387937" y="2461226"/>
          <a:ext cx="8410336" cy="4086350"/>
        </p:xfrm>
        <a:graphic>
          <a:graphicData uri="http://schemas.openxmlformats.org/drawingml/2006/table">
            <a:tbl>
              <a:tblPr firstRow="1" bandRow="1">
                <a:tableStyleId>{46F890A9-2807-4EBB-B81D-B2AA78EC7F39}</a:tableStyleId>
              </a:tblPr>
              <a:tblGrid>
                <a:gridCol w="667432">
                  <a:extLst>
                    <a:ext uri="{9D8B030D-6E8A-4147-A177-3AD203B41FA5}">
                      <a16:colId xmlns="" xmlns:a16="http://schemas.microsoft.com/office/drawing/2014/main" val="20000"/>
                    </a:ext>
                  </a:extLst>
                </a:gridCol>
                <a:gridCol w="1788439">
                  <a:extLst>
                    <a:ext uri="{9D8B030D-6E8A-4147-A177-3AD203B41FA5}">
                      <a16:colId xmlns="" xmlns:a16="http://schemas.microsoft.com/office/drawing/2014/main" val="20001"/>
                    </a:ext>
                  </a:extLst>
                </a:gridCol>
                <a:gridCol w="1440160"/>
                <a:gridCol w="1296144">
                  <a:extLst>
                    <a:ext uri="{9D8B030D-6E8A-4147-A177-3AD203B41FA5}">
                      <a16:colId xmlns="" xmlns:a16="http://schemas.microsoft.com/office/drawing/2014/main" val="20002"/>
                    </a:ext>
                  </a:extLst>
                </a:gridCol>
                <a:gridCol w="1656184"/>
                <a:gridCol w="1561977"/>
              </a:tblGrid>
              <a:tr h="435055">
                <a:tc>
                  <a:txBody>
                    <a:bodyPr/>
                    <a:lstStyle/>
                    <a:p>
                      <a:pPr marL="0" algn="ctr" defTabSz="914400" rtl="0" eaLnBrk="1" fontAlgn="ctr" latinLnBrk="0" hangingPunct="1"/>
                      <a:r>
                        <a:rPr lang="zh-CN" altLang="en-US" sz="1500" b="1" u="none" strike="noStrike" kern="1200" dirty="0">
                          <a:effectLst/>
                          <a:latin typeface="华文中宋" panose="02010600040101010101" pitchFamily="2" charset="-122"/>
                          <a:ea typeface="华文中宋" panose="02010600040101010101" pitchFamily="2" charset="-122"/>
                        </a:rPr>
                        <a:t>排名</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u="none" strike="noStrike" kern="1200" dirty="0">
                          <a:effectLst/>
                          <a:latin typeface="华文中宋" panose="02010600040101010101" pitchFamily="2" charset="-122"/>
                          <a:ea typeface="华文中宋" panose="02010600040101010101" pitchFamily="2" charset="-122"/>
                        </a:rPr>
                        <a:t>产品</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en-US" altLang="zh-CN"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2015</a:t>
                      </a:r>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年</a:t>
                      </a:r>
                      <a:endParaRPr lang="en-US" altLang="zh-CN"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endParaRPr>
                    </a:p>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覆盖城市数量</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en-US" altLang="zh-CN"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2016</a:t>
                      </a:r>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年</a:t>
                      </a:r>
                      <a:endParaRPr lang="en-US" altLang="zh-CN"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endParaRPr>
                    </a:p>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覆盖城市数量</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覆盖城市数量变化</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广告花费增幅</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extLst>
                  <a:ext uri="{0D108BD9-81ED-4DB2-BD59-A6C34878D82A}">
                    <a16:rowId xmlns="" xmlns:a16="http://schemas.microsoft.com/office/drawing/2014/main" val="10000"/>
                  </a:ext>
                </a:extLst>
              </a:tr>
              <a:tr h="353178">
                <a:tc>
                  <a:txBody>
                    <a:bodyPr/>
                    <a:lstStyle/>
                    <a:p>
                      <a:pPr marL="0" algn="ctr" defTabSz="914400" rtl="0" eaLnBrk="1" fontAlgn="ctr" latinLnBrk="0" hangingPunct="1"/>
                      <a:r>
                        <a:rPr lang="en-US" altLang="zh-CN" sz="1500" u="none" strike="noStrike" kern="1200" dirty="0">
                          <a:effectLst/>
                        </a:rPr>
                        <a:t>1</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瓜子二手车直卖网</a:t>
                      </a: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mn-lt"/>
                          <a:ea typeface="华文中宋" panose="02010600040101010101" pitchFamily="2" charset="-122"/>
                          <a:cs typeface="+mn-cs"/>
                        </a:rPr>
                        <a:t>0</a:t>
                      </a:r>
                      <a:endParaRPr lang="zh-CN" altLang="en-US" sz="1500" u="none" strike="noStrike" kern="1200" dirty="0">
                        <a:solidFill>
                          <a:schemeClr val="dk1"/>
                        </a:solidFill>
                        <a:effectLst/>
                        <a:latin typeface="+mn-lt"/>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33</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mn-lt"/>
                          <a:ea typeface="华文中宋" panose="02010600040101010101" pitchFamily="2" charset="-122"/>
                          <a:cs typeface="+mn-cs"/>
                        </a:rPr>
                        <a:t>+33</a:t>
                      </a:r>
                      <a:endParaRPr lang="en-US" altLang="zh-CN" sz="1500" u="none" strike="noStrike" kern="1200" dirty="0">
                        <a:solidFill>
                          <a:schemeClr val="dk1"/>
                        </a:solidFill>
                        <a:effectLst/>
                        <a:latin typeface="+mn-lt"/>
                        <a:ea typeface="华文中宋" panose="02010600040101010101" pitchFamily="2" charset="-122"/>
                        <a:cs typeface="+mn-cs"/>
                      </a:endParaRPr>
                    </a:p>
                  </a:txBody>
                  <a:tcPr marL="6350" marR="6350" marT="6350"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rPr>
                        <a:t>New</a:t>
                      </a:r>
                    </a:p>
                  </a:txBody>
                  <a:tcPr marL="9525" marR="9525" marT="9525" marB="0" anchor="ctr">
                    <a:solidFill>
                      <a:schemeClr val="bg1">
                        <a:lumMod val="95000"/>
                      </a:schemeClr>
                    </a:solidFill>
                  </a:tcPr>
                </a:tc>
                <a:extLst>
                  <a:ext uri="{0D108BD9-81ED-4DB2-BD59-A6C34878D82A}">
                    <a16:rowId xmlns="" xmlns:a16="http://schemas.microsoft.com/office/drawing/2014/main" val="10001"/>
                  </a:ext>
                </a:extLst>
              </a:tr>
              <a:tr h="353178">
                <a:tc>
                  <a:txBody>
                    <a:bodyPr/>
                    <a:lstStyle/>
                    <a:p>
                      <a:pPr marL="0" algn="ctr" defTabSz="914400" rtl="0" eaLnBrk="1" fontAlgn="ctr" latinLnBrk="0" hangingPunct="1"/>
                      <a:r>
                        <a:rPr lang="en-US" altLang="zh-CN" sz="1500" u="none" strike="noStrike" kern="1200" dirty="0">
                          <a:effectLst/>
                        </a:rPr>
                        <a:t>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易到用车网</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1</a:t>
                      </a:r>
                    </a:p>
                  </a:txBody>
                  <a:tcPr marL="9525" marR="9525" marT="9525" marB="0" anchor="ctr">
                    <a:solidFill>
                      <a:schemeClr val="bg1">
                        <a:lumMod val="95000"/>
                      </a:schemeClr>
                    </a:solidFill>
                  </a:tcPr>
                </a:tc>
                <a:tc>
                  <a:txBody>
                    <a:bodyPr/>
                    <a:lstStyle/>
                    <a:p>
                      <a:pPr algn="ctr" fontAlgn="ctr"/>
                      <a:r>
                        <a:rPr lang="en-US" altLang="zh-CN" sz="1500" u="none" strike="noStrike" kern="1200">
                          <a:solidFill>
                            <a:schemeClr val="dk1"/>
                          </a:solidFill>
                          <a:effectLst/>
                          <a:latin typeface="+mn-lt"/>
                          <a:ea typeface="华文中宋" panose="02010600040101010101" pitchFamily="2" charset="-122"/>
                          <a:cs typeface="+mn-cs"/>
                        </a:rPr>
                        <a:t>6</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mn-lt"/>
                          <a:ea typeface="华文中宋" panose="02010600040101010101" pitchFamily="2" charset="-122"/>
                          <a:cs typeface="+mn-cs"/>
                        </a:rPr>
                        <a:t>+5</a:t>
                      </a:r>
                      <a:endParaRPr lang="en-US" altLang="zh-CN" sz="1500" u="none" strike="noStrike" kern="1200" dirty="0">
                        <a:solidFill>
                          <a:schemeClr val="dk1"/>
                        </a:solidFill>
                        <a:effectLst/>
                        <a:latin typeface="+mn-lt"/>
                        <a:ea typeface="华文中宋" panose="02010600040101010101" pitchFamily="2" charset="-122"/>
                        <a:cs typeface="+mn-cs"/>
                      </a:endParaRPr>
                    </a:p>
                  </a:txBody>
                  <a:tcPr marL="6350" marR="6350" marT="6350"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cs typeface="Vrinda"/>
                        </a:rPr>
                        <a:t>&gt;1000</a:t>
                      </a:r>
                      <a:r>
                        <a:rPr lang="en-US" altLang="zh-CN" sz="1400" b="0" i="0" u="none" strike="noStrike" dirty="0" smtClean="0">
                          <a:solidFill>
                            <a:srgbClr val="000000"/>
                          </a:solidFill>
                          <a:effectLst/>
                          <a:latin typeface="+mn-lt"/>
                        </a:rPr>
                        <a:t>%</a:t>
                      </a:r>
                      <a:endParaRPr lang="en-US" altLang="zh-CN"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02"/>
                  </a:ext>
                </a:extLst>
              </a:tr>
              <a:tr h="353178">
                <a:tc>
                  <a:txBody>
                    <a:bodyPr/>
                    <a:lstStyle/>
                    <a:p>
                      <a:pPr marL="0" algn="ctr" defTabSz="914400" rtl="0" eaLnBrk="1" fontAlgn="ctr" latinLnBrk="0" hangingPunct="1"/>
                      <a:r>
                        <a:rPr lang="en-US" altLang="zh-CN" sz="1500" u="none" strike="noStrike" kern="1200" dirty="0">
                          <a:effectLst/>
                        </a:rPr>
                        <a:t>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优步手机应用软件</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1</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12</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mn-lt"/>
                          <a:ea typeface="华文中宋" panose="02010600040101010101" pitchFamily="2" charset="-122"/>
                          <a:cs typeface="+mn-cs"/>
                        </a:rPr>
                        <a:t>+11</a:t>
                      </a:r>
                      <a:endParaRPr lang="en-US" altLang="zh-CN" sz="1500" u="none" strike="noStrike" kern="1200" dirty="0">
                        <a:solidFill>
                          <a:schemeClr val="dk1"/>
                        </a:solidFill>
                        <a:effectLst/>
                        <a:latin typeface="+mn-lt"/>
                        <a:ea typeface="华文中宋" panose="02010600040101010101" pitchFamily="2" charset="-122"/>
                        <a:cs typeface="+mn-cs"/>
                      </a:endParaRPr>
                    </a:p>
                  </a:txBody>
                  <a:tcPr marL="6350" marR="6350" marT="6350"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cs typeface="Calibri"/>
                        </a:rPr>
                        <a:t>&gt;</a:t>
                      </a:r>
                      <a:r>
                        <a:rPr lang="en-US" altLang="zh-CN" sz="1400" b="0" i="0" u="none" strike="noStrike" dirty="0" smtClean="0">
                          <a:solidFill>
                            <a:srgbClr val="000000"/>
                          </a:solidFill>
                          <a:effectLst/>
                          <a:latin typeface="+mn-lt"/>
                        </a:rPr>
                        <a:t>1000%</a:t>
                      </a:r>
                      <a:endParaRPr lang="en-US" altLang="zh-CN"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03"/>
                  </a:ext>
                </a:extLst>
              </a:tr>
              <a:tr h="353178">
                <a:tc>
                  <a:txBody>
                    <a:bodyPr/>
                    <a:lstStyle/>
                    <a:p>
                      <a:pPr marL="0" algn="ctr" defTabSz="914400" rtl="0" eaLnBrk="1" fontAlgn="ctr" latinLnBrk="0" hangingPunct="1"/>
                      <a:r>
                        <a:rPr lang="en-US" altLang="zh-CN" sz="1500" u="none" strike="noStrike" kern="1200" dirty="0">
                          <a:effectLst/>
                        </a:rPr>
                        <a:t>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人人车网</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2</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20</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mn-lt"/>
                          <a:ea typeface="华文中宋" panose="02010600040101010101" pitchFamily="2" charset="-122"/>
                          <a:cs typeface="+mn-cs"/>
                        </a:rPr>
                        <a:t>+18</a:t>
                      </a:r>
                      <a:endParaRPr lang="en-US" altLang="zh-CN" sz="1500" u="none" strike="noStrike" kern="1200" dirty="0">
                        <a:solidFill>
                          <a:schemeClr val="dk1"/>
                        </a:solidFill>
                        <a:effectLst/>
                        <a:latin typeface="+mn-lt"/>
                        <a:ea typeface="华文中宋" panose="02010600040101010101" pitchFamily="2" charset="-122"/>
                        <a:cs typeface="+mn-cs"/>
                      </a:endParaRPr>
                    </a:p>
                  </a:txBody>
                  <a:tcPr marL="6350" marR="6350" marT="6350"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cs typeface="Calibri"/>
                        </a:rPr>
                        <a:t>&gt;</a:t>
                      </a:r>
                      <a:r>
                        <a:rPr lang="en-US" altLang="zh-CN" sz="1400" b="0" i="0" u="none" strike="noStrike" dirty="0" smtClean="0">
                          <a:solidFill>
                            <a:srgbClr val="000000"/>
                          </a:solidFill>
                          <a:effectLst/>
                          <a:latin typeface="+mn-lt"/>
                        </a:rPr>
                        <a:t>1000%</a:t>
                      </a:r>
                      <a:endParaRPr lang="en-US" altLang="zh-CN"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04"/>
                  </a:ext>
                </a:extLst>
              </a:tr>
              <a:tr h="441023">
                <a:tc>
                  <a:txBody>
                    <a:bodyPr/>
                    <a:lstStyle/>
                    <a:p>
                      <a:pPr marL="0" algn="ctr" defTabSz="914400" rtl="0" eaLnBrk="1" fontAlgn="ctr" latinLnBrk="0" hangingPunct="1"/>
                      <a:r>
                        <a:rPr lang="en-US" altLang="zh-CN" sz="1500" u="none" strike="noStrike" kern="1200" dirty="0">
                          <a:effectLst/>
                        </a:rPr>
                        <a:t>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车轮考</a:t>
                      </a:r>
                      <a:r>
                        <a:rPr lang="zh-CN" altLang="en-US" sz="1400" b="0" u="none" strike="noStrike" kern="1200" dirty="0" smtClean="0">
                          <a:solidFill>
                            <a:schemeClr val="dk1"/>
                          </a:solidFill>
                          <a:effectLst/>
                          <a:latin typeface="华文中宋" panose="02010600040101010101" pitchFamily="2" charset="-122"/>
                          <a:ea typeface="华文中宋" panose="02010600040101010101" pitchFamily="2" charset="-122"/>
                          <a:cs typeface="+mn-cs"/>
                        </a:rPr>
                        <a:t>驾照</a:t>
                      </a:r>
                      <a:endParaRPr lang="en-US" altLang="zh-CN" sz="1400" b="0" u="none" strike="noStrike" kern="1200" dirty="0" smtClean="0">
                        <a:solidFill>
                          <a:schemeClr val="dk1"/>
                        </a:solidFill>
                        <a:effectLst/>
                        <a:latin typeface="华文中宋" panose="02010600040101010101" pitchFamily="2" charset="-122"/>
                        <a:ea typeface="华文中宋" panose="02010600040101010101" pitchFamily="2" charset="-122"/>
                        <a:cs typeface="+mn-cs"/>
                      </a:endParaRPr>
                    </a:p>
                    <a:p>
                      <a:pPr algn="ctr" fontAlgn="ctr"/>
                      <a:r>
                        <a:rPr lang="zh-CN" altLang="en-US" sz="1400" b="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手机</a:t>
                      </a: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应用软件</a:t>
                      </a: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mn-lt"/>
                          <a:ea typeface="华文中宋" panose="02010600040101010101" pitchFamily="2" charset="-122"/>
                          <a:cs typeface="+mn-cs"/>
                        </a:rPr>
                        <a:t>0</a:t>
                      </a:r>
                      <a:endParaRPr lang="zh-CN" altLang="en-US" sz="1500" u="none" strike="noStrike" kern="1200" dirty="0">
                        <a:solidFill>
                          <a:schemeClr val="dk1"/>
                        </a:solidFill>
                        <a:effectLst/>
                        <a:latin typeface="+mn-lt"/>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1</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mn-lt"/>
                          <a:ea typeface="华文中宋" panose="02010600040101010101" pitchFamily="2" charset="-122"/>
                          <a:cs typeface="+mn-cs"/>
                        </a:rPr>
                        <a:t>+1</a:t>
                      </a:r>
                      <a:endParaRPr lang="en-US" altLang="zh-CN" sz="1500" u="none" strike="noStrike" kern="1200" dirty="0">
                        <a:solidFill>
                          <a:schemeClr val="dk1"/>
                        </a:solidFill>
                        <a:effectLst/>
                        <a:latin typeface="+mn-lt"/>
                        <a:ea typeface="华文中宋" panose="02010600040101010101" pitchFamily="2" charset="-122"/>
                        <a:cs typeface="+mn-cs"/>
                      </a:endParaRPr>
                    </a:p>
                  </a:txBody>
                  <a:tcPr marL="6350" marR="6350" marT="6350"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rPr>
                        <a:t>New</a:t>
                      </a:r>
                      <a:endParaRPr lang="zh-CN" altLang="en-US"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05"/>
                  </a:ext>
                </a:extLst>
              </a:tr>
              <a:tr h="353178">
                <a:tc>
                  <a:txBody>
                    <a:bodyPr/>
                    <a:lstStyle/>
                    <a:p>
                      <a:pPr marL="0" algn="ctr" defTabSz="914400" rtl="0" eaLnBrk="1" fontAlgn="ctr" latinLnBrk="0" hangingPunct="1"/>
                      <a:r>
                        <a:rPr lang="en-US" altLang="zh-CN" sz="1500" u="none" strike="noStrike" kern="1200" dirty="0">
                          <a:effectLst/>
                        </a:rPr>
                        <a:t>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百度地图软件</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40</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8</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mn-lt"/>
                          <a:ea typeface="华文中宋" panose="02010600040101010101" pitchFamily="2" charset="-122"/>
                          <a:cs typeface="+mn-cs"/>
                        </a:rPr>
                        <a:t>-32</a:t>
                      </a:r>
                      <a:endParaRPr lang="en-US" altLang="zh-CN" sz="1500" u="none" strike="noStrike" kern="1200" dirty="0">
                        <a:solidFill>
                          <a:schemeClr val="dk1"/>
                        </a:solidFill>
                        <a:effectLst/>
                        <a:latin typeface="+mn-lt"/>
                        <a:ea typeface="华文中宋" panose="02010600040101010101" pitchFamily="2" charset="-122"/>
                        <a:cs typeface="+mn-cs"/>
                      </a:endParaRPr>
                    </a:p>
                  </a:txBody>
                  <a:tcPr marL="6350" marR="6350" marT="6350" marB="0" anchor="ctr">
                    <a:solidFill>
                      <a:schemeClr val="bg1">
                        <a:lumMod val="95000"/>
                      </a:schemeClr>
                    </a:solidFill>
                  </a:tcPr>
                </a:tc>
                <a:tc>
                  <a:txBody>
                    <a:bodyPr/>
                    <a:lstStyle/>
                    <a:p>
                      <a:pPr algn="ctr" fontAlgn="ctr"/>
                      <a:r>
                        <a:rPr lang="en-US" altLang="zh-CN" sz="1400" b="0" i="0" u="none" strike="noStrike" dirty="0">
                          <a:solidFill>
                            <a:srgbClr val="000000"/>
                          </a:solidFill>
                          <a:effectLst/>
                          <a:latin typeface="+mn-lt"/>
                        </a:rPr>
                        <a:t>-48.4%</a:t>
                      </a:r>
                    </a:p>
                  </a:txBody>
                  <a:tcPr marL="9525" marR="9525" marT="9525" marB="0" anchor="ctr">
                    <a:solidFill>
                      <a:schemeClr val="bg1">
                        <a:lumMod val="95000"/>
                      </a:schemeClr>
                    </a:solidFill>
                  </a:tcPr>
                </a:tc>
                <a:extLst>
                  <a:ext uri="{0D108BD9-81ED-4DB2-BD59-A6C34878D82A}">
                    <a16:rowId xmlns="" xmlns:a16="http://schemas.microsoft.com/office/drawing/2014/main" val="10006"/>
                  </a:ext>
                </a:extLst>
              </a:tr>
              <a:tr h="353178">
                <a:tc>
                  <a:txBody>
                    <a:bodyPr/>
                    <a:lstStyle/>
                    <a:p>
                      <a:pPr marL="0" algn="ctr" defTabSz="914400" rtl="0" eaLnBrk="1" fontAlgn="ctr" latinLnBrk="0" hangingPunct="1"/>
                      <a:r>
                        <a:rPr lang="en-US" altLang="zh-CN" sz="1500" u="none" strike="noStrike" kern="1200" dirty="0">
                          <a:effectLst/>
                        </a:rPr>
                        <a:t>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优信二手车网</a:t>
                      </a: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mn-lt"/>
                          <a:ea typeface="华文中宋" panose="02010600040101010101" pitchFamily="2" charset="-122"/>
                          <a:cs typeface="+mn-cs"/>
                        </a:rPr>
                        <a:t>0</a:t>
                      </a:r>
                      <a:endParaRPr lang="zh-CN" altLang="en-US" sz="1500" u="none" strike="noStrike" kern="1200" dirty="0">
                        <a:solidFill>
                          <a:schemeClr val="dk1"/>
                        </a:solidFill>
                        <a:effectLst/>
                        <a:latin typeface="+mn-lt"/>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4</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mn-lt"/>
                          <a:ea typeface="华文中宋" panose="02010600040101010101" pitchFamily="2" charset="-122"/>
                          <a:cs typeface="+mn-cs"/>
                        </a:rPr>
                        <a:t>+4</a:t>
                      </a:r>
                      <a:endParaRPr lang="en-US" altLang="zh-CN" sz="1500" u="none" strike="noStrike" kern="1200" dirty="0">
                        <a:solidFill>
                          <a:schemeClr val="dk1"/>
                        </a:solidFill>
                        <a:effectLst/>
                        <a:latin typeface="+mn-lt"/>
                        <a:ea typeface="华文中宋" panose="02010600040101010101" pitchFamily="2" charset="-122"/>
                        <a:cs typeface="+mn-cs"/>
                      </a:endParaRPr>
                    </a:p>
                  </a:txBody>
                  <a:tcPr marL="6350" marR="6350" marT="6350"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rPr>
                        <a:t>New</a:t>
                      </a:r>
                      <a:endParaRPr lang="zh-CN" altLang="en-US"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07"/>
                  </a:ext>
                </a:extLst>
              </a:tr>
              <a:tr h="353178">
                <a:tc>
                  <a:txBody>
                    <a:bodyPr/>
                    <a:lstStyle/>
                    <a:p>
                      <a:pPr marL="0" algn="ctr" defTabSz="914400" rtl="0" eaLnBrk="1" fontAlgn="ctr" latinLnBrk="0" hangingPunct="1"/>
                      <a:r>
                        <a:rPr lang="en-US" altLang="zh-CN" sz="1500" u="none" strike="noStrike" kern="1200" dirty="0">
                          <a:effectLst/>
                        </a:rPr>
                        <a:t>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途虎养车网</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5</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11</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mn-lt"/>
                          <a:ea typeface="华文中宋" panose="02010600040101010101" pitchFamily="2" charset="-122"/>
                          <a:cs typeface="+mn-cs"/>
                        </a:rPr>
                        <a:t>+6</a:t>
                      </a:r>
                      <a:endParaRPr lang="en-US" altLang="zh-CN" sz="1500" u="none" strike="noStrike" kern="1200" dirty="0">
                        <a:solidFill>
                          <a:schemeClr val="dk1"/>
                        </a:solidFill>
                        <a:effectLst/>
                        <a:latin typeface="+mn-lt"/>
                        <a:ea typeface="华文中宋" panose="02010600040101010101" pitchFamily="2" charset="-122"/>
                        <a:cs typeface="+mn-cs"/>
                      </a:endParaRPr>
                    </a:p>
                  </a:txBody>
                  <a:tcPr marL="6350" marR="6350" marT="6350" marB="0" anchor="ctr">
                    <a:solidFill>
                      <a:schemeClr val="bg1">
                        <a:lumMod val="95000"/>
                      </a:schemeClr>
                    </a:solidFill>
                  </a:tcPr>
                </a:tc>
                <a:tc>
                  <a:txBody>
                    <a:bodyPr/>
                    <a:lstStyle/>
                    <a:p>
                      <a:pPr algn="ctr" fontAlgn="ctr"/>
                      <a:r>
                        <a:rPr lang="en-US" altLang="zh-CN" sz="1400" b="0" i="0" u="none" strike="noStrike" dirty="0">
                          <a:solidFill>
                            <a:srgbClr val="000000"/>
                          </a:solidFill>
                          <a:effectLst/>
                          <a:latin typeface="+mn-lt"/>
                        </a:rPr>
                        <a:t>-23.6%</a:t>
                      </a:r>
                    </a:p>
                  </a:txBody>
                  <a:tcPr marL="9525" marR="9525" marT="9525" marB="0" anchor="ctr">
                    <a:solidFill>
                      <a:schemeClr val="bg1">
                        <a:lumMod val="95000"/>
                      </a:schemeClr>
                    </a:solidFill>
                  </a:tcPr>
                </a:tc>
                <a:extLst>
                  <a:ext uri="{0D108BD9-81ED-4DB2-BD59-A6C34878D82A}">
                    <a16:rowId xmlns="" xmlns:a16="http://schemas.microsoft.com/office/drawing/2014/main" val="10008"/>
                  </a:ext>
                </a:extLst>
              </a:tr>
              <a:tr h="353178">
                <a:tc>
                  <a:txBody>
                    <a:bodyPr/>
                    <a:lstStyle/>
                    <a:p>
                      <a:pPr marL="0" algn="ctr" defTabSz="914400" rtl="0" eaLnBrk="1" fontAlgn="ctr" latinLnBrk="0" hangingPunct="1"/>
                      <a:r>
                        <a:rPr lang="en-US" altLang="zh-CN" sz="1500" u="none" strike="noStrike" kern="1200" dirty="0">
                          <a:effectLst/>
                        </a:rPr>
                        <a:t>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滴滴打车软件</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32</a:t>
                      </a: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30</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mn-lt"/>
                          <a:ea typeface="华文中宋" panose="02010600040101010101" pitchFamily="2" charset="-122"/>
                          <a:cs typeface="+mn-cs"/>
                        </a:rPr>
                        <a:t>-2</a:t>
                      </a:r>
                      <a:endParaRPr lang="en-US" altLang="zh-CN" sz="1500" u="none" strike="noStrike" kern="1200" dirty="0">
                        <a:solidFill>
                          <a:schemeClr val="dk1"/>
                        </a:solidFill>
                        <a:effectLst/>
                        <a:latin typeface="+mn-lt"/>
                        <a:ea typeface="华文中宋" panose="02010600040101010101" pitchFamily="2" charset="-122"/>
                        <a:cs typeface="+mn-cs"/>
                      </a:endParaRPr>
                    </a:p>
                  </a:txBody>
                  <a:tcPr marL="6350" marR="6350" marT="6350" marB="0" anchor="ctr">
                    <a:solidFill>
                      <a:schemeClr val="bg1">
                        <a:lumMod val="95000"/>
                      </a:schemeClr>
                    </a:solidFill>
                  </a:tcPr>
                </a:tc>
                <a:tc>
                  <a:txBody>
                    <a:bodyPr/>
                    <a:lstStyle/>
                    <a:p>
                      <a:pPr algn="ctr" fontAlgn="ctr"/>
                      <a:r>
                        <a:rPr lang="en-US" altLang="zh-CN" sz="1400" b="0" i="0" u="none" strike="noStrike" dirty="0">
                          <a:solidFill>
                            <a:srgbClr val="000000"/>
                          </a:solidFill>
                          <a:effectLst/>
                          <a:latin typeface="+mn-lt"/>
                        </a:rPr>
                        <a:t>-90.0%</a:t>
                      </a:r>
                    </a:p>
                  </a:txBody>
                  <a:tcPr marL="9525" marR="9525" marT="9525" marB="0" anchor="ctr">
                    <a:solidFill>
                      <a:schemeClr val="bg1">
                        <a:lumMod val="95000"/>
                      </a:schemeClr>
                    </a:solidFill>
                  </a:tcPr>
                </a:tc>
                <a:extLst>
                  <a:ext uri="{0D108BD9-81ED-4DB2-BD59-A6C34878D82A}">
                    <a16:rowId xmlns="" xmlns:a16="http://schemas.microsoft.com/office/drawing/2014/main" val="10009"/>
                  </a:ext>
                </a:extLst>
              </a:tr>
              <a:tr h="353178">
                <a:tc>
                  <a:txBody>
                    <a:bodyPr/>
                    <a:lstStyle/>
                    <a:p>
                      <a:pPr marL="0" algn="ctr" defTabSz="914400" rtl="0" eaLnBrk="1" fontAlgn="ctr" latinLnBrk="0" hangingPunct="1"/>
                      <a:r>
                        <a:rPr lang="en-US" altLang="zh-CN" sz="1500" u="none" strike="noStrike" kern="1200" dirty="0">
                          <a:effectLst/>
                        </a:rPr>
                        <a:t>10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400" b="0" u="none" strike="noStrike" kern="1200" dirty="0">
                          <a:solidFill>
                            <a:schemeClr val="dk1"/>
                          </a:solidFill>
                          <a:effectLst/>
                          <a:latin typeface="华文中宋" panose="02010600040101010101" pitchFamily="2" charset="-122"/>
                          <a:ea typeface="华文中宋" panose="02010600040101010101" pitchFamily="2" charset="-122"/>
                          <a:cs typeface="+mn-cs"/>
                        </a:rPr>
                        <a:t>猪兼强网</a:t>
                      </a: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mn-lt"/>
                          <a:ea typeface="华文中宋" panose="02010600040101010101" pitchFamily="2" charset="-122"/>
                          <a:cs typeface="+mn-cs"/>
                        </a:rPr>
                        <a:t>0</a:t>
                      </a:r>
                      <a:endParaRPr lang="zh-CN" altLang="en-US" sz="1500" u="none" strike="noStrike" kern="1200" dirty="0">
                        <a:solidFill>
                          <a:schemeClr val="dk1"/>
                        </a:solidFill>
                        <a:effectLst/>
                        <a:latin typeface="+mn-lt"/>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a:solidFill>
                            <a:schemeClr val="dk1"/>
                          </a:solidFill>
                          <a:effectLst/>
                          <a:latin typeface="+mn-lt"/>
                          <a:ea typeface="华文中宋" panose="02010600040101010101" pitchFamily="2" charset="-122"/>
                          <a:cs typeface="+mn-cs"/>
                        </a:rPr>
                        <a:t>1</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mn-lt"/>
                          <a:ea typeface="华文中宋" panose="02010600040101010101" pitchFamily="2" charset="-122"/>
                          <a:cs typeface="+mn-cs"/>
                        </a:rPr>
                        <a:t>+1</a:t>
                      </a:r>
                      <a:endParaRPr lang="en-US" altLang="zh-CN" sz="1500" u="none" strike="noStrike" kern="1200" dirty="0">
                        <a:solidFill>
                          <a:schemeClr val="dk1"/>
                        </a:solidFill>
                        <a:effectLst/>
                        <a:latin typeface="+mn-lt"/>
                        <a:ea typeface="华文中宋" panose="02010600040101010101" pitchFamily="2" charset="-122"/>
                        <a:cs typeface="+mn-cs"/>
                      </a:endParaRPr>
                    </a:p>
                  </a:txBody>
                  <a:tcPr marL="6350" marR="6350" marT="6350" marB="0" anchor="ctr">
                    <a:solidFill>
                      <a:schemeClr val="bg1">
                        <a:lumMod val="95000"/>
                      </a:schemeClr>
                    </a:solidFill>
                  </a:tcPr>
                </a:tc>
                <a:tc>
                  <a:txBody>
                    <a:bodyPr/>
                    <a:lstStyle/>
                    <a:p>
                      <a:pPr algn="ctr" fontAlgn="ctr"/>
                      <a:r>
                        <a:rPr lang="en-US" altLang="zh-CN" sz="1400" b="0" i="0" u="none" strike="noStrike" dirty="0" smtClean="0">
                          <a:solidFill>
                            <a:srgbClr val="000000"/>
                          </a:solidFill>
                          <a:effectLst/>
                          <a:latin typeface="+mn-lt"/>
                        </a:rPr>
                        <a:t>New</a:t>
                      </a:r>
                      <a:endParaRPr lang="zh-CN" altLang="en-US" sz="1400" b="0" i="0" u="none" strike="noStrike" dirty="0">
                        <a:solidFill>
                          <a:srgbClr val="000000"/>
                        </a:solidFill>
                        <a:effectLst/>
                        <a:latin typeface="+mn-lt"/>
                      </a:endParaRPr>
                    </a:p>
                  </a:txBody>
                  <a:tcPr marL="9525" marR="9525" marT="9525" marB="0" anchor="ctr">
                    <a:solidFill>
                      <a:schemeClr val="bg1">
                        <a:lumMod val="95000"/>
                      </a:schemeClr>
                    </a:solidFill>
                  </a:tcPr>
                </a:tc>
                <a:extLst>
                  <a:ext uri="{0D108BD9-81ED-4DB2-BD59-A6C34878D82A}">
                    <a16:rowId xmlns="" xmlns:a16="http://schemas.microsoft.com/office/drawing/2014/main" val="10010"/>
                  </a:ext>
                </a:extLst>
              </a:tr>
            </a:tbl>
          </a:graphicData>
        </a:graphic>
      </p:graphicFrame>
      <p:sp>
        <p:nvSpPr>
          <p:cNvPr id="6" name="TextBox 5"/>
          <p:cNvSpPr txBox="1"/>
          <p:nvPr/>
        </p:nvSpPr>
        <p:spPr>
          <a:xfrm>
            <a:off x="251521" y="692696"/>
            <a:ext cx="8786806" cy="1631216"/>
          </a:xfrm>
          <a:prstGeom prst="rect">
            <a:avLst/>
          </a:prstGeom>
          <a:noFill/>
        </p:spPr>
        <p:txBody>
          <a:bodyPr wrap="square" rtlCol="0">
            <a:spAutoFit/>
          </a:bodyPr>
          <a:lstStyle/>
          <a:p>
            <a:pPr marL="285750" indent="-285750">
              <a:buClr>
                <a:schemeClr val="bg1"/>
              </a:buClr>
              <a:buFont typeface="Arial" panose="020B0604020202020204" pitchFamily="34" charset="0"/>
              <a:buChar char="•"/>
              <a:tabLst>
                <a:tab pos="3228975" algn="l"/>
              </a:tabLst>
            </a:pPr>
            <a:r>
              <a:rPr lang="zh-CN" altLang="en-US" sz="2000" b="1" dirty="0" smtClean="0">
                <a:solidFill>
                  <a:srgbClr val="FF0000"/>
                </a:solidFill>
                <a:latin typeface="华文中宋" panose="02010600040101010101" pitchFamily="2" charset="-122"/>
                <a:ea typeface="华文中宋" panose="02010600040101010101" pitchFamily="2" charset="-122"/>
              </a:rPr>
              <a:t>大部分</a:t>
            </a:r>
            <a:r>
              <a:rPr lang="zh-CN" altLang="en-US" sz="2000" b="1" dirty="0" smtClean="0">
                <a:solidFill>
                  <a:schemeClr val="bg1"/>
                </a:solidFill>
                <a:latin typeface="华文中宋" panose="02010600040101010101" pitchFamily="2" charset="-122"/>
                <a:ea typeface="华文中宋" panose="02010600040101010101" pitchFamily="2" charset="-122"/>
              </a:rPr>
              <a:t>的汽车出行类互联网企业在今年都</a:t>
            </a:r>
            <a:r>
              <a:rPr lang="zh-CN" altLang="en-US" sz="2000" b="1" dirty="0" smtClean="0">
                <a:solidFill>
                  <a:srgbClr val="FF0000"/>
                </a:solidFill>
                <a:latin typeface="华文中宋" panose="02010600040101010101" pitchFamily="2" charset="-122"/>
                <a:ea typeface="华文中宋" panose="02010600040101010101" pitchFamily="2" charset="-122"/>
              </a:rPr>
              <a:t>增加了</a:t>
            </a:r>
            <a:r>
              <a:rPr lang="zh-CN" altLang="en-US" sz="2000" b="1" dirty="0" smtClean="0">
                <a:solidFill>
                  <a:schemeClr val="bg1"/>
                </a:solidFill>
                <a:latin typeface="华文中宋" panose="02010600040101010101" pitchFamily="2" charset="-122"/>
                <a:ea typeface="华文中宋" panose="02010600040101010101" pitchFamily="2" charset="-122"/>
              </a:rPr>
              <a:t>覆盖城市的</a:t>
            </a:r>
            <a:r>
              <a:rPr lang="zh-CN" altLang="en-US" sz="2000" b="1" dirty="0" smtClean="0">
                <a:solidFill>
                  <a:srgbClr val="FF0000"/>
                </a:solidFill>
                <a:latin typeface="华文中宋" panose="02010600040101010101" pitchFamily="2" charset="-122"/>
                <a:ea typeface="华文中宋" panose="02010600040101010101" pitchFamily="2" charset="-122"/>
              </a:rPr>
              <a:t>数量</a:t>
            </a:r>
            <a:r>
              <a:rPr lang="zh-CN" altLang="en-US" sz="2000" b="1" dirty="0" smtClean="0">
                <a:solidFill>
                  <a:schemeClr val="bg1"/>
                </a:solidFill>
                <a:latin typeface="华文中宋" panose="02010600040101010101" pitchFamily="2" charset="-122"/>
                <a:ea typeface="华文中宋" panose="02010600040101010101" pitchFamily="2" charset="-122"/>
              </a:rPr>
              <a:t>。</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sz="2000" b="1" dirty="0">
                <a:solidFill>
                  <a:schemeClr val="bg1"/>
                </a:solidFill>
                <a:latin typeface="华文中宋" panose="02010600040101010101" pitchFamily="2" charset="-122"/>
                <a:ea typeface="华文中宋" panose="02010600040101010101" pitchFamily="2" charset="-122"/>
              </a:rPr>
              <a:t>易</a:t>
            </a:r>
            <a:r>
              <a:rPr lang="zh-CN" altLang="en-US" sz="2000" b="1" dirty="0" smtClean="0">
                <a:solidFill>
                  <a:schemeClr val="bg1"/>
                </a:solidFill>
                <a:latin typeface="华文中宋" panose="02010600040101010101" pitchFamily="2" charset="-122"/>
                <a:ea typeface="华文中宋" panose="02010600040101010101" pitchFamily="2" charset="-122"/>
              </a:rPr>
              <a:t>到用车、优步、人人车网等汽车类互联网企业在今年大量增加广告花费的同时，也增加了多个城市的广告覆盖。</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285750" indent="-285750">
              <a:buFont typeface="Arial" panose="020B0604020202020204" pitchFamily="34" charset="0"/>
              <a:buChar char="•"/>
            </a:pPr>
            <a:r>
              <a:rPr lang="zh-CN" altLang="en-US" sz="2000" b="1" dirty="0" smtClean="0">
                <a:solidFill>
                  <a:schemeClr val="bg1"/>
                </a:solidFill>
                <a:latin typeface="华文中宋" panose="02010600040101010101" pitchFamily="2" charset="-122"/>
                <a:ea typeface="华文中宋" panose="02010600040101010101" pitchFamily="2" charset="-122"/>
              </a:rPr>
              <a:t>车轮考驾照手机应用软件只在上海的商务楼宇视频投放广告，且投放量较大。</a:t>
            </a:r>
            <a:endParaRPr lang="en-US" altLang="zh-CN" sz="2000" b="1" dirty="0" smtClean="0">
              <a:solidFill>
                <a:schemeClr val="bg1"/>
              </a:solidFill>
              <a:latin typeface="华文中宋" panose="02010600040101010101" pitchFamily="2" charset="-122"/>
              <a:ea typeface="华文中宋" panose="02010600040101010101" pitchFamily="2" charset="-122"/>
            </a:endParaRPr>
          </a:p>
        </p:txBody>
      </p:sp>
      <p:sp>
        <p:nvSpPr>
          <p:cNvPr id="7" name="矩形 6"/>
          <p:cNvSpPr/>
          <p:nvPr/>
        </p:nvSpPr>
        <p:spPr>
          <a:xfrm>
            <a:off x="563923" y="6597352"/>
            <a:ext cx="8688597" cy="259045"/>
          </a:xfrm>
          <a:prstGeom prst="rect">
            <a:avLst/>
          </a:prstGeom>
        </p:spPr>
        <p:txBody>
          <a:bodyPr wrap="non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按照</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月广告花费排序 </a:t>
            </a: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673661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nvSpPr>
        <p:spPr>
          <a:xfrm>
            <a:off x="251520" y="188640"/>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1B015"/>
                </a:solidFill>
                <a:latin typeface="Arial Black"/>
                <a:ea typeface="微软雅黑"/>
              </a:rPr>
              <a:t>花费最多的频道</a:t>
            </a:r>
            <a:endParaRPr lang="zh-CN" altLang="en-US" b="1" dirty="0">
              <a:solidFill>
                <a:srgbClr val="F1B015"/>
              </a:solidFill>
              <a:latin typeface="Arial Black"/>
              <a:ea typeface="微软雅黑"/>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6" name="表格 5"/>
          <p:cNvGraphicFramePr>
            <a:graphicFrameLocks noGrp="1"/>
          </p:cNvGraphicFramePr>
          <p:nvPr>
            <p:extLst>
              <p:ext uri="{D42A27DB-BD31-4B8C-83A1-F6EECF244321}">
                <p14:modId xmlns:p14="http://schemas.microsoft.com/office/powerpoint/2010/main" val="339522222"/>
              </p:ext>
            </p:extLst>
          </p:nvPr>
        </p:nvGraphicFramePr>
        <p:xfrm>
          <a:off x="345728" y="1916832"/>
          <a:ext cx="8474744" cy="4248476"/>
        </p:xfrm>
        <a:graphic>
          <a:graphicData uri="http://schemas.openxmlformats.org/drawingml/2006/table">
            <a:tbl>
              <a:tblPr firstRow="1" bandRow="1">
                <a:tableStyleId>{46F890A9-2807-4EBB-B81D-B2AA78EC7F39}</a:tableStyleId>
              </a:tblPr>
              <a:tblGrid>
                <a:gridCol w="860090">
                  <a:extLst>
                    <a:ext uri="{9D8B030D-6E8A-4147-A177-3AD203B41FA5}">
                      <a16:colId xmlns="" xmlns:a16="http://schemas.microsoft.com/office/drawing/2014/main" val="20000"/>
                    </a:ext>
                  </a:extLst>
                </a:gridCol>
                <a:gridCol w="2718110">
                  <a:extLst>
                    <a:ext uri="{9D8B030D-6E8A-4147-A177-3AD203B41FA5}">
                      <a16:colId xmlns="" xmlns:a16="http://schemas.microsoft.com/office/drawing/2014/main" val="20001"/>
                    </a:ext>
                  </a:extLst>
                </a:gridCol>
                <a:gridCol w="4896544"/>
              </a:tblGrid>
              <a:tr h="459596">
                <a:tc>
                  <a:txBody>
                    <a:bodyPr/>
                    <a:lstStyle/>
                    <a:p>
                      <a:pPr marL="0" algn="ctr" defTabSz="914400" rtl="0" eaLnBrk="1" fontAlgn="ctr" latinLnBrk="0" hangingPunct="1"/>
                      <a:r>
                        <a:rPr lang="zh-CN" altLang="en-US" sz="1500" b="1" u="none" strike="noStrike" kern="1200" dirty="0">
                          <a:effectLst/>
                          <a:latin typeface="华文中宋" panose="02010600040101010101" pitchFamily="2" charset="-122"/>
                          <a:ea typeface="华文中宋" panose="02010600040101010101" pitchFamily="2" charset="-122"/>
                        </a:rPr>
                        <a:t>排名</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媒体名称</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广告花费前三的产品</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extLst>
                  <a:ext uri="{0D108BD9-81ED-4DB2-BD59-A6C34878D82A}">
                    <a16:rowId xmlns="" xmlns:a16="http://schemas.microsoft.com/office/drawing/2014/main" val="10000"/>
                  </a:ext>
                </a:extLst>
              </a:tr>
              <a:tr h="378888">
                <a:tc>
                  <a:txBody>
                    <a:bodyPr/>
                    <a:lstStyle/>
                    <a:p>
                      <a:pPr marL="0" algn="ctr" defTabSz="914400" rtl="0" eaLnBrk="1" fontAlgn="ctr" latinLnBrk="0" hangingPunct="1"/>
                      <a:r>
                        <a:rPr lang="en-US" altLang="zh-CN" sz="1500" u="none" strike="noStrike" kern="1200" dirty="0">
                          <a:effectLst/>
                        </a:rPr>
                        <a:t>1</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CCTV-6</a:t>
                      </a:r>
                      <a:endParaRPr lang="en-US" altLang="zh-CN"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瓜子二手车直卖网、人人车网</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1"/>
                  </a:ext>
                </a:extLst>
              </a:tr>
              <a:tr h="378888">
                <a:tc>
                  <a:txBody>
                    <a:bodyPr/>
                    <a:lstStyle/>
                    <a:p>
                      <a:pPr marL="0" algn="ctr" defTabSz="914400" rtl="0" eaLnBrk="1" fontAlgn="ctr" latinLnBrk="0" hangingPunct="1"/>
                      <a:r>
                        <a:rPr lang="en-US" altLang="zh-CN" sz="1500" u="none" strike="noStrike" kern="1200" dirty="0">
                          <a:effectLst/>
                        </a:rPr>
                        <a:t>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湖南卫视</a:t>
                      </a:r>
                      <a:endParaRPr lang="en-US" altLang="zh-CN"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瓜子二手车直卖网、百度地图软件、人人车网</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2"/>
                  </a:ext>
                </a:extLst>
              </a:tr>
              <a:tr h="378888">
                <a:tc>
                  <a:txBody>
                    <a:bodyPr/>
                    <a:lstStyle/>
                    <a:p>
                      <a:pPr marL="0" algn="ctr" defTabSz="914400" rtl="0" eaLnBrk="1" fontAlgn="ctr" latinLnBrk="0" hangingPunct="1"/>
                      <a:r>
                        <a:rPr lang="en-US" altLang="zh-CN" sz="1500" u="none" strike="noStrike" kern="1200" dirty="0">
                          <a:effectLst/>
                        </a:rPr>
                        <a:t>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CCTV-5</a:t>
                      </a:r>
                      <a:endParaRPr lang="en-US" altLang="zh-CN"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瓜子二手车直卖网、优信二手车网</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3"/>
                  </a:ext>
                </a:extLst>
              </a:tr>
              <a:tr h="378888">
                <a:tc>
                  <a:txBody>
                    <a:bodyPr/>
                    <a:lstStyle/>
                    <a:p>
                      <a:pPr marL="0" algn="ctr" defTabSz="914400" rtl="0" eaLnBrk="1" fontAlgn="ctr" latinLnBrk="0" hangingPunct="1"/>
                      <a:r>
                        <a:rPr lang="en-US" altLang="zh-CN" sz="1500" u="none" strike="noStrike" kern="1200" dirty="0">
                          <a:effectLst/>
                        </a:rPr>
                        <a:t>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浙江卫</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视</a:t>
                      </a:r>
                      <a:endParaRPr lang="en-US" altLang="zh-CN"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瓜子二手车直卖网、人人车网</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4"/>
                  </a:ext>
                </a:extLst>
              </a:tr>
              <a:tr h="378888">
                <a:tc>
                  <a:txBody>
                    <a:bodyPr/>
                    <a:lstStyle/>
                    <a:p>
                      <a:pPr marL="0" algn="ctr" defTabSz="914400" rtl="0" eaLnBrk="1" fontAlgn="ctr" latinLnBrk="0" hangingPunct="1"/>
                      <a:r>
                        <a:rPr lang="en-US" altLang="zh-CN" sz="1500" u="none" strike="noStrike" kern="1200" dirty="0">
                          <a:effectLst/>
                        </a:rPr>
                        <a:t>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东方卫</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视</a:t>
                      </a:r>
                      <a:endParaRPr lang="en-US" altLang="zh-CN"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瓜子二手车直卖网、人人车网、优信二手车网</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5"/>
                  </a:ext>
                </a:extLst>
              </a:tr>
              <a:tr h="378888">
                <a:tc>
                  <a:txBody>
                    <a:bodyPr/>
                    <a:lstStyle/>
                    <a:p>
                      <a:pPr marL="0" algn="ctr" defTabSz="914400" rtl="0" eaLnBrk="1" fontAlgn="ctr" latinLnBrk="0" hangingPunct="1"/>
                      <a:r>
                        <a:rPr lang="en-US" altLang="zh-CN" sz="1500" u="none" strike="noStrike" kern="1200" dirty="0">
                          <a:effectLst/>
                        </a:rPr>
                        <a:t>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CCTV-1</a:t>
                      </a:r>
                      <a:endParaRPr lang="en-US" altLang="zh-CN"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瓜子二手车直卖网、优信二手车网</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6"/>
                  </a:ext>
                </a:extLst>
              </a:tr>
              <a:tr h="378888">
                <a:tc>
                  <a:txBody>
                    <a:bodyPr/>
                    <a:lstStyle/>
                    <a:p>
                      <a:pPr marL="0" algn="ctr" defTabSz="914400" rtl="0" eaLnBrk="1" fontAlgn="ctr" latinLnBrk="0" hangingPunct="1"/>
                      <a:r>
                        <a:rPr lang="en-US" altLang="zh-CN" sz="1500" u="none" strike="noStrike" kern="1200" dirty="0">
                          <a:effectLst/>
                        </a:rPr>
                        <a:t>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江苏卫</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视</a:t>
                      </a:r>
                      <a:endParaRPr lang="en-US" altLang="zh-CN"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瓜子二手车直卖网、人人车网</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7"/>
                  </a:ext>
                </a:extLst>
              </a:tr>
              <a:tr h="378888">
                <a:tc>
                  <a:txBody>
                    <a:bodyPr/>
                    <a:lstStyle/>
                    <a:p>
                      <a:pPr marL="0" algn="ctr" defTabSz="914400" rtl="0" eaLnBrk="1" fontAlgn="ctr" latinLnBrk="0" hangingPunct="1"/>
                      <a:r>
                        <a:rPr lang="en-US" altLang="zh-CN" sz="1500" u="none" strike="noStrike" kern="1200" dirty="0">
                          <a:effectLst/>
                        </a:rPr>
                        <a:t>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安徽卫</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视</a:t>
                      </a:r>
                      <a:endParaRPr lang="en-US" altLang="zh-CN"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瓜子二手车直卖网</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8"/>
                  </a:ext>
                </a:extLst>
              </a:tr>
              <a:tr h="378888">
                <a:tc>
                  <a:txBody>
                    <a:bodyPr/>
                    <a:lstStyle/>
                    <a:p>
                      <a:pPr marL="0" algn="ctr" defTabSz="914400" rtl="0" eaLnBrk="1" fontAlgn="ctr" latinLnBrk="0" hangingPunct="1"/>
                      <a:r>
                        <a:rPr lang="en-US" altLang="zh-CN" sz="1500" u="none" strike="noStrike" kern="1200" dirty="0">
                          <a:effectLst/>
                        </a:rPr>
                        <a:t>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深圳卫</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视</a:t>
                      </a:r>
                      <a:endParaRPr lang="en-US" altLang="zh-CN"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瓜子二手车直卖网、人人车网</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9"/>
                  </a:ext>
                </a:extLst>
              </a:tr>
              <a:tr h="378888">
                <a:tc>
                  <a:txBody>
                    <a:bodyPr/>
                    <a:lstStyle/>
                    <a:p>
                      <a:pPr marL="0" algn="ctr" defTabSz="914400" rtl="0" eaLnBrk="1" fontAlgn="ctr" latinLnBrk="0" hangingPunct="1"/>
                      <a:r>
                        <a:rPr lang="en-US" altLang="zh-CN" sz="1500" u="none" strike="noStrike" kern="1200" dirty="0">
                          <a:effectLst/>
                        </a:rPr>
                        <a:t>10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山东卫</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视</a:t>
                      </a:r>
                      <a:endParaRPr lang="en-US" altLang="zh-CN"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瓜子二手车直卖网、优信二手车网、人人车网</a:t>
                      </a:r>
                    </a:p>
                  </a:txBody>
                  <a:tcPr marL="9525" marR="9525" marT="9525" marB="0" anchor="ctr">
                    <a:solidFill>
                      <a:schemeClr val="bg1">
                        <a:lumMod val="95000"/>
                      </a:schemeClr>
                    </a:solidFill>
                  </a:tcPr>
                </a:tc>
                <a:extLst>
                  <a:ext uri="{0D108BD9-81ED-4DB2-BD59-A6C34878D82A}">
                    <a16:rowId xmlns="" xmlns:a16="http://schemas.microsoft.com/office/drawing/2014/main" val="10010"/>
                  </a:ext>
                </a:extLst>
              </a:tr>
            </a:tbl>
          </a:graphicData>
        </a:graphic>
      </p:graphicFrame>
      <p:sp>
        <p:nvSpPr>
          <p:cNvPr id="7" name="TextBox 6"/>
          <p:cNvSpPr txBox="1"/>
          <p:nvPr/>
        </p:nvSpPr>
        <p:spPr>
          <a:xfrm>
            <a:off x="251521" y="692696"/>
            <a:ext cx="8786806" cy="1015663"/>
          </a:xfrm>
          <a:prstGeom prst="rect">
            <a:avLst/>
          </a:prstGeom>
          <a:noFill/>
        </p:spPr>
        <p:txBody>
          <a:bodyPr wrap="square" rtlCol="0">
            <a:spAutoFit/>
          </a:bodyPr>
          <a:lstStyle/>
          <a:p>
            <a:pPr marL="342900" indent="-342900">
              <a:lnSpc>
                <a:spcPct val="150000"/>
              </a:lnSpc>
              <a:buFont typeface="Arial" panose="020B0604020202020204" pitchFamily="34" charset="0"/>
              <a:buChar char="•"/>
              <a:tabLst>
                <a:tab pos="5741988" algn="l"/>
              </a:tabLst>
            </a:pPr>
            <a:r>
              <a:rPr lang="zh-CN" altLang="en-US" sz="2000" b="1" dirty="0" smtClean="0">
                <a:solidFill>
                  <a:schemeClr val="bg1"/>
                </a:solidFill>
                <a:latin typeface="华文中宋" panose="02010600040101010101" pitchFamily="2" charset="-122"/>
                <a:ea typeface="华文中宋" panose="02010600040101010101" pitchFamily="2" charset="-122"/>
              </a:rPr>
              <a:t>与其他类型的互联网企业不同，汽车出行类的互联网企业花费较多的都是</a:t>
            </a:r>
            <a:r>
              <a:rPr lang="zh-CN" altLang="en-US" sz="2000" b="1" dirty="0" smtClean="0">
                <a:solidFill>
                  <a:srgbClr val="FF0000"/>
                </a:solidFill>
                <a:latin typeface="华文中宋" panose="02010600040101010101" pitchFamily="2" charset="-122"/>
                <a:ea typeface="华文中宋" panose="02010600040101010101" pitchFamily="2" charset="-122"/>
              </a:rPr>
              <a:t>热门的省级卫视和央视频道</a:t>
            </a:r>
            <a:r>
              <a:rPr lang="zh-CN" altLang="en-US" sz="2000" b="1" dirty="0" smtClean="0">
                <a:solidFill>
                  <a:schemeClr val="bg1"/>
                </a:solidFill>
                <a:latin typeface="华文中宋" panose="02010600040101010101" pitchFamily="2" charset="-122"/>
                <a:ea typeface="华文中宋" panose="02010600040101010101" pitchFamily="2" charset="-122"/>
              </a:rPr>
              <a:t>。</a:t>
            </a:r>
            <a:endParaRPr lang="en-US" altLang="zh-CN" sz="2000" b="1" dirty="0" smtClean="0">
              <a:solidFill>
                <a:schemeClr val="bg1"/>
              </a:solidFill>
              <a:latin typeface="华文中宋" panose="02010600040101010101" pitchFamily="2" charset="-122"/>
              <a:ea typeface="华文中宋" panose="02010600040101010101" pitchFamily="2" charset="-122"/>
            </a:endParaRPr>
          </a:p>
        </p:txBody>
      </p:sp>
      <p:sp>
        <p:nvSpPr>
          <p:cNvPr id="9" name="矩形 8"/>
          <p:cNvSpPr/>
          <p:nvPr/>
        </p:nvSpPr>
        <p:spPr>
          <a:xfrm>
            <a:off x="2532538" y="6453336"/>
            <a:ext cx="6647974" cy="425758"/>
          </a:xfrm>
          <a:prstGeom prst="rect">
            <a:avLst/>
          </a:prstGeom>
        </p:spPr>
        <p:txBody>
          <a:bodyPr wrap="non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数据说明：按照</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月电视广告花费排序</a:t>
            </a:r>
            <a:endParaRPr lang="en-US" altLang="zh-CN" sz="1100" kern="100" dirty="0" smtClean="0">
              <a:solidFill>
                <a:srgbClr val="FFFFFF"/>
              </a:solidFill>
              <a:latin typeface="华文中宋" panose="02010600040101010101" pitchFamily="2" charset="-122"/>
              <a:ea typeface="华文中宋" panose="02010600040101010101" pitchFamily="2" charset="-122"/>
            </a:endParaRPr>
          </a:p>
          <a:p>
            <a:pPr algn="r" latinLnBrk="1">
              <a:lnSpc>
                <a:spcPts val="1300"/>
              </a:lnSpc>
            </a:pP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945305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标题 1"/>
          <p:cNvSpPr txBox="1">
            <a:spLocks/>
          </p:cNvSpPr>
          <p:nvPr/>
        </p:nvSpPr>
        <p:spPr>
          <a:xfrm>
            <a:off x="251520" y="332656"/>
            <a:ext cx="8690768" cy="480131"/>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C000"/>
                </a:solidFill>
                <a:latin typeface="Arial Black"/>
                <a:ea typeface="微软雅黑"/>
              </a:rPr>
              <a:t>最爱投放的节目类型</a:t>
            </a:r>
            <a:endParaRPr lang="zh-CN" altLang="en-US" b="1" dirty="0">
              <a:solidFill>
                <a:srgbClr val="FFC000"/>
              </a:solidFill>
              <a:latin typeface="Arial Black"/>
              <a:ea typeface="微软雅黑"/>
            </a:endParaRPr>
          </a:p>
        </p:txBody>
      </p:sp>
      <p:sp>
        <p:nvSpPr>
          <p:cNvPr id="15" name="TextBox 14"/>
          <p:cNvSpPr txBox="1"/>
          <p:nvPr/>
        </p:nvSpPr>
        <p:spPr>
          <a:xfrm>
            <a:off x="378459" y="1988840"/>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汽车出行</a:t>
            </a:r>
            <a:r>
              <a:rPr lang="zh-CN" altLang="en-US" b="1" dirty="0" smtClean="0">
                <a:solidFill>
                  <a:schemeClr val="tx1"/>
                </a:solidFill>
                <a:latin typeface="华文中宋" panose="02010600040101010101" pitchFamily="2" charset="-122"/>
                <a:ea typeface="华文中宋" panose="02010600040101010101" pitchFamily="2" charset="-122"/>
              </a:rPr>
              <a:t>类</a:t>
            </a:r>
            <a:r>
              <a:rPr lang="zh-CN" altLang="en-US" b="1" dirty="0">
                <a:solidFill>
                  <a:schemeClr val="tx1"/>
                </a:solidFill>
                <a:latin typeface="华文中宋" panose="02010600040101010101" pitchFamily="2" charset="-122"/>
                <a:ea typeface="华文中宋" panose="02010600040101010101" pitchFamily="2" charset="-122"/>
              </a:rPr>
              <a:t>互联网企业</a:t>
            </a:r>
            <a:r>
              <a:rPr lang="zh-CN" altLang="en-US" b="1" dirty="0" smtClean="0">
                <a:solidFill>
                  <a:schemeClr val="tx1"/>
                </a:solidFill>
                <a:latin typeface="华文中宋" panose="02010600040101010101" pitchFamily="2" charset="-122"/>
                <a:ea typeface="华文中宋" panose="02010600040101010101" pitchFamily="2" charset="-122"/>
              </a:rPr>
              <a:t>广告花费占比前三位的媒体类型</a:t>
            </a:r>
            <a:endParaRPr lang="zh-CN" altLang="en-US" sz="1400" b="1" dirty="0">
              <a:solidFill>
                <a:schemeClr val="tx1"/>
              </a:solidFill>
              <a:latin typeface="华文中宋" panose="02010600040101010101" pitchFamily="2" charset="-122"/>
              <a:ea typeface="华文中宋" panose="02010600040101010101" pitchFamily="2" charset="-122"/>
            </a:endParaRPr>
          </a:p>
        </p:txBody>
      </p:sp>
      <p:sp>
        <p:nvSpPr>
          <p:cNvPr id="12" name="MH_Text_2"/>
          <p:cNvSpPr txBox="1">
            <a:spLocks noChangeArrowheads="1"/>
          </p:cNvSpPr>
          <p:nvPr>
            <p:custDataLst>
              <p:tags r:id="rId1"/>
            </p:custDataLst>
          </p:nvPr>
        </p:nvSpPr>
        <p:spPr bwMode="auto">
          <a:xfrm>
            <a:off x="1280566" y="5341704"/>
            <a:ext cx="1192933" cy="236540"/>
          </a:xfrm>
          <a:prstGeom prst="rect">
            <a:avLst/>
          </a:prstGeom>
          <a:solidFill>
            <a:srgbClr val="FF00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综艺类</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7" name="MH_Text_2"/>
          <p:cNvSpPr txBox="1">
            <a:spLocks noChangeArrowheads="1"/>
          </p:cNvSpPr>
          <p:nvPr>
            <p:custDataLst>
              <p:tags r:id="rId2"/>
            </p:custDataLst>
          </p:nvPr>
        </p:nvSpPr>
        <p:spPr bwMode="auto">
          <a:xfrm>
            <a:off x="3851895" y="5341704"/>
            <a:ext cx="1224161" cy="236540"/>
          </a:xfrm>
          <a:prstGeom prst="rect">
            <a:avLst/>
          </a:prstGeom>
          <a:solidFill>
            <a:srgbClr val="00B0F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a:solidFill>
                  <a:schemeClr val="bg1"/>
                </a:solidFill>
                <a:latin typeface="华文中宋" panose="02010600040101010101" pitchFamily="2" charset="-122"/>
                <a:ea typeface="华文中宋" panose="02010600040101010101" pitchFamily="2" charset="-122"/>
              </a:rPr>
              <a:t>体育类</a:t>
            </a:r>
          </a:p>
        </p:txBody>
      </p:sp>
      <p:sp>
        <p:nvSpPr>
          <p:cNvPr id="21" name="MH_Text_2"/>
          <p:cNvSpPr txBox="1">
            <a:spLocks noChangeArrowheads="1"/>
          </p:cNvSpPr>
          <p:nvPr>
            <p:custDataLst>
              <p:tags r:id="rId3"/>
            </p:custDataLst>
          </p:nvPr>
        </p:nvSpPr>
        <p:spPr bwMode="auto">
          <a:xfrm>
            <a:off x="6588199" y="5331435"/>
            <a:ext cx="1224161" cy="236540"/>
          </a:xfrm>
          <a:prstGeom prst="rect">
            <a:avLst/>
          </a:prstGeom>
          <a:solidFill>
            <a:srgbClr val="FFC0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电影类</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2" name="MH_Text_2"/>
          <p:cNvSpPr txBox="1">
            <a:spLocks noChangeArrowheads="1"/>
          </p:cNvSpPr>
          <p:nvPr>
            <p:custDataLst>
              <p:tags r:id="rId4"/>
            </p:custDataLst>
          </p:nvPr>
        </p:nvSpPr>
        <p:spPr bwMode="auto">
          <a:xfrm>
            <a:off x="1158926" y="4581128"/>
            <a:ext cx="701082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mn-lt"/>
                <a:ea typeface="华文中宋" panose="02010600040101010101" pitchFamily="2" charset="-122"/>
              </a:rPr>
              <a:t>     41.2%                                     14.1%                                   13.6% </a:t>
            </a:r>
            <a:endParaRPr lang="zh-CN" altLang="en-US" sz="2000" b="1" dirty="0">
              <a:solidFill>
                <a:schemeClr val="bg1"/>
              </a:solidFill>
              <a:latin typeface="+mn-lt"/>
              <a:ea typeface="华文中宋" panose="02010600040101010101" pitchFamily="2" charset="-122"/>
            </a:endParaRPr>
          </a:p>
        </p:txBody>
      </p:sp>
      <p:sp>
        <p:nvSpPr>
          <p:cNvPr id="25" name="矩形 24"/>
          <p:cNvSpPr/>
          <p:nvPr/>
        </p:nvSpPr>
        <p:spPr>
          <a:xfrm>
            <a:off x="2604546" y="6597352"/>
            <a:ext cx="6647974" cy="259045"/>
          </a:xfrm>
          <a:prstGeom prst="rect">
            <a:avLst/>
          </a:prstGeom>
        </p:spPr>
        <p:txBody>
          <a:bodyPr wrap="none">
            <a:spAutoFit/>
          </a:bodyPr>
          <a:lstStyle/>
          <a:p>
            <a:pPr algn="r" latinLnBrk="1">
              <a:lnSpc>
                <a:spcPts val="1300"/>
              </a:lnSpc>
            </a:pP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24" name="KSO_Shape"/>
          <p:cNvSpPr>
            <a:spLocks/>
          </p:cNvSpPr>
          <p:nvPr/>
        </p:nvSpPr>
        <p:spPr bwMode="auto">
          <a:xfrm>
            <a:off x="3920666" y="3164706"/>
            <a:ext cx="1044836" cy="978719"/>
          </a:xfrm>
          <a:custGeom>
            <a:avLst/>
            <a:gdLst>
              <a:gd name="T0" fmla="*/ 82791010 w 7870"/>
              <a:gd name="T1" fmla="*/ 56010902 h 7838"/>
              <a:gd name="T2" fmla="*/ 7031072 w 7870"/>
              <a:gd name="T3" fmla="*/ 179997495 h 7838"/>
              <a:gd name="T4" fmla="*/ 37909258 w 7870"/>
              <a:gd name="T5" fmla="*/ 343514426 h 7838"/>
              <a:gd name="T6" fmla="*/ 165171730 w 7870"/>
              <a:gd name="T7" fmla="*/ 443337197 h 7838"/>
              <a:gd name="T8" fmla="*/ 298352047 w 7870"/>
              <a:gd name="T9" fmla="*/ 444392864 h 7838"/>
              <a:gd name="T10" fmla="*/ 414599165 w 7870"/>
              <a:gd name="T11" fmla="*/ 365566914 h 7838"/>
              <a:gd name="T12" fmla="*/ 461004191 w 7870"/>
              <a:gd name="T13" fmla="*/ 212489893 h 7838"/>
              <a:gd name="T14" fmla="*/ 350557761 w 7870"/>
              <a:gd name="T15" fmla="*/ 28210867 h 7838"/>
              <a:gd name="T16" fmla="*/ 278430637 w 7870"/>
              <a:gd name="T17" fmla="*/ 13665532 h 7838"/>
              <a:gd name="T18" fmla="*/ 383662401 w 7870"/>
              <a:gd name="T19" fmla="*/ 77007723 h 7838"/>
              <a:gd name="T20" fmla="*/ 300461344 w 7870"/>
              <a:gd name="T21" fmla="*/ 63987509 h 7838"/>
              <a:gd name="T22" fmla="*/ 241224558 w 7870"/>
              <a:gd name="T23" fmla="*/ 12492381 h 7838"/>
              <a:gd name="T24" fmla="*/ 229154556 w 7870"/>
              <a:gd name="T25" fmla="*/ 36949551 h 7838"/>
              <a:gd name="T26" fmla="*/ 145543210 w 7870"/>
              <a:gd name="T27" fmla="*/ 67917070 h 7838"/>
              <a:gd name="T28" fmla="*/ 64744584 w 7870"/>
              <a:gd name="T29" fmla="*/ 88092709 h 7838"/>
              <a:gd name="T30" fmla="*/ 199506753 w 7870"/>
              <a:gd name="T31" fmla="*/ 12844350 h 7838"/>
              <a:gd name="T32" fmla="*/ 301691727 w 7870"/>
              <a:gd name="T33" fmla="*/ 82051572 h 7838"/>
              <a:gd name="T34" fmla="*/ 209818927 w 7870"/>
              <a:gd name="T35" fmla="*/ 137065670 h 7838"/>
              <a:gd name="T36" fmla="*/ 161304604 w 7870"/>
              <a:gd name="T37" fmla="*/ 74896389 h 7838"/>
              <a:gd name="T38" fmla="*/ 169566059 w 7870"/>
              <a:gd name="T39" fmla="*/ 126039305 h 7838"/>
              <a:gd name="T40" fmla="*/ 129781816 w 7870"/>
              <a:gd name="T41" fmla="*/ 220290152 h 7838"/>
              <a:gd name="T42" fmla="*/ 49041768 w 7870"/>
              <a:gd name="T43" fmla="*/ 203809589 h 7838"/>
              <a:gd name="T44" fmla="*/ 74412156 w 7870"/>
              <a:gd name="T45" fmla="*/ 100702332 h 7838"/>
              <a:gd name="T46" fmla="*/ 411083508 w 7870"/>
              <a:gd name="T47" fmla="*/ 100585090 h 7838"/>
              <a:gd name="T48" fmla="*/ 430360317 w 7870"/>
              <a:gd name="T49" fmla="*/ 143282429 h 7838"/>
              <a:gd name="T50" fmla="*/ 355244981 w 7870"/>
              <a:gd name="T51" fmla="*/ 84632360 h 7838"/>
              <a:gd name="T52" fmla="*/ 428895621 w 7870"/>
              <a:gd name="T53" fmla="*/ 168854129 h 7838"/>
              <a:gd name="T54" fmla="*/ 390048871 w 7870"/>
              <a:gd name="T55" fmla="*/ 231668486 h 7838"/>
              <a:gd name="T56" fmla="*/ 287981053 w 7870"/>
              <a:gd name="T57" fmla="*/ 148326520 h 7838"/>
              <a:gd name="T58" fmla="*/ 53377519 w 7870"/>
              <a:gd name="T59" fmla="*/ 105805045 h 7838"/>
              <a:gd name="T60" fmla="*/ 29120358 w 7870"/>
              <a:gd name="T61" fmla="*/ 150437854 h 7838"/>
              <a:gd name="T62" fmla="*/ 276379917 w 7870"/>
              <a:gd name="T63" fmla="*/ 152256082 h 7838"/>
              <a:gd name="T64" fmla="*/ 311066409 w 7870"/>
              <a:gd name="T65" fmla="*/ 258061126 h 7838"/>
              <a:gd name="T66" fmla="*/ 192827150 w 7870"/>
              <a:gd name="T67" fmla="*/ 307913649 h 7838"/>
              <a:gd name="T68" fmla="*/ 142848132 w 7870"/>
              <a:gd name="T69" fmla="*/ 219000000 h 7838"/>
              <a:gd name="T70" fmla="*/ 29237514 w 7870"/>
              <a:gd name="T71" fmla="*/ 180232222 h 7838"/>
              <a:gd name="T72" fmla="*/ 50506464 w 7870"/>
              <a:gd name="T73" fmla="*/ 291491707 h 7838"/>
              <a:gd name="T74" fmla="*/ 38026414 w 7870"/>
              <a:gd name="T75" fmla="*/ 322400363 h 7838"/>
              <a:gd name="T76" fmla="*/ 18456473 w 7870"/>
              <a:gd name="T77" fmla="*/ 180877298 h 7838"/>
              <a:gd name="T78" fmla="*/ 447293516 w 7870"/>
              <a:gd name="T79" fmla="*/ 255421717 h 7838"/>
              <a:gd name="T80" fmla="*/ 412372470 w 7870"/>
              <a:gd name="T81" fmla="*/ 318881392 h 7838"/>
              <a:gd name="T82" fmla="*/ 432587013 w 7870"/>
              <a:gd name="T83" fmla="*/ 207387180 h 7838"/>
              <a:gd name="T84" fmla="*/ 158609283 w 7870"/>
              <a:gd name="T85" fmla="*/ 287092933 h 7838"/>
              <a:gd name="T86" fmla="*/ 130953863 w 7870"/>
              <a:gd name="T87" fmla="*/ 366388096 h 7838"/>
              <a:gd name="T88" fmla="*/ 61697794 w 7870"/>
              <a:gd name="T89" fmla="*/ 298764374 h 7838"/>
              <a:gd name="T90" fmla="*/ 334620633 w 7870"/>
              <a:gd name="T91" fmla="*/ 236360366 h 7838"/>
              <a:gd name="T92" fmla="*/ 405224241 w 7870"/>
              <a:gd name="T93" fmla="*/ 278647356 h 7838"/>
              <a:gd name="T94" fmla="*/ 338311782 w 7870"/>
              <a:gd name="T95" fmla="*/ 366329232 h 7838"/>
              <a:gd name="T96" fmla="*/ 298058914 w 7870"/>
              <a:gd name="T97" fmla="*/ 300582360 h 7838"/>
              <a:gd name="T98" fmla="*/ 251126686 w 7870"/>
              <a:gd name="T99" fmla="*/ 321168590 h 7838"/>
              <a:gd name="T100" fmla="*/ 320909958 w 7870"/>
              <a:gd name="T101" fmla="*/ 377414219 h 7838"/>
              <a:gd name="T102" fmla="*/ 223471024 w 7870"/>
              <a:gd name="T103" fmla="*/ 427325604 h 7838"/>
              <a:gd name="T104" fmla="*/ 143375335 w 7870"/>
              <a:gd name="T105" fmla="*/ 372722339 h 7838"/>
              <a:gd name="T106" fmla="*/ 66853881 w 7870"/>
              <a:gd name="T107" fmla="*/ 337121562 h 7838"/>
              <a:gd name="T108" fmla="*/ 149761805 w 7870"/>
              <a:gd name="T109" fmla="*/ 401695525 h 7838"/>
              <a:gd name="T110" fmla="*/ 152164235 w 7870"/>
              <a:gd name="T111" fmla="*/ 427618953 h 7838"/>
              <a:gd name="T112" fmla="*/ 48807456 w 7870"/>
              <a:gd name="T113" fmla="*/ 339936835 h 7838"/>
              <a:gd name="T114" fmla="*/ 405517374 w 7870"/>
              <a:gd name="T115" fmla="*/ 358822080 h 7838"/>
              <a:gd name="T116" fmla="*/ 296359906 w 7870"/>
              <a:gd name="T117" fmla="*/ 432545560 h 7838"/>
              <a:gd name="T118" fmla="*/ 336261063 w 7870"/>
              <a:gd name="T119" fmla="*/ 378176779 h 7838"/>
              <a:gd name="T120" fmla="*/ 206830715 w 7870"/>
              <a:gd name="T121" fmla="*/ 435653939 h 7838"/>
              <a:gd name="T122" fmla="*/ 278723527 w 7870"/>
              <a:gd name="T123" fmla="*/ 442164046 h 7838"/>
              <a:gd name="T124" fmla="*/ 184331382 w 7870"/>
              <a:gd name="T125" fmla="*/ 432428075 h 783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870" h="7838">
                <a:moveTo>
                  <a:pt x="4247" y="2"/>
                </a:moveTo>
                <a:lnTo>
                  <a:pt x="4247" y="2"/>
                </a:lnTo>
                <a:lnTo>
                  <a:pt x="4181" y="8"/>
                </a:lnTo>
                <a:lnTo>
                  <a:pt x="4115" y="11"/>
                </a:lnTo>
                <a:lnTo>
                  <a:pt x="4050" y="14"/>
                </a:lnTo>
                <a:lnTo>
                  <a:pt x="3985" y="15"/>
                </a:lnTo>
                <a:lnTo>
                  <a:pt x="3853" y="16"/>
                </a:lnTo>
                <a:lnTo>
                  <a:pt x="3721" y="17"/>
                </a:lnTo>
                <a:lnTo>
                  <a:pt x="3656" y="18"/>
                </a:lnTo>
                <a:lnTo>
                  <a:pt x="3590" y="20"/>
                </a:lnTo>
                <a:lnTo>
                  <a:pt x="3524" y="23"/>
                </a:lnTo>
                <a:lnTo>
                  <a:pt x="3458" y="27"/>
                </a:lnTo>
                <a:lnTo>
                  <a:pt x="3393" y="32"/>
                </a:lnTo>
                <a:lnTo>
                  <a:pt x="3327" y="39"/>
                </a:lnTo>
                <a:lnTo>
                  <a:pt x="3262" y="47"/>
                </a:lnTo>
                <a:lnTo>
                  <a:pt x="3197" y="59"/>
                </a:lnTo>
                <a:lnTo>
                  <a:pt x="3125" y="74"/>
                </a:lnTo>
                <a:lnTo>
                  <a:pt x="3054" y="91"/>
                </a:lnTo>
                <a:lnTo>
                  <a:pt x="2982" y="110"/>
                </a:lnTo>
                <a:lnTo>
                  <a:pt x="2911" y="131"/>
                </a:lnTo>
                <a:lnTo>
                  <a:pt x="2839" y="153"/>
                </a:lnTo>
                <a:lnTo>
                  <a:pt x="2769" y="178"/>
                </a:lnTo>
                <a:lnTo>
                  <a:pt x="2698" y="203"/>
                </a:lnTo>
                <a:lnTo>
                  <a:pt x="2629" y="231"/>
                </a:lnTo>
                <a:lnTo>
                  <a:pt x="2559" y="259"/>
                </a:lnTo>
                <a:lnTo>
                  <a:pt x="2490" y="289"/>
                </a:lnTo>
                <a:lnTo>
                  <a:pt x="2421" y="320"/>
                </a:lnTo>
                <a:lnTo>
                  <a:pt x="2354" y="351"/>
                </a:lnTo>
                <a:lnTo>
                  <a:pt x="2286" y="384"/>
                </a:lnTo>
                <a:lnTo>
                  <a:pt x="2220" y="417"/>
                </a:lnTo>
                <a:lnTo>
                  <a:pt x="2154" y="452"/>
                </a:lnTo>
                <a:lnTo>
                  <a:pt x="2089" y="486"/>
                </a:lnTo>
                <a:lnTo>
                  <a:pt x="2045" y="508"/>
                </a:lnTo>
                <a:lnTo>
                  <a:pt x="2003" y="531"/>
                </a:lnTo>
                <a:lnTo>
                  <a:pt x="1915" y="575"/>
                </a:lnTo>
                <a:lnTo>
                  <a:pt x="1871" y="598"/>
                </a:lnTo>
                <a:lnTo>
                  <a:pt x="1828" y="622"/>
                </a:lnTo>
                <a:lnTo>
                  <a:pt x="1786" y="648"/>
                </a:lnTo>
                <a:lnTo>
                  <a:pt x="1746" y="674"/>
                </a:lnTo>
                <a:lnTo>
                  <a:pt x="1720" y="691"/>
                </a:lnTo>
                <a:lnTo>
                  <a:pt x="1695" y="711"/>
                </a:lnTo>
                <a:lnTo>
                  <a:pt x="1647" y="748"/>
                </a:lnTo>
                <a:lnTo>
                  <a:pt x="1599" y="788"/>
                </a:lnTo>
                <a:lnTo>
                  <a:pt x="1552" y="829"/>
                </a:lnTo>
                <a:lnTo>
                  <a:pt x="1459" y="913"/>
                </a:lnTo>
                <a:lnTo>
                  <a:pt x="1413" y="955"/>
                </a:lnTo>
                <a:lnTo>
                  <a:pt x="1367" y="995"/>
                </a:lnTo>
                <a:lnTo>
                  <a:pt x="1296" y="1057"/>
                </a:lnTo>
                <a:lnTo>
                  <a:pt x="1227" y="1120"/>
                </a:lnTo>
                <a:lnTo>
                  <a:pt x="1157" y="1184"/>
                </a:lnTo>
                <a:lnTo>
                  <a:pt x="1089" y="1249"/>
                </a:lnTo>
                <a:lnTo>
                  <a:pt x="1056" y="1282"/>
                </a:lnTo>
                <a:lnTo>
                  <a:pt x="1022" y="1316"/>
                </a:lnTo>
                <a:lnTo>
                  <a:pt x="990" y="1351"/>
                </a:lnTo>
                <a:lnTo>
                  <a:pt x="958" y="1386"/>
                </a:lnTo>
                <a:lnTo>
                  <a:pt x="928" y="1421"/>
                </a:lnTo>
                <a:lnTo>
                  <a:pt x="898" y="1458"/>
                </a:lnTo>
                <a:lnTo>
                  <a:pt x="868" y="1495"/>
                </a:lnTo>
                <a:lnTo>
                  <a:pt x="840" y="1533"/>
                </a:lnTo>
                <a:lnTo>
                  <a:pt x="813" y="1571"/>
                </a:lnTo>
                <a:lnTo>
                  <a:pt x="785" y="1612"/>
                </a:lnTo>
                <a:lnTo>
                  <a:pt x="758" y="1651"/>
                </a:lnTo>
                <a:lnTo>
                  <a:pt x="732" y="1692"/>
                </a:lnTo>
                <a:lnTo>
                  <a:pt x="681" y="1776"/>
                </a:lnTo>
                <a:lnTo>
                  <a:pt x="632" y="1860"/>
                </a:lnTo>
                <a:lnTo>
                  <a:pt x="584" y="1945"/>
                </a:lnTo>
                <a:lnTo>
                  <a:pt x="538" y="2031"/>
                </a:lnTo>
                <a:lnTo>
                  <a:pt x="494" y="2117"/>
                </a:lnTo>
                <a:lnTo>
                  <a:pt x="450" y="2203"/>
                </a:lnTo>
                <a:lnTo>
                  <a:pt x="404" y="2294"/>
                </a:lnTo>
                <a:lnTo>
                  <a:pt x="358" y="2386"/>
                </a:lnTo>
                <a:lnTo>
                  <a:pt x="335" y="2433"/>
                </a:lnTo>
                <a:lnTo>
                  <a:pt x="314" y="2479"/>
                </a:lnTo>
                <a:lnTo>
                  <a:pt x="294" y="2526"/>
                </a:lnTo>
                <a:lnTo>
                  <a:pt x="275" y="2574"/>
                </a:lnTo>
                <a:lnTo>
                  <a:pt x="261" y="2616"/>
                </a:lnTo>
                <a:lnTo>
                  <a:pt x="250" y="2657"/>
                </a:lnTo>
                <a:lnTo>
                  <a:pt x="239" y="2700"/>
                </a:lnTo>
                <a:lnTo>
                  <a:pt x="228" y="2743"/>
                </a:lnTo>
                <a:lnTo>
                  <a:pt x="209" y="2829"/>
                </a:lnTo>
                <a:lnTo>
                  <a:pt x="198" y="2870"/>
                </a:lnTo>
                <a:lnTo>
                  <a:pt x="188" y="2913"/>
                </a:lnTo>
                <a:lnTo>
                  <a:pt x="181" y="2933"/>
                </a:lnTo>
                <a:lnTo>
                  <a:pt x="173" y="2953"/>
                </a:lnTo>
                <a:lnTo>
                  <a:pt x="163" y="2972"/>
                </a:lnTo>
                <a:lnTo>
                  <a:pt x="153" y="2990"/>
                </a:lnTo>
                <a:lnTo>
                  <a:pt x="144" y="3009"/>
                </a:lnTo>
                <a:lnTo>
                  <a:pt x="135" y="3029"/>
                </a:lnTo>
                <a:lnTo>
                  <a:pt x="127" y="3049"/>
                </a:lnTo>
                <a:lnTo>
                  <a:pt x="120" y="3069"/>
                </a:lnTo>
                <a:lnTo>
                  <a:pt x="102" y="3136"/>
                </a:lnTo>
                <a:lnTo>
                  <a:pt x="86" y="3203"/>
                </a:lnTo>
                <a:lnTo>
                  <a:pt x="71" y="3272"/>
                </a:lnTo>
                <a:lnTo>
                  <a:pt x="57" y="3340"/>
                </a:lnTo>
                <a:lnTo>
                  <a:pt x="44" y="3409"/>
                </a:lnTo>
                <a:lnTo>
                  <a:pt x="33" y="3478"/>
                </a:lnTo>
                <a:lnTo>
                  <a:pt x="24" y="3549"/>
                </a:lnTo>
                <a:lnTo>
                  <a:pt x="16" y="3618"/>
                </a:lnTo>
                <a:lnTo>
                  <a:pt x="10" y="3688"/>
                </a:lnTo>
                <a:lnTo>
                  <a:pt x="5" y="3759"/>
                </a:lnTo>
                <a:lnTo>
                  <a:pt x="1" y="3829"/>
                </a:lnTo>
                <a:lnTo>
                  <a:pt x="0" y="3899"/>
                </a:lnTo>
                <a:lnTo>
                  <a:pt x="0" y="3968"/>
                </a:lnTo>
                <a:lnTo>
                  <a:pt x="2" y="4038"/>
                </a:lnTo>
                <a:lnTo>
                  <a:pt x="6" y="4107"/>
                </a:lnTo>
                <a:lnTo>
                  <a:pt x="11" y="4177"/>
                </a:lnTo>
                <a:lnTo>
                  <a:pt x="17" y="4234"/>
                </a:lnTo>
                <a:lnTo>
                  <a:pt x="26" y="4290"/>
                </a:lnTo>
                <a:lnTo>
                  <a:pt x="36" y="4347"/>
                </a:lnTo>
                <a:lnTo>
                  <a:pt x="47" y="4403"/>
                </a:lnTo>
                <a:lnTo>
                  <a:pt x="60" y="4460"/>
                </a:lnTo>
                <a:lnTo>
                  <a:pt x="74" y="4515"/>
                </a:lnTo>
                <a:lnTo>
                  <a:pt x="90" y="4571"/>
                </a:lnTo>
                <a:lnTo>
                  <a:pt x="106" y="4627"/>
                </a:lnTo>
                <a:lnTo>
                  <a:pt x="124" y="4682"/>
                </a:lnTo>
                <a:lnTo>
                  <a:pt x="143" y="4738"/>
                </a:lnTo>
                <a:lnTo>
                  <a:pt x="180" y="4847"/>
                </a:lnTo>
                <a:lnTo>
                  <a:pt x="220" y="4955"/>
                </a:lnTo>
                <a:lnTo>
                  <a:pt x="260" y="5062"/>
                </a:lnTo>
                <a:lnTo>
                  <a:pt x="309" y="5192"/>
                </a:lnTo>
                <a:lnTo>
                  <a:pt x="334" y="5257"/>
                </a:lnTo>
                <a:lnTo>
                  <a:pt x="360" y="5321"/>
                </a:lnTo>
                <a:lnTo>
                  <a:pt x="387" y="5385"/>
                </a:lnTo>
                <a:lnTo>
                  <a:pt x="414" y="5448"/>
                </a:lnTo>
                <a:lnTo>
                  <a:pt x="444" y="5512"/>
                </a:lnTo>
                <a:lnTo>
                  <a:pt x="477" y="5573"/>
                </a:lnTo>
                <a:lnTo>
                  <a:pt x="494" y="5605"/>
                </a:lnTo>
                <a:lnTo>
                  <a:pt x="512" y="5635"/>
                </a:lnTo>
                <a:lnTo>
                  <a:pt x="551" y="5696"/>
                </a:lnTo>
                <a:lnTo>
                  <a:pt x="590" y="5756"/>
                </a:lnTo>
                <a:lnTo>
                  <a:pt x="609" y="5786"/>
                </a:lnTo>
                <a:lnTo>
                  <a:pt x="627" y="5817"/>
                </a:lnTo>
                <a:lnTo>
                  <a:pt x="637" y="5837"/>
                </a:lnTo>
                <a:lnTo>
                  <a:pt x="647" y="5857"/>
                </a:lnTo>
                <a:lnTo>
                  <a:pt x="664" y="5900"/>
                </a:lnTo>
                <a:lnTo>
                  <a:pt x="682" y="5943"/>
                </a:lnTo>
                <a:lnTo>
                  <a:pt x="692" y="5963"/>
                </a:lnTo>
                <a:lnTo>
                  <a:pt x="702" y="5984"/>
                </a:lnTo>
                <a:lnTo>
                  <a:pt x="736" y="6041"/>
                </a:lnTo>
                <a:lnTo>
                  <a:pt x="772" y="6098"/>
                </a:lnTo>
                <a:lnTo>
                  <a:pt x="809" y="6155"/>
                </a:lnTo>
                <a:lnTo>
                  <a:pt x="849" y="6211"/>
                </a:lnTo>
                <a:lnTo>
                  <a:pt x="890" y="6266"/>
                </a:lnTo>
                <a:lnTo>
                  <a:pt x="931" y="6320"/>
                </a:lnTo>
                <a:lnTo>
                  <a:pt x="974" y="6372"/>
                </a:lnTo>
                <a:lnTo>
                  <a:pt x="1017" y="6422"/>
                </a:lnTo>
                <a:lnTo>
                  <a:pt x="1047" y="6454"/>
                </a:lnTo>
                <a:lnTo>
                  <a:pt x="1077" y="6488"/>
                </a:lnTo>
                <a:lnTo>
                  <a:pt x="1107" y="6519"/>
                </a:lnTo>
                <a:lnTo>
                  <a:pt x="1138" y="6551"/>
                </a:lnTo>
                <a:lnTo>
                  <a:pt x="1169" y="6581"/>
                </a:lnTo>
                <a:lnTo>
                  <a:pt x="1201" y="6612"/>
                </a:lnTo>
                <a:lnTo>
                  <a:pt x="1265" y="6672"/>
                </a:lnTo>
                <a:lnTo>
                  <a:pt x="1333" y="6729"/>
                </a:lnTo>
                <a:lnTo>
                  <a:pt x="1401" y="6785"/>
                </a:lnTo>
                <a:lnTo>
                  <a:pt x="1471" y="6840"/>
                </a:lnTo>
                <a:lnTo>
                  <a:pt x="1541" y="6893"/>
                </a:lnTo>
                <a:lnTo>
                  <a:pt x="1614" y="6945"/>
                </a:lnTo>
                <a:lnTo>
                  <a:pt x="1687" y="6995"/>
                </a:lnTo>
                <a:lnTo>
                  <a:pt x="1761" y="7043"/>
                </a:lnTo>
                <a:lnTo>
                  <a:pt x="1836" y="7090"/>
                </a:lnTo>
                <a:lnTo>
                  <a:pt x="1912" y="7136"/>
                </a:lnTo>
                <a:lnTo>
                  <a:pt x="1988" y="7180"/>
                </a:lnTo>
                <a:lnTo>
                  <a:pt x="2064" y="7224"/>
                </a:lnTo>
                <a:lnTo>
                  <a:pt x="2141" y="7266"/>
                </a:lnTo>
                <a:lnTo>
                  <a:pt x="2244" y="7323"/>
                </a:lnTo>
                <a:lnTo>
                  <a:pt x="2349" y="7380"/>
                </a:lnTo>
                <a:lnTo>
                  <a:pt x="2402" y="7408"/>
                </a:lnTo>
                <a:lnTo>
                  <a:pt x="2455" y="7435"/>
                </a:lnTo>
                <a:lnTo>
                  <a:pt x="2509" y="7460"/>
                </a:lnTo>
                <a:lnTo>
                  <a:pt x="2563" y="7484"/>
                </a:lnTo>
                <a:lnTo>
                  <a:pt x="2594" y="7496"/>
                </a:lnTo>
                <a:lnTo>
                  <a:pt x="2627" y="7505"/>
                </a:lnTo>
                <a:lnTo>
                  <a:pt x="2659" y="7515"/>
                </a:lnTo>
                <a:lnTo>
                  <a:pt x="2691" y="7522"/>
                </a:lnTo>
                <a:lnTo>
                  <a:pt x="2756" y="7539"/>
                </a:lnTo>
                <a:lnTo>
                  <a:pt x="2787" y="7548"/>
                </a:lnTo>
                <a:lnTo>
                  <a:pt x="2819" y="7559"/>
                </a:lnTo>
                <a:lnTo>
                  <a:pt x="2846" y="7570"/>
                </a:lnTo>
                <a:lnTo>
                  <a:pt x="2873" y="7580"/>
                </a:lnTo>
                <a:lnTo>
                  <a:pt x="2926" y="7605"/>
                </a:lnTo>
                <a:lnTo>
                  <a:pt x="3032" y="7654"/>
                </a:lnTo>
                <a:lnTo>
                  <a:pt x="3085" y="7679"/>
                </a:lnTo>
                <a:lnTo>
                  <a:pt x="3138" y="7702"/>
                </a:lnTo>
                <a:lnTo>
                  <a:pt x="3166" y="7713"/>
                </a:lnTo>
                <a:lnTo>
                  <a:pt x="3193" y="7724"/>
                </a:lnTo>
                <a:lnTo>
                  <a:pt x="3220" y="7733"/>
                </a:lnTo>
                <a:lnTo>
                  <a:pt x="3249" y="7742"/>
                </a:lnTo>
                <a:lnTo>
                  <a:pt x="3318" y="7761"/>
                </a:lnTo>
                <a:lnTo>
                  <a:pt x="3386" y="7778"/>
                </a:lnTo>
                <a:lnTo>
                  <a:pt x="3455" y="7793"/>
                </a:lnTo>
                <a:lnTo>
                  <a:pt x="3524" y="7805"/>
                </a:lnTo>
                <a:lnTo>
                  <a:pt x="3593" y="7816"/>
                </a:lnTo>
                <a:lnTo>
                  <a:pt x="3662" y="7823"/>
                </a:lnTo>
                <a:lnTo>
                  <a:pt x="3732" y="7830"/>
                </a:lnTo>
                <a:lnTo>
                  <a:pt x="3802" y="7834"/>
                </a:lnTo>
                <a:lnTo>
                  <a:pt x="3871" y="7837"/>
                </a:lnTo>
                <a:lnTo>
                  <a:pt x="3941" y="7838"/>
                </a:lnTo>
                <a:lnTo>
                  <a:pt x="4011" y="7838"/>
                </a:lnTo>
                <a:lnTo>
                  <a:pt x="4081" y="7836"/>
                </a:lnTo>
                <a:lnTo>
                  <a:pt x="4152" y="7833"/>
                </a:lnTo>
                <a:lnTo>
                  <a:pt x="4221" y="7829"/>
                </a:lnTo>
                <a:lnTo>
                  <a:pt x="4292" y="7824"/>
                </a:lnTo>
                <a:lnTo>
                  <a:pt x="4362" y="7818"/>
                </a:lnTo>
                <a:lnTo>
                  <a:pt x="4423" y="7810"/>
                </a:lnTo>
                <a:lnTo>
                  <a:pt x="4486" y="7802"/>
                </a:lnTo>
                <a:lnTo>
                  <a:pt x="4550" y="7791"/>
                </a:lnTo>
                <a:lnTo>
                  <a:pt x="4614" y="7777"/>
                </a:lnTo>
                <a:lnTo>
                  <a:pt x="4677" y="7762"/>
                </a:lnTo>
                <a:lnTo>
                  <a:pt x="4708" y="7754"/>
                </a:lnTo>
                <a:lnTo>
                  <a:pt x="4739" y="7744"/>
                </a:lnTo>
                <a:lnTo>
                  <a:pt x="4769" y="7734"/>
                </a:lnTo>
                <a:lnTo>
                  <a:pt x="4799" y="7724"/>
                </a:lnTo>
                <a:lnTo>
                  <a:pt x="4829" y="7713"/>
                </a:lnTo>
                <a:lnTo>
                  <a:pt x="4858" y="7701"/>
                </a:lnTo>
                <a:lnTo>
                  <a:pt x="4887" y="7687"/>
                </a:lnTo>
                <a:lnTo>
                  <a:pt x="4916" y="7671"/>
                </a:lnTo>
                <a:lnTo>
                  <a:pt x="4974" y="7637"/>
                </a:lnTo>
                <a:lnTo>
                  <a:pt x="5003" y="7620"/>
                </a:lnTo>
                <a:lnTo>
                  <a:pt x="5033" y="7604"/>
                </a:lnTo>
                <a:lnTo>
                  <a:pt x="5062" y="7589"/>
                </a:lnTo>
                <a:lnTo>
                  <a:pt x="5077" y="7582"/>
                </a:lnTo>
                <a:lnTo>
                  <a:pt x="5092" y="7577"/>
                </a:lnTo>
                <a:lnTo>
                  <a:pt x="5102" y="7574"/>
                </a:lnTo>
                <a:lnTo>
                  <a:pt x="5111" y="7572"/>
                </a:lnTo>
                <a:lnTo>
                  <a:pt x="5133" y="7568"/>
                </a:lnTo>
                <a:lnTo>
                  <a:pt x="5153" y="7567"/>
                </a:lnTo>
                <a:lnTo>
                  <a:pt x="5175" y="7566"/>
                </a:lnTo>
                <a:lnTo>
                  <a:pt x="5196" y="7566"/>
                </a:lnTo>
                <a:lnTo>
                  <a:pt x="5217" y="7565"/>
                </a:lnTo>
                <a:lnTo>
                  <a:pt x="5239" y="7562"/>
                </a:lnTo>
                <a:lnTo>
                  <a:pt x="5250" y="7560"/>
                </a:lnTo>
                <a:lnTo>
                  <a:pt x="5259" y="7557"/>
                </a:lnTo>
                <a:lnTo>
                  <a:pt x="5314" y="7540"/>
                </a:lnTo>
                <a:lnTo>
                  <a:pt x="5367" y="7521"/>
                </a:lnTo>
                <a:lnTo>
                  <a:pt x="5422" y="7502"/>
                </a:lnTo>
                <a:lnTo>
                  <a:pt x="5475" y="7483"/>
                </a:lnTo>
                <a:lnTo>
                  <a:pt x="5529" y="7463"/>
                </a:lnTo>
                <a:lnTo>
                  <a:pt x="5582" y="7441"/>
                </a:lnTo>
                <a:lnTo>
                  <a:pt x="5636" y="7420"/>
                </a:lnTo>
                <a:lnTo>
                  <a:pt x="5689" y="7396"/>
                </a:lnTo>
                <a:lnTo>
                  <a:pt x="5742" y="7373"/>
                </a:lnTo>
                <a:lnTo>
                  <a:pt x="5793" y="7348"/>
                </a:lnTo>
                <a:lnTo>
                  <a:pt x="5845" y="7322"/>
                </a:lnTo>
                <a:lnTo>
                  <a:pt x="5896" y="7296"/>
                </a:lnTo>
                <a:lnTo>
                  <a:pt x="5946" y="7269"/>
                </a:lnTo>
                <a:lnTo>
                  <a:pt x="5997" y="7240"/>
                </a:lnTo>
                <a:lnTo>
                  <a:pt x="6045" y="7210"/>
                </a:lnTo>
                <a:lnTo>
                  <a:pt x="6093" y="7180"/>
                </a:lnTo>
                <a:lnTo>
                  <a:pt x="6126" y="7158"/>
                </a:lnTo>
                <a:lnTo>
                  <a:pt x="6158" y="7136"/>
                </a:lnTo>
                <a:lnTo>
                  <a:pt x="6189" y="7113"/>
                </a:lnTo>
                <a:lnTo>
                  <a:pt x="6220" y="7089"/>
                </a:lnTo>
                <a:lnTo>
                  <a:pt x="6281" y="7041"/>
                </a:lnTo>
                <a:lnTo>
                  <a:pt x="6340" y="6992"/>
                </a:lnTo>
                <a:lnTo>
                  <a:pt x="6398" y="6940"/>
                </a:lnTo>
                <a:lnTo>
                  <a:pt x="6456" y="6889"/>
                </a:lnTo>
                <a:lnTo>
                  <a:pt x="6569" y="6783"/>
                </a:lnTo>
                <a:lnTo>
                  <a:pt x="6650" y="6704"/>
                </a:lnTo>
                <a:lnTo>
                  <a:pt x="6733" y="6623"/>
                </a:lnTo>
                <a:lnTo>
                  <a:pt x="6773" y="6582"/>
                </a:lnTo>
                <a:lnTo>
                  <a:pt x="6814" y="6540"/>
                </a:lnTo>
                <a:lnTo>
                  <a:pt x="6854" y="6498"/>
                </a:lnTo>
                <a:lnTo>
                  <a:pt x="6892" y="6455"/>
                </a:lnTo>
                <a:lnTo>
                  <a:pt x="6931" y="6412"/>
                </a:lnTo>
                <a:lnTo>
                  <a:pt x="6969" y="6368"/>
                </a:lnTo>
                <a:lnTo>
                  <a:pt x="7006" y="6324"/>
                </a:lnTo>
                <a:lnTo>
                  <a:pt x="7042" y="6279"/>
                </a:lnTo>
                <a:lnTo>
                  <a:pt x="7076" y="6233"/>
                </a:lnTo>
                <a:lnTo>
                  <a:pt x="7111" y="6186"/>
                </a:lnTo>
                <a:lnTo>
                  <a:pt x="7143" y="6140"/>
                </a:lnTo>
                <a:lnTo>
                  <a:pt x="7174" y="6092"/>
                </a:lnTo>
                <a:lnTo>
                  <a:pt x="7187" y="6071"/>
                </a:lnTo>
                <a:lnTo>
                  <a:pt x="7197" y="6052"/>
                </a:lnTo>
                <a:lnTo>
                  <a:pt x="7219" y="6011"/>
                </a:lnTo>
                <a:lnTo>
                  <a:pt x="7238" y="5970"/>
                </a:lnTo>
                <a:lnTo>
                  <a:pt x="7256" y="5928"/>
                </a:lnTo>
                <a:lnTo>
                  <a:pt x="7291" y="5843"/>
                </a:lnTo>
                <a:lnTo>
                  <a:pt x="7311" y="5802"/>
                </a:lnTo>
                <a:lnTo>
                  <a:pt x="7332" y="5760"/>
                </a:lnTo>
                <a:lnTo>
                  <a:pt x="7412" y="5612"/>
                </a:lnTo>
                <a:lnTo>
                  <a:pt x="7451" y="5538"/>
                </a:lnTo>
                <a:lnTo>
                  <a:pt x="7489" y="5464"/>
                </a:lnTo>
                <a:lnTo>
                  <a:pt x="7527" y="5390"/>
                </a:lnTo>
                <a:lnTo>
                  <a:pt x="7563" y="5314"/>
                </a:lnTo>
                <a:lnTo>
                  <a:pt x="7579" y="5275"/>
                </a:lnTo>
                <a:lnTo>
                  <a:pt x="7596" y="5237"/>
                </a:lnTo>
                <a:lnTo>
                  <a:pt x="7612" y="5197"/>
                </a:lnTo>
                <a:lnTo>
                  <a:pt x="7627" y="5158"/>
                </a:lnTo>
                <a:lnTo>
                  <a:pt x="7650" y="5094"/>
                </a:lnTo>
                <a:lnTo>
                  <a:pt x="7671" y="5031"/>
                </a:lnTo>
                <a:lnTo>
                  <a:pt x="7692" y="4967"/>
                </a:lnTo>
                <a:lnTo>
                  <a:pt x="7710" y="4902"/>
                </a:lnTo>
                <a:lnTo>
                  <a:pt x="7727" y="4837"/>
                </a:lnTo>
                <a:lnTo>
                  <a:pt x="7742" y="4772"/>
                </a:lnTo>
                <a:lnTo>
                  <a:pt x="7757" y="4708"/>
                </a:lnTo>
                <a:lnTo>
                  <a:pt x="7770" y="4643"/>
                </a:lnTo>
                <a:lnTo>
                  <a:pt x="7782" y="4576"/>
                </a:lnTo>
                <a:lnTo>
                  <a:pt x="7793" y="4511"/>
                </a:lnTo>
                <a:lnTo>
                  <a:pt x="7803" y="4445"/>
                </a:lnTo>
                <a:lnTo>
                  <a:pt x="7813" y="4379"/>
                </a:lnTo>
                <a:lnTo>
                  <a:pt x="7821" y="4313"/>
                </a:lnTo>
                <a:lnTo>
                  <a:pt x="7829" y="4247"/>
                </a:lnTo>
                <a:lnTo>
                  <a:pt x="7835" y="4179"/>
                </a:lnTo>
                <a:lnTo>
                  <a:pt x="7841" y="4113"/>
                </a:lnTo>
                <a:lnTo>
                  <a:pt x="7853" y="3991"/>
                </a:lnTo>
                <a:lnTo>
                  <a:pt x="7859" y="3930"/>
                </a:lnTo>
                <a:lnTo>
                  <a:pt x="7864" y="3869"/>
                </a:lnTo>
                <a:lnTo>
                  <a:pt x="7867" y="3808"/>
                </a:lnTo>
                <a:lnTo>
                  <a:pt x="7869" y="3746"/>
                </a:lnTo>
                <a:lnTo>
                  <a:pt x="7870" y="3685"/>
                </a:lnTo>
                <a:lnTo>
                  <a:pt x="7869" y="3654"/>
                </a:lnTo>
                <a:lnTo>
                  <a:pt x="7868" y="3623"/>
                </a:lnTo>
                <a:lnTo>
                  <a:pt x="7862" y="3530"/>
                </a:lnTo>
                <a:lnTo>
                  <a:pt x="7853" y="3438"/>
                </a:lnTo>
                <a:lnTo>
                  <a:pt x="7843" y="3345"/>
                </a:lnTo>
                <a:lnTo>
                  <a:pt x="7831" y="3255"/>
                </a:lnTo>
                <a:lnTo>
                  <a:pt x="7816" y="3165"/>
                </a:lnTo>
                <a:lnTo>
                  <a:pt x="7799" y="3074"/>
                </a:lnTo>
                <a:lnTo>
                  <a:pt x="7779" y="2985"/>
                </a:lnTo>
                <a:lnTo>
                  <a:pt x="7759" y="2896"/>
                </a:lnTo>
                <a:lnTo>
                  <a:pt x="7736" y="2808"/>
                </a:lnTo>
                <a:lnTo>
                  <a:pt x="7710" y="2721"/>
                </a:lnTo>
                <a:lnTo>
                  <a:pt x="7683" y="2634"/>
                </a:lnTo>
                <a:lnTo>
                  <a:pt x="7654" y="2547"/>
                </a:lnTo>
                <a:lnTo>
                  <a:pt x="7623" y="2463"/>
                </a:lnTo>
                <a:lnTo>
                  <a:pt x="7590" y="2378"/>
                </a:lnTo>
                <a:lnTo>
                  <a:pt x="7555" y="2295"/>
                </a:lnTo>
                <a:lnTo>
                  <a:pt x="7517" y="2212"/>
                </a:lnTo>
                <a:lnTo>
                  <a:pt x="7479" y="2130"/>
                </a:lnTo>
                <a:lnTo>
                  <a:pt x="7438" y="2048"/>
                </a:lnTo>
                <a:lnTo>
                  <a:pt x="7395" y="1969"/>
                </a:lnTo>
                <a:lnTo>
                  <a:pt x="7350" y="1890"/>
                </a:lnTo>
                <a:lnTo>
                  <a:pt x="7304" y="1812"/>
                </a:lnTo>
                <a:lnTo>
                  <a:pt x="7256" y="1735"/>
                </a:lnTo>
                <a:lnTo>
                  <a:pt x="7206" y="1659"/>
                </a:lnTo>
                <a:lnTo>
                  <a:pt x="7153" y="1584"/>
                </a:lnTo>
                <a:lnTo>
                  <a:pt x="7100" y="1510"/>
                </a:lnTo>
                <a:lnTo>
                  <a:pt x="7044" y="1437"/>
                </a:lnTo>
                <a:lnTo>
                  <a:pt x="6987" y="1366"/>
                </a:lnTo>
                <a:lnTo>
                  <a:pt x="6929" y="1295"/>
                </a:lnTo>
                <a:lnTo>
                  <a:pt x="6868" y="1225"/>
                </a:lnTo>
                <a:lnTo>
                  <a:pt x="6806" y="1158"/>
                </a:lnTo>
                <a:lnTo>
                  <a:pt x="6741" y="1091"/>
                </a:lnTo>
                <a:lnTo>
                  <a:pt x="6676" y="1025"/>
                </a:lnTo>
                <a:lnTo>
                  <a:pt x="6610" y="961"/>
                </a:lnTo>
                <a:lnTo>
                  <a:pt x="6541" y="897"/>
                </a:lnTo>
                <a:lnTo>
                  <a:pt x="6473" y="835"/>
                </a:lnTo>
                <a:lnTo>
                  <a:pt x="6403" y="774"/>
                </a:lnTo>
                <a:lnTo>
                  <a:pt x="6368" y="745"/>
                </a:lnTo>
                <a:lnTo>
                  <a:pt x="6331" y="715"/>
                </a:lnTo>
                <a:lnTo>
                  <a:pt x="6295" y="687"/>
                </a:lnTo>
                <a:lnTo>
                  <a:pt x="6259" y="658"/>
                </a:lnTo>
                <a:lnTo>
                  <a:pt x="6221" y="631"/>
                </a:lnTo>
                <a:lnTo>
                  <a:pt x="6183" y="605"/>
                </a:lnTo>
                <a:lnTo>
                  <a:pt x="6144" y="578"/>
                </a:lnTo>
                <a:lnTo>
                  <a:pt x="6106" y="553"/>
                </a:lnTo>
                <a:lnTo>
                  <a:pt x="6065" y="528"/>
                </a:lnTo>
                <a:lnTo>
                  <a:pt x="6024" y="504"/>
                </a:lnTo>
                <a:lnTo>
                  <a:pt x="5983" y="481"/>
                </a:lnTo>
                <a:lnTo>
                  <a:pt x="5941" y="459"/>
                </a:lnTo>
                <a:lnTo>
                  <a:pt x="5899" y="438"/>
                </a:lnTo>
                <a:lnTo>
                  <a:pt x="5856" y="416"/>
                </a:lnTo>
                <a:lnTo>
                  <a:pt x="5814" y="397"/>
                </a:lnTo>
                <a:lnTo>
                  <a:pt x="5771" y="378"/>
                </a:lnTo>
                <a:lnTo>
                  <a:pt x="5684" y="340"/>
                </a:lnTo>
                <a:lnTo>
                  <a:pt x="5596" y="305"/>
                </a:lnTo>
                <a:lnTo>
                  <a:pt x="5507" y="271"/>
                </a:lnTo>
                <a:lnTo>
                  <a:pt x="5419" y="238"/>
                </a:lnTo>
                <a:lnTo>
                  <a:pt x="5364" y="217"/>
                </a:lnTo>
                <a:lnTo>
                  <a:pt x="5308" y="198"/>
                </a:lnTo>
                <a:lnTo>
                  <a:pt x="5254" y="179"/>
                </a:lnTo>
                <a:lnTo>
                  <a:pt x="5199" y="161"/>
                </a:lnTo>
                <a:lnTo>
                  <a:pt x="5145" y="143"/>
                </a:lnTo>
                <a:lnTo>
                  <a:pt x="5090" y="127"/>
                </a:lnTo>
                <a:lnTo>
                  <a:pt x="5034" y="112"/>
                </a:lnTo>
                <a:lnTo>
                  <a:pt x="4980" y="97"/>
                </a:lnTo>
                <a:lnTo>
                  <a:pt x="4924" y="85"/>
                </a:lnTo>
                <a:lnTo>
                  <a:pt x="4869" y="72"/>
                </a:lnTo>
                <a:lnTo>
                  <a:pt x="4813" y="60"/>
                </a:lnTo>
                <a:lnTo>
                  <a:pt x="4756" y="50"/>
                </a:lnTo>
                <a:lnTo>
                  <a:pt x="4699" y="41"/>
                </a:lnTo>
                <a:lnTo>
                  <a:pt x="4642" y="32"/>
                </a:lnTo>
                <a:lnTo>
                  <a:pt x="4584" y="26"/>
                </a:lnTo>
                <a:lnTo>
                  <a:pt x="4525" y="19"/>
                </a:lnTo>
                <a:lnTo>
                  <a:pt x="4455" y="12"/>
                </a:lnTo>
                <a:lnTo>
                  <a:pt x="4386" y="4"/>
                </a:lnTo>
                <a:lnTo>
                  <a:pt x="4351" y="1"/>
                </a:lnTo>
                <a:lnTo>
                  <a:pt x="4316" y="0"/>
                </a:lnTo>
                <a:lnTo>
                  <a:pt x="4281" y="0"/>
                </a:lnTo>
                <a:lnTo>
                  <a:pt x="4247" y="2"/>
                </a:lnTo>
                <a:close/>
                <a:moveTo>
                  <a:pt x="4259" y="182"/>
                </a:moveTo>
                <a:lnTo>
                  <a:pt x="4259" y="182"/>
                </a:lnTo>
                <a:lnTo>
                  <a:pt x="4285" y="181"/>
                </a:lnTo>
                <a:lnTo>
                  <a:pt x="4312" y="181"/>
                </a:lnTo>
                <a:lnTo>
                  <a:pt x="4339" y="182"/>
                </a:lnTo>
                <a:lnTo>
                  <a:pt x="4366" y="184"/>
                </a:lnTo>
                <a:lnTo>
                  <a:pt x="4420" y="190"/>
                </a:lnTo>
                <a:lnTo>
                  <a:pt x="4447" y="193"/>
                </a:lnTo>
                <a:lnTo>
                  <a:pt x="4474" y="195"/>
                </a:lnTo>
                <a:lnTo>
                  <a:pt x="4530" y="200"/>
                </a:lnTo>
                <a:lnTo>
                  <a:pt x="4586" y="207"/>
                </a:lnTo>
                <a:lnTo>
                  <a:pt x="4642" y="214"/>
                </a:lnTo>
                <a:lnTo>
                  <a:pt x="4697" y="223"/>
                </a:lnTo>
                <a:lnTo>
                  <a:pt x="4752" y="233"/>
                </a:lnTo>
                <a:lnTo>
                  <a:pt x="4806" y="245"/>
                </a:lnTo>
                <a:lnTo>
                  <a:pt x="4860" y="258"/>
                </a:lnTo>
                <a:lnTo>
                  <a:pt x="4913" y="272"/>
                </a:lnTo>
                <a:lnTo>
                  <a:pt x="4967" y="286"/>
                </a:lnTo>
                <a:lnTo>
                  <a:pt x="5021" y="302"/>
                </a:lnTo>
                <a:lnTo>
                  <a:pt x="5074" y="318"/>
                </a:lnTo>
                <a:lnTo>
                  <a:pt x="5128" y="335"/>
                </a:lnTo>
                <a:lnTo>
                  <a:pt x="5233" y="371"/>
                </a:lnTo>
                <a:lnTo>
                  <a:pt x="5339" y="410"/>
                </a:lnTo>
                <a:lnTo>
                  <a:pt x="5434" y="445"/>
                </a:lnTo>
                <a:lnTo>
                  <a:pt x="5528" y="482"/>
                </a:lnTo>
                <a:lnTo>
                  <a:pt x="5621" y="519"/>
                </a:lnTo>
                <a:lnTo>
                  <a:pt x="5668" y="539"/>
                </a:lnTo>
                <a:lnTo>
                  <a:pt x="5714" y="560"/>
                </a:lnTo>
                <a:lnTo>
                  <a:pt x="5759" y="580"/>
                </a:lnTo>
                <a:lnTo>
                  <a:pt x="5805" y="603"/>
                </a:lnTo>
                <a:lnTo>
                  <a:pt x="5850" y="625"/>
                </a:lnTo>
                <a:lnTo>
                  <a:pt x="5894" y="649"/>
                </a:lnTo>
                <a:lnTo>
                  <a:pt x="5938" y="673"/>
                </a:lnTo>
                <a:lnTo>
                  <a:pt x="5982" y="699"/>
                </a:lnTo>
                <a:lnTo>
                  <a:pt x="6023" y="727"/>
                </a:lnTo>
                <a:lnTo>
                  <a:pt x="6066" y="755"/>
                </a:lnTo>
                <a:lnTo>
                  <a:pt x="6185" y="838"/>
                </a:lnTo>
                <a:lnTo>
                  <a:pt x="6246" y="882"/>
                </a:lnTo>
                <a:lnTo>
                  <a:pt x="6306" y="928"/>
                </a:lnTo>
                <a:lnTo>
                  <a:pt x="6335" y="951"/>
                </a:lnTo>
                <a:lnTo>
                  <a:pt x="6364" y="975"/>
                </a:lnTo>
                <a:lnTo>
                  <a:pt x="6391" y="1000"/>
                </a:lnTo>
                <a:lnTo>
                  <a:pt x="6419" y="1025"/>
                </a:lnTo>
                <a:lnTo>
                  <a:pt x="6445" y="1051"/>
                </a:lnTo>
                <a:lnTo>
                  <a:pt x="6471" y="1078"/>
                </a:lnTo>
                <a:lnTo>
                  <a:pt x="6494" y="1106"/>
                </a:lnTo>
                <a:lnTo>
                  <a:pt x="6517" y="1133"/>
                </a:lnTo>
                <a:lnTo>
                  <a:pt x="6522" y="1141"/>
                </a:lnTo>
                <a:lnTo>
                  <a:pt x="6527" y="1152"/>
                </a:lnTo>
                <a:lnTo>
                  <a:pt x="6533" y="1163"/>
                </a:lnTo>
                <a:lnTo>
                  <a:pt x="6538" y="1177"/>
                </a:lnTo>
                <a:lnTo>
                  <a:pt x="6542" y="1192"/>
                </a:lnTo>
                <a:lnTo>
                  <a:pt x="6547" y="1207"/>
                </a:lnTo>
                <a:lnTo>
                  <a:pt x="6550" y="1223"/>
                </a:lnTo>
                <a:lnTo>
                  <a:pt x="6553" y="1240"/>
                </a:lnTo>
                <a:lnTo>
                  <a:pt x="6554" y="1256"/>
                </a:lnTo>
                <a:lnTo>
                  <a:pt x="6555" y="1273"/>
                </a:lnTo>
                <a:lnTo>
                  <a:pt x="6554" y="1288"/>
                </a:lnTo>
                <a:lnTo>
                  <a:pt x="6552" y="1301"/>
                </a:lnTo>
                <a:lnTo>
                  <a:pt x="6548" y="1313"/>
                </a:lnTo>
                <a:lnTo>
                  <a:pt x="6544" y="1319"/>
                </a:lnTo>
                <a:lnTo>
                  <a:pt x="6541" y="1324"/>
                </a:lnTo>
                <a:lnTo>
                  <a:pt x="6537" y="1328"/>
                </a:lnTo>
                <a:lnTo>
                  <a:pt x="6533" y="1332"/>
                </a:lnTo>
                <a:lnTo>
                  <a:pt x="6528" y="1336"/>
                </a:lnTo>
                <a:lnTo>
                  <a:pt x="6523" y="1339"/>
                </a:lnTo>
                <a:lnTo>
                  <a:pt x="6516" y="1341"/>
                </a:lnTo>
                <a:lnTo>
                  <a:pt x="6507" y="1342"/>
                </a:lnTo>
                <a:lnTo>
                  <a:pt x="6497" y="1342"/>
                </a:lnTo>
                <a:lnTo>
                  <a:pt x="6487" y="1342"/>
                </a:lnTo>
                <a:lnTo>
                  <a:pt x="6465" y="1339"/>
                </a:lnTo>
                <a:lnTo>
                  <a:pt x="6443" y="1334"/>
                </a:lnTo>
                <a:lnTo>
                  <a:pt x="6398" y="1320"/>
                </a:lnTo>
                <a:lnTo>
                  <a:pt x="6377" y="1314"/>
                </a:lnTo>
                <a:lnTo>
                  <a:pt x="6361" y="1310"/>
                </a:lnTo>
                <a:lnTo>
                  <a:pt x="6257" y="1292"/>
                </a:lnTo>
                <a:lnTo>
                  <a:pt x="6152" y="1276"/>
                </a:lnTo>
                <a:lnTo>
                  <a:pt x="6047" y="1261"/>
                </a:lnTo>
                <a:lnTo>
                  <a:pt x="5941" y="1248"/>
                </a:lnTo>
                <a:lnTo>
                  <a:pt x="5886" y="1243"/>
                </a:lnTo>
                <a:lnTo>
                  <a:pt x="5832" y="1238"/>
                </a:lnTo>
                <a:lnTo>
                  <a:pt x="5776" y="1236"/>
                </a:lnTo>
                <a:lnTo>
                  <a:pt x="5720" y="1234"/>
                </a:lnTo>
                <a:lnTo>
                  <a:pt x="5609" y="1233"/>
                </a:lnTo>
                <a:lnTo>
                  <a:pt x="5499" y="1233"/>
                </a:lnTo>
                <a:lnTo>
                  <a:pt x="5477" y="1234"/>
                </a:lnTo>
                <a:lnTo>
                  <a:pt x="5454" y="1236"/>
                </a:lnTo>
                <a:lnTo>
                  <a:pt x="5405" y="1242"/>
                </a:lnTo>
                <a:lnTo>
                  <a:pt x="5379" y="1244"/>
                </a:lnTo>
                <a:lnTo>
                  <a:pt x="5355" y="1244"/>
                </a:lnTo>
                <a:lnTo>
                  <a:pt x="5344" y="1243"/>
                </a:lnTo>
                <a:lnTo>
                  <a:pt x="5332" y="1242"/>
                </a:lnTo>
                <a:lnTo>
                  <a:pt x="5321" y="1239"/>
                </a:lnTo>
                <a:lnTo>
                  <a:pt x="5312" y="1237"/>
                </a:lnTo>
                <a:lnTo>
                  <a:pt x="5298" y="1232"/>
                </a:lnTo>
                <a:lnTo>
                  <a:pt x="5285" y="1225"/>
                </a:lnTo>
                <a:lnTo>
                  <a:pt x="5272" y="1218"/>
                </a:lnTo>
                <a:lnTo>
                  <a:pt x="5260" y="1209"/>
                </a:lnTo>
                <a:lnTo>
                  <a:pt x="5247" y="1200"/>
                </a:lnTo>
                <a:lnTo>
                  <a:pt x="5235" y="1189"/>
                </a:lnTo>
                <a:lnTo>
                  <a:pt x="5210" y="1168"/>
                </a:lnTo>
                <a:lnTo>
                  <a:pt x="5162" y="1122"/>
                </a:lnTo>
                <a:lnTo>
                  <a:pt x="5139" y="1100"/>
                </a:lnTo>
                <a:lnTo>
                  <a:pt x="5128" y="1091"/>
                </a:lnTo>
                <a:lnTo>
                  <a:pt x="5117" y="1082"/>
                </a:lnTo>
                <a:lnTo>
                  <a:pt x="5064" y="1047"/>
                </a:lnTo>
                <a:lnTo>
                  <a:pt x="5012" y="1012"/>
                </a:lnTo>
                <a:lnTo>
                  <a:pt x="4957" y="979"/>
                </a:lnTo>
                <a:lnTo>
                  <a:pt x="4903" y="948"/>
                </a:lnTo>
                <a:lnTo>
                  <a:pt x="4847" y="918"/>
                </a:lnTo>
                <a:lnTo>
                  <a:pt x="4791" y="890"/>
                </a:lnTo>
                <a:lnTo>
                  <a:pt x="4735" y="864"/>
                </a:lnTo>
                <a:lnTo>
                  <a:pt x="4677" y="838"/>
                </a:lnTo>
                <a:lnTo>
                  <a:pt x="4630" y="820"/>
                </a:lnTo>
                <a:lnTo>
                  <a:pt x="4583" y="801"/>
                </a:lnTo>
                <a:lnTo>
                  <a:pt x="4488" y="766"/>
                </a:lnTo>
                <a:lnTo>
                  <a:pt x="4391" y="732"/>
                </a:lnTo>
                <a:lnTo>
                  <a:pt x="4295" y="700"/>
                </a:lnTo>
                <a:lnTo>
                  <a:pt x="4275" y="695"/>
                </a:lnTo>
                <a:lnTo>
                  <a:pt x="4253" y="689"/>
                </a:lnTo>
                <a:lnTo>
                  <a:pt x="4207" y="680"/>
                </a:lnTo>
                <a:lnTo>
                  <a:pt x="4185" y="673"/>
                </a:lnTo>
                <a:lnTo>
                  <a:pt x="4163" y="667"/>
                </a:lnTo>
                <a:lnTo>
                  <a:pt x="4154" y="663"/>
                </a:lnTo>
                <a:lnTo>
                  <a:pt x="4144" y="658"/>
                </a:lnTo>
                <a:lnTo>
                  <a:pt x="4135" y="653"/>
                </a:lnTo>
                <a:lnTo>
                  <a:pt x="4128" y="646"/>
                </a:lnTo>
                <a:lnTo>
                  <a:pt x="4124" y="642"/>
                </a:lnTo>
                <a:lnTo>
                  <a:pt x="4119" y="637"/>
                </a:lnTo>
                <a:lnTo>
                  <a:pt x="4116" y="631"/>
                </a:lnTo>
                <a:lnTo>
                  <a:pt x="4114" y="626"/>
                </a:lnTo>
                <a:lnTo>
                  <a:pt x="4111" y="613"/>
                </a:lnTo>
                <a:lnTo>
                  <a:pt x="4110" y="599"/>
                </a:lnTo>
                <a:lnTo>
                  <a:pt x="4110" y="587"/>
                </a:lnTo>
                <a:lnTo>
                  <a:pt x="4110" y="573"/>
                </a:lnTo>
                <a:lnTo>
                  <a:pt x="4111" y="547"/>
                </a:lnTo>
                <a:lnTo>
                  <a:pt x="4102" y="429"/>
                </a:lnTo>
                <a:lnTo>
                  <a:pt x="4100" y="370"/>
                </a:lnTo>
                <a:lnTo>
                  <a:pt x="4099" y="312"/>
                </a:lnTo>
                <a:lnTo>
                  <a:pt x="4098" y="286"/>
                </a:lnTo>
                <a:lnTo>
                  <a:pt x="4098" y="273"/>
                </a:lnTo>
                <a:lnTo>
                  <a:pt x="4099" y="260"/>
                </a:lnTo>
                <a:lnTo>
                  <a:pt x="4101" y="247"/>
                </a:lnTo>
                <a:lnTo>
                  <a:pt x="4104" y="234"/>
                </a:lnTo>
                <a:lnTo>
                  <a:pt x="4110" y="224"/>
                </a:lnTo>
                <a:lnTo>
                  <a:pt x="4113" y="218"/>
                </a:lnTo>
                <a:lnTo>
                  <a:pt x="4117" y="213"/>
                </a:lnTo>
                <a:lnTo>
                  <a:pt x="4124" y="207"/>
                </a:lnTo>
                <a:lnTo>
                  <a:pt x="4131" y="201"/>
                </a:lnTo>
                <a:lnTo>
                  <a:pt x="4139" y="197"/>
                </a:lnTo>
                <a:lnTo>
                  <a:pt x="4147" y="194"/>
                </a:lnTo>
                <a:lnTo>
                  <a:pt x="4156" y="191"/>
                </a:lnTo>
                <a:lnTo>
                  <a:pt x="4164" y="188"/>
                </a:lnTo>
                <a:lnTo>
                  <a:pt x="4184" y="185"/>
                </a:lnTo>
                <a:lnTo>
                  <a:pt x="4203" y="184"/>
                </a:lnTo>
                <a:lnTo>
                  <a:pt x="4222" y="183"/>
                </a:lnTo>
                <a:lnTo>
                  <a:pt x="4240" y="183"/>
                </a:lnTo>
                <a:lnTo>
                  <a:pt x="4259" y="182"/>
                </a:lnTo>
                <a:close/>
                <a:moveTo>
                  <a:pt x="3676" y="198"/>
                </a:moveTo>
                <a:lnTo>
                  <a:pt x="3676" y="198"/>
                </a:lnTo>
                <a:lnTo>
                  <a:pt x="3730" y="194"/>
                </a:lnTo>
                <a:lnTo>
                  <a:pt x="3763" y="192"/>
                </a:lnTo>
                <a:lnTo>
                  <a:pt x="3797" y="191"/>
                </a:lnTo>
                <a:lnTo>
                  <a:pt x="3832" y="193"/>
                </a:lnTo>
                <a:lnTo>
                  <a:pt x="3848" y="194"/>
                </a:lnTo>
                <a:lnTo>
                  <a:pt x="3864" y="197"/>
                </a:lnTo>
                <a:lnTo>
                  <a:pt x="3878" y="200"/>
                </a:lnTo>
                <a:lnTo>
                  <a:pt x="3890" y="204"/>
                </a:lnTo>
                <a:lnTo>
                  <a:pt x="3901" y="209"/>
                </a:lnTo>
                <a:lnTo>
                  <a:pt x="3910" y="215"/>
                </a:lnTo>
                <a:lnTo>
                  <a:pt x="3914" y="219"/>
                </a:lnTo>
                <a:lnTo>
                  <a:pt x="3917" y="224"/>
                </a:lnTo>
                <a:lnTo>
                  <a:pt x="3919" y="229"/>
                </a:lnTo>
                <a:lnTo>
                  <a:pt x="3921" y="234"/>
                </a:lnTo>
                <a:lnTo>
                  <a:pt x="3924" y="246"/>
                </a:lnTo>
                <a:lnTo>
                  <a:pt x="3925" y="259"/>
                </a:lnTo>
                <a:lnTo>
                  <a:pt x="3925" y="272"/>
                </a:lnTo>
                <a:lnTo>
                  <a:pt x="3925" y="284"/>
                </a:lnTo>
                <a:lnTo>
                  <a:pt x="3924" y="307"/>
                </a:lnTo>
                <a:lnTo>
                  <a:pt x="3924" y="365"/>
                </a:lnTo>
                <a:lnTo>
                  <a:pt x="3925" y="423"/>
                </a:lnTo>
                <a:lnTo>
                  <a:pt x="3926" y="482"/>
                </a:lnTo>
                <a:lnTo>
                  <a:pt x="3929" y="539"/>
                </a:lnTo>
                <a:lnTo>
                  <a:pt x="3931" y="562"/>
                </a:lnTo>
                <a:lnTo>
                  <a:pt x="3931" y="575"/>
                </a:lnTo>
                <a:lnTo>
                  <a:pt x="3930" y="588"/>
                </a:lnTo>
                <a:lnTo>
                  <a:pt x="3928" y="600"/>
                </a:lnTo>
                <a:lnTo>
                  <a:pt x="3924" y="612"/>
                </a:lnTo>
                <a:lnTo>
                  <a:pt x="3918" y="622"/>
                </a:lnTo>
                <a:lnTo>
                  <a:pt x="3915" y="626"/>
                </a:lnTo>
                <a:lnTo>
                  <a:pt x="3911" y="630"/>
                </a:lnTo>
                <a:lnTo>
                  <a:pt x="3902" y="636"/>
                </a:lnTo>
                <a:lnTo>
                  <a:pt x="3893" y="640"/>
                </a:lnTo>
                <a:lnTo>
                  <a:pt x="3882" y="644"/>
                </a:lnTo>
                <a:lnTo>
                  <a:pt x="3870" y="648"/>
                </a:lnTo>
                <a:lnTo>
                  <a:pt x="3857" y="650"/>
                </a:lnTo>
                <a:lnTo>
                  <a:pt x="3843" y="652"/>
                </a:lnTo>
                <a:lnTo>
                  <a:pt x="3815" y="655"/>
                </a:lnTo>
                <a:lnTo>
                  <a:pt x="3760" y="658"/>
                </a:lnTo>
                <a:lnTo>
                  <a:pt x="3734" y="659"/>
                </a:lnTo>
                <a:lnTo>
                  <a:pt x="3713" y="663"/>
                </a:lnTo>
                <a:lnTo>
                  <a:pt x="3657" y="673"/>
                </a:lnTo>
                <a:lnTo>
                  <a:pt x="3603" y="686"/>
                </a:lnTo>
                <a:lnTo>
                  <a:pt x="3548" y="700"/>
                </a:lnTo>
                <a:lnTo>
                  <a:pt x="3493" y="715"/>
                </a:lnTo>
                <a:lnTo>
                  <a:pt x="3439" y="731"/>
                </a:lnTo>
                <a:lnTo>
                  <a:pt x="3384" y="747"/>
                </a:lnTo>
                <a:lnTo>
                  <a:pt x="3331" y="764"/>
                </a:lnTo>
                <a:lnTo>
                  <a:pt x="3278" y="782"/>
                </a:lnTo>
                <a:lnTo>
                  <a:pt x="3217" y="804"/>
                </a:lnTo>
                <a:lnTo>
                  <a:pt x="3157" y="826"/>
                </a:lnTo>
                <a:lnTo>
                  <a:pt x="3098" y="851"/>
                </a:lnTo>
                <a:lnTo>
                  <a:pt x="3040" y="875"/>
                </a:lnTo>
                <a:lnTo>
                  <a:pt x="2983" y="902"/>
                </a:lnTo>
                <a:lnTo>
                  <a:pt x="2925" y="931"/>
                </a:lnTo>
                <a:lnTo>
                  <a:pt x="2869" y="962"/>
                </a:lnTo>
                <a:lnTo>
                  <a:pt x="2815" y="995"/>
                </a:lnTo>
                <a:lnTo>
                  <a:pt x="2802" y="1004"/>
                </a:lnTo>
                <a:lnTo>
                  <a:pt x="2790" y="1012"/>
                </a:lnTo>
                <a:lnTo>
                  <a:pt x="2765" y="1033"/>
                </a:lnTo>
                <a:lnTo>
                  <a:pt x="2715" y="1077"/>
                </a:lnTo>
                <a:lnTo>
                  <a:pt x="2690" y="1098"/>
                </a:lnTo>
                <a:lnTo>
                  <a:pt x="2664" y="1118"/>
                </a:lnTo>
                <a:lnTo>
                  <a:pt x="2651" y="1127"/>
                </a:lnTo>
                <a:lnTo>
                  <a:pt x="2638" y="1134"/>
                </a:lnTo>
                <a:lnTo>
                  <a:pt x="2624" y="1142"/>
                </a:lnTo>
                <a:lnTo>
                  <a:pt x="2612" y="1147"/>
                </a:lnTo>
                <a:lnTo>
                  <a:pt x="2597" y="1153"/>
                </a:lnTo>
                <a:lnTo>
                  <a:pt x="2582" y="1155"/>
                </a:lnTo>
                <a:lnTo>
                  <a:pt x="2566" y="1156"/>
                </a:lnTo>
                <a:lnTo>
                  <a:pt x="2548" y="1156"/>
                </a:lnTo>
                <a:lnTo>
                  <a:pt x="2515" y="1156"/>
                </a:lnTo>
                <a:lnTo>
                  <a:pt x="2499" y="1156"/>
                </a:lnTo>
                <a:lnTo>
                  <a:pt x="2484" y="1158"/>
                </a:lnTo>
                <a:lnTo>
                  <a:pt x="2414" y="1167"/>
                </a:lnTo>
                <a:lnTo>
                  <a:pt x="2342" y="1175"/>
                </a:lnTo>
                <a:lnTo>
                  <a:pt x="2201" y="1194"/>
                </a:lnTo>
                <a:lnTo>
                  <a:pt x="2168" y="1200"/>
                </a:lnTo>
                <a:lnTo>
                  <a:pt x="2137" y="1205"/>
                </a:lnTo>
                <a:lnTo>
                  <a:pt x="2106" y="1210"/>
                </a:lnTo>
                <a:lnTo>
                  <a:pt x="2075" y="1218"/>
                </a:lnTo>
                <a:lnTo>
                  <a:pt x="2013" y="1233"/>
                </a:lnTo>
                <a:lnTo>
                  <a:pt x="1951" y="1250"/>
                </a:lnTo>
                <a:lnTo>
                  <a:pt x="1889" y="1269"/>
                </a:lnTo>
                <a:lnTo>
                  <a:pt x="1828" y="1289"/>
                </a:lnTo>
                <a:lnTo>
                  <a:pt x="1706" y="1327"/>
                </a:lnTo>
                <a:lnTo>
                  <a:pt x="1644" y="1347"/>
                </a:lnTo>
                <a:lnTo>
                  <a:pt x="1583" y="1370"/>
                </a:lnTo>
                <a:lnTo>
                  <a:pt x="1522" y="1395"/>
                </a:lnTo>
                <a:lnTo>
                  <a:pt x="1462" y="1421"/>
                </a:lnTo>
                <a:lnTo>
                  <a:pt x="1402" y="1448"/>
                </a:lnTo>
                <a:lnTo>
                  <a:pt x="1343" y="1477"/>
                </a:lnTo>
                <a:lnTo>
                  <a:pt x="1227" y="1536"/>
                </a:lnTo>
                <a:lnTo>
                  <a:pt x="1210" y="1545"/>
                </a:lnTo>
                <a:lnTo>
                  <a:pt x="1189" y="1559"/>
                </a:lnTo>
                <a:lnTo>
                  <a:pt x="1166" y="1574"/>
                </a:lnTo>
                <a:lnTo>
                  <a:pt x="1142" y="1590"/>
                </a:lnTo>
                <a:lnTo>
                  <a:pt x="1118" y="1604"/>
                </a:lnTo>
                <a:lnTo>
                  <a:pt x="1105" y="1611"/>
                </a:lnTo>
                <a:lnTo>
                  <a:pt x="1093" y="1616"/>
                </a:lnTo>
                <a:lnTo>
                  <a:pt x="1082" y="1619"/>
                </a:lnTo>
                <a:lnTo>
                  <a:pt x="1072" y="1621"/>
                </a:lnTo>
                <a:lnTo>
                  <a:pt x="1062" y="1622"/>
                </a:lnTo>
                <a:lnTo>
                  <a:pt x="1052" y="1620"/>
                </a:lnTo>
                <a:lnTo>
                  <a:pt x="1048" y="1618"/>
                </a:lnTo>
                <a:lnTo>
                  <a:pt x="1044" y="1616"/>
                </a:lnTo>
                <a:lnTo>
                  <a:pt x="1041" y="1613"/>
                </a:lnTo>
                <a:lnTo>
                  <a:pt x="1038" y="1611"/>
                </a:lnTo>
                <a:lnTo>
                  <a:pt x="1037" y="1606"/>
                </a:lnTo>
                <a:lnTo>
                  <a:pt x="1036" y="1603"/>
                </a:lnTo>
                <a:lnTo>
                  <a:pt x="1036" y="1595"/>
                </a:lnTo>
                <a:lnTo>
                  <a:pt x="1038" y="1587"/>
                </a:lnTo>
                <a:lnTo>
                  <a:pt x="1043" y="1579"/>
                </a:lnTo>
                <a:lnTo>
                  <a:pt x="1047" y="1571"/>
                </a:lnTo>
                <a:lnTo>
                  <a:pt x="1051" y="1565"/>
                </a:lnTo>
                <a:lnTo>
                  <a:pt x="1064" y="1549"/>
                </a:lnTo>
                <a:lnTo>
                  <a:pt x="1077" y="1533"/>
                </a:lnTo>
                <a:lnTo>
                  <a:pt x="1105" y="1502"/>
                </a:lnTo>
                <a:lnTo>
                  <a:pt x="1133" y="1471"/>
                </a:lnTo>
                <a:lnTo>
                  <a:pt x="1160" y="1441"/>
                </a:lnTo>
                <a:lnTo>
                  <a:pt x="1216" y="1380"/>
                </a:lnTo>
                <a:lnTo>
                  <a:pt x="1275" y="1319"/>
                </a:lnTo>
                <a:lnTo>
                  <a:pt x="1335" y="1260"/>
                </a:lnTo>
                <a:lnTo>
                  <a:pt x="1396" y="1201"/>
                </a:lnTo>
                <a:lnTo>
                  <a:pt x="1459" y="1144"/>
                </a:lnTo>
                <a:lnTo>
                  <a:pt x="1523" y="1090"/>
                </a:lnTo>
                <a:lnTo>
                  <a:pt x="1588" y="1036"/>
                </a:lnTo>
                <a:lnTo>
                  <a:pt x="1655" y="986"/>
                </a:lnTo>
                <a:lnTo>
                  <a:pt x="1680" y="965"/>
                </a:lnTo>
                <a:lnTo>
                  <a:pt x="1705" y="944"/>
                </a:lnTo>
                <a:lnTo>
                  <a:pt x="1756" y="901"/>
                </a:lnTo>
                <a:lnTo>
                  <a:pt x="1782" y="881"/>
                </a:lnTo>
                <a:lnTo>
                  <a:pt x="1808" y="861"/>
                </a:lnTo>
                <a:lnTo>
                  <a:pt x="1835" y="841"/>
                </a:lnTo>
                <a:lnTo>
                  <a:pt x="1861" y="823"/>
                </a:lnTo>
                <a:lnTo>
                  <a:pt x="1902" y="798"/>
                </a:lnTo>
                <a:lnTo>
                  <a:pt x="1944" y="774"/>
                </a:lnTo>
                <a:lnTo>
                  <a:pt x="1984" y="751"/>
                </a:lnTo>
                <a:lnTo>
                  <a:pt x="2027" y="729"/>
                </a:lnTo>
                <a:lnTo>
                  <a:pt x="2069" y="707"/>
                </a:lnTo>
                <a:lnTo>
                  <a:pt x="2112" y="687"/>
                </a:lnTo>
                <a:lnTo>
                  <a:pt x="2197" y="646"/>
                </a:lnTo>
                <a:lnTo>
                  <a:pt x="2283" y="608"/>
                </a:lnTo>
                <a:lnTo>
                  <a:pt x="2370" y="569"/>
                </a:lnTo>
                <a:lnTo>
                  <a:pt x="2457" y="532"/>
                </a:lnTo>
                <a:lnTo>
                  <a:pt x="2544" y="493"/>
                </a:lnTo>
                <a:lnTo>
                  <a:pt x="2688" y="428"/>
                </a:lnTo>
                <a:lnTo>
                  <a:pt x="2760" y="396"/>
                </a:lnTo>
                <a:lnTo>
                  <a:pt x="2834" y="365"/>
                </a:lnTo>
                <a:lnTo>
                  <a:pt x="2908" y="335"/>
                </a:lnTo>
                <a:lnTo>
                  <a:pt x="2945" y="321"/>
                </a:lnTo>
                <a:lnTo>
                  <a:pt x="2983" y="307"/>
                </a:lnTo>
                <a:lnTo>
                  <a:pt x="3020" y="294"/>
                </a:lnTo>
                <a:lnTo>
                  <a:pt x="3058" y="283"/>
                </a:lnTo>
                <a:lnTo>
                  <a:pt x="3096" y="272"/>
                </a:lnTo>
                <a:lnTo>
                  <a:pt x="3134" y="262"/>
                </a:lnTo>
                <a:lnTo>
                  <a:pt x="3168" y="255"/>
                </a:lnTo>
                <a:lnTo>
                  <a:pt x="3202" y="247"/>
                </a:lnTo>
                <a:lnTo>
                  <a:pt x="3235" y="241"/>
                </a:lnTo>
                <a:lnTo>
                  <a:pt x="3270" y="236"/>
                </a:lnTo>
                <a:lnTo>
                  <a:pt x="3337" y="227"/>
                </a:lnTo>
                <a:lnTo>
                  <a:pt x="3405" y="219"/>
                </a:lnTo>
                <a:lnTo>
                  <a:pt x="3472" y="214"/>
                </a:lnTo>
                <a:lnTo>
                  <a:pt x="3539" y="209"/>
                </a:lnTo>
                <a:lnTo>
                  <a:pt x="3608" y="203"/>
                </a:lnTo>
                <a:lnTo>
                  <a:pt x="3676" y="198"/>
                </a:lnTo>
                <a:close/>
                <a:moveTo>
                  <a:pt x="3963" y="820"/>
                </a:moveTo>
                <a:lnTo>
                  <a:pt x="3963" y="820"/>
                </a:lnTo>
                <a:lnTo>
                  <a:pt x="3981" y="819"/>
                </a:lnTo>
                <a:lnTo>
                  <a:pt x="4001" y="819"/>
                </a:lnTo>
                <a:lnTo>
                  <a:pt x="4019" y="821"/>
                </a:lnTo>
                <a:lnTo>
                  <a:pt x="4038" y="823"/>
                </a:lnTo>
                <a:lnTo>
                  <a:pt x="4057" y="825"/>
                </a:lnTo>
                <a:lnTo>
                  <a:pt x="4076" y="829"/>
                </a:lnTo>
                <a:lnTo>
                  <a:pt x="4113" y="839"/>
                </a:lnTo>
                <a:lnTo>
                  <a:pt x="4150" y="851"/>
                </a:lnTo>
                <a:lnTo>
                  <a:pt x="4187" y="863"/>
                </a:lnTo>
                <a:lnTo>
                  <a:pt x="4259" y="887"/>
                </a:lnTo>
                <a:lnTo>
                  <a:pt x="4342" y="915"/>
                </a:lnTo>
                <a:lnTo>
                  <a:pt x="4425" y="944"/>
                </a:lnTo>
                <a:lnTo>
                  <a:pt x="4507" y="974"/>
                </a:lnTo>
                <a:lnTo>
                  <a:pt x="4547" y="990"/>
                </a:lnTo>
                <a:lnTo>
                  <a:pt x="4588" y="1006"/>
                </a:lnTo>
                <a:lnTo>
                  <a:pt x="4628" y="1023"/>
                </a:lnTo>
                <a:lnTo>
                  <a:pt x="4667" y="1041"/>
                </a:lnTo>
                <a:lnTo>
                  <a:pt x="4707" y="1060"/>
                </a:lnTo>
                <a:lnTo>
                  <a:pt x="4747" y="1079"/>
                </a:lnTo>
                <a:lnTo>
                  <a:pt x="4785" y="1099"/>
                </a:lnTo>
                <a:lnTo>
                  <a:pt x="4824" y="1121"/>
                </a:lnTo>
                <a:lnTo>
                  <a:pt x="4862" y="1143"/>
                </a:lnTo>
                <a:lnTo>
                  <a:pt x="4900" y="1166"/>
                </a:lnTo>
                <a:lnTo>
                  <a:pt x="4930" y="1183"/>
                </a:lnTo>
                <a:lnTo>
                  <a:pt x="4965" y="1202"/>
                </a:lnTo>
                <a:lnTo>
                  <a:pt x="5002" y="1224"/>
                </a:lnTo>
                <a:lnTo>
                  <a:pt x="5041" y="1248"/>
                </a:lnTo>
                <a:lnTo>
                  <a:pt x="5059" y="1261"/>
                </a:lnTo>
                <a:lnTo>
                  <a:pt x="5076" y="1274"/>
                </a:lnTo>
                <a:lnTo>
                  <a:pt x="5092" y="1288"/>
                </a:lnTo>
                <a:lnTo>
                  <a:pt x="5107" y="1301"/>
                </a:lnTo>
                <a:lnTo>
                  <a:pt x="5121" y="1315"/>
                </a:lnTo>
                <a:lnTo>
                  <a:pt x="5132" y="1330"/>
                </a:lnTo>
                <a:lnTo>
                  <a:pt x="5140" y="1345"/>
                </a:lnTo>
                <a:lnTo>
                  <a:pt x="5144" y="1354"/>
                </a:lnTo>
                <a:lnTo>
                  <a:pt x="5147" y="1361"/>
                </a:lnTo>
                <a:lnTo>
                  <a:pt x="5149" y="1373"/>
                </a:lnTo>
                <a:lnTo>
                  <a:pt x="5150" y="1385"/>
                </a:lnTo>
                <a:lnTo>
                  <a:pt x="5149" y="1399"/>
                </a:lnTo>
                <a:lnTo>
                  <a:pt x="5147" y="1413"/>
                </a:lnTo>
                <a:lnTo>
                  <a:pt x="5144" y="1428"/>
                </a:lnTo>
                <a:lnTo>
                  <a:pt x="5139" y="1443"/>
                </a:lnTo>
                <a:lnTo>
                  <a:pt x="5128" y="1474"/>
                </a:lnTo>
                <a:lnTo>
                  <a:pt x="5115" y="1505"/>
                </a:lnTo>
                <a:lnTo>
                  <a:pt x="5102" y="1534"/>
                </a:lnTo>
                <a:lnTo>
                  <a:pt x="5090" y="1560"/>
                </a:lnTo>
                <a:lnTo>
                  <a:pt x="5082" y="1584"/>
                </a:lnTo>
                <a:lnTo>
                  <a:pt x="5055" y="1659"/>
                </a:lnTo>
                <a:lnTo>
                  <a:pt x="5028" y="1733"/>
                </a:lnTo>
                <a:lnTo>
                  <a:pt x="4972" y="1880"/>
                </a:lnTo>
                <a:lnTo>
                  <a:pt x="4915" y="2027"/>
                </a:lnTo>
                <a:lnTo>
                  <a:pt x="4858" y="2175"/>
                </a:lnTo>
                <a:lnTo>
                  <a:pt x="4840" y="2216"/>
                </a:lnTo>
                <a:lnTo>
                  <a:pt x="4820" y="2257"/>
                </a:lnTo>
                <a:lnTo>
                  <a:pt x="4800" y="2297"/>
                </a:lnTo>
                <a:lnTo>
                  <a:pt x="4781" y="2337"/>
                </a:lnTo>
                <a:lnTo>
                  <a:pt x="4771" y="2358"/>
                </a:lnTo>
                <a:lnTo>
                  <a:pt x="4766" y="2367"/>
                </a:lnTo>
                <a:lnTo>
                  <a:pt x="4760" y="2376"/>
                </a:lnTo>
                <a:lnTo>
                  <a:pt x="4753" y="2384"/>
                </a:lnTo>
                <a:lnTo>
                  <a:pt x="4745" y="2391"/>
                </a:lnTo>
                <a:lnTo>
                  <a:pt x="4736" y="2396"/>
                </a:lnTo>
                <a:lnTo>
                  <a:pt x="4730" y="2398"/>
                </a:lnTo>
                <a:lnTo>
                  <a:pt x="4725" y="2399"/>
                </a:lnTo>
                <a:lnTo>
                  <a:pt x="4710" y="2401"/>
                </a:lnTo>
                <a:lnTo>
                  <a:pt x="4695" y="2399"/>
                </a:lnTo>
                <a:lnTo>
                  <a:pt x="4679" y="2396"/>
                </a:lnTo>
                <a:lnTo>
                  <a:pt x="4663" y="2393"/>
                </a:lnTo>
                <a:lnTo>
                  <a:pt x="4632" y="2386"/>
                </a:lnTo>
                <a:lnTo>
                  <a:pt x="4616" y="2382"/>
                </a:lnTo>
                <a:lnTo>
                  <a:pt x="4602" y="2380"/>
                </a:lnTo>
                <a:lnTo>
                  <a:pt x="4536" y="2372"/>
                </a:lnTo>
                <a:lnTo>
                  <a:pt x="4470" y="2366"/>
                </a:lnTo>
                <a:lnTo>
                  <a:pt x="4339" y="2356"/>
                </a:lnTo>
                <a:lnTo>
                  <a:pt x="4244" y="2349"/>
                </a:lnTo>
                <a:lnTo>
                  <a:pt x="4149" y="2344"/>
                </a:lnTo>
                <a:lnTo>
                  <a:pt x="4054" y="2342"/>
                </a:lnTo>
                <a:lnTo>
                  <a:pt x="3960" y="2340"/>
                </a:lnTo>
                <a:lnTo>
                  <a:pt x="3865" y="2338"/>
                </a:lnTo>
                <a:lnTo>
                  <a:pt x="3771" y="2337"/>
                </a:lnTo>
                <a:lnTo>
                  <a:pt x="3581" y="2337"/>
                </a:lnTo>
                <a:lnTo>
                  <a:pt x="3512" y="2338"/>
                </a:lnTo>
                <a:lnTo>
                  <a:pt x="3441" y="2340"/>
                </a:lnTo>
                <a:lnTo>
                  <a:pt x="3371" y="2343"/>
                </a:lnTo>
                <a:lnTo>
                  <a:pt x="3301" y="2347"/>
                </a:lnTo>
                <a:lnTo>
                  <a:pt x="3273" y="2350"/>
                </a:lnTo>
                <a:lnTo>
                  <a:pt x="3257" y="2352"/>
                </a:lnTo>
                <a:lnTo>
                  <a:pt x="3241" y="2355"/>
                </a:lnTo>
                <a:lnTo>
                  <a:pt x="3225" y="2355"/>
                </a:lnTo>
                <a:lnTo>
                  <a:pt x="3210" y="2355"/>
                </a:lnTo>
                <a:lnTo>
                  <a:pt x="3202" y="2352"/>
                </a:lnTo>
                <a:lnTo>
                  <a:pt x="3196" y="2350"/>
                </a:lnTo>
                <a:lnTo>
                  <a:pt x="3189" y="2348"/>
                </a:lnTo>
                <a:lnTo>
                  <a:pt x="3183" y="2345"/>
                </a:lnTo>
                <a:lnTo>
                  <a:pt x="3177" y="2340"/>
                </a:lnTo>
                <a:lnTo>
                  <a:pt x="3170" y="2334"/>
                </a:lnTo>
                <a:lnTo>
                  <a:pt x="3165" y="2328"/>
                </a:lnTo>
                <a:lnTo>
                  <a:pt x="3161" y="2321"/>
                </a:lnTo>
                <a:lnTo>
                  <a:pt x="3151" y="2306"/>
                </a:lnTo>
                <a:lnTo>
                  <a:pt x="3143" y="2289"/>
                </a:lnTo>
                <a:lnTo>
                  <a:pt x="3137" y="2271"/>
                </a:lnTo>
                <a:lnTo>
                  <a:pt x="3132" y="2254"/>
                </a:lnTo>
                <a:lnTo>
                  <a:pt x="3120" y="2223"/>
                </a:lnTo>
                <a:lnTo>
                  <a:pt x="3057" y="2067"/>
                </a:lnTo>
                <a:lnTo>
                  <a:pt x="3025" y="1988"/>
                </a:lnTo>
                <a:lnTo>
                  <a:pt x="2990" y="1911"/>
                </a:lnTo>
                <a:lnTo>
                  <a:pt x="2893" y="1692"/>
                </a:lnTo>
                <a:lnTo>
                  <a:pt x="2845" y="1583"/>
                </a:lnTo>
                <a:lnTo>
                  <a:pt x="2821" y="1527"/>
                </a:lnTo>
                <a:lnTo>
                  <a:pt x="2799" y="1473"/>
                </a:lnTo>
                <a:lnTo>
                  <a:pt x="2790" y="1454"/>
                </a:lnTo>
                <a:lnTo>
                  <a:pt x="2781" y="1434"/>
                </a:lnTo>
                <a:lnTo>
                  <a:pt x="2770" y="1412"/>
                </a:lnTo>
                <a:lnTo>
                  <a:pt x="2759" y="1388"/>
                </a:lnTo>
                <a:lnTo>
                  <a:pt x="2751" y="1365"/>
                </a:lnTo>
                <a:lnTo>
                  <a:pt x="2747" y="1354"/>
                </a:lnTo>
                <a:lnTo>
                  <a:pt x="2744" y="1342"/>
                </a:lnTo>
                <a:lnTo>
                  <a:pt x="2742" y="1331"/>
                </a:lnTo>
                <a:lnTo>
                  <a:pt x="2741" y="1321"/>
                </a:lnTo>
                <a:lnTo>
                  <a:pt x="2741" y="1310"/>
                </a:lnTo>
                <a:lnTo>
                  <a:pt x="2742" y="1300"/>
                </a:lnTo>
                <a:lnTo>
                  <a:pt x="2744" y="1294"/>
                </a:lnTo>
                <a:lnTo>
                  <a:pt x="2746" y="1288"/>
                </a:lnTo>
                <a:lnTo>
                  <a:pt x="2753" y="1277"/>
                </a:lnTo>
                <a:lnTo>
                  <a:pt x="2760" y="1266"/>
                </a:lnTo>
                <a:lnTo>
                  <a:pt x="2769" y="1256"/>
                </a:lnTo>
                <a:lnTo>
                  <a:pt x="2780" y="1248"/>
                </a:lnTo>
                <a:lnTo>
                  <a:pt x="2790" y="1239"/>
                </a:lnTo>
                <a:lnTo>
                  <a:pt x="2811" y="1224"/>
                </a:lnTo>
                <a:lnTo>
                  <a:pt x="2856" y="1193"/>
                </a:lnTo>
                <a:lnTo>
                  <a:pt x="2902" y="1163"/>
                </a:lnTo>
                <a:lnTo>
                  <a:pt x="2948" y="1136"/>
                </a:lnTo>
                <a:lnTo>
                  <a:pt x="2995" y="1108"/>
                </a:lnTo>
                <a:lnTo>
                  <a:pt x="3048" y="1077"/>
                </a:lnTo>
                <a:lnTo>
                  <a:pt x="3104" y="1049"/>
                </a:lnTo>
                <a:lnTo>
                  <a:pt x="3162" y="1021"/>
                </a:lnTo>
                <a:lnTo>
                  <a:pt x="3219" y="996"/>
                </a:lnTo>
                <a:lnTo>
                  <a:pt x="3279" y="973"/>
                </a:lnTo>
                <a:lnTo>
                  <a:pt x="3340" y="950"/>
                </a:lnTo>
                <a:lnTo>
                  <a:pt x="3401" y="931"/>
                </a:lnTo>
                <a:lnTo>
                  <a:pt x="3463" y="912"/>
                </a:lnTo>
                <a:lnTo>
                  <a:pt x="3527" y="895"/>
                </a:lnTo>
                <a:lnTo>
                  <a:pt x="3590" y="880"/>
                </a:lnTo>
                <a:lnTo>
                  <a:pt x="3653" y="866"/>
                </a:lnTo>
                <a:lnTo>
                  <a:pt x="3716" y="854"/>
                </a:lnTo>
                <a:lnTo>
                  <a:pt x="3778" y="843"/>
                </a:lnTo>
                <a:lnTo>
                  <a:pt x="3840" y="834"/>
                </a:lnTo>
                <a:lnTo>
                  <a:pt x="3902" y="826"/>
                </a:lnTo>
                <a:lnTo>
                  <a:pt x="3963" y="820"/>
                </a:lnTo>
                <a:close/>
                <a:moveTo>
                  <a:pt x="2515" y="1341"/>
                </a:moveTo>
                <a:lnTo>
                  <a:pt x="2515" y="1341"/>
                </a:lnTo>
                <a:lnTo>
                  <a:pt x="2522" y="1341"/>
                </a:lnTo>
                <a:lnTo>
                  <a:pt x="2527" y="1342"/>
                </a:lnTo>
                <a:lnTo>
                  <a:pt x="2531" y="1344"/>
                </a:lnTo>
                <a:lnTo>
                  <a:pt x="2537" y="1346"/>
                </a:lnTo>
                <a:lnTo>
                  <a:pt x="2544" y="1352"/>
                </a:lnTo>
                <a:lnTo>
                  <a:pt x="2552" y="1359"/>
                </a:lnTo>
                <a:lnTo>
                  <a:pt x="2557" y="1368"/>
                </a:lnTo>
                <a:lnTo>
                  <a:pt x="2562" y="1377"/>
                </a:lnTo>
                <a:lnTo>
                  <a:pt x="2571" y="1397"/>
                </a:lnTo>
                <a:lnTo>
                  <a:pt x="2609" y="1492"/>
                </a:lnTo>
                <a:lnTo>
                  <a:pt x="2647" y="1588"/>
                </a:lnTo>
                <a:lnTo>
                  <a:pt x="2680" y="1669"/>
                </a:lnTo>
                <a:lnTo>
                  <a:pt x="2716" y="1749"/>
                </a:lnTo>
                <a:lnTo>
                  <a:pt x="2789" y="1908"/>
                </a:lnTo>
                <a:lnTo>
                  <a:pt x="2826" y="1987"/>
                </a:lnTo>
                <a:lnTo>
                  <a:pt x="2861" y="2068"/>
                </a:lnTo>
                <a:lnTo>
                  <a:pt x="2894" y="2149"/>
                </a:lnTo>
                <a:lnTo>
                  <a:pt x="2910" y="2190"/>
                </a:lnTo>
                <a:lnTo>
                  <a:pt x="2925" y="2230"/>
                </a:lnTo>
                <a:lnTo>
                  <a:pt x="2936" y="2255"/>
                </a:lnTo>
                <a:lnTo>
                  <a:pt x="2950" y="2283"/>
                </a:lnTo>
                <a:lnTo>
                  <a:pt x="2965" y="2313"/>
                </a:lnTo>
                <a:lnTo>
                  <a:pt x="2979" y="2345"/>
                </a:lnTo>
                <a:lnTo>
                  <a:pt x="2985" y="2361"/>
                </a:lnTo>
                <a:lnTo>
                  <a:pt x="2990" y="2376"/>
                </a:lnTo>
                <a:lnTo>
                  <a:pt x="2996" y="2392"/>
                </a:lnTo>
                <a:lnTo>
                  <a:pt x="2999" y="2407"/>
                </a:lnTo>
                <a:lnTo>
                  <a:pt x="3001" y="2422"/>
                </a:lnTo>
                <a:lnTo>
                  <a:pt x="3001" y="2436"/>
                </a:lnTo>
                <a:lnTo>
                  <a:pt x="3000" y="2450"/>
                </a:lnTo>
                <a:lnTo>
                  <a:pt x="2996" y="2463"/>
                </a:lnTo>
                <a:lnTo>
                  <a:pt x="2986" y="2486"/>
                </a:lnTo>
                <a:lnTo>
                  <a:pt x="2974" y="2510"/>
                </a:lnTo>
                <a:lnTo>
                  <a:pt x="2963" y="2533"/>
                </a:lnTo>
                <a:lnTo>
                  <a:pt x="2949" y="2557"/>
                </a:lnTo>
                <a:lnTo>
                  <a:pt x="2935" y="2579"/>
                </a:lnTo>
                <a:lnTo>
                  <a:pt x="2921" y="2603"/>
                </a:lnTo>
                <a:lnTo>
                  <a:pt x="2890" y="2649"/>
                </a:lnTo>
                <a:lnTo>
                  <a:pt x="2858" y="2694"/>
                </a:lnTo>
                <a:lnTo>
                  <a:pt x="2826" y="2739"/>
                </a:lnTo>
                <a:lnTo>
                  <a:pt x="2793" y="2783"/>
                </a:lnTo>
                <a:lnTo>
                  <a:pt x="2764" y="2825"/>
                </a:lnTo>
                <a:lnTo>
                  <a:pt x="2720" y="2891"/>
                </a:lnTo>
                <a:lnTo>
                  <a:pt x="2676" y="2957"/>
                </a:lnTo>
                <a:lnTo>
                  <a:pt x="2633" y="3024"/>
                </a:lnTo>
                <a:lnTo>
                  <a:pt x="2590" y="3092"/>
                </a:lnTo>
                <a:lnTo>
                  <a:pt x="2548" y="3160"/>
                </a:lnTo>
                <a:lnTo>
                  <a:pt x="2508" y="3229"/>
                </a:lnTo>
                <a:lnTo>
                  <a:pt x="2468" y="3298"/>
                </a:lnTo>
                <a:lnTo>
                  <a:pt x="2430" y="3367"/>
                </a:lnTo>
                <a:lnTo>
                  <a:pt x="2391" y="3440"/>
                </a:lnTo>
                <a:lnTo>
                  <a:pt x="2353" y="3511"/>
                </a:lnTo>
                <a:lnTo>
                  <a:pt x="2314" y="3584"/>
                </a:lnTo>
                <a:lnTo>
                  <a:pt x="2273" y="3655"/>
                </a:lnTo>
                <a:lnTo>
                  <a:pt x="2267" y="3668"/>
                </a:lnTo>
                <a:lnTo>
                  <a:pt x="2259" y="3683"/>
                </a:lnTo>
                <a:lnTo>
                  <a:pt x="2247" y="3713"/>
                </a:lnTo>
                <a:lnTo>
                  <a:pt x="2238" y="3726"/>
                </a:lnTo>
                <a:lnTo>
                  <a:pt x="2229" y="3739"/>
                </a:lnTo>
                <a:lnTo>
                  <a:pt x="2220" y="3751"/>
                </a:lnTo>
                <a:lnTo>
                  <a:pt x="2215" y="3756"/>
                </a:lnTo>
                <a:lnTo>
                  <a:pt x="2208" y="3761"/>
                </a:lnTo>
                <a:lnTo>
                  <a:pt x="2191" y="3770"/>
                </a:lnTo>
                <a:lnTo>
                  <a:pt x="2173" y="3779"/>
                </a:lnTo>
                <a:lnTo>
                  <a:pt x="2152" y="3785"/>
                </a:lnTo>
                <a:lnTo>
                  <a:pt x="2132" y="3791"/>
                </a:lnTo>
                <a:lnTo>
                  <a:pt x="2111" y="3795"/>
                </a:lnTo>
                <a:lnTo>
                  <a:pt x="2088" y="3797"/>
                </a:lnTo>
                <a:lnTo>
                  <a:pt x="2066" y="3799"/>
                </a:lnTo>
                <a:lnTo>
                  <a:pt x="2043" y="3801"/>
                </a:lnTo>
                <a:lnTo>
                  <a:pt x="1997" y="3802"/>
                </a:lnTo>
                <a:lnTo>
                  <a:pt x="1951" y="3802"/>
                </a:lnTo>
                <a:lnTo>
                  <a:pt x="1908" y="3801"/>
                </a:lnTo>
                <a:lnTo>
                  <a:pt x="1870" y="3802"/>
                </a:lnTo>
                <a:lnTo>
                  <a:pt x="1800" y="3807"/>
                </a:lnTo>
                <a:lnTo>
                  <a:pt x="1732" y="3813"/>
                </a:lnTo>
                <a:lnTo>
                  <a:pt x="1662" y="3820"/>
                </a:lnTo>
                <a:lnTo>
                  <a:pt x="1594" y="3828"/>
                </a:lnTo>
                <a:lnTo>
                  <a:pt x="1457" y="3845"/>
                </a:lnTo>
                <a:lnTo>
                  <a:pt x="1319" y="3863"/>
                </a:lnTo>
                <a:lnTo>
                  <a:pt x="1291" y="3868"/>
                </a:lnTo>
                <a:lnTo>
                  <a:pt x="1262" y="3873"/>
                </a:lnTo>
                <a:lnTo>
                  <a:pt x="1203" y="3886"/>
                </a:lnTo>
                <a:lnTo>
                  <a:pt x="1174" y="3892"/>
                </a:lnTo>
                <a:lnTo>
                  <a:pt x="1144" y="3897"/>
                </a:lnTo>
                <a:lnTo>
                  <a:pt x="1115" y="3899"/>
                </a:lnTo>
                <a:lnTo>
                  <a:pt x="1102" y="3899"/>
                </a:lnTo>
                <a:lnTo>
                  <a:pt x="1088" y="3899"/>
                </a:lnTo>
                <a:lnTo>
                  <a:pt x="1081" y="3898"/>
                </a:lnTo>
                <a:lnTo>
                  <a:pt x="1076" y="3897"/>
                </a:lnTo>
                <a:lnTo>
                  <a:pt x="1065" y="3892"/>
                </a:lnTo>
                <a:lnTo>
                  <a:pt x="1054" y="3886"/>
                </a:lnTo>
                <a:lnTo>
                  <a:pt x="1046" y="3877"/>
                </a:lnTo>
                <a:lnTo>
                  <a:pt x="1038" y="3868"/>
                </a:lnTo>
                <a:lnTo>
                  <a:pt x="1031" y="3858"/>
                </a:lnTo>
                <a:lnTo>
                  <a:pt x="1017" y="3838"/>
                </a:lnTo>
                <a:lnTo>
                  <a:pt x="1002" y="3814"/>
                </a:lnTo>
                <a:lnTo>
                  <a:pt x="988" y="3790"/>
                </a:lnTo>
                <a:lnTo>
                  <a:pt x="961" y="3740"/>
                </a:lnTo>
                <a:lnTo>
                  <a:pt x="936" y="3690"/>
                </a:lnTo>
                <a:lnTo>
                  <a:pt x="911" y="3640"/>
                </a:lnTo>
                <a:lnTo>
                  <a:pt x="885" y="3584"/>
                </a:lnTo>
                <a:lnTo>
                  <a:pt x="861" y="3530"/>
                </a:lnTo>
                <a:lnTo>
                  <a:pt x="837" y="3475"/>
                </a:lnTo>
                <a:lnTo>
                  <a:pt x="816" y="3419"/>
                </a:lnTo>
                <a:lnTo>
                  <a:pt x="772" y="3308"/>
                </a:lnTo>
                <a:lnTo>
                  <a:pt x="728" y="3196"/>
                </a:lnTo>
                <a:lnTo>
                  <a:pt x="700" y="3125"/>
                </a:lnTo>
                <a:lnTo>
                  <a:pt x="686" y="3087"/>
                </a:lnTo>
                <a:lnTo>
                  <a:pt x="672" y="3047"/>
                </a:lnTo>
                <a:lnTo>
                  <a:pt x="661" y="3007"/>
                </a:lnTo>
                <a:lnTo>
                  <a:pt x="656" y="2987"/>
                </a:lnTo>
                <a:lnTo>
                  <a:pt x="652" y="2968"/>
                </a:lnTo>
                <a:lnTo>
                  <a:pt x="649" y="2948"/>
                </a:lnTo>
                <a:lnTo>
                  <a:pt x="647" y="2929"/>
                </a:lnTo>
                <a:lnTo>
                  <a:pt x="646" y="2911"/>
                </a:lnTo>
                <a:lnTo>
                  <a:pt x="646" y="2893"/>
                </a:lnTo>
                <a:lnTo>
                  <a:pt x="648" y="2872"/>
                </a:lnTo>
                <a:lnTo>
                  <a:pt x="651" y="2853"/>
                </a:lnTo>
                <a:lnTo>
                  <a:pt x="657" y="2833"/>
                </a:lnTo>
                <a:lnTo>
                  <a:pt x="664" y="2813"/>
                </a:lnTo>
                <a:lnTo>
                  <a:pt x="680" y="2774"/>
                </a:lnTo>
                <a:lnTo>
                  <a:pt x="696" y="2737"/>
                </a:lnTo>
                <a:lnTo>
                  <a:pt x="729" y="2657"/>
                </a:lnTo>
                <a:lnTo>
                  <a:pt x="762" y="2578"/>
                </a:lnTo>
                <a:lnTo>
                  <a:pt x="798" y="2499"/>
                </a:lnTo>
                <a:lnTo>
                  <a:pt x="833" y="2421"/>
                </a:lnTo>
                <a:lnTo>
                  <a:pt x="869" y="2343"/>
                </a:lnTo>
                <a:lnTo>
                  <a:pt x="907" y="2266"/>
                </a:lnTo>
                <a:lnTo>
                  <a:pt x="944" y="2188"/>
                </a:lnTo>
                <a:lnTo>
                  <a:pt x="983" y="2110"/>
                </a:lnTo>
                <a:lnTo>
                  <a:pt x="1003" y="2070"/>
                </a:lnTo>
                <a:lnTo>
                  <a:pt x="1022" y="2028"/>
                </a:lnTo>
                <a:lnTo>
                  <a:pt x="1043" y="1986"/>
                </a:lnTo>
                <a:lnTo>
                  <a:pt x="1063" y="1945"/>
                </a:lnTo>
                <a:lnTo>
                  <a:pt x="1085" y="1904"/>
                </a:lnTo>
                <a:lnTo>
                  <a:pt x="1097" y="1884"/>
                </a:lnTo>
                <a:lnTo>
                  <a:pt x="1109" y="1864"/>
                </a:lnTo>
                <a:lnTo>
                  <a:pt x="1122" y="1845"/>
                </a:lnTo>
                <a:lnTo>
                  <a:pt x="1136" y="1827"/>
                </a:lnTo>
                <a:lnTo>
                  <a:pt x="1150" y="1810"/>
                </a:lnTo>
                <a:lnTo>
                  <a:pt x="1166" y="1793"/>
                </a:lnTo>
                <a:lnTo>
                  <a:pt x="1181" y="1778"/>
                </a:lnTo>
                <a:lnTo>
                  <a:pt x="1197" y="1764"/>
                </a:lnTo>
                <a:lnTo>
                  <a:pt x="1214" y="1751"/>
                </a:lnTo>
                <a:lnTo>
                  <a:pt x="1231" y="1739"/>
                </a:lnTo>
                <a:lnTo>
                  <a:pt x="1250" y="1727"/>
                </a:lnTo>
                <a:lnTo>
                  <a:pt x="1270" y="1717"/>
                </a:lnTo>
                <a:lnTo>
                  <a:pt x="1310" y="1696"/>
                </a:lnTo>
                <a:lnTo>
                  <a:pt x="1351" y="1677"/>
                </a:lnTo>
                <a:lnTo>
                  <a:pt x="1392" y="1660"/>
                </a:lnTo>
                <a:lnTo>
                  <a:pt x="1432" y="1643"/>
                </a:lnTo>
                <a:lnTo>
                  <a:pt x="1471" y="1626"/>
                </a:lnTo>
                <a:lnTo>
                  <a:pt x="1509" y="1606"/>
                </a:lnTo>
                <a:lnTo>
                  <a:pt x="1548" y="1589"/>
                </a:lnTo>
                <a:lnTo>
                  <a:pt x="1587" y="1572"/>
                </a:lnTo>
                <a:lnTo>
                  <a:pt x="1627" y="1556"/>
                </a:lnTo>
                <a:lnTo>
                  <a:pt x="1668" y="1541"/>
                </a:lnTo>
                <a:lnTo>
                  <a:pt x="1707" y="1526"/>
                </a:lnTo>
                <a:lnTo>
                  <a:pt x="1789" y="1498"/>
                </a:lnTo>
                <a:lnTo>
                  <a:pt x="1870" y="1473"/>
                </a:lnTo>
                <a:lnTo>
                  <a:pt x="1952" y="1449"/>
                </a:lnTo>
                <a:lnTo>
                  <a:pt x="2035" y="1426"/>
                </a:lnTo>
                <a:lnTo>
                  <a:pt x="2117" y="1404"/>
                </a:lnTo>
                <a:lnTo>
                  <a:pt x="2213" y="1381"/>
                </a:lnTo>
                <a:lnTo>
                  <a:pt x="2264" y="1369"/>
                </a:lnTo>
                <a:lnTo>
                  <a:pt x="2314" y="1358"/>
                </a:lnTo>
                <a:lnTo>
                  <a:pt x="2365" y="1350"/>
                </a:lnTo>
                <a:lnTo>
                  <a:pt x="2391" y="1346"/>
                </a:lnTo>
                <a:lnTo>
                  <a:pt x="2417" y="1343"/>
                </a:lnTo>
                <a:lnTo>
                  <a:pt x="2441" y="1341"/>
                </a:lnTo>
                <a:lnTo>
                  <a:pt x="2466" y="1340"/>
                </a:lnTo>
                <a:lnTo>
                  <a:pt x="2491" y="1340"/>
                </a:lnTo>
                <a:lnTo>
                  <a:pt x="2515" y="1341"/>
                </a:lnTo>
                <a:close/>
                <a:moveTo>
                  <a:pt x="6737" y="1371"/>
                </a:moveTo>
                <a:lnTo>
                  <a:pt x="6737" y="1371"/>
                </a:lnTo>
                <a:lnTo>
                  <a:pt x="6741" y="1370"/>
                </a:lnTo>
                <a:lnTo>
                  <a:pt x="6746" y="1371"/>
                </a:lnTo>
                <a:lnTo>
                  <a:pt x="6751" y="1372"/>
                </a:lnTo>
                <a:lnTo>
                  <a:pt x="6755" y="1373"/>
                </a:lnTo>
                <a:lnTo>
                  <a:pt x="6764" y="1380"/>
                </a:lnTo>
                <a:lnTo>
                  <a:pt x="6771" y="1387"/>
                </a:lnTo>
                <a:lnTo>
                  <a:pt x="6779" y="1397"/>
                </a:lnTo>
                <a:lnTo>
                  <a:pt x="6785" y="1405"/>
                </a:lnTo>
                <a:lnTo>
                  <a:pt x="6797" y="1421"/>
                </a:lnTo>
                <a:lnTo>
                  <a:pt x="6833" y="1468"/>
                </a:lnTo>
                <a:lnTo>
                  <a:pt x="6871" y="1515"/>
                </a:lnTo>
                <a:lnTo>
                  <a:pt x="6908" y="1564"/>
                </a:lnTo>
                <a:lnTo>
                  <a:pt x="6926" y="1587"/>
                </a:lnTo>
                <a:lnTo>
                  <a:pt x="6945" y="1612"/>
                </a:lnTo>
                <a:lnTo>
                  <a:pt x="6981" y="1663"/>
                </a:lnTo>
                <a:lnTo>
                  <a:pt x="7016" y="1715"/>
                </a:lnTo>
                <a:lnTo>
                  <a:pt x="7051" y="1767"/>
                </a:lnTo>
                <a:lnTo>
                  <a:pt x="7084" y="1819"/>
                </a:lnTo>
                <a:lnTo>
                  <a:pt x="7117" y="1872"/>
                </a:lnTo>
                <a:lnTo>
                  <a:pt x="7149" y="1924"/>
                </a:lnTo>
                <a:lnTo>
                  <a:pt x="7181" y="1978"/>
                </a:lnTo>
                <a:lnTo>
                  <a:pt x="7212" y="2031"/>
                </a:lnTo>
                <a:lnTo>
                  <a:pt x="7242" y="2085"/>
                </a:lnTo>
                <a:lnTo>
                  <a:pt x="7271" y="2139"/>
                </a:lnTo>
                <a:lnTo>
                  <a:pt x="7299" y="2194"/>
                </a:lnTo>
                <a:lnTo>
                  <a:pt x="7327" y="2250"/>
                </a:lnTo>
                <a:lnTo>
                  <a:pt x="7355" y="2305"/>
                </a:lnTo>
                <a:lnTo>
                  <a:pt x="7380" y="2362"/>
                </a:lnTo>
                <a:lnTo>
                  <a:pt x="7406" y="2420"/>
                </a:lnTo>
                <a:lnTo>
                  <a:pt x="7431" y="2478"/>
                </a:lnTo>
                <a:lnTo>
                  <a:pt x="7443" y="2511"/>
                </a:lnTo>
                <a:lnTo>
                  <a:pt x="7456" y="2544"/>
                </a:lnTo>
                <a:lnTo>
                  <a:pt x="7479" y="2610"/>
                </a:lnTo>
                <a:lnTo>
                  <a:pt x="7499" y="2678"/>
                </a:lnTo>
                <a:lnTo>
                  <a:pt x="7520" y="2745"/>
                </a:lnTo>
                <a:lnTo>
                  <a:pt x="7528" y="2764"/>
                </a:lnTo>
                <a:lnTo>
                  <a:pt x="7532" y="2777"/>
                </a:lnTo>
                <a:lnTo>
                  <a:pt x="7536" y="2791"/>
                </a:lnTo>
                <a:lnTo>
                  <a:pt x="7539" y="2805"/>
                </a:lnTo>
                <a:lnTo>
                  <a:pt x="7539" y="2810"/>
                </a:lnTo>
                <a:lnTo>
                  <a:pt x="7539" y="2817"/>
                </a:lnTo>
                <a:lnTo>
                  <a:pt x="7538" y="2822"/>
                </a:lnTo>
                <a:lnTo>
                  <a:pt x="7535" y="2826"/>
                </a:lnTo>
                <a:lnTo>
                  <a:pt x="7532" y="2830"/>
                </a:lnTo>
                <a:lnTo>
                  <a:pt x="7528" y="2832"/>
                </a:lnTo>
                <a:lnTo>
                  <a:pt x="7523" y="2833"/>
                </a:lnTo>
                <a:lnTo>
                  <a:pt x="7517" y="2833"/>
                </a:lnTo>
                <a:lnTo>
                  <a:pt x="7512" y="2831"/>
                </a:lnTo>
                <a:lnTo>
                  <a:pt x="7508" y="2828"/>
                </a:lnTo>
                <a:lnTo>
                  <a:pt x="7503" y="2823"/>
                </a:lnTo>
                <a:lnTo>
                  <a:pt x="7499" y="2819"/>
                </a:lnTo>
                <a:lnTo>
                  <a:pt x="7492" y="2807"/>
                </a:lnTo>
                <a:lnTo>
                  <a:pt x="7486" y="2794"/>
                </a:lnTo>
                <a:lnTo>
                  <a:pt x="7481" y="2782"/>
                </a:lnTo>
                <a:lnTo>
                  <a:pt x="7472" y="2761"/>
                </a:lnTo>
                <a:lnTo>
                  <a:pt x="7447" y="2697"/>
                </a:lnTo>
                <a:lnTo>
                  <a:pt x="7421" y="2632"/>
                </a:lnTo>
                <a:lnTo>
                  <a:pt x="7396" y="2566"/>
                </a:lnTo>
                <a:lnTo>
                  <a:pt x="7370" y="2502"/>
                </a:lnTo>
                <a:lnTo>
                  <a:pt x="7345" y="2443"/>
                </a:lnTo>
                <a:lnTo>
                  <a:pt x="7319" y="2386"/>
                </a:lnTo>
                <a:lnTo>
                  <a:pt x="7292" y="2328"/>
                </a:lnTo>
                <a:lnTo>
                  <a:pt x="7265" y="2271"/>
                </a:lnTo>
                <a:lnTo>
                  <a:pt x="7236" y="2214"/>
                </a:lnTo>
                <a:lnTo>
                  <a:pt x="7207" y="2159"/>
                </a:lnTo>
                <a:lnTo>
                  <a:pt x="7177" y="2103"/>
                </a:lnTo>
                <a:lnTo>
                  <a:pt x="7145" y="2047"/>
                </a:lnTo>
                <a:lnTo>
                  <a:pt x="7113" y="1993"/>
                </a:lnTo>
                <a:lnTo>
                  <a:pt x="7080" y="1938"/>
                </a:lnTo>
                <a:lnTo>
                  <a:pt x="7045" y="1886"/>
                </a:lnTo>
                <a:lnTo>
                  <a:pt x="7011" y="1832"/>
                </a:lnTo>
                <a:lnTo>
                  <a:pt x="6975" y="1781"/>
                </a:lnTo>
                <a:lnTo>
                  <a:pt x="6937" y="1728"/>
                </a:lnTo>
                <a:lnTo>
                  <a:pt x="6900" y="1678"/>
                </a:lnTo>
                <a:lnTo>
                  <a:pt x="6860" y="1628"/>
                </a:lnTo>
                <a:lnTo>
                  <a:pt x="6825" y="1586"/>
                </a:lnTo>
                <a:lnTo>
                  <a:pt x="6786" y="1541"/>
                </a:lnTo>
                <a:lnTo>
                  <a:pt x="6768" y="1519"/>
                </a:lnTo>
                <a:lnTo>
                  <a:pt x="6752" y="1495"/>
                </a:lnTo>
                <a:lnTo>
                  <a:pt x="6737" y="1472"/>
                </a:lnTo>
                <a:lnTo>
                  <a:pt x="6731" y="1460"/>
                </a:lnTo>
                <a:lnTo>
                  <a:pt x="6724" y="1448"/>
                </a:lnTo>
                <a:lnTo>
                  <a:pt x="6721" y="1439"/>
                </a:lnTo>
                <a:lnTo>
                  <a:pt x="6719" y="1430"/>
                </a:lnTo>
                <a:lnTo>
                  <a:pt x="6718" y="1418"/>
                </a:lnTo>
                <a:lnTo>
                  <a:pt x="6718" y="1406"/>
                </a:lnTo>
                <a:lnTo>
                  <a:pt x="6719" y="1395"/>
                </a:lnTo>
                <a:lnTo>
                  <a:pt x="6721" y="1389"/>
                </a:lnTo>
                <a:lnTo>
                  <a:pt x="6723" y="1384"/>
                </a:lnTo>
                <a:lnTo>
                  <a:pt x="6725" y="1380"/>
                </a:lnTo>
                <a:lnTo>
                  <a:pt x="6729" y="1376"/>
                </a:lnTo>
                <a:lnTo>
                  <a:pt x="6733" y="1373"/>
                </a:lnTo>
                <a:lnTo>
                  <a:pt x="6737" y="1371"/>
                </a:lnTo>
                <a:close/>
                <a:moveTo>
                  <a:pt x="5480" y="1411"/>
                </a:moveTo>
                <a:lnTo>
                  <a:pt x="5480" y="1411"/>
                </a:lnTo>
                <a:lnTo>
                  <a:pt x="5527" y="1406"/>
                </a:lnTo>
                <a:lnTo>
                  <a:pt x="5575" y="1404"/>
                </a:lnTo>
                <a:lnTo>
                  <a:pt x="5623" y="1404"/>
                </a:lnTo>
                <a:lnTo>
                  <a:pt x="5672" y="1404"/>
                </a:lnTo>
                <a:lnTo>
                  <a:pt x="5720" y="1406"/>
                </a:lnTo>
                <a:lnTo>
                  <a:pt x="5770" y="1408"/>
                </a:lnTo>
                <a:lnTo>
                  <a:pt x="5819" y="1413"/>
                </a:lnTo>
                <a:lnTo>
                  <a:pt x="5868" y="1417"/>
                </a:lnTo>
                <a:lnTo>
                  <a:pt x="5916" y="1422"/>
                </a:lnTo>
                <a:lnTo>
                  <a:pt x="5965" y="1429"/>
                </a:lnTo>
                <a:lnTo>
                  <a:pt x="6063" y="1443"/>
                </a:lnTo>
                <a:lnTo>
                  <a:pt x="6158" y="1459"/>
                </a:lnTo>
                <a:lnTo>
                  <a:pt x="6252" y="1477"/>
                </a:lnTo>
                <a:lnTo>
                  <a:pt x="6334" y="1491"/>
                </a:lnTo>
                <a:lnTo>
                  <a:pt x="6375" y="1499"/>
                </a:lnTo>
                <a:lnTo>
                  <a:pt x="6417" y="1508"/>
                </a:lnTo>
                <a:lnTo>
                  <a:pt x="6459" y="1520"/>
                </a:lnTo>
                <a:lnTo>
                  <a:pt x="6479" y="1526"/>
                </a:lnTo>
                <a:lnTo>
                  <a:pt x="6499" y="1533"/>
                </a:lnTo>
                <a:lnTo>
                  <a:pt x="6519" y="1541"/>
                </a:lnTo>
                <a:lnTo>
                  <a:pt x="6537" y="1550"/>
                </a:lnTo>
                <a:lnTo>
                  <a:pt x="6555" y="1559"/>
                </a:lnTo>
                <a:lnTo>
                  <a:pt x="6572" y="1570"/>
                </a:lnTo>
                <a:lnTo>
                  <a:pt x="6587" y="1581"/>
                </a:lnTo>
                <a:lnTo>
                  <a:pt x="6602" y="1593"/>
                </a:lnTo>
                <a:lnTo>
                  <a:pt x="6616" y="1606"/>
                </a:lnTo>
                <a:lnTo>
                  <a:pt x="6630" y="1620"/>
                </a:lnTo>
                <a:lnTo>
                  <a:pt x="6643" y="1636"/>
                </a:lnTo>
                <a:lnTo>
                  <a:pt x="6657" y="1652"/>
                </a:lnTo>
                <a:lnTo>
                  <a:pt x="6681" y="1686"/>
                </a:lnTo>
                <a:lnTo>
                  <a:pt x="6706" y="1721"/>
                </a:lnTo>
                <a:lnTo>
                  <a:pt x="6730" y="1755"/>
                </a:lnTo>
                <a:lnTo>
                  <a:pt x="6752" y="1788"/>
                </a:lnTo>
                <a:lnTo>
                  <a:pt x="6775" y="1819"/>
                </a:lnTo>
                <a:lnTo>
                  <a:pt x="6811" y="1869"/>
                </a:lnTo>
                <a:lnTo>
                  <a:pt x="6847" y="1919"/>
                </a:lnTo>
                <a:lnTo>
                  <a:pt x="6882" y="1970"/>
                </a:lnTo>
                <a:lnTo>
                  <a:pt x="6916" y="2023"/>
                </a:lnTo>
                <a:lnTo>
                  <a:pt x="6949" y="2075"/>
                </a:lnTo>
                <a:lnTo>
                  <a:pt x="6980" y="2129"/>
                </a:lnTo>
                <a:lnTo>
                  <a:pt x="7011" y="2182"/>
                </a:lnTo>
                <a:lnTo>
                  <a:pt x="7041" y="2237"/>
                </a:lnTo>
                <a:lnTo>
                  <a:pt x="7070" y="2291"/>
                </a:lnTo>
                <a:lnTo>
                  <a:pt x="7098" y="2347"/>
                </a:lnTo>
                <a:lnTo>
                  <a:pt x="7124" y="2404"/>
                </a:lnTo>
                <a:lnTo>
                  <a:pt x="7150" y="2459"/>
                </a:lnTo>
                <a:lnTo>
                  <a:pt x="7175" y="2516"/>
                </a:lnTo>
                <a:lnTo>
                  <a:pt x="7198" y="2574"/>
                </a:lnTo>
                <a:lnTo>
                  <a:pt x="7221" y="2632"/>
                </a:lnTo>
                <a:lnTo>
                  <a:pt x="7243" y="2689"/>
                </a:lnTo>
                <a:lnTo>
                  <a:pt x="7254" y="2717"/>
                </a:lnTo>
                <a:lnTo>
                  <a:pt x="7267" y="2746"/>
                </a:lnTo>
                <a:lnTo>
                  <a:pt x="7294" y="2805"/>
                </a:lnTo>
                <a:lnTo>
                  <a:pt x="7305" y="2834"/>
                </a:lnTo>
                <a:lnTo>
                  <a:pt x="7316" y="2864"/>
                </a:lnTo>
                <a:lnTo>
                  <a:pt x="7320" y="2879"/>
                </a:lnTo>
                <a:lnTo>
                  <a:pt x="7324" y="2895"/>
                </a:lnTo>
                <a:lnTo>
                  <a:pt x="7327" y="2910"/>
                </a:lnTo>
                <a:lnTo>
                  <a:pt x="7329" y="2925"/>
                </a:lnTo>
                <a:lnTo>
                  <a:pt x="7330" y="2940"/>
                </a:lnTo>
                <a:lnTo>
                  <a:pt x="7330" y="2955"/>
                </a:lnTo>
                <a:lnTo>
                  <a:pt x="7329" y="2986"/>
                </a:lnTo>
                <a:lnTo>
                  <a:pt x="7326" y="3016"/>
                </a:lnTo>
                <a:lnTo>
                  <a:pt x="7321" y="3047"/>
                </a:lnTo>
                <a:lnTo>
                  <a:pt x="7315" y="3078"/>
                </a:lnTo>
                <a:lnTo>
                  <a:pt x="7309" y="3109"/>
                </a:lnTo>
                <a:lnTo>
                  <a:pt x="7294" y="3168"/>
                </a:lnTo>
                <a:lnTo>
                  <a:pt x="7285" y="3203"/>
                </a:lnTo>
                <a:lnTo>
                  <a:pt x="7275" y="3237"/>
                </a:lnTo>
                <a:lnTo>
                  <a:pt x="7265" y="3272"/>
                </a:lnTo>
                <a:lnTo>
                  <a:pt x="7254" y="3306"/>
                </a:lnTo>
                <a:lnTo>
                  <a:pt x="7243" y="3339"/>
                </a:lnTo>
                <a:lnTo>
                  <a:pt x="7231" y="3371"/>
                </a:lnTo>
                <a:lnTo>
                  <a:pt x="7206" y="3435"/>
                </a:lnTo>
                <a:lnTo>
                  <a:pt x="7178" y="3500"/>
                </a:lnTo>
                <a:lnTo>
                  <a:pt x="7149" y="3563"/>
                </a:lnTo>
                <a:lnTo>
                  <a:pt x="7118" y="3626"/>
                </a:lnTo>
                <a:lnTo>
                  <a:pt x="7084" y="3691"/>
                </a:lnTo>
                <a:lnTo>
                  <a:pt x="7069" y="3719"/>
                </a:lnTo>
                <a:lnTo>
                  <a:pt x="7053" y="3747"/>
                </a:lnTo>
                <a:lnTo>
                  <a:pt x="7019" y="3802"/>
                </a:lnTo>
                <a:lnTo>
                  <a:pt x="6983" y="3856"/>
                </a:lnTo>
                <a:lnTo>
                  <a:pt x="6947" y="3911"/>
                </a:lnTo>
                <a:lnTo>
                  <a:pt x="6934" y="3932"/>
                </a:lnTo>
                <a:lnTo>
                  <a:pt x="6925" y="3944"/>
                </a:lnTo>
                <a:lnTo>
                  <a:pt x="6918" y="3954"/>
                </a:lnTo>
                <a:lnTo>
                  <a:pt x="6908" y="3964"/>
                </a:lnTo>
                <a:lnTo>
                  <a:pt x="6899" y="3973"/>
                </a:lnTo>
                <a:lnTo>
                  <a:pt x="6893" y="3976"/>
                </a:lnTo>
                <a:lnTo>
                  <a:pt x="6888" y="3978"/>
                </a:lnTo>
                <a:lnTo>
                  <a:pt x="6882" y="3980"/>
                </a:lnTo>
                <a:lnTo>
                  <a:pt x="6875" y="3982"/>
                </a:lnTo>
                <a:lnTo>
                  <a:pt x="6861" y="3983"/>
                </a:lnTo>
                <a:lnTo>
                  <a:pt x="6846" y="3983"/>
                </a:lnTo>
                <a:lnTo>
                  <a:pt x="6831" y="3983"/>
                </a:lnTo>
                <a:lnTo>
                  <a:pt x="6816" y="3982"/>
                </a:lnTo>
                <a:lnTo>
                  <a:pt x="6784" y="3977"/>
                </a:lnTo>
                <a:lnTo>
                  <a:pt x="6752" y="3970"/>
                </a:lnTo>
                <a:lnTo>
                  <a:pt x="6688" y="3956"/>
                </a:lnTo>
                <a:lnTo>
                  <a:pt x="6657" y="3950"/>
                </a:lnTo>
                <a:lnTo>
                  <a:pt x="6628" y="3946"/>
                </a:lnTo>
                <a:lnTo>
                  <a:pt x="6316" y="3909"/>
                </a:lnTo>
                <a:lnTo>
                  <a:pt x="6161" y="3891"/>
                </a:lnTo>
                <a:lnTo>
                  <a:pt x="6006" y="3871"/>
                </a:lnTo>
                <a:lnTo>
                  <a:pt x="5961" y="3866"/>
                </a:lnTo>
                <a:lnTo>
                  <a:pt x="5916" y="3860"/>
                </a:lnTo>
                <a:lnTo>
                  <a:pt x="5870" y="3857"/>
                </a:lnTo>
                <a:lnTo>
                  <a:pt x="5826" y="3855"/>
                </a:lnTo>
                <a:lnTo>
                  <a:pt x="5797" y="3854"/>
                </a:lnTo>
                <a:lnTo>
                  <a:pt x="5782" y="3854"/>
                </a:lnTo>
                <a:lnTo>
                  <a:pt x="5766" y="3853"/>
                </a:lnTo>
                <a:lnTo>
                  <a:pt x="5751" y="3851"/>
                </a:lnTo>
                <a:lnTo>
                  <a:pt x="5736" y="3847"/>
                </a:lnTo>
                <a:lnTo>
                  <a:pt x="5724" y="3843"/>
                </a:lnTo>
                <a:lnTo>
                  <a:pt x="5717" y="3840"/>
                </a:lnTo>
                <a:lnTo>
                  <a:pt x="5712" y="3837"/>
                </a:lnTo>
                <a:lnTo>
                  <a:pt x="5705" y="3832"/>
                </a:lnTo>
                <a:lnTo>
                  <a:pt x="5699" y="3827"/>
                </a:lnTo>
                <a:lnTo>
                  <a:pt x="5687" y="3815"/>
                </a:lnTo>
                <a:lnTo>
                  <a:pt x="5678" y="3800"/>
                </a:lnTo>
                <a:lnTo>
                  <a:pt x="5668" y="3785"/>
                </a:lnTo>
                <a:lnTo>
                  <a:pt x="5659" y="3769"/>
                </a:lnTo>
                <a:lnTo>
                  <a:pt x="5652" y="3752"/>
                </a:lnTo>
                <a:lnTo>
                  <a:pt x="5638" y="3722"/>
                </a:lnTo>
                <a:lnTo>
                  <a:pt x="5608" y="3664"/>
                </a:lnTo>
                <a:lnTo>
                  <a:pt x="5576" y="3608"/>
                </a:lnTo>
                <a:lnTo>
                  <a:pt x="5544" y="3551"/>
                </a:lnTo>
                <a:lnTo>
                  <a:pt x="5510" y="3495"/>
                </a:lnTo>
                <a:lnTo>
                  <a:pt x="5313" y="3169"/>
                </a:lnTo>
                <a:lnTo>
                  <a:pt x="5214" y="3006"/>
                </a:lnTo>
                <a:lnTo>
                  <a:pt x="5115" y="2845"/>
                </a:lnTo>
                <a:lnTo>
                  <a:pt x="5090" y="2807"/>
                </a:lnTo>
                <a:lnTo>
                  <a:pt x="5062" y="2770"/>
                </a:lnTo>
                <a:lnTo>
                  <a:pt x="5006" y="2691"/>
                </a:lnTo>
                <a:lnTo>
                  <a:pt x="4978" y="2651"/>
                </a:lnTo>
                <a:lnTo>
                  <a:pt x="4965" y="2631"/>
                </a:lnTo>
                <a:lnTo>
                  <a:pt x="4953" y="2610"/>
                </a:lnTo>
                <a:lnTo>
                  <a:pt x="4941" y="2590"/>
                </a:lnTo>
                <a:lnTo>
                  <a:pt x="4932" y="2571"/>
                </a:lnTo>
                <a:lnTo>
                  <a:pt x="4922" y="2549"/>
                </a:lnTo>
                <a:lnTo>
                  <a:pt x="4915" y="2529"/>
                </a:lnTo>
                <a:lnTo>
                  <a:pt x="4913" y="2524"/>
                </a:lnTo>
                <a:lnTo>
                  <a:pt x="4912" y="2518"/>
                </a:lnTo>
                <a:lnTo>
                  <a:pt x="4912" y="2506"/>
                </a:lnTo>
                <a:lnTo>
                  <a:pt x="4913" y="2496"/>
                </a:lnTo>
                <a:lnTo>
                  <a:pt x="4917" y="2484"/>
                </a:lnTo>
                <a:lnTo>
                  <a:pt x="4921" y="2473"/>
                </a:lnTo>
                <a:lnTo>
                  <a:pt x="4926" y="2463"/>
                </a:lnTo>
                <a:lnTo>
                  <a:pt x="4936" y="2441"/>
                </a:lnTo>
                <a:lnTo>
                  <a:pt x="4960" y="2394"/>
                </a:lnTo>
                <a:lnTo>
                  <a:pt x="4984" y="2347"/>
                </a:lnTo>
                <a:lnTo>
                  <a:pt x="5007" y="2300"/>
                </a:lnTo>
                <a:lnTo>
                  <a:pt x="5017" y="2275"/>
                </a:lnTo>
                <a:lnTo>
                  <a:pt x="5028" y="2251"/>
                </a:lnTo>
                <a:lnTo>
                  <a:pt x="5054" y="2186"/>
                </a:lnTo>
                <a:lnTo>
                  <a:pt x="5080" y="2121"/>
                </a:lnTo>
                <a:lnTo>
                  <a:pt x="5134" y="1993"/>
                </a:lnTo>
                <a:lnTo>
                  <a:pt x="5161" y="1929"/>
                </a:lnTo>
                <a:lnTo>
                  <a:pt x="5185" y="1864"/>
                </a:lnTo>
                <a:lnTo>
                  <a:pt x="5209" y="1798"/>
                </a:lnTo>
                <a:lnTo>
                  <a:pt x="5220" y="1766"/>
                </a:lnTo>
                <a:lnTo>
                  <a:pt x="5230" y="1732"/>
                </a:lnTo>
                <a:lnTo>
                  <a:pt x="5245" y="1681"/>
                </a:lnTo>
                <a:lnTo>
                  <a:pt x="5263" y="1632"/>
                </a:lnTo>
                <a:lnTo>
                  <a:pt x="5281" y="1582"/>
                </a:lnTo>
                <a:lnTo>
                  <a:pt x="5298" y="1533"/>
                </a:lnTo>
                <a:lnTo>
                  <a:pt x="5304" y="1509"/>
                </a:lnTo>
                <a:lnTo>
                  <a:pt x="5312" y="1483"/>
                </a:lnTo>
                <a:lnTo>
                  <a:pt x="5316" y="1471"/>
                </a:lnTo>
                <a:lnTo>
                  <a:pt x="5320" y="1459"/>
                </a:lnTo>
                <a:lnTo>
                  <a:pt x="5327" y="1448"/>
                </a:lnTo>
                <a:lnTo>
                  <a:pt x="5334" y="1439"/>
                </a:lnTo>
                <a:lnTo>
                  <a:pt x="5340" y="1434"/>
                </a:lnTo>
                <a:lnTo>
                  <a:pt x="5348" y="1429"/>
                </a:lnTo>
                <a:lnTo>
                  <a:pt x="5355" y="1426"/>
                </a:lnTo>
                <a:lnTo>
                  <a:pt x="5364" y="1422"/>
                </a:lnTo>
                <a:lnTo>
                  <a:pt x="5374" y="1419"/>
                </a:lnTo>
                <a:lnTo>
                  <a:pt x="5383" y="1417"/>
                </a:lnTo>
                <a:lnTo>
                  <a:pt x="5403" y="1415"/>
                </a:lnTo>
                <a:lnTo>
                  <a:pt x="5423" y="1413"/>
                </a:lnTo>
                <a:lnTo>
                  <a:pt x="5443" y="1412"/>
                </a:lnTo>
                <a:lnTo>
                  <a:pt x="5462" y="1412"/>
                </a:lnTo>
                <a:lnTo>
                  <a:pt x="5480" y="1411"/>
                </a:lnTo>
                <a:close/>
                <a:moveTo>
                  <a:pt x="911" y="1804"/>
                </a:moveTo>
                <a:lnTo>
                  <a:pt x="911" y="1804"/>
                </a:lnTo>
                <a:lnTo>
                  <a:pt x="914" y="1803"/>
                </a:lnTo>
                <a:lnTo>
                  <a:pt x="917" y="1803"/>
                </a:lnTo>
                <a:lnTo>
                  <a:pt x="920" y="1805"/>
                </a:lnTo>
                <a:lnTo>
                  <a:pt x="921" y="1807"/>
                </a:lnTo>
                <a:lnTo>
                  <a:pt x="922" y="1810"/>
                </a:lnTo>
                <a:lnTo>
                  <a:pt x="921" y="1813"/>
                </a:lnTo>
                <a:lnTo>
                  <a:pt x="920" y="1820"/>
                </a:lnTo>
                <a:lnTo>
                  <a:pt x="916" y="1829"/>
                </a:lnTo>
                <a:lnTo>
                  <a:pt x="913" y="1838"/>
                </a:lnTo>
                <a:lnTo>
                  <a:pt x="909" y="1847"/>
                </a:lnTo>
                <a:lnTo>
                  <a:pt x="873" y="1921"/>
                </a:lnTo>
                <a:lnTo>
                  <a:pt x="835" y="1995"/>
                </a:lnTo>
                <a:lnTo>
                  <a:pt x="762" y="2145"/>
                </a:lnTo>
                <a:lnTo>
                  <a:pt x="692" y="2295"/>
                </a:lnTo>
                <a:lnTo>
                  <a:pt x="623" y="2445"/>
                </a:lnTo>
                <a:lnTo>
                  <a:pt x="557" y="2597"/>
                </a:lnTo>
                <a:lnTo>
                  <a:pt x="519" y="2685"/>
                </a:lnTo>
                <a:lnTo>
                  <a:pt x="502" y="2729"/>
                </a:lnTo>
                <a:lnTo>
                  <a:pt x="485" y="2773"/>
                </a:lnTo>
                <a:lnTo>
                  <a:pt x="479" y="2790"/>
                </a:lnTo>
                <a:lnTo>
                  <a:pt x="474" y="2799"/>
                </a:lnTo>
                <a:lnTo>
                  <a:pt x="470" y="2807"/>
                </a:lnTo>
                <a:lnTo>
                  <a:pt x="465" y="2815"/>
                </a:lnTo>
                <a:lnTo>
                  <a:pt x="458" y="2821"/>
                </a:lnTo>
                <a:lnTo>
                  <a:pt x="451" y="2826"/>
                </a:lnTo>
                <a:lnTo>
                  <a:pt x="447" y="2828"/>
                </a:lnTo>
                <a:lnTo>
                  <a:pt x="442" y="2829"/>
                </a:lnTo>
                <a:lnTo>
                  <a:pt x="436" y="2830"/>
                </a:lnTo>
                <a:lnTo>
                  <a:pt x="432" y="2829"/>
                </a:lnTo>
                <a:lnTo>
                  <a:pt x="428" y="2828"/>
                </a:lnTo>
                <a:lnTo>
                  <a:pt x="425" y="2824"/>
                </a:lnTo>
                <a:lnTo>
                  <a:pt x="423" y="2821"/>
                </a:lnTo>
                <a:lnTo>
                  <a:pt x="422" y="2818"/>
                </a:lnTo>
                <a:lnTo>
                  <a:pt x="421" y="2808"/>
                </a:lnTo>
                <a:lnTo>
                  <a:pt x="422" y="2799"/>
                </a:lnTo>
                <a:lnTo>
                  <a:pt x="424" y="2789"/>
                </a:lnTo>
                <a:lnTo>
                  <a:pt x="428" y="2773"/>
                </a:lnTo>
                <a:lnTo>
                  <a:pt x="446" y="2722"/>
                </a:lnTo>
                <a:lnTo>
                  <a:pt x="463" y="2669"/>
                </a:lnTo>
                <a:lnTo>
                  <a:pt x="479" y="2617"/>
                </a:lnTo>
                <a:lnTo>
                  <a:pt x="497" y="2565"/>
                </a:lnTo>
                <a:lnTo>
                  <a:pt x="511" y="2529"/>
                </a:lnTo>
                <a:lnTo>
                  <a:pt x="526" y="2493"/>
                </a:lnTo>
                <a:lnTo>
                  <a:pt x="542" y="2456"/>
                </a:lnTo>
                <a:lnTo>
                  <a:pt x="558" y="2420"/>
                </a:lnTo>
                <a:lnTo>
                  <a:pt x="592" y="2349"/>
                </a:lnTo>
                <a:lnTo>
                  <a:pt x="627" y="2280"/>
                </a:lnTo>
                <a:lnTo>
                  <a:pt x="665" y="2211"/>
                </a:lnTo>
                <a:lnTo>
                  <a:pt x="701" y="2142"/>
                </a:lnTo>
                <a:lnTo>
                  <a:pt x="739" y="2073"/>
                </a:lnTo>
                <a:lnTo>
                  <a:pt x="775" y="2003"/>
                </a:lnTo>
                <a:lnTo>
                  <a:pt x="800" y="1954"/>
                </a:lnTo>
                <a:lnTo>
                  <a:pt x="815" y="1923"/>
                </a:lnTo>
                <a:lnTo>
                  <a:pt x="832" y="1892"/>
                </a:lnTo>
                <a:lnTo>
                  <a:pt x="851" y="1862"/>
                </a:lnTo>
                <a:lnTo>
                  <a:pt x="861" y="1849"/>
                </a:lnTo>
                <a:lnTo>
                  <a:pt x="870" y="1837"/>
                </a:lnTo>
                <a:lnTo>
                  <a:pt x="880" y="1826"/>
                </a:lnTo>
                <a:lnTo>
                  <a:pt x="891" y="1816"/>
                </a:lnTo>
                <a:lnTo>
                  <a:pt x="900" y="1809"/>
                </a:lnTo>
                <a:lnTo>
                  <a:pt x="911" y="1804"/>
                </a:lnTo>
                <a:close/>
                <a:moveTo>
                  <a:pt x="3453" y="2516"/>
                </a:moveTo>
                <a:lnTo>
                  <a:pt x="3453" y="2516"/>
                </a:lnTo>
                <a:lnTo>
                  <a:pt x="3507" y="2511"/>
                </a:lnTo>
                <a:lnTo>
                  <a:pt x="3562" y="2508"/>
                </a:lnTo>
                <a:lnTo>
                  <a:pt x="3616" y="2505"/>
                </a:lnTo>
                <a:lnTo>
                  <a:pt x="3671" y="2504"/>
                </a:lnTo>
                <a:lnTo>
                  <a:pt x="3727" y="2504"/>
                </a:lnTo>
                <a:lnTo>
                  <a:pt x="3781" y="2505"/>
                </a:lnTo>
                <a:lnTo>
                  <a:pt x="3837" y="2506"/>
                </a:lnTo>
                <a:lnTo>
                  <a:pt x="3893" y="2509"/>
                </a:lnTo>
                <a:lnTo>
                  <a:pt x="4003" y="2515"/>
                </a:lnTo>
                <a:lnTo>
                  <a:pt x="4112" y="2521"/>
                </a:lnTo>
                <a:lnTo>
                  <a:pt x="4330" y="2538"/>
                </a:lnTo>
                <a:lnTo>
                  <a:pt x="4397" y="2543"/>
                </a:lnTo>
                <a:lnTo>
                  <a:pt x="4464" y="2549"/>
                </a:lnTo>
                <a:lnTo>
                  <a:pt x="4531" y="2558"/>
                </a:lnTo>
                <a:lnTo>
                  <a:pt x="4598" y="2567"/>
                </a:lnTo>
                <a:lnTo>
                  <a:pt x="4626" y="2572"/>
                </a:lnTo>
                <a:lnTo>
                  <a:pt x="4655" y="2575"/>
                </a:lnTo>
                <a:lnTo>
                  <a:pt x="4669" y="2577"/>
                </a:lnTo>
                <a:lnTo>
                  <a:pt x="4683" y="2581"/>
                </a:lnTo>
                <a:lnTo>
                  <a:pt x="4696" y="2586"/>
                </a:lnTo>
                <a:lnTo>
                  <a:pt x="4709" y="2591"/>
                </a:lnTo>
                <a:lnTo>
                  <a:pt x="4717" y="2596"/>
                </a:lnTo>
                <a:lnTo>
                  <a:pt x="4724" y="2602"/>
                </a:lnTo>
                <a:lnTo>
                  <a:pt x="4739" y="2613"/>
                </a:lnTo>
                <a:lnTo>
                  <a:pt x="4752" y="2627"/>
                </a:lnTo>
                <a:lnTo>
                  <a:pt x="4764" y="2643"/>
                </a:lnTo>
                <a:lnTo>
                  <a:pt x="4775" y="2660"/>
                </a:lnTo>
                <a:lnTo>
                  <a:pt x="4786" y="2677"/>
                </a:lnTo>
                <a:lnTo>
                  <a:pt x="4805" y="2710"/>
                </a:lnTo>
                <a:lnTo>
                  <a:pt x="4840" y="2764"/>
                </a:lnTo>
                <a:lnTo>
                  <a:pt x="4875" y="2819"/>
                </a:lnTo>
                <a:lnTo>
                  <a:pt x="4910" y="2874"/>
                </a:lnTo>
                <a:lnTo>
                  <a:pt x="4946" y="2929"/>
                </a:lnTo>
                <a:lnTo>
                  <a:pt x="4986" y="2997"/>
                </a:lnTo>
                <a:lnTo>
                  <a:pt x="5027" y="3064"/>
                </a:lnTo>
                <a:lnTo>
                  <a:pt x="5108" y="3200"/>
                </a:lnTo>
                <a:lnTo>
                  <a:pt x="5190" y="3336"/>
                </a:lnTo>
                <a:lnTo>
                  <a:pt x="5231" y="3404"/>
                </a:lnTo>
                <a:lnTo>
                  <a:pt x="5273" y="3471"/>
                </a:lnTo>
                <a:lnTo>
                  <a:pt x="5305" y="3522"/>
                </a:lnTo>
                <a:lnTo>
                  <a:pt x="5339" y="3573"/>
                </a:lnTo>
                <a:lnTo>
                  <a:pt x="5375" y="3626"/>
                </a:lnTo>
                <a:lnTo>
                  <a:pt x="5409" y="3679"/>
                </a:lnTo>
                <a:lnTo>
                  <a:pt x="5441" y="3734"/>
                </a:lnTo>
                <a:lnTo>
                  <a:pt x="5456" y="3762"/>
                </a:lnTo>
                <a:lnTo>
                  <a:pt x="5471" y="3790"/>
                </a:lnTo>
                <a:lnTo>
                  <a:pt x="5484" y="3817"/>
                </a:lnTo>
                <a:lnTo>
                  <a:pt x="5497" y="3845"/>
                </a:lnTo>
                <a:lnTo>
                  <a:pt x="5507" y="3874"/>
                </a:lnTo>
                <a:lnTo>
                  <a:pt x="5518" y="3902"/>
                </a:lnTo>
                <a:lnTo>
                  <a:pt x="5519" y="3909"/>
                </a:lnTo>
                <a:lnTo>
                  <a:pt x="5521" y="3917"/>
                </a:lnTo>
                <a:lnTo>
                  <a:pt x="5521" y="3924"/>
                </a:lnTo>
                <a:lnTo>
                  <a:pt x="5521" y="3932"/>
                </a:lnTo>
                <a:lnTo>
                  <a:pt x="5519" y="3946"/>
                </a:lnTo>
                <a:lnTo>
                  <a:pt x="5516" y="3961"/>
                </a:lnTo>
                <a:lnTo>
                  <a:pt x="5512" y="3975"/>
                </a:lnTo>
                <a:lnTo>
                  <a:pt x="5505" y="3990"/>
                </a:lnTo>
                <a:lnTo>
                  <a:pt x="5494" y="4018"/>
                </a:lnTo>
                <a:lnTo>
                  <a:pt x="5442" y="4133"/>
                </a:lnTo>
                <a:lnTo>
                  <a:pt x="5416" y="4191"/>
                </a:lnTo>
                <a:lnTo>
                  <a:pt x="5389" y="4248"/>
                </a:lnTo>
                <a:lnTo>
                  <a:pt x="5363" y="4299"/>
                </a:lnTo>
                <a:lnTo>
                  <a:pt x="5336" y="4349"/>
                </a:lnTo>
                <a:lnTo>
                  <a:pt x="5309" y="4400"/>
                </a:lnTo>
                <a:lnTo>
                  <a:pt x="5282" y="4449"/>
                </a:lnTo>
                <a:lnTo>
                  <a:pt x="5225" y="4547"/>
                </a:lnTo>
                <a:lnTo>
                  <a:pt x="5167" y="4645"/>
                </a:lnTo>
                <a:lnTo>
                  <a:pt x="5107" y="4742"/>
                </a:lnTo>
                <a:lnTo>
                  <a:pt x="5047" y="4838"/>
                </a:lnTo>
                <a:lnTo>
                  <a:pt x="4924" y="5030"/>
                </a:lnTo>
                <a:lnTo>
                  <a:pt x="4900" y="5071"/>
                </a:lnTo>
                <a:lnTo>
                  <a:pt x="4875" y="5111"/>
                </a:lnTo>
                <a:lnTo>
                  <a:pt x="4862" y="5133"/>
                </a:lnTo>
                <a:lnTo>
                  <a:pt x="4848" y="5152"/>
                </a:lnTo>
                <a:lnTo>
                  <a:pt x="4834" y="5172"/>
                </a:lnTo>
                <a:lnTo>
                  <a:pt x="4820" y="5191"/>
                </a:lnTo>
                <a:lnTo>
                  <a:pt x="4805" y="5209"/>
                </a:lnTo>
                <a:lnTo>
                  <a:pt x="4788" y="5225"/>
                </a:lnTo>
                <a:lnTo>
                  <a:pt x="4771" y="5240"/>
                </a:lnTo>
                <a:lnTo>
                  <a:pt x="4753" y="5253"/>
                </a:lnTo>
                <a:lnTo>
                  <a:pt x="4734" y="5263"/>
                </a:lnTo>
                <a:lnTo>
                  <a:pt x="4723" y="5269"/>
                </a:lnTo>
                <a:lnTo>
                  <a:pt x="4712" y="5273"/>
                </a:lnTo>
                <a:lnTo>
                  <a:pt x="4702" y="5276"/>
                </a:lnTo>
                <a:lnTo>
                  <a:pt x="4690" y="5279"/>
                </a:lnTo>
                <a:lnTo>
                  <a:pt x="4678" y="5281"/>
                </a:lnTo>
                <a:lnTo>
                  <a:pt x="4665" y="5283"/>
                </a:lnTo>
                <a:lnTo>
                  <a:pt x="4597" y="5290"/>
                </a:lnTo>
                <a:lnTo>
                  <a:pt x="4528" y="5295"/>
                </a:lnTo>
                <a:lnTo>
                  <a:pt x="4459" y="5300"/>
                </a:lnTo>
                <a:lnTo>
                  <a:pt x="4389" y="5303"/>
                </a:lnTo>
                <a:lnTo>
                  <a:pt x="4318" y="5305"/>
                </a:lnTo>
                <a:lnTo>
                  <a:pt x="4249" y="5306"/>
                </a:lnTo>
                <a:lnTo>
                  <a:pt x="4178" y="5307"/>
                </a:lnTo>
                <a:lnTo>
                  <a:pt x="4109" y="5306"/>
                </a:lnTo>
                <a:lnTo>
                  <a:pt x="4038" y="5305"/>
                </a:lnTo>
                <a:lnTo>
                  <a:pt x="3967" y="5302"/>
                </a:lnTo>
                <a:lnTo>
                  <a:pt x="3898" y="5299"/>
                </a:lnTo>
                <a:lnTo>
                  <a:pt x="3828" y="5294"/>
                </a:lnTo>
                <a:lnTo>
                  <a:pt x="3759" y="5289"/>
                </a:lnTo>
                <a:lnTo>
                  <a:pt x="3689" y="5283"/>
                </a:lnTo>
                <a:lnTo>
                  <a:pt x="3621" y="5276"/>
                </a:lnTo>
                <a:lnTo>
                  <a:pt x="3552" y="5269"/>
                </a:lnTo>
                <a:lnTo>
                  <a:pt x="3516" y="5265"/>
                </a:lnTo>
                <a:lnTo>
                  <a:pt x="3476" y="5263"/>
                </a:lnTo>
                <a:lnTo>
                  <a:pt x="3393" y="5261"/>
                </a:lnTo>
                <a:lnTo>
                  <a:pt x="3351" y="5258"/>
                </a:lnTo>
                <a:lnTo>
                  <a:pt x="3331" y="5256"/>
                </a:lnTo>
                <a:lnTo>
                  <a:pt x="3311" y="5254"/>
                </a:lnTo>
                <a:lnTo>
                  <a:pt x="3291" y="5250"/>
                </a:lnTo>
                <a:lnTo>
                  <a:pt x="3273" y="5246"/>
                </a:lnTo>
                <a:lnTo>
                  <a:pt x="3255" y="5241"/>
                </a:lnTo>
                <a:lnTo>
                  <a:pt x="3238" y="5234"/>
                </a:lnTo>
                <a:lnTo>
                  <a:pt x="3224" y="5227"/>
                </a:lnTo>
                <a:lnTo>
                  <a:pt x="3210" y="5218"/>
                </a:lnTo>
                <a:lnTo>
                  <a:pt x="3196" y="5209"/>
                </a:lnTo>
                <a:lnTo>
                  <a:pt x="3183" y="5198"/>
                </a:lnTo>
                <a:lnTo>
                  <a:pt x="3158" y="5176"/>
                </a:lnTo>
                <a:lnTo>
                  <a:pt x="3135" y="5153"/>
                </a:lnTo>
                <a:lnTo>
                  <a:pt x="3107" y="5124"/>
                </a:lnTo>
                <a:lnTo>
                  <a:pt x="3080" y="5093"/>
                </a:lnTo>
                <a:lnTo>
                  <a:pt x="3055" y="5061"/>
                </a:lnTo>
                <a:lnTo>
                  <a:pt x="3030" y="5028"/>
                </a:lnTo>
                <a:lnTo>
                  <a:pt x="2982" y="4961"/>
                </a:lnTo>
                <a:lnTo>
                  <a:pt x="2936" y="4895"/>
                </a:lnTo>
                <a:lnTo>
                  <a:pt x="2881" y="4817"/>
                </a:lnTo>
                <a:lnTo>
                  <a:pt x="2829" y="4739"/>
                </a:lnTo>
                <a:lnTo>
                  <a:pt x="2778" y="4660"/>
                </a:lnTo>
                <a:lnTo>
                  <a:pt x="2729" y="4579"/>
                </a:lnTo>
                <a:lnTo>
                  <a:pt x="2682" y="4498"/>
                </a:lnTo>
                <a:lnTo>
                  <a:pt x="2636" y="4416"/>
                </a:lnTo>
                <a:lnTo>
                  <a:pt x="2592" y="4333"/>
                </a:lnTo>
                <a:lnTo>
                  <a:pt x="2548" y="4248"/>
                </a:lnTo>
                <a:lnTo>
                  <a:pt x="2526" y="4204"/>
                </a:lnTo>
                <a:lnTo>
                  <a:pt x="2501" y="4157"/>
                </a:lnTo>
                <a:lnTo>
                  <a:pt x="2477" y="4107"/>
                </a:lnTo>
                <a:lnTo>
                  <a:pt x="2451" y="4056"/>
                </a:lnTo>
                <a:lnTo>
                  <a:pt x="2440" y="4030"/>
                </a:lnTo>
                <a:lnTo>
                  <a:pt x="2429" y="4005"/>
                </a:lnTo>
                <a:lnTo>
                  <a:pt x="2419" y="3979"/>
                </a:lnTo>
                <a:lnTo>
                  <a:pt x="2410" y="3953"/>
                </a:lnTo>
                <a:lnTo>
                  <a:pt x="2403" y="3928"/>
                </a:lnTo>
                <a:lnTo>
                  <a:pt x="2396" y="3903"/>
                </a:lnTo>
                <a:lnTo>
                  <a:pt x="2392" y="3878"/>
                </a:lnTo>
                <a:lnTo>
                  <a:pt x="2389" y="3855"/>
                </a:lnTo>
                <a:lnTo>
                  <a:pt x="2389" y="3846"/>
                </a:lnTo>
                <a:lnTo>
                  <a:pt x="2390" y="3839"/>
                </a:lnTo>
                <a:lnTo>
                  <a:pt x="2393" y="3823"/>
                </a:lnTo>
                <a:lnTo>
                  <a:pt x="2399" y="3807"/>
                </a:lnTo>
                <a:lnTo>
                  <a:pt x="2405" y="3792"/>
                </a:lnTo>
                <a:lnTo>
                  <a:pt x="2412" y="3777"/>
                </a:lnTo>
                <a:lnTo>
                  <a:pt x="2421" y="3762"/>
                </a:lnTo>
                <a:lnTo>
                  <a:pt x="2438" y="3734"/>
                </a:lnTo>
                <a:lnTo>
                  <a:pt x="2454" y="3706"/>
                </a:lnTo>
                <a:lnTo>
                  <a:pt x="2469" y="3678"/>
                </a:lnTo>
                <a:lnTo>
                  <a:pt x="2499" y="3623"/>
                </a:lnTo>
                <a:lnTo>
                  <a:pt x="2529" y="3566"/>
                </a:lnTo>
                <a:lnTo>
                  <a:pt x="2545" y="3538"/>
                </a:lnTo>
                <a:lnTo>
                  <a:pt x="2561" y="3511"/>
                </a:lnTo>
                <a:lnTo>
                  <a:pt x="2668" y="3336"/>
                </a:lnTo>
                <a:lnTo>
                  <a:pt x="2774" y="3160"/>
                </a:lnTo>
                <a:lnTo>
                  <a:pt x="2828" y="3073"/>
                </a:lnTo>
                <a:lnTo>
                  <a:pt x="2881" y="2986"/>
                </a:lnTo>
                <a:lnTo>
                  <a:pt x="2937" y="2899"/>
                </a:lnTo>
                <a:lnTo>
                  <a:pt x="2993" y="2814"/>
                </a:lnTo>
                <a:lnTo>
                  <a:pt x="3012" y="2783"/>
                </a:lnTo>
                <a:lnTo>
                  <a:pt x="3031" y="2748"/>
                </a:lnTo>
                <a:lnTo>
                  <a:pt x="3050" y="2712"/>
                </a:lnTo>
                <a:lnTo>
                  <a:pt x="3072" y="2676"/>
                </a:lnTo>
                <a:lnTo>
                  <a:pt x="3093" y="2639"/>
                </a:lnTo>
                <a:lnTo>
                  <a:pt x="3104" y="2623"/>
                </a:lnTo>
                <a:lnTo>
                  <a:pt x="3116" y="2606"/>
                </a:lnTo>
                <a:lnTo>
                  <a:pt x="3127" y="2591"/>
                </a:lnTo>
                <a:lnTo>
                  <a:pt x="3140" y="2577"/>
                </a:lnTo>
                <a:lnTo>
                  <a:pt x="3153" y="2565"/>
                </a:lnTo>
                <a:lnTo>
                  <a:pt x="3167" y="2554"/>
                </a:lnTo>
                <a:lnTo>
                  <a:pt x="3180" y="2546"/>
                </a:lnTo>
                <a:lnTo>
                  <a:pt x="3195" y="2539"/>
                </a:lnTo>
                <a:lnTo>
                  <a:pt x="3211" y="2533"/>
                </a:lnTo>
                <a:lnTo>
                  <a:pt x="3228" y="2529"/>
                </a:lnTo>
                <a:lnTo>
                  <a:pt x="3247" y="2526"/>
                </a:lnTo>
                <a:lnTo>
                  <a:pt x="3265" y="2523"/>
                </a:lnTo>
                <a:lnTo>
                  <a:pt x="3286" y="2520"/>
                </a:lnTo>
                <a:lnTo>
                  <a:pt x="3305" y="2519"/>
                </a:lnTo>
                <a:lnTo>
                  <a:pt x="3346" y="2518"/>
                </a:lnTo>
                <a:lnTo>
                  <a:pt x="3384" y="2518"/>
                </a:lnTo>
                <a:lnTo>
                  <a:pt x="3421" y="2517"/>
                </a:lnTo>
                <a:lnTo>
                  <a:pt x="3453" y="2516"/>
                </a:lnTo>
                <a:close/>
                <a:moveTo>
                  <a:pt x="441" y="3028"/>
                </a:moveTo>
                <a:lnTo>
                  <a:pt x="441" y="3028"/>
                </a:lnTo>
                <a:lnTo>
                  <a:pt x="452" y="3027"/>
                </a:lnTo>
                <a:lnTo>
                  <a:pt x="462" y="3029"/>
                </a:lnTo>
                <a:lnTo>
                  <a:pt x="469" y="3032"/>
                </a:lnTo>
                <a:lnTo>
                  <a:pt x="477" y="3037"/>
                </a:lnTo>
                <a:lnTo>
                  <a:pt x="483" y="3045"/>
                </a:lnTo>
                <a:lnTo>
                  <a:pt x="489" y="3053"/>
                </a:lnTo>
                <a:lnTo>
                  <a:pt x="495" y="3062"/>
                </a:lnTo>
                <a:lnTo>
                  <a:pt x="499" y="3073"/>
                </a:lnTo>
                <a:lnTo>
                  <a:pt x="505" y="3095"/>
                </a:lnTo>
                <a:lnTo>
                  <a:pt x="511" y="3116"/>
                </a:lnTo>
                <a:lnTo>
                  <a:pt x="515" y="3138"/>
                </a:lnTo>
                <a:lnTo>
                  <a:pt x="519" y="3156"/>
                </a:lnTo>
                <a:lnTo>
                  <a:pt x="535" y="3212"/>
                </a:lnTo>
                <a:lnTo>
                  <a:pt x="554" y="3267"/>
                </a:lnTo>
                <a:lnTo>
                  <a:pt x="573" y="3322"/>
                </a:lnTo>
                <a:lnTo>
                  <a:pt x="593" y="3377"/>
                </a:lnTo>
                <a:lnTo>
                  <a:pt x="616" y="3431"/>
                </a:lnTo>
                <a:lnTo>
                  <a:pt x="638" y="3486"/>
                </a:lnTo>
                <a:lnTo>
                  <a:pt x="684" y="3592"/>
                </a:lnTo>
                <a:lnTo>
                  <a:pt x="747" y="3730"/>
                </a:lnTo>
                <a:lnTo>
                  <a:pt x="764" y="3765"/>
                </a:lnTo>
                <a:lnTo>
                  <a:pt x="780" y="3799"/>
                </a:lnTo>
                <a:lnTo>
                  <a:pt x="799" y="3832"/>
                </a:lnTo>
                <a:lnTo>
                  <a:pt x="817" y="3867"/>
                </a:lnTo>
                <a:lnTo>
                  <a:pt x="828" y="3884"/>
                </a:lnTo>
                <a:lnTo>
                  <a:pt x="840" y="3901"/>
                </a:lnTo>
                <a:lnTo>
                  <a:pt x="866" y="3937"/>
                </a:lnTo>
                <a:lnTo>
                  <a:pt x="878" y="3956"/>
                </a:lnTo>
                <a:lnTo>
                  <a:pt x="889" y="3975"/>
                </a:lnTo>
                <a:lnTo>
                  <a:pt x="893" y="3984"/>
                </a:lnTo>
                <a:lnTo>
                  <a:pt x="897" y="3994"/>
                </a:lnTo>
                <a:lnTo>
                  <a:pt x="899" y="4004"/>
                </a:lnTo>
                <a:lnTo>
                  <a:pt x="901" y="4013"/>
                </a:lnTo>
                <a:lnTo>
                  <a:pt x="905" y="4031"/>
                </a:lnTo>
                <a:lnTo>
                  <a:pt x="906" y="4051"/>
                </a:lnTo>
                <a:lnTo>
                  <a:pt x="906" y="4071"/>
                </a:lnTo>
                <a:lnTo>
                  <a:pt x="905" y="4090"/>
                </a:lnTo>
                <a:lnTo>
                  <a:pt x="904" y="4112"/>
                </a:lnTo>
                <a:lnTo>
                  <a:pt x="900" y="4132"/>
                </a:lnTo>
                <a:lnTo>
                  <a:pt x="894" y="4174"/>
                </a:lnTo>
                <a:lnTo>
                  <a:pt x="879" y="4257"/>
                </a:lnTo>
                <a:lnTo>
                  <a:pt x="873" y="4298"/>
                </a:lnTo>
                <a:lnTo>
                  <a:pt x="870" y="4317"/>
                </a:lnTo>
                <a:lnTo>
                  <a:pt x="868" y="4336"/>
                </a:lnTo>
                <a:lnTo>
                  <a:pt x="863" y="4427"/>
                </a:lnTo>
                <a:lnTo>
                  <a:pt x="859" y="4518"/>
                </a:lnTo>
                <a:lnTo>
                  <a:pt x="855" y="4609"/>
                </a:lnTo>
                <a:lnTo>
                  <a:pt x="853" y="4699"/>
                </a:lnTo>
                <a:lnTo>
                  <a:pt x="854" y="4789"/>
                </a:lnTo>
                <a:lnTo>
                  <a:pt x="856" y="4879"/>
                </a:lnTo>
                <a:lnTo>
                  <a:pt x="859" y="4925"/>
                </a:lnTo>
                <a:lnTo>
                  <a:pt x="862" y="4970"/>
                </a:lnTo>
                <a:lnTo>
                  <a:pt x="865" y="5016"/>
                </a:lnTo>
                <a:lnTo>
                  <a:pt x="869" y="5062"/>
                </a:lnTo>
                <a:lnTo>
                  <a:pt x="876" y="5125"/>
                </a:lnTo>
                <a:lnTo>
                  <a:pt x="883" y="5188"/>
                </a:lnTo>
                <a:lnTo>
                  <a:pt x="887" y="5220"/>
                </a:lnTo>
                <a:lnTo>
                  <a:pt x="893" y="5252"/>
                </a:lnTo>
                <a:lnTo>
                  <a:pt x="899" y="5283"/>
                </a:lnTo>
                <a:lnTo>
                  <a:pt x="907" y="5314"/>
                </a:lnTo>
                <a:lnTo>
                  <a:pt x="911" y="5330"/>
                </a:lnTo>
                <a:lnTo>
                  <a:pt x="917" y="5347"/>
                </a:lnTo>
                <a:lnTo>
                  <a:pt x="930" y="5383"/>
                </a:lnTo>
                <a:lnTo>
                  <a:pt x="936" y="5401"/>
                </a:lnTo>
                <a:lnTo>
                  <a:pt x="940" y="5420"/>
                </a:lnTo>
                <a:lnTo>
                  <a:pt x="942" y="5437"/>
                </a:lnTo>
                <a:lnTo>
                  <a:pt x="943" y="5445"/>
                </a:lnTo>
                <a:lnTo>
                  <a:pt x="942" y="5454"/>
                </a:lnTo>
                <a:lnTo>
                  <a:pt x="939" y="5464"/>
                </a:lnTo>
                <a:lnTo>
                  <a:pt x="934" y="5476"/>
                </a:lnTo>
                <a:lnTo>
                  <a:pt x="925" y="5488"/>
                </a:lnTo>
                <a:lnTo>
                  <a:pt x="915" y="5501"/>
                </a:lnTo>
                <a:lnTo>
                  <a:pt x="904" y="5514"/>
                </a:lnTo>
                <a:lnTo>
                  <a:pt x="890" y="5527"/>
                </a:lnTo>
                <a:lnTo>
                  <a:pt x="876" y="5540"/>
                </a:lnTo>
                <a:lnTo>
                  <a:pt x="860" y="5552"/>
                </a:lnTo>
                <a:lnTo>
                  <a:pt x="844" y="5565"/>
                </a:lnTo>
                <a:lnTo>
                  <a:pt x="828" y="5577"/>
                </a:lnTo>
                <a:lnTo>
                  <a:pt x="812" y="5586"/>
                </a:lnTo>
                <a:lnTo>
                  <a:pt x="797" y="5596"/>
                </a:lnTo>
                <a:lnTo>
                  <a:pt x="782" y="5605"/>
                </a:lnTo>
                <a:lnTo>
                  <a:pt x="768" y="5611"/>
                </a:lnTo>
                <a:lnTo>
                  <a:pt x="755" y="5616"/>
                </a:lnTo>
                <a:lnTo>
                  <a:pt x="744" y="5619"/>
                </a:lnTo>
                <a:lnTo>
                  <a:pt x="737" y="5619"/>
                </a:lnTo>
                <a:lnTo>
                  <a:pt x="728" y="5618"/>
                </a:lnTo>
                <a:lnTo>
                  <a:pt x="721" y="5613"/>
                </a:lnTo>
                <a:lnTo>
                  <a:pt x="713" y="5608"/>
                </a:lnTo>
                <a:lnTo>
                  <a:pt x="706" y="5600"/>
                </a:lnTo>
                <a:lnTo>
                  <a:pt x="699" y="5592"/>
                </a:lnTo>
                <a:lnTo>
                  <a:pt x="692" y="5582"/>
                </a:lnTo>
                <a:lnTo>
                  <a:pt x="686" y="5573"/>
                </a:lnTo>
                <a:lnTo>
                  <a:pt x="675" y="5551"/>
                </a:lnTo>
                <a:lnTo>
                  <a:pt x="664" y="5530"/>
                </a:lnTo>
                <a:lnTo>
                  <a:pt x="655" y="5512"/>
                </a:lnTo>
                <a:lnTo>
                  <a:pt x="649" y="5497"/>
                </a:lnTo>
                <a:lnTo>
                  <a:pt x="621" y="5444"/>
                </a:lnTo>
                <a:lnTo>
                  <a:pt x="594" y="5391"/>
                </a:lnTo>
                <a:lnTo>
                  <a:pt x="569" y="5336"/>
                </a:lnTo>
                <a:lnTo>
                  <a:pt x="544" y="5281"/>
                </a:lnTo>
                <a:lnTo>
                  <a:pt x="520" y="5226"/>
                </a:lnTo>
                <a:lnTo>
                  <a:pt x="498" y="5170"/>
                </a:lnTo>
                <a:lnTo>
                  <a:pt x="475" y="5113"/>
                </a:lnTo>
                <a:lnTo>
                  <a:pt x="455" y="5058"/>
                </a:lnTo>
                <a:lnTo>
                  <a:pt x="413" y="4948"/>
                </a:lnTo>
                <a:lnTo>
                  <a:pt x="372" y="4835"/>
                </a:lnTo>
                <a:lnTo>
                  <a:pt x="332" y="4721"/>
                </a:lnTo>
                <a:lnTo>
                  <a:pt x="313" y="4664"/>
                </a:lnTo>
                <a:lnTo>
                  <a:pt x="295" y="4606"/>
                </a:lnTo>
                <a:lnTo>
                  <a:pt x="276" y="4549"/>
                </a:lnTo>
                <a:lnTo>
                  <a:pt x="260" y="4491"/>
                </a:lnTo>
                <a:lnTo>
                  <a:pt x="244" y="4433"/>
                </a:lnTo>
                <a:lnTo>
                  <a:pt x="229" y="4375"/>
                </a:lnTo>
                <a:lnTo>
                  <a:pt x="216" y="4316"/>
                </a:lnTo>
                <a:lnTo>
                  <a:pt x="206" y="4258"/>
                </a:lnTo>
                <a:lnTo>
                  <a:pt x="195" y="4200"/>
                </a:lnTo>
                <a:lnTo>
                  <a:pt x="188" y="4141"/>
                </a:lnTo>
                <a:lnTo>
                  <a:pt x="183" y="4101"/>
                </a:lnTo>
                <a:lnTo>
                  <a:pt x="180" y="4063"/>
                </a:lnTo>
                <a:lnTo>
                  <a:pt x="177" y="4023"/>
                </a:lnTo>
                <a:lnTo>
                  <a:pt x="176" y="3984"/>
                </a:lnTo>
                <a:lnTo>
                  <a:pt x="175" y="3945"/>
                </a:lnTo>
                <a:lnTo>
                  <a:pt x="175" y="3905"/>
                </a:lnTo>
                <a:lnTo>
                  <a:pt x="176" y="3867"/>
                </a:lnTo>
                <a:lnTo>
                  <a:pt x="177" y="3827"/>
                </a:lnTo>
                <a:lnTo>
                  <a:pt x="179" y="3789"/>
                </a:lnTo>
                <a:lnTo>
                  <a:pt x="182" y="3749"/>
                </a:lnTo>
                <a:lnTo>
                  <a:pt x="190" y="3671"/>
                </a:lnTo>
                <a:lnTo>
                  <a:pt x="199" y="3593"/>
                </a:lnTo>
                <a:lnTo>
                  <a:pt x="212" y="3515"/>
                </a:lnTo>
                <a:lnTo>
                  <a:pt x="225" y="3441"/>
                </a:lnTo>
                <a:lnTo>
                  <a:pt x="240" y="3367"/>
                </a:lnTo>
                <a:lnTo>
                  <a:pt x="272" y="3219"/>
                </a:lnTo>
                <a:lnTo>
                  <a:pt x="279" y="3183"/>
                </a:lnTo>
                <a:lnTo>
                  <a:pt x="283" y="3165"/>
                </a:lnTo>
                <a:lnTo>
                  <a:pt x="287" y="3145"/>
                </a:lnTo>
                <a:lnTo>
                  <a:pt x="294" y="3126"/>
                </a:lnTo>
                <a:lnTo>
                  <a:pt x="300" y="3109"/>
                </a:lnTo>
                <a:lnTo>
                  <a:pt x="304" y="3100"/>
                </a:lnTo>
                <a:lnTo>
                  <a:pt x="310" y="3092"/>
                </a:lnTo>
                <a:lnTo>
                  <a:pt x="315" y="3084"/>
                </a:lnTo>
                <a:lnTo>
                  <a:pt x="320" y="3078"/>
                </a:lnTo>
                <a:lnTo>
                  <a:pt x="326" y="3073"/>
                </a:lnTo>
                <a:lnTo>
                  <a:pt x="331" y="3068"/>
                </a:lnTo>
                <a:lnTo>
                  <a:pt x="345" y="3060"/>
                </a:lnTo>
                <a:lnTo>
                  <a:pt x="360" y="3051"/>
                </a:lnTo>
                <a:lnTo>
                  <a:pt x="377" y="3045"/>
                </a:lnTo>
                <a:lnTo>
                  <a:pt x="394" y="3038"/>
                </a:lnTo>
                <a:lnTo>
                  <a:pt x="411" y="3034"/>
                </a:lnTo>
                <a:lnTo>
                  <a:pt x="427" y="3030"/>
                </a:lnTo>
                <a:lnTo>
                  <a:pt x="441" y="3028"/>
                </a:lnTo>
                <a:close/>
                <a:moveTo>
                  <a:pt x="7529" y="3051"/>
                </a:moveTo>
                <a:lnTo>
                  <a:pt x="7529" y="3051"/>
                </a:lnTo>
                <a:lnTo>
                  <a:pt x="7542" y="3050"/>
                </a:lnTo>
                <a:lnTo>
                  <a:pt x="7553" y="3051"/>
                </a:lnTo>
                <a:lnTo>
                  <a:pt x="7563" y="3054"/>
                </a:lnTo>
                <a:lnTo>
                  <a:pt x="7574" y="3059"/>
                </a:lnTo>
                <a:lnTo>
                  <a:pt x="7583" y="3065"/>
                </a:lnTo>
                <a:lnTo>
                  <a:pt x="7591" y="3072"/>
                </a:lnTo>
                <a:lnTo>
                  <a:pt x="7599" y="3080"/>
                </a:lnTo>
                <a:lnTo>
                  <a:pt x="7605" y="3089"/>
                </a:lnTo>
                <a:lnTo>
                  <a:pt x="7611" y="3098"/>
                </a:lnTo>
                <a:lnTo>
                  <a:pt x="7617" y="3109"/>
                </a:lnTo>
                <a:lnTo>
                  <a:pt x="7622" y="3120"/>
                </a:lnTo>
                <a:lnTo>
                  <a:pt x="7625" y="3130"/>
                </a:lnTo>
                <a:lnTo>
                  <a:pt x="7632" y="3152"/>
                </a:lnTo>
                <a:lnTo>
                  <a:pt x="7636" y="3172"/>
                </a:lnTo>
                <a:lnTo>
                  <a:pt x="7654" y="3293"/>
                </a:lnTo>
                <a:lnTo>
                  <a:pt x="7670" y="3415"/>
                </a:lnTo>
                <a:lnTo>
                  <a:pt x="7678" y="3476"/>
                </a:lnTo>
                <a:lnTo>
                  <a:pt x="7684" y="3537"/>
                </a:lnTo>
                <a:lnTo>
                  <a:pt x="7688" y="3598"/>
                </a:lnTo>
                <a:lnTo>
                  <a:pt x="7693" y="3659"/>
                </a:lnTo>
                <a:lnTo>
                  <a:pt x="7694" y="3684"/>
                </a:lnTo>
                <a:lnTo>
                  <a:pt x="7694" y="3708"/>
                </a:lnTo>
                <a:lnTo>
                  <a:pt x="7693" y="3759"/>
                </a:lnTo>
                <a:lnTo>
                  <a:pt x="7691" y="3808"/>
                </a:lnTo>
                <a:lnTo>
                  <a:pt x="7686" y="3857"/>
                </a:lnTo>
                <a:lnTo>
                  <a:pt x="7676" y="3954"/>
                </a:lnTo>
                <a:lnTo>
                  <a:pt x="7670" y="4004"/>
                </a:lnTo>
                <a:lnTo>
                  <a:pt x="7666" y="4053"/>
                </a:lnTo>
                <a:lnTo>
                  <a:pt x="7660" y="4129"/>
                </a:lnTo>
                <a:lnTo>
                  <a:pt x="7652" y="4204"/>
                </a:lnTo>
                <a:lnTo>
                  <a:pt x="7644" y="4279"/>
                </a:lnTo>
                <a:lnTo>
                  <a:pt x="7634" y="4355"/>
                </a:lnTo>
                <a:lnTo>
                  <a:pt x="7623" y="4430"/>
                </a:lnTo>
                <a:lnTo>
                  <a:pt x="7610" y="4505"/>
                </a:lnTo>
                <a:lnTo>
                  <a:pt x="7596" y="4578"/>
                </a:lnTo>
                <a:lnTo>
                  <a:pt x="7580" y="4652"/>
                </a:lnTo>
                <a:lnTo>
                  <a:pt x="7563" y="4726"/>
                </a:lnTo>
                <a:lnTo>
                  <a:pt x="7545" y="4800"/>
                </a:lnTo>
                <a:lnTo>
                  <a:pt x="7525" y="4873"/>
                </a:lnTo>
                <a:lnTo>
                  <a:pt x="7502" y="4945"/>
                </a:lnTo>
                <a:lnTo>
                  <a:pt x="7479" y="5017"/>
                </a:lnTo>
                <a:lnTo>
                  <a:pt x="7452" y="5089"/>
                </a:lnTo>
                <a:lnTo>
                  <a:pt x="7424" y="5159"/>
                </a:lnTo>
                <a:lnTo>
                  <a:pt x="7394" y="5229"/>
                </a:lnTo>
                <a:lnTo>
                  <a:pt x="7356" y="5314"/>
                </a:lnTo>
                <a:lnTo>
                  <a:pt x="7314" y="5397"/>
                </a:lnTo>
                <a:lnTo>
                  <a:pt x="7272" y="5479"/>
                </a:lnTo>
                <a:lnTo>
                  <a:pt x="7228" y="5561"/>
                </a:lnTo>
                <a:lnTo>
                  <a:pt x="7214" y="5589"/>
                </a:lnTo>
                <a:lnTo>
                  <a:pt x="7207" y="5605"/>
                </a:lnTo>
                <a:lnTo>
                  <a:pt x="7197" y="5621"/>
                </a:lnTo>
                <a:lnTo>
                  <a:pt x="7187" y="5636"/>
                </a:lnTo>
                <a:lnTo>
                  <a:pt x="7181" y="5642"/>
                </a:lnTo>
                <a:lnTo>
                  <a:pt x="7175" y="5649"/>
                </a:lnTo>
                <a:lnTo>
                  <a:pt x="7169" y="5654"/>
                </a:lnTo>
                <a:lnTo>
                  <a:pt x="7163" y="5658"/>
                </a:lnTo>
                <a:lnTo>
                  <a:pt x="7157" y="5661"/>
                </a:lnTo>
                <a:lnTo>
                  <a:pt x="7150" y="5662"/>
                </a:lnTo>
                <a:lnTo>
                  <a:pt x="7143" y="5662"/>
                </a:lnTo>
                <a:lnTo>
                  <a:pt x="7135" y="5660"/>
                </a:lnTo>
                <a:lnTo>
                  <a:pt x="7126" y="5657"/>
                </a:lnTo>
                <a:lnTo>
                  <a:pt x="7116" y="5651"/>
                </a:lnTo>
                <a:lnTo>
                  <a:pt x="7105" y="5644"/>
                </a:lnTo>
                <a:lnTo>
                  <a:pt x="7095" y="5637"/>
                </a:lnTo>
                <a:lnTo>
                  <a:pt x="7073" y="5619"/>
                </a:lnTo>
                <a:lnTo>
                  <a:pt x="7053" y="5598"/>
                </a:lnTo>
                <a:lnTo>
                  <a:pt x="7036" y="5578"/>
                </a:lnTo>
                <a:lnTo>
                  <a:pt x="7029" y="5568"/>
                </a:lnTo>
                <a:lnTo>
                  <a:pt x="7024" y="5560"/>
                </a:lnTo>
                <a:lnTo>
                  <a:pt x="7020" y="5551"/>
                </a:lnTo>
                <a:lnTo>
                  <a:pt x="7017" y="5545"/>
                </a:lnTo>
                <a:lnTo>
                  <a:pt x="7017" y="5536"/>
                </a:lnTo>
                <a:lnTo>
                  <a:pt x="7017" y="5528"/>
                </a:lnTo>
                <a:lnTo>
                  <a:pt x="7019" y="5509"/>
                </a:lnTo>
                <a:lnTo>
                  <a:pt x="7023" y="5491"/>
                </a:lnTo>
                <a:lnTo>
                  <a:pt x="7027" y="5473"/>
                </a:lnTo>
                <a:lnTo>
                  <a:pt x="7038" y="5437"/>
                </a:lnTo>
                <a:lnTo>
                  <a:pt x="7042" y="5418"/>
                </a:lnTo>
                <a:lnTo>
                  <a:pt x="7045" y="5401"/>
                </a:lnTo>
                <a:lnTo>
                  <a:pt x="7059" y="5313"/>
                </a:lnTo>
                <a:lnTo>
                  <a:pt x="7072" y="5225"/>
                </a:lnTo>
                <a:lnTo>
                  <a:pt x="7077" y="5180"/>
                </a:lnTo>
                <a:lnTo>
                  <a:pt x="7082" y="5136"/>
                </a:lnTo>
                <a:lnTo>
                  <a:pt x="7085" y="5091"/>
                </a:lnTo>
                <a:lnTo>
                  <a:pt x="7087" y="5046"/>
                </a:lnTo>
                <a:lnTo>
                  <a:pt x="7091" y="4900"/>
                </a:lnTo>
                <a:lnTo>
                  <a:pt x="7092" y="4828"/>
                </a:lnTo>
                <a:lnTo>
                  <a:pt x="7092" y="4755"/>
                </a:lnTo>
                <a:lnTo>
                  <a:pt x="7090" y="4682"/>
                </a:lnTo>
                <a:lnTo>
                  <a:pt x="7087" y="4609"/>
                </a:lnTo>
                <a:lnTo>
                  <a:pt x="7082" y="4537"/>
                </a:lnTo>
                <a:lnTo>
                  <a:pt x="7074" y="4463"/>
                </a:lnTo>
                <a:lnTo>
                  <a:pt x="7062" y="4356"/>
                </a:lnTo>
                <a:lnTo>
                  <a:pt x="7056" y="4301"/>
                </a:lnTo>
                <a:lnTo>
                  <a:pt x="7048" y="4248"/>
                </a:lnTo>
                <a:lnTo>
                  <a:pt x="7042" y="4218"/>
                </a:lnTo>
                <a:lnTo>
                  <a:pt x="7035" y="4187"/>
                </a:lnTo>
                <a:lnTo>
                  <a:pt x="7032" y="4171"/>
                </a:lnTo>
                <a:lnTo>
                  <a:pt x="7031" y="4155"/>
                </a:lnTo>
                <a:lnTo>
                  <a:pt x="7031" y="4140"/>
                </a:lnTo>
                <a:lnTo>
                  <a:pt x="7035" y="4125"/>
                </a:lnTo>
                <a:lnTo>
                  <a:pt x="7038" y="4114"/>
                </a:lnTo>
                <a:lnTo>
                  <a:pt x="7042" y="4104"/>
                </a:lnTo>
                <a:lnTo>
                  <a:pt x="7046" y="4094"/>
                </a:lnTo>
                <a:lnTo>
                  <a:pt x="7053" y="4084"/>
                </a:lnTo>
                <a:lnTo>
                  <a:pt x="7066" y="4064"/>
                </a:lnTo>
                <a:lnTo>
                  <a:pt x="7080" y="4044"/>
                </a:lnTo>
                <a:lnTo>
                  <a:pt x="7109" y="4006"/>
                </a:lnTo>
                <a:lnTo>
                  <a:pt x="7123" y="3988"/>
                </a:lnTo>
                <a:lnTo>
                  <a:pt x="7136" y="3969"/>
                </a:lnTo>
                <a:lnTo>
                  <a:pt x="7203" y="3863"/>
                </a:lnTo>
                <a:lnTo>
                  <a:pt x="7236" y="3811"/>
                </a:lnTo>
                <a:lnTo>
                  <a:pt x="7268" y="3758"/>
                </a:lnTo>
                <a:lnTo>
                  <a:pt x="7300" y="3703"/>
                </a:lnTo>
                <a:lnTo>
                  <a:pt x="7330" y="3648"/>
                </a:lnTo>
                <a:lnTo>
                  <a:pt x="7345" y="3621"/>
                </a:lnTo>
                <a:lnTo>
                  <a:pt x="7359" y="3593"/>
                </a:lnTo>
                <a:lnTo>
                  <a:pt x="7372" y="3564"/>
                </a:lnTo>
                <a:lnTo>
                  <a:pt x="7383" y="3536"/>
                </a:lnTo>
                <a:lnTo>
                  <a:pt x="7401" y="3491"/>
                </a:lnTo>
                <a:lnTo>
                  <a:pt x="7417" y="3446"/>
                </a:lnTo>
                <a:lnTo>
                  <a:pt x="7431" y="3400"/>
                </a:lnTo>
                <a:lnTo>
                  <a:pt x="7443" y="3354"/>
                </a:lnTo>
                <a:lnTo>
                  <a:pt x="7455" y="3307"/>
                </a:lnTo>
                <a:lnTo>
                  <a:pt x="7466" y="3261"/>
                </a:lnTo>
                <a:lnTo>
                  <a:pt x="7487" y="3168"/>
                </a:lnTo>
                <a:lnTo>
                  <a:pt x="7489" y="3154"/>
                </a:lnTo>
                <a:lnTo>
                  <a:pt x="7490" y="3138"/>
                </a:lnTo>
                <a:lnTo>
                  <a:pt x="7493" y="3119"/>
                </a:lnTo>
                <a:lnTo>
                  <a:pt x="7496" y="3100"/>
                </a:lnTo>
                <a:lnTo>
                  <a:pt x="7500" y="3082"/>
                </a:lnTo>
                <a:lnTo>
                  <a:pt x="7503" y="3075"/>
                </a:lnTo>
                <a:lnTo>
                  <a:pt x="7508" y="3067"/>
                </a:lnTo>
                <a:lnTo>
                  <a:pt x="7512" y="3061"/>
                </a:lnTo>
                <a:lnTo>
                  <a:pt x="7516" y="3057"/>
                </a:lnTo>
                <a:lnTo>
                  <a:pt x="7523" y="3053"/>
                </a:lnTo>
                <a:lnTo>
                  <a:pt x="7529" y="3051"/>
                </a:lnTo>
                <a:close/>
                <a:moveTo>
                  <a:pt x="2180" y="3959"/>
                </a:moveTo>
                <a:lnTo>
                  <a:pt x="2180" y="3959"/>
                </a:lnTo>
                <a:lnTo>
                  <a:pt x="2192" y="3960"/>
                </a:lnTo>
                <a:lnTo>
                  <a:pt x="2203" y="3962"/>
                </a:lnTo>
                <a:lnTo>
                  <a:pt x="2211" y="3966"/>
                </a:lnTo>
                <a:lnTo>
                  <a:pt x="2220" y="3973"/>
                </a:lnTo>
                <a:lnTo>
                  <a:pt x="2227" y="3981"/>
                </a:lnTo>
                <a:lnTo>
                  <a:pt x="2235" y="3990"/>
                </a:lnTo>
                <a:lnTo>
                  <a:pt x="2240" y="4000"/>
                </a:lnTo>
                <a:lnTo>
                  <a:pt x="2246" y="4011"/>
                </a:lnTo>
                <a:lnTo>
                  <a:pt x="2255" y="4035"/>
                </a:lnTo>
                <a:lnTo>
                  <a:pt x="2264" y="4058"/>
                </a:lnTo>
                <a:lnTo>
                  <a:pt x="2270" y="4081"/>
                </a:lnTo>
                <a:lnTo>
                  <a:pt x="2278" y="4100"/>
                </a:lnTo>
                <a:lnTo>
                  <a:pt x="2302" y="4160"/>
                </a:lnTo>
                <a:lnTo>
                  <a:pt x="2328" y="4219"/>
                </a:lnTo>
                <a:lnTo>
                  <a:pt x="2356" y="4279"/>
                </a:lnTo>
                <a:lnTo>
                  <a:pt x="2384" y="4338"/>
                </a:lnTo>
                <a:lnTo>
                  <a:pt x="2412" y="4395"/>
                </a:lnTo>
                <a:lnTo>
                  <a:pt x="2442" y="4453"/>
                </a:lnTo>
                <a:lnTo>
                  <a:pt x="2472" y="4511"/>
                </a:lnTo>
                <a:lnTo>
                  <a:pt x="2503" y="4567"/>
                </a:lnTo>
                <a:lnTo>
                  <a:pt x="2542" y="4634"/>
                </a:lnTo>
                <a:lnTo>
                  <a:pt x="2582" y="4700"/>
                </a:lnTo>
                <a:lnTo>
                  <a:pt x="2622" y="4767"/>
                </a:lnTo>
                <a:lnTo>
                  <a:pt x="2664" y="4831"/>
                </a:lnTo>
                <a:lnTo>
                  <a:pt x="2707" y="4895"/>
                </a:lnTo>
                <a:lnTo>
                  <a:pt x="2752" y="4958"/>
                </a:lnTo>
                <a:lnTo>
                  <a:pt x="2797" y="5020"/>
                </a:lnTo>
                <a:lnTo>
                  <a:pt x="2844" y="5081"/>
                </a:lnTo>
                <a:lnTo>
                  <a:pt x="2903" y="5156"/>
                </a:lnTo>
                <a:lnTo>
                  <a:pt x="2933" y="5194"/>
                </a:lnTo>
                <a:lnTo>
                  <a:pt x="2964" y="5229"/>
                </a:lnTo>
                <a:lnTo>
                  <a:pt x="2971" y="5238"/>
                </a:lnTo>
                <a:lnTo>
                  <a:pt x="2981" y="5246"/>
                </a:lnTo>
                <a:lnTo>
                  <a:pt x="2999" y="5264"/>
                </a:lnTo>
                <a:lnTo>
                  <a:pt x="3008" y="5274"/>
                </a:lnTo>
                <a:lnTo>
                  <a:pt x="3015" y="5284"/>
                </a:lnTo>
                <a:lnTo>
                  <a:pt x="3021" y="5294"/>
                </a:lnTo>
                <a:lnTo>
                  <a:pt x="3024" y="5300"/>
                </a:lnTo>
                <a:lnTo>
                  <a:pt x="3026" y="5306"/>
                </a:lnTo>
                <a:lnTo>
                  <a:pt x="3026" y="5310"/>
                </a:lnTo>
                <a:lnTo>
                  <a:pt x="3026" y="5315"/>
                </a:lnTo>
                <a:lnTo>
                  <a:pt x="3025" y="5324"/>
                </a:lnTo>
                <a:lnTo>
                  <a:pt x="3021" y="5333"/>
                </a:lnTo>
                <a:lnTo>
                  <a:pt x="3016" y="5342"/>
                </a:lnTo>
                <a:lnTo>
                  <a:pt x="3011" y="5350"/>
                </a:lnTo>
                <a:lnTo>
                  <a:pt x="3004" y="5359"/>
                </a:lnTo>
                <a:lnTo>
                  <a:pt x="2993" y="5374"/>
                </a:lnTo>
                <a:lnTo>
                  <a:pt x="2961" y="5413"/>
                </a:lnTo>
                <a:lnTo>
                  <a:pt x="2930" y="5452"/>
                </a:lnTo>
                <a:lnTo>
                  <a:pt x="2866" y="5529"/>
                </a:lnTo>
                <a:lnTo>
                  <a:pt x="2755" y="5662"/>
                </a:lnTo>
                <a:lnTo>
                  <a:pt x="2646" y="5797"/>
                </a:lnTo>
                <a:lnTo>
                  <a:pt x="2429" y="6067"/>
                </a:lnTo>
                <a:lnTo>
                  <a:pt x="2412" y="6088"/>
                </a:lnTo>
                <a:lnTo>
                  <a:pt x="2393" y="6115"/>
                </a:lnTo>
                <a:lnTo>
                  <a:pt x="2372" y="6144"/>
                </a:lnTo>
                <a:lnTo>
                  <a:pt x="2349" y="6174"/>
                </a:lnTo>
                <a:lnTo>
                  <a:pt x="2338" y="6188"/>
                </a:lnTo>
                <a:lnTo>
                  <a:pt x="2326" y="6202"/>
                </a:lnTo>
                <a:lnTo>
                  <a:pt x="2313" y="6214"/>
                </a:lnTo>
                <a:lnTo>
                  <a:pt x="2300" y="6224"/>
                </a:lnTo>
                <a:lnTo>
                  <a:pt x="2287" y="6233"/>
                </a:lnTo>
                <a:lnTo>
                  <a:pt x="2274" y="6240"/>
                </a:lnTo>
                <a:lnTo>
                  <a:pt x="2262" y="6245"/>
                </a:lnTo>
                <a:lnTo>
                  <a:pt x="2255" y="6247"/>
                </a:lnTo>
                <a:lnTo>
                  <a:pt x="2249" y="6247"/>
                </a:lnTo>
                <a:lnTo>
                  <a:pt x="2235" y="6247"/>
                </a:lnTo>
                <a:lnTo>
                  <a:pt x="2221" y="6245"/>
                </a:lnTo>
                <a:lnTo>
                  <a:pt x="2207" y="6240"/>
                </a:lnTo>
                <a:lnTo>
                  <a:pt x="2193" y="6235"/>
                </a:lnTo>
                <a:lnTo>
                  <a:pt x="2166" y="6224"/>
                </a:lnTo>
                <a:lnTo>
                  <a:pt x="2154" y="6218"/>
                </a:lnTo>
                <a:lnTo>
                  <a:pt x="2141" y="6214"/>
                </a:lnTo>
                <a:lnTo>
                  <a:pt x="2101" y="6199"/>
                </a:lnTo>
                <a:lnTo>
                  <a:pt x="2063" y="6183"/>
                </a:lnTo>
                <a:lnTo>
                  <a:pt x="2024" y="6164"/>
                </a:lnTo>
                <a:lnTo>
                  <a:pt x="1987" y="6146"/>
                </a:lnTo>
                <a:lnTo>
                  <a:pt x="1913" y="6107"/>
                </a:lnTo>
                <a:lnTo>
                  <a:pt x="1838" y="6068"/>
                </a:lnTo>
                <a:lnTo>
                  <a:pt x="1805" y="6051"/>
                </a:lnTo>
                <a:lnTo>
                  <a:pt x="1774" y="6034"/>
                </a:lnTo>
                <a:lnTo>
                  <a:pt x="1741" y="6015"/>
                </a:lnTo>
                <a:lnTo>
                  <a:pt x="1710" y="5995"/>
                </a:lnTo>
                <a:lnTo>
                  <a:pt x="1680" y="5975"/>
                </a:lnTo>
                <a:lnTo>
                  <a:pt x="1649" y="5955"/>
                </a:lnTo>
                <a:lnTo>
                  <a:pt x="1619" y="5933"/>
                </a:lnTo>
                <a:lnTo>
                  <a:pt x="1591" y="5911"/>
                </a:lnTo>
                <a:lnTo>
                  <a:pt x="1533" y="5866"/>
                </a:lnTo>
                <a:lnTo>
                  <a:pt x="1476" y="5818"/>
                </a:lnTo>
                <a:lnTo>
                  <a:pt x="1422" y="5769"/>
                </a:lnTo>
                <a:lnTo>
                  <a:pt x="1367" y="5720"/>
                </a:lnTo>
                <a:lnTo>
                  <a:pt x="1310" y="5668"/>
                </a:lnTo>
                <a:lnTo>
                  <a:pt x="1281" y="5640"/>
                </a:lnTo>
                <a:lnTo>
                  <a:pt x="1252" y="5610"/>
                </a:lnTo>
                <a:lnTo>
                  <a:pt x="1226" y="5580"/>
                </a:lnTo>
                <a:lnTo>
                  <a:pt x="1200" y="5549"/>
                </a:lnTo>
                <a:lnTo>
                  <a:pt x="1188" y="5533"/>
                </a:lnTo>
                <a:lnTo>
                  <a:pt x="1176" y="5517"/>
                </a:lnTo>
                <a:lnTo>
                  <a:pt x="1166" y="5501"/>
                </a:lnTo>
                <a:lnTo>
                  <a:pt x="1156" y="5485"/>
                </a:lnTo>
                <a:lnTo>
                  <a:pt x="1144" y="5463"/>
                </a:lnTo>
                <a:lnTo>
                  <a:pt x="1135" y="5441"/>
                </a:lnTo>
                <a:lnTo>
                  <a:pt x="1124" y="5417"/>
                </a:lnTo>
                <a:lnTo>
                  <a:pt x="1115" y="5394"/>
                </a:lnTo>
                <a:lnTo>
                  <a:pt x="1108" y="5370"/>
                </a:lnTo>
                <a:lnTo>
                  <a:pt x="1100" y="5345"/>
                </a:lnTo>
                <a:lnTo>
                  <a:pt x="1093" y="5320"/>
                </a:lnTo>
                <a:lnTo>
                  <a:pt x="1087" y="5294"/>
                </a:lnTo>
                <a:lnTo>
                  <a:pt x="1076" y="5244"/>
                </a:lnTo>
                <a:lnTo>
                  <a:pt x="1067" y="5193"/>
                </a:lnTo>
                <a:lnTo>
                  <a:pt x="1060" y="5142"/>
                </a:lnTo>
                <a:lnTo>
                  <a:pt x="1053" y="5094"/>
                </a:lnTo>
                <a:lnTo>
                  <a:pt x="1045" y="5026"/>
                </a:lnTo>
                <a:lnTo>
                  <a:pt x="1037" y="4957"/>
                </a:lnTo>
                <a:lnTo>
                  <a:pt x="1031" y="4890"/>
                </a:lnTo>
                <a:lnTo>
                  <a:pt x="1026" y="4821"/>
                </a:lnTo>
                <a:lnTo>
                  <a:pt x="1022" y="4753"/>
                </a:lnTo>
                <a:lnTo>
                  <a:pt x="1021" y="4719"/>
                </a:lnTo>
                <a:lnTo>
                  <a:pt x="1022" y="4684"/>
                </a:lnTo>
                <a:lnTo>
                  <a:pt x="1022" y="4650"/>
                </a:lnTo>
                <a:lnTo>
                  <a:pt x="1024" y="4616"/>
                </a:lnTo>
                <a:lnTo>
                  <a:pt x="1027" y="4582"/>
                </a:lnTo>
                <a:lnTo>
                  <a:pt x="1030" y="4547"/>
                </a:lnTo>
                <a:lnTo>
                  <a:pt x="1038" y="4467"/>
                </a:lnTo>
                <a:lnTo>
                  <a:pt x="1046" y="4386"/>
                </a:lnTo>
                <a:lnTo>
                  <a:pt x="1053" y="4305"/>
                </a:lnTo>
                <a:lnTo>
                  <a:pt x="1058" y="4265"/>
                </a:lnTo>
                <a:lnTo>
                  <a:pt x="1062" y="4224"/>
                </a:lnTo>
                <a:lnTo>
                  <a:pt x="1064" y="4210"/>
                </a:lnTo>
                <a:lnTo>
                  <a:pt x="1065" y="4194"/>
                </a:lnTo>
                <a:lnTo>
                  <a:pt x="1067" y="4161"/>
                </a:lnTo>
                <a:lnTo>
                  <a:pt x="1069" y="4145"/>
                </a:lnTo>
                <a:lnTo>
                  <a:pt x="1073" y="4129"/>
                </a:lnTo>
                <a:lnTo>
                  <a:pt x="1078" y="4115"/>
                </a:lnTo>
                <a:lnTo>
                  <a:pt x="1081" y="4107"/>
                </a:lnTo>
                <a:lnTo>
                  <a:pt x="1084" y="4102"/>
                </a:lnTo>
                <a:lnTo>
                  <a:pt x="1092" y="4095"/>
                </a:lnTo>
                <a:lnTo>
                  <a:pt x="1099" y="4088"/>
                </a:lnTo>
                <a:lnTo>
                  <a:pt x="1109" y="4084"/>
                </a:lnTo>
                <a:lnTo>
                  <a:pt x="1119" y="4081"/>
                </a:lnTo>
                <a:lnTo>
                  <a:pt x="1128" y="4079"/>
                </a:lnTo>
                <a:lnTo>
                  <a:pt x="1139" y="4076"/>
                </a:lnTo>
                <a:lnTo>
                  <a:pt x="1159" y="4074"/>
                </a:lnTo>
                <a:lnTo>
                  <a:pt x="1257" y="4056"/>
                </a:lnTo>
                <a:lnTo>
                  <a:pt x="1355" y="4039"/>
                </a:lnTo>
                <a:lnTo>
                  <a:pt x="1407" y="4031"/>
                </a:lnTo>
                <a:lnTo>
                  <a:pt x="1458" y="4024"/>
                </a:lnTo>
                <a:lnTo>
                  <a:pt x="1561" y="4010"/>
                </a:lnTo>
                <a:lnTo>
                  <a:pt x="1663" y="3999"/>
                </a:lnTo>
                <a:lnTo>
                  <a:pt x="1767" y="3990"/>
                </a:lnTo>
                <a:lnTo>
                  <a:pt x="1870" y="3982"/>
                </a:lnTo>
                <a:lnTo>
                  <a:pt x="1974" y="3975"/>
                </a:lnTo>
                <a:lnTo>
                  <a:pt x="2180" y="3959"/>
                </a:lnTo>
                <a:close/>
                <a:moveTo>
                  <a:pt x="5711" y="4030"/>
                </a:moveTo>
                <a:lnTo>
                  <a:pt x="5711" y="4030"/>
                </a:lnTo>
                <a:lnTo>
                  <a:pt x="5724" y="4027"/>
                </a:lnTo>
                <a:lnTo>
                  <a:pt x="5736" y="4025"/>
                </a:lnTo>
                <a:lnTo>
                  <a:pt x="5751" y="4024"/>
                </a:lnTo>
                <a:lnTo>
                  <a:pt x="5765" y="4024"/>
                </a:lnTo>
                <a:lnTo>
                  <a:pt x="5796" y="4025"/>
                </a:lnTo>
                <a:lnTo>
                  <a:pt x="5827" y="4028"/>
                </a:lnTo>
                <a:lnTo>
                  <a:pt x="5860" y="4033"/>
                </a:lnTo>
                <a:lnTo>
                  <a:pt x="5889" y="4037"/>
                </a:lnTo>
                <a:lnTo>
                  <a:pt x="5919" y="4041"/>
                </a:lnTo>
                <a:lnTo>
                  <a:pt x="5946" y="4044"/>
                </a:lnTo>
                <a:lnTo>
                  <a:pt x="6023" y="4051"/>
                </a:lnTo>
                <a:lnTo>
                  <a:pt x="6101" y="4059"/>
                </a:lnTo>
                <a:lnTo>
                  <a:pt x="6178" y="4068"/>
                </a:lnTo>
                <a:lnTo>
                  <a:pt x="6255" y="4078"/>
                </a:lnTo>
                <a:lnTo>
                  <a:pt x="6410" y="4098"/>
                </a:lnTo>
                <a:lnTo>
                  <a:pt x="6564" y="4117"/>
                </a:lnTo>
                <a:lnTo>
                  <a:pt x="6594" y="4119"/>
                </a:lnTo>
                <a:lnTo>
                  <a:pt x="6629" y="4122"/>
                </a:lnTo>
                <a:lnTo>
                  <a:pt x="6668" y="4126"/>
                </a:lnTo>
                <a:lnTo>
                  <a:pt x="6708" y="4131"/>
                </a:lnTo>
                <a:lnTo>
                  <a:pt x="6729" y="4134"/>
                </a:lnTo>
                <a:lnTo>
                  <a:pt x="6748" y="4139"/>
                </a:lnTo>
                <a:lnTo>
                  <a:pt x="6766" y="4144"/>
                </a:lnTo>
                <a:lnTo>
                  <a:pt x="6784" y="4149"/>
                </a:lnTo>
                <a:lnTo>
                  <a:pt x="6800" y="4156"/>
                </a:lnTo>
                <a:lnTo>
                  <a:pt x="6814" y="4163"/>
                </a:lnTo>
                <a:lnTo>
                  <a:pt x="6827" y="4172"/>
                </a:lnTo>
                <a:lnTo>
                  <a:pt x="6832" y="4176"/>
                </a:lnTo>
                <a:lnTo>
                  <a:pt x="6837" y="4181"/>
                </a:lnTo>
                <a:lnTo>
                  <a:pt x="6844" y="4192"/>
                </a:lnTo>
                <a:lnTo>
                  <a:pt x="6849" y="4204"/>
                </a:lnTo>
                <a:lnTo>
                  <a:pt x="6854" y="4217"/>
                </a:lnTo>
                <a:lnTo>
                  <a:pt x="6858" y="4231"/>
                </a:lnTo>
                <a:lnTo>
                  <a:pt x="6862" y="4258"/>
                </a:lnTo>
                <a:lnTo>
                  <a:pt x="6867" y="4284"/>
                </a:lnTo>
                <a:lnTo>
                  <a:pt x="6875" y="4341"/>
                </a:lnTo>
                <a:lnTo>
                  <a:pt x="6883" y="4397"/>
                </a:lnTo>
                <a:lnTo>
                  <a:pt x="6897" y="4511"/>
                </a:lnTo>
                <a:lnTo>
                  <a:pt x="6902" y="4559"/>
                </a:lnTo>
                <a:lnTo>
                  <a:pt x="6907" y="4607"/>
                </a:lnTo>
                <a:lnTo>
                  <a:pt x="6910" y="4655"/>
                </a:lnTo>
                <a:lnTo>
                  <a:pt x="6914" y="4702"/>
                </a:lnTo>
                <a:lnTo>
                  <a:pt x="6916" y="4751"/>
                </a:lnTo>
                <a:lnTo>
                  <a:pt x="6917" y="4798"/>
                </a:lnTo>
                <a:lnTo>
                  <a:pt x="6917" y="4845"/>
                </a:lnTo>
                <a:lnTo>
                  <a:pt x="6916" y="4893"/>
                </a:lnTo>
                <a:lnTo>
                  <a:pt x="6915" y="4940"/>
                </a:lnTo>
                <a:lnTo>
                  <a:pt x="6912" y="4987"/>
                </a:lnTo>
                <a:lnTo>
                  <a:pt x="6908" y="5035"/>
                </a:lnTo>
                <a:lnTo>
                  <a:pt x="6905" y="5082"/>
                </a:lnTo>
                <a:lnTo>
                  <a:pt x="6900" y="5130"/>
                </a:lnTo>
                <a:lnTo>
                  <a:pt x="6894" y="5178"/>
                </a:lnTo>
                <a:lnTo>
                  <a:pt x="6888" y="5226"/>
                </a:lnTo>
                <a:lnTo>
                  <a:pt x="6880" y="5273"/>
                </a:lnTo>
                <a:lnTo>
                  <a:pt x="6870" y="5351"/>
                </a:lnTo>
                <a:lnTo>
                  <a:pt x="6863" y="5392"/>
                </a:lnTo>
                <a:lnTo>
                  <a:pt x="6856" y="5432"/>
                </a:lnTo>
                <a:lnTo>
                  <a:pt x="6847" y="5473"/>
                </a:lnTo>
                <a:lnTo>
                  <a:pt x="6838" y="5512"/>
                </a:lnTo>
                <a:lnTo>
                  <a:pt x="6832" y="5531"/>
                </a:lnTo>
                <a:lnTo>
                  <a:pt x="6826" y="5549"/>
                </a:lnTo>
                <a:lnTo>
                  <a:pt x="6818" y="5567"/>
                </a:lnTo>
                <a:lnTo>
                  <a:pt x="6811" y="5584"/>
                </a:lnTo>
                <a:lnTo>
                  <a:pt x="6801" y="5603"/>
                </a:lnTo>
                <a:lnTo>
                  <a:pt x="6791" y="5620"/>
                </a:lnTo>
                <a:lnTo>
                  <a:pt x="6778" y="5637"/>
                </a:lnTo>
                <a:lnTo>
                  <a:pt x="6764" y="5653"/>
                </a:lnTo>
                <a:lnTo>
                  <a:pt x="6749" y="5670"/>
                </a:lnTo>
                <a:lnTo>
                  <a:pt x="6733" y="5685"/>
                </a:lnTo>
                <a:lnTo>
                  <a:pt x="6716" y="5701"/>
                </a:lnTo>
                <a:lnTo>
                  <a:pt x="6697" y="5716"/>
                </a:lnTo>
                <a:lnTo>
                  <a:pt x="6661" y="5745"/>
                </a:lnTo>
                <a:lnTo>
                  <a:pt x="6625" y="5773"/>
                </a:lnTo>
                <a:lnTo>
                  <a:pt x="6556" y="5823"/>
                </a:lnTo>
                <a:lnTo>
                  <a:pt x="6509" y="5857"/>
                </a:lnTo>
                <a:lnTo>
                  <a:pt x="6462" y="5890"/>
                </a:lnTo>
                <a:lnTo>
                  <a:pt x="6414" y="5925"/>
                </a:lnTo>
                <a:lnTo>
                  <a:pt x="6364" y="5958"/>
                </a:lnTo>
                <a:lnTo>
                  <a:pt x="6313" y="5990"/>
                </a:lnTo>
                <a:lnTo>
                  <a:pt x="6262" y="6021"/>
                </a:lnTo>
                <a:lnTo>
                  <a:pt x="6209" y="6052"/>
                </a:lnTo>
                <a:lnTo>
                  <a:pt x="6157" y="6081"/>
                </a:lnTo>
                <a:lnTo>
                  <a:pt x="6104" y="6109"/>
                </a:lnTo>
                <a:lnTo>
                  <a:pt x="6050" y="6135"/>
                </a:lnTo>
                <a:lnTo>
                  <a:pt x="5995" y="6161"/>
                </a:lnTo>
                <a:lnTo>
                  <a:pt x="5941" y="6185"/>
                </a:lnTo>
                <a:lnTo>
                  <a:pt x="5885" y="6207"/>
                </a:lnTo>
                <a:lnTo>
                  <a:pt x="5830" y="6228"/>
                </a:lnTo>
                <a:lnTo>
                  <a:pt x="5774" y="6246"/>
                </a:lnTo>
                <a:lnTo>
                  <a:pt x="5718" y="6262"/>
                </a:lnTo>
                <a:lnTo>
                  <a:pt x="5703" y="6265"/>
                </a:lnTo>
                <a:lnTo>
                  <a:pt x="5689" y="6266"/>
                </a:lnTo>
                <a:lnTo>
                  <a:pt x="5677" y="6266"/>
                </a:lnTo>
                <a:lnTo>
                  <a:pt x="5664" y="6265"/>
                </a:lnTo>
                <a:lnTo>
                  <a:pt x="5652" y="6262"/>
                </a:lnTo>
                <a:lnTo>
                  <a:pt x="5641" y="6256"/>
                </a:lnTo>
                <a:lnTo>
                  <a:pt x="5631" y="6251"/>
                </a:lnTo>
                <a:lnTo>
                  <a:pt x="5621" y="6245"/>
                </a:lnTo>
                <a:lnTo>
                  <a:pt x="5611" y="6237"/>
                </a:lnTo>
                <a:lnTo>
                  <a:pt x="5603" y="6229"/>
                </a:lnTo>
                <a:lnTo>
                  <a:pt x="5584" y="6209"/>
                </a:lnTo>
                <a:lnTo>
                  <a:pt x="5548" y="6167"/>
                </a:lnTo>
                <a:lnTo>
                  <a:pt x="5509" y="6122"/>
                </a:lnTo>
                <a:lnTo>
                  <a:pt x="5470" y="6074"/>
                </a:lnTo>
                <a:lnTo>
                  <a:pt x="5433" y="6027"/>
                </a:lnTo>
                <a:lnTo>
                  <a:pt x="5396" y="5979"/>
                </a:lnTo>
                <a:lnTo>
                  <a:pt x="5323" y="5882"/>
                </a:lnTo>
                <a:lnTo>
                  <a:pt x="5252" y="5784"/>
                </a:lnTo>
                <a:lnTo>
                  <a:pt x="5136" y="5631"/>
                </a:lnTo>
                <a:lnTo>
                  <a:pt x="5079" y="5554"/>
                </a:lnTo>
                <a:lnTo>
                  <a:pt x="5023" y="5477"/>
                </a:lnTo>
                <a:lnTo>
                  <a:pt x="5012" y="5463"/>
                </a:lnTo>
                <a:lnTo>
                  <a:pt x="5000" y="5448"/>
                </a:lnTo>
                <a:lnTo>
                  <a:pt x="4987" y="5433"/>
                </a:lnTo>
                <a:lnTo>
                  <a:pt x="4974" y="5416"/>
                </a:lnTo>
                <a:lnTo>
                  <a:pt x="4963" y="5400"/>
                </a:lnTo>
                <a:lnTo>
                  <a:pt x="4953" y="5383"/>
                </a:lnTo>
                <a:lnTo>
                  <a:pt x="4949" y="5375"/>
                </a:lnTo>
                <a:lnTo>
                  <a:pt x="4946" y="5366"/>
                </a:lnTo>
                <a:lnTo>
                  <a:pt x="4945" y="5357"/>
                </a:lnTo>
                <a:lnTo>
                  <a:pt x="4943" y="5350"/>
                </a:lnTo>
                <a:lnTo>
                  <a:pt x="4943" y="5344"/>
                </a:lnTo>
                <a:lnTo>
                  <a:pt x="4945" y="5338"/>
                </a:lnTo>
                <a:lnTo>
                  <a:pt x="4948" y="5326"/>
                </a:lnTo>
                <a:lnTo>
                  <a:pt x="4954" y="5315"/>
                </a:lnTo>
                <a:lnTo>
                  <a:pt x="4962" y="5304"/>
                </a:lnTo>
                <a:lnTo>
                  <a:pt x="4978" y="5284"/>
                </a:lnTo>
                <a:lnTo>
                  <a:pt x="4986" y="5274"/>
                </a:lnTo>
                <a:lnTo>
                  <a:pt x="4993" y="5265"/>
                </a:lnTo>
                <a:lnTo>
                  <a:pt x="5026" y="5219"/>
                </a:lnTo>
                <a:lnTo>
                  <a:pt x="5057" y="5172"/>
                </a:lnTo>
                <a:lnTo>
                  <a:pt x="5087" y="5125"/>
                </a:lnTo>
                <a:lnTo>
                  <a:pt x="5117" y="5078"/>
                </a:lnTo>
                <a:lnTo>
                  <a:pt x="5231" y="4898"/>
                </a:lnTo>
                <a:lnTo>
                  <a:pt x="5288" y="4808"/>
                </a:lnTo>
                <a:lnTo>
                  <a:pt x="5345" y="4717"/>
                </a:lnTo>
                <a:lnTo>
                  <a:pt x="5399" y="4625"/>
                </a:lnTo>
                <a:lnTo>
                  <a:pt x="5426" y="4579"/>
                </a:lnTo>
                <a:lnTo>
                  <a:pt x="5453" y="4533"/>
                </a:lnTo>
                <a:lnTo>
                  <a:pt x="5479" y="4486"/>
                </a:lnTo>
                <a:lnTo>
                  <a:pt x="5503" y="4439"/>
                </a:lnTo>
                <a:lnTo>
                  <a:pt x="5527" y="4392"/>
                </a:lnTo>
                <a:lnTo>
                  <a:pt x="5550" y="4344"/>
                </a:lnTo>
                <a:lnTo>
                  <a:pt x="5605" y="4229"/>
                </a:lnTo>
                <a:lnTo>
                  <a:pt x="5631" y="4172"/>
                </a:lnTo>
                <a:lnTo>
                  <a:pt x="5656" y="4113"/>
                </a:lnTo>
                <a:lnTo>
                  <a:pt x="5665" y="4089"/>
                </a:lnTo>
                <a:lnTo>
                  <a:pt x="5670" y="4076"/>
                </a:lnTo>
                <a:lnTo>
                  <a:pt x="5675" y="4065"/>
                </a:lnTo>
                <a:lnTo>
                  <a:pt x="5682" y="4053"/>
                </a:lnTo>
                <a:lnTo>
                  <a:pt x="5689" y="4043"/>
                </a:lnTo>
                <a:lnTo>
                  <a:pt x="5694" y="4039"/>
                </a:lnTo>
                <a:lnTo>
                  <a:pt x="5699" y="4036"/>
                </a:lnTo>
                <a:lnTo>
                  <a:pt x="5704" y="4033"/>
                </a:lnTo>
                <a:lnTo>
                  <a:pt x="5711" y="4030"/>
                </a:lnTo>
                <a:close/>
                <a:moveTo>
                  <a:pt x="3199" y="5422"/>
                </a:moveTo>
                <a:lnTo>
                  <a:pt x="3199" y="5422"/>
                </a:lnTo>
                <a:lnTo>
                  <a:pt x="3205" y="5420"/>
                </a:lnTo>
                <a:lnTo>
                  <a:pt x="3213" y="5417"/>
                </a:lnTo>
                <a:lnTo>
                  <a:pt x="3229" y="5415"/>
                </a:lnTo>
                <a:lnTo>
                  <a:pt x="3246" y="5415"/>
                </a:lnTo>
                <a:lnTo>
                  <a:pt x="3263" y="5416"/>
                </a:lnTo>
                <a:lnTo>
                  <a:pt x="3281" y="5418"/>
                </a:lnTo>
                <a:lnTo>
                  <a:pt x="3299" y="5421"/>
                </a:lnTo>
                <a:lnTo>
                  <a:pt x="3330" y="5426"/>
                </a:lnTo>
                <a:lnTo>
                  <a:pt x="3387" y="5433"/>
                </a:lnTo>
                <a:lnTo>
                  <a:pt x="3445" y="5439"/>
                </a:lnTo>
                <a:lnTo>
                  <a:pt x="3561" y="5447"/>
                </a:lnTo>
                <a:lnTo>
                  <a:pt x="3664" y="5456"/>
                </a:lnTo>
                <a:lnTo>
                  <a:pt x="3767" y="5462"/>
                </a:lnTo>
                <a:lnTo>
                  <a:pt x="3871" y="5469"/>
                </a:lnTo>
                <a:lnTo>
                  <a:pt x="3975" y="5473"/>
                </a:lnTo>
                <a:lnTo>
                  <a:pt x="4079" y="5475"/>
                </a:lnTo>
                <a:lnTo>
                  <a:pt x="4183" y="5476"/>
                </a:lnTo>
                <a:lnTo>
                  <a:pt x="4286" y="5476"/>
                </a:lnTo>
                <a:lnTo>
                  <a:pt x="4390" y="5473"/>
                </a:lnTo>
                <a:lnTo>
                  <a:pt x="4460" y="5470"/>
                </a:lnTo>
                <a:lnTo>
                  <a:pt x="4529" y="5464"/>
                </a:lnTo>
                <a:lnTo>
                  <a:pt x="4600" y="5460"/>
                </a:lnTo>
                <a:lnTo>
                  <a:pt x="4669" y="5457"/>
                </a:lnTo>
                <a:lnTo>
                  <a:pt x="4695" y="5455"/>
                </a:lnTo>
                <a:lnTo>
                  <a:pt x="4724" y="5453"/>
                </a:lnTo>
                <a:lnTo>
                  <a:pt x="4739" y="5453"/>
                </a:lnTo>
                <a:lnTo>
                  <a:pt x="4753" y="5454"/>
                </a:lnTo>
                <a:lnTo>
                  <a:pt x="4766" y="5457"/>
                </a:lnTo>
                <a:lnTo>
                  <a:pt x="4771" y="5459"/>
                </a:lnTo>
                <a:lnTo>
                  <a:pt x="4777" y="5462"/>
                </a:lnTo>
                <a:lnTo>
                  <a:pt x="4789" y="5470"/>
                </a:lnTo>
                <a:lnTo>
                  <a:pt x="4800" y="5479"/>
                </a:lnTo>
                <a:lnTo>
                  <a:pt x="4812" y="5490"/>
                </a:lnTo>
                <a:lnTo>
                  <a:pt x="4823" y="5502"/>
                </a:lnTo>
                <a:lnTo>
                  <a:pt x="4832" y="5515"/>
                </a:lnTo>
                <a:lnTo>
                  <a:pt x="4842" y="5528"/>
                </a:lnTo>
                <a:lnTo>
                  <a:pt x="4861" y="5555"/>
                </a:lnTo>
                <a:lnTo>
                  <a:pt x="4879" y="5584"/>
                </a:lnTo>
                <a:lnTo>
                  <a:pt x="4896" y="5613"/>
                </a:lnTo>
                <a:lnTo>
                  <a:pt x="4913" y="5640"/>
                </a:lnTo>
                <a:lnTo>
                  <a:pt x="4931" y="5665"/>
                </a:lnTo>
                <a:lnTo>
                  <a:pt x="5027" y="5792"/>
                </a:lnTo>
                <a:lnTo>
                  <a:pt x="5124" y="5920"/>
                </a:lnTo>
                <a:lnTo>
                  <a:pt x="5221" y="6048"/>
                </a:lnTo>
                <a:lnTo>
                  <a:pt x="5319" y="6175"/>
                </a:lnTo>
                <a:lnTo>
                  <a:pt x="5349" y="6213"/>
                </a:lnTo>
                <a:lnTo>
                  <a:pt x="5381" y="6250"/>
                </a:lnTo>
                <a:lnTo>
                  <a:pt x="5413" y="6286"/>
                </a:lnTo>
                <a:lnTo>
                  <a:pt x="5445" y="6323"/>
                </a:lnTo>
                <a:lnTo>
                  <a:pt x="5460" y="6339"/>
                </a:lnTo>
                <a:lnTo>
                  <a:pt x="5468" y="6347"/>
                </a:lnTo>
                <a:lnTo>
                  <a:pt x="5475" y="6357"/>
                </a:lnTo>
                <a:lnTo>
                  <a:pt x="5482" y="6367"/>
                </a:lnTo>
                <a:lnTo>
                  <a:pt x="5486" y="6377"/>
                </a:lnTo>
                <a:lnTo>
                  <a:pt x="5490" y="6388"/>
                </a:lnTo>
                <a:lnTo>
                  <a:pt x="5491" y="6399"/>
                </a:lnTo>
                <a:lnTo>
                  <a:pt x="5490" y="6408"/>
                </a:lnTo>
                <a:lnTo>
                  <a:pt x="5487" y="6417"/>
                </a:lnTo>
                <a:lnTo>
                  <a:pt x="5483" y="6427"/>
                </a:lnTo>
                <a:lnTo>
                  <a:pt x="5477" y="6435"/>
                </a:lnTo>
                <a:lnTo>
                  <a:pt x="5466" y="6451"/>
                </a:lnTo>
                <a:lnTo>
                  <a:pt x="5454" y="6466"/>
                </a:lnTo>
                <a:lnTo>
                  <a:pt x="5426" y="6507"/>
                </a:lnTo>
                <a:lnTo>
                  <a:pt x="5397" y="6545"/>
                </a:lnTo>
                <a:lnTo>
                  <a:pt x="5367" y="6584"/>
                </a:lnTo>
                <a:lnTo>
                  <a:pt x="5335" y="6621"/>
                </a:lnTo>
                <a:lnTo>
                  <a:pt x="5240" y="6738"/>
                </a:lnTo>
                <a:lnTo>
                  <a:pt x="5192" y="6795"/>
                </a:lnTo>
                <a:lnTo>
                  <a:pt x="5143" y="6851"/>
                </a:lnTo>
                <a:lnTo>
                  <a:pt x="5092" y="6906"/>
                </a:lnTo>
                <a:lnTo>
                  <a:pt x="5041" y="6961"/>
                </a:lnTo>
                <a:lnTo>
                  <a:pt x="5015" y="6986"/>
                </a:lnTo>
                <a:lnTo>
                  <a:pt x="4987" y="7013"/>
                </a:lnTo>
                <a:lnTo>
                  <a:pt x="4961" y="7039"/>
                </a:lnTo>
                <a:lnTo>
                  <a:pt x="4933" y="7063"/>
                </a:lnTo>
                <a:lnTo>
                  <a:pt x="4891" y="7101"/>
                </a:lnTo>
                <a:lnTo>
                  <a:pt x="4870" y="7121"/>
                </a:lnTo>
                <a:lnTo>
                  <a:pt x="4847" y="7140"/>
                </a:lnTo>
                <a:lnTo>
                  <a:pt x="4825" y="7159"/>
                </a:lnTo>
                <a:lnTo>
                  <a:pt x="4801" y="7176"/>
                </a:lnTo>
                <a:lnTo>
                  <a:pt x="4778" y="7190"/>
                </a:lnTo>
                <a:lnTo>
                  <a:pt x="4766" y="7196"/>
                </a:lnTo>
                <a:lnTo>
                  <a:pt x="4753" y="7202"/>
                </a:lnTo>
                <a:lnTo>
                  <a:pt x="4725" y="7213"/>
                </a:lnTo>
                <a:lnTo>
                  <a:pt x="4697" y="7224"/>
                </a:lnTo>
                <a:lnTo>
                  <a:pt x="4668" y="7233"/>
                </a:lnTo>
                <a:lnTo>
                  <a:pt x="4638" y="7242"/>
                </a:lnTo>
                <a:lnTo>
                  <a:pt x="4608" y="7250"/>
                </a:lnTo>
                <a:lnTo>
                  <a:pt x="4579" y="7257"/>
                </a:lnTo>
                <a:lnTo>
                  <a:pt x="4549" y="7262"/>
                </a:lnTo>
                <a:lnTo>
                  <a:pt x="4518" y="7268"/>
                </a:lnTo>
                <a:lnTo>
                  <a:pt x="4457" y="7277"/>
                </a:lnTo>
                <a:lnTo>
                  <a:pt x="4394" y="7284"/>
                </a:lnTo>
                <a:lnTo>
                  <a:pt x="4333" y="7289"/>
                </a:lnTo>
                <a:lnTo>
                  <a:pt x="4274" y="7293"/>
                </a:lnTo>
                <a:lnTo>
                  <a:pt x="4222" y="7296"/>
                </a:lnTo>
                <a:lnTo>
                  <a:pt x="4171" y="7298"/>
                </a:lnTo>
                <a:lnTo>
                  <a:pt x="4119" y="7299"/>
                </a:lnTo>
                <a:lnTo>
                  <a:pt x="4068" y="7299"/>
                </a:lnTo>
                <a:lnTo>
                  <a:pt x="4018" y="7298"/>
                </a:lnTo>
                <a:lnTo>
                  <a:pt x="3966" y="7297"/>
                </a:lnTo>
                <a:lnTo>
                  <a:pt x="3916" y="7294"/>
                </a:lnTo>
                <a:lnTo>
                  <a:pt x="3865" y="7290"/>
                </a:lnTo>
                <a:lnTo>
                  <a:pt x="3814" y="7286"/>
                </a:lnTo>
                <a:lnTo>
                  <a:pt x="3763" y="7281"/>
                </a:lnTo>
                <a:lnTo>
                  <a:pt x="3713" y="7274"/>
                </a:lnTo>
                <a:lnTo>
                  <a:pt x="3662" y="7267"/>
                </a:lnTo>
                <a:lnTo>
                  <a:pt x="3612" y="7258"/>
                </a:lnTo>
                <a:lnTo>
                  <a:pt x="3562" y="7248"/>
                </a:lnTo>
                <a:lnTo>
                  <a:pt x="3512" y="7238"/>
                </a:lnTo>
                <a:lnTo>
                  <a:pt x="3461" y="7226"/>
                </a:lnTo>
                <a:lnTo>
                  <a:pt x="3420" y="7215"/>
                </a:lnTo>
                <a:lnTo>
                  <a:pt x="3377" y="7206"/>
                </a:lnTo>
                <a:lnTo>
                  <a:pt x="3334" y="7196"/>
                </a:lnTo>
                <a:lnTo>
                  <a:pt x="3291" y="7186"/>
                </a:lnTo>
                <a:lnTo>
                  <a:pt x="3248" y="7175"/>
                </a:lnTo>
                <a:lnTo>
                  <a:pt x="3205" y="7162"/>
                </a:lnTo>
                <a:lnTo>
                  <a:pt x="3185" y="7154"/>
                </a:lnTo>
                <a:lnTo>
                  <a:pt x="3165" y="7147"/>
                </a:lnTo>
                <a:lnTo>
                  <a:pt x="3146" y="7137"/>
                </a:lnTo>
                <a:lnTo>
                  <a:pt x="3126" y="7128"/>
                </a:lnTo>
                <a:lnTo>
                  <a:pt x="3103" y="7115"/>
                </a:lnTo>
                <a:lnTo>
                  <a:pt x="3080" y="7101"/>
                </a:lnTo>
                <a:lnTo>
                  <a:pt x="3058" y="7086"/>
                </a:lnTo>
                <a:lnTo>
                  <a:pt x="3035" y="7070"/>
                </a:lnTo>
                <a:lnTo>
                  <a:pt x="3014" y="7054"/>
                </a:lnTo>
                <a:lnTo>
                  <a:pt x="2994" y="7037"/>
                </a:lnTo>
                <a:lnTo>
                  <a:pt x="2952" y="7001"/>
                </a:lnTo>
                <a:lnTo>
                  <a:pt x="2912" y="6964"/>
                </a:lnTo>
                <a:lnTo>
                  <a:pt x="2874" y="6925"/>
                </a:lnTo>
                <a:lnTo>
                  <a:pt x="2799" y="6849"/>
                </a:lnTo>
                <a:lnTo>
                  <a:pt x="2761" y="6810"/>
                </a:lnTo>
                <a:lnTo>
                  <a:pt x="2725" y="6769"/>
                </a:lnTo>
                <a:lnTo>
                  <a:pt x="2690" y="6728"/>
                </a:lnTo>
                <a:lnTo>
                  <a:pt x="2656" y="6686"/>
                </a:lnTo>
                <a:lnTo>
                  <a:pt x="2623" y="6643"/>
                </a:lnTo>
                <a:lnTo>
                  <a:pt x="2591" y="6599"/>
                </a:lnTo>
                <a:lnTo>
                  <a:pt x="2527" y="6510"/>
                </a:lnTo>
                <a:lnTo>
                  <a:pt x="2502" y="6477"/>
                </a:lnTo>
                <a:lnTo>
                  <a:pt x="2488" y="6458"/>
                </a:lnTo>
                <a:lnTo>
                  <a:pt x="2476" y="6437"/>
                </a:lnTo>
                <a:lnTo>
                  <a:pt x="2464" y="6416"/>
                </a:lnTo>
                <a:lnTo>
                  <a:pt x="2459" y="6405"/>
                </a:lnTo>
                <a:lnTo>
                  <a:pt x="2454" y="6396"/>
                </a:lnTo>
                <a:lnTo>
                  <a:pt x="2451" y="6385"/>
                </a:lnTo>
                <a:lnTo>
                  <a:pt x="2449" y="6374"/>
                </a:lnTo>
                <a:lnTo>
                  <a:pt x="2447" y="6365"/>
                </a:lnTo>
                <a:lnTo>
                  <a:pt x="2447" y="6355"/>
                </a:lnTo>
                <a:lnTo>
                  <a:pt x="2448" y="6346"/>
                </a:lnTo>
                <a:lnTo>
                  <a:pt x="2451" y="6337"/>
                </a:lnTo>
                <a:lnTo>
                  <a:pt x="2454" y="6328"/>
                </a:lnTo>
                <a:lnTo>
                  <a:pt x="2459" y="6320"/>
                </a:lnTo>
                <a:lnTo>
                  <a:pt x="2469" y="6301"/>
                </a:lnTo>
                <a:lnTo>
                  <a:pt x="2483" y="6283"/>
                </a:lnTo>
                <a:lnTo>
                  <a:pt x="2497" y="6266"/>
                </a:lnTo>
                <a:lnTo>
                  <a:pt x="2512" y="6249"/>
                </a:lnTo>
                <a:lnTo>
                  <a:pt x="2525" y="6233"/>
                </a:lnTo>
                <a:lnTo>
                  <a:pt x="2536" y="6219"/>
                </a:lnTo>
                <a:lnTo>
                  <a:pt x="2571" y="6171"/>
                </a:lnTo>
                <a:lnTo>
                  <a:pt x="2607" y="6125"/>
                </a:lnTo>
                <a:lnTo>
                  <a:pt x="2646" y="6079"/>
                </a:lnTo>
                <a:lnTo>
                  <a:pt x="2684" y="6034"/>
                </a:lnTo>
                <a:lnTo>
                  <a:pt x="2761" y="5944"/>
                </a:lnTo>
                <a:lnTo>
                  <a:pt x="2799" y="5898"/>
                </a:lnTo>
                <a:lnTo>
                  <a:pt x="2835" y="5852"/>
                </a:lnTo>
                <a:lnTo>
                  <a:pt x="2865" y="5814"/>
                </a:lnTo>
                <a:lnTo>
                  <a:pt x="2894" y="5778"/>
                </a:lnTo>
                <a:lnTo>
                  <a:pt x="2955" y="5704"/>
                </a:lnTo>
                <a:lnTo>
                  <a:pt x="3015" y="5631"/>
                </a:lnTo>
                <a:lnTo>
                  <a:pt x="3074" y="5558"/>
                </a:lnTo>
                <a:lnTo>
                  <a:pt x="3100" y="5521"/>
                </a:lnTo>
                <a:lnTo>
                  <a:pt x="3115" y="5502"/>
                </a:lnTo>
                <a:lnTo>
                  <a:pt x="3130" y="5482"/>
                </a:lnTo>
                <a:lnTo>
                  <a:pt x="3146" y="5462"/>
                </a:lnTo>
                <a:lnTo>
                  <a:pt x="3163" y="5446"/>
                </a:lnTo>
                <a:lnTo>
                  <a:pt x="3171" y="5439"/>
                </a:lnTo>
                <a:lnTo>
                  <a:pt x="3180" y="5432"/>
                </a:lnTo>
                <a:lnTo>
                  <a:pt x="3189" y="5427"/>
                </a:lnTo>
                <a:lnTo>
                  <a:pt x="3199" y="5422"/>
                </a:lnTo>
                <a:close/>
                <a:moveTo>
                  <a:pt x="1019" y="5650"/>
                </a:moveTo>
                <a:lnTo>
                  <a:pt x="1019" y="5650"/>
                </a:lnTo>
                <a:lnTo>
                  <a:pt x="1028" y="5647"/>
                </a:lnTo>
                <a:lnTo>
                  <a:pt x="1037" y="5649"/>
                </a:lnTo>
                <a:lnTo>
                  <a:pt x="1046" y="5651"/>
                </a:lnTo>
                <a:lnTo>
                  <a:pt x="1054" y="5655"/>
                </a:lnTo>
                <a:lnTo>
                  <a:pt x="1063" y="5660"/>
                </a:lnTo>
                <a:lnTo>
                  <a:pt x="1072" y="5668"/>
                </a:lnTo>
                <a:lnTo>
                  <a:pt x="1079" y="5675"/>
                </a:lnTo>
                <a:lnTo>
                  <a:pt x="1088" y="5683"/>
                </a:lnTo>
                <a:lnTo>
                  <a:pt x="1103" y="5701"/>
                </a:lnTo>
                <a:lnTo>
                  <a:pt x="1118" y="5719"/>
                </a:lnTo>
                <a:lnTo>
                  <a:pt x="1129" y="5735"/>
                </a:lnTo>
                <a:lnTo>
                  <a:pt x="1141" y="5748"/>
                </a:lnTo>
                <a:lnTo>
                  <a:pt x="1178" y="5787"/>
                </a:lnTo>
                <a:lnTo>
                  <a:pt x="1216" y="5826"/>
                </a:lnTo>
                <a:lnTo>
                  <a:pt x="1255" y="5864"/>
                </a:lnTo>
                <a:lnTo>
                  <a:pt x="1294" y="5901"/>
                </a:lnTo>
                <a:lnTo>
                  <a:pt x="1336" y="5937"/>
                </a:lnTo>
                <a:lnTo>
                  <a:pt x="1378" y="5972"/>
                </a:lnTo>
                <a:lnTo>
                  <a:pt x="1419" y="6006"/>
                </a:lnTo>
                <a:lnTo>
                  <a:pt x="1462" y="6038"/>
                </a:lnTo>
                <a:lnTo>
                  <a:pt x="1522" y="6081"/>
                </a:lnTo>
                <a:lnTo>
                  <a:pt x="1582" y="6122"/>
                </a:lnTo>
                <a:lnTo>
                  <a:pt x="1643" y="6162"/>
                </a:lnTo>
                <a:lnTo>
                  <a:pt x="1704" y="6201"/>
                </a:lnTo>
                <a:lnTo>
                  <a:pt x="1766" y="6238"/>
                </a:lnTo>
                <a:lnTo>
                  <a:pt x="1829" y="6274"/>
                </a:lnTo>
                <a:lnTo>
                  <a:pt x="1861" y="6291"/>
                </a:lnTo>
                <a:lnTo>
                  <a:pt x="1895" y="6308"/>
                </a:lnTo>
                <a:lnTo>
                  <a:pt x="1928" y="6324"/>
                </a:lnTo>
                <a:lnTo>
                  <a:pt x="1962" y="6339"/>
                </a:lnTo>
                <a:lnTo>
                  <a:pt x="2006" y="6359"/>
                </a:lnTo>
                <a:lnTo>
                  <a:pt x="2052" y="6377"/>
                </a:lnTo>
                <a:lnTo>
                  <a:pt x="2098" y="6396"/>
                </a:lnTo>
                <a:lnTo>
                  <a:pt x="2121" y="6403"/>
                </a:lnTo>
                <a:lnTo>
                  <a:pt x="2145" y="6411"/>
                </a:lnTo>
                <a:lnTo>
                  <a:pt x="2159" y="6414"/>
                </a:lnTo>
                <a:lnTo>
                  <a:pt x="2173" y="6417"/>
                </a:lnTo>
                <a:lnTo>
                  <a:pt x="2202" y="6423"/>
                </a:lnTo>
                <a:lnTo>
                  <a:pt x="2217" y="6427"/>
                </a:lnTo>
                <a:lnTo>
                  <a:pt x="2231" y="6432"/>
                </a:lnTo>
                <a:lnTo>
                  <a:pt x="2243" y="6437"/>
                </a:lnTo>
                <a:lnTo>
                  <a:pt x="2256" y="6446"/>
                </a:lnTo>
                <a:lnTo>
                  <a:pt x="2265" y="6453"/>
                </a:lnTo>
                <a:lnTo>
                  <a:pt x="2273" y="6462"/>
                </a:lnTo>
                <a:lnTo>
                  <a:pt x="2290" y="6480"/>
                </a:lnTo>
                <a:lnTo>
                  <a:pt x="2305" y="6501"/>
                </a:lnTo>
                <a:lnTo>
                  <a:pt x="2320" y="6523"/>
                </a:lnTo>
                <a:lnTo>
                  <a:pt x="2347" y="6569"/>
                </a:lnTo>
                <a:lnTo>
                  <a:pt x="2361" y="6590"/>
                </a:lnTo>
                <a:lnTo>
                  <a:pt x="2375" y="6611"/>
                </a:lnTo>
                <a:lnTo>
                  <a:pt x="2433" y="6692"/>
                </a:lnTo>
                <a:lnTo>
                  <a:pt x="2463" y="6733"/>
                </a:lnTo>
                <a:lnTo>
                  <a:pt x="2493" y="6772"/>
                </a:lnTo>
                <a:lnTo>
                  <a:pt x="2524" y="6811"/>
                </a:lnTo>
                <a:lnTo>
                  <a:pt x="2556" y="6849"/>
                </a:lnTo>
                <a:lnTo>
                  <a:pt x="2589" y="6888"/>
                </a:lnTo>
                <a:lnTo>
                  <a:pt x="2623" y="6925"/>
                </a:lnTo>
                <a:lnTo>
                  <a:pt x="2685" y="6991"/>
                </a:lnTo>
                <a:lnTo>
                  <a:pt x="2716" y="7023"/>
                </a:lnTo>
                <a:lnTo>
                  <a:pt x="2749" y="7054"/>
                </a:lnTo>
                <a:lnTo>
                  <a:pt x="2782" y="7085"/>
                </a:lnTo>
                <a:lnTo>
                  <a:pt x="2814" y="7115"/>
                </a:lnTo>
                <a:lnTo>
                  <a:pt x="2848" y="7145"/>
                </a:lnTo>
                <a:lnTo>
                  <a:pt x="2882" y="7175"/>
                </a:lnTo>
                <a:lnTo>
                  <a:pt x="2893" y="7183"/>
                </a:lnTo>
                <a:lnTo>
                  <a:pt x="2907" y="7192"/>
                </a:lnTo>
                <a:lnTo>
                  <a:pt x="2922" y="7202"/>
                </a:lnTo>
                <a:lnTo>
                  <a:pt x="2937" y="7214"/>
                </a:lnTo>
                <a:lnTo>
                  <a:pt x="2952" y="7227"/>
                </a:lnTo>
                <a:lnTo>
                  <a:pt x="2964" y="7240"/>
                </a:lnTo>
                <a:lnTo>
                  <a:pt x="2969" y="7245"/>
                </a:lnTo>
                <a:lnTo>
                  <a:pt x="2972" y="7252"/>
                </a:lnTo>
                <a:lnTo>
                  <a:pt x="2975" y="7258"/>
                </a:lnTo>
                <a:lnTo>
                  <a:pt x="2976" y="7265"/>
                </a:lnTo>
                <a:lnTo>
                  <a:pt x="2975" y="7272"/>
                </a:lnTo>
                <a:lnTo>
                  <a:pt x="2973" y="7280"/>
                </a:lnTo>
                <a:lnTo>
                  <a:pt x="2969" y="7287"/>
                </a:lnTo>
                <a:lnTo>
                  <a:pt x="2963" y="7294"/>
                </a:lnTo>
                <a:lnTo>
                  <a:pt x="2955" y="7302"/>
                </a:lnTo>
                <a:lnTo>
                  <a:pt x="2947" y="7309"/>
                </a:lnTo>
                <a:lnTo>
                  <a:pt x="2926" y="7323"/>
                </a:lnTo>
                <a:lnTo>
                  <a:pt x="2905" y="7336"/>
                </a:lnTo>
                <a:lnTo>
                  <a:pt x="2883" y="7348"/>
                </a:lnTo>
                <a:lnTo>
                  <a:pt x="2865" y="7358"/>
                </a:lnTo>
                <a:lnTo>
                  <a:pt x="2851" y="7364"/>
                </a:lnTo>
                <a:lnTo>
                  <a:pt x="2844" y="7366"/>
                </a:lnTo>
                <a:lnTo>
                  <a:pt x="2835" y="7368"/>
                </a:lnTo>
                <a:lnTo>
                  <a:pt x="2828" y="7368"/>
                </a:lnTo>
                <a:lnTo>
                  <a:pt x="2820" y="7368"/>
                </a:lnTo>
                <a:lnTo>
                  <a:pt x="2804" y="7367"/>
                </a:lnTo>
                <a:lnTo>
                  <a:pt x="2789" y="7363"/>
                </a:lnTo>
                <a:lnTo>
                  <a:pt x="2773" y="7358"/>
                </a:lnTo>
                <a:lnTo>
                  <a:pt x="2757" y="7352"/>
                </a:lnTo>
                <a:lnTo>
                  <a:pt x="2742" y="7346"/>
                </a:lnTo>
                <a:lnTo>
                  <a:pt x="2727" y="7341"/>
                </a:lnTo>
                <a:lnTo>
                  <a:pt x="2705" y="7334"/>
                </a:lnTo>
                <a:lnTo>
                  <a:pt x="2682" y="7327"/>
                </a:lnTo>
                <a:lnTo>
                  <a:pt x="2639" y="7309"/>
                </a:lnTo>
                <a:lnTo>
                  <a:pt x="2597" y="7291"/>
                </a:lnTo>
                <a:lnTo>
                  <a:pt x="2555" y="7270"/>
                </a:lnTo>
                <a:lnTo>
                  <a:pt x="2513" y="7250"/>
                </a:lnTo>
                <a:lnTo>
                  <a:pt x="2471" y="7227"/>
                </a:lnTo>
                <a:lnTo>
                  <a:pt x="2388" y="7183"/>
                </a:lnTo>
                <a:lnTo>
                  <a:pt x="2303" y="7140"/>
                </a:lnTo>
                <a:lnTo>
                  <a:pt x="2218" y="7095"/>
                </a:lnTo>
                <a:lnTo>
                  <a:pt x="2132" y="7048"/>
                </a:lnTo>
                <a:lnTo>
                  <a:pt x="2046" y="7000"/>
                </a:lnTo>
                <a:lnTo>
                  <a:pt x="1962" y="6951"/>
                </a:lnTo>
                <a:lnTo>
                  <a:pt x="1877" y="6900"/>
                </a:lnTo>
                <a:lnTo>
                  <a:pt x="1794" y="6846"/>
                </a:lnTo>
                <a:lnTo>
                  <a:pt x="1712" y="6792"/>
                </a:lnTo>
                <a:lnTo>
                  <a:pt x="1671" y="6763"/>
                </a:lnTo>
                <a:lnTo>
                  <a:pt x="1630" y="6735"/>
                </a:lnTo>
                <a:lnTo>
                  <a:pt x="1591" y="6705"/>
                </a:lnTo>
                <a:lnTo>
                  <a:pt x="1552" y="6675"/>
                </a:lnTo>
                <a:lnTo>
                  <a:pt x="1512" y="6645"/>
                </a:lnTo>
                <a:lnTo>
                  <a:pt x="1475" y="6614"/>
                </a:lnTo>
                <a:lnTo>
                  <a:pt x="1438" y="6582"/>
                </a:lnTo>
                <a:lnTo>
                  <a:pt x="1400" y="6550"/>
                </a:lnTo>
                <a:lnTo>
                  <a:pt x="1365" y="6518"/>
                </a:lnTo>
                <a:lnTo>
                  <a:pt x="1328" y="6484"/>
                </a:lnTo>
                <a:lnTo>
                  <a:pt x="1294" y="6450"/>
                </a:lnTo>
                <a:lnTo>
                  <a:pt x="1260" y="6416"/>
                </a:lnTo>
                <a:lnTo>
                  <a:pt x="1227" y="6381"/>
                </a:lnTo>
                <a:lnTo>
                  <a:pt x="1195" y="6344"/>
                </a:lnTo>
                <a:lnTo>
                  <a:pt x="1164" y="6308"/>
                </a:lnTo>
                <a:lnTo>
                  <a:pt x="1133" y="6270"/>
                </a:lnTo>
                <a:lnTo>
                  <a:pt x="1069" y="6188"/>
                </a:lnTo>
                <a:lnTo>
                  <a:pt x="1038" y="6146"/>
                </a:lnTo>
                <a:lnTo>
                  <a:pt x="1008" y="6104"/>
                </a:lnTo>
                <a:lnTo>
                  <a:pt x="978" y="6062"/>
                </a:lnTo>
                <a:lnTo>
                  <a:pt x="948" y="6019"/>
                </a:lnTo>
                <a:lnTo>
                  <a:pt x="921" y="5976"/>
                </a:lnTo>
                <a:lnTo>
                  <a:pt x="892" y="5932"/>
                </a:lnTo>
                <a:lnTo>
                  <a:pt x="873" y="5903"/>
                </a:lnTo>
                <a:lnTo>
                  <a:pt x="861" y="5885"/>
                </a:lnTo>
                <a:lnTo>
                  <a:pt x="850" y="5867"/>
                </a:lnTo>
                <a:lnTo>
                  <a:pt x="841" y="5849"/>
                </a:lnTo>
                <a:lnTo>
                  <a:pt x="837" y="5839"/>
                </a:lnTo>
                <a:lnTo>
                  <a:pt x="834" y="5829"/>
                </a:lnTo>
                <a:lnTo>
                  <a:pt x="832" y="5821"/>
                </a:lnTo>
                <a:lnTo>
                  <a:pt x="831" y="5812"/>
                </a:lnTo>
                <a:lnTo>
                  <a:pt x="831" y="5804"/>
                </a:lnTo>
                <a:lnTo>
                  <a:pt x="833" y="5796"/>
                </a:lnTo>
                <a:lnTo>
                  <a:pt x="835" y="5789"/>
                </a:lnTo>
                <a:lnTo>
                  <a:pt x="839" y="5781"/>
                </a:lnTo>
                <a:lnTo>
                  <a:pt x="844" y="5775"/>
                </a:lnTo>
                <a:lnTo>
                  <a:pt x="850" y="5768"/>
                </a:lnTo>
                <a:lnTo>
                  <a:pt x="856" y="5763"/>
                </a:lnTo>
                <a:lnTo>
                  <a:pt x="863" y="5757"/>
                </a:lnTo>
                <a:lnTo>
                  <a:pt x="879" y="5747"/>
                </a:lnTo>
                <a:lnTo>
                  <a:pt x="912" y="5728"/>
                </a:lnTo>
                <a:lnTo>
                  <a:pt x="927" y="5719"/>
                </a:lnTo>
                <a:lnTo>
                  <a:pt x="940" y="5710"/>
                </a:lnTo>
                <a:lnTo>
                  <a:pt x="958" y="5692"/>
                </a:lnTo>
                <a:lnTo>
                  <a:pt x="977" y="5675"/>
                </a:lnTo>
                <a:lnTo>
                  <a:pt x="987" y="5667"/>
                </a:lnTo>
                <a:lnTo>
                  <a:pt x="998" y="5659"/>
                </a:lnTo>
                <a:lnTo>
                  <a:pt x="1008" y="5654"/>
                </a:lnTo>
                <a:lnTo>
                  <a:pt x="1019" y="5650"/>
                </a:lnTo>
                <a:close/>
                <a:moveTo>
                  <a:pt x="6923" y="5758"/>
                </a:moveTo>
                <a:lnTo>
                  <a:pt x="6923" y="5758"/>
                </a:lnTo>
                <a:lnTo>
                  <a:pt x="6928" y="5757"/>
                </a:lnTo>
                <a:lnTo>
                  <a:pt x="6932" y="5756"/>
                </a:lnTo>
                <a:lnTo>
                  <a:pt x="6943" y="5757"/>
                </a:lnTo>
                <a:lnTo>
                  <a:pt x="6953" y="5759"/>
                </a:lnTo>
                <a:lnTo>
                  <a:pt x="6965" y="5763"/>
                </a:lnTo>
                <a:lnTo>
                  <a:pt x="6977" y="5769"/>
                </a:lnTo>
                <a:lnTo>
                  <a:pt x="6989" y="5777"/>
                </a:lnTo>
                <a:lnTo>
                  <a:pt x="7000" y="5786"/>
                </a:lnTo>
                <a:lnTo>
                  <a:pt x="7011" y="5796"/>
                </a:lnTo>
                <a:lnTo>
                  <a:pt x="7022" y="5807"/>
                </a:lnTo>
                <a:lnTo>
                  <a:pt x="7032" y="5818"/>
                </a:lnTo>
                <a:lnTo>
                  <a:pt x="7041" y="5828"/>
                </a:lnTo>
                <a:lnTo>
                  <a:pt x="7050" y="5840"/>
                </a:lnTo>
                <a:lnTo>
                  <a:pt x="7056" y="5851"/>
                </a:lnTo>
                <a:lnTo>
                  <a:pt x="7060" y="5862"/>
                </a:lnTo>
                <a:lnTo>
                  <a:pt x="7063" y="5871"/>
                </a:lnTo>
                <a:lnTo>
                  <a:pt x="7065" y="5881"/>
                </a:lnTo>
                <a:lnTo>
                  <a:pt x="7063" y="5895"/>
                </a:lnTo>
                <a:lnTo>
                  <a:pt x="7059" y="5910"/>
                </a:lnTo>
                <a:lnTo>
                  <a:pt x="7054" y="5926"/>
                </a:lnTo>
                <a:lnTo>
                  <a:pt x="7047" y="5942"/>
                </a:lnTo>
                <a:lnTo>
                  <a:pt x="7040" y="5958"/>
                </a:lnTo>
                <a:lnTo>
                  <a:pt x="7030" y="5975"/>
                </a:lnTo>
                <a:lnTo>
                  <a:pt x="7020" y="5991"/>
                </a:lnTo>
                <a:lnTo>
                  <a:pt x="7009" y="6007"/>
                </a:lnTo>
                <a:lnTo>
                  <a:pt x="6986" y="6039"/>
                </a:lnTo>
                <a:lnTo>
                  <a:pt x="6963" y="6069"/>
                </a:lnTo>
                <a:lnTo>
                  <a:pt x="6921" y="6118"/>
                </a:lnTo>
                <a:lnTo>
                  <a:pt x="6851" y="6203"/>
                </a:lnTo>
                <a:lnTo>
                  <a:pt x="6779" y="6285"/>
                </a:lnTo>
                <a:lnTo>
                  <a:pt x="6707" y="6366"/>
                </a:lnTo>
                <a:lnTo>
                  <a:pt x="6634" y="6446"/>
                </a:lnTo>
                <a:lnTo>
                  <a:pt x="6559" y="6523"/>
                </a:lnTo>
                <a:lnTo>
                  <a:pt x="6485" y="6599"/>
                </a:lnTo>
                <a:lnTo>
                  <a:pt x="6446" y="6636"/>
                </a:lnTo>
                <a:lnTo>
                  <a:pt x="6406" y="6674"/>
                </a:lnTo>
                <a:lnTo>
                  <a:pt x="6368" y="6709"/>
                </a:lnTo>
                <a:lnTo>
                  <a:pt x="6327" y="6745"/>
                </a:lnTo>
                <a:lnTo>
                  <a:pt x="6288" y="6780"/>
                </a:lnTo>
                <a:lnTo>
                  <a:pt x="6247" y="6814"/>
                </a:lnTo>
                <a:lnTo>
                  <a:pt x="6205" y="6848"/>
                </a:lnTo>
                <a:lnTo>
                  <a:pt x="6163" y="6881"/>
                </a:lnTo>
                <a:lnTo>
                  <a:pt x="6122" y="6914"/>
                </a:lnTo>
                <a:lnTo>
                  <a:pt x="6078" y="6946"/>
                </a:lnTo>
                <a:lnTo>
                  <a:pt x="6035" y="6977"/>
                </a:lnTo>
                <a:lnTo>
                  <a:pt x="5990" y="7007"/>
                </a:lnTo>
                <a:lnTo>
                  <a:pt x="5945" y="7036"/>
                </a:lnTo>
                <a:lnTo>
                  <a:pt x="5900" y="7064"/>
                </a:lnTo>
                <a:lnTo>
                  <a:pt x="5853" y="7092"/>
                </a:lnTo>
                <a:lnTo>
                  <a:pt x="5807" y="7119"/>
                </a:lnTo>
                <a:lnTo>
                  <a:pt x="5759" y="7145"/>
                </a:lnTo>
                <a:lnTo>
                  <a:pt x="5710" y="7170"/>
                </a:lnTo>
                <a:lnTo>
                  <a:pt x="5660" y="7195"/>
                </a:lnTo>
                <a:lnTo>
                  <a:pt x="5610" y="7217"/>
                </a:lnTo>
                <a:lnTo>
                  <a:pt x="5568" y="7237"/>
                </a:lnTo>
                <a:lnTo>
                  <a:pt x="5527" y="7254"/>
                </a:lnTo>
                <a:lnTo>
                  <a:pt x="5485" y="7270"/>
                </a:lnTo>
                <a:lnTo>
                  <a:pt x="5443" y="7285"/>
                </a:lnTo>
                <a:lnTo>
                  <a:pt x="5358" y="7315"/>
                </a:lnTo>
                <a:lnTo>
                  <a:pt x="5272" y="7343"/>
                </a:lnTo>
                <a:lnTo>
                  <a:pt x="5253" y="7350"/>
                </a:lnTo>
                <a:lnTo>
                  <a:pt x="5232" y="7359"/>
                </a:lnTo>
                <a:lnTo>
                  <a:pt x="5194" y="7375"/>
                </a:lnTo>
                <a:lnTo>
                  <a:pt x="5174" y="7381"/>
                </a:lnTo>
                <a:lnTo>
                  <a:pt x="5153" y="7387"/>
                </a:lnTo>
                <a:lnTo>
                  <a:pt x="5133" y="7390"/>
                </a:lnTo>
                <a:lnTo>
                  <a:pt x="5122" y="7391"/>
                </a:lnTo>
                <a:lnTo>
                  <a:pt x="5111" y="7391"/>
                </a:lnTo>
                <a:lnTo>
                  <a:pt x="5103" y="7390"/>
                </a:lnTo>
                <a:lnTo>
                  <a:pt x="5093" y="7388"/>
                </a:lnTo>
                <a:lnTo>
                  <a:pt x="5083" y="7384"/>
                </a:lnTo>
                <a:lnTo>
                  <a:pt x="5071" y="7380"/>
                </a:lnTo>
                <a:lnTo>
                  <a:pt x="5058" y="7375"/>
                </a:lnTo>
                <a:lnTo>
                  <a:pt x="5045" y="7368"/>
                </a:lnTo>
                <a:lnTo>
                  <a:pt x="5032" y="7362"/>
                </a:lnTo>
                <a:lnTo>
                  <a:pt x="5019" y="7354"/>
                </a:lnTo>
                <a:lnTo>
                  <a:pt x="5008" y="7347"/>
                </a:lnTo>
                <a:lnTo>
                  <a:pt x="4996" y="7338"/>
                </a:lnTo>
                <a:lnTo>
                  <a:pt x="4986" y="7329"/>
                </a:lnTo>
                <a:lnTo>
                  <a:pt x="4979" y="7320"/>
                </a:lnTo>
                <a:lnTo>
                  <a:pt x="4972" y="7311"/>
                </a:lnTo>
                <a:lnTo>
                  <a:pt x="4969" y="7301"/>
                </a:lnTo>
                <a:lnTo>
                  <a:pt x="4968" y="7296"/>
                </a:lnTo>
                <a:lnTo>
                  <a:pt x="4968" y="7291"/>
                </a:lnTo>
                <a:lnTo>
                  <a:pt x="4968" y="7286"/>
                </a:lnTo>
                <a:lnTo>
                  <a:pt x="4970" y="7282"/>
                </a:lnTo>
                <a:lnTo>
                  <a:pt x="4974" y="7271"/>
                </a:lnTo>
                <a:lnTo>
                  <a:pt x="4981" y="7261"/>
                </a:lnTo>
                <a:lnTo>
                  <a:pt x="4988" y="7251"/>
                </a:lnTo>
                <a:lnTo>
                  <a:pt x="4997" y="7240"/>
                </a:lnTo>
                <a:lnTo>
                  <a:pt x="5007" y="7230"/>
                </a:lnTo>
                <a:lnTo>
                  <a:pt x="5017" y="7220"/>
                </a:lnTo>
                <a:lnTo>
                  <a:pt x="5041" y="7200"/>
                </a:lnTo>
                <a:lnTo>
                  <a:pt x="5089" y="7162"/>
                </a:lnTo>
                <a:lnTo>
                  <a:pt x="5110" y="7145"/>
                </a:lnTo>
                <a:lnTo>
                  <a:pt x="5129" y="7129"/>
                </a:lnTo>
                <a:lnTo>
                  <a:pt x="5171" y="7085"/>
                </a:lnTo>
                <a:lnTo>
                  <a:pt x="5214" y="7040"/>
                </a:lnTo>
                <a:lnTo>
                  <a:pt x="5256" y="6995"/>
                </a:lnTo>
                <a:lnTo>
                  <a:pt x="5298" y="6950"/>
                </a:lnTo>
                <a:lnTo>
                  <a:pt x="5338" y="6904"/>
                </a:lnTo>
                <a:lnTo>
                  <a:pt x="5379" y="6857"/>
                </a:lnTo>
                <a:lnTo>
                  <a:pt x="5419" y="6810"/>
                </a:lnTo>
                <a:lnTo>
                  <a:pt x="5457" y="6762"/>
                </a:lnTo>
                <a:lnTo>
                  <a:pt x="5531" y="6671"/>
                </a:lnTo>
                <a:lnTo>
                  <a:pt x="5566" y="6625"/>
                </a:lnTo>
                <a:lnTo>
                  <a:pt x="5602" y="6577"/>
                </a:lnTo>
                <a:lnTo>
                  <a:pt x="5620" y="6551"/>
                </a:lnTo>
                <a:lnTo>
                  <a:pt x="5638" y="6523"/>
                </a:lnTo>
                <a:lnTo>
                  <a:pt x="5649" y="6509"/>
                </a:lnTo>
                <a:lnTo>
                  <a:pt x="5658" y="6496"/>
                </a:lnTo>
                <a:lnTo>
                  <a:pt x="5670" y="6484"/>
                </a:lnTo>
                <a:lnTo>
                  <a:pt x="5683" y="6475"/>
                </a:lnTo>
                <a:lnTo>
                  <a:pt x="5696" y="6467"/>
                </a:lnTo>
                <a:lnTo>
                  <a:pt x="5709" y="6460"/>
                </a:lnTo>
                <a:lnTo>
                  <a:pt x="5724" y="6454"/>
                </a:lnTo>
                <a:lnTo>
                  <a:pt x="5739" y="6448"/>
                </a:lnTo>
                <a:lnTo>
                  <a:pt x="5770" y="6437"/>
                </a:lnTo>
                <a:lnTo>
                  <a:pt x="5803" y="6429"/>
                </a:lnTo>
                <a:lnTo>
                  <a:pt x="5869" y="6412"/>
                </a:lnTo>
                <a:lnTo>
                  <a:pt x="5901" y="6402"/>
                </a:lnTo>
                <a:lnTo>
                  <a:pt x="5915" y="6398"/>
                </a:lnTo>
                <a:lnTo>
                  <a:pt x="5929" y="6392"/>
                </a:lnTo>
                <a:lnTo>
                  <a:pt x="5995" y="6365"/>
                </a:lnTo>
                <a:lnTo>
                  <a:pt x="6061" y="6337"/>
                </a:lnTo>
                <a:lnTo>
                  <a:pt x="6125" y="6307"/>
                </a:lnTo>
                <a:lnTo>
                  <a:pt x="6189" y="6276"/>
                </a:lnTo>
                <a:lnTo>
                  <a:pt x="6252" y="6244"/>
                </a:lnTo>
                <a:lnTo>
                  <a:pt x="6314" y="6209"/>
                </a:lnTo>
                <a:lnTo>
                  <a:pt x="6376" y="6173"/>
                </a:lnTo>
                <a:lnTo>
                  <a:pt x="6436" y="6135"/>
                </a:lnTo>
                <a:lnTo>
                  <a:pt x="6518" y="6082"/>
                </a:lnTo>
                <a:lnTo>
                  <a:pt x="6557" y="6055"/>
                </a:lnTo>
                <a:lnTo>
                  <a:pt x="6598" y="6028"/>
                </a:lnTo>
                <a:lnTo>
                  <a:pt x="6638" y="6000"/>
                </a:lnTo>
                <a:lnTo>
                  <a:pt x="6676" y="5971"/>
                </a:lnTo>
                <a:lnTo>
                  <a:pt x="6715" y="5941"/>
                </a:lnTo>
                <a:lnTo>
                  <a:pt x="6752" y="5910"/>
                </a:lnTo>
                <a:lnTo>
                  <a:pt x="6771" y="5891"/>
                </a:lnTo>
                <a:lnTo>
                  <a:pt x="6791" y="5870"/>
                </a:lnTo>
                <a:lnTo>
                  <a:pt x="6832" y="5826"/>
                </a:lnTo>
                <a:lnTo>
                  <a:pt x="6854" y="5805"/>
                </a:lnTo>
                <a:lnTo>
                  <a:pt x="6864" y="5794"/>
                </a:lnTo>
                <a:lnTo>
                  <a:pt x="6876" y="5786"/>
                </a:lnTo>
                <a:lnTo>
                  <a:pt x="6888" y="5777"/>
                </a:lnTo>
                <a:lnTo>
                  <a:pt x="6899" y="5769"/>
                </a:lnTo>
                <a:lnTo>
                  <a:pt x="6910" y="5763"/>
                </a:lnTo>
                <a:lnTo>
                  <a:pt x="6923" y="5758"/>
                </a:lnTo>
                <a:close/>
                <a:moveTo>
                  <a:pt x="3178" y="7355"/>
                </a:moveTo>
                <a:lnTo>
                  <a:pt x="3178" y="7355"/>
                </a:lnTo>
                <a:lnTo>
                  <a:pt x="3186" y="7354"/>
                </a:lnTo>
                <a:lnTo>
                  <a:pt x="3196" y="7353"/>
                </a:lnTo>
                <a:lnTo>
                  <a:pt x="3205" y="7354"/>
                </a:lnTo>
                <a:lnTo>
                  <a:pt x="3215" y="7355"/>
                </a:lnTo>
                <a:lnTo>
                  <a:pt x="3237" y="7359"/>
                </a:lnTo>
                <a:lnTo>
                  <a:pt x="3258" y="7364"/>
                </a:lnTo>
                <a:lnTo>
                  <a:pt x="3300" y="7377"/>
                </a:lnTo>
                <a:lnTo>
                  <a:pt x="3320" y="7382"/>
                </a:lnTo>
                <a:lnTo>
                  <a:pt x="3337" y="7387"/>
                </a:lnTo>
                <a:lnTo>
                  <a:pt x="3435" y="7408"/>
                </a:lnTo>
                <a:lnTo>
                  <a:pt x="3530" y="7428"/>
                </a:lnTo>
                <a:lnTo>
                  <a:pt x="3578" y="7438"/>
                </a:lnTo>
                <a:lnTo>
                  <a:pt x="3627" y="7448"/>
                </a:lnTo>
                <a:lnTo>
                  <a:pt x="3675" y="7455"/>
                </a:lnTo>
                <a:lnTo>
                  <a:pt x="3725" y="7461"/>
                </a:lnTo>
                <a:lnTo>
                  <a:pt x="3788" y="7469"/>
                </a:lnTo>
                <a:lnTo>
                  <a:pt x="3850" y="7474"/>
                </a:lnTo>
                <a:lnTo>
                  <a:pt x="3913" y="7479"/>
                </a:lnTo>
                <a:lnTo>
                  <a:pt x="3975" y="7481"/>
                </a:lnTo>
                <a:lnTo>
                  <a:pt x="4038" y="7482"/>
                </a:lnTo>
                <a:lnTo>
                  <a:pt x="4101" y="7482"/>
                </a:lnTo>
                <a:lnTo>
                  <a:pt x="4164" y="7480"/>
                </a:lnTo>
                <a:lnTo>
                  <a:pt x="4228" y="7476"/>
                </a:lnTo>
                <a:lnTo>
                  <a:pt x="4290" y="7472"/>
                </a:lnTo>
                <a:lnTo>
                  <a:pt x="4353" y="7467"/>
                </a:lnTo>
                <a:lnTo>
                  <a:pt x="4416" y="7459"/>
                </a:lnTo>
                <a:lnTo>
                  <a:pt x="4478" y="7451"/>
                </a:lnTo>
                <a:lnTo>
                  <a:pt x="4540" y="7442"/>
                </a:lnTo>
                <a:lnTo>
                  <a:pt x="4602" y="7430"/>
                </a:lnTo>
                <a:lnTo>
                  <a:pt x="4664" y="7419"/>
                </a:lnTo>
                <a:lnTo>
                  <a:pt x="4725" y="7406"/>
                </a:lnTo>
                <a:lnTo>
                  <a:pt x="4733" y="7405"/>
                </a:lnTo>
                <a:lnTo>
                  <a:pt x="4742" y="7406"/>
                </a:lnTo>
                <a:lnTo>
                  <a:pt x="4754" y="7407"/>
                </a:lnTo>
                <a:lnTo>
                  <a:pt x="4767" y="7410"/>
                </a:lnTo>
                <a:lnTo>
                  <a:pt x="4780" y="7413"/>
                </a:lnTo>
                <a:lnTo>
                  <a:pt x="4793" y="7419"/>
                </a:lnTo>
                <a:lnTo>
                  <a:pt x="4805" y="7424"/>
                </a:lnTo>
                <a:lnTo>
                  <a:pt x="4818" y="7429"/>
                </a:lnTo>
                <a:lnTo>
                  <a:pt x="4830" y="7437"/>
                </a:lnTo>
                <a:lnTo>
                  <a:pt x="4840" y="7444"/>
                </a:lnTo>
                <a:lnTo>
                  <a:pt x="4848" y="7452"/>
                </a:lnTo>
                <a:lnTo>
                  <a:pt x="4855" y="7460"/>
                </a:lnTo>
                <a:lnTo>
                  <a:pt x="4857" y="7465"/>
                </a:lnTo>
                <a:lnTo>
                  <a:pt x="4858" y="7469"/>
                </a:lnTo>
                <a:lnTo>
                  <a:pt x="4859" y="7473"/>
                </a:lnTo>
                <a:lnTo>
                  <a:pt x="4859" y="7478"/>
                </a:lnTo>
                <a:lnTo>
                  <a:pt x="4858" y="7483"/>
                </a:lnTo>
                <a:lnTo>
                  <a:pt x="4856" y="7487"/>
                </a:lnTo>
                <a:lnTo>
                  <a:pt x="4854" y="7491"/>
                </a:lnTo>
                <a:lnTo>
                  <a:pt x="4849" y="7496"/>
                </a:lnTo>
                <a:lnTo>
                  <a:pt x="4841" y="7503"/>
                </a:lnTo>
                <a:lnTo>
                  <a:pt x="4830" y="7511"/>
                </a:lnTo>
                <a:lnTo>
                  <a:pt x="4818" y="7516"/>
                </a:lnTo>
                <a:lnTo>
                  <a:pt x="4805" y="7521"/>
                </a:lnTo>
                <a:lnTo>
                  <a:pt x="4781" y="7531"/>
                </a:lnTo>
                <a:lnTo>
                  <a:pt x="4757" y="7539"/>
                </a:lnTo>
                <a:lnTo>
                  <a:pt x="4723" y="7550"/>
                </a:lnTo>
                <a:lnTo>
                  <a:pt x="4690" y="7560"/>
                </a:lnTo>
                <a:lnTo>
                  <a:pt x="4655" y="7570"/>
                </a:lnTo>
                <a:lnTo>
                  <a:pt x="4620" y="7577"/>
                </a:lnTo>
                <a:lnTo>
                  <a:pt x="4551" y="7592"/>
                </a:lnTo>
                <a:lnTo>
                  <a:pt x="4481" y="7607"/>
                </a:lnTo>
                <a:lnTo>
                  <a:pt x="4417" y="7622"/>
                </a:lnTo>
                <a:lnTo>
                  <a:pt x="4352" y="7634"/>
                </a:lnTo>
                <a:lnTo>
                  <a:pt x="4285" y="7644"/>
                </a:lnTo>
                <a:lnTo>
                  <a:pt x="4219" y="7652"/>
                </a:lnTo>
                <a:lnTo>
                  <a:pt x="4152" y="7658"/>
                </a:lnTo>
                <a:lnTo>
                  <a:pt x="4084" y="7662"/>
                </a:lnTo>
                <a:lnTo>
                  <a:pt x="4017" y="7664"/>
                </a:lnTo>
                <a:lnTo>
                  <a:pt x="3949" y="7664"/>
                </a:lnTo>
                <a:lnTo>
                  <a:pt x="3881" y="7661"/>
                </a:lnTo>
                <a:lnTo>
                  <a:pt x="3813" y="7656"/>
                </a:lnTo>
                <a:lnTo>
                  <a:pt x="3746" y="7651"/>
                </a:lnTo>
                <a:lnTo>
                  <a:pt x="3680" y="7642"/>
                </a:lnTo>
                <a:lnTo>
                  <a:pt x="3613" y="7633"/>
                </a:lnTo>
                <a:lnTo>
                  <a:pt x="3547" y="7621"/>
                </a:lnTo>
                <a:lnTo>
                  <a:pt x="3482" y="7607"/>
                </a:lnTo>
                <a:lnTo>
                  <a:pt x="3417" y="7592"/>
                </a:lnTo>
                <a:lnTo>
                  <a:pt x="3363" y="7577"/>
                </a:lnTo>
                <a:lnTo>
                  <a:pt x="3309" y="7561"/>
                </a:lnTo>
                <a:lnTo>
                  <a:pt x="3202" y="7527"/>
                </a:lnTo>
                <a:lnTo>
                  <a:pt x="3171" y="7517"/>
                </a:lnTo>
                <a:lnTo>
                  <a:pt x="3138" y="7505"/>
                </a:lnTo>
                <a:lnTo>
                  <a:pt x="3122" y="7499"/>
                </a:lnTo>
                <a:lnTo>
                  <a:pt x="3106" y="7490"/>
                </a:lnTo>
                <a:lnTo>
                  <a:pt x="3093" y="7482"/>
                </a:lnTo>
                <a:lnTo>
                  <a:pt x="3081" y="7472"/>
                </a:lnTo>
                <a:lnTo>
                  <a:pt x="3078" y="7469"/>
                </a:lnTo>
                <a:lnTo>
                  <a:pt x="3076" y="7466"/>
                </a:lnTo>
                <a:lnTo>
                  <a:pt x="3075" y="7461"/>
                </a:lnTo>
                <a:lnTo>
                  <a:pt x="3075" y="7458"/>
                </a:lnTo>
                <a:lnTo>
                  <a:pt x="3075" y="7450"/>
                </a:lnTo>
                <a:lnTo>
                  <a:pt x="3078" y="7441"/>
                </a:lnTo>
                <a:lnTo>
                  <a:pt x="3082" y="7431"/>
                </a:lnTo>
                <a:lnTo>
                  <a:pt x="3089" y="7423"/>
                </a:lnTo>
                <a:lnTo>
                  <a:pt x="3097" y="7413"/>
                </a:lnTo>
                <a:lnTo>
                  <a:pt x="3106" y="7404"/>
                </a:lnTo>
                <a:lnTo>
                  <a:pt x="3116" y="7395"/>
                </a:lnTo>
                <a:lnTo>
                  <a:pt x="3125" y="7387"/>
                </a:lnTo>
                <a:lnTo>
                  <a:pt x="3146" y="7373"/>
                </a:lnTo>
                <a:lnTo>
                  <a:pt x="3164" y="7362"/>
                </a:lnTo>
                <a:lnTo>
                  <a:pt x="3171" y="7358"/>
                </a:lnTo>
                <a:lnTo>
                  <a:pt x="3178" y="7355"/>
                </a:lnTo>
                <a:close/>
              </a:path>
            </a:pathLst>
          </a:custGeom>
          <a:solidFill>
            <a:srgbClr val="00B0F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26" name="KSO_Shape"/>
          <p:cNvSpPr>
            <a:spLocks/>
          </p:cNvSpPr>
          <p:nvPr/>
        </p:nvSpPr>
        <p:spPr bwMode="auto">
          <a:xfrm>
            <a:off x="1177368" y="3164706"/>
            <a:ext cx="1368152" cy="1056382"/>
          </a:xfrm>
          <a:custGeom>
            <a:avLst/>
            <a:gdLst>
              <a:gd name="T0" fmla="*/ 175713297 w 4097"/>
              <a:gd name="T1" fmla="*/ 71089403 h 3497"/>
              <a:gd name="T2" fmla="*/ 33597902 w 4097"/>
              <a:gd name="T3" fmla="*/ 71089403 h 3497"/>
              <a:gd name="T4" fmla="*/ 423256757 w 4097"/>
              <a:gd name="T5" fmla="*/ 139474091 h 3497"/>
              <a:gd name="T6" fmla="*/ 372859684 w 4097"/>
              <a:gd name="T7" fmla="*/ 216358747 h 3497"/>
              <a:gd name="T8" fmla="*/ 297747197 w 4097"/>
              <a:gd name="T9" fmla="*/ 139474091 h 3497"/>
              <a:gd name="T10" fmla="*/ 502231138 w 4097"/>
              <a:gd name="T11" fmla="*/ 428853992 h 3497"/>
              <a:gd name="T12" fmla="*/ 423256757 w 4097"/>
              <a:gd name="T13" fmla="*/ 139474091 h 3497"/>
              <a:gd name="T14" fmla="*/ 254687678 w 4097"/>
              <a:gd name="T15" fmla="*/ 98906881 h 3497"/>
              <a:gd name="T16" fmla="*/ 254687678 w 4097"/>
              <a:gd name="T17" fmla="*/ 327242836 h 3497"/>
              <a:gd name="T18" fmla="*/ 184402447 w 4097"/>
              <a:gd name="T19" fmla="*/ 160916703 h 3497"/>
              <a:gd name="T20" fmla="*/ 0 w 4097"/>
              <a:gd name="T21" fmla="*/ 369934708 h 3497"/>
              <a:gd name="T22" fmla="*/ 19116131 w 4097"/>
              <a:gd name="T23" fmla="*/ 675348230 h 3497"/>
              <a:gd name="T24" fmla="*/ 90752959 w 4097"/>
              <a:gd name="T25" fmla="*/ 548044259 h 3497"/>
              <a:gd name="T26" fmla="*/ 143080758 w 4097"/>
              <a:gd name="T27" fmla="*/ 528147135 h 3497"/>
              <a:gd name="T28" fmla="*/ 194249858 w 4097"/>
              <a:gd name="T29" fmla="*/ 674961968 h 3497"/>
              <a:gd name="T30" fmla="*/ 135936541 w 4097"/>
              <a:gd name="T31" fmla="*/ 385582067 h 3497"/>
              <a:gd name="T32" fmla="*/ 165865446 w 4097"/>
              <a:gd name="T33" fmla="*/ 356992065 h 3497"/>
              <a:gd name="T34" fmla="*/ 254687678 w 4097"/>
              <a:gd name="T35" fmla="*/ 455319332 h 3497"/>
              <a:gd name="T36" fmla="*/ 271293512 w 4097"/>
              <a:gd name="T37" fmla="*/ 471739216 h 3497"/>
              <a:gd name="T38" fmla="*/ 542780360 w 4097"/>
              <a:gd name="T39" fmla="*/ 471739216 h 3497"/>
              <a:gd name="T40" fmla="*/ 542780360 w 4097"/>
              <a:gd name="T41" fmla="*/ 379980165 h 3497"/>
              <a:gd name="T42" fmla="*/ 631988386 w 4097"/>
              <a:gd name="T43" fmla="*/ 286096012 h 3497"/>
              <a:gd name="T44" fmla="*/ 566337515 w 4097"/>
              <a:gd name="T45" fmla="*/ 506124911 h 3497"/>
              <a:gd name="T46" fmla="*/ 646277260 w 4097"/>
              <a:gd name="T47" fmla="*/ 668973364 h 3497"/>
              <a:gd name="T48" fmla="*/ 703239419 w 4097"/>
              <a:gd name="T49" fmla="*/ 468648678 h 3497"/>
              <a:gd name="T50" fmla="*/ 791095848 w 4097"/>
              <a:gd name="T51" fmla="*/ 669166715 h 3497"/>
              <a:gd name="T52" fmla="*/ 763483903 w 4097"/>
              <a:gd name="T53" fmla="*/ 170189195 h 3497"/>
              <a:gd name="T54" fmla="*/ 577536523 w 4097"/>
              <a:gd name="T55" fmla="*/ 289572813 h 3497"/>
              <a:gd name="T56" fmla="*/ 542780360 w 4097"/>
              <a:gd name="T57" fmla="*/ 115520115 h 3497"/>
              <a:gd name="T58" fmla="*/ 526367423 w 4097"/>
              <a:gd name="T59" fmla="*/ 98906881 h 3497"/>
              <a:gd name="T60" fmla="*/ 674082541 w 4097"/>
              <a:gd name="T61" fmla="*/ 15261096 h 3497"/>
              <a:gd name="T62" fmla="*/ 674082541 w 4097"/>
              <a:gd name="T63" fmla="*/ 153383050 h 3497"/>
              <a:gd name="T64" fmla="*/ 674082541 w 4097"/>
              <a:gd name="T65" fmla="*/ 15261096 h 349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097" h="3497">
                <a:moveTo>
                  <a:pt x="542" y="0"/>
                </a:moveTo>
                <a:cubicBezTo>
                  <a:pt x="745" y="0"/>
                  <a:pt x="910" y="165"/>
                  <a:pt x="910" y="368"/>
                </a:cubicBezTo>
                <a:cubicBezTo>
                  <a:pt x="910" y="571"/>
                  <a:pt x="745" y="736"/>
                  <a:pt x="542" y="736"/>
                </a:cubicBezTo>
                <a:cubicBezTo>
                  <a:pt x="339" y="736"/>
                  <a:pt x="174" y="571"/>
                  <a:pt x="174" y="368"/>
                </a:cubicBezTo>
                <a:cubicBezTo>
                  <a:pt x="174" y="165"/>
                  <a:pt x="339" y="0"/>
                  <a:pt x="542" y="0"/>
                </a:cubicBezTo>
                <a:close/>
                <a:moveTo>
                  <a:pt x="2192" y="722"/>
                </a:moveTo>
                <a:cubicBezTo>
                  <a:pt x="2192" y="1120"/>
                  <a:pt x="2192" y="1120"/>
                  <a:pt x="2192" y="1120"/>
                </a:cubicBezTo>
                <a:cubicBezTo>
                  <a:pt x="1931" y="1120"/>
                  <a:pt x="1931" y="1120"/>
                  <a:pt x="1931" y="1120"/>
                </a:cubicBezTo>
                <a:cubicBezTo>
                  <a:pt x="1931" y="722"/>
                  <a:pt x="1931" y="722"/>
                  <a:pt x="1931" y="722"/>
                </a:cubicBezTo>
                <a:cubicBezTo>
                  <a:pt x="1542" y="722"/>
                  <a:pt x="1542" y="722"/>
                  <a:pt x="1542" y="722"/>
                </a:cubicBezTo>
                <a:cubicBezTo>
                  <a:pt x="1542" y="2220"/>
                  <a:pt x="1542" y="2220"/>
                  <a:pt x="1542" y="2220"/>
                </a:cubicBezTo>
                <a:cubicBezTo>
                  <a:pt x="2601" y="2220"/>
                  <a:pt x="2601" y="2220"/>
                  <a:pt x="2601" y="2220"/>
                </a:cubicBezTo>
                <a:cubicBezTo>
                  <a:pt x="2601" y="722"/>
                  <a:pt x="2601" y="722"/>
                  <a:pt x="2601" y="722"/>
                </a:cubicBezTo>
                <a:cubicBezTo>
                  <a:pt x="2192" y="722"/>
                  <a:pt x="2192" y="722"/>
                  <a:pt x="2192" y="722"/>
                </a:cubicBezTo>
                <a:close/>
                <a:moveTo>
                  <a:pt x="1405" y="512"/>
                </a:moveTo>
                <a:cubicBezTo>
                  <a:pt x="1319" y="512"/>
                  <a:pt x="1319" y="512"/>
                  <a:pt x="1319" y="512"/>
                </a:cubicBezTo>
                <a:cubicBezTo>
                  <a:pt x="1319" y="598"/>
                  <a:pt x="1319" y="598"/>
                  <a:pt x="1319" y="598"/>
                </a:cubicBezTo>
                <a:cubicBezTo>
                  <a:pt x="1319" y="1694"/>
                  <a:pt x="1319" y="1694"/>
                  <a:pt x="1319" y="1694"/>
                </a:cubicBezTo>
                <a:cubicBezTo>
                  <a:pt x="1107" y="1550"/>
                  <a:pt x="1107" y="1550"/>
                  <a:pt x="1107" y="1550"/>
                </a:cubicBezTo>
                <a:cubicBezTo>
                  <a:pt x="955" y="833"/>
                  <a:pt x="955" y="833"/>
                  <a:pt x="955" y="833"/>
                </a:cubicBezTo>
                <a:cubicBezTo>
                  <a:pt x="67" y="825"/>
                  <a:pt x="67" y="825"/>
                  <a:pt x="67" y="825"/>
                </a:cubicBezTo>
                <a:cubicBezTo>
                  <a:pt x="0" y="1915"/>
                  <a:pt x="0" y="1915"/>
                  <a:pt x="0" y="1915"/>
                </a:cubicBezTo>
                <a:cubicBezTo>
                  <a:pt x="89" y="2707"/>
                  <a:pt x="89" y="2707"/>
                  <a:pt x="89" y="2707"/>
                </a:cubicBezTo>
                <a:cubicBezTo>
                  <a:pt x="99" y="3496"/>
                  <a:pt x="99" y="3496"/>
                  <a:pt x="99" y="3496"/>
                </a:cubicBezTo>
                <a:cubicBezTo>
                  <a:pt x="314" y="3494"/>
                  <a:pt x="314" y="3494"/>
                  <a:pt x="314" y="3494"/>
                </a:cubicBezTo>
                <a:cubicBezTo>
                  <a:pt x="470" y="2837"/>
                  <a:pt x="470" y="2837"/>
                  <a:pt x="470" y="2837"/>
                </a:cubicBezTo>
                <a:cubicBezTo>
                  <a:pt x="455" y="2345"/>
                  <a:pt x="455" y="2345"/>
                  <a:pt x="455" y="2345"/>
                </a:cubicBezTo>
                <a:cubicBezTo>
                  <a:pt x="741" y="2734"/>
                  <a:pt x="741" y="2734"/>
                  <a:pt x="741" y="2734"/>
                </a:cubicBezTo>
                <a:cubicBezTo>
                  <a:pt x="782" y="3497"/>
                  <a:pt x="782" y="3497"/>
                  <a:pt x="782" y="3497"/>
                </a:cubicBezTo>
                <a:cubicBezTo>
                  <a:pt x="1006" y="3494"/>
                  <a:pt x="1006" y="3494"/>
                  <a:pt x="1006" y="3494"/>
                </a:cubicBezTo>
                <a:cubicBezTo>
                  <a:pt x="1116" y="2612"/>
                  <a:pt x="1116" y="2612"/>
                  <a:pt x="1116" y="2612"/>
                </a:cubicBezTo>
                <a:cubicBezTo>
                  <a:pt x="704" y="1996"/>
                  <a:pt x="704" y="1996"/>
                  <a:pt x="704" y="1996"/>
                </a:cubicBezTo>
                <a:cubicBezTo>
                  <a:pt x="767" y="1441"/>
                  <a:pt x="767" y="1441"/>
                  <a:pt x="767" y="1441"/>
                </a:cubicBezTo>
                <a:cubicBezTo>
                  <a:pt x="859" y="1848"/>
                  <a:pt x="859" y="1848"/>
                  <a:pt x="859" y="1848"/>
                </a:cubicBezTo>
                <a:cubicBezTo>
                  <a:pt x="1319" y="1954"/>
                  <a:pt x="1319" y="1954"/>
                  <a:pt x="1319" y="1954"/>
                </a:cubicBezTo>
                <a:cubicBezTo>
                  <a:pt x="1319" y="2357"/>
                  <a:pt x="1319" y="2357"/>
                  <a:pt x="1319" y="2357"/>
                </a:cubicBezTo>
                <a:cubicBezTo>
                  <a:pt x="1319" y="2442"/>
                  <a:pt x="1319" y="2442"/>
                  <a:pt x="1319" y="2442"/>
                </a:cubicBezTo>
                <a:cubicBezTo>
                  <a:pt x="1405" y="2442"/>
                  <a:pt x="1405" y="2442"/>
                  <a:pt x="1405" y="2442"/>
                </a:cubicBezTo>
                <a:cubicBezTo>
                  <a:pt x="2726" y="2442"/>
                  <a:pt x="2726" y="2442"/>
                  <a:pt x="2726" y="2442"/>
                </a:cubicBezTo>
                <a:cubicBezTo>
                  <a:pt x="2811" y="2442"/>
                  <a:pt x="2811" y="2442"/>
                  <a:pt x="2811" y="2442"/>
                </a:cubicBezTo>
                <a:cubicBezTo>
                  <a:pt x="2811" y="2357"/>
                  <a:pt x="2811" y="2357"/>
                  <a:pt x="2811" y="2357"/>
                </a:cubicBezTo>
                <a:cubicBezTo>
                  <a:pt x="2811" y="1967"/>
                  <a:pt x="2811" y="1967"/>
                  <a:pt x="2811" y="1967"/>
                </a:cubicBezTo>
                <a:cubicBezTo>
                  <a:pt x="3165" y="1735"/>
                  <a:pt x="3165" y="1735"/>
                  <a:pt x="3165" y="1735"/>
                </a:cubicBezTo>
                <a:cubicBezTo>
                  <a:pt x="3273" y="1481"/>
                  <a:pt x="3273" y="1481"/>
                  <a:pt x="3273" y="1481"/>
                </a:cubicBezTo>
                <a:cubicBezTo>
                  <a:pt x="3392" y="2054"/>
                  <a:pt x="3392" y="2054"/>
                  <a:pt x="3392" y="2054"/>
                </a:cubicBezTo>
                <a:cubicBezTo>
                  <a:pt x="2933" y="2620"/>
                  <a:pt x="2933" y="2620"/>
                  <a:pt x="2933" y="2620"/>
                </a:cubicBezTo>
                <a:cubicBezTo>
                  <a:pt x="3130" y="3459"/>
                  <a:pt x="3130" y="3459"/>
                  <a:pt x="3130" y="3459"/>
                </a:cubicBezTo>
                <a:cubicBezTo>
                  <a:pt x="3347" y="3463"/>
                  <a:pt x="3347" y="3463"/>
                  <a:pt x="3347" y="3463"/>
                </a:cubicBezTo>
                <a:cubicBezTo>
                  <a:pt x="3298" y="2738"/>
                  <a:pt x="3298" y="2738"/>
                  <a:pt x="3298" y="2738"/>
                </a:cubicBezTo>
                <a:cubicBezTo>
                  <a:pt x="3642" y="2426"/>
                  <a:pt x="3642" y="2426"/>
                  <a:pt x="3642" y="2426"/>
                </a:cubicBezTo>
                <a:cubicBezTo>
                  <a:pt x="3816" y="3461"/>
                  <a:pt x="3816" y="3461"/>
                  <a:pt x="3816" y="3461"/>
                </a:cubicBezTo>
                <a:cubicBezTo>
                  <a:pt x="4097" y="3464"/>
                  <a:pt x="4097" y="3464"/>
                  <a:pt x="4097" y="3464"/>
                </a:cubicBezTo>
                <a:cubicBezTo>
                  <a:pt x="4048" y="2263"/>
                  <a:pt x="4048" y="2263"/>
                  <a:pt x="4048" y="2263"/>
                </a:cubicBezTo>
                <a:cubicBezTo>
                  <a:pt x="3954" y="881"/>
                  <a:pt x="3954" y="881"/>
                  <a:pt x="3954" y="881"/>
                </a:cubicBezTo>
                <a:cubicBezTo>
                  <a:pt x="3090" y="888"/>
                  <a:pt x="3090" y="888"/>
                  <a:pt x="3090" y="888"/>
                </a:cubicBezTo>
                <a:cubicBezTo>
                  <a:pt x="2991" y="1499"/>
                  <a:pt x="2991" y="1499"/>
                  <a:pt x="2991" y="1499"/>
                </a:cubicBezTo>
                <a:cubicBezTo>
                  <a:pt x="2811" y="1700"/>
                  <a:pt x="2811" y="1700"/>
                  <a:pt x="2811" y="1700"/>
                </a:cubicBezTo>
                <a:cubicBezTo>
                  <a:pt x="2811" y="598"/>
                  <a:pt x="2811" y="598"/>
                  <a:pt x="2811" y="598"/>
                </a:cubicBezTo>
                <a:cubicBezTo>
                  <a:pt x="2811" y="512"/>
                  <a:pt x="2811" y="512"/>
                  <a:pt x="2811" y="512"/>
                </a:cubicBezTo>
                <a:cubicBezTo>
                  <a:pt x="2726" y="512"/>
                  <a:pt x="2726" y="512"/>
                  <a:pt x="2726" y="512"/>
                </a:cubicBezTo>
                <a:cubicBezTo>
                  <a:pt x="1405" y="512"/>
                  <a:pt x="1405" y="512"/>
                  <a:pt x="1405" y="512"/>
                </a:cubicBezTo>
                <a:close/>
                <a:moveTo>
                  <a:pt x="3491" y="79"/>
                </a:moveTo>
                <a:cubicBezTo>
                  <a:pt x="3689" y="79"/>
                  <a:pt x="3849" y="239"/>
                  <a:pt x="3849" y="437"/>
                </a:cubicBezTo>
                <a:cubicBezTo>
                  <a:pt x="3849" y="634"/>
                  <a:pt x="3689" y="794"/>
                  <a:pt x="3491" y="794"/>
                </a:cubicBezTo>
                <a:cubicBezTo>
                  <a:pt x="3294" y="794"/>
                  <a:pt x="3134" y="634"/>
                  <a:pt x="3134" y="437"/>
                </a:cubicBezTo>
                <a:cubicBezTo>
                  <a:pt x="3134" y="239"/>
                  <a:pt x="3294" y="79"/>
                  <a:pt x="3491" y="79"/>
                </a:cubicBez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27" name="KSO_Shape"/>
          <p:cNvSpPr>
            <a:spLocks/>
          </p:cNvSpPr>
          <p:nvPr/>
        </p:nvSpPr>
        <p:spPr bwMode="auto">
          <a:xfrm>
            <a:off x="6444208" y="3052892"/>
            <a:ext cx="1368152" cy="1090533"/>
          </a:xfrm>
          <a:custGeom>
            <a:avLst/>
            <a:gdLst>
              <a:gd name="T0" fmla="*/ 293283150 w 6361"/>
              <a:gd name="T1" fmla="*/ 212252054 h 5554"/>
              <a:gd name="T2" fmla="*/ 271937028 w 6361"/>
              <a:gd name="T3" fmla="*/ 183646839 h 5554"/>
              <a:gd name="T4" fmla="*/ 259380679 w 6361"/>
              <a:gd name="T5" fmla="*/ 149392412 h 5554"/>
              <a:gd name="T6" fmla="*/ 257228008 w 6361"/>
              <a:gd name="T7" fmla="*/ 114868989 h 5554"/>
              <a:gd name="T8" fmla="*/ 265569159 w 6361"/>
              <a:gd name="T9" fmla="*/ 78731292 h 5554"/>
              <a:gd name="T10" fmla="*/ 283417341 w 6361"/>
              <a:gd name="T11" fmla="*/ 47615549 h 5554"/>
              <a:gd name="T12" fmla="*/ 306825990 w 6361"/>
              <a:gd name="T13" fmla="*/ 24749410 h 5554"/>
              <a:gd name="T14" fmla="*/ 338486246 w 6361"/>
              <a:gd name="T15" fmla="*/ 7532481 h 5554"/>
              <a:gd name="T16" fmla="*/ 374810322 w 6361"/>
              <a:gd name="T17" fmla="*/ 179430 h 5554"/>
              <a:gd name="T18" fmla="*/ 409250961 w 6361"/>
              <a:gd name="T19" fmla="*/ 3228249 h 5554"/>
              <a:gd name="T20" fmla="*/ 443063588 w 6361"/>
              <a:gd name="T21" fmla="*/ 16499507 h 5554"/>
              <a:gd name="T22" fmla="*/ 469163077 w 6361"/>
              <a:gd name="T23" fmla="*/ 36496258 h 5554"/>
              <a:gd name="T24" fmla="*/ 490509199 w 6361"/>
              <a:gd name="T25" fmla="*/ 65101474 h 5554"/>
              <a:gd name="T26" fmla="*/ 502976003 w 6361"/>
              <a:gd name="T27" fmla="*/ 99266035 h 5554"/>
              <a:gd name="T28" fmla="*/ 505128374 w 6361"/>
              <a:gd name="T29" fmla="*/ 133968888 h 5554"/>
              <a:gd name="T30" fmla="*/ 496877068 w 6361"/>
              <a:gd name="T31" fmla="*/ 169927155 h 5554"/>
              <a:gd name="T32" fmla="*/ 478939341 w 6361"/>
              <a:gd name="T33" fmla="*/ 201132763 h 5554"/>
              <a:gd name="T34" fmla="*/ 445395648 w 6361"/>
              <a:gd name="T35" fmla="*/ 230903827 h 5554"/>
              <a:gd name="T36" fmla="*/ 493737906 w 6361"/>
              <a:gd name="T37" fmla="*/ 469160405 h 5554"/>
              <a:gd name="T38" fmla="*/ 488894696 w 6361"/>
              <a:gd name="T39" fmla="*/ 485211485 h 5554"/>
              <a:gd name="T40" fmla="*/ 476069113 w 6361"/>
              <a:gd name="T41" fmla="*/ 495792785 h 5554"/>
              <a:gd name="T42" fmla="*/ 139825083 w 6361"/>
              <a:gd name="T43" fmla="*/ 497945051 h 5554"/>
              <a:gd name="T44" fmla="*/ 124398507 w 6361"/>
              <a:gd name="T45" fmla="*/ 491488553 h 5554"/>
              <a:gd name="T46" fmla="*/ 115070865 w 6361"/>
              <a:gd name="T47" fmla="*/ 477679303 h 5554"/>
              <a:gd name="T48" fmla="*/ 40539574 w 6361"/>
              <a:gd name="T49" fmla="*/ 287755397 h 5554"/>
              <a:gd name="T50" fmla="*/ 116954601 w 6361"/>
              <a:gd name="T51" fmla="*/ 251617700 h 5554"/>
              <a:gd name="T52" fmla="*/ 113187427 w 6361"/>
              <a:gd name="T53" fmla="*/ 235566620 h 5554"/>
              <a:gd name="T54" fmla="*/ 79912968 w 6361"/>
              <a:gd name="T55" fmla="*/ 200774202 h 5554"/>
              <a:gd name="T56" fmla="*/ 68881278 w 6361"/>
              <a:gd name="T57" fmla="*/ 161767117 h 5554"/>
              <a:gd name="T58" fmla="*/ 71661362 w 6361"/>
              <a:gd name="T59" fmla="*/ 134237884 h 5554"/>
              <a:gd name="T60" fmla="*/ 95608479 w 6361"/>
              <a:gd name="T61" fmla="*/ 92361411 h 5554"/>
              <a:gd name="T62" fmla="*/ 141887910 w 6361"/>
              <a:gd name="T63" fmla="*/ 67432870 h 5554"/>
              <a:gd name="T64" fmla="*/ 167449230 w 6361"/>
              <a:gd name="T65" fmla="*/ 65818896 h 5554"/>
              <a:gd name="T66" fmla="*/ 207898960 w 6361"/>
              <a:gd name="T67" fmla="*/ 78731292 h 5554"/>
              <a:gd name="T68" fmla="*/ 240904785 w 6361"/>
              <a:gd name="T69" fmla="*/ 113524010 h 5554"/>
              <a:gd name="T70" fmla="*/ 251846630 w 6361"/>
              <a:gd name="T71" fmla="*/ 152351665 h 5554"/>
              <a:gd name="T72" fmla="*/ 249156091 w 6361"/>
              <a:gd name="T73" fmla="*/ 180060028 h 5554"/>
              <a:gd name="T74" fmla="*/ 225119429 w 6361"/>
              <a:gd name="T75" fmla="*/ 221846936 h 5554"/>
              <a:gd name="T76" fmla="*/ 397950038 w 6361"/>
              <a:gd name="T77" fmla="*/ 210638079 h 5554"/>
              <a:gd name="T78" fmla="*/ 430955563 w 6361"/>
              <a:gd name="T79" fmla="*/ 196828531 h 5554"/>
              <a:gd name="T80" fmla="*/ 296332468 w 6361"/>
              <a:gd name="T81" fmla="*/ 101507867 h 5554"/>
              <a:gd name="T82" fmla="*/ 294717965 w 6361"/>
              <a:gd name="T83" fmla="*/ 140245956 h 5554"/>
              <a:gd name="T84" fmla="*/ 357679697 w 6361"/>
              <a:gd name="T85" fmla="*/ 39724507 h 5554"/>
              <a:gd name="T86" fmla="*/ 323777226 w 6361"/>
              <a:gd name="T87" fmla="*/ 57837988 h 5554"/>
              <a:gd name="T88" fmla="*/ 466831316 w 6361"/>
              <a:gd name="T89" fmla="*/ 144101762 h 5554"/>
              <a:gd name="T90" fmla="*/ 466831316 w 6361"/>
              <a:gd name="T91" fmla="*/ 104556685 h 5554"/>
              <a:gd name="T92" fmla="*/ 326198831 w 6361"/>
              <a:gd name="T93" fmla="*/ 192883159 h 5554"/>
              <a:gd name="T94" fmla="*/ 360908404 w 6361"/>
              <a:gd name="T95" fmla="*/ 209920658 h 5554"/>
              <a:gd name="T96" fmla="*/ 436068007 w 6361"/>
              <a:gd name="T97" fmla="*/ 55775587 h 5554"/>
              <a:gd name="T98" fmla="*/ 401178745 w 6361"/>
              <a:gd name="T99" fmla="*/ 38738089 h 5554"/>
              <a:gd name="T100" fmla="*/ 184400466 w 6361"/>
              <a:gd name="T101" fmla="*/ 217273708 h 5554"/>
              <a:gd name="T102" fmla="*/ 206194912 w 6361"/>
              <a:gd name="T103" fmla="*/ 202836603 h 5554"/>
              <a:gd name="T104" fmla="*/ 95698024 w 6361"/>
              <a:gd name="T105" fmla="*/ 154683062 h 5554"/>
              <a:gd name="T106" fmla="*/ 135340652 w 6361"/>
              <a:gd name="T107" fmla="*/ 159256290 h 5554"/>
              <a:gd name="T108" fmla="*/ 129690340 w 6361"/>
              <a:gd name="T109" fmla="*/ 100073322 h 5554"/>
              <a:gd name="T110" fmla="*/ 110317499 w 6361"/>
              <a:gd name="T111" fmla="*/ 116124403 h 5554"/>
              <a:gd name="T112" fmla="*/ 225119429 w 6361"/>
              <a:gd name="T113" fmla="*/ 157104323 h 5554"/>
              <a:gd name="T114" fmla="*/ 112828649 w 6361"/>
              <a:gd name="T115" fmla="*/ 201043197 h 5554"/>
              <a:gd name="T116" fmla="*/ 131842711 w 6361"/>
              <a:gd name="T117" fmla="*/ 215211307 h 5554"/>
              <a:gd name="T118" fmla="*/ 210320565 w 6361"/>
              <a:gd name="T119" fmla="*/ 115855407 h 5554"/>
              <a:gd name="T120" fmla="*/ 188795353 w 6361"/>
              <a:gd name="T121" fmla="*/ 98907474 h 555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6361" h="5554">
                <a:moveTo>
                  <a:pt x="2311" y="2629"/>
                </a:moveTo>
                <a:lnTo>
                  <a:pt x="3634" y="2629"/>
                </a:lnTo>
                <a:lnTo>
                  <a:pt x="3584" y="2603"/>
                </a:lnTo>
                <a:lnTo>
                  <a:pt x="3535" y="2575"/>
                </a:lnTo>
                <a:lnTo>
                  <a:pt x="3487" y="2544"/>
                </a:lnTo>
                <a:lnTo>
                  <a:pt x="3441" y="2512"/>
                </a:lnTo>
                <a:lnTo>
                  <a:pt x="3396" y="2479"/>
                </a:lnTo>
                <a:lnTo>
                  <a:pt x="3352" y="2443"/>
                </a:lnTo>
                <a:lnTo>
                  <a:pt x="3311" y="2406"/>
                </a:lnTo>
                <a:lnTo>
                  <a:pt x="3270" y="2367"/>
                </a:lnTo>
                <a:lnTo>
                  <a:pt x="3247" y="2343"/>
                </a:lnTo>
                <a:lnTo>
                  <a:pt x="3224" y="2318"/>
                </a:lnTo>
                <a:lnTo>
                  <a:pt x="3202" y="2294"/>
                </a:lnTo>
                <a:lnTo>
                  <a:pt x="3181" y="2268"/>
                </a:lnTo>
                <a:lnTo>
                  <a:pt x="3160" y="2243"/>
                </a:lnTo>
                <a:lnTo>
                  <a:pt x="3139" y="2216"/>
                </a:lnTo>
                <a:lnTo>
                  <a:pt x="3120" y="2190"/>
                </a:lnTo>
                <a:lnTo>
                  <a:pt x="3101" y="2162"/>
                </a:lnTo>
                <a:lnTo>
                  <a:pt x="3083" y="2134"/>
                </a:lnTo>
                <a:lnTo>
                  <a:pt x="3065" y="2106"/>
                </a:lnTo>
                <a:lnTo>
                  <a:pt x="3048" y="2077"/>
                </a:lnTo>
                <a:lnTo>
                  <a:pt x="3032" y="2048"/>
                </a:lnTo>
                <a:lnTo>
                  <a:pt x="3016" y="2018"/>
                </a:lnTo>
                <a:lnTo>
                  <a:pt x="3001" y="1987"/>
                </a:lnTo>
                <a:lnTo>
                  <a:pt x="2986" y="1958"/>
                </a:lnTo>
                <a:lnTo>
                  <a:pt x="2973" y="1927"/>
                </a:lnTo>
                <a:lnTo>
                  <a:pt x="2961" y="1895"/>
                </a:lnTo>
                <a:lnTo>
                  <a:pt x="2948" y="1864"/>
                </a:lnTo>
                <a:lnTo>
                  <a:pt x="2937" y="1832"/>
                </a:lnTo>
                <a:lnTo>
                  <a:pt x="2926" y="1799"/>
                </a:lnTo>
                <a:lnTo>
                  <a:pt x="2917" y="1766"/>
                </a:lnTo>
                <a:lnTo>
                  <a:pt x="2907" y="1733"/>
                </a:lnTo>
                <a:lnTo>
                  <a:pt x="2900" y="1700"/>
                </a:lnTo>
                <a:lnTo>
                  <a:pt x="2892" y="1666"/>
                </a:lnTo>
                <a:lnTo>
                  <a:pt x="2886" y="1632"/>
                </a:lnTo>
                <a:lnTo>
                  <a:pt x="2880" y="1598"/>
                </a:lnTo>
                <a:lnTo>
                  <a:pt x="2875" y="1564"/>
                </a:lnTo>
                <a:lnTo>
                  <a:pt x="2871" y="1529"/>
                </a:lnTo>
                <a:lnTo>
                  <a:pt x="2868" y="1494"/>
                </a:lnTo>
                <a:lnTo>
                  <a:pt x="2866" y="1458"/>
                </a:lnTo>
                <a:lnTo>
                  <a:pt x="2865" y="1422"/>
                </a:lnTo>
                <a:lnTo>
                  <a:pt x="2864" y="1387"/>
                </a:lnTo>
                <a:lnTo>
                  <a:pt x="2865" y="1351"/>
                </a:lnTo>
                <a:lnTo>
                  <a:pt x="2866" y="1316"/>
                </a:lnTo>
                <a:lnTo>
                  <a:pt x="2868" y="1281"/>
                </a:lnTo>
                <a:lnTo>
                  <a:pt x="2871" y="1246"/>
                </a:lnTo>
                <a:lnTo>
                  <a:pt x="2875" y="1210"/>
                </a:lnTo>
                <a:lnTo>
                  <a:pt x="2880" y="1175"/>
                </a:lnTo>
                <a:lnTo>
                  <a:pt x="2886" y="1141"/>
                </a:lnTo>
                <a:lnTo>
                  <a:pt x="2892" y="1107"/>
                </a:lnTo>
                <a:lnTo>
                  <a:pt x="2900" y="1074"/>
                </a:lnTo>
                <a:lnTo>
                  <a:pt x="2907" y="1040"/>
                </a:lnTo>
                <a:lnTo>
                  <a:pt x="2917" y="1007"/>
                </a:lnTo>
                <a:lnTo>
                  <a:pt x="2926" y="975"/>
                </a:lnTo>
                <a:lnTo>
                  <a:pt x="2937" y="942"/>
                </a:lnTo>
                <a:lnTo>
                  <a:pt x="2948" y="910"/>
                </a:lnTo>
                <a:lnTo>
                  <a:pt x="2961" y="878"/>
                </a:lnTo>
                <a:lnTo>
                  <a:pt x="2973" y="848"/>
                </a:lnTo>
                <a:lnTo>
                  <a:pt x="2986" y="817"/>
                </a:lnTo>
                <a:lnTo>
                  <a:pt x="3001" y="786"/>
                </a:lnTo>
                <a:lnTo>
                  <a:pt x="3016" y="756"/>
                </a:lnTo>
                <a:lnTo>
                  <a:pt x="3032" y="726"/>
                </a:lnTo>
                <a:lnTo>
                  <a:pt x="3048" y="697"/>
                </a:lnTo>
                <a:lnTo>
                  <a:pt x="3065" y="668"/>
                </a:lnTo>
                <a:lnTo>
                  <a:pt x="3083" y="640"/>
                </a:lnTo>
                <a:lnTo>
                  <a:pt x="3101" y="612"/>
                </a:lnTo>
                <a:lnTo>
                  <a:pt x="3120" y="585"/>
                </a:lnTo>
                <a:lnTo>
                  <a:pt x="3139" y="558"/>
                </a:lnTo>
                <a:lnTo>
                  <a:pt x="3160" y="531"/>
                </a:lnTo>
                <a:lnTo>
                  <a:pt x="3181" y="505"/>
                </a:lnTo>
                <a:lnTo>
                  <a:pt x="3202" y="480"/>
                </a:lnTo>
                <a:lnTo>
                  <a:pt x="3224" y="455"/>
                </a:lnTo>
                <a:lnTo>
                  <a:pt x="3247" y="430"/>
                </a:lnTo>
                <a:lnTo>
                  <a:pt x="3270" y="407"/>
                </a:lnTo>
                <a:lnTo>
                  <a:pt x="3294" y="383"/>
                </a:lnTo>
                <a:lnTo>
                  <a:pt x="3318" y="361"/>
                </a:lnTo>
                <a:lnTo>
                  <a:pt x="3343" y="339"/>
                </a:lnTo>
                <a:lnTo>
                  <a:pt x="3368" y="317"/>
                </a:lnTo>
                <a:lnTo>
                  <a:pt x="3395" y="296"/>
                </a:lnTo>
                <a:lnTo>
                  <a:pt x="3421" y="276"/>
                </a:lnTo>
                <a:lnTo>
                  <a:pt x="3448" y="257"/>
                </a:lnTo>
                <a:lnTo>
                  <a:pt x="3476" y="238"/>
                </a:lnTo>
                <a:lnTo>
                  <a:pt x="3503" y="220"/>
                </a:lnTo>
                <a:lnTo>
                  <a:pt x="3531" y="201"/>
                </a:lnTo>
                <a:lnTo>
                  <a:pt x="3561" y="184"/>
                </a:lnTo>
                <a:lnTo>
                  <a:pt x="3590" y="168"/>
                </a:lnTo>
                <a:lnTo>
                  <a:pt x="3619" y="153"/>
                </a:lnTo>
                <a:lnTo>
                  <a:pt x="3649" y="138"/>
                </a:lnTo>
                <a:lnTo>
                  <a:pt x="3680" y="123"/>
                </a:lnTo>
                <a:lnTo>
                  <a:pt x="3711" y="110"/>
                </a:lnTo>
                <a:lnTo>
                  <a:pt x="3742" y="97"/>
                </a:lnTo>
                <a:lnTo>
                  <a:pt x="3774" y="84"/>
                </a:lnTo>
                <a:lnTo>
                  <a:pt x="3806" y="74"/>
                </a:lnTo>
                <a:lnTo>
                  <a:pt x="3839" y="63"/>
                </a:lnTo>
                <a:lnTo>
                  <a:pt x="3870" y="54"/>
                </a:lnTo>
                <a:lnTo>
                  <a:pt x="3903" y="44"/>
                </a:lnTo>
                <a:lnTo>
                  <a:pt x="3938" y="36"/>
                </a:lnTo>
                <a:lnTo>
                  <a:pt x="3971" y="29"/>
                </a:lnTo>
                <a:lnTo>
                  <a:pt x="4005" y="23"/>
                </a:lnTo>
                <a:lnTo>
                  <a:pt x="4039" y="16"/>
                </a:lnTo>
                <a:lnTo>
                  <a:pt x="4074" y="12"/>
                </a:lnTo>
                <a:lnTo>
                  <a:pt x="4109" y="8"/>
                </a:lnTo>
                <a:lnTo>
                  <a:pt x="4144" y="5"/>
                </a:lnTo>
                <a:lnTo>
                  <a:pt x="4179" y="2"/>
                </a:lnTo>
                <a:lnTo>
                  <a:pt x="4214" y="1"/>
                </a:lnTo>
                <a:lnTo>
                  <a:pt x="4250" y="0"/>
                </a:lnTo>
                <a:lnTo>
                  <a:pt x="4286" y="1"/>
                </a:lnTo>
                <a:lnTo>
                  <a:pt x="4322" y="2"/>
                </a:lnTo>
                <a:lnTo>
                  <a:pt x="4357" y="5"/>
                </a:lnTo>
                <a:lnTo>
                  <a:pt x="4392" y="8"/>
                </a:lnTo>
                <a:lnTo>
                  <a:pt x="4427" y="12"/>
                </a:lnTo>
                <a:lnTo>
                  <a:pt x="4461" y="16"/>
                </a:lnTo>
                <a:lnTo>
                  <a:pt x="4495" y="23"/>
                </a:lnTo>
                <a:lnTo>
                  <a:pt x="4529" y="29"/>
                </a:lnTo>
                <a:lnTo>
                  <a:pt x="4563" y="36"/>
                </a:lnTo>
                <a:lnTo>
                  <a:pt x="4596" y="44"/>
                </a:lnTo>
                <a:lnTo>
                  <a:pt x="4629" y="54"/>
                </a:lnTo>
                <a:lnTo>
                  <a:pt x="4662" y="63"/>
                </a:lnTo>
                <a:lnTo>
                  <a:pt x="4695" y="74"/>
                </a:lnTo>
                <a:lnTo>
                  <a:pt x="4727" y="84"/>
                </a:lnTo>
                <a:lnTo>
                  <a:pt x="4758" y="97"/>
                </a:lnTo>
                <a:lnTo>
                  <a:pt x="4790" y="110"/>
                </a:lnTo>
                <a:lnTo>
                  <a:pt x="4821" y="123"/>
                </a:lnTo>
                <a:lnTo>
                  <a:pt x="4851" y="138"/>
                </a:lnTo>
                <a:lnTo>
                  <a:pt x="4882" y="153"/>
                </a:lnTo>
                <a:lnTo>
                  <a:pt x="4911" y="168"/>
                </a:lnTo>
                <a:lnTo>
                  <a:pt x="4940" y="184"/>
                </a:lnTo>
                <a:lnTo>
                  <a:pt x="4969" y="201"/>
                </a:lnTo>
                <a:lnTo>
                  <a:pt x="4998" y="220"/>
                </a:lnTo>
                <a:lnTo>
                  <a:pt x="5025" y="238"/>
                </a:lnTo>
                <a:lnTo>
                  <a:pt x="5053" y="257"/>
                </a:lnTo>
                <a:lnTo>
                  <a:pt x="5079" y="276"/>
                </a:lnTo>
                <a:lnTo>
                  <a:pt x="5106" y="296"/>
                </a:lnTo>
                <a:lnTo>
                  <a:pt x="5132" y="317"/>
                </a:lnTo>
                <a:lnTo>
                  <a:pt x="5157" y="339"/>
                </a:lnTo>
                <a:lnTo>
                  <a:pt x="5183" y="361"/>
                </a:lnTo>
                <a:lnTo>
                  <a:pt x="5206" y="383"/>
                </a:lnTo>
                <a:lnTo>
                  <a:pt x="5231" y="407"/>
                </a:lnTo>
                <a:lnTo>
                  <a:pt x="5254" y="430"/>
                </a:lnTo>
                <a:lnTo>
                  <a:pt x="5276" y="455"/>
                </a:lnTo>
                <a:lnTo>
                  <a:pt x="5299" y="480"/>
                </a:lnTo>
                <a:lnTo>
                  <a:pt x="5320" y="505"/>
                </a:lnTo>
                <a:lnTo>
                  <a:pt x="5340" y="531"/>
                </a:lnTo>
                <a:lnTo>
                  <a:pt x="5360" y="558"/>
                </a:lnTo>
                <a:lnTo>
                  <a:pt x="5381" y="585"/>
                </a:lnTo>
                <a:lnTo>
                  <a:pt x="5400" y="612"/>
                </a:lnTo>
                <a:lnTo>
                  <a:pt x="5418" y="640"/>
                </a:lnTo>
                <a:lnTo>
                  <a:pt x="5436" y="668"/>
                </a:lnTo>
                <a:lnTo>
                  <a:pt x="5453" y="697"/>
                </a:lnTo>
                <a:lnTo>
                  <a:pt x="5469" y="726"/>
                </a:lnTo>
                <a:lnTo>
                  <a:pt x="5485" y="756"/>
                </a:lnTo>
                <a:lnTo>
                  <a:pt x="5500" y="786"/>
                </a:lnTo>
                <a:lnTo>
                  <a:pt x="5514" y="817"/>
                </a:lnTo>
                <a:lnTo>
                  <a:pt x="5527" y="848"/>
                </a:lnTo>
                <a:lnTo>
                  <a:pt x="5540" y="878"/>
                </a:lnTo>
                <a:lnTo>
                  <a:pt x="5552" y="910"/>
                </a:lnTo>
                <a:lnTo>
                  <a:pt x="5564" y="942"/>
                </a:lnTo>
                <a:lnTo>
                  <a:pt x="5574" y="975"/>
                </a:lnTo>
                <a:lnTo>
                  <a:pt x="5584" y="1007"/>
                </a:lnTo>
                <a:lnTo>
                  <a:pt x="5592" y="1040"/>
                </a:lnTo>
                <a:lnTo>
                  <a:pt x="5601" y="1074"/>
                </a:lnTo>
                <a:lnTo>
                  <a:pt x="5608" y="1107"/>
                </a:lnTo>
                <a:lnTo>
                  <a:pt x="5615" y="1141"/>
                </a:lnTo>
                <a:lnTo>
                  <a:pt x="5620" y="1175"/>
                </a:lnTo>
                <a:lnTo>
                  <a:pt x="5625" y="1210"/>
                </a:lnTo>
                <a:lnTo>
                  <a:pt x="5629" y="1246"/>
                </a:lnTo>
                <a:lnTo>
                  <a:pt x="5632" y="1281"/>
                </a:lnTo>
                <a:lnTo>
                  <a:pt x="5635" y="1316"/>
                </a:lnTo>
                <a:lnTo>
                  <a:pt x="5636" y="1351"/>
                </a:lnTo>
                <a:lnTo>
                  <a:pt x="5636" y="1387"/>
                </a:lnTo>
                <a:lnTo>
                  <a:pt x="5636" y="1422"/>
                </a:lnTo>
                <a:lnTo>
                  <a:pt x="5635" y="1458"/>
                </a:lnTo>
                <a:lnTo>
                  <a:pt x="5632" y="1494"/>
                </a:lnTo>
                <a:lnTo>
                  <a:pt x="5629" y="1529"/>
                </a:lnTo>
                <a:lnTo>
                  <a:pt x="5625" y="1564"/>
                </a:lnTo>
                <a:lnTo>
                  <a:pt x="5620" y="1598"/>
                </a:lnTo>
                <a:lnTo>
                  <a:pt x="5615" y="1632"/>
                </a:lnTo>
                <a:lnTo>
                  <a:pt x="5608" y="1666"/>
                </a:lnTo>
                <a:lnTo>
                  <a:pt x="5601" y="1700"/>
                </a:lnTo>
                <a:lnTo>
                  <a:pt x="5592" y="1733"/>
                </a:lnTo>
                <a:lnTo>
                  <a:pt x="5584" y="1766"/>
                </a:lnTo>
                <a:lnTo>
                  <a:pt x="5574" y="1799"/>
                </a:lnTo>
                <a:lnTo>
                  <a:pt x="5564" y="1832"/>
                </a:lnTo>
                <a:lnTo>
                  <a:pt x="5552" y="1864"/>
                </a:lnTo>
                <a:lnTo>
                  <a:pt x="5540" y="1895"/>
                </a:lnTo>
                <a:lnTo>
                  <a:pt x="5527" y="1927"/>
                </a:lnTo>
                <a:lnTo>
                  <a:pt x="5514" y="1958"/>
                </a:lnTo>
                <a:lnTo>
                  <a:pt x="5500" y="1987"/>
                </a:lnTo>
                <a:lnTo>
                  <a:pt x="5485" y="2018"/>
                </a:lnTo>
                <a:lnTo>
                  <a:pt x="5469" y="2048"/>
                </a:lnTo>
                <a:lnTo>
                  <a:pt x="5453" y="2077"/>
                </a:lnTo>
                <a:lnTo>
                  <a:pt x="5436" y="2106"/>
                </a:lnTo>
                <a:lnTo>
                  <a:pt x="5418" y="2134"/>
                </a:lnTo>
                <a:lnTo>
                  <a:pt x="5400" y="2162"/>
                </a:lnTo>
                <a:lnTo>
                  <a:pt x="5381" y="2190"/>
                </a:lnTo>
                <a:lnTo>
                  <a:pt x="5360" y="2216"/>
                </a:lnTo>
                <a:lnTo>
                  <a:pt x="5340" y="2243"/>
                </a:lnTo>
                <a:lnTo>
                  <a:pt x="5320" y="2268"/>
                </a:lnTo>
                <a:lnTo>
                  <a:pt x="5299" y="2294"/>
                </a:lnTo>
                <a:lnTo>
                  <a:pt x="5276" y="2318"/>
                </a:lnTo>
                <a:lnTo>
                  <a:pt x="5254" y="2343"/>
                </a:lnTo>
                <a:lnTo>
                  <a:pt x="5231" y="2367"/>
                </a:lnTo>
                <a:lnTo>
                  <a:pt x="5190" y="2406"/>
                </a:lnTo>
                <a:lnTo>
                  <a:pt x="5148" y="2443"/>
                </a:lnTo>
                <a:lnTo>
                  <a:pt x="5104" y="2479"/>
                </a:lnTo>
                <a:lnTo>
                  <a:pt x="5059" y="2512"/>
                </a:lnTo>
                <a:lnTo>
                  <a:pt x="5013" y="2544"/>
                </a:lnTo>
                <a:lnTo>
                  <a:pt x="4966" y="2575"/>
                </a:lnTo>
                <a:lnTo>
                  <a:pt x="4917" y="2603"/>
                </a:lnTo>
                <a:lnTo>
                  <a:pt x="4867" y="2629"/>
                </a:lnTo>
                <a:lnTo>
                  <a:pt x="5114" y="2629"/>
                </a:lnTo>
                <a:lnTo>
                  <a:pt x="5697" y="2231"/>
                </a:lnTo>
                <a:lnTo>
                  <a:pt x="5629" y="2131"/>
                </a:lnTo>
                <a:lnTo>
                  <a:pt x="5853" y="1978"/>
                </a:lnTo>
                <a:lnTo>
                  <a:pt x="6361" y="2721"/>
                </a:lnTo>
                <a:lnTo>
                  <a:pt x="6135" y="2875"/>
                </a:lnTo>
                <a:lnTo>
                  <a:pt x="6057" y="2760"/>
                </a:lnTo>
                <a:lnTo>
                  <a:pt x="5505" y="3136"/>
                </a:lnTo>
                <a:lnTo>
                  <a:pt x="5505" y="5232"/>
                </a:lnTo>
                <a:lnTo>
                  <a:pt x="5505" y="5249"/>
                </a:lnTo>
                <a:lnTo>
                  <a:pt x="5504" y="5265"/>
                </a:lnTo>
                <a:lnTo>
                  <a:pt x="5502" y="5281"/>
                </a:lnTo>
                <a:lnTo>
                  <a:pt x="5499" y="5296"/>
                </a:lnTo>
                <a:lnTo>
                  <a:pt x="5496" y="5312"/>
                </a:lnTo>
                <a:lnTo>
                  <a:pt x="5491" y="5327"/>
                </a:lnTo>
                <a:lnTo>
                  <a:pt x="5486" y="5342"/>
                </a:lnTo>
                <a:lnTo>
                  <a:pt x="5481" y="5357"/>
                </a:lnTo>
                <a:lnTo>
                  <a:pt x="5473" y="5371"/>
                </a:lnTo>
                <a:lnTo>
                  <a:pt x="5467" y="5385"/>
                </a:lnTo>
                <a:lnTo>
                  <a:pt x="5458" y="5399"/>
                </a:lnTo>
                <a:lnTo>
                  <a:pt x="5451" y="5411"/>
                </a:lnTo>
                <a:lnTo>
                  <a:pt x="5441" y="5424"/>
                </a:lnTo>
                <a:lnTo>
                  <a:pt x="5432" y="5437"/>
                </a:lnTo>
                <a:lnTo>
                  <a:pt x="5421" y="5449"/>
                </a:lnTo>
                <a:lnTo>
                  <a:pt x="5410" y="5459"/>
                </a:lnTo>
                <a:lnTo>
                  <a:pt x="5400" y="5470"/>
                </a:lnTo>
                <a:lnTo>
                  <a:pt x="5388" y="5481"/>
                </a:lnTo>
                <a:lnTo>
                  <a:pt x="5375" y="5490"/>
                </a:lnTo>
                <a:lnTo>
                  <a:pt x="5364" y="5499"/>
                </a:lnTo>
                <a:lnTo>
                  <a:pt x="5350" y="5507"/>
                </a:lnTo>
                <a:lnTo>
                  <a:pt x="5337" y="5515"/>
                </a:lnTo>
                <a:lnTo>
                  <a:pt x="5322" y="5522"/>
                </a:lnTo>
                <a:lnTo>
                  <a:pt x="5308" y="5529"/>
                </a:lnTo>
                <a:lnTo>
                  <a:pt x="5293" y="5535"/>
                </a:lnTo>
                <a:lnTo>
                  <a:pt x="5278" y="5540"/>
                </a:lnTo>
                <a:lnTo>
                  <a:pt x="5264" y="5544"/>
                </a:lnTo>
                <a:lnTo>
                  <a:pt x="5248" y="5548"/>
                </a:lnTo>
                <a:lnTo>
                  <a:pt x="5232" y="5551"/>
                </a:lnTo>
                <a:lnTo>
                  <a:pt x="5216" y="5553"/>
                </a:lnTo>
                <a:lnTo>
                  <a:pt x="5200" y="5554"/>
                </a:lnTo>
                <a:lnTo>
                  <a:pt x="5183" y="5554"/>
                </a:lnTo>
                <a:lnTo>
                  <a:pt x="1592" y="5554"/>
                </a:lnTo>
                <a:lnTo>
                  <a:pt x="1575" y="5554"/>
                </a:lnTo>
                <a:lnTo>
                  <a:pt x="1559" y="5553"/>
                </a:lnTo>
                <a:lnTo>
                  <a:pt x="1543" y="5551"/>
                </a:lnTo>
                <a:lnTo>
                  <a:pt x="1527" y="5548"/>
                </a:lnTo>
                <a:lnTo>
                  <a:pt x="1511" y="5544"/>
                </a:lnTo>
                <a:lnTo>
                  <a:pt x="1496" y="5540"/>
                </a:lnTo>
                <a:lnTo>
                  <a:pt x="1481" y="5535"/>
                </a:lnTo>
                <a:lnTo>
                  <a:pt x="1466" y="5529"/>
                </a:lnTo>
                <a:lnTo>
                  <a:pt x="1451" y="5522"/>
                </a:lnTo>
                <a:lnTo>
                  <a:pt x="1438" y="5515"/>
                </a:lnTo>
                <a:lnTo>
                  <a:pt x="1425" y="5507"/>
                </a:lnTo>
                <a:lnTo>
                  <a:pt x="1411" y="5499"/>
                </a:lnTo>
                <a:lnTo>
                  <a:pt x="1398" y="5490"/>
                </a:lnTo>
                <a:lnTo>
                  <a:pt x="1387" y="5481"/>
                </a:lnTo>
                <a:lnTo>
                  <a:pt x="1375" y="5470"/>
                </a:lnTo>
                <a:lnTo>
                  <a:pt x="1363" y="5459"/>
                </a:lnTo>
                <a:lnTo>
                  <a:pt x="1352" y="5449"/>
                </a:lnTo>
                <a:lnTo>
                  <a:pt x="1343" y="5437"/>
                </a:lnTo>
                <a:lnTo>
                  <a:pt x="1333" y="5424"/>
                </a:lnTo>
                <a:lnTo>
                  <a:pt x="1324" y="5411"/>
                </a:lnTo>
                <a:lnTo>
                  <a:pt x="1315" y="5399"/>
                </a:lnTo>
                <a:lnTo>
                  <a:pt x="1308" y="5385"/>
                </a:lnTo>
                <a:lnTo>
                  <a:pt x="1300" y="5371"/>
                </a:lnTo>
                <a:lnTo>
                  <a:pt x="1294" y="5357"/>
                </a:lnTo>
                <a:lnTo>
                  <a:pt x="1289" y="5342"/>
                </a:lnTo>
                <a:lnTo>
                  <a:pt x="1283" y="5327"/>
                </a:lnTo>
                <a:lnTo>
                  <a:pt x="1279" y="5312"/>
                </a:lnTo>
                <a:lnTo>
                  <a:pt x="1276" y="5296"/>
                </a:lnTo>
                <a:lnTo>
                  <a:pt x="1273" y="5281"/>
                </a:lnTo>
                <a:lnTo>
                  <a:pt x="1271" y="5265"/>
                </a:lnTo>
                <a:lnTo>
                  <a:pt x="1269" y="5249"/>
                </a:lnTo>
                <a:lnTo>
                  <a:pt x="1268" y="5232"/>
                </a:lnTo>
                <a:lnTo>
                  <a:pt x="1268" y="4543"/>
                </a:lnTo>
                <a:lnTo>
                  <a:pt x="452" y="4543"/>
                </a:lnTo>
                <a:lnTo>
                  <a:pt x="452" y="4694"/>
                </a:lnTo>
                <a:lnTo>
                  <a:pt x="0" y="4694"/>
                </a:lnTo>
                <a:lnTo>
                  <a:pt x="0" y="3209"/>
                </a:lnTo>
                <a:lnTo>
                  <a:pt x="452" y="3209"/>
                </a:lnTo>
                <a:lnTo>
                  <a:pt x="452" y="3371"/>
                </a:lnTo>
                <a:lnTo>
                  <a:pt x="1268" y="3371"/>
                </a:lnTo>
                <a:lnTo>
                  <a:pt x="1268" y="2952"/>
                </a:lnTo>
                <a:lnTo>
                  <a:pt x="1269" y="2933"/>
                </a:lnTo>
                <a:lnTo>
                  <a:pt x="1272" y="2913"/>
                </a:lnTo>
                <a:lnTo>
                  <a:pt x="1274" y="2894"/>
                </a:lnTo>
                <a:lnTo>
                  <a:pt x="1278" y="2876"/>
                </a:lnTo>
                <a:lnTo>
                  <a:pt x="1283" y="2858"/>
                </a:lnTo>
                <a:lnTo>
                  <a:pt x="1289" y="2840"/>
                </a:lnTo>
                <a:lnTo>
                  <a:pt x="1296" y="2823"/>
                </a:lnTo>
                <a:lnTo>
                  <a:pt x="1304" y="2806"/>
                </a:lnTo>
                <a:lnTo>
                  <a:pt x="1312" y="2790"/>
                </a:lnTo>
                <a:lnTo>
                  <a:pt x="1322" y="2775"/>
                </a:lnTo>
                <a:lnTo>
                  <a:pt x="1332" y="2760"/>
                </a:lnTo>
                <a:lnTo>
                  <a:pt x="1344" y="2745"/>
                </a:lnTo>
                <a:lnTo>
                  <a:pt x="1356" y="2731"/>
                </a:lnTo>
                <a:lnTo>
                  <a:pt x="1368" y="2719"/>
                </a:lnTo>
                <a:lnTo>
                  <a:pt x="1382" y="2707"/>
                </a:lnTo>
                <a:lnTo>
                  <a:pt x="1396" y="2695"/>
                </a:lnTo>
                <a:lnTo>
                  <a:pt x="1350" y="2675"/>
                </a:lnTo>
                <a:lnTo>
                  <a:pt x="1306" y="2652"/>
                </a:lnTo>
                <a:lnTo>
                  <a:pt x="1262" y="2627"/>
                </a:lnTo>
                <a:lnTo>
                  <a:pt x="1219" y="2600"/>
                </a:lnTo>
                <a:lnTo>
                  <a:pt x="1179" y="2572"/>
                </a:lnTo>
                <a:lnTo>
                  <a:pt x="1140" y="2541"/>
                </a:lnTo>
                <a:lnTo>
                  <a:pt x="1102" y="2508"/>
                </a:lnTo>
                <a:lnTo>
                  <a:pt x="1066" y="2474"/>
                </a:lnTo>
                <a:lnTo>
                  <a:pt x="1032" y="2439"/>
                </a:lnTo>
                <a:lnTo>
                  <a:pt x="1000" y="2401"/>
                </a:lnTo>
                <a:lnTo>
                  <a:pt x="970" y="2363"/>
                </a:lnTo>
                <a:lnTo>
                  <a:pt x="942" y="2323"/>
                </a:lnTo>
                <a:lnTo>
                  <a:pt x="915" y="2281"/>
                </a:lnTo>
                <a:lnTo>
                  <a:pt x="891" y="2239"/>
                </a:lnTo>
                <a:lnTo>
                  <a:pt x="868" y="2195"/>
                </a:lnTo>
                <a:lnTo>
                  <a:pt x="847" y="2149"/>
                </a:lnTo>
                <a:lnTo>
                  <a:pt x="829" y="2103"/>
                </a:lnTo>
                <a:lnTo>
                  <a:pt x="813" y="2056"/>
                </a:lnTo>
                <a:lnTo>
                  <a:pt x="799" y="2008"/>
                </a:lnTo>
                <a:lnTo>
                  <a:pt x="788" y="1958"/>
                </a:lnTo>
                <a:lnTo>
                  <a:pt x="783" y="1933"/>
                </a:lnTo>
                <a:lnTo>
                  <a:pt x="779" y="1908"/>
                </a:lnTo>
                <a:lnTo>
                  <a:pt x="776" y="1882"/>
                </a:lnTo>
                <a:lnTo>
                  <a:pt x="772" y="1857"/>
                </a:lnTo>
                <a:lnTo>
                  <a:pt x="770" y="1831"/>
                </a:lnTo>
                <a:lnTo>
                  <a:pt x="768" y="1804"/>
                </a:lnTo>
                <a:lnTo>
                  <a:pt x="767" y="1779"/>
                </a:lnTo>
                <a:lnTo>
                  <a:pt x="767" y="1752"/>
                </a:lnTo>
                <a:lnTo>
                  <a:pt x="767" y="1726"/>
                </a:lnTo>
                <a:lnTo>
                  <a:pt x="768" y="1699"/>
                </a:lnTo>
                <a:lnTo>
                  <a:pt x="770" y="1673"/>
                </a:lnTo>
                <a:lnTo>
                  <a:pt x="772" y="1648"/>
                </a:lnTo>
                <a:lnTo>
                  <a:pt x="776" y="1622"/>
                </a:lnTo>
                <a:lnTo>
                  <a:pt x="779" y="1597"/>
                </a:lnTo>
                <a:lnTo>
                  <a:pt x="783" y="1571"/>
                </a:lnTo>
                <a:lnTo>
                  <a:pt x="788" y="1546"/>
                </a:lnTo>
                <a:lnTo>
                  <a:pt x="799" y="1497"/>
                </a:lnTo>
                <a:lnTo>
                  <a:pt x="813" y="1449"/>
                </a:lnTo>
                <a:lnTo>
                  <a:pt x="829" y="1401"/>
                </a:lnTo>
                <a:lnTo>
                  <a:pt x="847" y="1354"/>
                </a:lnTo>
                <a:lnTo>
                  <a:pt x="868" y="1309"/>
                </a:lnTo>
                <a:lnTo>
                  <a:pt x="891" y="1266"/>
                </a:lnTo>
                <a:lnTo>
                  <a:pt x="915" y="1222"/>
                </a:lnTo>
                <a:lnTo>
                  <a:pt x="942" y="1181"/>
                </a:lnTo>
                <a:lnTo>
                  <a:pt x="970" y="1141"/>
                </a:lnTo>
                <a:lnTo>
                  <a:pt x="1000" y="1103"/>
                </a:lnTo>
                <a:lnTo>
                  <a:pt x="1032" y="1066"/>
                </a:lnTo>
                <a:lnTo>
                  <a:pt x="1066" y="1030"/>
                </a:lnTo>
                <a:lnTo>
                  <a:pt x="1101" y="997"/>
                </a:lnTo>
                <a:lnTo>
                  <a:pt x="1139" y="964"/>
                </a:lnTo>
                <a:lnTo>
                  <a:pt x="1177" y="934"/>
                </a:lnTo>
                <a:lnTo>
                  <a:pt x="1217" y="905"/>
                </a:lnTo>
                <a:lnTo>
                  <a:pt x="1259" y="878"/>
                </a:lnTo>
                <a:lnTo>
                  <a:pt x="1301" y="854"/>
                </a:lnTo>
                <a:lnTo>
                  <a:pt x="1346" y="832"/>
                </a:lnTo>
                <a:lnTo>
                  <a:pt x="1391" y="811"/>
                </a:lnTo>
                <a:lnTo>
                  <a:pt x="1438" y="793"/>
                </a:lnTo>
                <a:lnTo>
                  <a:pt x="1484" y="777"/>
                </a:lnTo>
                <a:lnTo>
                  <a:pt x="1533" y="763"/>
                </a:lnTo>
                <a:lnTo>
                  <a:pt x="1582" y="752"/>
                </a:lnTo>
                <a:lnTo>
                  <a:pt x="1608" y="746"/>
                </a:lnTo>
                <a:lnTo>
                  <a:pt x="1632" y="742"/>
                </a:lnTo>
                <a:lnTo>
                  <a:pt x="1658" y="739"/>
                </a:lnTo>
                <a:lnTo>
                  <a:pt x="1683" y="736"/>
                </a:lnTo>
                <a:lnTo>
                  <a:pt x="1710" y="734"/>
                </a:lnTo>
                <a:lnTo>
                  <a:pt x="1736" y="733"/>
                </a:lnTo>
                <a:lnTo>
                  <a:pt x="1762" y="732"/>
                </a:lnTo>
                <a:lnTo>
                  <a:pt x="1788" y="730"/>
                </a:lnTo>
                <a:lnTo>
                  <a:pt x="1814" y="732"/>
                </a:lnTo>
                <a:lnTo>
                  <a:pt x="1841" y="733"/>
                </a:lnTo>
                <a:lnTo>
                  <a:pt x="1867" y="734"/>
                </a:lnTo>
                <a:lnTo>
                  <a:pt x="1893" y="736"/>
                </a:lnTo>
                <a:lnTo>
                  <a:pt x="1919" y="739"/>
                </a:lnTo>
                <a:lnTo>
                  <a:pt x="1944" y="742"/>
                </a:lnTo>
                <a:lnTo>
                  <a:pt x="1969" y="746"/>
                </a:lnTo>
                <a:lnTo>
                  <a:pt x="1994" y="752"/>
                </a:lnTo>
                <a:lnTo>
                  <a:pt x="2043" y="763"/>
                </a:lnTo>
                <a:lnTo>
                  <a:pt x="2092" y="777"/>
                </a:lnTo>
                <a:lnTo>
                  <a:pt x="2139" y="793"/>
                </a:lnTo>
                <a:lnTo>
                  <a:pt x="2186" y="811"/>
                </a:lnTo>
                <a:lnTo>
                  <a:pt x="2230" y="832"/>
                </a:lnTo>
                <a:lnTo>
                  <a:pt x="2275" y="854"/>
                </a:lnTo>
                <a:lnTo>
                  <a:pt x="2318" y="878"/>
                </a:lnTo>
                <a:lnTo>
                  <a:pt x="2359" y="905"/>
                </a:lnTo>
                <a:lnTo>
                  <a:pt x="2399" y="934"/>
                </a:lnTo>
                <a:lnTo>
                  <a:pt x="2438" y="964"/>
                </a:lnTo>
                <a:lnTo>
                  <a:pt x="2475" y="997"/>
                </a:lnTo>
                <a:lnTo>
                  <a:pt x="2510" y="1030"/>
                </a:lnTo>
                <a:lnTo>
                  <a:pt x="2544" y="1066"/>
                </a:lnTo>
                <a:lnTo>
                  <a:pt x="2576" y="1103"/>
                </a:lnTo>
                <a:lnTo>
                  <a:pt x="2606" y="1141"/>
                </a:lnTo>
                <a:lnTo>
                  <a:pt x="2635" y="1181"/>
                </a:lnTo>
                <a:lnTo>
                  <a:pt x="2661" y="1222"/>
                </a:lnTo>
                <a:lnTo>
                  <a:pt x="2686" y="1266"/>
                </a:lnTo>
                <a:lnTo>
                  <a:pt x="2708" y="1309"/>
                </a:lnTo>
                <a:lnTo>
                  <a:pt x="2729" y="1354"/>
                </a:lnTo>
                <a:lnTo>
                  <a:pt x="2748" y="1401"/>
                </a:lnTo>
                <a:lnTo>
                  <a:pt x="2764" y="1449"/>
                </a:lnTo>
                <a:lnTo>
                  <a:pt x="2778" y="1497"/>
                </a:lnTo>
                <a:lnTo>
                  <a:pt x="2788" y="1546"/>
                </a:lnTo>
                <a:lnTo>
                  <a:pt x="2793" y="1571"/>
                </a:lnTo>
                <a:lnTo>
                  <a:pt x="2798" y="1597"/>
                </a:lnTo>
                <a:lnTo>
                  <a:pt x="2801" y="1622"/>
                </a:lnTo>
                <a:lnTo>
                  <a:pt x="2804" y="1648"/>
                </a:lnTo>
                <a:lnTo>
                  <a:pt x="2806" y="1673"/>
                </a:lnTo>
                <a:lnTo>
                  <a:pt x="2808" y="1699"/>
                </a:lnTo>
                <a:lnTo>
                  <a:pt x="2809" y="1726"/>
                </a:lnTo>
                <a:lnTo>
                  <a:pt x="2809" y="1752"/>
                </a:lnTo>
                <a:lnTo>
                  <a:pt x="2809" y="1779"/>
                </a:lnTo>
                <a:lnTo>
                  <a:pt x="2808" y="1804"/>
                </a:lnTo>
                <a:lnTo>
                  <a:pt x="2806" y="1831"/>
                </a:lnTo>
                <a:lnTo>
                  <a:pt x="2804" y="1857"/>
                </a:lnTo>
                <a:lnTo>
                  <a:pt x="2801" y="1882"/>
                </a:lnTo>
                <a:lnTo>
                  <a:pt x="2798" y="1908"/>
                </a:lnTo>
                <a:lnTo>
                  <a:pt x="2793" y="1933"/>
                </a:lnTo>
                <a:lnTo>
                  <a:pt x="2788" y="1958"/>
                </a:lnTo>
                <a:lnTo>
                  <a:pt x="2778" y="2008"/>
                </a:lnTo>
                <a:lnTo>
                  <a:pt x="2764" y="2056"/>
                </a:lnTo>
                <a:lnTo>
                  <a:pt x="2748" y="2103"/>
                </a:lnTo>
                <a:lnTo>
                  <a:pt x="2729" y="2149"/>
                </a:lnTo>
                <a:lnTo>
                  <a:pt x="2708" y="2195"/>
                </a:lnTo>
                <a:lnTo>
                  <a:pt x="2686" y="2239"/>
                </a:lnTo>
                <a:lnTo>
                  <a:pt x="2661" y="2281"/>
                </a:lnTo>
                <a:lnTo>
                  <a:pt x="2635" y="2323"/>
                </a:lnTo>
                <a:lnTo>
                  <a:pt x="2606" y="2363"/>
                </a:lnTo>
                <a:lnTo>
                  <a:pt x="2576" y="2401"/>
                </a:lnTo>
                <a:lnTo>
                  <a:pt x="2544" y="2439"/>
                </a:lnTo>
                <a:lnTo>
                  <a:pt x="2510" y="2474"/>
                </a:lnTo>
                <a:lnTo>
                  <a:pt x="2488" y="2496"/>
                </a:lnTo>
                <a:lnTo>
                  <a:pt x="2465" y="2517"/>
                </a:lnTo>
                <a:lnTo>
                  <a:pt x="2440" y="2538"/>
                </a:lnTo>
                <a:lnTo>
                  <a:pt x="2416" y="2558"/>
                </a:lnTo>
                <a:lnTo>
                  <a:pt x="2390" y="2577"/>
                </a:lnTo>
                <a:lnTo>
                  <a:pt x="2365" y="2595"/>
                </a:lnTo>
                <a:lnTo>
                  <a:pt x="2338" y="2612"/>
                </a:lnTo>
                <a:lnTo>
                  <a:pt x="2311" y="2629"/>
                </a:lnTo>
                <a:close/>
                <a:moveTo>
                  <a:pt x="4969" y="2053"/>
                </a:moveTo>
                <a:lnTo>
                  <a:pt x="4437" y="1746"/>
                </a:lnTo>
                <a:lnTo>
                  <a:pt x="4437" y="2349"/>
                </a:lnTo>
                <a:lnTo>
                  <a:pt x="4473" y="2341"/>
                </a:lnTo>
                <a:lnTo>
                  <a:pt x="4509" y="2332"/>
                </a:lnTo>
                <a:lnTo>
                  <a:pt x="4544" y="2322"/>
                </a:lnTo>
                <a:lnTo>
                  <a:pt x="4579" y="2310"/>
                </a:lnTo>
                <a:lnTo>
                  <a:pt x="4613" y="2297"/>
                </a:lnTo>
                <a:lnTo>
                  <a:pt x="4647" y="2283"/>
                </a:lnTo>
                <a:lnTo>
                  <a:pt x="4680" y="2267"/>
                </a:lnTo>
                <a:lnTo>
                  <a:pt x="4712" y="2251"/>
                </a:lnTo>
                <a:lnTo>
                  <a:pt x="4744" y="2233"/>
                </a:lnTo>
                <a:lnTo>
                  <a:pt x="4775" y="2214"/>
                </a:lnTo>
                <a:lnTo>
                  <a:pt x="4805" y="2195"/>
                </a:lnTo>
                <a:lnTo>
                  <a:pt x="4835" y="2174"/>
                </a:lnTo>
                <a:lnTo>
                  <a:pt x="4862" y="2151"/>
                </a:lnTo>
                <a:lnTo>
                  <a:pt x="4890" y="2129"/>
                </a:lnTo>
                <a:lnTo>
                  <a:pt x="4917" y="2105"/>
                </a:lnTo>
                <a:lnTo>
                  <a:pt x="4943" y="2080"/>
                </a:lnTo>
                <a:lnTo>
                  <a:pt x="4969" y="2053"/>
                </a:lnTo>
                <a:close/>
                <a:moveTo>
                  <a:pt x="3870" y="1419"/>
                </a:moveTo>
                <a:lnTo>
                  <a:pt x="3314" y="1098"/>
                </a:lnTo>
                <a:lnTo>
                  <a:pt x="3304" y="1132"/>
                </a:lnTo>
                <a:lnTo>
                  <a:pt x="3296" y="1167"/>
                </a:lnTo>
                <a:lnTo>
                  <a:pt x="3288" y="1203"/>
                </a:lnTo>
                <a:lnTo>
                  <a:pt x="3282" y="1239"/>
                </a:lnTo>
                <a:lnTo>
                  <a:pt x="3277" y="1275"/>
                </a:lnTo>
                <a:lnTo>
                  <a:pt x="3273" y="1312"/>
                </a:lnTo>
                <a:lnTo>
                  <a:pt x="3271" y="1349"/>
                </a:lnTo>
                <a:lnTo>
                  <a:pt x="3270" y="1387"/>
                </a:lnTo>
                <a:lnTo>
                  <a:pt x="3271" y="1432"/>
                </a:lnTo>
                <a:lnTo>
                  <a:pt x="3275" y="1477"/>
                </a:lnTo>
                <a:lnTo>
                  <a:pt x="3280" y="1520"/>
                </a:lnTo>
                <a:lnTo>
                  <a:pt x="3286" y="1564"/>
                </a:lnTo>
                <a:lnTo>
                  <a:pt x="3295" y="1606"/>
                </a:lnTo>
                <a:lnTo>
                  <a:pt x="3305" y="1648"/>
                </a:lnTo>
                <a:lnTo>
                  <a:pt x="3318" y="1689"/>
                </a:lnTo>
                <a:lnTo>
                  <a:pt x="3332" y="1730"/>
                </a:lnTo>
                <a:lnTo>
                  <a:pt x="3870" y="1419"/>
                </a:lnTo>
                <a:close/>
                <a:moveTo>
                  <a:pt x="3493" y="766"/>
                </a:moveTo>
                <a:lnTo>
                  <a:pt x="4060" y="1092"/>
                </a:lnTo>
                <a:lnTo>
                  <a:pt x="4060" y="426"/>
                </a:lnTo>
                <a:lnTo>
                  <a:pt x="4024" y="433"/>
                </a:lnTo>
                <a:lnTo>
                  <a:pt x="3988" y="443"/>
                </a:lnTo>
                <a:lnTo>
                  <a:pt x="3952" y="454"/>
                </a:lnTo>
                <a:lnTo>
                  <a:pt x="3918" y="465"/>
                </a:lnTo>
                <a:lnTo>
                  <a:pt x="3884" y="478"/>
                </a:lnTo>
                <a:lnTo>
                  <a:pt x="3850" y="492"/>
                </a:lnTo>
                <a:lnTo>
                  <a:pt x="3818" y="507"/>
                </a:lnTo>
                <a:lnTo>
                  <a:pt x="3786" y="524"/>
                </a:lnTo>
                <a:lnTo>
                  <a:pt x="3754" y="542"/>
                </a:lnTo>
                <a:lnTo>
                  <a:pt x="3725" y="560"/>
                </a:lnTo>
                <a:lnTo>
                  <a:pt x="3695" y="580"/>
                </a:lnTo>
                <a:lnTo>
                  <a:pt x="3665" y="601"/>
                </a:lnTo>
                <a:lnTo>
                  <a:pt x="3637" y="623"/>
                </a:lnTo>
                <a:lnTo>
                  <a:pt x="3610" y="645"/>
                </a:lnTo>
                <a:lnTo>
                  <a:pt x="3583" y="670"/>
                </a:lnTo>
                <a:lnTo>
                  <a:pt x="3558" y="694"/>
                </a:lnTo>
                <a:lnTo>
                  <a:pt x="3525" y="729"/>
                </a:lnTo>
                <a:lnTo>
                  <a:pt x="3493" y="766"/>
                </a:lnTo>
                <a:close/>
                <a:moveTo>
                  <a:pt x="4625" y="1419"/>
                </a:moveTo>
                <a:lnTo>
                  <a:pt x="5168" y="1732"/>
                </a:lnTo>
                <a:lnTo>
                  <a:pt x="5182" y="1692"/>
                </a:lnTo>
                <a:lnTo>
                  <a:pt x="5194" y="1650"/>
                </a:lnTo>
                <a:lnTo>
                  <a:pt x="5205" y="1607"/>
                </a:lnTo>
                <a:lnTo>
                  <a:pt x="5214" y="1565"/>
                </a:lnTo>
                <a:lnTo>
                  <a:pt x="5221" y="1521"/>
                </a:lnTo>
                <a:lnTo>
                  <a:pt x="5225" y="1477"/>
                </a:lnTo>
                <a:lnTo>
                  <a:pt x="5228" y="1432"/>
                </a:lnTo>
                <a:lnTo>
                  <a:pt x="5230" y="1387"/>
                </a:lnTo>
                <a:lnTo>
                  <a:pt x="5230" y="1349"/>
                </a:lnTo>
                <a:lnTo>
                  <a:pt x="5227" y="1312"/>
                </a:lnTo>
                <a:lnTo>
                  <a:pt x="5223" y="1274"/>
                </a:lnTo>
                <a:lnTo>
                  <a:pt x="5219" y="1238"/>
                </a:lnTo>
                <a:lnTo>
                  <a:pt x="5212" y="1201"/>
                </a:lnTo>
                <a:lnTo>
                  <a:pt x="5205" y="1166"/>
                </a:lnTo>
                <a:lnTo>
                  <a:pt x="5195" y="1131"/>
                </a:lnTo>
                <a:lnTo>
                  <a:pt x="5186" y="1096"/>
                </a:lnTo>
                <a:lnTo>
                  <a:pt x="4625" y="1419"/>
                </a:lnTo>
                <a:close/>
                <a:moveTo>
                  <a:pt x="4060" y="1746"/>
                </a:moveTo>
                <a:lnTo>
                  <a:pt x="3530" y="2051"/>
                </a:lnTo>
                <a:lnTo>
                  <a:pt x="3558" y="2080"/>
                </a:lnTo>
                <a:lnTo>
                  <a:pt x="3583" y="2105"/>
                </a:lnTo>
                <a:lnTo>
                  <a:pt x="3610" y="2128"/>
                </a:lnTo>
                <a:lnTo>
                  <a:pt x="3637" y="2151"/>
                </a:lnTo>
                <a:lnTo>
                  <a:pt x="3665" y="2173"/>
                </a:lnTo>
                <a:lnTo>
                  <a:pt x="3695" y="2194"/>
                </a:lnTo>
                <a:lnTo>
                  <a:pt x="3725" y="2214"/>
                </a:lnTo>
                <a:lnTo>
                  <a:pt x="3754" y="2232"/>
                </a:lnTo>
                <a:lnTo>
                  <a:pt x="3786" y="2250"/>
                </a:lnTo>
                <a:lnTo>
                  <a:pt x="3818" y="2266"/>
                </a:lnTo>
                <a:lnTo>
                  <a:pt x="3850" y="2282"/>
                </a:lnTo>
                <a:lnTo>
                  <a:pt x="3884" y="2296"/>
                </a:lnTo>
                <a:lnTo>
                  <a:pt x="3918" y="2309"/>
                </a:lnTo>
                <a:lnTo>
                  <a:pt x="3952" y="2321"/>
                </a:lnTo>
                <a:lnTo>
                  <a:pt x="3988" y="2331"/>
                </a:lnTo>
                <a:lnTo>
                  <a:pt x="4024" y="2341"/>
                </a:lnTo>
                <a:lnTo>
                  <a:pt x="4060" y="2348"/>
                </a:lnTo>
                <a:lnTo>
                  <a:pt x="4060" y="1746"/>
                </a:lnTo>
                <a:close/>
                <a:moveTo>
                  <a:pt x="4437" y="1092"/>
                </a:moveTo>
                <a:lnTo>
                  <a:pt x="5006" y="763"/>
                </a:lnTo>
                <a:lnTo>
                  <a:pt x="4975" y="728"/>
                </a:lnTo>
                <a:lnTo>
                  <a:pt x="4943" y="694"/>
                </a:lnTo>
                <a:lnTo>
                  <a:pt x="4917" y="669"/>
                </a:lnTo>
                <a:lnTo>
                  <a:pt x="4890" y="645"/>
                </a:lnTo>
                <a:lnTo>
                  <a:pt x="4862" y="622"/>
                </a:lnTo>
                <a:lnTo>
                  <a:pt x="4835" y="601"/>
                </a:lnTo>
                <a:lnTo>
                  <a:pt x="4805" y="579"/>
                </a:lnTo>
                <a:lnTo>
                  <a:pt x="4775" y="559"/>
                </a:lnTo>
                <a:lnTo>
                  <a:pt x="4744" y="541"/>
                </a:lnTo>
                <a:lnTo>
                  <a:pt x="4712" y="523"/>
                </a:lnTo>
                <a:lnTo>
                  <a:pt x="4680" y="506"/>
                </a:lnTo>
                <a:lnTo>
                  <a:pt x="4647" y="491"/>
                </a:lnTo>
                <a:lnTo>
                  <a:pt x="4613" y="477"/>
                </a:lnTo>
                <a:lnTo>
                  <a:pt x="4579" y="463"/>
                </a:lnTo>
                <a:lnTo>
                  <a:pt x="4544" y="453"/>
                </a:lnTo>
                <a:lnTo>
                  <a:pt x="4509" y="442"/>
                </a:lnTo>
                <a:lnTo>
                  <a:pt x="4473" y="432"/>
                </a:lnTo>
                <a:lnTo>
                  <a:pt x="4437" y="425"/>
                </a:lnTo>
                <a:lnTo>
                  <a:pt x="4437" y="1092"/>
                </a:lnTo>
                <a:close/>
                <a:moveTo>
                  <a:pt x="2318" y="2243"/>
                </a:moveTo>
                <a:lnTo>
                  <a:pt x="1925" y="2016"/>
                </a:lnTo>
                <a:lnTo>
                  <a:pt x="1925" y="2461"/>
                </a:lnTo>
                <a:lnTo>
                  <a:pt x="1953" y="2455"/>
                </a:lnTo>
                <a:lnTo>
                  <a:pt x="1979" y="2448"/>
                </a:lnTo>
                <a:lnTo>
                  <a:pt x="2005" y="2441"/>
                </a:lnTo>
                <a:lnTo>
                  <a:pt x="2030" y="2432"/>
                </a:lnTo>
                <a:lnTo>
                  <a:pt x="2056" y="2423"/>
                </a:lnTo>
                <a:lnTo>
                  <a:pt x="2080" y="2412"/>
                </a:lnTo>
                <a:lnTo>
                  <a:pt x="2105" y="2400"/>
                </a:lnTo>
                <a:lnTo>
                  <a:pt x="2128" y="2389"/>
                </a:lnTo>
                <a:lnTo>
                  <a:pt x="2152" y="2376"/>
                </a:lnTo>
                <a:lnTo>
                  <a:pt x="2175" y="2362"/>
                </a:lnTo>
                <a:lnTo>
                  <a:pt x="2196" y="2347"/>
                </a:lnTo>
                <a:lnTo>
                  <a:pt x="2219" y="2331"/>
                </a:lnTo>
                <a:lnTo>
                  <a:pt x="2239" y="2315"/>
                </a:lnTo>
                <a:lnTo>
                  <a:pt x="2260" y="2298"/>
                </a:lnTo>
                <a:lnTo>
                  <a:pt x="2279" y="2281"/>
                </a:lnTo>
                <a:lnTo>
                  <a:pt x="2299" y="2262"/>
                </a:lnTo>
                <a:lnTo>
                  <a:pt x="2318" y="2243"/>
                </a:lnTo>
                <a:close/>
                <a:moveTo>
                  <a:pt x="1509" y="1776"/>
                </a:moveTo>
                <a:lnTo>
                  <a:pt x="1098" y="1539"/>
                </a:lnTo>
                <a:lnTo>
                  <a:pt x="1092" y="1565"/>
                </a:lnTo>
                <a:lnTo>
                  <a:pt x="1084" y="1590"/>
                </a:lnTo>
                <a:lnTo>
                  <a:pt x="1079" y="1616"/>
                </a:lnTo>
                <a:lnTo>
                  <a:pt x="1075" y="1643"/>
                </a:lnTo>
                <a:lnTo>
                  <a:pt x="1072" y="1670"/>
                </a:lnTo>
                <a:lnTo>
                  <a:pt x="1068" y="1697"/>
                </a:lnTo>
                <a:lnTo>
                  <a:pt x="1067" y="1725"/>
                </a:lnTo>
                <a:lnTo>
                  <a:pt x="1066" y="1752"/>
                </a:lnTo>
                <a:lnTo>
                  <a:pt x="1067" y="1785"/>
                </a:lnTo>
                <a:lnTo>
                  <a:pt x="1069" y="1818"/>
                </a:lnTo>
                <a:lnTo>
                  <a:pt x="1074" y="1850"/>
                </a:lnTo>
                <a:lnTo>
                  <a:pt x="1078" y="1882"/>
                </a:lnTo>
                <a:lnTo>
                  <a:pt x="1084" y="1914"/>
                </a:lnTo>
                <a:lnTo>
                  <a:pt x="1093" y="1945"/>
                </a:lnTo>
                <a:lnTo>
                  <a:pt x="1101" y="1975"/>
                </a:lnTo>
                <a:lnTo>
                  <a:pt x="1112" y="2004"/>
                </a:lnTo>
                <a:lnTo>
                  <a:pt x="1509" y="1776"/>
                </a:lnTo>
                <a:close/>
                <a:moveTo>
                  <a:pt x="1230" y="1295"/>
                </a:moveTo>
                <a:lnTo>
                  <a:pt x="1647" y="1535"/>
                </a:lnTo>
                <a:lnTo>
                  <a:pt x="1647" y="1044"/>
                </a:lnTo>
                <a:lnTo>
                  <a:pt x="1621" y="1050"/>
                </a:lnTo>
                <a:lnTo>
                  <a:pt x="1595" y="1056"/>
                </a:lnTo>
                <a:lnTo>
                  <a:pt x="1569" y="1065"/>
                </a:lnTo>
                <a:lnTo>
                  <a:pt x="1544" y="1073"/>
                </a:lnTo>
                <a:lnTo>
                  <a:pt x="1519" y="1083"/>
                </a:lnTo>
                <a:lnTo>
                  <a:pt x="1494" y="1092"/>
                </a:lnTo>
                <a:lnTo>
                  <a:pt x="1470" y="1104"/>
                </a:lnTo>
                <a:lnTo>
                  <a:pt x="1446" y="1116"/>
                </a:lnTo>
                <a:lnTo>
                  <a:pt x="1424" y="1130"/>
                </a:lnTo>
                <a:lnTo>
                  <a:pt x="1400" y="1143"/>
                </a:lnTo>
                <a:lnTo>
                  <a:pt x="1379" y="1157"/>
                </a:lnTo>
                <a:lnTo>
                  <a:pt x="1358" y="1173"/>
                </a:lnTo>
                <a:lnTo>
                  <a:pt x="1337" y="1189"/>
                </a:lnTo>
                <a:lnTo>
                  <a:pt x="1316" y="1206"/>
                </a:lnTo>
                <a:lnTo>
                  <a:pt x="1297" y="1223"/>
                </a:lnTo>
                <a:lnTo>
                  <a:pt x="1278" y="1241"/>
                </a:lnTo>
                <a:lnTo>
                  <a:pt x="1254" y="1267"/>
                </a:lnTo>
                <a:lnTo>
                  <a:pt x="1230" y="1295"/>
                </a:lnTo>
                <a:close/>
                <a:moveTo>
                  <a:pt x="2064" y="1776"/>
                </a:moveTo>
                <a:lnTo>
                  <a:pt x="2464" y="2007"/>
                </a:lnTo>
                <a:lnTo>
                  <a:pt x="2474" y="1977"/>
                </a:lnTo>
                <a:lnTo>
                  <a:pt x="2484" y="1946"/>
                </a:lnTo>
                <a:lnTo>
                  <a:pt x="2491" y="1915"/>
                </a:lnTo>
                <a:lnTo>
                  <a:pt x="2498" y="1883"/>
                </a:lnTo>
                <a:lnTo>
                  <a:pt x="2503" y="1851"/>
                </a:lnTo>
                <a:lnTo>
                  <a:pt x="2507" y="1818"/>
                </a:lnTo>
                <a:lnTo>
                  <a:pt x="2509" y="1785"/>
                </a:lnTo>
                <a:lnTo>
                  <a:pt x="2510" y="1752"/>
                </a:lnTo>
                <a:lnTo>
                  <a:pt x="2509" y="1725"/>
                </a:lnTo>
                <a:lnTo>
                  <a:pt x="2508" y="1697"/>
                </a:lnTo>
                <a:lnTo>
                  <a:pt x="2505" y="1669"/>
                </a:lnTo>
                <a:lnTo>
                  <a:pt x="2502" y="1642"/>
                </a:lnTo>
                <a:lnTo>
                  <a:pt x="2497" y="1615"/>
                </a:lnTo>
                <a:lnTo>
                  <a:pt x="2491" y="1589"/>
                </a:lnTo>
                <a:lnTo>
                  <a:pt x="2485" y="1563"/>
                </a:lnTo>
                <a:lnTo>
                  <a:pt x="2477" y="1537"/>
                </a:lnTo>
                <a:lnTo>
                  <a:pt x="2064" y="1776"/>
                </a:lnTo>
                <a:close/>
                <a:moveTo>
                  <a:pt x="1647" y="2016"/>
                </a:moveTo>
                <a:lnTo>
                  <a:pt x="1258" y="2242"/>
                </a:lnTo>
                <a:lnTo>
                  <a:pt x="1278" y="2262"/>
                </a:lnTo>
                <a:lnTo>
                  <a:pt x="1297" y="2280"/>
                </a:lnTo>
                <a:lnTo>
                  <a:pt x="1316" y="2298"/>
                </a:lnTo>
                <a:lnTo>
                  <a:pt x="1337" y="2315"/>
                </a:lnTo>
                <a:lnTo>
                  <a:pt x="1358" y="2331"/>
                </a:lnTo>
                <a:lnTo>
                  <a:pt x="1379" y="2346"/>
                </a:lnTo>
                <a:lnTo>
                  <a:pt x="1400" y="2361"/>
                </a:lnTo>
                <a:lnTo>
                  <a:pt x="1424" y="2375"/>
                </a:lnTo>
                <a:lnTo>
                  <a:pt x="1446" y="2388"/>
                </a:lnTo>
                <a:lnTo>
                  <a:pt x="1470" y="2400"/>
                </a:lnTo>
                <a:lnTo>
                  <a:pt x="1494" y="2411"/>
                </a:lnTo>
                <a:lnTo>
                  <a:pt x="1519" y="2422"/>
                </a:lnTo>
                <a:lnTo>
                  <a:pt x="1544" y="2431"/>
                </a:lnTo>
                <a:lnTo>
                  <a:pt x="1569" y="2440"/>
                </a:lnTo>
                <a:lnTo>
                  <a:pt x="1595" y="2447"/>
                </a:lnTo>
                <a:lnTo>
                  <a:pt x="1621" y="2455"/>
                </a:lnTo>
                <a:lnTo>
                  <a:pt x="1647" y="2460"/>
                </a:lnTo>
                <a:lnTo>
                  <a:pt x="1647" y="2016"/>
                </a:lnTo>
                <a:close/>
                <a:moveTo>
                  <a:pt x="1925" y="1535"/>
                </a:moveTo>
                <a:lnTo>
                  <a:pt x="2345" y="1292"/>
                </a:lnTo>
                <a:lnTo>
                  <a:pt x="2322" y="1267"/>
                </a:lnTo>
                <a:lnTo>
                  <a:pt x="2299" y="1241"/>
                </a:lnTo>
                <a:lnTo>
                  <a:pt x="2279" y="1223"/>
                </a:lnTo>
                <a:lnTo>
                  <a:pt x="2260" y="1205"/>
                </a:lnTo>
                <a:lnTo>
                  <a:pt x="2239" y="1189"/>
                </a:lnTo>
                <a:lnTo>
                  <a:pt x="2219" y="1172"/>
                </a:lnTo>
                <a:lnTo>
                  <a:pt x="2196" y="1157"/>
                </a:lnTo>
                <a:lnTo>
                  <a:pt x="2175" y="1142"/>
                </a:lnTo>
                <a:lnTo>
                  <a:pt x="2152" y="1129"/>
                </a:lnTo>
                <a:lnTo>
                  <a:pt x="2128" y="1116"/>
                </a:lnTo>
                <a:lnTo>
                  <a:pt x="2105" y="1103"/>
                </a:lnTo>
                <a:lnTo>
                  <a:pt x="2080" y="1092"/>
                </a:lnTo>
                <a:lnTo>
                  <a:pt x="2056" y="1082"/>
                </a:lnTo>
                <a:lnTo>
                  <a:pt x="2030" y="1072"/>
                </a:lnTo>
                <a:lnTo>
                  <a:pt x="2005" y="1064"/>
                </a:lnTo>
                <a:lnTo>
                  <a:pt x="1979" y="1056"/>
                </a:lnTo>
                <a:lnTo>
                  <a:pt x="1953" y="1049"/>
                </a:lnTo>
                <a:lnTo>
                  <a:pt x="1925" y="1043"/>
                </a:lnTo>
                <a:lnTo>
                  <a:pt x="1925" y="1535"/>
                </a:lnTo>
                <a:close/>
              </a:path>
            </a:pathLst>
          </a:custGeom>
          <a:solidFill>
            <a:srgbClr val="FFC000"/>
          </a:solidFill>
          <a:ln>
            <a:noFill/>
          </a:ln>
          <a:extLst/>
        </p:spPr>
        <p:txBody>
          <a:bodyPr tIns="720000"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3" name="TextBox 12"/>
          <p:cNvSpPr txBox="1"/>
          <p:nvPr/>
        </p:nvSpPr>
        <p:spPr>
          <a:xfrm>
            <a:off x="251521" y="764704"/>
            <a:ext cx="8786806" cy="1015663"/>
          </a:xfrm>
          <a:prstGeom prst="rect">
            <a:avLst/>
          </a:prstGeom>
          <a:noFill/>
        </p:spPr>
        <p:txBody>
          <a:bodyPr wrap="square" rtlCol="0">
            <a:spAutoFit/>
          </a:bodyPr>
          <a:lstStyle/>
          <a:p>
            <a:pPr marL="342900" indent="-342900">
              <a:lnSpc>
                <a:spcPct val="150000"/>
              </a:lnSpc>
              <a:buFont typeface="Arial" panose="020B0604020202020204" pitchFamily="34" charset="0"/>
              <a:buChar char="•"/>
              <a:tabLst>
                <a:tab pos="5741988" algn="l"/>
              </a:tabLst>
            </a:pPr>
            <a:r>
              <a:rPr lang="zh-CN" altLang="en-US" sz="2000" b="1" dirty="0" smtClean="0">
                <a:solidFill>
                  <a:schemeClr val="bg1"/>
                </a:solidFill>
                <a:latin typeface="华文中宋" panose="02010600040101010101" pitchFamily="2" charset="-122"/>
                <a:ea typeface="华文中宋" panose="02010600040101010101" pitchFamily="2" charset="-122"/>
              </a:rPr>
              <a:t>综艺节目是汽车出行类互联网企业广告花费占比较大的节目类型。</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342900" indent="-342900">
              <a:lnSpc>
                <a:spcPct val="150000"/>
              </a:lnSpc>
              <a:buFont typeface="Arial" panose="020B0604020202020204" pitchFamily="34" charset="0"/>
              <a:buChar char="•"/>
              <a:tabLst>
                <a:tab pos="5741988" algn="l"/>
              </a:tabLst>
            </a:pPr>
            <a:r>
              <a:rPr lang="zh-CN" altLang="en-US" sz="2000" b="1" dirty="0">
                <a:solidFill>
                  <a:schemeClr val="bg1"/>
                </a:solidFill>
                <a:latin typeface="华文中宋" panose="02010600040101010101" pitchFamily="2" charset="-122"/>
                <a:ea typeface="华文中宋" panose="02010600040101010101" pitchFamily="2" charset="-122"/>
              </a:rPr>
              <a:t>体育</a:t>
            </a:r>
            <a:r>
              <a:rPr lang="zh-CN" altLang="en-US" sz="2000" b="1" dirty="0" smtClean="0">
                <a:solidFill>
                  <a:schemeClr val="bg1"/>
                </a:solidFill>
                <a:latin typeface="华文中宋" panose="02010600040101010101" pitchFamily="2" charset="-122"/>
                <a:ea typeface="华文中宋" panose="02010600040101010101" pitchFamily="2" charset="-122"/>
              </a:rPr>
              <a:t>类和电影类节目同样也吸引了不少汽车出行类互联网企业投放。</a:t>
            </a:r>
            <a:endParaRPr lang="en-US" altLang="zh-CN" sz="2000" b="1" dirty="0" smtClean="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2643080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nvSpPr>
        <p:spPr>
          <a:xfrm>
            <a:off x="251520" y="188640"/>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1B015"/>
                </a:solidFill>
                <a:latin typeface="Arial Black"/>
                <a:ea typeface="微软雅黑"/>
              </a:rPr>
              <a:t>花费最多的综艺节目</a:t>
            </a:r>
            <a:endParaRPr lang="zh-CN" altLang="en-US" b="1" dirty="0">
              <a:solidFill>
                <a:srgbClr val="F1B015"/>
              </a:solidFill>
              <a:latin typeface="Arial Black"/>
              <a:ea typeface="微软雅黑"/>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6" name="表格 5"/>
          <p:cNvGraphicFramePr>
            <a:graphicFrameLocks noGrp="1"/>
          </p:cNvGraphicFramePr>
          <p:nvPr>
            <p:extLst>
              <p:ext uri="{D42A27DB-BD31-4B8C-83A1-F6EECF244321}">
                <p14:modId xmlns:p14="http://schemas.microsoft.com/office/powerpoint/2010/main" val="2591180138"/>
              </p:ext>
            </p:extLst>
          </p:nvPr>
        </p:nvGraphicFramePr>
        <p:xfrm>
          <a:off x="251522" y="1844820"/>
          <a:ext cx="8546750" cy="4248476"/>
        </p:xfrm>
        <a:graphic>
          <a:graphicData uri="http://schemas.openxmlformats.org/drawingml/2006/table">
            <a:tbl>
              <a:tblPr firstRow="1" bandRow="1">
                <a:tableStyleId>{46F890A9-2807-4EBB-B81D-B2AA78EC7F39}</a:tableStyleId>
              </a:tblPr>
              <a:tblGrid>
                <a:gridCol w="1494710">
                  <a:extLst>
                    <a:ext uri="{9D8B030D-6E8A-4147-A177-3AD203B41FA5}">
                      <a16:colId xmlns="" xmlns:a16="http://schemas.microsoft.com/office/drawing/2014/main" val="20000"/>
                    </a:ext>
                  </a:extLst>
                </a:gridCol>
                <a:gridCol w="3526020">
                  <a:extLst>
                    <a:ext uri="{9D8B030D-6E8A-4147-A177-3AD203B41FA5}">
                      <a16:colId xmlns="" xmlns:a16="http://schemas.microsoft.com/office/drawing/2014/main" val="20001"/>
                    </a:ext>
                  </a:extLst>
                </a:gridCol>
                <a:gridCol w="3526020"/>
              </a:tblGrid>
              <a:tr h="459596">
                <a:tc>
                  <a:txBody>
                    <a:bodyPr/>
                    <a:lstStyle/>
                    <a:p>
                      <a:pPr marL="0" algn="ctr" defTabSz="914400" rtl="0" eaLnBrk="1" fontAlgn="ctr" latinLnBrk="0" hangingPunct="1"/>
                      <a:r>
                        <a:rPr lang="zh-CN" altLang="en-US" sz="1500" b="1" u="none" strike="noStrike" kern="1200" dirty="0">
                          <a:effectLst/>
                          <a:latin typeface="华文中宋" panose="02010600040101010101" pitchFamily="2" charset="-122"/>
                          <a:ea typeface="华文中宋" panose="02010600040101010101" pitchFamily="2" charset="-122"/>
                        </a:rPr>
                        <a:t>排名</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节目名称</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频道名称</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extLst>
                  <a:ext uri="{0D108BD9-81ED-4DB2-BD59-A6C34878D82A}">
                    <a16:rowId xmlns="" xmlns:a16="http://schemas.microsoft.com/office/drawing/2014/main" val="10000"/>
                  </a:ext>
                </a:extLst>
              </a:tr>
              <a:tr h="378888">
                <a:tc>
                  <a:txBody>
                    <a:bodyPr/>
                    <a:lstStyle/>
                    <a:p>
                      <a:pPr marL="0" algn="ctr" defTabSz="914400" rtl="0" eaLnBrk="1" fontAlgn="ctr" latinLnBrk="0" hangingPunct="1"/>
                      <a:r>
                        <a:rPr lang="en-US" altLang="zh-CN" sz="1500" u="none" strike="noStrike" kern="1200" dirty="0">
                          <a:effectLst/>
                        </a:rPr>
                        <a:t>1</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我是歌手</a:t>
                      </a: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第三季</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湖南卫视</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1"/>
                  </a:ext>
                </a:extLst>
              </a:tr>
              <a:tr h="378888">
                <a:tc>
                  <a:txBody>
                    <a:bodyPr/>
                    <a:lstStyle/>
                    <a:p>
                      <a:pPr marL="0" algn="ctr" defTabSz="914400" rtl="0" eaLnBrk="1" fontAlgn="ctr" latinLnBrk="0" hangingPunct="1"/>
                      <a:r>
                        <a:rPr lang="en-US" altLang="zh-CN" sz="1500" u="none" strike="noStrike" kern="1200" dirty="0">
                          <a:effectLst/>
                        </a:rPr>
                        <a:t>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快乐大本营</a:t>
                      </a: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湖南卫视</a:t>
                      </a:r>
                    </a:p>
                  </a:txBody>
                  <a:tcPr marL="9525" marR="9525" marT="9525" marB="0" anchor="ctr">
                    <a:solidFill>
                      <a:schemeClr val="bg1">
                        <a:lumMod val="95000"/>
                      </a:schemeClr>
                    </a:solidFill>
                  </a:tcPr>
                </a:tc>
                <a:extLst>
                  <a:ext uri="{0D108BD9-81ED-4DB2-BD59-A6C34878D82A}">
                    <a16:rowId xmlns="" xmlns:a16="http://schemas.microsoft.com/office/drawing/2014/main" val="10002"/>
                  </a:ext>
                </a:extLst>
              </a:tr>
              <a:tr h="378888">
                <a:tc>
                  <a:txBody>
                    <a:bodyPr/>
                    <a:lstStyle/>
                    <a:p>
                      <a:pPr marL="0" algn="ctr" defTabSz="914400" rtl="0" eaLnBrk="1" fontAlgn="ctr" latinLnBrk="0" hangingPunct="1"/>
                      <a:r>
                        <a:rPr lang="en-US" altLang="zh-CN" sz="1500" u="none" strike="noStrike" kern="1200" dirty="0">
                          <a:effectLst/>
                        </a:rPr>
                        <a:t>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奔跑吧兄弟</a:t>
                      </a: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第三季</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浙江卫视</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3"/>
                  </a:ext>
                </a:extLst>
              </a:tr>
              <a:tr h="378888">
                <a:tc>
                  <a:txBody>
                    <a:bodyPr/>
                    <a:lstStyle/>
                    <a:p>
                      <a:pPr marL="0" algn="ctr" defTabSz="914400" rtl="0" eaLnBrk="1" fontAlgn="ctr" latinLnBrk="0" hangingPunct="1"/>
                      <a:r>
                        <a:rPr lang="en-US" altLang="zh-CN" sz="1500" u="none" strike="noStrike" kern="1200" dirty="0">
                          <a:effectLst/>
                        </a:rPr>
                        <a:t>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王牌对王牌</a:t>
                      </a: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浙江卫视</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4"/>
                  </a:ext>
                </a:extLst>
              </a:tr>
              <a:tr h="378888">
                <a:tc>
                  <a:txBody>
                    <a:bodyPr/>
                    <a:lstStyle/>
                    <a:p>
                      <a:pPr marL="0" algn="ctr" defTabSz="914400" rtl="0" eaLnBrk="1" fontAlgn="ctr" latinLnBrk="0" hangingPunct="1"/>
                      <a:r>
                        <a:rPr lang="en-US" altLang="zh-CN" sz="1500" u="none" strike="noStrike" kern="1200" dirty="0">
                          <a:effectLst/>
                        </a:rPr>
                        <a:t>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欢乐喜剧人</a:t>
                      </a: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东方卫视</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5"/>
                  </a:ext>
                </a:extLst>
              </a:tr>
              <a:tr h="378888">
                <a:tc>
                  <a:txBody>
                    <a:bodyPr/>
                    <a:lstStyle/>
                    <a:p>
                      <a:pPr marL="0" algn="ctr" defTabSz="914400" rtl="0" eaLnBrk="1" fontAlgn="ctr" latinLnBrk="0" hangingPunct="1"/>
                      <a:r>
                        <a:rPr lang="en-US" altLang="zh-CN" sz="1500" u="none" strike="noStrike" kern="1200" dirty="0">
                          <a:effectLst/>
                        </a:rPr>
                        <a:t>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光影星播客</a:t>
                      </a: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CCTV-6</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6"/>
                  </a:ext>
                </a:extLst>
              </a:tr>
              <a:tr h="378888">
                <a:tc>
                  <a:txBody>
                    <a:bodyPr/>
                    <a:lstStyle/>
                    <a:p>
                      <a:pPr marL="0" algn="ctr" defTabSz="914400" rtl="0" eaLnBrk="1" fontAlgn="ctr" latinLnBrk="0" hangingPunct="1"/>
                      <a:r>
                        <a:rPr lang="en-US" altLang="zh-CN" sz="1500" u="none" strike="noStrike" kern="1200" dirty="0">
                          <a:effectLst/>
                        </a:rPr>
                        <a:t>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奔跑吧兄弟</a:t>
                      </a: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第一季</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浙江卫视</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7"/>
                  </a:ext>
                </a:extLst>
              </a:tr>
              <a:tr h="378888">
                <a:tc>
                  <a:txBody>
                    <a:bodyPr/>
                    <a:lstStyle/>
                    <a:p>
                      <a:pPr marL="0" algn="ctr" defTabSz="914400" rtl="0" eaLnBrk="1" fontAlgn="ctr" latinLnBrk="0" hangingPunct="1"/>
                      <a:r>
                        <a:rPr lang="en-US" altLang="zh-CN" sz="1500" u="none" strike="noStrike" kern="1200" dirty="0">
                          <a:effectLst/>
                        </a:rPr>
                        <a:t>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天天向上</a:t>
                      </a: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湖南卫视</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8"/>
                  </a:ext>
                </a:extLst>
              </a:tr>
              <a:tr h="378888">
                <a:tc>
                  <a:txBody>
                    <a:bodyPr/>
                    <a:lstStyle/>
                    <a:p>
                      <a:pPr marL="0" algn="ctr" defTabSz="914400" rtl="0" eaLnBrk="1" fontAlgn="ctr" latinLnBrk="0" hangingPunct="1"/>
                      <a:r>
                        <a:rPr lang="en-US" altLang="zh-CN" sz="1500" u="none" strike="noStrike" kern="1200" dirty="0">
                          <a:effectLst/>
                        </a:rPr>
                        <a:t>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二十四小时</a:t>
                      </a: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浙江卫视</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09"/>
                  </a:ext>
                </a:extLst>
              </a:tr>
              <a:tr h="378888">
                <a:tc>
                  <a:txBody>
                    <a:bodyPr/>
                    <a:lstStyle/>
                    <a:p>
                      <a:pPr marL="0" algn="ctr" defTabSz="914400" rtl="0" eaLnBrk="1" fontAlgn="ctr" latinLnBrk="0" hangingPunct="1"/>
                      <a:r>
                        <a:rPr lang="en-US" altLang="zh-CN" sz="1500" u="none" strike="noStrike" kern="1200" dirty="0">
                          <a:effectLst/>
                        </a:rPr>
                        <a:t>10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旋风孝子</a:t>
                      </a:r>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b"/>
                      <a:r>
                        <a:rPr lang="zh-CN" altLang="en-US"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湖南卫视</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extLst>
                  <a:ext uri="{0D108BD9-81ED-4DB2-BD59-A6C34878D82A}">
                    <a16:rowId xmlns="" xmlns:a16="http://schemas.microsoft.com/office/drawing/2014/main" val="10010"/>
                  </a:ext>
                </a:extLst>
              </a:tr>
            </a:tbl>
          </a:graphicData>
        </a:graphic>
      </p:graphicFrame>
      <p:sp>
        <p:nvSpPr>
          <p:cNvPr id="7" name="TextBox 6"/>
          <p:cNvSpPr txBox="1"/>
          <p:nvPr/>
        </p:nvSpPr>
        <p:spPr>
          <a:xfrm>
            <a:off x="251521" y="739647"/>
            <a:ext cx="8786806" cy="1015663"/>
          </a:xfrm>
          <a:prstGeom prst="rect">
            <a:avLst/>
          </a:prstGeom>
          <a:noFill/>
        </p:spPr>
        <p:txBody>
          <a:bodyPr wrap="square" rtlCol="0">
            <a:spAutoFit/>
          </a:bodyPr>
          <a:lstStyle/>
          <a:p>
            <a:pPr marL="342900" indent="-342900">
              <a:lnSpc>
                <a:spcPct val="150000"/>
              </a:lnSpc>
              <a:buFont typeface="Arial" panose="020B0604020202020204" pitchFamily="34" charset="0"/>
              <a:buChar char="•"/>
              <a:tabLst>
                <a:tab pos="5741988" algn="l"/>
              </a:tabLst>
            </a:pPr>
            <a:r>
              <a:rPr lang="zh-CN" altLang="en-US" sz="2000" b="1" dirty="0" smtClean="0">
                <a:solidFill>
                  <a:schemeClr val="bg1"/>
                </a:solidFill>
                <a:latin typeface="华文中宋" panose="02010600040101010101" pitchFamily="2" charset="-122"/>
                <a:ea typeface="华文中宋" panose="02010600040101010101" pitchFamily="2" charset="-122"/>
              </a:rPr>
              <a:t>汽车出行类互联网企业对于</a:t>
            </a:r>
            <a:r>
              <a:rPr lang="zh-CN" altLang="en-US" sz="2000" b="1" dirty="0">
                <a:solidFill>
                  <a:schemeClr val="bg1"/>
                </a:solidFill>
                <a:latin typeface="华文中宋" panose="02010600040101010101" pitchFamily="2" charset="-122"/>
                <a:ea typeface="华文中宋" panose="02010600040101010101" pitchFamily="2" charset="-122"/>
              </a:rPr>
              <a:t>热门的综艺</a:t>
            </a:r>
            <a:r>
              <a:rPr lang="zh-CN" altLang="en-US" sz="2000" b="1" dirty="0" smtClean="0">
                <a:solidFill>
                  <a:schemeClr val="bg1"/>
                </a:solidFill>
                <a:latin typeface="华文中宋" panose="02010600040101010101" pitchFamily="2" charset="-122"/>
                <a:ea typeface="华文中宋" panose="02010600040101010101" pitchFamily="2" charset="-122"/>
              </a:rPr>
              <a:t>节目的关注较高，投放量较大的综艺节目多为各省级卫视的王牌综艺。</a:t>
            </a:r>
            <a:endParaRPr lang="en-US" altLang="zh-CN" sz="2000" b="1" dirty="0" smtClean="0">
              <a:solidFill>
                <a:schemeClr val="bg1"/>
              </a:solidFill>
              <a:latin typeface="华文中宋" panose="02010600040101010101" pitchFamily="2" charset="-122"/>
              <a:ea typeface="华文中宋" panose="02010600040101010101" pitchFamily="2" charset="-122"/>
            </a:endParaRPr>
          </a:p>
        </p:txBody>
      </p:sp>
      <p:sp>
        <p:nvSpPr>
          <p:cNvPr id="9" name="矩形 8"/>
          <p:cNvSpPr/>
          <p:nvPr/>
        </p:nvSpPr>
        <p:spPr>
          <a:xfrm>
            <a:off x="2532538" y="6453336"/>
            <a:ext cx="6647974" cy="425758"/>
          </a:xfrm>
          <a:prstGeom prst="rect">
            <a:avLst/>
          </a:prstGeom>
        </p:spPr>
        <p:txBody>
          <a:bodyPr wrap="non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数据说明：按照</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月电视综艺节目广告花费排序</a:t>
            </a:r>
            <a:endParaRPr lang="en-US" altLang="zh-CN" sz="1100" kern="100" dirty="0" smtClean="0">
              <a:solidFill>
                <a:srgbClr val="FFFFFF"/>
              </a:solidFill>
              <a:latin typeface="华文中宋" panose="02010600040101010101" pitchFamily="2" charset="-122"/>
              <a:ea typeface="华文中宋" panose="02010600040101010101" pitchFamily="2" charset="-122"/>
            </a:endParaRPr>
          </a:p>
          <a:p>
            <a:pPr algn="r" latinLnBrk="1">
              <a:lnSpc>
                <a:spcPts val="1300"/>
              </a:lnSpc>
            </a:pP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486007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nvSpPr>
        <p:spPr>
          <a:xfrm>
            <a:off x="251520" y="188640"/>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C000"/>
                </a:solidFill>
                <a:latin typeface="Arial Black"/>
                <a:ea typeface="微软雅黑"/>
              </a:rPr>
              <a:t>电视曝光</a:t>
            </a:r>
            <a:endParaRPr lang="zh-CN" altLang="en-US" b="1" dirty="0">
              <a:solidFill>
                <a:srgbClr val="FFC000"/>
              </a:solidFill>
              <a:latin typeface="Arial Black"/>
              <a:ea typeface="微软雅黑"/>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6" name="表格 5"/>
          <p:cNvGraphicFramePr>
            <a:graphicFrameLocks noGrp="1"/>
          </p:cNvGraphicFramePr>
          <p:nvPr>
            <p:extLst>
              <p:ext uri="{D42A27DB-BD31-4B8C-83A1-F6EECF244321}">
                <p14:modId xmlns:p14="http://schemas.microsoft.com/office/powerpoint/2010/main" val="4047299174"/>
              </p:ext>
            </p:extLst>
          </p:nvPr>
        </p:nvGraphicFramePr>
        <p:xfrm>
          <a:off x="345727" y="2060849"/>
          <a:ext cx="8402737" cy="3744415"/>
        </p:xfrm>
        <a:graphic>
          <a:graphicData uri="http://schemas.openxmlformats.org/drawingml/2006/table">
            <a:tbl>
              <a:tblPr firstRow="1" bandRow="1">
                <a:tableStyleId>{46F890A9-2807-4EBB-B81D-B2AA78EC7F39}</a:tableStyleId>
              </a:tblPr>
              <a:tblGrid>
                <a:gridCol w="602747">
                  <a:extLst>
                    <a:ext uri="{9D8B030D-6E8A-4147-A177-3AD203B41FA5}">
                      <a16:colId xmlns="" xmlns:a16="http://schemas.microsoft.com/office/drawing/2014/main" val="20000"/>
                    </a:ext>
                  </a:extLst>
                </a:gridCol>
                <a:gridCol w="1647512">
                  <a:extLst>
                    <a:ext uri="{9D8B030D-6E8A-4147-A177-3AD203B41FA5}">
                      <a16:colId xmlns="" xmlns:a16="http://schemas.microsoft.com/office/drawing/2014/main" val="20001"/>
                    </a:ext>
                  </a:extLst>
                </a:gridCol>
                <a:gridCol w="1294518"/>
                <a:gridCol w="1294518"/>
                <a:gridCol w="3563442"/>
              </a:tblGrid>
              <a:tr h="731050">
                <a:tc>
                  <a:txBody>
                    <a:bodyPr/>
                    <a:lstStyle/>
                    <a:p>
                      <a:pPr marL="0" algn="ctr" defTabSz="914400" rtl="0" eaLnBrk="1" fontAlgn="ctr" latinLnBrk="0" hangingPunct="1"/>
                      <a:r>
                        <a:rPr lang="zh-CN" altLang="en-US" sz="1500" b="1" u="none" strike="noStrike" kern="1200" dirty="0">
                          <a:effectLst/>
                          <a:latin typeface="华文中宋" panose="02010600040101010101" pitchFamily="2" charset="-122"/>
                          <a:ea typeface="华文中宋" panose="02010600040101010101" pitchFamily="2" charset="-122"/>
                        </a:rPr>
                        <a:t>排名</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收视千人</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投放频道数量</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tc>
                  <a:txBody>
                    <a:bodyPr/>
                    <a:lstStyle/>
                    <a:p>
                      <a:pPr marL="0" algn="ctr" defTabSz="914400" rtl="0" eaLnBrk="1" fontAlgn="ctr" latinLnBrk="0" hangingPunct="1"/>
                      <a:r>
                        <a:rPr lang="zh-CN" altLang="en-US" sz="150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重点投放频道</a:t>
                      </a:r>
                      <a:endPar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rgbClr val="00B0F0"/>
                    </a:solidFill>
                  </a:tcPr>
                </a:tc>
                <a:extLst>
                  <a:ext uri="{0D108BD9-81ED-4DB2-BD59-A6C34878D82A}">
                    <a16:rowId xmlns="" xmlns:a16="http://schemas.microsoft.com/office/drawing/2014/main" val="10000"/>
                  </a:ext>
                </a:extLst>
              </a:tr>
              <a:tr h="602673">
                <a:tc>
                  <a:txBody>
                    <a:bodyPr/>
                    <a:lstStyle/>
                    <a:p>
                      <a:pPr marL="0" algn="ctr" defTabSz="914400" rtl="0" eaLnBrk="1" fontAlgn="ctr" latinLnBrk="0" hangingPunct="1"/>
                      <a:r>
                        <a:rPr lang="en-US" altLang="zh-CN" sz="1500" u="none" strike="noStrike" kern="1200" dirty="0">
                          <a:effectLst/>
                        </a:rPr>
                        <a:t>1</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百度地图软件</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6K+</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华文中宋" panose="02010600040101010101" pitchFamily="2" charset="-122"/>
                          <a:ea typeface="华文中宋" panose="02010600040101010101" pitchFamily="2" charset="-122"/>
                        </a:rPr>
                        <a:t>1</a:t>
                      </a:r>
                      <a:endParaRPr lang="en-US" altLang="zh-CN" sz="1500" b="0" i="0" u="none" strike="noStrike" dirty="0">
                        <a:solidFill>
                          <a:srgbClr val="000000"/>
                        </a:solidFill>
                        <a:effectLst/>
                        <a:latin typeface="华文中宋" panose="02010600040101010101" pitchFamily="2" charset="-122"/>
                        <a:ea typeface="华文中宋" panose="02010600040101010101" pitchFamily="2" charset="-122"/>
                      </a:endParaRPr>
                    </a:p>
                  </a:txBody>
                  <a:tcPr marL="9525" marR="9525" marT="9525" marB="0" anchor="ctr">
                    <a:solidFill>
                      <a:schemeClr val="bg1">
                        <a:lumMod val="95000"/>
                      </a:schemeClr>
                    </a:solidFill>
                  </a:tcPr>
                </a:tc>
                <a:tc>
                  <a:txBody>
                    <a:bodyPr/>
                    <a:lstStyle/>
                    <a:p>
                      <a:pPr algn="ctr" fontAlgn="ctr"/>
                      <a:r>
                        <a:rPr lang="zh-CN" altLang="en-US" sz="1500" b="0" i="0" u="none" strike="noStrike" dirty="0" smtClean="0">
                          <a:solidFill>
                            <a:srgbClr val="000000"/>
                          </a:solidFill>
                          <a:effectLst/>
                          <a:latin typeface="华文中宋" panose="02010600040101010101" pitchFamily="2" charset="-122"/>
                          <a:ea typeface="华文中宋" panose="02010600040101010101" pitchFamily="2" charset="-122"/>
                        </a:rPr>
                        <a:t>湖南卫视</a:t>
                      </a:r>
                      <a:endParaRPr lang="zh-CN" altLang="en-US" sz="1500" b="0" i="0" u="none" strike="noStrike" dirty="0">
                        <a:solidFill>
                          <a:srgbClr val="000000"/>
                        </a:solidFill>
                        <a:effectLst/>
                        <a:latin typeface="华文中宋" panose="02010600040101010101" pitchFamily="2" charset="-122"/>
                        <a:ea typeface="华文中宋" panose="02010600040101010101" pitchFamily="2" charset="-122"/>
                      </a:endParaRPr>
                    </a:p>
                  </a:txBody>
                  <a:tcPr marL="9525" marR="9525" marT="9525" marB="0" anchor="ctr">
                    <a:solidFill>
                      <a:schemeClr val="bg1">
                        <a:lumMod val="95000"/>
                      </a:schemeClr>
                    </a:solidFill>
                  </a:tcPr>
                </a:tc>
                <a:extLst>
                  <a:ext uri="{0D108BD9-81ED-4DB2-BD59-A6C34878D82A}">
                    <a16:rowId xmlns="" xmlns:a16="http://schemas.microsoft.com/office/drawing/2014/main" val="10001"/>
                  </a:ext>
                </a:extLst>
              </a:tr>
              <a:tr h="602673">
                <a:tc>
                  <a:txBody>
                    <a:bodyPr/>
                    <a:lstStyle/>
                    <a:p>
                      <a:pPr marL="0" algn="ctr" defTabSz="914400" rtl="0" eaLnBrk="1" fontAlgn="ctr" latinLnBrk="0" hangingPunct="1"/>
                      <a:r>
                        <a:rPr lang="en-US" altLang="zh-CN" sz="1500" u="none" strike="noStrike" kern="1200" dirty="0">
                          <a:effectLst/>
                        </a:rPr>
                        <a:t>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优信二手车网</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5K+</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华文中宋" panose="02010600040101010101" pitchFamily="2" charset="-122"/>
                          <a:ea typeface="华文中宋" panose="02010600040101010101" pitchFamily="2" charset="-122"/>
                        </a:rPr>
                        <a:t>6</a:t>
                      </a:r>
                      <a:endParaRPr lang="en-US" altLang="zh-CN" sz="1500" b="0" i="0" u="none" strike="noStrike" dirty="0">
                        <a:solidFill>
                          <a:srgbClr val="000000"/>
                        </a:solidFill>
                        <a:effectLst/>
                        <a:latin typeface="华文中宋" panose="02010600040101010101" pitchFamily="2" charset="-122"/>
                        <a:ea typeface="华文中宋" panose="02010600040101010101" pitchFamily="2" charset="-122"/>
                      </a:endParaRPr>
                    </a:p>
                  </a:txBody>
                  <a:tcPr marL="9525" marR="9525" marT="9525" marB="0" anchor="ctr">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华文中宋" panose="02010600040101010101" pitchFamily="2" charset="-122"/>
                          <a:ea typeface="华文中宋" panose="02010600040101010101" pitchFamily="2" charset="-122"/>
                        </a:rPr>
                        <a:t>CCTV-1</a:t>
                      </a:r>
                      <a:r>
                        <a:rPr lang="zh-CN" altLang="en-US" sz="1500" b="0" i="0" u="none" strike="noStrike" dirty="0" smtClean="0">
                          <a:solidFill>
                            <a:srgbClr val="000000"/>
                          </a:solidFill>
                          <a:effectLst/>
                          <a:latin typeface="华文中宋" panose="02010600040101010101" pitchFamily="2" charset="-122"/>
                          <a:ea typeface="华文中宋" panose="02010600040101010101" pitchFamily="2" charset="-122"/>
                        </a:rPr>
                        <a:t>、</a:t>
                      </a:r>
                      <a:r>
                        <a:rPr lang="en-US" altLang="zh-CN" sz="1500" b="0" i="0" u="none" strike="noStrike" dirty="0" smtClean="0">
                          <a:solidFill>
                            <a:srgbClr val="000000"/>
                          </a:solidFill>
                          <a:effectLst/>
                          <a:latin typeface="华文中宋" panose="02010600040101010101" pitchFamily="2" charset="-122"/>
                          <a:ea typeface="华文中宋" panose="02010600040101010101" pitchFamily="2" charset="-122"/>
                        </a:rPr>
                        <a:t>CCTV-2</a:t>
                      </a:r>
                      <a:r>
                        <a:rPr lang="zh-CN" altLang="en-US" sz="1500" b="0" i="0" u="none" strike="noStrike" dirty="0" smtClean="0">
                          <a:solidFill>
                            <a:srgbClr val="000000"/>
                          </a:solidFill>
                          <a:effectLst/>
                          <a:latin typeface="华文中宋" panose="02010600040101010101" pitchFamily="2" charset="-122"/>
                          <a:ea typeface="华文中宋" panose="02010600040101010101" pitchFamily="2" charset="-122"/>
                        </a:rPr>
                        <a:t>、北京卫视</a:t>
                      </a:r>
                      <a:endParaRPr lang="zh-CN" altLang="en-US" sz="1500" b="0" i="0" u="none" strike="noStrike" dirty="0">
                        <a:solidFill>
                          <a:srgbClr val="000000"/>
                        </a:solidFill>
                        <a:effectLst/>
                        <a:latin typeface="华文中宋" panose="02010600040101010101" pitchFamily="2" charset="-122"/>
                        <a:ea typeface="华文中宋" panose="02010600040101010101" pitchFamily="2" charset="-122"/>
                      </a:endParaRPr>
                    </a:p>
                  </a:txBody>
                  <a:tcPr marL="9525" marR="9525" marT="9525" marB="0" anchor="ctr">
                    <a:solidFill>
                      <a:schemeClr val="bg1">
                        <a:lumMod val="95000"/>
                      </a:schemeClr>
                    </a:solidFill>
                  </a:tcPr>
                </a:tc>
                <a:extLst>
                  <a:ext uri="{0D108BD9-81ED-4DB2-BD59-A6C34878D82A}">
                    <a16:rowId xmlns="" xmlns:a16="http://schemas.microsoft.com/office/drawing/2014/main" val="10002"/>
                  </a:ext>
                </a:extLst>
              </a:tr>
              <a:tr h="602673">
                <a:tc>
                  <a:txBody>
                    <a:bodyPr/>
                    <a:lstStyle/>
                    <a:p>
                      <a:pPr marL="0" algn="ctr" defTabSz="914400" rtl="0" eaLnBrk="1" fontAlgn="ctr" latinLnBrk="0" hangingPunct="1"/>
                      <a:r>
                        <a:rPr lang="en-US" altLang="zh-CN" sz="1500" u="none" strike="noStrike" kern="1200" dirty="0">
                          <a:effectLst/>
                        </a:rPr>
                        <a:t>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人人车网</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4K+</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华文中宋" panose="02010600040101010101" pitchFamily="2" charset="-122"/>
                          <a:ea typeface="华文中宋" panose="02010600040101010101" pitchFamily="2" charset="-122"/>
                        </a:rPr>
                        <a:t>17</a:t>
                      </a:r>
                      <a:endParaRPr lang="en-US" altLang="zh-CN" sz="1500" b="0" i="0" u="none" strike="noStrike" dirty="0">
                        <a:solidFill>
                          <a:srgbClr val="000000"/>
                        </a:solidFill>
                        <a:effectLst/>
                        <a:latin typeface="华文中宋" panose="02010600040101010101" pitchFamily="2" charset="-122"/>
                        <a:ea typeface="华文中宋" panose="02010600040101010101" pitchFamily="2" charset="-122"/>
                      </a:endParaRPr>
                    </a:p>
                  </a:txBody>
                  <a:tcPr marL="9525" marR="9525" marT="9525" marB="0" anchor="ctr">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华文中宋" panose="02010600040101010101" pitchFamily="2" charset="-122"/>
                          <a:ea typeface="华文中宋" panose="02010600040101010101" pitchFamily="2" charset="-122"/>
                        </a:rPr>
                        <a:t>CCTV-6</a:t>
                      </a:r>
                      <a:r>
                        <a:rPr lang="zh-CN" altLang="en-US" sz="1500" b="0" i="0" u="none" strike="noStrike" dirty="0" smtClean="0">
                          <a:solidFill>
                            <a:srgbClr val="000000"/>
                          </a:solidFill>
                          <a:effectLst/>
                          <a:latin typeface="华文中宋" panose="02010600040101010101" pitchFamily="2" charset="-122"/>
                          <a:ea typeface="华文中宋" panose="02010600040101010101" pitchFamily="2" charset="-122"/>
                        </a:rPr>
                        <a:t>、浙江卫视、东方卫视</a:t>
                      </a:r>
                      <a:endParaRPr lang="zh-CN" altLang="en-US" sz="1500" b="0" i="0" u="none" strike="noStrike" dirty="0">
                        <a:solidFill>
                          <a:srgbClr val="000000"/>
                        </a:solidFill>
                        <a:effectLst/>
                        <a:latin typeface="华文中宋" panose="02010600040101010101" pitchFamily="2" charset="-122"/>
                        <a:ea typeface="华文中宋" panose="02010600040101010101" pitchFamily="2" charset="-122"/>
                      </a:endParaRPr>
                    </a:p>
                  </a:txBody>
                  <a:tcPr marL="9525" marR="9525" marT="9525" marB="0" anchor="ctr">
                    <a:solidFill>
                      <a:schemeClr val="bg1">
                        <a:lumMod val="95000"/>
                      </a:schemeClr>
                    </a:solidFill>
                  </a:tcPr>
                </a:tc>
                <a:extLst>
                  <a:ext uri="{0D108BD9-81ED-4DB2-BD59-A6C34878D82A}">
                    <a16:rowId xmlns="" xmlns:a16="http://schemas.microsoft.com/office/drawing/2014/main" val="10003"/>
                  </a:ext>
                </a:extLst>
              </a:tr>
              <a:tr h="602673">
                <a:tc>
                  <a:txBody>
                    <a:bodyPr/>
                    <a:lstStyle/>
                    <a:p>
                      <a:pPr marL="0" algn="ctr" defTabSz="914400" rtl="0" eaLnBrk="1" fontAlgn="ctr" latinLnBrk="0" hangingPunct="1"/>
                      <a:r>
                        <a:rPr lang="en-US" altLang="zh-CN" sz="1500" u="none" strike="noStrike" kern="1200" dirty="0">
                          <a:effectLst/>
                        </a:rPr>
                        <a:t>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瓜子二手车直卖网</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3K+</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华文中宋" panose="02010600040101010101" pitchFamily="2" charset="-122"/>
                          <a:ea typeface="华文中宋" panose="02010600040101010101" pitchFamily="2" charset="-122"/>
                        </a:rPr>
                        <a:t>22</a:t>
                      </a:r>
                      <a:endParaRPr lang="en-US" altLang="zh-CN" sz="1500" b="0" i="0" u="none" strike="noStrike" dirty="0">
                        <a:solidFill>
                          <a:srgbClr val="000000"/>
                        </a:solidFill>
                        <a:effectLst/>
                        <a:latin typeface="华文中宋" panose="02010600040101010101" pitchFamily="2" charset="-122"/>
                        <a:ea typeface="华文中宋" panose="02010600040101010101" pitchFamily="2" charset="-122"/>
                      </a:endParaRPr>
                    </a:p>
                  </a:txBody>
                  <a:tcPr marL="9525" marR="9525" marT="9525" marB="0" anchor="ctr">
                    <a:solidFill>
                      <a:schemeClr val="bg1">
                        <a:lumMod val="95000"/>
                      </a:schemeClr>
                    </a:solidFill>
                  </a:tcPr>
                </a:tc>
                <a:tc>
                  <a:txBody>
                    <a:bodyPr/>
                    <a:lstStyle/>
                    <a:p>
                      <a:pPr algn="ctr" fontAlgn="ctr"/>
                      <a:r>
                        <a:rPr lang="en-US" sz="1500" b="0" i="0" u="none" strike="noStrike" dirty="0" smtClean="0">
                          <a:solidFill>
                            <a:srgbClr val="000000"/>
                          </a:solidFill>
                          <a:effectLst/>
                          <a:latin typeface="华文中宋" panose="02010600040101010101" pitchFamily="2" charset="-122"/>
                          <a:ea typeface="华文中宋" panose="02010600040101010101" pitchFamily="2" charset="-122"/>
                        </a:rPr>
                        <a:t>CCTV-5</a:t>
                      </a:r>
                      <a:r>
                        <a:rPr lang="zh-CN" altLang="en-US" sz="1500" b="0" i="0" u="none" strike="noStrike" dirty="0" smtClean="0">
                          <a:solidFill>
                            <a:srgbClr val="000000"/>
                          </a:solidFill>
                          <a:effectLst/>
                          <a:latin typeface="华文中宋" panose="02010600040101010101" pitchFamily="2" charset="-122"/>
                          <a:ea typeface="华文中宋" panose="02010600040101010101" pitchFamily="2" charset="-122"/>
                        </a:rPr>
                        <a:t>、</a:t>
                      </a:r>
                      <a:r>
                        <a:rPr lang="en-US" altLang="zh-CN" sz="1500" b="0" i="0" u="none" strike="noStrike" dirty="0" smtClean="0">
                          <a:solidFill>
                            <a:srgbClr val="000000"/>
                          </a:solidFill>
                          <a:effectLst/>
                          <a:latin typeface="华文中宋" panose="02010600040101010101" pitchFamily="2" charset="-122"/>
                          <a:ea typeface="华文中宋" panose="02010600040101010101" pitchFamily="2" charset="-122"/>
                        </a:rPr>
                        <a:t>CCTV-6</a:t>
                      </a:r>
                      <a:r>
                        <a:rPr lang="zh-CN" altLang="en-US" sz="1500" b="0" i="0" u="none" strike="noStrike" dirty="0" smtClean="0">
                          <a:solidFill>
                            <a:srgbClr val="000000"/>
                          </a:solidFill>
                          <a:effectLst/>
                          <a:latin typeface="华文中宋" panose="02010600040101010101" pitchFamily="2" charset="-122"/>
                          <a:ea typeface="华文中宋" panose="02010600040101010101" pitchFamily="2" charset="-122"/>
                        </a:rPr>
                        <a:t>、湖南卫视</a:t>
                      </a:r>
                      <a:endParaRPr lang="en-US" sz="1500" b="0" i="0" u="none" strike="noStrike" dirty="0">
                        <a:solidFill>
                          <a:srgbClr val="000000"/>
                        </a:solidFill>
                        <a:effectLst/>
                        <a:latin typeface="华文中宋" panose="02010600040101010101" pitchFamily="2" charset="-122"/>
                        <a:ea typeface="华文中宋" panose="02010600040101010101" pitchFamily="2" charset="-122"/>
                      </a:endParaRPr>
                    </a:p>
                  </a:txBody>
                  <a:tcPr marL="9525" marR="9525" marT="9525" marB="0" anchor="ctr">
                    <a:solidFill>
                      <a:schemeClr val="bg1">
                        <a:lumMod val="95000"/>
                      </a:schemeClr>
                    </a:solidFill>
                  </a:tcPr>
                </a:tc>
                <a:extLst>
                  <a:ext uri="{0D108BD9-81ED-4DB2-BD59-A6C34878D82A}">
                    <a16:rowId xmlns="" xmlns:a16="http://schemas.microsoft.com/office/drawing/2014/main" val="10004"/>
                  </a:ext>
                </a:extLst>
              </a:tr>
              <a:tr h="602673">
                <a:tc>
                  <a:txBody>
                    <a:bodyPr/>
                    <a:lstStyle/>
                    <a:p>
                      <a:pPr marL="0" algn="ctr" defTabSz="914400" rtl="0" eaLnBrk="1" fontAlgn="ctr" latinLnBrk="0" hangingPunct="1"/>
                      <a:r>
                        <a:rPr lang="en-US" altLang="zh-CN" sz="1500" u="none" strike="noStrike" kern="1200" dirty="0">
                          <a:effectLst/>
                        </a:rPr>
                        <a:t>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marL="0" algn="ctr" defTabSz="914400" rtl="0" eaLnBrk="1" fontAlgn="ctr" latinLnBrk="0" hangingPunct="1"/>
                      <a:r>
                        <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rPr>
                        <a:t>车享网</a:t>
                      </a:r>
                    </a:p>
                  </a:txBody>
                  <a:tcPr marL="9525" marR="9525" marT="9525" marB="0" anchor="ctr">
                    <a:solidFill>
                      <a:schemeClr val="bg1">
                        <a:lumMod val="95000"/>
                      </a:schemeClr>
                    </a:solidFill>
                  </a:tcPr>
                </a:tc>
                <a:tc>
                  <a:txBody>
                    <a:bodyPr/>
                    <a:lstStyle/>
                    <a:p>
                      <a:pPr algn="ctr" fontAlgn="b"/>
                      <a:r>
                        <a:rPr lang="en-US" altLang="zh-CN" sz="1500" u="none" strike="noStrike" kern="1200" dirty="0" smtClean="0">
                          <a:solidFill>
                            <a:schemeClr val="dk1"/>
                          </a:solidFill>
                          <a:effectLst/>
                          <a:latin typeface="华文中宋" panose="02010600040101010101" pitchFamily="2" charset="-122"/>
                          <a:ea typeface="华文中宋" panose="02010600040101010101" pitchFamily="2" charset="-122"/>
                          <a:cs typeface="+mn-cs"/>
                        </a:rPr>
                        <a:t>0.1K+</a:t>
                      </a:r>
                      <a:endParaRPr lang="zh-CN" altLang="en-US" sz="1500" u="none" strike="noStrike" kern="1200" dirty="0">
                        <a:solidFill>
                          <a:schemeClr val="dk1"/>
                        </a:solidFill>
                        <a:effectLst/>
                        <a:latin typeface="华文中宋" panose="02010600040101010101" pitchFamily="2" charset="-122"/>
                        <a:ea typeface="华文中宋" panose="02010600040101010101" pitchFamily="2" charset="-122"/>
                        <a:cs typeface="+mn-cs"/>
                      </a:endParaRPr>
                    </a:p>
                  </a:txBody>
                  <a:tcPr marL="9525" marR="9525" marT="9525" marB="0" anchor="ctr">
                    <a:solidFill>
                      <a:schemeClr val="bg1">
                        <a:lumMod val="95000"/>
                      </a:schemeClr>
                    </a:solidFill>
                  </a:tcPr>
                </a:tc>
                <a:tc>
                  <a:txBody>
                    <a:bodyPr/>
                    <a:lstStyle/>
                    <a:p>
                      <a:pPr algn="ctr" fontAlgn="ctr"/>
                      <a:r>
                        <a:rPr lang="en-US" altLang="zh-CN" sz="1500" b="0" i="0" u="none" strike="noStrike" dirty="0" smtClean="0">
                          <a:solidFill>
                            <a:srgbClr val="000000"/>
                          </a:solidFill>
                          <a:effectLst/>
                          <a:latin typeface="华文中宋" panose="02010600040101010101" pitchFamily="2" charset="-122"/>
                          <a:ea typeface="华文中宋" panose="02010600040101010101" pitchFamily="2" charset="-122"/>
                        </a:rPr>
                        <a:t>2</a:t>
                      </a:r>
                      <a:endParaRPr lang="en-US" altLang="zh-CN" sz="1500" b="0" i="0" u="none" strike="noStrike" dirty="0">
                        <a:solidFill>
                          <a:srgbClr val="000000"/>
                        </a:solidFill>
                        <a:effectLst/>
                        <a:latin typeface="华文中宋" panose="02010600040101010101" pitchFamily="2" charset="-122"/>
                        <a:ea typeface="华文中宋" panose="02010600040101010101" pitchFamily="2" charset="-122"/>
                      </a:endParaRPr>
                    </a:p>
                  </a:txBody>
                  <a:tcPr marL="9525" marR="9525" marT="9525" marB="0" anchor="ctr">
                    <a:solidFill>
                      <a:schemeClr val="bg1">
                        <a:lumMod val="95000"/>
                      </a:schemeClr>
                    </a:solidFill>
                  </a:tcPr>
                </a:tc>
                <a:tc>
                  <a:txBody>
                    <a:bodyPr/>
                    <a:lstStyle/>
                    <a:p>
                      <a:pPr algn="ctr" fontAlgn="ctr"/>
                      <a:r>
                        <a:rPr lang="zh-CN" altLang="en-US" sz="1500" b="0" i="0" u="none" strike="noStrike" dirty="0" smtClean="0">
                          <a:solidFill>
                            <a:srgbClr val="000000"/>
                          </a:solidFill>
                          <a:effectLst/>
                          <a:latin typeface="华文中宋" panose="02010600040101010101" pitchFamily="2" charset="-122"/>
                          <a:ea typeface="华文中宋" panose="02010600040101010101" pitchFamily="2" charset="-122"/>
                        </a:rPr>
                        <a:t>宁夏卫视、上海星尚频道</a:t>
                      </a:r>
                      <a:endParaRPr lang="zh-CN" altLang="en-US" sz="1500" b="0" i="0" u="none" strike="noStrike" dirty="0">
                        <a:solidFill>
                          <a:srgbClr val="000000"/>
                        </a:solidFill>
                        <a:effectLst/>
                        <a:latin typeface="华文中宋" panose="02010600040101010101" pitchFamily="2" charset="-122"/>
                        <a:ea typeface="华文中宋" panose="02010600040101010101" pitchFamily="2" charset="-122"/>
                      </a:endParaRPr>
                    </a:p>
                  </a:txBody>
                  <a:tcPr marL="9525" marR="9525" marT="9525" marB="0" anchor="ctr">
                    <a:solidFill>
                      <a:schemeClr val="bg1">
                        <a:lumMod val="95000"/>
                      </a:schemeClr>
                    </a:solidFill>
                  </a:tcPr>
                </a:tc>
                <a:extLst>
                  <a:ext uri="{0D108BD9-81ED-4DB2-BD59-A6C34878D82A}">
                    <a16:rowId xmlns="" xmlns:a16="http://schemas.microsoft.com/office/drawing/2014/main" val="10005"/>
                  </a:ext>
                </a:extLst>
              </a:tr>
            </a:tbl>
          </a:graphicData>
        </a:graphic>
      </p:graphicFrame>
      <p:sp>
        <p:nvSpPr>
          <p:cNvPr id="7" name="TextBox 6"/>
          <p:cNvSpPr txBox="1"/>
          <p:nvPr/>
        </p:nvSpPr>
        <p:spPr>
          <a:xfrm>
            <a:off x="251521" y="757153"/>
            <a:ext cx="8786806"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tabLst>
                <a:tab pos="5741988" algn="l"/>
              </a:tabLst>
            </a:pPr>
            <a:r>
              <a:rPr lang="zh-CN" altLang="en-US" sz="2000" b="1" dirty="0" smtClean="0">
                <a:solidFill>
                  <a:schemeClr val="bg1"/>
                </a:solidFill>
                <a:latin typeface="华文中宋" panose="02010600040101010101" pitchFamily="2" charset="-122"/>
                <a:ea typeface="华文中宋" panose="02010600040101010101" pitchFamily="2" charset="-122"/>
              </a:rPr>
              <a:t>百度地图的广告投放策略较好，虽然只覆盖了湖南卫视但其收视千人排在首位。</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a:lnSpc>
                <a:spcPct val="150000"/>
              </a:lnSpc>
              <a:tabLst>
                <a:tab pos="5741988" algn="l"/>
              </a:tabLst>
            </a:pPr>
            <a:endParaRPr lang="en-US" altLang="zh-CN" sz="2000" b="1" dirty="0" smtClean="0">
              <a:solidFill>
                <a:schemeClr val="bg1"/>
              </a:solidFill>
              <a:latin typeface="华文中宋" panose="02010600040101010101" pitchFamily="2" charset="-122"/>
              <a:ea typeface="华文中宋" panose="02010600040101010101" pitchFamily="2" charset="-122"/>
            </a:endParaRPr>
          </a:p>
        </p:txBody>
      </p:sp>
      <p:sp>
        <p:nvSpPr>
          <p:cNvPr id="9" name="矩形 8"/>
          <p:cNvSpPr/>
          <p:nvPr/>
        </p:nvSpPr>
        <p:spPr>
          <a:xfrm>
            <a:off x="1468144" y="6453336"/>
            <a:ext cx="7712368" cy="425758"/>
          </a:xfrm>
          <a:prstGeom prst="rect">
            <a:avLst/>
          </a:prstGeom>
        </p:spPr>
        <p:txBody>
          <a:bodyPr wrap="non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数据说明：按照</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月省级</a:t>
            </a:r>
            <a:r>
              <a:rPr lang="zh-CN" altLang="en-US" sz="1100" kern="100" dirty="0">
                <a:solidFill>
                  <a:srgbClr val="FFFFFF"/>
                </a:solidFill>
                <a:latin typeface="华文中宋" panose="02010600040101010101" pitchFamily="2" charset="-122"/>
                <a:ea typeface="华文中宋" panose="02010600040101010101" pitchFamily="2" charset="-122"/>
              </a:rPr>
              <a:t>卫</a:t>
            </a:r>
            <a:r>
              <a:rPr lang="zh-CN" altLang="en-US" sz="1100" kern="100" dirty="0" smtClean="0">
                <a:solidFill>
                  <a:srgbClr val="FFFFFF"/>
                </a:solidFill>
                <a:latin typeface="华文中宋" panose="02010600040101010101" pitchFamily="2" charset="-122"/>
                <a:ea typeface="华文中宋" panose="02010600040101010101" pitchFamily="2" charset="-122"/>
              </a:rPr>
              <a:t>视 收视千人排序 重点投放频道只列举花费前三名的省级卫视 </a:t>
            </a:r>
            <a:endParaRPr lang="en-US" altLang="zh-CN" sz="1100" kern="100" dirty="0" smtClean="0">
              <a:solidFill>
                <a:srgbClr val="FFFFFF"/>
              </a:solidFill>
              <a:latin typeface="华文中宋" panose="02010600040101010101" pitchFamily="2" charset="-122"/>
              <a:ea typeface="华文中宋" panose="02010600040101010101" pitchFamily="2" charset="-122"/>
            </a:endParaRPr>
          </a:p>
          <a:p>
            <a:pPr algn="r" latinLnBrk="1">
              <a:lnSpc>
                <a:spcPts val="1300"/>
              </a:lnSpc>
            </a:pP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smtClean="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市场研究</a:t>
            </a:r>
            <a:r>
              <a:rPr lang="en-US" altLang="zh-CN" sz="1100" kern="100" dirty="0">
                <a:solidFill>
                  <a:srgbClr val="FFFFFF"/>
                </a:solidFill>
                <a:latin typeface="华文中宋" panose="02010600040101010101" pitchFamily="2" charset="-122"/>
                <a:ea typeface="华文中宋" panose="02010600040101010101" pitchFamily="2" charset="-122"/>
              </a:rPr>
              <a:t>-</a:t>
            </a:r>
            <a:r>
              <a:rPr lang="zh-CN" altLang="en-US" sz="1100" kern="100" dirty="0" smtClean="0">
                <a:solidFill>
                  <a:srgbClr val="FFFFFF"/>
                </a:solidFill>
                <a:latin typeface="华文中宋" panose="02010600040101010101" pitchFamily="2" charset="-122"/>
                <a:ea typeface="华文中宋" panose="02010600040101010101" pitchFamily="2" charset="-122"/>
              </a:rPr>
              <a:t>媒介</a:t>
            </a:r>
            <a:r>
              <a:rPr lang="zh-CN" altLang="en-US" sz="1100" kern="100" dirty="0">
                <a:solidFill>
                  <a:srgbClr val="FFFFFF"/>
                </a:solidFill>
                <a:latin typeface="华文中宋" panose="02010600040101010101" pitchFamily="2" charset="-122"/>
                <a:ea typeface="华文中宋" panose="02010600040101010101" pitchFamily="2" charset="-122"/>
              </a:rPr>
              <a:t>智</a:t>
            </a:r>
            <a:r>
              <a:rPr lang="zh-CN" altLang="en-US" sz="1100" kern="100" dirty="0" smtClean="0">
                <a:solidFill>
                  <a:srgbClr val="FFFFFF"/>
                </a:solidFill>
                <a:latin typeface="华文中宋" panose="02010600040101010101" pitchFamily="2" charset="-122"/>
                <a:ea typeface="华文中宋" panose="02010600040101010101" pitchFamily="2" charset="-122"/>
              </a:rPr>
              <a:t>讯 </a:t>
            </a:r>
            <a:r>
              <a:rPr lang="zh-CN" altLang="en-US" sz="1100" kern="100" dirty="0">
                <a:solidFill>
                  <a:srgbClr val="FFFFFF"/>
                </a:solidFill>
                <a:latin typeface="华文中宋" panose="02010600040101010101" pitchFamily="2" charset="-122"/>
                <a:ea typeface="华文中宋" panose="02010600040101010101" pitchFamily="2" charset="-122"/>
              </a:rPr>
              <a:t>统计</a:t>
            </a:r>
            <a:r>
              <a:rPr lang="zh-CN" altLang="en-US" sz="1100" kern="100" dirty="0" smtClean="0">
                <a:solidFill>
                  <a:srgbClr val="FFFFFF"/>
                </a:solidFill>
                <a:latin typeface="华文中宋" panose="02010600040101010101" pitchFamily="2" charset="-122"/>
                <a:ea typeface="华文中宋" panose="02010600040101010101" pitchFamily="2" charset="-122"/>
              </a:rPr>
              <a:t>范围为</a:t>
            </a:r>
            <a:r>
              <a:rPr lang="en-US" altLang="zh-CN" sz="1100" kern="100" dirty="0" smtClean="0">
                <a:solidFill>
                  <a:srgbClr val="FFFFFF"/>
                </a:solidFill>
                <a:latin typeface="华文中宋" panose="02010600040101010101" pitchFamily="2" charset="-122"/>
                <a:ea typeface="华文中宋" panose="02010600040101010101" pitchFamily="2" charset="-122"/>
              </a:rPr>
              <a:t>2016</a:t>
            </a:r>
            <a:r>
              <a:rPr lang="zh-CN" altLang="en-US" sz="1100" kern="100" dirty="0" smtClean="0">
                <a:solidFill>
                  <a:srgbClr val="FFFFFF"/>
                </a:solidFill>
                <a:latin typeface="华文中宋" panose="02010600040101010101" pitchFamily="2" charset="-122"/>
                <a:ea typeface="华文中宋" panose="02010600040101010101" pitchFamily="2" charset="-122"/>
              </a:rPr>
              <a:t>年</a:t>
            </a:r>
            <a:r>
              <a:rPr lang="en-US" altLang="zh-CN" sz="1100" kern="100" dirty="0" smtClean="0">
                <a:solidFill>
                  <a:srgbClr val="FFFFFF"/>
                </a:solidFill>
                <a:latin typeface="华文中宋" panose="02010600040101010101" pitchFamily="2" charset="-122"/>
                <a:ea typeface="华文中宋" panose="02010600040101010101" pitchFamily="2" charset="-122"/>
              </a:rPr>
              <a:t>1-4</a:t>
            </a:r>
            <a:r>
              <a:rPr lang="zh-CN" altLang="en-US" sz="1100" kern="100" dirty="0" smtClean="0">
                <a:solidFill>
                  <a:srgbClr val="FFFFFF"/>
                </a:solidFill>
                <a:latin typeface="华文中宋" panose="02010600040101010101" pitchFamily="2" charset="-122"/>
                <a:ea typeface="华文中宋" panose="02010600040101010101" pitchFamily="2" charset="-122"/>
              </a:rPr>
              <a:t>月广告花费前</a:t>
            </a:r>
            <a:r>
              <a:rPr lang="en-US" altLang="zh-CN" sz="1100" kern="100" dirty="0" smtClean="0">
                <a:solidFill>
                  <a:srgbClr val="FFFFFF"/>
                </a:solidFill>
                <a:latin typeface="华文中宋" panose="02010600040101010101" pitchFamily="2" charset="-122"/>
                <a:ea typeface="华文中宋" panose="02010600040101010101" pitchFamily="2" charset="-122"/>
              </a:rPr>
              <a:t>200</a:t>
            </a:r>
            <a:r>
              <a:rPr lang="zh-CN" altLang="en-US" sz="1100" kern="100" dirty="0" smtClean="0">
                <a:solidFill>
                  <a:srgbClr val="FFFFFF"/>
                </a:solidFill>
                <a:latin typeface="华文中宋" panose="02010600040101010101" pitchFamily="2" charset="-122"/>
                <a:ea typeface="华文中宋" panose="02010600040101010101" pitchFamily="2" charset="-122"/>
              </a:rPr>
              <a:t>的互联网产品（剔除游戏）</a:t>
            </a:r>
            <a:r>
              <a:rPr lang="en-US" altLang="zh-CN" sz="1100" kern="100" dirty="0" smtClean="0">
                <a:solidFill>
                  <a:srgbClr val="FFFFFF"/>
                </a:solidFill>
                <a:latin typeface="华文中宋" panose="02010600040101010101" pitchFamily="2" charset="-122"/>
                <a:ea typeface="华文中宋" panose="02010600040101010101" pitchFamily="2" charset="-122"/>
              </a:rPr>
              <a:t>CSM</a:t>
            </a:r>
            <a:r>
              <a:rPr lang="zh-CN" altLang="en-US" sz="1100" kern="100" dirty="0">
                <a:solidFill>
                  <a:srgbClr val="FFFFFF"/>
                </a:solidFill>
                <a:latin typeface="华文中宋" panose="02010600040101010101" pitchFamily="2" charset="-122"/>
                <a:ea typeface="华文中宋" panose="02010600040101010101" pitchFamily="2" charset="-122"/>
              </a:rPr>
              <a:t>省网全天</a:t>
            </a:r>
            <a:r>
              <a:rPr lang="en-US" altLang="zh-CN" sz="1100" kern="100" dirty="0">
                <a:solidFill>
                  <a:srgbClr val="FFFFFF"/>
                </a:solidFill>
                <a:latin typeface="华文中宋" panose="02010600040101010101" pitchFamily="2" charset="-122"/>
                <a:ea typeface="华文中宋" panose="02010600040101010101" pitchFamily="2" charset="-122"/>
              </a:rPr>
              <a:t>4+</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970410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nvSpPr>
        <p:spPr>
          <a:xfrm>
            <a:off x="251520" y="188640"/>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1B015"/>
                </a:solidFill>
                <a:latin typeface="Arial Black"/>
                <a:ea typeface="微软雅黑"/>
              </a:rPr>
              <a:t>总结</a:t>
            </a:r>
            <a:endParaRPr lang="en-US" altLang="zh-CN" b="1" dirty="0" smtClean="0">
              <a:solidFill>
                <a:srgbClr val="F1B015"/>
              </a:solidFill>
              <a:latin typeface="Arial Black"/>
              <a:ea typeface="微软雅黑"/>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2" name="TextBox 11"/>
          <p:cNvSpPr txBox="1"/>
          <p:nvPr/>
        </p:nvSpPr>
        <p:spPr>
          <a:xfrm>
            <a:off x="251521" y="692696"/>
            <a:ext cx="8786806" cy="4401205"/>
          </a:xfrm>
          <a:prstGeom prst="rect">
            <a:avLst/>
          </a:prstGeom>
          <a:noFill/>
        </p:spPr>
        <p:txBody>
          <a:bodyPr wrap="square" rtlCol="0">
            <a:spAutoFit/>
          </a:bodyPr>
          <a:lstStyle/>
          <a:p>
            <a:pPr marL="342900" indent="-342900">
              <a:lnSpc>
                <a:spcPct val="200000"/>
              </a:lnSpc>
              <a:buClr>
                <a:schemeClr val="bg1"/>
              </a:buClr>
              <a:buFont typeface="Arial" panose="020B0604020202020204" pitchFamily="34" charset="0"/>
              <a:buChar char="•"/>
              <a:tabLst>
                <a:tab pos="5741988" algn="l"/>
              </a:tabLst>
            </a:pPr>
            <a:r>
              <a:rPr lang="zh-CN" altLang="en-US" sz="2000" b="1" dirty="0" smtClean="0">
                <a:solidFill>
                  <a:schemeClr val="bg1"/>
                </a:solidFill>
                <a:latin typeface="华文中宋" panose="02010600040101010101" pitchFamily="2" charset="-122"/>
                <a:ea typeface="华文中宋" panose="02010600040101010101" pitchFamily="2" charset="-122"/>
              </a:rPr>
              <a:t>随着汽车市场的火爆，围绕汽车展开的一系列互联网产业都得到充足的发展。</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342900" indent="-342900">
              <a:lnSpc>
                <a:spcPct val="200000"/>
              </a:lnSpc>
              <a:buClr>
                <a:schemeClr val="bg1"/>
              </a:buClr>
              <a:buFont typeface="Arial" panose="020B0604020202020204" pitchFamily="34" charset="0"/>
              <a:buChar char="•"/>
              <a:tabLst>
                <a:tab pos="5741988" algn="l"/>
              </a:tabLst>
            </a:pPr>
            <a:r>
              <a:rPr lang="zh-CN" altLang="en-US" sz="2000" b="1" dirty="0" smtClean="0">
                <a:solidFill>
                  <a:schemeClr val="bg1"/>
                </a:solidFill>
                <a:latin typeface="华文中宋" panose="02010600040101010101" pitchFamily="2" charset="-122"/>
                <a:ea typeface="华文中宋" panose="02010600040101010101" pitchFamily="2" charset="-122"/>
              </a:rPr>
              <a:t>汽车交易目前是汽车出行类互联网企业中，发展较为壮大的一类。同时，汽车保养、出行导航等互联网服务也逐渐进化完善。</a:t>
            </a:r>
            <a:endParaRPr lang="en-US" altLang="zh-CN" sz="2000" b="1" dirty="0" smtClean="0">
              <a:solidFill>
                <a:schemeClr val="bg1"/>
              </a:solidFill>
              <a:latin typeface="华文中宋" panose="02010600040101010101" pitchFamily="2" charset="-122"/>
              <a:ea typeface="华文中宋" panose="02010600040101010101" pitchFamily="2" charset="-122"/>
            </a:endParaRPr>
          </a:p>
          <a:p>
            <a:pPr marL="342900" indent="-342900">
              <a:lnSpc>
                <a:spcPct val="200000"/>
              </a:lnSpc>
              <a:buClr>
                <a:schemeClr val="bg1"/>
              </a:buClr>
              <a:buFont typeface="Arial" panose="020B0604020202020204" pitchFamily="34" charset="0"/>
              <a:buChar char="•"/>
              <a:tabLst>
                <a:tab pos="5741988" algn="l"/>
              </a:tabLst>
            </a:pPr>
            <a:r>
              <a:rPr lang="zh-CN" altLang="en-US" sz="2000" b="1" dirty="0" smtClean="0">
                <a:solidFill>
                  <a:schemeClr val="bg1"/>
                </a:solidFill>
                <a:latin typeface="华文中宋" panose="02010600040101010101" pitchFamily="2" charset="-122"/>
                <a:ea typeface="华文中宋" panose="02010600040101010101" pitchFamily="2" charset="-122"/>
              </a:rPr>
              <a:t>汽车出行类互联网企业的广告投放重点仍旧在商务楼宇视频与电视媒体，另外由于电台受众与汽车使用者的吻合度高，电台媒体也成为汽车出行类互联网企业的重要宣传渠道之一。</a:t>
            </a:r>
            <a:endParaRPr lang="en-US" altLang="zh-CN" sz="2000" b="1" dirty="0" smtClean="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2658471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SubTitle"/>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2"/>
</p:tagLst>
</file>

<file path=ppt/tags/tag4.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3"/>
</p:tagLst>
</file>

<file path=ppt/tags/tag5.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SubTitle"/>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4"/>
</p:tagLst>
</file>

<file path=ppt/tags/tag7.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5"/>
</p:tagLst>
</file>

<file path=ppt/tags/tag8.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SubTitle"/>
  <p:tag name="MH_ORDER" val="3"/>
</p:tagLst>
</file>

<file path=ppt/tags/tag9.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6"/>
</p:tagLst>
</file>

<file path=ppt/tags/tag10.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7"/>
</p:tagLst>
</file>

<file path=ppt/tags/tag11.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8"/>
</p:tagLst>
</file>

<file path=ppt/tags/tag12.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SubTitle"/>
  <p:tag name="MH_ORDER" val="4"/>
</p:tagLst>
</file>

<file path=ppt/tags/tag13.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9"/>
</p:tagLst>
</file>

<file path=ppt/tags/tag14.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10"/>
</p:tagLst>
</file>

<file path=ppt/tags/tag15.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11"/>
</p:tagLst>
</file>

<file path=ppt/tags/tag16.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12"/>
</p:tagLst>
</file>

<file path=ppt/tags/tag17.xml><?xml version="1.0" encoding="utf-8"?>
<p:tagLst xmlns:a="http://schemas.openxmlformats.org/drawingml/2006/main" xmlns:r="http://schemas.openxmlformats.org/officeDocument/2006/relationships" xmlns:p="http://schemas.openxmlformats.org/presentationml/2006/main">
  <p:tag name="MH" val="20160624163744"/>
  <p:tag name="MH_LIBRARY" val="GRAPHIC"/>
  <p:tag name="MH_TYPE" val="Other"/>
  <p:tag name="MH_ORDER" val="13"/>
</p:tagLst>
</file>

<file path=ppt/tags/tag18.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9.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0.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1.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2.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3.xml><?xml version="1.0" encoding="utf-8"?>
<p:tagLst xmlns:a="http://schemas.openxmlformats.org/drawingml/2006/main" xmlns:r="http://schemas.openxmlformats.org/officeDocument/2006/relationships" xmlns:p="http://schemas.openxmlformats.org/presentationml/2006/main">
  <p:tag name="MH" val="20160602131450"/>
  <p:tag name="MH_LIBRARY" val="GRAPHIC"/>
  <p:tag name="MH_TYPE" val="Other"/>
  <p:tag name="MH_ORDER" val="1"/>
</p:tagLst>
</file>

<file path=ppt/tags/tag24.xml><?xml version="1.0" encoding="utf-8"?>
<p:tagLst xmlns:a="http://schemas.openxmlformats.org/drawingml/2006/main" xmlns:r="http://schemas.openxmlformats.org/officeDocument/2006/relationships" xmlns:p="http://schemas.openxmlformats.org/presentationml/2006/main">
  <p:tag name="MH" val="20160602131450"/>
  <p:tag name="MH_LIBRARY" val="GRAPHIC"/>
  <p:tag name="MH_TYPE" val="Other"/>
  <p:tag name="MH_ORDER" val="9"/>
</p:tagLst>
</file>

<file path=ppt/tags/tag25.xml><?xml version="1.0" encoding="utf-8"?>
<p:tagLst xmlns:a="http://schemas.openxmlformats.org/drawingml/2006/main" xmlns:r="http://schemas.openxmlformats.org/officeDocument/2006/relationships" xmlns:p="http://schemas.openxmlformats.org/presentationml/2006/main">
  <p:tag name="MH" val="20160602131450"/>
  <p:tag name="MH_LIBRARY" val="GRAPHIC"/>
  <p:tag name="MH_TYPE" val="Other"/>
  <p:tag name="MH_ORDER" val="10"/>
</p:tagLst>
</file>

<file path=ppt/tags/tag26.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60602131450"/>
  <p:tag name="MH_LIBRARY" val="GRAPHIC"/>
  <p:tag name="MH_TYPE" val="Other"/>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60602131450"/>
  <p:tag name="MH_LIBRARY" val="GRAPHIC"/>
  <p:tag name="MH_TYPE" val="Other"/>
  <p:tag name="MH_ORDER" val="9"/>
</p:tagLst>
</file>

<file path=ppt/tags/tag29.xml><?xml version="1.0" encoding="utf-8"?>
<p:tagLst xmlns:a="http://schemas.openxmlformats.org/drawingml/2006/main" xmlns:r="http://schemas.openxmlformats.org/officeDocument/2006/relationships" xmlns:p="http://schemas.openxmlformats.org/presentationml/2006/main">
  <p:tag name="MH" val="20160602131450"/>
  <p:tag name="MH_LIBRARY" val="GRAPHIC"/>
  <p:tag name="MH_TYPE" val="Other"/>
  <p:tag name="MH_ORDER" val="10"/>
</p:tagLst>
</file>

<file path=ppt/tags/tag30.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1.xml><?xml version="1.0" encoding="utf-8"?>
<p:tagLst xmlns:a="http://schemas.openxmlformats.org/drawingml/2006/main" xmlns:r="http://schemas.openxmlformats.org/officeDocument/2006/relationships" xmlns:p="http://schemas.openxmlformats.org/presentationml/2006/main">
  <p:tag name="MH" val="20160602131450"/>
  <p:tag name="MH_LIBRARY" val="GRAPHIC"/>
  <p:tag name="MH_TYPE" val="Other"/>
  <p:tag name="MH_ORDER" val="1"/>
</p:tagLst>
</file>

<file path=ppt/tags/tag32.xml><?xml version="1.0" encoding="utf-8"?>
<p:tagLst xmlns:a="http://schemas.openxmlformats.org/drawingml/2006/main" xmlns:r="http://schemas.openxmlformats.org/officeDocument/2006/relationships" xmlns:p="http://schemas.openxmlformats.org/presentationml/2006/main">
  <p:tag name="MH" val="20160602131450"/>
  <p:tag name="MH_LIBRARY" val="GRAPHIC"/>
  <p:tag name="MH_TYPE" val="Other"/>
  <p:tag name="MH_ORDER" val="9"/>
</p:tagLst>
</file>

<file path=ppt/tags/tag33.xml><?xml version="1.0" encoding="utf-8"?>
<p:tagLst xmlns:a="http://schemas.openxmlformats.org/drawingml/2006/main" xmlns:r="http://schemas.openxmlformats.org/officeDocument/2006/relationships" xmlns:p="http://schemas.openxmlformats.org/presentationml/2006/main">
  <p:tag name="MH" val="20160602131450"/>
  <p:tag name="MH_LIBRARY" val="GRAPHIC"/>
  <p:tag name="MH_TYPE" val="Other"/>
  <p:tag name="MH_ORDER" val="10"/>
</p:tagLst>
</file>

<file path=ppt/tags/tag34.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5.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6.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7.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8.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9.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CTR color">
    <a:dk1>
      <a:srgbClr val="000000"/>
    </a:dk1>
    <a:lt1>
      <a:srgbClr val="FFFFFF"/>
    </a:lt1>
    <a:dk2>
      <a:srgbClr val="FF6400"/>
    </a:dk2>
    <a:lt2>
      <a:srgbClr val="C0C0C0"/>
    </a:lt2>
    <a:accent1>
      <a:srgbClr val="FF6400"/>
    </a:accent1>
    <a:accent2>
      <a:srgbClr val="FFBE09"/>
    </a:accent2>
    <a:accent3>
      <a:srgbClr val="771385"/>
    </a:accent3>
    <a:accent4>
      <a:srgbClr val="9D1D22"/>
    </a:accent4>
    <a:accent5>
      <a:srgbClr val="009CE2"/>
    </a:accent5>
    <a:accent6>
      <a:srgbClr val="A9CB00"/>
    </a:accent6>
    <a:hlink>
      <a:srgbClr val="000000"/>
    </a:hlink>
    <a:folHlink>
      <a:srgbClr val="717171"/>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A000120141119A01PPBG</Template>
  <TotalTime>5732</TotalTime>
  <Words>2369</Words>
  <Application>Microsoft Office PowerPoint</Application>
  <PresentationFormat>全屏显示(4:3)</PresentationFormat>
  <Paragraphs>459</Paragraphs>
  <Slides>18</Slides>
  <Notes>18</Notes>
  <HiddenSlides>0</HiddenSlides>
  <MMClips>0</MMClips>
  <ScaleCrop>false</ScaleCrop>
  <HeadingPairs>
    <vt:vector size="4" baseType="variant">
      <vt:variant>
        <vt:lpstr>主题</vt:lpstr>
      </vt:variant>
      <vt:variant>
        <vt:i4>2</vt:i4>
      </vt:variant>
      <vt:variant>
        <vt:lpstr>幻灯片标题</vt:lpstr>
      </vt:variant>
      <vt:variant>
        <vt:i4>18</vt:i4>
      </vt:variant>
    </vt:vector>
  </HeadingPairs>
  <TitlesOfParts>
    <vt:vector size="20" baseType="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sherry_cao</dc:creator>
  <cp:lastModifiedBy>王素超</cp:lastModifiedBy>
  <cp:revision>1595</cp:revision>
  <dcterms:created xsi:type="dcterms:W3CDTF">2016-04-22T03:54:00Z</dcterms:created>
  <dcterms:modified xsi:type="dcterms:W3CDTF">2016-07-01T02:36:36Z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