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drawings/drawing1.xml" ContentType="application/vnd.openxmlformats-officedocument.drawingml.chartshapes+xml"/>
  <Override PartName="/ppt/charts/chart4.xml" ContentType="application/vnd.openxmlformats-officedocument.drawingml.chart+xml"/>
  <Override PartName="/ppt/theme/themeOverride1.xml" ContentType="application/vnd.openxmlformats-officedocument.themeOverride+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theme/themeOverride2.xml" ContentType="application/vnd.openxmlformats-officedocument.themeOverride+xml"/>
  <Override PartName="/ppt/charts/chart8.xml" ContentType="application/vnd.openxmlformats-officedocument.drawingml.chart+xml"/>
  <Override PartName="/ppt/theme/themeOverride3.xml" ContentType="application/vnd.openxmlformats-officedocument.themeOverride+xml"/>
  <Override PartName="/ppt/charts/chart9.xml" ContentType="application/vnd.openxmlformats-officedocument.drawingml.chart+xml"/>
  <Override PartName="/ppt/theme/themeOverride4.xml" ContentType="application/vnd.openxmlformats-officedocument.themeOverride+xml"/>
  <Override PartName="/ppt/charts/chart10.xml" ContentType="application/vnd.openxmlformats-officedocument.drawingml.chart+xml"/>
  <Override PartName="/ppt/theme/themeOverride5.xml" ContentType="application/vnd.openxmlformats-officedocument.themeOverride+xml"/>
  <Override PartName="/ppt/charts/chart11.xml" ContentType="application/vnd.openxmlformats-officedocument.drawingml.chart+xml"/>
  <Override PartName="/ppt/theme/themeOverride6.xml" ContentType="application/vnd.openxmlformats-officedocument.themeOverride+xml"/>
  <Override PartName="/ppt/charts/chart12.xml" ContentType="application/vnd.openxmlformats-officedocument.drawingml.chart+xml"/>
  <Override PartName="/ppt/theme/themeOverride7.xml" ContentType="application/vnd.openxmlformats-officedocument.themeOverride+xml"/>
  <Override PartName="/ppt/charts/chart13.xml" ContentType="application/vnd.openxmlformats-officedocument.drawingml.chart+xml"/>
  <Override PartName="/ppt/theme/themeOverride8.xml" ContentType="application/vnd.openxmlformats-officedocument.themeOverride+xml"/>
  <Override PartName="/ppt/charts/chart14.xml" ContentType="application/vnd.openxmlformats-officedocument.drawingml.chart+xml"/>
  <Override PartName="/ppt/theme/themeOverride9.xml" ContentType="application/vnd.openxmlformats-officedocument.themeOverride+xml"/>
  <Override PartName="/ppt/charts/chart15.xml" ContentType="application/vnd.openxmlformats-officedocument.drawingml.chart+xml"/>
  <Override PartName="/ppt/theme/themeOverride10.xml" ContentType="application/vnd.openxmlformats-officedocument.themeOverride+xml"/>
  <Override PartName="/ppt/charts/chart16.xml" ContentType="application/vnd.openxmlformats-officedocument.drawingml.chart+xml"/>
  <Override PartName="/ppt/theme/themeOverride11.xml" ContentType="application/vnd.openxmlformats-officedocument.themeOverride+xml"/>
  <Override PartName="/ppt/charts/chart17.xml" ContentType="application/vnd.openxmlformats-officedocument.drawingml.chart+xml"/>
  <Override PartName="/ppt/theme/themeOverride12.xml" ContentType="application/vnd.openxmlformats-officedocument.themeOverride+xml"/>
  <Override PartName="/ppt/charts/chart18.xml" ContentType="application/vnd.openxmlformats-officedocument.drawingml.chart+xml"/>
  <Override PartName="/ppt/theme/themeOverride13.xml" ContentType="application/vnd.openxmlformats-officedocument.themeOverride+xml"/>
  <Override PartName="/ppt/charts/chart19.xml" ContentType="application/vnd.openxmlformats-officedocument.drawingml.chart+xml"/>
  <Override PartName="/ppt/theme/themeOverride14.xml" ContentType="application/vnd.openxmlformats-officedocument.themeOverride+xml"/>
  <Override PartName="/ppt/charts/chart20.xml" ContentType="application/vnd.openxmlformats-officedocument.drawingml.chart+xml"/>
  <Override PartName="/ppt/theme/themeOverride15.xml" ContentType="application/vnd.openxmlformats-officedocument.themeOverride+xml"/>
  <Override PartName="/ppt/charts/chart21.xml" ContentType="application/vnd.openxmlformats-officedocument.drawingml.chart+xml"/>
  <Override PartName="/ppt/theme/themeOverride16.xml" ContentType="application/vnd.openxmlformats-officedocument.themeOverride+xml"/>
  <Override PartName="/ppt/charts/chart22.xml" ContentType="application/vnd.openxmlformats-officedocument.drawingml.chart+xml"/>
  <Override PartName="/ppt/theme/themeOverride17.xml" ContentType="application/vnd.openxmlformats-officedocument.themeOverride+xml"/>
  <Override PartName="/ppt/charts/chart23.xml" ContentType="application/vnd.openxmlformats-officedocument.drawingml.chart+xml"/>
  <Override PartName="/ppt/drawings/drawing2.xml" ContentType="application/vnd.openxmlformats-officedocument.drawingml.chartshapes+xml"/>
  <Override PartName="/ppt/charts/chart24.xml" ContentType="application/vnd.openxmlformats-officedocument.drawingml.chart+xml"/>
  <Override PartName="/ppt/drawings/drawing3.xml" ContentType="application/vnd.openxmlformats-officedocument.drawingml.chartshapes+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drawings/drawing4.xml" ContentType="application/vnd.openxmlformats-officedocument.drawingml.chartshapes+xml"/>
  <Override PartName="/ppt/charts/chart33.xml" ContentType="application/vnd.openxmlformats-officedocument.drawingml.chart+xml"/>
  <Override PartName="/ppt/theme/themeOverride18.xml" ContentType="application/vnd.openxmlformats-officedocument.themeOverride+xml"/>
  <Override PartName="/ppt/charts/chart34.xml" ContentType="application/vnd.openxmlformats-officedocument.drawingml.chart+xml"/>
  <Override PartName="/ppt/theme/themeOverride19.xml" ContentType="application/vnd.openxmlformats-officedocument.themeOverride+xml"/>
  <Override PartName="/ppt/charts/chart35.xml" ContentType="application/vnd.openxmlformats-officedocument.drawingml.chart+xml"/>
  <Override PartName="/ppt/theme/themeOverride20.xml" ContentType="application/vnd.openxmlformats-officedocument.themeOverride+xml"/>
  <Override PartName="/ppt/charts/chart36.xml" ContentType="application/vnd.openxmlformats-officedocument.drawingml.chart+xml"/>
  <Override PartName="/ppt/theme/themeOverride21.xml" ContentType="application/vnd.openxmlformats-officedocument.themeOverride+xml"/>
  <Override PartName="/ppt/charts/chart37.xml" ContentType="application/vnd.openxmlformats-officedocument.drawingml.chart+xml"/>
  <Override PartName="/ppt/theme/themeOverride22.xml" ContentType="application/vnd.openxmlformats-officedocument.themeOverride+xml"/>
  <Override PartName="/ppt/charts/chart38.xml" ContentType="application/vnd.openxmlformats-officedocument.drawingml.chart+xml"/>
  <Override PartName="/ppt/charts/chart39.xml" ContentType="application/vnd.openxmlformats-officedocument.drawingml.chart+xml"/>
  <Override PartName="/ppt/theme/themeOverride23.xml" ContentType="application/vnd.openxmlformats-officedocument.themeOverride+xml"/>
  <Override PartName="/ppt/charts/chart40.xml" ContentType="application/vnd.openxmlformats-officedocument.drawingml.chart+xml"/>
  <Override PartName="/ppt/theme/themeOverride24.xml" ContentType="application/vnd.openxmlformats-officedocument.themeOverride+xml"/>
  <Override PartName="/ppt/charts/chart41.xml" ContentType="application/vnd.openxmlformats-officedocument.drawingml.chart+xml"/>
  <Override PartName="/ppt/charts/chart42.xml" ContentType="application/vnd.openxmlformats-officedocument.drawingml.chart+xml"/>
  <Override PartName="/ppt/theme/themeOverride25.xml" ContentType="application/vnd.openxmlformats-officedocument.themeOverride+xml"/>
  <Override PartName="/ppt/charts/chart43.xml" ContentType="application/vnd.openxmlformats-officedocument.drawingml.chart+xml"/>
  <Override PartName="/ppt/theme/themeOverride26.xml" ContentType="application/vnd.openxmlformats-officedocument.themeOverride+xml"/>
  <Override PartName="/ppt/charts/chart44.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5"/>
  </p:notesMasterIdLst>
  <p:handoutMasterIdLst>
    <p:handoutMasterId r:id="rId66"/>
  </p:handoutMasterIdLst>
  <p:sldIdLst>
    <p:sldId id="256" r:id="rId2"/>
    <p:sldId id="257" r:id="rId3"/>
    <p:sldId id="408" r:id="rId4"/>
    <p:sldId id="398" r:id="rId5"/>
    <p:sldId id="413" r:id="rId6"/>
    <p:sldId id="446" r:id="rId7"/>
    <p:sldId id="447" r:id="rId8"/>
    <p:sldId id="338" r:id="rId9"/>
    <p:sldId id="399" r:id="rId10"/>
    <p:sldId id="275" r:id="rId11"/>
    <p:sldId id="276" r:id="rId12"/>
    <p:sldId id="409" r:id="rId13"/>
    <p:sldId id="277" r:id="rId14"/>
    <p:sldId id="279" r:id="rId15"/>
    <p:sldId id="411" r:id="rId16"/>
    <p:sldId id="280" r:id="rId17"/>
    <p:sldId id="340" r:id="rId18"/>
    <p:sldId id="410" r:id="rId19"/>
    <p:sldId id="282" r:id="rId20"/>
    <p:sldId id="283" r:id="rId21"/>
    <p:sldId id="284" r:id="rId22"/>
    <p:sldId id="286" r:id="rId23"/>
    <p:sldId id="287" r:id="rId24"/>
    <p:sldId id="288" r:id="rId25"/>
    <p:sldId id="344" r:id="rId26"/>
    <p:sldId id="406" r:id="rId27"/>
    <p:sldId id="359" r:id="rId28"/>
    <p:sldId id="358" r:id="rId29"/>
    <p:sldId id="412" r:id="rId30"/>
    <p:sldId id="295" r:id="rId31"/>
    <p:sldId id="404" r:id="rId32"/>
    <p:sldId id="414" r:id="rId33"/>
    <p:sldId id="415" r:id="rId34"/>
    <p:sldId id="416" r:id="rId35"/>
    <p:sldId id="417" r:id="rId36"/>
    <p:sldId id="418" r:id="rId37"/>
    <p:sldId id="419" r:id="rId38"/>
    <p:sldId id="420" r:id="rId39"/>
    <p:sldId id="421" r:id="rId40"/>
    <p:sldId id="422" r:id="rId41"/>
    <p:sldId id="423" r:id="rId42"/>
    <p:sldId id="424" r:id="rId43"/>
    <p:sldId id="425" r:id="rId44"/>
    <p:sldId id="426" r:id="rId45"/>
    <p:sldId id="427" r:id="rId46"/>
    <p:sldId id="428" r:id="rId47"/>
    <p:sldId id="429" r:id="rId48"/>
    <p:sldId id="430" r:id="rId49"/>
    <p:sldId id="431" r:id="rId50"/>
    <p:sldId id="432" r:id="rId51"/>
    <p:sldId id="433" r:id="rId52"/>
    <p:sldId id="434" r:id="rId53"/>
    <p:sldId id="435" r:id="rId54"/>
    <p:sldId id="436" r:id="rId55"/>
    <p:sldId id="437" r:id="rId56"/>
    <p:sldId id="438" r:id="rId57"/>
    <p:sldId id="439" r:id="rId58"/>
    <p:sldId id="440" r:id="rId59"/>
    <p:sldId id="441" r:id="rId60"/>
    <p:sldId id="442" r:id="rId61"/>
    <p:sldId id="443" r:id="rId62"/>
    <p:sldId id="444" r:id="rId63"/>
    <p:sldId id="445" r:id="rId64"/>
  </p:sldIdLst>
  <p:sldSz cx="9144000" cy="6858000" type="screen4x3"/>
  <p:notesSz cx="6858000" cy="9144000"/>
  <p:defaultTextStyle>
    <a:defPPr>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kyfree" initials="S" lastIdx="10"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4A73C"/>
    <a:srgbClr val="0070C0"/>
    <a:srgbClr val="006EC7"/>
    <a:srgbClr val="0000FF"/>
    <a:srgbClr val="008FCE"/>
    <a:srgbClr val="0062B3"/>
    <a:srgbClr val="00286E"/>
    <a:srgbClr val="134E96"/>
    <a:srgbClr val="00478A"/>
    <a:srgbClr val="133176"/>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612" autoAdjust="0"/>
    <p:restoredTop sz="97356" autoAdjust="0"/>
  </p:normalViewPr>
  <p:slideViewPr>
    <p:cSldViewPr snapToGrid="0" snapToObjects="1">
      <p:cViewPr varScale="1">
        <p:scale>
          <a:sx n="72" d="100"/>
          <a:sy n="72" d="100"/>
        </p:scale>
        <p:origin x="1200"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oleObject" Target="file:///D:\&#21271;&#20140;2013&#24180;&#19978;&#21322;&#24180;&#36164;&#26412;&#21270;&#29575;&#35843;&#26597;\2-&#36828;&#27915;&#39033;&#30446;\&#22797;&#20214;%20201609\&#26032;&#24314;%20Microsoft%20Excel%20&#24037;&#20316;&#34920;.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D:\&#21271;&#20140;2013&#24180;&#19978;&#21322;&#24180;&#36164;&#26412;&#21270;&#29575;&#35843;&#26597;\2-&#36828;&#27915;&#39033;&#30446;\&#22797;&#20214;%20201609\&#26032;&#24314;%20Microsoft%20Excel%20&#24037;&#20316;&#34920;.xlsx" TargetMode="External"/></Relationships>
</file>

<file path=ppt/charts/_rels/chart3.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oleObject" Target="file:///D:\&#21271;&#20140;2013&#24180;&#19978;&#21322;&#24180;&#36164;&#26412;&#21270;&#29575;&#35843;&#26597;\2-&#36828;&#27915;&#39033;&#30446;\&#22797;&#20214;%20201609\&#26032;&#24314;%20Microsoft%20Excel%20&#24037;&#20316;&#34920;.xlsx" TargetMode="External"/></Relationships>
</file>

<file path=ppt/charts/_rels/chart4.xml.rels><?xml version="1.0" encoding="UTF-8" standalone="yes"?>
<Relationships xmlns="http://schemas.openxmlformats.org/package/2006/relationships"><Relationship Id="rId2" Type="http://schemas.openxmlformats.org/officeDocument/2006/relationships/oleObject" Target="file:///D:\&#21271;&#20140;2013&#24180;&#19978;&#21322;&#24180;&#36164;&#26412;&#21270;&#29575;&#35843;&#26597;\2-&#36828;&#27915;&#39033;&#30446;\&#22797;&#20214;%20201609\&#20316;&#22270;&#65288;8&#26376;&#65289;.xlsx" TargetMode="External"/><Relationship Id="rId1" Type="http://schemas.openxmlformats.org/officeDocument/2006/relationships/themeOverride" Target="../theme/themeOverride1.xml"/></Relationships>
</file>

<file path=ppt/charts/_rels/chart5.xml.rels><?xml version="1.0" encoding="UTF-8" standalone="yes"?>
<Relationships xmlns="http://schemas.openxmlformats.org/package/2006/relationships"><Relationship Id="rId1" Type="http://schemas.openxmlformats.org/officeDocument/2006/relationships/oleObject" Target="file:///D:\&#21271;&#20140;2013&#24180;&#19978;&#21322;&#24180;&#36164;&#26412;&#21270;&#29575;&#35843;&#26597;\2-&#36828;&#27915;&#39033;&#30446;\&#22797;&#20214;%20201609\&#20316;&#22270;&#65288;8&#26376;&#65289;.xlsx"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file:///D:\&#21271;&#20140;2013&#24180;&#19978;&#21322;&#24180;&#36164;&#26412;&#21270;&#29575;&#35843;&#26597;\2-&#36828;&#27915;&#39033;&#30446;\&#22797;&#20214;%20201609\&#20316;&#22270;&#65288;8&#26376;&#65289;.xlsx" TargetMode="External"/></Relationships>
</file>

<file path=ppt/charts/_rels/chart7.xml.rels><?xml version="1.0" encoding="UTF-8" standalone="yes"?>
<Relationships xmlns="http://schemas.openxmlformats.org/package/2006/relationships"><Relationship Id="rId2" Type="http://schemas.openxmlformats.org/officeDocument/2006/relationships/oleObject" Target="file:///D:\&#21271;&#20140;2013&#24180;&#19978;&#21322;&#24180;&#36164;&#26412;&#21270;&#29575;&#35843;&#26597;\2-&#36828;&#27915;&#39033;&#30446;\&#22797;&#20214;%20201609\&#20316;&#22270;&#65288;8&#26376;&#65289;.xlsx" TargetMode="External"/><Relationship Id="rId1" Type="http://schemas.openxmlformats.org/officeDocument/2006/relationships/themeOverride" Target="../theme/themeOverride2.xml"/></Relationships>
</file>

<file path=ppt/charts/_rels/chart8.xml.rels><?xml version="1.0" encoding="UTF-8" standalone="yes"?>
<Relationships xmlns="http://schemas.openxmlformats.org/package/2006/relationships"><Relationship Id="rId2" Type="http://schemas.openxmlformats.org/officeDocument/2006/relationships/oleObject" Target="file:///D:\&#21271;&#20140;2013&#24180;&#19978;&#21322;&#24180;&#36164;&#26412;&#21270;&#29575;&#35843;&#26597;\2-&#36828;&#27915;&#39033;&#30446;\&#22797;&#20214;%20201609\&#20316;&#22270;&#65288;8&#26376;&#65289;.xlsx" TargetMode="External"/><Relationship Id="rId1" Type="http://schemas.openxmlformats.org/officeDocument/2006/relationships/themeOverride" Target="../theme/themeOverride3.xml"/></Relationships>
</file>

<file path=ppt/charts/_rels/chart9.xml.rels><?xml version="1.0" encoding="UTF-8" standalone="yes"?>
<Relationships xmlns="http://schemas.openxmlformats.org/package/2006/relationships"><Relationship Id="rId2" Type="http://schemas.openxmlformats.org/officeDocument/2006/relationships/oleObject" Target="file:///D:\&#21271;&#20140;2013&#24180;&#19978;&#21322;&#24180;&#36164;&#26412;&#21270;&#29575;&#35843;&#26597;\2-&#36828;&#27915;&#39033;&#30446;\&#22797;&#20214;%20201609\&#20316;&#22270;&#65288;8&#26376;&#65289;.xlsx" TargetMode="External"/><Relationship Id="rId1" Type="http://schemas.openxmlformats.org/officeDocument/2006/relationships/themeOverride" Target="../theme/themeOverride4.xml"/></Relationships>
</file>

<file path=ppt/charts/_rels/chart10.xml.rels><?xml version="1.0" encoding="UTF-8" standalone="yes"?>
<Relationships xmlns="http://schemas.openxmlformats.org/package/2006/relationships"><Relationship Id="rId2" Type="http://schemas.openxmlformats.org/officeDocument/2006/relationships/oleObject" Target="file:///D:\&#21271;&#20140;2013&#24180;&#19978;&#21322;&#24180;&#36164;&#26412;&#21270;&#29575;&#35843;&#26597;\2-&#36828;&#27915;&#39033;&#30446;\&#22797;&#20214;%20201609\&#20316;&#22270;&#65288;8&#26376;&#65289;.xlsx" TargetMode="External"/><Relationship Id="rId1" Type="http://schemas.openxmlformats.org/officeDocument/2006/relationships/themeOverride" Target="../theme/themeOverride5.xml"/></Relationships>
</file>

<file path=ppt/charts/_rels/chart11.xml.rels><?xml version="1.0" encoding="UTF-8" standalone="yes"?>
<Relationships xmlns="http://schemas.openxmlformats.org/package/2006/relationships"><Relationship Id="rId2" Type="http://schemas.openxmlformats.org/officeDocument/2006/relationships/oleObject" Target="file:///D:\&#21271;&#20140;2013&#24180;&#19978;&#21322;&#24180;&#36164;&#26412;&#21270;&#29575;&#35843;&#26597;\2-&#36828;&#27915;&#39033;&#30446;\&#22797;&#20214;%20201609\&#20316;&#22270;&#65288;8&#26376;&#65289;.xlsx" TargetMode="External"/><Relationship Id="rId1" Type="http://schemas.openxmlformats.org/officeDocument/2006/relationships/themeOverride" Target="../theme/themeOverride6.xml"/></Relationships>
</file>

<file path=ppt/charts/_rels/chart12.xml.rels><?xml version="1.0" encoding="UTF-8" standalone="yes"?>
<Relationships xmlns="http://schemas.openxmlformats.org/package/2006/relationships"><Relationship Id="rId2" Type="http://schemas.openxmlformats.org/officeDocument/2006/relationships/oleObject" Target="file:///D:\&#21271;&#20140;2013&#24180;&#19978;&#21322;&#24180;&#36164;&#26412;&#21270;&#29575;&#35843;&#26597;\2-&#36828;&#27915;&#39033;&#30446;\&#22797;&#20214;%20201609\&#20316;&#22270;&#65288;8&#26376;&#65289;.xlsx" TargetMode="External"/><Relationship Id="rId1" Type="http://schemas.openxmlformats.org/officeDocument/2006/relationships/themeOverride" Target="../theme/themeOverride7.xml"/></Relationships>
</file>

<file path=ppt/charts/_rels/chart13.xml.rels><?xml version="1.0" encoding="UTF-8" standalone="yes"?>
<Relationships xmlns="http://schemas.openxmlformats.org/package/2006/relationships"><Relationship Id="rId2" Type="http://schemas.openxmlformats.org/officeDocument/2006/relationships/oleObject" Target="file:///D:\&#21271;&#20140;2013&#24180;&#19978;&#21322;&#24180;&#36164;&#26412;&#21270;&#29575;&#35843;&#26597;\2-&#36828;&#27915;&#39033;&#30446;\&#22797;&#20214;%20201609\&#20316;&#22270;&#65288;8&#26376;&#65289;.xlsx" TargetMode="External"/><Relationship Id="rId1" Type="http://schemas.openxmlformats.org/officeDocument/2006/relationships/themeOverride" Target="../theme/themeOverride8.xml"/></Relationships>
</file>

<file path=ppt/charts/_rels/chart14.xml.rels><?xml version="1.0" encoding="UTF-8" standalone="yes"?>
<Relationships xmlns="http://schemas.openxmlformats.org/package/2006/relationships"><Relationship Id="rId2" Type="http://schemas.openxmlformats.org/officeDocument/2006/relationships/oleObject" Target="file:///D:\&#21271;&#20140;2013&#24180;&#19978;&#21322;&#24180;&#36164;&#26412;&#21270;&#29575;&#35843;&#26597;\2-&#36828;&#27915;&#39033;&#30446;\&#22797;&#20214;%20201609\&#20316;&#22270;&#65288;8&#26376;&#65289;.xlsx" TargetMode="External"/><Relationship Id="rId1" Type="http://schemas.openxmlformats.org/officeDocument/2006/relationships/themeOverride" Target="../theme/themeOverride9.xml"/></Relationships>
</file>

<file path=ppt/charts/_rels/chart15.xml.rels><?xml version="1.0" encoding="UTF-8" standalone="yes"?>
<Relationships xmlns="http://schemas.openxmlformats.org/package/2006/relationships"><Relationship Id="rId2" Type="http://schemas.openxmlformats.org/officeDocument/2006/relationships/oleObject" Target="file:///D:\&#21271;&#20140;2013&#24180;&#19978;&#21322;&#24180;&#36164;&#26412;&#21270;&#29575;&#35843;&#26597;\2-&#36828;&#27915;&#39033;&#30446;\&#22797;&#20214;%20201609\&#20316;&#22270;&#65288;8&#26376;&#65289;.xlsx" TargetMode="External"/><Relationship Id="rId1" Type="http://schemas.openxmlformats.org/officeDocument/2006/relationships/themeOverride" Target="../theme/themeOverride10.xml"/></Relationships>
</file>

<file path=ppt/charts/_rels/chart16.xml.rels><?xml version="1.0" encoding="UTF-8" standalone="yes"?>
<Relationships xmlns="http://schemas.openxmlformats.org/package/2006/relationships"><Relationship Id="rId2" Type="http://schemas.openxmlformats.org/officeDocument/2006/relationships/oleObject" Target="file:///D:\&#21271;&#20140;2013&#24180;&#19978;&#21322;&#24180;&#36164;&#26412;&#21270;&#29575;&#35843;&#26597;\2-&#36828;&#27915;&#39033;&#30446;\&#22797;&#20214;%20201609\&#20316;&#22270;&#65288;8&#26376;&#65289;.xlsx" TargetMode="External"/><Relationship Id="rId1" Type="http://schemas.openxmlformats.org/officeDocument/2006/relationships/themeOverride" Target="../theme/themeOverride11.xml"/></Relationships>
</file>

<file path=ppt/charts/_rels/chart17.xml.rels><?xml version="1.0" encoding="UTF-8" standalone="yes"?>
<Relationships xmlns="http://schemas.openxmlformats.org/package/2006/relationships"><Relationship Id="rId2" Type="http://schemas.openxmlformats.org/officeDocument/2006/relationships/oleObject" Target="file:///D:\&#21271;&#20140;2013&#24180;&#19978;&#21322;&#24180;&#36164;&#26412;&#21270;&#29575;&#35843;&#26597;\2-&#36828;&#27915;&#39033;&#30446;\&#22797;&#20214;%20201609\&#20316;&#22270;&#65288;8&#26376;&#65289;.xlsx" TargetMode="External"/><Relationship Id="rId1" Type="http://schemas.openxmlformats.org/officeDocument/2006/relationships/themeOverride" Target="../theme/themeOverride12.xml"/></Relationships>
</file>

<file path=ppt/charts/_rels/chart18.xml.rels><?xml version="1.0" encoding="UTF-8" standalone="yes"?>
<Relationships xmlns="http://schemas.openxmlformats.org/package/2006/relationships"><Relationship Id="rId2" Type="http://schemas.openxmlformats.org/officeDocument/2006/relationships/oleObject" Target="file:///D:\&#21271;&#20140;2013&#24180;&#19978;&#21322;&#24180;&#36164;&#26412;&#21270;&#29575;&#35843;&#26597;\2-&#36828;&#27915;&#39033;&#30446;\&#22797;&#20214;%20201609\&#20316;&#22270;&#65288;8&#26376;&#65289;.xlsx" TargetMode="External"/><Relationship Id="rId1" Type="http://schemas.openxmlformats.org/officeDocument/2006/relationships/themeOverride" Target="../theme/themeOverride13.xml"/></Relationships>
</file>

<file path=ppt/charts/_rels/chart19.xml.rels><?xml version="1.0" encoding="UTF-8" standalone="yes"?>
<Relationships xmlns="http://schemas.openxmlformats.org/package/2006/relationships"><Relationship Id="rId2" Type="http://schemas.openxmlformats.org/officeDocument/2006/relationships/oleObject" Target="file:///D:\&#21271;&#20140;2013&#24180;&#19978;&#21322;&#24180;&#36164;&#26412;&#21270;&#29575;&#35843;&#26597;\2-&#36828;&#27915;&#39033;&#30446;\&#22797;&#20214;%20201609\&#20316;&#22270;&#65288;8&#26376;&#65289;.xlsx" TargetMode="External"/><Relationship Id="rId1" Type="http://schemas.openxmlformats.org/officeDocument/2006/relationships/themeOverride" Target="../theme/themeOverride14.xml"/></Relationships>
</file>

<file path=ppt/charts/_rels/chart20.xml.rels><?xml version="1.0" encoding="UTF-8" standalone="yes"?>
<Relationships xmlns="http://schemas.openxmlformats.org/package/2006/relationships"><Relationship Id="rId2" Type="http://schemas.openxmlformats.org/officeDocument/2006/relationships/oleObject" Target="file:///D:\&#21271;&#20140;2013&#24180;&#19978;&#21322;&#24180;&#36164;&#26412;&#21270;&#29575;&#35843;&#26597;\2-&#36828;&#27915;&#39033;&#30446;\&#22797;&#20214;%20201609\&#20316;&#22270;&#65288;8&#26376;&#65289;.xlsx" TargetMode="External"/><Relationship Id="rId1" Type="http://schemas.openxmlformats.org/officeDocument/2006/relationships/themeOverride" Target="../theme/themeOverride15.xml"/></Relationships>
</file>

<file path=ppt/charts/_rels/chart21.xml.rels><?xml version="1.0" encoding="UTF-8" standalone="yes"?>
<Relationships xmlns="http://schemas.openxmlformats.org/package/2006/relationships"><Relationship Id="rId2" Type="http://schemas.openxmlformats.org/officeDocument/2006/relationships/oleObject" Target="file:///D:\&#21271;&#20140;2013&#24180;&#19978;&#21322;&#24180;&#36164;&#26412;&#21270;&#29575;&#35843;&#26597;\2-&#36828;&#27915;&#39033;&#30446;\&#22797;&#20214;%20201609\&#20316;&#22270;&#65288;8&#26376;&#65289;.xlsx" TargetMode="External"/><Relationship Id="rId1" Type="http://schemas.openxmlformats.org/officeDocument/2006/relationships/themeOverride" Target="../theme/themeOverride16.xml"/></Relationships>
</file>

<file path=ppt/charts/_rels/chart22.xml.rels><?xml version="1.0" encoding="UTF-8" standalone="yes"?>
<Relationships xmlns="http://schemas.openxmlformats.org/package/2006/relationships"><Relationship Id="rId2" Type="http://schemas.openxmlformats.org/officeDocument/2006/relationships/oleObject" Target="file:///D:\&#21271;&#20140;2013&#24180;&#19978;&#21322;&#24180;&#36164;&#26412;&#21270;&#29575;&#35843;&#26597;\2-&#36828;&#27915;&#39033;&#30446;\&#22797;&#20214;%20201609\&#20316;&#22270;&#65288;8&#26376;&#65289;.xlsx" TargetMode="External"/><Relationship Id="rId1" Type="http://schemas.openxmlformats.org/officeDocument/2006/relationships/themeOverride" Target="../theme/themeOverride17.xml"/></Relationships>
</file>

<file path=ppt/charts/_rels/chart23.xml.rels><?xml version="1.0" encoding="UTF-8" standalone="yes"?>
<Relationships xmlns="http://schemas.openxmlformats.org/package/2006/relationships"><Relationship Id="rId2" Type="http://schemas.openxmlformats.org/officeDocument/2006/relationships/chartUserShapes" Target="../drawings/drawing2.xml"/><Relationship Id="rId1" Type="http://schemas.openxmlformats.org/officeDocument/2006/relationships/oleObject" Target="file:///D:\&#21271;&#20140;2013&#24180;&#19978;&#21322;&#24180;&#36164;&#26412;&#21270;&#29575;&#35843;&#26597;\2-&#36828;&#27915;&#39033;&#30446;\&#22797;&#20214;%20201609\&#20108;&#25163;&#25151;&#65288;&#36828;&#27915;&#65289;&#20316;&#22270;%20.xlsx" TargetMode="External"/></Relationships>
</file>

<file path=ppt/charts/_rels/chart24.xml.rels><?xml version="1.0" encoding="UTF-8" standalone="yes"?>
<Relationships xmlns="http://schemas.openxmlformats.org/package/2006/relationships"><Relationship Id="rId2" Type="http://schemas.openxmlformats.org/officeDocument/2006/relationships/chartUserShapes" Target="../drawings/drawing3.xml"/><Relationship Id="rId1" Type="http://schemas.openxmlformats.org/officeDocument/2006/relationships/oleObject" Target="file:///D:\&#21271;&#20140;2013&#24180;&#19978;&#21322;&#24180;&#36164;&#26412;&#21270;&#29575;&#35843;&#26597;\2-&#36828;&#27915;&#39033;&#30446;\&#22797;&#20214;%20201609\&#20108;&#25163;&#25151;&#65288;&#36828;&#27915;&#65289;&#20316;&#22270;%20.xlsx" TargetMode="External"/></Relationships>
</file>

<file path=ppt/charts/_rels/chart25.xml.rels><?xml version="1.0" encoding="UTF-8" standalone="yes"?>
<Relationships xmlns="http://schemas.openxmlformats.org/package/2006/relationships"><Relationship Id="rId1" Type="http://schemas.openxmlformats.org/officeDocument/2006/relationships/oleObject" Target="file:///D:\&#21271;&#20140;2013&#24180;&#19978;&#21322;&#24180;&#36164;&#26412;&#21270;&#29575;&#35843;&#26597;\2-&#36828;&#27915;&#39033;&#30446;\&#22797;&#20214;%20201609\&#20108;&#25163;&#25151;&#65288;&#36828;&#27915;&#65289;&#20316;&#22270;%20.xlsx" TargetMode="External"/></Relationships>
</file>

<file path=ppt/charts/_rels/chart26.xml.rels><?xml version="1.0" encoding="UTF-8" standalone="yes"?>
<Relationships xmlns="http://schemas.openxmlformats.org/package/2006/relationships"><Relationship Id="rId1" Type="http://schemas.openxmlformats.org/officeDocument/2006/relationships/oleObject" Target="file:///D:\&#21271;&#20140;2013&#24180;&#19978;&#21322;&#24180;&#36164;&#26412;&#21270;&#29575;&#35843;&#26597;\2-&#36828;&#27915;&#39033;&#30446;\&#22797;&#20214;%20201609\&#20108;&#25163;&#25151;&#65288;&#36828;&#27915;&#65289;&#20316;&#22270;%20.xlsx" TargetMode="External"/></Relationships>
</file>

<file path=ppt/charts/_rels/chart27.xml.rels><?xml version="1.0" encoding="UTF-8" standalone="yes"?>
<Relationships xmlns="http://schemas.openxmlformats.org/package/2006/relationships"><Relationship Id="rId1" Type="http://schemas.openxmlformats.org/officeDocument/2006/relationships/oleObject" Target="file:///C:\Documents%20and%20Settings\Administrator\&#26700;&#38754;\9&#26376;&#24494;&#35762;&#22530;\&#25968;&#25454;&#34920;.xlsx" TargetMode="External"/></Relationships>
</file>

<file path=ppt/charts/_rels/chart28.xml.rels><?xml version="1.0" encoding="UTF-8" standalone="yes"?>
<Relationships xmlns="http://schemas.openxmlformats.org/package/2006/relationships"><Relationship Id="rId1" Type="http://schemas.openxmlformats.org/officeDocument/2006/relationships/oleObject" Target="file:///D:\&#21271;&#20140;2013&#24180;&#19978;&#21322;&#24180;&#36164;&#26412;&#21270;&#29575;&#35843;&#26597;\2-&#36828;&#27915;&#39033;&#30446;\&#22797;&#20214;%20201609\&#20108;&#25163;&#25151;&#65288;&#36828;&#27915;&#65289;&#20316;&#22270;%20.xlsx" TargetMode="External"/></Relationships>
</file>

<file path=ppt/charts/_rels/chart29.xml.rels><?xml version="1.0" encoding="UTF-8" standalone="yes"?>
<Relationships xmlns="http://schemas.openxmlformats.org/package/2006/relationships"><Relationship Id="rId1" Type="http://schemas.openxmlformats.org/officeDocument/2006/relationships/oleObject" Target="file:///D:\&#21271;&#20140;2013&#24180;&#19978;&#21322;&#24180;&#36164;&#26412;&#21270;&#29575;&#35843;&#26597;\qq&#25991;&#20214;&#22841;\&#31354;&#32622;.xlsx" TargetMode="External"/></Relationships>
</file>

<file path=ppt/charts/_rels/chart30.xml.rels><?xml version="1.0" encoding="UTF-8" standalone="yes"?>
<Relationships xmlns="http://schemas.openxmlformats.org/package/2006/relationships"><Relationship Id="rId1" Type="http://schemas.openxmlformats.org/officeDocument/2006/relationships/oleObject" Target="file:///D:\&#21271;&#20140;2013&#24180;&#19978;&#21322;&#24180;&#36164;&#26412;&#21270;&#29575;&#35843;&#26597;\qq&#25991;&#20214;&#22841;\&#31354;&#32622;.xlsx" TargetMode="External"/></Relationships>
</file>

<file path=ppt/charts/_rels/chart31.xml.rels><?xml version="1.0" encoding="UTF-8" standalone="yes"?>
<Relationships xmlns="http://schemas.openxmlformats.org/package/2006/relationships"><Relationship Id="rId1" Type="http://schemas.openxmlformats.org/officeDocument/2006/relationships/oleObject" Target="file:///D:\&#21271;&#20140;2013&#24180;&#19978;&#21322;&#24180;&#36164;&#26412;&#21270;&#29575;&#35843;&#26597;\qq&#25991;&#20214;&#22841;\&#31354;&#32622;.xlsx" TargetMode="External"/></Relationships>
</file>

<file path=ppt/charts/_rels/chart32.xml.rels><?xml version="1.0" encoding="UTF-8" standalone="yes"?>
<Relationships xmlns="http://schemas.openxmlformats.org/package/2006/relationships"><Relationship Id="rId2" Type="http://schemas.openxmlformats.org/officeDocument/2006/relationships/chartUserShapes" Target="../drawings/drawing4.xml"/><Relationship Id="rId1" Type="http://schemas.openxmlformats.org/officeDocument/2006/relationships/oleObject" Target="file:///D:\&#21271;&#20140;2013&#24180;&#19978;&#21322;&#24180;&#36164;&#26412;&#21270;&#29575;&#35843;&#26597;\2-&#36828;&#27915;&#39033;&#30446;\&#22797;&#20214;%20201609\&#25919;&#31574;&#21644;&#39044;&#21028;.xlsx" TargetMode="External"/></Relationships>
</file>

<file path=ppt/charts/_rels/chart33.xml.rels><?xml version="1.0" encoding="UTF-8" standalone="yes"?>
<Relationships xmlns="http://schemas.openxmlformats.org/package/2006/relationships"><Relationship Id="rId2" Type="http://schemas.openxmlformats.org/officeDocument/2006/relationships/oleObject" Target="file:///D:\&#24037;&#20316;\&#12304;&#26376;&#25253;&amp;&#23395;&#21002;&#12305;\&#12304;&#29615;&#21271;&#20140;&#12305;\2016&#24180;9&#26376;\&#29615;&#21608;&#36793;&#20316;&#22270;2016.9.22.xlsx" TargetMode="External"/><Relationship Id="rId1" Type="http://schemas.openxmlformats.org/officeDocument/2006/relationships/themeOverride" Target="../theme/themeOverride18.xml"/></Relationships>
</file>

<file path=ppt/charts/_rels/chart34.xml.rels><?xml version="1.0" encoding="UTF-8" standalone="yes"?>
<Relationships xmlns="http://schemas.openxmlformats.org/package/2006/relationships"><Relationship Id="rId2" Type="http://schemas.openxmlformats.org/officeDocument/2006/relationships/oleObject" Target="file:///D:\&#24037;&#20316;\&#12304;&#26376;&#25253;&amp;&#23395;&#21002;&#12305;\&#12304;&#29615;&#21271;&#20140;&#12305;\2016&#24180;9&#26376;\&#29615;&#21608;&#36793;&#20316;&#22270;2016.9.22.xlsx" TargetMode="External"/><Relationship Id="rId1" Type="http://schemas.openxmlformats.org/officeDocument/2006/relationships/themeOverride" Target="../theme/themeOverride19.xml"/></Relationships>
</file>

<file path=ppt/charts/_rels/chart35.xml.rels><?xml version="1.0" encoding="UTF-8" standalone="yes"?>
<Relationships xmlns="http://schemas.openxmlformats.org/package/2006/relationships"><Relationship Id="rId2" Type="http://schemas.openxmlformats.org/officeDocument/2006/relationships/oleObject" Target="file:///D:\&#24037;&#20316;\&#12304;&#26376;&#25253;&amp;&#23395;&#21002;&#12305;\&#12304;&#29615;&#21271;&#20140;&#12305;\2016&#24180;9&#26376;\&#29615;&#21608;&#36793;&#20316;&#22270;2016.9.22.xlsx" TargetMode="External"/><Relationship Id="rId1" Type="http://schemas.openxmlformats.org/officeDocument/2006/relationships/themeOverride" Target="../theme/themeOverride20.xml"/></Relationships>
</file>

<file path=ppt/charts/_rels/chart36.xml.rels><?xml version="1.0" encoding="UTF-8" standalone="yes"?>
<Relationships xmlns="http://schemas.openxmlformats.org/package/2006/relationships"><Relationship Id="rId2" Type="http://schemas.openxmlformats.org/officeDocument/2006/relationships/oleObject" Target="file:///D:\&#24037;&#20316;\&#12304;&#26376;&#25253;&amp;&#23395;&#21002;&#12305;\&#12304;&#29615;&#21271;&#20140;&#12305;\2016&#24180;9&#26376;\&#29615;&#21608;&#36793;&#20316;&#22270;2016.9.22.xlsx" TargetMode="External"/><Relationship Id="rId1" Type="http://schemas.openxmlformats.org/officeDocument/2006/relationships/themeOverride" Target="../theme/themeOverride21.xml"/></Relationships>
</file>

<file path=ppt/charts/_rels/chart37.xml.rels><?xml version="1.0" encoding="UTF-8" standalone="yes"?>
<Relationships xmlns="http://schemas.openxmlformats.org/package/2006/relationships"><Relationship Id="rId2" Type="http://schemas.openxmlformats.org/officeDocument/2006/relationships/oleObject" Target="file:///D:\&#24037;&#20316;\&#12304;&#26376;&#25253;&amp;&#23395;&#21002;&#12305;\&#12304;&#29615;&#21271;&#20140;&#12305;\2016&#24180;9&#26376;\&#29615;&#21608;&#36793;&#20316;&#22270;2016.9.22.xlsx" TargetMode="External"/><Relationship Id="rId1" Type="http://schemas.openxmlformats.org/officeDocument/2006/relationships/themeOverride" Target="../theme/themeOverride22.xml"/></Relationships>
</file>

<file path=ppt/charts/_rels/chart38.xml.rels><?xml version="1.0" encoding="UTF-8" standalone="yes"?>
<Relationships xmlns="http://schemas.openxmlformats.org/package/2006/relationships"><Relationship Id="rId1" Type="http://schemas.openxmlformats.org/officeDocument/2006/relationships/oleObject" Target="file:///D:\&#24037;&#20316;\&#12304;&#26376;&#25253;&amp;&#23395;&#21002;&#12305;\&#12304;&#29615;&#21271;&#20140;&#12305;\2016&#24180;9&#26376;\&#29615;&#21608;&#36793;&#20316;&#22270;2016.9.22.xlsx" TargetMode="External"/></Relationships>
</file>

<file path=ppt/charts/_rels/chart39.xml.rels><?xml version="1.0" encoding="UTF-8" standalone="yes"?>
<Relationships xmlns="http://schemas.openxmlformats.org/package/2006/relationships"><Relationship Id="rId2" Type="http://schemas.openxmlformats.org/officeDocument/2006/relationships/oleObject" Target="file:///D:\&#24037;&#20316;\&#12304;&#26376;&#25253;&amp;&#23395;&#21002;&#12305;\&#12304;&#29615;&#21271;&#20140;&#12305;\2016&#24180;9&#26376;\&#29615;&#21608;&#36793;&#20316;&#22270;2016.9.22.xlsx" TargetMode="External"/><Relationship Id="rId1" Type="http://schemas.openxmlformats.org/officeDocument/2006/relationships/themeOverride" Target="../theme/themeOverride23.xml"/></Relationships>
</file>

<file path=ppt/charts/_rels/chart40.xml.rels><?xml version="1.0" encoding="UTF-8" standalone="yes"?>
<Relationships xmlns="http://schemas.openxmlformats.org/package/2006/relationships"><Relationship Id="rId2" Type="http://schemas.openxmlformats.org/officeDocument/2006/relationships/oleObject" Target="file:///D:\&#24037;&#20316;\&#12304;&#26376;&#25253;&amp;&#23395;&#21002;&#12305;\&#12304;&#29615;&#21271;&#20140;&#12305;\2016&#24180;9&#26376;\&#29615;&#21608;&#36793;&#20316;&#22270;2016.9.22.xlsx" TargetMode="External"/><Relationship Id="rId1" Type="http://schemas.openxmlformats.org/officeDocument/2006/relationships/themeOverride" Target="../theme/themeOverride24.xml"/></Relationships>
</file>

<file path=ppt/charts/_rels/chart41.xml.rels><?xml version="1.0" encoding="UTF-8" standalone="yes"?>
<Relationships xmlns="http://schemas.openxmlformats.org/package/2006/relationships"><Relationship Id="rId1" Type="http://schemas.openxmlformats.org/officeDocument/2006/relationships/oleObject" Target="file:///D:\&#24037;&#20316;\&#12304;&#26376;&#25253;&amp;&#23395;&#21002;&#12305;\&#12304;&#29615;&#21271;&#20140;&#12305;\2016&#24180;9&#26376;\&#29615;&#21608;&#36793;&#20316;&#22270;2016.9.22.xlsx" TargetMode="External"/></Relationships>
</file>

<file path=ppt/charts/_rels/chart42.xml.rels><?xml version="1.0" encoding="UTF-8" standalone="yes"?>
<Relationships xmlns="http://schemas.openxmlformats.org/package/2006/relationships"><Relationship Id="rId2" Type="http://schemas.openxmlformats.org/officeDocument/2006/relationships/oleObject" Target="file:///D:\&#24037;&#20316;\&#12304;&#26376;&#25253;&amp;&#23395;&#21002;&#12305;\&#12304;&#29615;&#21271;&#20140;&#12305;\2016&#24180;9&#26376;\&#29615;&#21608;&#36793;&#20316;&#22270;2016.9.22.xlsx" TargetMode="External"/><Relationship Id="rId1" Type="http://schemas.openxmlformats.org/officeDocument/2006/relationships/themeOverride" Target="../theme/themeOverride25.xml"/></Relationships>
</file>

<file path=ppt/charts/_rels/chart43.xml.rels><?xml version="1.0" encoding="UTF-8" standalone="yes"?>
<Relationships xmlns="http://schemas.openxmlformats.org/package/2006/relationships"><Relationship Id="rId2" Type="http://schemas.openxmlformats.org/officeDocument/2006/relationships/oleObject" Target="file:///D:\&#24037;&#20316;\&#12304;&#26376;&#25253;&amp;&#23395;&#21002;&#12305;\&#12304;&#29615;&#21271;&#20140;&#12305;\2016&#24180;9&#26376;\&#29615;&#21608;&#36793;&#20316;&#22270;2016.9.22.xlsx" TargetMode="External"/><Relationship Id="rId1" Type="http://schemas.openxmlformats.org/officeDocument/2006/relationships/themeOverride" Target="../theme/themeOverride26.xml"/></Relationships>
</file>

<file path=ppt/charts/_rels/chart44.xml.rels><?xml version="1.0" encoding="UTF-8" standalone="yes"?>
<Relationships xmlns="http://schemas.openxmlformats.org/package/2006/relationships"><Relationship Id="rId1" Type="http://schemas.openxmlformats.org/officeDocument/2006/relationships/oleObject" Target="file:///D:\&#24037;&#20316;\&#12304;&#26376;&#25253;&amp;&#23395;&#21002;&#12305;\&#12304;&#29615;&#21271;&#20140;&#12305;\2016&#24180;9&#26376;\&#29615;&#21608;&#36793;&#20316;&#22270;2016.9.22.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ltLang="zh-CN" dirty="0">
                <a:latin typeface="+mj-ea"/>
                <a:ea typeface="+mj-ea"/>
              </a:rPr>
              <a:t>70</a:t>
            </a:r>
            <a:r>
              <a:rPr lang="zh-CN" altLang="en-US" dirty="0">
                <a:latin typeface="+mj-ea"/>
                <a:ea typeface="+mj-ea"/>
              </a:rPr>
              <a:t>大中城市二手住宅价格变动情况</a:t>
            </a:r>
          </a:p>
        </c:rich>
      </c:tx>
      <c:layout>
        <c:manualLayout>
          <c:xMode val="edge"/>
          <c:yMode val="edge"/>
          <c:x val="0.27006656331785855"/>
          <c:y val="0"/>
        </c:manualLayout>
      </c:layout>
      <c:overlay val="0"/>
    </c:title>
    <c:autoTitleDeleted val="0"/>
    <c:plotArea>
      <c:layout>
        <c:manualLayout>
          <c:layoutTarget val="inner"/>
          <c:xMode val="edge"/>
          <c:yMode val="edge"/>
          <c:x val="8.0488407699037617E-2"/>
          <c:y val="0.19491907261592301"/>
          <c:w val="0.87128390201224848"/>
          <c:h val="0.75368037328667248"/>
        </c:manualLayout>
      </c:layout>
      <c:barChart>
        <c:barDir val="col"/>
        <c:grouping val="clustered"/>
        <c:varyColors val="0"/>
        <c:ser>
          <c:idx val="1"/>
          <c:order val="0"/>
          <c:tx>
            <c:strRef>
              <c:f>'70大中城市'!$C$33</c:f>
              <c:strCache>
                <c:ptCount val="1"/>
                <c:pt idx="0">
                  <c:v>价格上涨的城市个数</c:v>
                </c:pt>
              </c:strCache>
            </c:strRef>
          </c:tx>
          <c:spPr>
            <a:solidFill>
              <a:schemeClr val="accent1"/>
            </a:solidFill>
          </c:spPr>
          <c:invertIfNegative val="0"/>
          <c:dLbls>
            <c:spPr>
              <a:noFill/>
              <a:ln>
                <a:noFill/>
              </a:ln>
              <a:effectLst/>
            </c:spPr>
            <c:txPr>
              <a:bodyPr/>
              <a:lstStyle/>
              <a:p>
                <a:pPr>
                  <a:defRPr sz="1100" b="1">
                    <a:latin typeface="+mj-ea"/>
                    <a:ea typeface="+mj-ea"/>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multiLvlStrRef>
              <c:f>'70大中城市'!$A$34:$B$60</c:f>
              <c:multiLvlStrCache>
                <c:ptCount val="27"/>
                <c:lvl>
                  <c:pt idx="0">
                    <c:v>6月</c:v>
                  </c:pt>
                  <c:pt idx="1">
                    <c:v>7月</c:v>
                  </c:pt>
                  <c:pt idx="2">
                    <c:v>8月</c:v>
                  </c:pt>
                  <c:pt idx="3">
                    <c:v>9月</c:v>
                  </c:pt>
                  <c:pt idx="4">
                    <c:v>10月</c:v>
                  </c:pt>
                  <c:pt idx="5">
                    <c:v>11月</c:v>
                  </c:pt>
                  <c:pt idx="6">
                    <c:v>12月</c:v>
                  </c:pt>
                  <c:pt idx="7">
                    <c:v>1月</c:v>
                  </c:pt>
                  <c:pt idx="8">
                    <c:v>2月</c:v>
                  </c:pt>
                  <c:pt idx="9">
                    <c:v>3月</c:v>
                  </c:pt>
                  <c:pt idx="10">
                    <c:v>4月</c:v>
                  </c:pt>
                  <c:pt idx="11">
                    <c:v>5月</c:v>
                  </c:pt>
                  <c:pt idx="12">
                    <c:v>6月</c:v>
                  </c:pt>
                  <c:pt idx="13">
                    <c:v>7月</c:v>
                  </c:pt>
                  <c:pt idx="14">
                    <c:v>8月</c:v>
                  </c:pt>
                  <c:pt idx="15">
                    <c:v>9月</c:v>
                  </c:pt>
                  <c:pt idx="16">
                    <c:v>10月</c:v>
                  </c:pt>
                  <c:pt idx="17">
                    <c:v>11月</c:v>
                  </c:pt>
                  <c:pt idx="18">
                    <c:v>12月</c:v>
                  </c:pt>
                  <c:pt idx="19">
                    <c:v>1月</c:v>
                  </c:pt>
                  <c:pt idx="20">
                    <c:v>2月</c:v>
                  </c:pt>
                  <c:pt idx="21">
                    <c:v>3月</c:v>
                  </c:pt>
                  <c:pt idx="22">
                    <c:v>4月</c:v>
                  </c:pt>
                  <c:pt idx="23">
                    <c:v>5月</c:v>
                  </c:pt>
                  <c:pt idx="24">
                    <c:v>6月</c:v>
                  </c:pt>
                  <c:pt idx="25">
                    <c:v>7月</c:v>
                  </c:pt>
                  <c:pt idx="26">
                    <c:v>8月</c:v>
                  </c:pt>
                </c:lvl>
                <c:lvl>
                  <c:pt idx="0">
                    <c:v>2014年</c:v>
                  </c:pt>
                  <c:pt idx="7">
                    <c:v>2015年</c:v>
                  </c:pt>
                  <c:pt idx="19">
                    <c:v>2016年</c:v>
                  </c:pt>
                </c:lvl>
              </c:multiLvlStrCache>
            </c:multiLvlStrRef>
          </c:cat>
          <c:val>
            <c:numRef>
              <c:f>'70大中城市'!$C$34:$C$60</c:f>
              <c:numCache>
                <c:formatCode>General</c:formatCode>
                <c:ptCount val="27"/>
                <c:pt idx="0">
                  <c:v>7</c:v>
                </c:pt>
                <c:pt idx="1">
                  <c:v>1</c:v>
                </c:pt>
                <c:pt idx="2">
                  <c:v>1</c:v>
                </c:pt>
                <c:pt idx="3">
                  <c:v>0</c:v>
                </c:pt>
                <c:pt idx="4">
                  <c:v>2</c:v>
                </c:pt>
                <c:pt idx="5">
                  <c:v>6</c:v>
                </c:pt>
                <c:pt idx="6">
                  <c:v>8</c:v>
                </c:pt>
                <c:pt idx="7">
                  <c:v>6</c:v>
                </c:pt>
                <c:pt idx="8">
                  <c:v>5</c:v>
                </c:pt>
                <c:pt idx="9">
                  <c:v>12</c:v>
                </c:pt>
                <c:pt idx="10">
                  <c:v>28</c:v>
                </c:pt>
                <c:pt idx="11">
                  <c:v>37</c:v>
                </c:pt>
                <c:pt idx="12">
                  <c:v>42</c:v>
                </c:pt>
                <c:pt idx="13">
                  <c:v>39</c:v>
                </c:pt>
                <c:pt idx="14">
                  <c:v>43</c:v>
                </c:pt>
                <c:pt idx="15">
                  <c:v>39</c:v>
                </c:pt>
                <c:pt idx="16">
                  <c:v>38</c:v>
                </c:pt>
                <c:pt idx="17">
                  <c:v>40</c:v>
                </c:pt>
                <c:pt idx="18">
                  <c:v>37</c:v>
                </c:pt>
                <c:pt idx="19">
                  <c:v>37</c:v>
                </c:pt>
                <c:pt idx="20">
                  <c:v>34</c:v>
                </c:pt>
                <c:pt idx="21">
                  <c:v>54</c:v>
                </c:pt>
                <c:pt idx="22">
                  <c:v>51</c:v>
                </c:pt>
                <c:pt idx="23">
                  <c:v>49</c:v>
                </c:pt>
                <c:pt idx="24">
                  <c:v>48</c:v>
                </c:pt>
                <c:pt idx="25">
                  <c:v>51</c:v>
                </c:pt>
                <c:pt idx="26">
                  <c:v>57</c:v>
                </c:pt>
              </c:numCache>
            </c:numRef>
          </c:val>
          <c:extLst>
            <c:ext xmlns:c16="http://schemas.microsoft.com/office/drawing/2014/chart" uri="{C3380CC4-5D6E-409C-BE32-E72D297353CC}">
              <c16:uniqueId val="{00000000-82EF-4322-A835-EE5C5F7C5E8B}"/>
            </c:ext>
          </c:extLst>
        </c:ser>
        <c:ser>
          <c:idx val="2"/>
          <c:order val="1"/>
          <c:tx>
            <c:strRef>
              <c:f>'70大中城市'!$D$33</c:f>
              <c:strCache>
                <c:ptCount val="1"/>
                <c:pt idx="0">
                  <c:v>价格下降的城市个数</c:v>
                </c:pt>
              </c:strCache>
            </c:strRef>
          </c:tx>
          <c:spPr>
            <a:solidFill>
              <a:srgbClr val="F4A73C"/>
            </a:solidFill>
          </c:spPr>
          <c:invertIfNegative val="0"/>
          <c:dLbls>
            <c:spPr>
              <a:noFill/>
              <a:ln>
                <a:noFill/>
              </a:ln>
              <a:effectLst/>
            </c:spPr>
            <c:txPr>
              <a:bodyPr/>
              <a:lstStyle/>
              <a:p>
                <a:pPr>
                  <a:defRPr sz="1100" b="1">
                    <a:latin typeface="+mj-ea"/>
                    <a:ea typeface="+mj-ea"/>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multiLvlStrRef>
              <c:f>'70大中城市'!$A$34:$B$60</c:f>
              <c:multiLvlStrCache>
                <c:ptCount val="27"/>
                <c:lvl>
                  <c:pt idx="0">
                    <c:v>6月</c:v>
                  </c:pt>
                  <c:pt idx="1">
                    <c:v>7月</c:v>
                  </c:pt>
                  <c:pt idx="2">
                    <c:v>8月</c:v>
                  </c:pt>
                  <c:pt idx="3">
                    <c:v>9月</c:v>
                  </c:pt>
                  <c:pt idx="4">
                    <c:v>10月</c:v>
                  </c:pt>
                  <c:pt idx="5">
                    <c:v>11月</c:v>
                  </c:pt>
                  <c:pt idx="6">
                    <c:v>12月</c:v>
                  </c:pt>
                  <c:pt idx="7">
                    <c:v>1月</c:v>
                  </c:pt>
                  <c:pt idx="8">
                    <c:v>2月</c:v>
                  </c:pt>
                  <c:pt idx="9">
                    <c:v>3月</c:v>
                  </c:pt>
                  <c:pt idx="10">
                    <c:v>4月</c:v>
                  </c:pt>
                  <c:pt idx="11">
                    <c:v>5月</c:v>
                  </c:pt>
                  <c:pt idx="12">
                    <c:v>6月</c:v>
                  </c:pt>
                  <c:pt idx="13">
                    <c:v>7月</c:v>
                  </c:pt>
                  <c:pt idx="14">
                    <c:v>8月</c:v>
                  </c:pt>
                  <c:pt idx="15">
                    <c:v>9月</c:v>
                  </c:pt>
                  <c:pt idx="16">
                    <c:v>10月</c:v>
                  </c:pt>
                  <c:pt idx="17">
                    <c:v>11月</c:v>
                  </c:pt>
                  <c:pt idx="18">
                    <c:v>12月</c:v>
                  </c:pt>
                  <c:pt idx="19">
                    <c:v>1月</c:v>
                  </c:pt>
                  <c:pt idx="20">
                    <c:v>2月</c:v>
                  </c:pt>
                  <c:pt idx="21">
                    <c:v>3月</c:v>
                  </c:pt>
                  <c:pt idx="22">
                    <c:v>4月</c:v>
                  </c:pt>
                  <c:pt idx="23">
                    <c:v>5月</c:v>
                  </c:pt>
                  <c:pt idx="24">
                    <c:v>6月</c:v>
                  </c:pt>
                  <c:pt idx="25">
                    <c:v>7月</c:v>
                  </c:pt>
                  <c:pt idx="26">
                    <c:v>8月</c:v>
                  </c:pt>
                </c:lvl>
                <c:lvl>
                  <c:pt idx="0">
                    <c:v>2014年</c:v>
                  </c:pt>
                  <c:pt idx="7">
                    <c:v>2015年</c:v>
                  </c:pt>
                  <c:pt idx="19">
                    <c:v>2016年</c:v>
                  </c:pt>
                </c:lvl>
              </c:multiLvlStrCache>
            </c:multiLvlStrRef>
          </c:cat>
          <c:val>
            <c:numRef>
              <c:f>'70大中城市'!$D$34:$D$60</c:f>
              <c:numCache>
                <c:formatCode>General</c:formatCode>
                <c:ptCount val="27"/>
                <c:pt idx="0">
                  <c:v>-52</c:v>
                </c:pt>
                <c:pt idx="1">
                  <c:v>-65</c:v>
                </c:pt>
                <c:pt idx="2">
                  <c:v>-67</c:v>
                </c:pt>
                <c:pt idx="3">
                  <c:v>-70</c:v>
                </c:pt>
                <c:pt idx="4">
                  <c:v>-64</c:v>
                </c:pt>
                <c:pt idx="5">
                  <c:v>-58</c:v>
                </c:pt>
                <c:pt idx="6">
                  <c:v>-60</c:v>
                </c:pt>
                <c:pt idx="7">
                  <c:v>-61</c:v>
                </c:pt>
                <c:pt idx="8">
                  <c:v>-61</c:v>
                </c:pt>
                <c:pt idx="9">
                  <c:v>-48</c:v>
                </c:pt>
                <c:pt idx="10">
                  <c:v>-34</c:v>
                </c:pt>
                <c:pt idx="11">
                  <c:v>-28</c:v>
                </c:pt>
                <c:pt idx="12">
                  <c:v>-20</c:v>
                </c:pt>
                <c:pt idx="13">
                  <c:v>-18</c:v>
                </c:pt>
                <c:pt idx="14">
                  <c:v>-16</c:v>
                </c:pt>
                <c:pt idx="15">
                  <c:v>-18</c:v>
                </c:pt>
                <c:pt idx="16">
                  <c:v>-23</c:v>
                </c:pt>
                <c:pt idx="17">
                  <c:v>-16</c:v>
                </c:pt>
                <c:pt idx="18">
                  <c:v>-24</c:v>
                </c:pt>
                <c:pt idx="19">
                  <c:v>-25</c:v>
                </c:pt>
                <c:pt idx="20">
                  <c:v>-28</c:v>
                </c:pt>
                <c:pt idx="21">
                  <c:v>-13</c:v>
                </c:pt>
                <c:pt idx="22">
                  <c:v>-10</c:v>
                </c:pt>
                <c:pt idx="23">
                  <c:v>-13</c:v>
                </c:pt>
                <c:pt idx="24">
                  <c:v>-14</c:v>
                </c:pt>
                <c:pt idx="25">
                  <c:v>-12</c:v>
                </c:pt>
                <c:pt idx="26">
                  <c:v>-9</c:v>
                </c:pt>
              </c:numCache>
            </c:numRef>
          </c:val>
          <c:extLst>
            <c:ext xmlns:c16="http://schemas.microsoft.com/office/drawing/2014/chart" uri="{C3380CC4-5D6E-409C-BE32-E72D297353CC}">
              <c16:uniqueId val="{00000001-82EF-4322-A835-EE5C5F7C5E8B}"/>
            </c:ext>
          </c:extLst>
        </c:ser>
        <c:dLbls>
          <c:showLegendKey val="0"/>
          <c:showVal val="0"/>
          <c:showCatName val="0"/>
          <c:showSerName val="0"/>
          <c:showPercent val="0"/>
          <c:showBubbleSize val="0"/>
        </c:dLbls>
        <c:gapWidth val="278"/>
        <c:overlap val="100"/>
        <c:axId val="238603648"/>
        <c:axId val="238605440"/>
      </c:barChart>
      <c:catAx>
        <c:axId val="238603648"/>
        <c:scaling>
          <c:orientation val="minMax"/>
        </c:scaling>
        <c:delete val="0"/>
        <c:axPos val="b"/>
        <c:numFmt formatCode="General" sourceLinked="1"/>
        <c:majorTickMark val="out"/>
        <c:minorTickMark val="none"/>
        <c:tickLblPos val="nextTo"/>
        <c:txPr>
          <a:bodyPr/>
          <a:lstStyle/>
          <a:p>
            <a:pPr>
              <a:defRPr sz="800">
                <a:latin typeface="+mj-ea"/>
                <a:ea typeface="+mj-ea"/>
              </a:defRPr>
            </a:pPr>
            <a:endParaRPr lang="zh-CN"/>
          </a:p>
        </c:txPr>
        <c:crossAx val="238605440"/>
        <c:crosses val="autoZero"/>
        <c:auto val="1"/>
        <c:lblAlgn val="ctr"/>
        <c:lblOffset val="100"/>
        <c:noMultiLvlLbl val="0"/>
      </c:catAx>
      <c:valAx>
        <c:axId val="238605440"/>
        <c:scaling>
          <c:orientation val="minMax"/>
        </c:scaling>
        <c:delete val="0"/>
        <c:axPos val="l"/>
        <c:numFmt formatCode="General" sourceLinked="1"/>
        <c:majorTickMark val="out"/>
        <c:minorTickMark val="none"/>
        <c:tickLblPos val="nextTo"/>
        <c:crossAx val="238603648"/>
        <c:crosses val="autoZero"/>
        <c:crossBetween val="between"/>
      </c:valAx>
    </c:plotArea>
    <c:legend>
      <c:legendPos val="r"/>
      <c:layout>
        <c:manualLayout>
          <c:xMode val="edge"/>
          <c:yMode val="edge"/>
          <c:x val="9.3015090338885179E-2"/>
          <c:y val="0.19406058617672792"/>
          <c:w val="0.2397411500033084"/>
          <c:h val="0.16743438320209972"/>
        </c:manualLayout>
      </c:layout>
      <c:overlay val="0"/>
      <c:txPr>
        <a:bodyPr/>
        <a:lstStyle/>
        <a:p>
          <a:pPr>
            <a:defRPr b="1">
              <a:latin typeface="+mj-ea"/>
              <a:ea typeface="+mj-ea"/>
            </a:defRPr>
          </a:pPr>
          <a:endParaRPr lang="zh-CN"/>
        </a:p>
      </c:txPr>
    </c:legend>
    <c:plotVisOnly val="1"/>
    <c:dispBlanksAs val="gap"/>
    <c:showDLblsOverMax val="0"/>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latin typeface="+mj-ea"/>
                <a:ea typeface="+mj-ea"/>
              </a:defRPr>
            </a:pPr>
            <a:r>
              <a:rPr lang="en-US" altLang="zh-CN">
                <a:latin typeface="+mj-ea"/>
                <a:ea typeface="+mj-ea"/>
              </a:rPr>
              <a:t>70</a:t>
            </a:r>
            <a:r>
              <a:rPr lang="zh-CN" altLang="en-US">
                <a:latin typeface="+mj-ea"/>
                <a:ea typeface="+mj-ea"/>
              </a:rPr>
              <a:t>大中城市新建住宅城市价格变动情况</a:t>
            </a:r>
          </a:p>
        </c:rich>
      </c:tx>
      <c:layout>
        <c:manualLayout>
          <c:xMode val="edge"/>
          <c:yMode val="edge"/>
          <c:x val="0.21783104853579457"/>
          <c:y val="3.1355436623573221E-2"/>
        </c:manualLayout>
      </c:layout>
      <c:overlay val="0"/>
    </c:title>
    <c:autoTitleDeleted val="0"/>
    <c:plotArea>
      <c:layout>
        <c:manualLayout>
          <c:layoutTarget val="inner"/>
          <c:xMode val="edge"/>
          <c:yMode val="edge"/>
          <c:x val="5.1335128979896394E-2"/>
          <c:y val="0.19476875630018545"/>
          <c:w val="0.90043721792800113"/>
          <c:h val="0.75383054802531291"/>
        </c:manualLayout>
      </c:layout>
      <c:barChart>
        <c:barDir val="col"/>
        <c:grouping val="clustered"/>
        <c:varyColors val="0"/>
        <c:ser>
          <c:idx val="1"/>
          <c:order val="0"/>
          <c:tx>
            <c:strRef>
              <c:f>'70大中城市'!$C$2</c:f>
              <c:strCache>
                <c:ptCount val="1"/>
                <c:pt idx="0">
                  <c:v>价格上涨的城市个数</c:v>
                </c:pt>
              </c:strCache>
            </c:strRef>
          </c:tx>
          <c:spPr>
            <a:solidFill>
              <a:srgbClr val="006EC7"/>
            </a:solidFill>
          </c:spPr>
          <c:invertIfNegative val="0"/>
          <c:dLbls>
            <c:spPr>
              <a:noFill/>
              <a:ln>
                <a:noFill/>
              </a:ln>
              <a:effectLst/>
            </c:spPr>
            <c:txPr>
              <a:bodyPr/>
              <a:lstStyle/>
              <a:p>
                <a:pPr>
                  <a:defRPr sz="1100" b="1">
                    <a:latin typeface="+mj-ea"/>
                    <a:ea typeface="+mj-ea"/>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multiLvlStrRef>
              <c:f>'70大中城市'!$A$3:$B$29</c:f>
              <c:multiLvlStrCache>
                <c:ptCount val="27"/>
                <c:lvl>
                  <c:pt idx="0">
                    <c:v>6月</c:v>
                  </c:pt>
                  <c:pt idx="1">
                    <c:v>7月</c:v>
                  </c:pt>
                  <c:pt idx="2">
                    <c:v>8月</c:v>
                  </c:pt>
                  <c:pt idx="3">
                    <c:v>9月</c:v>
                  </c:pt>
                  <c:pt idx="4">
                    <c:v>10月</c:v>
                  </c:pt>
                  <c:pt idx="5">
                    <c:v>11月</c:v>
                  </c:pt>
                  <c:pt idx="6">
                    <c:v>12月</c:v>
                  </c:pt>
                  <c:pt idx="7">
                    <c:v>1月</c:v>
                  </c:pt>
                  <c:pt idx="8">
                    <c:v>2月</c:v>
                  </c:pt>
                  <c:pt idx="9">
                    <c:v>3月</c:v>
                  </c:pt>
                  <c:pt idx="10">
                    <c:v>4月</c:v>
                  </c:pt>
                  <c:pt idx="11">
                    <c:v>5月</c:v>
                  </c:pt>
                  <c:pt idx="12">
                    <c:v>6月</c:v>
                  </c:pt>
                  <c:pt idx="13">
                    <c:v>7月</c:v>
                  </c:pt>
                  <c:pt idx="14">
                    <c:v>8月</c:v>
                  </c:pt>
                  <c:pt idx="15">
                    <c:v>9月</c:v>
                  </c:pt>
                  <c:pt idx="16">
                    <c:v>10月</c:v>
                  </c:pt>
                  <c:pt idx="17">
                    <c:v>11月</c:v>
                  </c:pt>
                  <c:pt idx="18">
                    <c:v>12月</c:v>
                  </c:pt>
                  <c:pt idx="19">
                    <c:v>1月</c:v>
                  </c:pt>
                  <c:pt idx="20">
                    <c:v>2月</c:v>
                  </c:pt>
                  <c:pt idx="21">
                    <c:v>3月</c:v>
                  </c:pt>
                  <c:pt idx="22">
                    <c:v>4月</c:v>
                  </c:pt>
                  <c:pt idx="23">
                    <c:v>5月</c:v>
                  </c:pt>
                  <c:pt idx="24">
                    <c:v>6月</c:v>
                  </c:pt>
                  <c:pt idx="25">
                    <c:v>7月</c:v>
                  </c:pt>
                  <c:pt idx="26">
                    <c:v>8月</c:v>
                  </c:pt>
                </c:lvl>
                <c:lvl>
                  <c:pt idx="0">
                    <c:v>2014年</c:v>
                  </c:pt>
                  <c:pt idx="7">
                    <c:v>2015年</c:v>
                  </c:pt>
                  <c:pt idx="19">
                    <c:v>2016年</c:v>
                  </c:pt>
                </c:lvl>
              </c:multiLvlStrCache>
            </c:multiLvlStrRef>
          </c:cat>
          <c:val>
            <c:numRef>
              <c:f>'70大中城市'!$C$3:$C$29</c:f>
              <c:numCache>
                <c:formatCode>General</c:formatCode>
                <c:ptCount val="27"/>
                <c:pt idx="0">
                  <c:v>8</c:v>
                </c:pt>
                <c:pt idx="1">
                  <c:v>2</c:v>
                </c:pt>
                <c:pt idx="2">
                  <c:v>1</c:v>
                </c:pt>
                <c:pt idx="3">
                  <c:v>0</c:v>
                </c:pt>
                <c:pt idx="4">
                  <c:v>0</c:v>
                </c:pt>
                <c:pt idx="5">
                  <c:v>0</c:v>
                </c:pt>
                <c:pt idx="6">
                  <c:v>1</c:v>
                </c:pt>
                <c:pt idx="7">
                  <c:v>2</c:v>
                </c:pt>
                <c:pt idx="8">
                  <c:v>2</c:v>
                </c:pt>
                <c:pt idx="9">
                  <c:v>12</c:v>
                </c:pt>
                <c:pt idx="10">
                  <c:v>18</c:v>
                </c:pt>
                <c:pt idx="11">
                  <c:v>20</c:v>
                </c:pt>
                <c:pt idx="12">
                  <c:v>27</c:v>
                </c:pt>
                <c:pt idx="13">
                  <c:v>31</c:v>
                </c:pt>
                <c:pt idx="14">
                  <c:v>35</c:v>
                </c:pt>
                <c:pt idx="15">
                  <c:v>39</c:v>
                </c:pt>
                <c:pt idx="16">
                  <c:v>27</c:v>
                </c:pt>
                <c:pt idx="17">
                  <c:v>33</c:v>
                </c:pt>
                <c:pt idx="18">
                  <c:v>39</c:v>
                </c:pt>
                <c:pt idx="19">
                  <c:v>38</c:v>
                </c:pt>
                <c:pt idx="20">
                  <c:v>47</c:v>
                </c:pt>
                <c:pt idx="21">
                  <c:v>62</c:v>
                </c:pt>
                <c:pt idx="22">
                  <c:v>65</c:v>
                </c:pt>
                <c:pt idx="23">
                  <c:v>59</c:v>
                </c:pt>
                <c:pt idx="24">
                  <c:v>55</c:v>
                </c:pt>
                <c:pt idx="25">
                  <c:v>51</c:v>
                </c:pt>
                <c:pt idx="26">
                  <c:v>64</c:v>
                </c:pt>
              </c:numCache>
            </c:numRef>
          </c:val>
          <c:extLst>
            <c:ext xmlns:c16="http://schemas.microsoft.com/office/drawing/2014/chart" uri="{C3380CC4-5D6E-409C-BE32-E72D297353CC}">
              <c16:uniqueId val="{00000000-27EA-4E7C-86DB-51AB40B4BF9F}"/>
            </c:ext>
          </c:extLst>
        </c:ser>
        <c:ser>
          <c:idx val="2"/>
          <c:order val="1"/>
          <c:tx>
            <c:strRef>
              <c:f>'70大中城市'!$D$2</c:f>
              <c:strCache>
                <c:ptCount val="1"/>
                <c:pt idx="0">
                  <c:v>价格下降的城市个数</c:v>
                </c:pt>
              </c:strCache>
            </c:strRef>
          </c:tx>
          <c:spPr>
            <a:solidFill>
              <a:srgbClr val="F4A73C"/>
            </a:solidFill>
          </c:spPr>
          <c:invertIfNegative val="0"/>
          <c:dLbls>
            <c:spPr>
              <a:noFill/>
              <a:ln>
                <a:noFill/>
              </a:ln>
              <a:effectLst/>
            </c:spPr>
            <c:txPr>
              <a:bodyPr/>
              <a:lstStyle/>
              <a:p>
                <a:pPr>
                  <a:defRPr sz="1100" b="1">
                    <a:latin typeface="+mj-ea"/>
                    <a:ea typeface="+mj-ea"/>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multiLvlStrRef>
              <c:f>'70大中城市'!$A$3:$B$29</c:f>
              <c:multiLvlStrCache>
                <c:ptCount val="27"/>
                <c:lvl>
                  <c:pt idx="0">
                    <c:v>6月</c:v>
                  </c:pt>
                  <c:pt idx="1">
                    <c:v>7月</c:v>
                  </c:pt>
                  <c:pt idx="2">
                    <c:v>8月</c:v>
                  </c:pt>
                  <c:pt idx="3">
                    <c:v>9月</c:v>
                  </c:pt>
                  <c:pt idx="4">
                    <c:v>10月</c:v>
                  </c:pt>
                  <c:pt idx="5">
                    <c:v>11月</c:v>
                  </c:pt>
                  <c:pt idx="6">
                    <c:v>12月</c:v>
                  </c:pt>
                  <c:pt idx="7">
                    <c:v>1月</c:v>
                  </c:pt>
                  <c:pt idx="8">
                    <c:v>2月</c:v>
                  </c:pt>
                  <c:pt idx="9">
                    <c:v>3月</c:v>
                  </c:pt>
                  <c:pt idx="10">
                    <c:v>4月</c:v>
                  </c:pt>
                  <c:pt idx="11">
                    <c:v>5月</c:v>
                  </c:pt>
                  <c:pt idx="12">
                    <c:v>6月</c:v>
                  </c:pt>
                  <c:pt idx="13">
                    <c:v>7月</c:v>
                  </c:pt>
                  <c:pt idx="14">
                    <c:v>8月</c:v>
                  </c:pt>
                  <c:pt idx="15">
                    <c:v>9月</c:v>
                  </c:pt>
                  <c:pt idx="16">
                    <c:v>10月</c:v>
                  </c:pt>
                  <c:pt idx="17">
                    <c:v>11月</c:v>
                  </c:pt>
                  <c:pt idx="18">
                    <c:v>12月</c:v>
                  </c:pt>
                  <c:pt idx="19">
                    <c:v>1月</c:v>
                  </c:pt>
                  <c:pt idx="20">
                    <c:v>2月</c:v>
                  </c:pt>
                  <c:pt idx="21">
                    <c:v>3月</c:v>
                  </c:pt>
                  <c:pt idx="22">
                    <c:v>4月</c:v>
                  </c:pt>
                  <c:pt idx="23">
                    <c:v>5月</c:v>
                  </c:pt>
                  <c:pt idx="24">
                    <c:v>6月</c:v>
                  </c:pt>
                  <c:pt idx="25">
                    <c:v>7月</c:v>
                  </c:pt>
                  <c:pt idx="26">
                    <c:v>8月</c:v>
                  </c:pt>
                </c:lvl>
                <c:lvl>
                  <c:pt idx="0">
                    <c:v>2014年</c:v>
                  </c:pt>
                  <c:pt idx="7">
                    <c:v>2015年</c:v>
                  </c:pt>
                  <c:pt idx="19">
                    <c:v>2016年</c:v>
                  </c:pt>
                </c:lvl>
              </c:multiLvlStrCache>
            </c:multiLvlStrRef>
          </c:cat>
          <c:val>
            <c:numRef>
              <c:f>'70大中城市'!$D$3:$D$29</c:f>
              <c:numCache>
                <c:formatCode>General</c:formatCode>
                <c:ptCount val="27"/>
                <c:pt idx="0">
                  <c:v>-55</c:v>
                </c:pt>
                <c:pt idx="1">
                  <c:v>-64</c:v>
                </c:pt>
                <c:pt idx="2">
                  <c:v>-68</c:v>
                </c:pt>
                <c:pt idx="3">
                  <c:v>-69</c:v>
                </c:pt>
                <c:pt idx="4">
                  <c:v>-69</c:v>
                </c:pt>
                <c:pt idx="5">
                  <c:v>-67</c:v>
                </c:pt>
                <c:pt idx="6">
                  <c:v>-66</c:v>
                </c:pt>
                <c:pt idx="7">
                  <c:v>-64</c:v>
                </c:pt>
                <c:pt idx="8">
                  <c:v>-66</c:v>
                </c:pt>
                <c:pt idx="9">
                  <c:v>-50</c:v>
                </c:pt>
                <c:pt idx="10">
                  <c:v>-48</c:v>
                </c:pt>
                <c:pt idx="11">
                  <c:v>-43</c:v>
                </c:pt>
                <c:pt idx="12">
                  <c:v>-34</c:v>
                </c:pt>
                <c:pt idx="13">
                  <c:v>-29</c:v>
                </c:pt>
                <c:pt idx="14">
                  <c:v>-26</c:v>
                </c:pt>
                <c:pt idx="15">
                  <c:v>-21</c:v>
                </c:pt>
                <c:pt idx="16">
                  <c:v>-33</c:v>
                </c:pt>
                <c:pt idx="17">
                  <c:v>-27</c:v>
                </c:pt>
                <c:pt idx="18">
                  <c:v>-27</c:v>
                </c:pt>
                <c:pt idx="19">
                  <c:v>-24</c:v>
                </c:pt>
                <c:pt idx="20">
                  <c:v>-15</c:v>
                </c:pt>
                <c:pt idx="21">
                  <c:v>-8</c:v>
                </c:pt>
                <c:pt idx="22">
                  <c:v>-5</c:v>
                </c:pt>
                <c:pt idx="23">
                  <c:v>-4</c:v>
                </c:pt>
                <c:pt idx="24">
                  <c:v>-10</c:v>
                </c:pt>
                <c:pt idx="25">
                  <c:v>-16</c:v>
                </c:pt>
                <c:pt idx="26">
                  <c:v>-4</c:v>
                </c:pt>
              </c:numCache>
            </c:numRef>
          </c:val>
          <c:extLst>
            <c:ext xmlns:c16="http://schemas.microsoft.com/office/drawing/2014/chart" uri="{C3380CC4-5D6E-409C-BE32-E72D297353CC}">
              <c16:uniqueId val="{00000001-27EA-4E7C-86DB-51AB40B4BF9F}"/>
            </c:ext>
          </c:extLst>
        </c:ser>
        <c:dLbls>
          <c:showLegendKey val="0"/>
          <c:showVal val="0"/>
          <c:showCatName val="0"/>
          <c:showSerName val="0"/>
          <c:showPercent val="0"/>
          <c:showBubbleSize val="0"/>
        </c:dLbls>
        <c:gapWidth val="278"/>
        <c:overlap val="100"/>
        <c:axId val="239646976"/>
        <c:axId val="239661056"/>
      </c:barChart>
      <c:catAx>
        <c:axId val="239646976"/>
        <c:scaling>
          <c:orientation val="minMax"/>
        </c:scaling>
        <c:delete val="0"/>
        <c:axPos val="b"/>
        <c:numFmt formatCode="General" sourceLinked="1"/>
        <c:majorTickMark val="out"/>
        <c:minorTickMark val="none"/>
        <c:tickLblPos val="nextTo"/>
        <c:txPr>
          <a:bodyPr/>
          <a:lstStyle/>
          <a:p>
            <a:pPr>
              <a:defRPr sz="800">
                <a:latin typeface="+mj-ea"/>
                <a:ea typeface="+mj-ea"/>
              </a:defRPr>
            </a:pPr>
            <a:endParaRPr lang="zh-CN"/>
          </a:p>
        </c:txPr>
        <c:crossAx val="239661056"/>
        <c:crosses val="autoZero"/>
        <c:auto val="1"/>
        <c:lblAlgn val="ctr"/>
        <c:lblOffset val="100"/>
        <c:noMultiLvlLbl val="0"/>
      </c:catAx>
      <c:valAx>
        <c:axId val="239661056"/>
        <c:scaling>
          <c:orientation val="minMax"/>
        </c:scaling>
        <c:delete val="0"/>
        <c:axPos val="l"/>
        <c:numFmt formatCode="General" sourceLinked="1"/>
        <c:majorTickMark val="out"/>
        <c:minorTickMark val="none"/>
        <c:tickLblPos val="nextTo"/>
        <c:crossAx val="239646976"/>
        <c:crosses val="autoZero"/>
        <c:crossBetween val="between"/>
      </c:valAx>
    </c:plotArea>
    <c:legend>
      <c:legendPos val="r"/>
      <c:layout>
        <c:manualLayout>
          <c:xMode val="edge"/>
          <c:yMode val="edge"/>
          <c:x val="7.0748987703912497E-2"/>
          <c:y val="0.18943095654709827"/>
          <c:w val="0.2397411500033084"/>
          <c:h val="0.16743438320209972"/>
        </c:manualLayout>
      </c:layout>
      <c:overlay val="0"/>
      <c:txPr>
        <a:bodyPr/>
        <a:lstStyle/>
        <a:p>
          <a:pPr>
            <a:defRPr sz="1050" b="1">
              <a:latin typeface="+mj-ea"/>
              <a:ea typeface="+mj-ea"/>
            </a:defRPr>
          </a:pPr>
          <a:endParaRPr lang="zh-CN"/>
        </a:p>
      </c:txPr>
    </c:legend>
    <c:plotVisOnly val="1"/>
    <c:dispBlanksAs val="gap"/>
    <c:showDLblsOverMax val="0"/>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ltLang="zh-CN" dirty="0">
                <a:latin typeface="+mj-ea"/>
                <a:ea typeface="+mj-ea"/>
              </a:rPr>
              <a:t>35</a:t>
            </a:r>
            <a:r>
              <a:rPr lang="zh-CN" altLang="en-US" dirty="0">
                <a:latin typeface="+mj-ea"/>
                <a:ea typeface="+mj-ea"/>
              </a:rPr>
              <a:t>城市利率变化情况</a:t>
            </a:r>
          </a:p>
        </c:rich>
      </c:tx>
      <c:layout>
        <c:manualLayout>
          <c:xMode val="edge"/>
          <c:yMode val="edge"/>
          <c:x val="0.33736293781456711"/>
          <c:y val="2.9535868249871894E-2"/>
        </c:manualLayout>
      </c:layout>
      <c:overlay val="0"/>
    </c:title>
    <c:autoTitleDeleted val="0"/>
    <c:plotArea>
      <c:layout>
        <c:manualLayout>
          <c:layoutTarget val="inner"/>
          <c:xMode val="edge"/>
          <c:yMode val="edge"/>
          <c:x val="6.9248455878827539E-2"/>
          <c:y val="0.26213327500729078"/>
          <c:w val="0.89851814740659863"/>
          <c:h val="0.60208734324876056"/>
        </c:manualLayout>
      </c:layout>
      <c:barChart>
        <c:barDir val="col"/>
        <c:grouping val="clustered"/>
        <c:varyColors val="0"/>
        <c:ser>
          <c:idx val="0"/>
          <c:order val="0"/>
          <c:tx>
            <c:strRef>
              <c:f>利率!$C$61</c:f>
              <c:strCache>
                <c:ptCount val="1"/>
                <c:pt idx="0">
                  <c:v>8月</c:v>
                </c:pt>
              </c:strCache>
            </c:strRef>
          </c:tx>
          <c:invertIfNegative val="0"/>
          <c:dLbls>
            <c:spPr>
              <a:noFill/>
              <a:ln>
                <a:noFill/>
              </a:ln>
              <a:effectLst/>
            </c:spPr>
            <c:txPr>
              <a:bodyPr/>
              <a:lstStyle/>
              <a:p>
                <a:pPr>
                  <a:defRPr sz="1100" b="1">
                    <a:latin typeface="+mj-ea"/>
                    <a:ea typeface="+mj-ea"/>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利率!$B$62:$B$64</c:f>
              <c:strCache>
                <c:ptCount val="3"/>
                <c:pt idx="0">
                  <c:v>利率环比下降</c:v>
                </c:pt>
                <c:pt idx="1">
                  <c:v>利率持平</c:v>
                </c:pt>
                <c:pt idx="2">
                  <c:v>利率环比上升</c:v>
                </c:pt>
              </c:strCache>
            </c:strRef>
          </c:cat>
          <c:val>
            <c:numRef>
              <c:f>利率!$C$62:$C$64</c:f>
              <c:numCache>
                <c:formatCode>General</c:formatCode>
                <c:ptCount val="3"/>
                <c:pt idx="0">
                  <c:v>10</c:v>
                </c:pt>
                <c:pt idx="1">
                  <c:v>19</c:v>
                </c:pt>
                <c:pt idx="2">
                  <c:v>6</c:v>
                </c:pt>
              </c:numCache>
            </c:numRef>
          </c:val>
          <c:extLst>
            <c:ext xmlns:c16="http://schemas.microsoft.com/office/drawing/2014/chart" uri="{C3380CC4-5D6E-409C-BE32-E72D297353CC}">
              <c16:uniqueId val="{00000000-13AA-41AC-B122-9CBE52D3C173}"/>
            </c:ext>
          </c:extLst>
        </c:ser>
        <c:ser>
          <c:idx val="1"/>
          <c:order val="1"/>
          <c:tx>
            <c:strRef>
              <c:f>利率!$D$61</c:f>
              <c:strCache>
                <c:ptCount val="1"/>
                <c:pt idx="0">
                  <c:v>9月</c:v>
                </c:pt>
              </c:strCache>
            </c:strRef>
          </c:tx>
          <c:invertIfNegative val="0"/>
          <c:dLbls>
            <c:spPr>
              <a:noFill/>
              <a:ln>
                <a:noFill/>
              </a:ln>
              <a:effectLst/>
            </c:spPr>
            <c:txPr>
              <a:bodyPr/>
              <a:lstStyle/>
              <a:p>
                <a:pPr>
                  <a:defRPr sz="1100" b="1">
                    <a:latin typeface="+mj-ea"/>
                    <a:ea typeface="+mj-ea"/>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利率!$B$62:$B$64</c:f>
              <c:strCache>
                <c:ptCount val="3"/>
                <c:pt idx="0">
                  <c:v>利率环比下降</c:v>
                </c:pt>
                <c:pt idx="1">
                  <c:v>利率持平</c:v>
                </c:pt>
                <c:pt idx="2">
                  <c:v>利率环比上升</c:v>
                </c:pt>
              </c:strCache>
            </c:strRef>
          </c:cat>
          <c:val>
            <c:numRef>
              <c:f>利率!$D$62:$D$64</c:f>
              <c:numCache>
                <c:formatCode>General</c:formatCode>
                <c:ptCount val="3"/>
                <c:pt idx="0">
                  <c:v>7</c:v>
                </c:pt>
                <c:pt idx="1">
                  <c:v>19</c:v>
                </c:pt>
                <c:pt idx="2">
                  <c:v>9</c:v>
                </c:pt>
              </c:numCache>
            </c:numRef>
          </c:val>
          <c:extLst>
            <c:ext xmlns:c16="http://schemas.microsoft.com/office/drawing/2014/chart" uri="{C3380CC4-5D6E-409C-BE32-E72D297353CC}">
              <c16:uniqueId val="{00000001-13AA-41AC-B122-9CBE52D3C173}"/>
            </c:ext>
          </c:extLst>
        </c:ser>
        <c:dLbls>
          <c:showLegendKey val="0"/>
          <c:showVal val="0"/>
          <c:showCatName val="0"/>
          <c:showSerName val="0"/>
          <c:showPercent val="0"/>
          <c:showBubbleSize val="0"/>
        </c:dLbls>
        <c:gapWidth val="150"/>
        <c:axId val="239578112"/>
        <c:axId val="239940352"/>
      </c:barChart>
      <c:catAx>
        <c:axId val="239578112"/>
        <c:scaling>
          <c:orientation val="minMax"/>
        </c:scaling>
        <c:delete val="0"/>
        <c:axPos val="b"/>
        <c:numFmt formatCode="General" sourceLinked="0"/>
        <c:majorTickMark val="out"/>
        <c:minorTickMark val="none"/>
        <c:tickLblPos val="nextTo"/>
        <c:txPr>
          <a:bodyPr/>
          <a:lstStyle/>
          <a:p>
            <a:pPr>
              <a:defRPr sz="1200" b="1">
                <a:latin typeface="+mj-ea"/>
                <a:ea typeface="+mj-ea"/>
              </a:defRPr>
            </a:pPr>
            <a:endParaRPr lang="zh-CN"/>
          </a:p>
        </c:txPr>
        <c:crossAx val="239940352"/>
        <c:crosses val="autoZero"/>
        <c:auto val="1"/>
        <c:lblAlgn val="ctr"/>
        <c:lblOffset val="100"/>
        <c:noMultiLvlLbl val="0"/>
      </c:catAx>
      <c:valAx>
        <c:axId val="239940352"/>
        <c:scaling>
          <c:orientation val="minMax"/>
          <c:max val="20"/>
          <c:min val="0"/>
        </c:scaling>
        <c:delete val="0"/>
        <c:axPos val="l"/>
        <c:numFmt formatCode="General" sourceLinked="1"/>
        <c:majorTickMark val="out"/>
        <c:minorTickMark val="none"/>
        <c:tickLblPos val="nextTo"/>
        <c:txPr>
          <a:bodyPr/>
          <a:lstStyle/>
          <a:p>
            <a:pPr>
              <a:defRPr sz="1100" b="1">
                <a:latin typeface="+mj-ea"/>
                <a:ea typeface="+mj-ea"/>
              </a:defRPr>
            </a:pPr>
            <a:endParaRPr lang="zh-CN"/>
          </a:p>
        </c:txPr>
        <c:crossAx val="239578112"/>
        <c:crosses val="autoZero"/>
        <c:crossBetween val="between"/>
        <c:majorUnit val="4"/>
      </c:valAx>
    </c:plotArea>
    <c:legend>
      <c:legendPos val="r"/>
      <c:layout>
        <c:manualLayout>
          <c:xMode val="edge"/>
          <c:yMode val="edge"/>
          <c:x val="0.70317688099964737"/>
          <c:y val="0.15702354913969088"/>
          <c:w val="0.2663175843189996"/>
          <c:h val="0.16743438320209975"/>
        </c:manualLayout>
      </c:layout>
      <c:overlay val="0"/>
      <c:txPr>
        <a:bodyPr/>
        <a:lstStyle/>
        <a:p>
          <a:pPr>
            <a:defRPr sz="1200"/>
          </a:pPr>
          <a:endParaRPr lang="zh-CN"/>
        </a:p>
      </c:txPr>
    </c:legend>
    <c:plotVisOnly val="1"/>
    <c:dispBlanksAs val="gap"/>
    <c:showDLblsOverMax val="0"/>
  </c:chart>
  <c:externalData r:id="rId1">
    <c:autoUpdate val="0"/>
  </c:externalData>
  <c:userShapes r:id="rId2"/>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sz="1600"/>
            </a:pPr>
            <a:r>
              <a:rPr lang="zh-CN" altLang="en-US" sz="1600">
                <a:latin typeface="微软雅黑" pitchFamily="34" charset="-122"/>
                <a:ea typeface="微软雅黑" pitchFamily="34" charset="-122"/>
              </a:rPr>
              <a:t>北京一手房新增供应走势</a:t>
            </a:r>
          </a:p>
        </c:rich>
      </c:tx>
      <c:layout>
        <c:manualLayout>
          <c:xMode val="edge"/>
          <c:yMode val="edge"/>
          <c:x val="0.33082770876536322"/>
          <c:y val="0"/>
        </c:manualLayout>
      </c:layout>
      <c:overlay val="0"/>
    </c:title>
    <c:autoTitleDeleted val="0"/>
    <c:plotArea>
      <c:layout>
        <c:manualLayout>
          <c:layoutTarget val="inner"/>
          <c:xMode val="edge"/>
          <c:yMode val="edge"/>
          <c:x val="7.5375087847822805E-2"/>
          <c:y val="0.22479996557807325"/>
          <c:w val="0.89097613254969699"/>
          <c:h val="0.66243104857794421"/>
        </c:manualLayout>
      </c:layout>
      <c:barChart>
        <c:barDir val="col"/>
        <c:grouping val="clustered"/>
        <c:varyColors val="0"/>
        <c:ser>
          <c:idx val="0"/>
          <c:order val="0"/>
          <c:tx>
            <c:strRef>
              <c:f>供应成交!$B$2</c:f>
              <c:strCache>
                <c:ptCount val="1"/>
                <c:pt idx="0">
                  <c:v>新增供应套数</c:v>
                </c:pt>
              </c:strCache>
            </c:strRef>
          </c:tx>
          <c:spPr>
            <a:solidFill>
              <a:srgbClr val="70B1DE"/>
            </a:solidFill>
            <a:ln>
              <a:noFill/>
            </a:ln>
            <a:effectLst>
              <a:outerShdw blurRad="50800" dist="12700" algn="l" rotWithShape="0">
                <a:prstClr val="black">
                  <a:alpha val="40000"/>
                </a:prstClr>
              </a:outerShdw>
            </a:effectLst>
          </c:spPr>
          <c:invertIfNegative val="0"/>
          <c:dLbls>
            <c:dLbl>
              <c:idx val="15"/>
              <c:layout>
                <c:manualLayout>
                  <c:x val="0"/>
                  <c:y val="2.6229508196721311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075E-453A-ACD5-5CBED5072A91}"/>
                </c:ext>
              </c:extLst>
            </c:dLbl>
            <c:dLbl>
              <c:idx val="16"/>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075E-453A-ACD5-5CBED5072A91}"/>
                </c:ext>
              </c:extLst>
            </c:dLbl>
            <c:dLbl>
              <c:idx val="17"/>
              <c:layout>
                <c:manualLayout>
                  <c:x val="0"/>
                  <c:y val="2.6229508196721353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075E-453A-ACD5-5CBED5072A91}"/>
                </c:ext>
              </c:extLst>
            </c:dLbl>
            <c:dLbl>
              <c:idx val="18"/>
              <c:layout>
                <c:manualLayout>
                  <c:x val="1.1444921316165951E-2"/>
                  <c:y val="4.8087431693989074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75E-453A-ACD5-5CBED5072A91}"/>
                </c:ext>
              </c:extLst>
            </c:dLbl>
            <c:dLbl>
              <c:idx val="19"/>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075E-453A-ACD5-5CBED5072A91}"/>
                </c:ext>
              </c:extLst>
            </c:dLbl>
            <c:dLbl>
              <c:idx val="20"/>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075E-453A-ACD5-5CBED5072A91}"/>
                </c:ext>
              </c:extLst>
            </c:dLbl>
            <c:numFmt formatCode="#,##0_);[Red]\(#,##0\)" sourceLinked="0"/>
            <c:spPr>
              <a:noFill/>
              <a:ln>
                <a:noFill/>
              </a:ln>
              <a:effectLst/>
            </c:spPr>
            <c:txPr>
              <a:bodyPr/>
              <a:lstStyle/>
              <a:p>
                <a:pPr>
                  <a:defRPr sz="1100" b="1">
                    <a:latin typeface="+mj-ea"/>
                    <a:ea typeface="+mj-ea"/>
                  </a:defRPr>
                </a:pPr>
                <a:endParaRPr lang="zh-CN"/>
              </a:p>
            </c:txPr>
            <c:dLblPos val="outEnd"/>
            <c:showLegendKey val="0"/>
            <c:showVal val="0"/>
            <c:showCatName val="0"/>
            <c:showSerName val="0"/>
            <c:showPercent val="0"/>
            <c:showBubbleSize val="0"/>
            <c:extLst>
              <c:ext xmlns:c15="http://schemas.microsoft.com/office/drawing/2012/chart" uri="{CE6537A1-D6FC-4f65-9D91-7224C49458BB}">
                <c15:showLeaderLines val="0"/>
              </c:ext>
            </c:extLst>
          </c:dLbls>
          <c:cat>
            <c:numRef>
              <c:f>供应成交!$A$15:$A$35</c:f>
              <c:numCache>
                <c:formatCode>yyyy"年"m"月"</c:formatCode>
                <c:ptCount val="21"/>
                <c:pt idx="0">
                  <c:v>42005</c:v>
                </c:pt>
                <c:pt idx="1">
                  <c:v>42036</c:v>
                </c:pt>
                <c:pt idx="2">
                  <c:v>42064</c:v>
                </c:pt>
                <c:pt idx="3">
                  <c:v>42095</c:v>
                </c:pt>
                <c:pt idx="4">
                  <c:v>42125</c:v>
                </c:pt>
                <c:pt idx="5">
                  <c:v>42156</c:v>
                </c:pt>
                <c:pt idx="6">
                  <c:v>42186</c:v>
                </c:pt>
                <c:pt idx="7">
                  <c:v>42217</c:v>
                </c:pt>
                <c:pt idx="8">
                  <c:v>42248</c:v>
                </c:pt>
                <c:pt idx="9">
                  <c:v>42278</c:v>
                </c:pt>
                <c:pt idx="10">
                  <c:v>42309</c:v>
                </c:pt>
                <c:pt idx="11">
                  <c:v>42339</c:v>
                </c:pt>
                <c:pt idx="12">
                  <c:v>42370</c:v>
                </c:pt>
                <c:pt idx="13">
                  <c:v>42401</c:v>
                </c:pt>
                <c:pt idx="14">
                  <c:v>42430</c:v>
                </c:pt>
                <c:pt idx="15">
                  <c:v>42461</c:v>
                </c:pt>
                <c:pt idx="16">
                  <c:v>42491</c:v>
                </c:pt>
                <c:pt idx="17">
                  <c:v>42522</c:v>
                </c:pt>
                <c:pt idx="18">
                  <c:v>42552</c:v>
                </c:pt>
                <c:pt idx="19">
                  <c:v>42583</c:v>
                </c:pt>
                <c:pt idx="20">
                  <c:v>42614</c:v>
                </c:pt>
              </c:numCache>
            </c:numRef>
          </c:cat>
          <c:val>
            <c:numRef>
              <c:f>供应成交!$B$15:$B$35</c:f>
              <c:numCache>
                <c:formatCode>General</c:formatCode>
                <c:ptCount val="21"/>
                <c:pt idx="0">
                  <c:v>10201</c:v>
                </c:pt>
                <c:pt idx="1">
                  <c:v>1406</c:v>
                </c:pt>
                <c:pt idx="2">
                  <c:v>5279</c:v>
                </c:pt>
                <c:pt idx="3">
                  <c:v>4888</c:v>
                </c:pt>
                <c:pt idx="4">
                  <c:v>8043</c:v>
                </c:pt>
                <c:pt idx="5">
                  <c:v>15530</c:v>
                </c:pt>
                <c:pt idx="6">
                  <c:v>16481</c:v>
                </c:pt>
                <c:pt idx="7">
                  <c:v>11696</c:v>
                </c:pt>
                <c:pt idx="8">
                  <c:v>10378</c:v>
                </c:pt>
                <c:pt idx="9">
                  <c:v>10544</c:v>
                </c:pt>
                <c:pt idx="10">
                  <c:v>14400</c:v>
                </c:pt>
                <c:pt idx="11">
                  <c:v>8876</c:v>
                </c:pt>
                <c:pt idx="12">
                  <c:v>7084</c:v>
                </c:pt>
                <c:pt idx="13">
                  <c:v>2025</c:v>
                </c:pt>
                <c:pt idx="14">
                  <c:v>8749</c:v>
                </c:pt>
                <c:pt idx="15">
                  <c:v>8085</c:v>
                </c:pt>
                <c:pt idx="16">
                  <c:v>9326</c:v>
                </c:pt>
                <c:pt idx="17">
                  <c:v>13800</c:v>
                </c:pt>
                <c:pt idx="18" formatCode="0.0_ ">
                  <c:v>13097</c:v>
                </c:pt>
                <c:pt idx="19" formatCode="0.0_ ">
                  <c:v>5631</c:v>
                </c:pt>
                <c:pt idx="20" formatCode="0.0_ ">
                  <c:v>7950</c:v>
                </c:pt>
              </c:numCache>
            </c:numRef>
          </c:val>
          <c:extLst>
            <c:ext xmlns:c16="http://schemas.microsoft.com/office/drawing/2014/chart" uri="{C3380CC4-5D6E-409C-BE32-E72D297353CC}">
              <c16:uniqueId val="{00000006-075E-453A-ACD5-5CBED5072A91}"/>
            </c:ext>
          </c:extLst>
        </c:ser>
        <c:dLbls>
          <c:dLblPos val="outEnd"/>
          <c:showLegendKey val="0"/>
          <c:showVal val="1"/>
          <c:showCatName val="0"/>
          <c:showSerName val="0"/>
          <c:showPercent val="0"/>
          <c:showBubbleSize val="0"/>
        </c:dLbls>
        <c:gapWidth val="219"/>
        <c:axId val="239755648"/>
        <c:axId val="239757568"/>
      </c:barChart>
      <c:lineChart>
        <c:grouping val="standard"/>
        <c:varyColors val="0"/>
        <c:ser>
          <c:idx val="1"/>
          <c:order val="1"/>
          <c:tx>
            <c:strRef>
              <c:f>供应成交!$C$2</c:f>
              <c:strCache>
                <c:ptCount val="1"/>
                <c:pt idx="0">
                  <c:v>新增供应面积(万㎡)</c:v>
                </c:pt>
              </c:strCache>
            </c:strRef>
          </c:tx>
          <c:marker>
            <c:symbol val="square"/>
            <c:size val="5"/>
          </c:marker>
          <c:cat>
            <c:numRef>
              <c:f>供应成交!$A$15:$A$35</c:f>
              <c:numCache>
                <c:formatCode>yyyy"年"m"月"</c:formatCode>
                <c:ptCount val="21"/>
                <c:pt idx="0">
                  <c:v>42005</c:v>
                </c:pt>
                <c:pt idx="1">
                  <c:v>42036</c:v>
                </c:pt>
                <c:pt idx="2">
                  <c:v>42064</c:v>
                </c:pt>
                <c:pt idx="3">
                  <c:v>42095</c:v>
                </c:pt>
                <c:pt idx="4">
                  <c:v>42125</c:v>
                </c:pt>
                <c:pt idx="5">
                  <c:v>42156</c:v>
                </c:pt>
                <c:pt idx="6">
                  <c:v>42186</c:v>
                </c:pt>
                <c:pt idx="7">
                  <c:v>42217</c:v>
                </c:pt>
                <c:pt idx="8">
                  <c:v>42248</c:v>
                </c:pt>
                <c:pt idx="9">
                  <c:v>42278</c:v>
                </c:pt>
                <c:pt idx="10">
                  <c:v>42309</c:v>
                </c:pt>
                <c:pt idx="11">
                  <c:v>42339</c:v>
                </c:pt>
                <c:pt idx="12">
                  <c:v>42370</c:v>
                </c:pt>
                <c:pt idx="13">
                  <c:v>42401</c:v>
                </c:pt>
                <c:pt idx="14">
                  <c:v>42430</c:v>
                </c:pt>
                <c:pt idx="15">
                  <c:v>42461</c:v>
                </c:pt>
                <c:pt idx="16">
                  <c:v>42491</c:v>
                </c:pt>
                <c:pt idx="17">
                  <c:v>42522</c:v>
                </c:pt>
                <c:pt idx="18">
                  <c:v>42552</c:v>
                </c:pt>
                <c:pt idx="19">
                  <c:v>42583</c:v>
                </c:pt>
                <c:pt idx="20">
                  <c:v>42614</c:v>
                </c:pt>
              </c:numCache>
            </c:numRef>
          </c:cat>
          <c:val>
            <c:numRef>
              <c:f>供应成交!$C$15:$C$35</c:f>
              <c:numCache>
                <c:formatCode>0.0_ </c:formatCode>
                <c:ptCount val="21"/>
                <c:pt idx="0">
                  <c:v>88.98</c:v>
                </c:pt>
                <c:pt idx="1">
                  <c:v>19.61</c:v>
                </c:pt>
                <c:pt idx="2">
                  <c:v>68.31</c:v>
                </c:pt>
                <c:pt idx="3">
                  <c:v>65.34</c:v>
                </c:pt>
                <c:pt idx="4">
                  <c:v>95.27</c:v>
                </c:pt>
                <c:pt idx="5">
                  <c:v>155.16999999999999</c:v>
                </c:pt>
                <c:pt idx="6">
                  <c:v>194.97</c:v>
                </c:pt>
                <c:pt idx="7">
                  <c:v>137.06</c:v>
                </c:pt>
                <c:pt idx="8">
                  <c:v>133.27000000000001</c:v>
                </c:pt>
                <c:pt idx="9">
                  <c:v>116.35</c:v>
                </c:pt>
                <c:pt idx="10">
                  <c:v>177.13</c:v>
                </c:pt>
                <c:pt idx="11">
                  <c:v>114.29</c:v>
                </c:pt>
                <c:pt idx="12">
                  <c:v>69.72</c:v>
                </c:pt>
                <c:pt idx="13">
                  <c:v>22.27</c:v>
                </c:pt>
                <c:pt idx="14">
                  <c:v>87.65</c:v>
                </c:pt>
                <c:pt idx="15">
                  <c:v>85.07</c:v>
                </c:pt>
                <c:pt idx="16">
                  <c:v>104.12</c:v>
                </c:pt>
                <c:pt idx="17">
                  <c:v>165.46</c:v>
                </c:pt>
                <c:pt idx="18" formatCode="General">
                  <c:v>121.59</c:v>
                </c:pt>
                <c:pt idx="19" formatCode="General">
                  <c:v>58.21</c:v>
                </c:pt>
                <c:pt idx="20" formatCode="General">
                  <c:v>90.7</c:v>
                </c:pt>
              </c:numCache>
            </c:numRef>
          </c:val>
          <c:smooth val="0"/>
          <c:extLst>
            <c:ext xmlns:c16="http://schemas.microsoft.com/office/drawing/2014/chart" uri="{C3380CC4-5D6E-409C-BE32-E72D297353CC}">
              <c16:uniqueId val="{00000007-075E-453A-ACD5-5CBED5072A91}"/>
            </c:ext>
          </c:extLst>
        </c:ser>
        <c:dLbls>
          <c:showLegendKey val="0"/>
          <c:showVal val="0"/>
          <c:showCatName val="0"/>
          <c:showSerName val="0"/>
          <c:showPercent val="0"/>
          <c:showBubbleSize val="0"/>
        </c:dLbls>
        <c:marker val="1"/>
        <c:smooth val="0"/>
        <c:axId val="239765376"/>
        <c:axId val="239763456"/>
      </c:lineChart>
      <c:dateAx>
        <c:axId val="239755648"/>
        <c:scaling>
          <c:orientation val="minMax"/>
        </c:scaling>
        <c:delete val="0"/>
        <c:axPos val="b"/>
        <c:title>
          <c:tx>
            <c:rich>
              <a:bodyPr/>
              <a:lstStyle/>
              <a:p>
                <a:pPr>
                  <a:defRPr sz="1100">
                    <a:latin typeface="+mj-ea"/>
                    <a:ea typeface="+mj-ea"/>
                  </a:defRPr>
                </a:pPr>
                <a:r>
                  <a:rPr lang="zh-CN" altLang="en-US" sz="1100">
                    <a:latin typeface="+mj-ea"/>
                    <a:ea typeface="+mj-ea"/>
                  </a:rPr>
                  <a:t>套</a:t>
                </a:r>
              </a:p>
            </c:rich>
          </c:tx>
          <c:layout>
            <c:manualLayout>
              <c:xMode val="edge"/>
              <c:yMode val="edge"/>
              <c:x val="2.7134349662458611E-2"/>
              <c:y val="9.5068886880943185E-2"/>
            </c:manualLayout>
          </c:layout>
          <c:overlay val="0"/>
        </c:title>
        <c:numFmt formatCode="yyyy&quot;年&quot;m&quot;月&quot;" sourceLinked="1"/>
        <c:majorTickMark val="out"/>
        <c:minorTickMark val="none"/>
        <c:tickLblPos val="nextTo"/>
        <c:spPr>
          <a:noFill/>
          <a:ln w="9525" cap="flat" cmpd="sng" algn="ctr">
            <a:solidFill>
              <a:sysClr val="window" lastClr="FFFFFF">
                <a:lumMod val="65000"/>
              </a:sys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微软雅黑" pitchFamily="34" charset="-122"/>
                <a:ea typeface="微软雅黑" pitchFamily="34" charset="-122"/>
                <a:cs typeface="+mn-cs"/>
              </a:defRPr>
            </a:pPr>
            <a:endParaRPr lang="zh-CN"/>
          </a:p>
        </c:txPr>
        <c:crossAx val="239757568"/>
        <c:crosses val="autoZero"/>
        <c:auto val="1"/>
        <c:lblOffset val="100"/>
        <c:baseTimeUnit val="months"/>
        <c:majorUnit val="3"/>
        <c:majorTimeUnit val="months"/>
      </c:dateAx>
      <c:valAx>
        <c:axId val="239757568"/>
        <c:scaling>
          <c:orientation val="minMax"/>
          <c:max val="20000"/>
          <c:min val="0"/>
        </c:scaling>
        <c:delete val="0"/>
        <c:axPos val="l"/>
        <c:majorGridlines>
          <c:spPr>
            <a:ln w="9525" cap="flat" cmpd="sng" algn="ctr">
              <a:solidFill>
                <a:schemeClr val="bg1">
                  <a:lumMod val="95000"/>
                </a:schemeClr>
              </a:solidFill>
              <a:round/>
            </a:ln>
            <a:effectLst/>
          </c:spPr>
        </c:majorGridlines>
        <c:numFmt formatCode="0_ " sourceLinked="0"/>
        <c:majorTickMark val="out"/>
        <c:minorTickMark val="none"/>
        <c:tickLblPos val="nextTo"/>
        <c:txPr>
          <a:bodyPr/>
          <a:lstStyle/>
          <a:p>
            <a:pPr>
              <a:defRPr sz="1000">
                <a:solidFill>
                  <a:schemeClr val="tx1"/>
                </a:solidFill>
                <a:latin typeface="微软雅黑" pitchFamily="34" charset="-122"/>
                <a:ea typeface="微软雅黑" pitchFamily="34" charset="-122"/>
              </a:defRPr>
            </a:pPr>
            <a:endParaRPr lang="zh-CN"/>
          </a:p>
        </c:txPr>
        <c:crossAx val="239755648"/>
        <c:crosses val="autoZero"/>
        <c:crossBetween val="between"/>
        <c:majorUnit val="5000"/>
      </c:valAx>
      <c:valAx>
        <c:axId val="239763456"/>
        <c:scaling>
          <c:orientation val="minMax"/>
        </c:scaling>
        <c:delete val="0"/>
        <c:axPos val="r"/>
        <c:title>
          <c:tx>
            <c:rich>
              <a:bodyPr rot="0" vert="horz"/>
              <a:lstStyle/>
              <a:p>
                <a:pPr>
                  <a:defRPr sz="1100">
                    <a:latin typeface="+mj-ea"/>
                    <a:ea typeface="+mj-ea"/>
                  </a:defRPr>
                </a:pPr>
                <a:r>
                  <a:rPr lang="zh-CN" altLang="en-US" sz="1100">
                    <a:latin typeface="+mj-ea"/>
                    <a:ea typeface="+mj-ea"/>
                  </a:rPr>
                  <a:t>万㎡</a:t>
                </a:r>
              </a:p>
            </c:rich>
          </c:tx>
          <c:layout>
            <c:manualLayout>
              <c:xMode val="edge"/>
              <c:yMode val="edge"/>
              <c:x val="0.93422486379395742"/>
              <c:y val="0.1166710554623295"/>
            </c:manualLayout>
          </c:layout>
          <c:overlay val="0"/>
        </c:title>
        <c:numFmt formatCode="0.0_ " sourceLinked="1"/>
        <c:majorTickMark val="out"/>
        <c:minorTickMark val="none"/>
        <c:tickLblPos val="nextTo"/>
        <c:txPr>
          <a:bodyPr/>
          <a:lstStyle/>
          <a:p>
            <a:pPr>
              <a:defRPr sz="1050">
                <a:latin typeface="微软雅黑" pitchFamily="34" charset="-122"/>
                <a:ea typeface="微软雅黑" pitchFamily="34" charset="-122"/>
              </a:defRPr>
            </a:pPr>
            <a:endParaRPr lang="zh-CN"/>
          </a:p>
        </c:txPr>
        <c:crossAx val="239765376"/>
        <c:crosses val="max"/>
        <c:crossBetween val="between"/>
      </c:valAx>
      <c:dateAx>
        <c:axId val="239765376"/>
        <c:scaling>
          <c:orientation val="minMax"/>
        </c:scaling>
        <c:delete val="1"/>
        <c:axPos val="b"/>
        <c:numFmt formatCode="yyyy&quot;年&quot;m&quot;月&quot;" sourceLinked="1"/>
        <c:majorTickMark val="out"/>
        <c:minorTickMark val="none"/>
        <c:tickLblPos val="nextTo"/>
        <c:crossAx val="239763456"/>
        <c:crosses val="autoZero"/>
        <c:auto val="1"/>
        <c:lblOffset val="100"/>
        <c:baseTimeUnit val="months"/>
      </c:dateAx>
      <c:spPr>
        <a:noFill/>
        <a:ln>
          <a:noFill/>
        </a:ln>
        <a:effectLst/>
      </c:spPr>
    </c:plotArea>
    <c:legend>
      <c:legendPos val="b"/>
      <c:layout>
        <c:manualLayout>
          <c:xMode val="edge"/>
          <c:yMode val="edge"/>
          <c:x val="0.23483878353606102"/>
          <c:y val="0.17298980250419518"/>
          <c:w val="0.50071923030423571"/>
          <c:h val="8.9069833483929273E-2"/>
        </c:manualLayout>
      </c:layout>
      <c:overlay val="0"/>
      <c:spPr>
        <a:noFill/>
        <a:ln>
          <a:noFill/>
        </a:ln>
        <a:effectLst/>
      </c:spPr>
      <c:txPr>
        <a:bodyPr rot="0" spcFirstLastPara="1" vertOverflow="ellipsis" vert="horz" wrap="square" anchor="ctr" anchorCtr="1"/>
        <a:lstStyle/>
        <a:p>
          <a:pPr>
            <a:defRPr sz="1200" b="1" i="0" u="none" strike="noStrike" kern="1200" baseline="0">
              <a:solidFill>
                <a:schemeClr val="tx1"/>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chart>
  <c:spPr>
    <a:noFill/>
    <a:ln w="9525" cap="flat" cmpd="sng" algn="ctr">
      <a:noFill/>
      <a:round/>
    </a:ln>
    <a:effectLst/>
  </c:spPr>
  <c:txPr>
    <a:bodyPr/>
    <a:lstStyle/>
    <a:p>
      <a:pPr>
        <a:defRPr/>
      </a:pPr>
      <a:endParaRPr lang="zh-CN"/>
    </a:p>
  </c:txPr>
  <c:externalData r:id="rId2">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600"/>
            </a:pPr>
            <a:r>
              <a:rPr lang="en-US" altLang="zh-CN" sz="1600" b="1" dirty="0">
                <a:latin typeface="微软雅黑" pitchFamily="34" charset="-122"/>
                <a:ea typeface="微软雅黑" pitchFamily="34" charset="-122"/>
              </a:rPr>
              <a:t>2016</a:t>
            </a:r>
            <a:r>
              <a:rPr lang="zh-CN" altLang="en-US" sz="1600" b="1" dirty="0">
                <a:latin typeface="微软雅黑" pitchFamily="34" charset="-122"/>
                <a:ea typeface="微软雅黑" pitchFamily="34" charset="-122"/>
              </a:rPr>
              <a:t>年</a:t>
            </a:r>
            <a:r>
              <a:rPr lang="en-US" altLang="zh-CN" sz="1600" b="1" dirty="0">
                <a:latin typeface="微软雅黑" pitchFamily="34" charset="-122"/>
                <a:ea typeface="微软雅黑" pitchFamily="34" charset="-122"/>
              </a:rPr>
              <a:t>9</a:t>
            </a:r>
            <a:r>
              <a:rPr lang="zh-CN" altLang="en-US" sz="1600" b="1" dirty="0">
                <a:latin typeface="微软雅黑" pitchFamily="34" charset="-122"/>
                <a:ea typeface="微软雅黑" pitchFamily="34" charset="-122"/>
              </a:rPr>
              <a:t>月北京一手房各行政区新增供应套数情况</a:t>
            </a:r>
          </a:p>
        </c:rich>
      </c:tx>
      <c:overlay val="0"/>
    </c:title>
    <c:autoTitleDeleted val="0"/>
    <c:plotArea>
      <c:layout>
        <c:manualLayout>
          <c:layoutTarget val="inner"/>
          <c:xMode val="edge"/>
          <c:yMode val="edge"/>
          <c:x val="0.10015507436570428"/>
          <c:y val="0.219919072615923"/>
          <c:w val="0.86667459733000995"/>
          <c:h val="0.59478019504384971"/>
        </c:manualLayout>
      </c:layout>
      <c:barChart>
        <c:barDir val="col"/>
        <c:grouping val="clustered"/>
        <c:varyColors val="0"/>
        <c:ser>
          <c:idx val="0"/>
          <c:order val="0"/>
          <c:tx>
            <c:strRef>
              <c:f>供应成交!$H$170</c:f>
              <c:strCache>
                <c:ptCount val="1"/>
                <c:pt idx="0">
                  <c:v>新增套数</c:v>
                </c:pt>
              </c:strCache>
            </c:strRef>
          </c:tx>
          <c:invertIfNegative val="0"/>
          <c:dPt>
            <c:idx val="0"/>
            <c:invertIfNegative val="0"/>
            <c:bubble3D val="0"/>
            <c:spPr>
              <a:solidFill>
                <a:srgbClr val="FF0000"/>
              </a:solidFill>
            </c:spPr>
            <c:extLst>
              <c:ext xmlns:c16="http://schemas.microsoft.com/office/drawing/2014/chart" uri="{C3380CC4-5D6E-409C-BE32-E72D297353CC}">
                <c16:uniqueId val="{00000001-CE4F-4FA4-B358-81A428FBFE87}"/>
              </c:ext>
            </c:extLst>
          </c:dPt>
          <c:dLbls>
            <c:spPr>
              <a:noFill/>
              <a:ln>
                <a:noFill/>
              </a:ln>
              <a:effectLst/>
            </c:spPr>
            <c:txPr>
              <a:bodyPr/>
              <a:lstStyle/>
              <a:p>
                <a:pPr>
                  <a:defRPr sz="1050" b="1"/>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供应成交!$G$171:$G$180</c:f>
              <c:strCache>
                <c:ptCount val="10"/>
                <c:pt idx="0">
                  <c:v>房山</c:v>
                </c:pt>
                <c:pt idx="1">
                  <c:v>大兴</c:v>
                </c:pt>
                <c:pt idx="2">
                  <c:v>顺义</c:v>
                </c:pt>
                <c:pt idx="3">
                  <c:v>丰台</c:v>
                </c:pt>
                <c:pt idx="4">
                  <c:v>朝阳</c:v>
                </c:pt>
                <c:pt idx="5">
                  <c:v>昌平</c:v>
                </c:pt>
                <c:pt idx="6">
                  <c:v>海淀</c:v>
                </c:pt>
                <c:pt idx="7">
                  <c:v>门头沟</c:v>
                </c:pt>
                <c:pt idx="8">
                  <c:v>怀柔</c:v>
                </c:pt>
                <c:pt idx="9">
                  <c:v>密云</c:v>
                </c:pt>
              </c:strCache>
            </c:strRef>
          </c:cat>
          <c:val>
            <c:numRef>
              <c:f>供应成交!$H$171:$H$180</c:f>
              <c:numCache>
                <c:formatCode>General</c:formatCode>
                <c:ptCount val="10"/>
                <c:pt idx="0">
                  <c:v>2170</c:v>
                </c:pt>
                <c:pt idx="1">
                  <c:v>1872</c:v>
                </c:pt>
                <c:pt idx="2">
                  <c:v>1733</c:v>
                </c:pt>
                <c:pt idx="3">
                  <c:v>744</c:v>
                </c:pt>
                <c:pt idx="4">
                  <c:v>698</c:v>
                </c:pt>
                <c:pt idx="5">
                  <c:v>418</c:v>
                </c:pt>
                <c:pt idx="6">
                  <c:v>154</c:v>
                </c:pt>
                <c:pt idx="7">
                  <c:v>109</c:v>
                </c:pt>
                <c:pt idx="8">
                  <c:v>40</c:v>
                </c:pt>
                <c:pt idx="9">
                  <c:v>12</c:v>
                </c:pt>
              </c:numCache>
            </c:numRef>
          </c:val>
          <c:extLst>
            <c:ext xmlns:c16="http://schemas.microsoft.com/office/drawing/2014/chart" uri="{C3380CC4-5D6E-409C-BE32-E72D297353CC}">
              <c16:uniqueId val="{00000002-CE4F-4FA4-B358-81A428FBFE87}"/>
            </c:ext>
          </c:extLst>
        </c:ser>
        <c:dLbls>
          <c:showLegendKey val="0"/>
          <c:showVal val="0"/>
          <c:showCatName val="0"/>
          <c:showSerName val="0"/>
          <c:showPercent val="0"/>
          <c:showBubbleSize val="0"/>
        </c:dLbls>
        <c:gapWidth val="150"/>
        <c:axId val="238712320"/>
        <c:axId val="238713856"/>
      </c:barChart>
      <c:catAx>
        <c:axId val="238712320"/>
        <c:scaling>
          <c:orientation val="minMax"/>
        </c:scaling>
        <c:delete val="0"/>
        <c:axPos val="b"/>
        <c:numFmt formatCode="General" sourceLinked="0"/>
        <c:majorTickMark val="out"/>
        <c:minorTickMark val="none"/>
        <c:tickLblPos val="nextTo"/>
        <c:txPr>
          <a:bodyPr/>
          <a:lstStyle/>
          <a:p>
            <a:pPr>
              <a:defRPr sz="1100" b="1">
                <a:latin typeface="微软雅黑" pitchFamily="34" charset="-122"/>
                <a:ea typeface="微软雅黑" pitchFamily="34" charset="-122"/>
              </a:defRPr>
            </a:pPr>
            <a:endParaRPr lang="zh-CN"/>
          </a:p>
        </c:txPr>
        <c:crossAx val="238713856"/>
        <c:crosses val="autoZero"/>
        <c:auto val="1"/>
        <c:lblAlgn val="ctr"/>
        <c:lblOffset val="100"/>
        <c:noMultiLvlLbl val="0"/>
      </c:catAx>
      <c:valAx>
        <c:axId val="238713856"/>
        <c:scaling>
          <c:orientation val="minMax"/>
        </c:scaling>
        <c:delete val="0"/>
        <c:axPos val="l"/>
        <c:numFmt formatCode="General" sourceLinked="1"/>
        <c:majorTickMark val="out"/>
        <c:minorTickMark val="none"/>
        <c:tickLblPos val="nextTo"/>
        <c:txPr>
          <a:bodyPr/>
          <a:lstStyle/>
          <a:p>
            <a:pPr>
              <a:defRPr sz="900" b="0">
                <a:latin typeface="微软雅黑" pitchFamily="34" charset="-122"/>
                <a:ea typeface="微软雅黑" pitchFamily="34" charset="-122"/>
              </a:defRPr>
            </a:pPr>
            <a:endParaRPr lang="zh-CN"/>
          </a:p>
        </c:txPr>
        <c:crossAx val="238712320"/>
        <c:crosses val="autoZero"/>
        <c:crossBetween val="between"/>
      </c:valAx>
    </c:plotArea>
    <c:plotVisOnly val="1"/>
    <c:dispBlanksAs val="gap"/>
    <c:showDLblsOverMax val="0"/>
  </c:chart>
  <c:spPr>
    <a:ln>
      <a:noFill/>
    </a:ln>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600"/>
            </a:pPr>
            <a:r>
              <a:rPr lang="en-US" altLang="zh-CN" sz="1600" dirty="0"/>
              <a:t>2016</a:t>
            </a:r>
            <a:r>
              <a:rPr lang="zh-CN" altLang="en-US" sz="1600" dirty="0"/>
              <a:t>年</a:t>
            </a:r>
            <a:r>
              <a:rPr lang="en-US" altLang="zh-CN" sz="1600" dirty="0"/>
              <a:t>1-9</a:t>
            </a:r>
            <a:r>
              <a:rPr lang="zh-CN" altLang="en-US" sz="1600" dirty="0"/>
              <a:t>月</a:t>
            </a:r>
            <a:r>
              <a:rPr lang="zh-CN" sz="1600" dirty="0"/>
              <a:t>北京一手房各行政区新增供应套数情况</a:t>
            </a:r>
          </a:p>
        </c:rich>
      </c:tx>
      <c:layout>
        <c:manualLayout>
          <c:xMode val="edge"/>
          <c:yMode val="edge"/>
          <c:x val="0.16700533613031193"/>
          <c:y val="2.7777777777777776E-2"/>
        </c:manualLayout>
      </c:layout>
      <c:overlay val="0"/>
    </c:title>
    <c:autoTitleDeleted val="0"/>
    <c:plotArea>
      <c:layout>
        <c:manualLayout>
          <c:layoutTarget val="inner"/>
          <c:xMode val="edge"/>
          <c:yMode val="edge"/>
          <c:x val="0.10015507436570428"/>
          <c:y val="0.219919072615923"/>
          <c:w val="0.86667459733000995"/>
          <c:h val="0.6353947944006999"/>
        </c:manualLayout>
      </c:layout>
      <c:barChart>
        <c:barDir val="col"/>
        <c:grouping val="clustered"/>
        <c:varyColors val="0"/>
        <c:ser>
          <c:idx val="0"/>
          <c:order val="0"/>
          <c:tx>
            <c:strRef>
              <c:f>供应成交!$H$184</c:f>
              <c:strCache>
                <c:ptCount val="1"/>
                <c:pt idx="0">
                  <c:v>新增套数</c:v>
                </c:pt>
              </c:strCache>
            </c:strRef>
          </c:tx>
          <c:invertIfNegative val="0"/>
          <c:dPt>
            <c:idx val="0"/>
            <c:invertIfNegative val="0"/>
            <c:bubble3D val="0"/>
            <c:spPr>
              <a:solidFill>
                <a:srgbClr val="FF0000"/>
              </a:solidFill>
            </c:spPr>
            <c:extLst>
              <c:ext xmlns:c16="http://schemas.microsoft.com/office/drawing/2014/chart" uri="{C3380CC4-5D6E-409C-BE32-E72D297353CC}">
                <c16:uniqueId val="{00000001-4BFD-4A69-8955-ADF89BD9E8EF}"/>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供应成交!$G$185:$G$200</c:f>
              <c:strCache>
                <c:ptCount val="16"/>
                <c:pt idx="0">
                  <c:v>房山</c:v>
                </c:pt>
                <c:pt idx="1">
                  <c:v>大兴</c:v>
                </c:pt>
                <c:pt idx="2">
                  <c:v>顺义</c:v>
                </c:pt>
                <c:pt idx="3">
                  <c:v>通州</c:v>
                </c:pt>
                <c:pt idx="4">
                  <c:v>门头沟</c:v>
                </c:pt>
                <c:pt idx="5">
                  <c:v>平谷</c:v>
                </c:pt>
                <c:pt idx="6">
                  <c:v>昌平</c:v>
                </c:pt>
                <c:pt idx="7">
                  <c:v>丰台</c:v>
                </c:pt>
                <c:pt idx="8">
                  <c:v>朝阳</c:v>
                </c:pt>
                <c:pt idx="9">
                  <c:v>海淀</c:v>
                </c:pt>
                <c:pt idx="10">
                  <c:v>石景山</c:v>
                </c:pt>
                <c:pt idx="11">
                  <c:v>密云</c:v>
                </c:pt>
                <c:pt idx="12">
                  <c:v>东城</c:v>
                </c:pt>
                <c:pt idx="13">
                  <c:v>延庆</c:v>
                </c:pt>
                <c:pt idx="14">
                  <c:v>西城</c:v>
                </c:pt>
                <c:pt idx="15">
                  <c:v>怀柔</c:v>
                </c:pt>
              </c:strCache>
            </c:strRef>
          </c:cat>
          <c:val>
            <c:numRef>
              <c:f>供应成交!$H$185:$H$200</c:f>
              <c:numCache>
                <c:formatCode>General</c:formatCode>
                <c:ptCount val="16"/>
                <c:pt idx="0">
                  <c:v>14154</c:v>
                </c:pt>
                <c:pt idx="1">
                  <c:v>8884</c:v>
                </c:pt>
                <c:pt idx="2">
                  <c:v>8728</c:v>
                </c:pt>
                <c:pt idx="3">
                  <c:v>7962</c:v>
                </c:pt>
                <c:pt idx="4">
                  <c:v>7415</c:v>
                </c:pt>
                <c:pt idx="5">
                  <c:v>6732</c:v>
                </c:pt>
                <c:pt idx="6">
                  <c:v>6478</c:v>
                </c:pt>
                <c:pt idx="7">
                  <c:v>5939</c:v>
                </c:pt>
                <c:pt idx="8">
                  <c:v>3966</c:v>
                </c:pt>
                <c:pt idx="9">
                  <c:v>3194</c:v>
                </c:pt>
                <c:pt idx="10">
                  <c:v>1147</c:v>
                </c:pt>
                <c:pt idx="11">
                  <c:v>506</c:v>
                </c:pt>
                <c:pt idx="12">
                  <c:v>304</c:v>
                </c:pt>
                <c:pt idx="13">
                  <c:v>235</c:v>
                </c:pt>
                <c:pt idx="14">
                  <c:v>233</c:v>
                </c:pt>
                <c:pt idx="15">
                  <c:v>43</c:v>
                </c:pt>
              </c:numCache>
            </c:numRef>
          </c:val>
          <c:extLst>
            <c:ext xmlns:c16="http://schemas.microsoft.com/office/drawing/2014/chart" uri="{C3380CC4-5D6E-409C-BE32-E72D297353CC}">
              <c16:uniqueId val="{00000002-4BFD-4A69-8955-ADF89BD9E8EF}"/>
            </c:ext>
          </c:extLst>
        </c:ser>
        <c:dLbls>
          <c:showLegendKey val="0"/>
          <c:showVal val="0"/>
          <c:showCatName val="0"/>
          <c:showSerName val="0"/>
          <c:showPercent val="0"/>
          <c:showBubbleSize val="0"/>
        </c:dLbls>
        <c:gapWidth val="150"/>
        <c:axId val="238742912"/>
        <c:axId val="238756992"/>
      </c:barChart>
      <c:catAx>
        <c:axId val="238742912"/>
        <c:scaling>
          <c:orientation val="minMax"/>
        </c:scaling>
        <c:delete val="0"/>
        <c:axPos val="b"/>
        <c:numFmt formatCode="General" sourceLinked="0"/>
        <c:majorTickMark val="out"/>
        <c:minorTickMark val="none"/>
        <c:tickLblPos val="nextTo"/>
        <c:txPr>
          <a:bodyPr/>
          <a:lstStyle/>
          <a:p>
            <a:pPr>
              <a:defRPr b="1"/>
            </a:pPr>
            <a:endParaRPr lang="zh-CN"/>
          </a:p>
        </c:txPr>
        <c:crossAx val="238756992"/>
        <c:crosses val="autoZero"/>
        <c:auto val="1"/>
        <c:lblAlgn val="ctr"/>
        <c:lblOffset val="100"/>
        <c:noMultiLvlLbl val="0"/>
      </c:catAx>
      <c:valAx>
        <c:axId val="238756992"/>
        <c:scaling>
          <c:orientation val="minMax"/>
        </c:scaling>
        <c:delete val="0"/>
        <c:axPos val="l"/>
        <c:numFmt formatCode="General" sourceLinked="1"/>
        <c:majorTickMark val="out"/>
        <c:minorTickMark val="none"/>
        <c:tickLblPos val="nextTo"/>
        <c:crossAx val="238742912"/>
        <c:crosses val="autoZero"/>
        <c:crossBetween val="between"/>
      </c:valAx>
    </c:plotArea>
    <c:plotVisOnly val="1"/>
    <c:dispBlanksAs val="gap"/>
    <c:showDLblsOverMax val="0"/>
  </c:chart>
  <c:spPr>
    <a:ln>
      <a:noFill/>
    </a:ln>
  </c:spPr>
  <c:txPr>
    <a:bodyPr/>
    <a:lstStyle/>
    <a:p>
      <a:pPr>
        <a:defRPr>
          <a:latin typeface="微软雅黑" pitchFamily="34" charset="-122"/>
          <a:ea typeface="微软雅黑" pitchFamily="34" charset="-122"/>
        </a:defRPr>
      </a:pPr>
      <a:endParaRPr lang="zh-CN"/>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vert="horz"/>
          <a:lstStyle/>
          <a:p>
            <a:pPr>
              <a:defRPr/>
            </a:pPr>
            <a:r>
              <a:rPr lang="zh-CN"/>
              <a:t>北京各业态新增供应面积对比</a:t>
            </a:r>
          </a:p>
        </c:rich>
      </c:tx>
      <c:layout>
        <c:manualLayout>
          <c:xMode val="edge"/>
          <c:yMode val="edge"/>
          <c:x val="0.29534858502530559"/>
          <c:y val="3.9306450330072375E-3"/>
        </c:manualLayout>
      </c:layout>
      <c:overlay val="0"/>
      <c:spPr>
        <a:noFill/>
        <a:ln>
          <a:noFill/>
        </a:ln>
        <a:effectLst/>
      </c:spPr>
    </c:title>
    <c:autoTitleDeleted val="0"/>
    <c:plotArea>
      <c:layout>
        <c:manualLayout>
          <c:layoutTarget val="inner"/>
          <c:xMode val="edge"/>
          <c:yMode val="edge"/>
          <c:x val="5.9327409761853162E-2"/>
          <c:y val="0.25992875890513684"/>
          <c:w val="0.89658471435031972"/>
          <c:h val="0.5628272619810325"/>
        </c:manualLayout>
      </c:layout>
      <c:barChart>
        <c:barDir val="col"/>
        <c:grouping val="clustered"/>
        <c:varyColors val="0"/>
        <c:ser>
          <c:idx val="0"/>
          <c:order val="0"/>
          <c:tx>
            <c:strRef>
              <c:f>供应成交!$Q$64</c:f>
              <c:strCache>
                <c:ptCount val="1"/>
                <c:pt idx="0">
                  <c:v>2016年8月</c:v>
                </c:pt>
              </c:strCache>
            </c:strRef>
          </c:tx>
          <c:spPr>
            <a:solidFill>
              <a:srgbClr val="1F497D">
                <a:lumMod val="60000"/>
                <a:lumOff val="40000"/>
              </a:srgbClr>
            </a:solidFill>
            <a:ln w="31750" cap="rnd">
              <a:solidFill>
                <a:srgbClr val="3B95D2"/>
              </a:solidFill>
              <a:round/>
            </a:ln>
            <a:effectLst>
              <a:outerShdw blurRad="38100" dist="38100" dir="5400000" algn="t" rotWithShape="0">
                <a:srgbClr val="717171">
                  <a:alpha val="40000"/>
                </a:srgbClr>
              </a:outerShdw>
            </a:effectLst>
          </c:spPr>
          <c:invertIfNegative val="0"/>
          <c:dLbls>
            <c:dLbl>
              <c:idx val="3"/>
              <c:layout>
                <c:manualLayout>
                  <c:x val="0"/>
                  <c:y val="1.616161616161616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94E7-4ABC-A1D0-F7A6AF919BBA}"/>
                </c:ext>
              </c:extLst>
            </c:dLbl>
            <c:spPr>
              <a:noFill/>
              <a:ln>
                <a:noFill/>
              </a:ln>
              <a:effectLst/>
            </c:spPr>
            <c:txPr>
              <a:bodyPr/>
              <a:lstStyle/>
              <a:p>
                <a:pPr>
                  <a:defRPr sz="1050" b="1"/>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供应成交!$R$63:$W$63</c:f>
              <c:strCache>
                <c:ptCount val="6"/>
                <c:pt idx="0">
                  <c:v>普通住宅</c:v>
                </c:pt>
                <c:pt idx="1">
                  <c:v>别墅</c:v>
                </c:pt>
                <c:pt idx="2">
                  <c:v>公寓</c:v>
                </c:pt>
                <c:pt idx="3">
                  <c:v>办公</c:v>
                </c:pt>
                <c:pt idx="4">
                  <c:v>商业</c:v>
                </c:pt>
                <c:pt idx="5">
                  <c:v>自住房</c:v>
                </c:pt>
              </c:strCache>
            </c:strRef>
          </c:cat>
          <c:val>
            <c:numRef>
              <c:f>供应成交!$R$64:$W$64</c:f>
              <c:numCache>
                <c:formatCode>0.0_ </c:formatCode>
                <c:ptCount val="6"/>
                <c:pt idx="0">
                  <c:v>25.57</c:v>
                </c:pt>
                <c:pt idx="1">
                  <c:v>7.13</c:v>
                </c:pt>
                <c:pt idx="2">
                  <c:v>11.24</c:v>
                </c:pt>
                <c:pt idx="3">
                  <c:v>6.32</c:v>
                </c:pt>
                <c:pt idx="4">
                  <c:v>5.42</c:v>
                </c:pt>
                <c:pt idx="5">
                  <c:v>2.5099999999999998</c:v>
                </c:pt>
              </c:numCache>
            </c:numRef>
          </c:val>
          <c:extLst>
            <c:ext xmlns:c16="http://schemas.microsoft.com/office/drawing/2014/chart" uri="{C3380CC4-5D6E-409C-BE32-E72D297353CC}">
              <c16:uniqueId val="{00000001-94E7-4ABC-A1D0-F7A6AF919BBA}"/>
            </c:ext>
          </c:extLst>
        </c:ser>
        <c:ser>
          <c:idx val="1"/>
          <c:order val="1"/>
          <c:tx>
            <c:strRef>
              <c:f>供应成交!$Q$65</c:f>
              <c:strCache>
                <c:ptCount val="1"/>
                <c:pt idx="0">
                  <c:v>2016年9月</c:v>
                </c:pt>
              </c:strCache>
            </c:strRef>
          </c:tx>
          <c:spPr>
            <a:ln w="31750" cap="rnd">
              <a:solidFill>
                <a:srgbClr val="FFD966"/>
              </a:solidFill>
              <a:round/>
            </a:ln>
            <a:effectLst>
              <a:outerShdw blurRad="38100" dist="38100" dir="5400000" algn="t" rotWithShape="0">
                <a:srgbClr val="717171">
                  <a:alpha val="40000"/>
                </a:srgbClr>
              </a:outerShdw>
            </a:effectLst>
          </c:spPr>
          <c:invertIfNegative val="0"/>
          <c:dLbls>
            <c:spPr>
              <a:noFill/>
              <a:ln>
                <a:noFill/>
              </a:ln>
              <a:effectLst/>
            </c:spPr>
            <c:txPr>
              <a:bodyPr/>
              <a:lstStyle/>
              <a:p>
                <a:pPr>
                  <a:defRPr sz="1050" b="1"/>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供应成交!$R$63:$W$63</c:f>
              <c:strCache>
                <c:ptCount val="6"/>
                <c:pt idx="0">
                  <c:v>普通住宅</c:v>
                </c:pt>
                <c:pt idx="1">
                  <c:v>别墅</c:v>
                </c:pt>
                <c:pt idx="2">
                  <c:v>公寓</c:v>
                </c:pt>
                <c:pt idx="3">
                  <c:v>办公</c:v>
                </c:pt>
                <c:pt idx="4">
                  <c:v>商业</c:v>
                </c:pt>
                <c:pt idx="5">
                  <c:v>自住房</c:v>
                </c:pt>
              </c:strCache>
            </c:strRef>
          </c:cat>
          <c:val>
            <c:numRef>
              <c:f>供应成交!$R$65:$W$65</c:f>
              <c:numCache>
                <c:formatCode>0.0_ </c:formatCode>
                <c:ptCount val="6"/>
                <c:pt idx="0">
                  <c:v>32.700000000000003</c:v>
                </c:pt>
                <c:pt idx="1">
                  <c:v>20.7</c:v>
                </c:pt>
                <c:pt idx="2">
                  <c:v>19.989999999999998</c:v>
                </c:pt>
                <c:pt idx="3">
                  <c:v>11.8</c:v>
                </c:pt>
                <c:pt idx="4">
                  <c:v>5.51</c:v>
                </c:pt>
                <c:pt idx="5">
                  <c:v>0</c:v>
                </c:pt>
              </c:numCache>
            </c:numRef>
          </c:val>
          <c:extLst>
            <c:ext xmlns:c16="http://schemas.microsoft.com/office/drawing/2014/chart" uri="{C3380CC4-5D6E-409C-BE32-E72D297353CC}">
              <c16:uniqueId val="{00000002-94E7-4ABC-A1D0-F7A6AF919BBA}"/>
            </c:ext>
          </c:extLst>
        </c:ser>
        <c:dLbls>
          <c:showLegendKey val="0"/>
          <c:showVal val="0"/>
          <c:showCatName val="0"/>
          <c:showSerName val="0"/>
          <c:showPercent val="0"/>
          <c:showBubbleSize val="0"/>
        </c:dLbls>
        <c:gapWidth val="150"/>
        <c:axId val="238813184"/>
        <c:axId val="238814720"/>
      </c:barChart>
      <c:catAx>
        <c:axId val="238813184"/>
        <c:scaling>
          <c:orientation val="minMax"/>
        </c:scaling>
        <c:delete val="0"/>
        <c:axPos val="b"/>
        <c:majorGridlines>
          <c:spPr>
            <a:ln w="12700" cap="flat" cmpd="sng" algn="ctr">
              <a:solidFill>
                <a:schemeClr val="bg1"/>
              </a:solidFill>
              <a:round/>
            </a:ln>
            <a:effectLst/>
          </c:spPr>
        </c:majorGridlines>
        <c:numFmt formatCode="General" sourceLinked="1"/>
        <c:majorTickMark val="out"/>
        <c:minorTickMark val="none"/>
        <c:tickLblPos val="nextTo"/>
        <c:spPr>
          <a:noFill/>
          <a:ln w="9525" cap="flat" cmpd="sng" algn="ctr">
            <a:solidFill>
              <a:srgbClr val="FFFFFF"/>
            </a:solidFill>
            <a:round/>
          </a:ln>
          <a:effectLst/>
        </c:spPr>
        <c:txPr>
          <a:bodyPr rot="-60000000" vert="horz"/>
          <a:lstStyle/>
          <a:p>
            <a:pPr>
              <a:defRPr sz="1200" b="1"/>
            </a:pPr>
            <a:endParaRPr lang="zh-CN"/>
          </a:p>
        </c:txPr>
        <c:crossAx val="238814720"/>
        <c:crosses val="autoZero"/>
        <c:auto val="1"/>
        <c:lblAlgn val="ctr"/>
        <c:lblOffset val="100"/>
        <c:tickLblSkip val="1"/>
        <c:noMultiLvlLbl val="0"/>
      </c:catAx>
      <c:valAx>
        <c:axId val="238814720"/>
        <c:scaling>
          <c:orientation val="minMax"/>
        </c:scaling>
        <c:delete val="0"/>
        <c:axPos val="l"/>
        <c:majorGridlines>
          <c:spPr>
            <a:ln w="12700" cap="flat" cmpd="sng" algn="ctr">
              <a:solidFill>
                <a:schemeClr val="bg1"/>
              </a:solidFill>
              <a:round/>
            </a:ln>
            <a:effectLst/>
          </c:spPr>
        </c:majorGridlines>
        <c:title>
          <c:tx>
            <c:rich>
              <a:bodyPr rot="0" vert="horz"/>
              <a:lstStyle/>
              <a:p>
                <a:pPr>
                  <a:defRPr sz="1100"/>
                </a:pPr>
                <a:r>
                  <a:rPr lang="zh-CN" sz="1100"/>
                  <a:t>万㎡</a:t>
                </a:r>
              </a:p>
            </c:rich>
          </c:tx>
          <c:layout>
            <c:manualLayout>
              <c:xMode val="edge"/>
              <c:yMode val="edge"/>
              <c:x val="2.6969556652272519E-4"/>
              <c:y val="0.12984331504016544"/>
            </c:manualLayout>
          </c:layout>
          <c:overlay val="0"/>
        </c:title>
        <c:numFmt formatCode="0.0_ " sourceLinked="1"/>
        <c:majorTickMark val="out"/>
        <c:minorTickMark val="none"/>
        <c:tickLblPos val="nextTo"/>
        <c:spPr>
          <a:noFill/>
          <a:ln>
            <a:noFill/>
          </a:ln>
          <a:effectLst/>
        </c:spPr>
        <c:txPr>
          <a:bodyPr rot="-60000000" vert="horz"/>
          <a:lstStyle/>
          <a:p>
            <a:pPr>
              <a:defRPr sz="1200"/>
            </a:pPr>
            <a:endParaRPr lang="zh-CN"/>
          </a:p>
        </c:txPr>
        <c:crossAx val="238813184"/>
        <c:crosses val="autoZero"/>
        <c:crossBetween val="between"/>
      </c:valAx>
      <c:spPr>
        <a:solidFill>
          <a:srgbClr val="EAEAEA"/>
        </a:solidFill>
        <a:ln>
          <a:noFill/>
        </a:ln>
        <a:effectLst/>
      </c:spPr>
    </c:plotArea>
    <c:legend>
      <c:legendPos val="b"/>
      <c:layout>
        <c:manualLayout>
          <c:xMode val="edge"/>
          <c:yMode val="edge"/>
          <c:x val="0.35686955584209518"/>
          <c:y val="0.16384800714665995"/>
          <c:w val="0.31968522118152526"/>
          <c:h val="8.9216812241603494E-2"/>
        </c:manualLayout>
      </c:layout>
      <c:overlay val="0"/>
      <c:spPr>
        <a:noFill/>
        <a:ln>
          <a:noFill/>
        </a:ln>
        <a:effectLst/>
      </c:spPr>
      <c:txPr>
        <a:bodyPr rot="0" vert="horz"/>
        <a:lstStyle/>
        <a:p>
          <a:pPr>
            <a:defRPr sz="1100"/>
          </a:pPr>
          <a:endParaRPr lang="zh-CN"/>
        </a:p>
      </c:txPr>
    </c:legend>
    <c:plotVisOnly val="1"/>
    <c:dispBlanksAs val="gap"/>
    <c:showDLblsOverMax val="0"/>
  </c:chart>
  <c:spPr>
    <a:noFill/>
    <a:ln w="9525" cap="flat" cmpd="sng" algn="ctr">
      <a:noFill/>
      <a:round/>
    </a:ln>
    <a:effectLst/>
  </c:spPr>
  <c:txPr>
    <a:bodyPr/>
    <a:lstStyle/>
    <a:p>
      <a:pPr>
        <a:defRPr>
          <a:latin typeface="微软雅黑" pitchFamily="34" charset="-122"/>
          <a:ea typeface="微软雅黑" pitchFamily="34" charset="-122"/>
        </a:defRPr>
      </a:pPr>
      <a:endParaRPr lang="zh-CN"/>
    </a:p>
  </c:txPr>
  <c:externalData r:id="rId2">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800" b="0" i="0" u="none" strike="noStrike" kern="1200" spc="0" baseline="0">
                <a:solidFill>
                  <a:schemeClr val="tx1"/>
                </a:solidFill>
                <a:latin typeface="Arial" panose="020B0604020202020204" pitchFamily="34" charset="0"/>
                <a:ea typeface="微软雅黑" panose="020B0503020204020204" pitchFamily="34" charset="-122"/>
                <a:cs typeface="+mn-cs"/>
              </a:defRPr>
            </a:pPr>
            <a:r>
              <a:rPr lang="zh-CN" altLang="en-US" sz="1800" b="1" dirty="0">
                <a:solidFill>
                  <a:schemeClr val="tx1"/>
                </a:solidFill>
              </a:rPr>
              <a:t>北京</a:t>
            </a:r>
            <a:r>
              <a:rPr lang="en-US" altLang="zh-CN" sz="1800" b="1" dirty="0">
                <a:solidFill>
                  <a:schemeClr val="tx1"/>
                </a:solidFill>
              </a:rPr>
              <a:t>1-9</a:t>
            </a:r>
            <a:r>
              <a:rPr lang="zh-CN" altLang="en-US" sz="1800" b="1" dirty="0">
                <a:solidFill>
                  <a:schemeClr val="tx1"/>
                </a:solidFill>
              </a:rPr>
              <a:t>月各业态新增供应面积对比</a:t>
            </a:r>
          </a:p>
        </c:rich>
      </c:tx>
      <c:layout>
        <c:manualLayout>
          <c:xMode val="edge"/>
          <c:yMode val="edge"/>
          <c:x val="0.28938978529323173"/>
          <c:y val="2.0092261194623401E-2"/>
        </c:manualLayout>
      </c:layout>
      <c:overlay val="0"/>
      <c:spPr>
        <a:noFill/>
        <a:ln>
          <a:noFill/>
        </a:ln>
        <a:effectLst/>
      </c:spPr>
    </c:title>
    <c:autoTitleDeleted val="0"/>
    <c:plotArea>
      <c:layout>
        <c:manualLayout>
          <c:layoutTarget val="inner"/>
          <c:xMode val="edge"/>
          <c:yMode val="edge"/>
          <c:x val="5.9327409761853162E-2"/>
          <c:y val="0.25992875890513684"/>
          <c:w val="0.90639614762056919"/>
          <c:h val="0.60542698744784662"/>
        </c:manualLayout>
      </c:layout>
      <c:barChart>
        <c:barDir val="col"/>
        <c:grouping val="clustered"/>
        <c:varyColors val="0"/>
        <c:ser>
          <c:idx val="0"/>
          <c:order val="0"/>
          <c:tx>
            <c:strRef>
              <c:f>供应成交!$Z$65</c:f>
              <c:strCache>
                <c:ptCount val="1"/>
                <c:pt idx="0">
                  <c:v>2016年1-9月</c:v>
                </c:pt>
              </c:strCache>
            </c:strRef>
          </c:tx>
          <c:spPr>
            <a:solidFill>
              <a:srgbClr val="1F497D">
                <a:lumMod val="60000"/>
                <a:lumOff val="40000"/>
                <a:alpha val="89000"/>
              </a:srgbClr>
            </a:solidFill>
            <a:ln w="31750" cap="rnd">
              <a:solidFill>
                <a:srgbClr val="3B95D2"/>
              </a:solidFill>
              <a:round/>
            </a:ln>
            <a:effectLst>
              <a:outerShdw blurRad="38100" dist="38100" dir="5400000" algn="t" rotWithShape="0">
                <a:srgbClr val="717171">
                  <a:alpha val="40000"/>
                </a:srgbClr>
              </a:outerShdw>
            </a:effectLst>
          </c:spPr>
          <c:invertIfNegative val="0"/>
          <c:dPt>
            <c:idx val="0"/>
            <c:invertIfNegative val="0"/>
            <c:bubble3D val="0"/>
            <c:spPr>
              <a:solidFill>
                <a:srgbClr val="FF0000">
                  <a:alpha val="63000"/>
                </a:srgbClr>
              </a:solidFill>
              <a:ln w="31750" cap="rnd">
                <a:noFill/>
                <a:round/>
              </a:ln>
              <a:effectLst>
                <a:outerShdw blurRad="38100" dist="38100" dir="5400000" algn="t" rotWithShape="0">
                  <a:srgbClr val="717171">
                    <a:alpha val="40000"/>
                  </a:srgbClr>
                </a:outerShdw>
              </a:effectLst>
            </c:spPr>
            <c:extLst>
              <c:ext xmlns:c16="http://schemas.microsoft.com/office/drawing/2014/chart" uri="{C3380CC4-5D6E-409C-BE32-E72D297353CC}">
                <c16:uniqueId val="{00000001-8E0F-4AC4-B825-B78F64E48ABD}"/>
              </c:ext>
            </c:extLst>
          </c:dPt>
          <c:dLbls>
            <c:dLbl>
              <c:idx val="3"/>
              <c:layout>
                <c:manualLayout>
                  <c:x val="0"/>
                  <c:y val="1.616161616161616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8E0F-4AC4-B825-B78F64E48ABD}"/>
                </c:ext>
              </c:extLst>
            </c:dLbl>
            <c:spPr>
              <a:noFill/>
              <a:ln>
                <a:noFill/>
              </a:ln>
              <a:effectLst/>
            </c:spPr>
            <c:txPr>
              <a:bodyPr/>
              <a:lstStyle/>
              <a:p>
                <a:pPr>
                  <a:defRPr sz="1050" b="1">
                    <a:latin typeface="微软雅黑" pitchFamily="34" charset="-122"/>
                    <a:ea typeface="微软雅黑" pitchFamily="34" charset="-122"/>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供应成交!$Y$66:$Y$71</c:f>
              <c:strCache>
                <c:ptCount val="6"/>
                <c:pt idx="0">
                  <c:v>办公</c:v>
                </c:pt>
                <c:pt idx="1">
                  <c:v>公寓</c:v>
                </c:pt>
                <c:pt idx="2">
                  <c:v>普通住宅</c:v>
                </c:pt>
                <c:pt idx="3">
                  <c:v>别墅</c:v>
                </c:pt>
                <c:pt idx="4">
                  <c:v>商业</c:v>
                </c:pt>
                <c:pt idx="5">
                  <c:v>自住房</c:v>
                </c:pt>
              </c:strCache>
            </c:strRef>
          </c:cat>
          <c:val>
            <c:numRef>
              <c:f>供应成交!$Z$66:$Z$71</c:f>
              <c:numCache>
                <c:formatCode>0.0_ </c:formatCode>
                <c:ptCount val="6"/>
                <c:pt idx="0">
                  <c:v>224.88</c:v>
                </c:pt>
                <c:pt idx="1">
                  <c:v>216.15999999999997</c:v>
                </c:pt>
                <c:pt idx="2">
                  <c:v>115.75</c:v>
                </c:pt>
                <c:pt idx="3">
                  <c:v>110.51</c:v>
                </c:pt>
                <c:pt idx="4">
                  <c:v>71.97</c:v>
                </c:pt>
                <c:pt idx="5">
                  <c:v>61.239999999999995</c:v>
                </c:pt>
              </c:numCache>
            </c:numRef>
          </c:val>
          <c:extLst>
            <c:ext xmlns:c16="http://schemas.microsoft.com/office/drawing/2014/chart" uri="{C3380CC4-5D6E-409C-BE32-E72D297353CC}">
              <c16:uniqueId val="{00000003-8E0F-4AC4-B825-B78F64E48ABD}"/>
            </c:ext>
          </c:extLst>
        </c:ser>
        <c:dLbls>
          <c:showLegendKey val="0"/>
          <c:showVal val="0"/>
          <c:showCatName val="0"/>
          <c:showSerName val="0"/>
          <c:showPercent val="0"/>
          <c:showBubbleSize val="0"/>
        </c:dLbls>
        <c:gapWidth val="150"/>
        <c:axId val="238869120"/>
        <c:axId val="238870912"/>
      </c:barChart>
      <c:catAx>
        <c:axId val="238869120"/>
        <c:scaling>
          <c:orientation val="minMax"/>
        </c:scaling>
        <c:delete val="0"/>
        <c:axPos val="b"/>
        <c:majorGridlines>
          <c:spPr>
            <a:ln w="12700" cap="flat" cmpd="sng" algn="ctr">
              <a:solidFill>
                <a:schemeClr val="bg1"/>
              </a:solidFill>
              <a:round/>
            </a:ln>
            <a:effectLst/>
          </c:spPr>
        </c:majorGridlines>
        <c:numFmt formatCode="General" sourceLinked="1"/>
        <c:majorTickMark val="out"/>
        <c:minorTickMark val="none"/>
        <c:tickLblPos val="nextTo"/>
        <c:spPr>
          <a:noFill/>
          <a:ln w="9525" cap="flat" cmpd="sng" algn="ctr">
            <a:solidFill>
              <a:srgbClr val="FFFFFF"/>
            </a:solidFill>
            <a:round/>
          </a:ln>
          <a:effectLst/>
        </c:spPr>
        <c:txPr>
          <a:bodyPr rot="-60000000" spcFirstLastPara="1" vertOverflow="ellipsis" vert="horz" wrap="square" anchor="ctr" anchorCtr="1"/>
          <a:lstStyle/>
          <a:p>
            <a:pPr>
              <a:defRPr sz="1200" b="1" i="0" u="none" strike="noStrike" kern="1200" baseline="0">
                <a:solidFill>
                  <a:schemeClr val="tx1"/>
                </a:solidFill>
                <a:latin typeface="Arial" panose="020B0604020202020204" pitchFamily="34" charset="0"/>
                <a:ea typeface="微软雅黑" panose="020B0503020204020204" pitchFamily="34" charset="-122"/>
                <a:cs typeface="+mn-cs"/>
              </a:defRPr>
            </a:pPr>
            <a:endParaRPr lang="zh-CN"/>
          </a:p>
        </c:txPr>
        <c:crossAx val="238870912"/>
        <c:crosses val="autoZero"/>
        <c:auto val="1"/>
        <c:lblAlgn val="ctr"/>
        <c:lblOffset val="100"/>
        <c:tickLblSkip val="1"/>
        <c:noMultiLvlLbl val="0"/>
      </c:catAx>
      <c:valAx>
        <c:axId val="238870912"/>
        <c:scaling>
          <c:orientation val="minMax"/>
        </c:scaling>
        <c:delete val="0"/>
        <c:axPos val="l"/>
        <c:majorGridlines>
          <c:spPr>
            <a:ln w="12700" cap="flat" cmpd="sng" algn="ctr">
              <a:solidFill>
                <a:schemeClr val="bg1"/>
              </a:solidFill>
              <a:round/>
            </a:ln>
            <a:effectLst/>
          </c:spPr>
        </c:majorGridlines>
        <c:title>
          <c:tx>
            <c:rich>
              <a:bodyPr rot="0" vert="horz"/>
              <a:lstStyle/>
              <a:p>
                <a:pPr>
                  <a:defRPr/>
                </a:pPr>
                <a:r>
                  <a:rPr lang="zh-CN" altLang="en-US"/>
                  <a:t>万㎡</a:t>
                </a:r>
              </a:p>
            </c:rich>
          </c:tx>
          <c:layout>
            <c:manualLayout>
              <c:xMode val="edge"/>
              <c:yMode val="edge"/>
              <c:x val="2.2484541877459247E-3"/>
              <c:y val="0.14196437945256846"/>
            </c:manualLayout>
          </c:layout>
          <c:overlay val="0"/>
        </c:title>
        <c:numFmt formatCode="0.0_ " sourceLinked="1"/>
        <c:majorTickMark val="out"/>
        <c:minorTickMark val="none"/>
        <c:tickLblPos val="nextTo"/>
        <c:spPr>
          <a:noFill/>
          <a:ln>
            <a:noFill/>
          </a:ln>
          <a:effectLst/>
        </c:spPr>
        <c:txPr>
          <a:bodyPr rot="-60000000" spcFirstLastPara="1" vertOverflow="ellipsis" vert="horz" wrap="square" anchor="ctr" anchorCtr="1"/>
          <a:lstStyle/>
          <a:p>
            <a:pPr>
              <a:defRPr sz="1050" b="1" i="0" u="none" strike="noStrike" kern="1200" baseline="0">
                <a:solidFill>
                  <a:schemeClr val="tx1">
                    <a:lumMod val="65000"/>
                    <a:lumOff val="35000"/>
                  </a:schemeClr>
                </a:solidFill>
                <a:latin typeface="Arial" panose="020B0604020202020204" pitchFamily="34" charset="0"/>
                <a:ea typeface="微软雅黑" panose="020B0503020204020204" pitchFamily="34" charset="-122"/>
                <a:cs typeface="+mn-cs"/>
              </a:defRPr>
            </a:pPr>
            <a:endParaRPr lang="zh-CN"/>
          </a:p>
        </c:txPr>
        <c:crossAx val="238869120"/>
        <c:crosses val="autoZero"/>
        <c:crossBetween val="between"/>
      </c:valAx>
      <c:spPr>
        <a:solidFill>
          <a:srgbClr val="EAEAEA"/>
        </a:solidFill>
        <a:ln>
          <a:noFill/>
        </a:ln>
        <a:effectLst/>
      </c:spPr>
    </c:plotArea>
    <c:plotVisOnly val="1"/>
    <c:dispBlanksAs val="gap"/>
    <c:showDLblsOverMax val="0"/>
  </c:chart>
  <c:spPr>
    <a:noFill/>
    <a:ln w="9525" cap="flat" cmpd="sng" algn="ctr">
      <a:noFill/>
      <a:round/>
    </a:ln>
    <a:effectLst/>
  </c:spPr>
  <c:txPr>
    <a:bodyPr/>
    <a:lstStyle/>
    <a:p>
      <a:pPr>
        <a:defRPr/>
      </a:pPr>
      <a:endParaRPr lang="zh-CN"/>
    </a:p>
  </c:txPr>
  <c:externalData r:id="rId2">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sz="1600"/>
            </a:pPr>
            <a:r>
              <a:rPr lang="zh-CN" sz="1600"/>
              <a:t>北京一手房量价走势</a:t>
            </a:r>
          </a:p>
        </c:rich>
      </c:tx>
      <c:layout>
        <c:manualLayout>
          <c:xMode val="edge"/>
          <c:yMode val="edge"/>
          <c:x val="0.37518565751346461"/>
          <c:y val="0"/>
        </c:manualLayout>
      </c:layout>
      <c:overlay val="0"/>
    </c:title>
    <c:autoTitleDeleted val="0"/>
    <c:plotArea>
      <c:layout>
        <c:manualLayout>
          <c:layoutTarget val="inner"/>
          <c:xMode val="edge"/>
          <c:yMode val="edge"/>
          <c:x val="7.5375087847822805E-2"/>
          <c:y val="0.26909699486603528"/>
          <c:w val="0.83961546411453403"/>
          <c:h val="0.59546412582288188"/>
        </c:manualLayout>
      </c:layout>
      <c:barChart>
        <c:barDir val="col"/>
        <c:grouping val="clustered"/>
        <c:varyColors val="0"/>
        <c:ser>
          <c:idx val="0"/>
          <c:order val="0"/>
          <c:tx>
            <c:strRef>
              <c:f>供应成交!$E$2</c:f>
              <c:strCache>
                <c:ptCount val="1"/>
                <c:pt idx="0">
                  <c:v>成交面积(万㎡)</c:v>
                </c:pt>
              </c:strCache>
            </c:strRef>
          </c:tx>
          <c:spPr>
            <a:solidFill>
              <a:srgbClr val="70B1DE"/>
            </a:solidFill>
            <a:ln>
              <a:noFill/>
            </a:ln>
            <a:effectLst>
              <a:outerShdw blurRad="50800" dist="12700" algn="l" rotWithShape="0">
                <a:prstClr val="black">
                  <a:alpha val="40000"/>
                </a:prstClr>
              </a:outerShdw>
            </a:effectLst>
          </c:spPr>
          <c:invertIfNegative val="0"/>
          <c:dPt>
            <c:idx val="8"/>
            <c:invertIfNegative val="0"/>
            <c:bubble3D val="0"/>
            <c:spPr>
              <a:solidFill>
                <a:srgbClr val="C00000"/>
              </a:solidFill>
              <a:ln>
                <a:noFill/>
              </a:ln>
              <a:effectLst>
                <a:outerShdw blurRad="50800" dist="12700" algn="l" rotWithShape="0">
                  <a:prstClr val="black">
                    <a:alpha val="40000"/>
                  </a:prstClr>
                </a:outerShdw>
              </a:effectLst>
            </c:spPr>
            <c:extLst>
              <c:ext xmlns:c16="http://schemas.microsoft.com/office/drawing/2014/chart" uri="{C3380CC4-5D6E-409C-BE32-E72D297353CC}">
                <c16:uniqueId val="{00000001-CEE5-473F-B204-33E1129F5CD7}"/>
              </c:ext>
            </c:extLst>
          </c:dPt>
          <c:dPt>
            <c:idx val="20"/>
            <c:invertIfNegative val="0"/>
            <c:bubble3D val="0"/>
            <c:spPr>
              <a:solidFill>
                <a:srgbClr val="C00000"/>
              </a:solidFill>
              <a:ln>
                <a:noFill/>
              </a:ln>
              <a:effectLst>
                <a:outerShdw blurRad="50800" dist="12700" algn="l" rotWithShape="0">
                  <a:prstClr val="black">
                    <a:alpha val="40000"/>
                  </a:prstClr>
                </a:outerShdw>
              </a:effectLst>
            </c:spPr>
            <c:extLst>
              <c:ext xmlns:c16="http://schemas.microsoft.com/office/drawing/2014/chart" uri="{C3380CC4-5D6E-409C-BE32-E72D297353CC}">
                <c16:uniqueId val="{00000003-CEE5-473F-B204-33E1129F5CD7}"/>
              </c:ext>
            </c:extLst>
          </c:dPt>
          <c:dLbls>
            <c:dLbl>
              <c:idx val="8"/>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EE5-473F-B204-33E1129F5CD7}"/>
                </c:ext>
              </c:extLst>
            </c:dLbl>
            <c:dLbl>
              <c:idx val="20"/>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EE5-473F-B204-33E1129F5CD7}"/>
                </c:ext>
              </c:extLst>
            </c:dLbl>
            <c:spPr>
              <a:noFill/>
              <a:ln>
                <a:noFill/>
              </a:ln>
              <a:effectLst/>
            </c:spPr>
            <c:txPr>
              <a:bodyPr/>
              <a:lstStyle/>
              <a:p>
                <a:pPr>
                  <a:defRPr b="1"/>
                </a:pPr>
                <a:endParaRPr lang="zh-CN"/>
              </a:p>
            </c:txPr>
            <c:dLblPos val="outEnd"/>
            <c:showLegendKey val="0"/>
            <c:showVal val="0"/>
            <c:showCatName val="0"/>
            <c:showSerName val="0"/>
            <c:showPercent val="0"/>
            <c:showBubbleSize val="0"/>
            <c:extLst>
              <c:ext xmlns:c15="http://schemas.microsoft.com/office/drawing/2012/chart" uri="{CE6537A1-D6FC-4f65-9D91-7224C49458BB}">
                <c15:showLeaderLines val="0"/>
              </c:ext>
            </c:extLst>
          </c:dLbls>
          <c:cat>
            <c:numRef>
              <c:f>供应成交!$A$15:$A$35</c:f>
              <c:numCache>
                <c:formatCode>yyyy"年"m"月"</c:formatCode>
                <c:ptCount val="21"/>
                <c:pt idx="0">
                  <c:v>42005</c:v>
                </c:pt>
                <c:pt idx="1">
                  <c:v>42036</c:v>
                </c:pt>
                <c:pt idx="2">
                  <c:v>42064</c:v>
                </c:pt>
                <c:pt idx="3">
                  <c:v>42095</c:v>
                </c:pt>
                <c:pt idx="4">
                  <c:v>42125</c:v>
                </c:pt>
                <c:pt idx="5">
                  <c:v>42156</c:v>
                </c:pt>
                <c:pt idx="6">
                  <c:v>42186</c:v>
                </c:pt>
                <c:pt idx="7">
                  <c:v>42217</c:v>
                </c:pt>
                <c:pt idx="8">
                  <c:v>42248</c:v>
                </c:pt>
                <c:pt idx="9">
                  <c:v>42278</c:v>
                </c:pt>
                <c:pt idx="10">
                  <c:v>42309</c:v>
                </c:pt>
                <c:pt idx="11">
                  <c:v>42339</c:v>
                </c:pt>
                <c:pt idx="12">
                  <c:v>42370</c:v>
                </c:pt>
                <c:pt idx="13">
                  <c:v>42401</c:v>
                </c:pt>
                <c:pt idx="14">
                  <c:v>42430</c:v>
                </c:pt>
                <c:pt idx="15">
                  <c:v>42461</c:v>
                </c:pt>
                <c:pt idx="16">
                  <c:v>42491</c:v>
                </c:pt>
                <c:pt idx="17">
                  <c:v>42522</c:v>
                </c:pt>
                <c:pt idx="18">
                  <c:v>42552</c:v>
                </c:pt>
                <c:pt idx="19">
                  <c:v>42583</c:v>
                </c:pt>
                <c:pt idx="20">
                  <c:v>42614</c:v>
                </c:pt>
              </c:numCache>
            </c:numRef>
          </c:cat>
          <c:val>
            <c:numRef>
              <c:f>供应成交!$E$15:$E$35</c:f>
              <c:numCache>
                <c:formatCode>General</c:formatCode>
                <c:ptCount val="21"/>
                <c:pt idx="0">
                  <c:v>102.11</c:v>
                </c:pt>
                <c:pt idx="1">
                  <c:v>42.15</c:v>
                </c:pt>
                <c:pt idx="2">
                  <c:v>51.3</c:v>
                </c:pt>
                <c:pt idx="3">
                  <c:v>75.37</c:v>
                </c:pt>
                <c:pt idx="4">
                  <c:v>94.67</c:v>
                </c:pt>
                <c:pt idx="5">
                  <c:v>108.36</c:v>
                </c:pt>
                <c:pt idx="6">
                  <c:v>161.35</c:v>
                </c:pt>
                <c:pt idx="7">
                  <c:v>133.16999999999999</c:v>
                </c:pt>
                <c:pt idx="8">
                  <c:v>131.12</c:v>
                </c:pt>
                <c:pt idx="9">
                  <c:v>96.75</c:v>
                </c:pt>
                <c:pt idx="10">
                  <c:v>130.63999999999999</c:v>
                </c:pt>
                <c:pt idx="11">
                  <c:v>191.83</c:v>
                </c:pt>
                <c:pt idx="12">
                  <c:v>98.27</c:v>
                </c:pt>
                <c:pt idx="13">
                  <c:v>39.11</c:v>
                </c:pt>
                <c:pt idx="14">
                  <c:v>118.55</c:v>
                </c:pt>
                <c:pt idx="15">
                  <c:v>161.74</c:v>
                </c:pt>
                <c:pt idx="16">
                  <c:v>106.99</c:v>
                </c:pt>
                <c:pt idx="17">
                  <c:v>207.37</c:v>
                </c:pt>
                <c:pt idx="18">
                  <c:v>154.66</c:v>
                </c:pt>
                <c:pt idx="19">
                  <c:v>146.32</c:v>
                </c:pt>
                <c:pt idx="20">
                  <c:v>166.03</c:v>
                </c:pt>
              </c:numCache>
            </c:numRef>
          </c:val>
          <c:extLst>
            <c:ext xmlns:c16="http://schemas.microsoft.com/office/drawing/2014/chart" uri="{C3380CC4-5D6E-409C-BE32-E72D297353CC}">
              <c16:uniqueId val="{00000004-CEE5-473F-B204-33E1129F5CD7}"/>
            </c:ext>
          </c:extLst>
        </c:ser>
        <c:dLbls>
          <c:dLblPos val="outEnd"/>
          <c:showLegendKey val="0"/>
          <c:showVal val="1"/>
          <c:showCatName val="0"/>
          <c:showSerName val="0"/>
          <c:showPercent val="0"/>
          <c:showBubbleSize val="0"/>
        </c:dLbls>
        <c:gapWidth val="219"/>
        <c:axId val="240073344"/>
        <c:axId val="240091904"/>
      </c:barChart>
      <c:lineChart>
        <c:grouping val="standard"/>
        <c:varyColors val="0"/>
        <c:ser>
          <c:idx val="1"/>
          <c:order val="1"/>
          <c:tx>
            <c:strRef>
              <c:f>供应成交!$F$2</c:f>
              <c:strCache>
                <c:ptCount val="1"/>
                <c:pt idx="0">
                  <c:v>成交均价(元/㎡)</c:v>
                </c:pt>
              </c:strCache>
            </c:strRef>
          </c:tx>
          <c:marker>
            <c:symbol val="square"/>
            <c:size val="5"/>
          </c:marker>
          <c:dPt>
            <c:idx val="8"/>
            <c:marker>
              <c:symbol val="square"/>
              <c:size val="6"/>
              <c:spPr>
                <a:solidFill>
                  <a:srgbClr val="C00000"/>
                </a:solidFill>
              </c:spPr>
            </c:marker>
            <c:bubble3D val="0"/>
            <c:extLst>
              <c:ext xmlns:c16="http://schemas.microsoft.com/office/drawing/2014/chart" uri="{C3380CC4-5D6E-409C-BE32-E72D297353CC}">
                <c16:uniqueId val="{00000005-CEE5-473F-B204-33E1129F5CD7}"/>
              </c:ext>
            </c:extLst>
          </c:dPt>
          <c:dPt>
            <c:idx val="20"/>
            <c:marker>
              <c:symbol val="square"/>
              <c:size val="6"/>
              <c:spPr>
                <a:solidFill>
                  <a:srgbClr val="C00000"/>
                </a:solidFill>
              </c:spPr>
            </c:marker>
            <c:bubble3D val="0"/>
            <c:extLst>
              <c:ext xmlns:c16="http://schemas.microsoft.com/office/drawing/2014/chart" uri="{C3380CC4-5D6E-409C-BE32-E72D297353CC}">
                <c16:uniqueId val="{00000006-CEE5-473F-B204-33E1129F5CD7}"/>
              </c:ext>
            </c:extLst>
          </c:dPt>
          <c:dLbls>
            <c:dLbl>
              <c:idx val="8"/>
              <c:layout>
                <c:manualLayout>
                  <c:x val="-3.3189661493038231E-2"/>
                  <c:y val="-8.054024110704147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CEE5-473F-B204-33E1129F5CD7}"/>
                </c:ext>
              </c:extLst>
            </c:dLbl>
            <c:dLbl>
              <c:idx val="20"/>
              <c:layout>
                <c:manualLayout>
                  <c:x val="-4.7581524760826034E-2"/>
                  <c:y val="-5.637816877492898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CEE5-473F-B204-33E1129F5CD7}"/>
                </c:ext>
              </c:extLst>
            </c:dLbl>
            <c:spPr>
              <a:noFill/>
              <a:ln>
                <a:noFill/>
              </a:ln>
              <a:effectLst/>
            </c:spPr>
            <c:txPr>
              <a:bodyPr/>
              <a:lstStyle/>
              <a:p>
                <a:pPr>
                  <a:defRPr b="1"/>
                </a:pPr>
                <a:endParaRPr lang="zh-CN"/>
              </a:p>
            </c:txPr>
            <c:showLegendKey val="0"/>
            <c:showVal val="0"/>
            <c:showCatName val="0"/>
            <c:showSerName val="0"/>
            <c:showPercent val="0"/>
            <c:showBubbleSize val="0"/>
            <c:extLst>
              <c:ext xmlns:c15="http://schemas.microsoft.com/office/drawing/2012/chart" uri="{CE6537A1-D6FC-4f65-9D91-7224C49458BB}">
                <c15:showLeaderLines val="0"/>
              </c:ext>
            </c:extLst>
          </c:dLbls>
          <c:cat>
            <c:numRef>
              <c:f>供应成交!$A$15:$A$35</c:f>
              <c:numCache>
                <c:formatCode>yyyy"年"m"月"</c:formatCode>
                <c:ptCount val="21"/>
                <c:pt idx="0">
                  <c:v>42005</c:v>
                </c:pt>
                <c:pt idx="1">
                  <c:v>42036</c:v>
                </c:pt>
                <c:pt idx="2">
                  <c:v>42064</c:v>
                </c:pt>
                <c:pt idx="3">
                  <c:v>42095</c:v>
                </c:pt>
                <c:pt idx="4">
                  <c:v>42125</c:v>
                </c:pt>
                <c:pt idx="5">
                  <c:v>42156</c:v>
                </c:pt>
                <c:pt idx="6">
                  <c:v>42186</c:v>
                </c:pt>
                <c:pt idx="7">
                  <c:v>42217</c:v>
                </c:pt>
                <c:pt idx="8">
                  <c:v>42248</c:v>
                </c:pt>
                <c:pt idx="9">
                  <c:v>42278</c:v>
                </c:pt>
                <c:pt idx="10">
                  <c:v>42309</c:v>
                </c:pt>
                <c:pt idx="11">
                  <c:v>42339</c:v>
                </c:pt>
                <c:pt idx="12">
                  <c:v>42370</c:v>
                </c:pt>
                <c:pt idx="13">
                  <c:v>42401</c:v>
                </c:pt>
                <c:pt idx="14">
                  <c:v>42430</c:v>
                </c:pt>
                <c:pt idx="15">
                  <c:v>42461</c:v>
                </c:pt>
                <c:pt idx="16">
                  <c:v>42491</c:v>
                </c:pt>
                <c:pt idx="17">
                  <c:v>42522</c:v>
                </c:pt>
                <c:pt idx="18">
                  <c:v>42552</c:v>
                </c:pt>
                <c:pt idx="19">
                  <c:v>42583</c:v>
                </c:pt>
                <c:pt idx="20">
                  <c:v>42614</c:v>
                </c:pt>
              </c:numCache>
            </c:numRef>
          </c:cat>
          <c:val>
            <c:numRef>
              <c:f>供应成交!$F$15:$F$35</c:f>
              <c:numCache>
                <c:formatCode>General</c:formatCode>
                <c:ptCount val="21"/>
                <c:pt idx="0">
                  <c:v>27575</c:v>
                </c:pt>
                <c:pt idx="1">
                  <c:v>23646</c:v>
                </c:pt>
                <c:pt idx="2">
                  <c:v>25200</c:v>
                </c:pt>
                <c:pt idx="3">
                  <c:v>26602</c:v>
                </c:pt>
                <c:pt idx="4">
                  <c:v>26468</c:v>
                </c:pt>
                <c:pt idx="5">
                  <c:v>27662</c:v>
                </c:pt>
                <c:pt idx="6">
                  <c:v>26377</c:v>
                </c:pt>
                <c:pt idx="7">
                  <c:v>25982</c:v>
                </c:pt>
                <c:pt idx="8">
                  <c:v>27963</c:v>
                </c:pt>
                <c:pt idx="9">
                  <c:v>25828</c:v>
                </c:pt>
                <c:pt idx="10">
                  <c:v>27719</c:v>
                </c:pt>
                <c:pt idx="11">
                  <c:v>29401</c:v>
                </c:pt>
                <c:pt idx="12">
                  <c:v>27805</c:v>
                </c:pt>
                <c:pt idx="13">
                  <c:v>31194</c:v>
                </c:pt>
                <c:pt idx="14">
                  <c:v>31869</c:v>
                </c:pt>
                <c:pt idx="15">
                  <c:v>31341</c:v>
                </c:pt>
                <c:pt idx="16">
                  <c:v>33297</c:v>
                </c:pt>
                <c:pt idx="17">
                  <c:v>30579</c:v>
                </c:pt>
                <c:pt idx="18">
                  <c:v>30698</c:v>
                </c:pt>
                <c:pt idx="19">
                  <c:v>30769</c:v>
                </c:pt>
                <c:pt idx="20">
                  <c:v>35829</c:v>
                </c:pt>
              </c:numCache>
            </c:numRef>
          </c:val>
          <c:smooth val="1"/>
          <c:extLst>
            <c:ext xmlns:c16="http://schemas.microsoft.com/office/drawing/2014/chart" uri="{C3380CC4-5D6E-409C-BE32-E72D297353CC}">
              <c16:uniqueId val="{00000007-CEE5-473F-B204-33E1129F5CD7}"/>
            </c:ext>
          </c:extLst>
        </c:ser>
        <c:dLbls>
          <c:showLegendKey val="0"/>
          <c:showVal val="0"/>
          <c:showCatName val="0"/>
          <c:showSerName val="0"/>
          <c:showPercent val="0"/>
          <c:showBubbleSize val="0"/>
        </c:dLbls>
        <c:marker val="1"/>
        <c:smooth val="0"/>
        <c:axId val="240099712"/>
        <c:axId val="240093440"/>
      </c:lineChart>
      <c:dateAx>
        <c:axId val="240073344"/>
        <c:scaling>
          <c:orientation val="minMax"/>
        </c:scaling>
        <c:delete val="0"/>
        <c:axPos val="b"/>
        <c:title>
          <c:tx>
            <c:rich>
              <a:bodyPr/>
              <a:lstStyle/>
              <a:p>
                <a:pPr>
                  <a:defRPr/>
                </a:pPr>
                <a:r>
                  <a:rPr lang="zh-CN"/>
                  <a:t>万㎡</a:t>
                </a:r>
              </a:p>
            </c:rich>
          </c:tx>
          <c:layout>
            <c:manualLayout>
              <c:xMode val="edge"/>
              <c:yMode val="edge"/>
              <c:x val="2.7134357337700542E-2"/>
              <c:y val="0.13936600878395966"/>
            </c:manualLayout>
          </c:layout>
          <c:overlay val="0"/>
        </c:title>
        <c:numFmt formatCode="yyyy&quot;年&quot;m&quot;月&quot;" sourceLinked="1"/>
        <c:majorTickMark val="out"/>
        <c:minorTickMark val="none"/>
        <c:tickLblPos val="nextTo"/>
        <c:spPr>
          <a:noFill/>
          <a:ln w="9525" cap="flat" cmpd="sng" algn="ctr">
            <a:solidFill>
              <a:sysClr val="window" lastClr="FFFFFF">
                <a:lumMod val="65000"/>
              </a:sysClr>
            </a:solidFill>
            <a:round/>
          </a:ln>
          <a:effectLst/>
        </c:spPr>
        <c:txPr>
          <a:bodyPr rot="-60000000" vert="horz"/>
          <a:lstStyle/>
          <a:p>
            <a:pPr>
              <a:defRPr sz="1050"/>
            </a:pPr>
            <a:endParaRPr lang="zh-CN"/>
          </a:p>
        </c:txPr>
        <c:crossAx val="240091904"/>
        <c:crosses val="autoZero"/>
        <c:auto val="1"/>
        <c:lblOffset val="100"/>
        <c:baseTimeUnit val="months"/>
        <c:majorUnit val="3"/>
        <c:majorTimeUnit val="months"/>
      </c:dateAx>
      <c:valAx>
        <c:axId val="240091904"/>
        <c:scaling>
          <c:orientation val="minMax"/>
          <c:max val="300"/>
          <c:min val="0"/>
        </c:scaling>
        <c:delete val="0"/>
        <c:axPos val="l"/>
        <c:majorGridlines>
          <c:spPr>
            <a:ln w="9525" cap="flat" cmpd="sng" algn="ctr">
              <a:solidFill>
                <a:schemeClr val="bg1">
                  <a:lumMod val="95000"/>
                </a:schemeClr>
              </a:solidFill>
              <a:round/>
            </a:ln>
            <a:effectLst/>
          </c:spPr>
        </c:majorGridlines>
        <c:numFmt formatCode="0_ " sourceLinked="0"/>
        <c:majorTickMark val="out"/>
        <c:minorTickMark val="none"/>
        <c:tickLblPos val="nextTo"/>
        <c:txPr>
          <a:bodyPr/>
          <a:lstStyle/>
          <a:p>
            <a:pPr>
              <a:defRPr sz="1100"/>
            </a:pPr>
            <a:endParaRPr lang="zh-CN"/>
          </a:p>
        </c:txPr>
        <c:crossAx val="240073344"/>
        <c:crosses val="autoZero"/>
        <c:crossBetween val="between"/>
        <c:majorUnit val="60"/>
      </c:valAx>
      <c:valAx>
        <c:axId val="240093440"/>
        <c:scaling>
          <c:orientation val="minMax"/>
        </c:scaling>
        <c:delete val="0"/>
        <c:axPos val="r"/>
        <c:title>
          <c:tx>
            <c:rich>
              <a:bodyPr rot="0" vert="horz"/>
              <a:lstStyle/>
              <a:p>
                <a:pPr>
                  <a:defRPr/>
                </a:pPr>
                <a:r>
                  <a:rPr lang="zh-CN"/>
                  <a:t>元</a:t>
                </a:r>
                <a:r>
                  <a:rPr lang="en-US"/>
                  <a:t>/</a:t>
                </a:r>
                <a:r>
                  <a:rPr lang="zh-CN"/>
                  <a:t>㎡</a:t>
                </a:r>
              </a:p>
            </c:rich>
          </c:tx>
          <c:layout>
            <c:manualLayout>
              <c:xMode val="edge"/>
              <c:yMode val="edge"/>
              <c:x val="0.91433512199902944"/>
              <c:y val="0.14854252286914776"/>
            </c:manualLayout>
          </c:layout>
          <c:overlay val="0"/>
        </c:title>
        <c:numFmt formatCode="General" sourceLinked="1"/>
        <c:majorTickMark val="out"/>
        <c:minorTickMark val="none"/>
        <c:tickLblPos val="nextTo"/>
        <c:crossAx val="240099712"/>
        <c:crosses val="max"/>
        <c:crossBetween val="between"/>
      </c:valAx>
      <c:dateAx>
        <c:axId val="240099712"/>
        <c:scaling>
          <c:orientation val="minMax"/>
        </c:scaling>
        <c:delete val="1"/>
        <c:axPos val="b"/>
        <c:numFmt formatCode="yyyy&quot;年&quot;m&quot;月&quot;" sourceLinked="1"/>
        <c:majorTickMark val="out"/>
        <c:minorTickMark val="none"/>
        <c:tickLblPos val="nextTo"/>
        <c:crossAx val="240093440"/>
        <c:crosses val="autoZero"/>
        <c:auto val="1"/>
        <c:lblOffset val="100"/>
        <c:baseTimeUnit val="months"/>
      </c:dateAx>
      <c:spPr>
        <a:noFill/>
        <a:ln>
          <a:noFill/>
        </a:ln>
        <a:effectLst/>
      </c:spPr>
    </c:plotArea>
    <c:legend>
      <c:legendPos val="b"/>
      <c:layout>
        <c:manualLayout>
          <c:xMode val="edge"/>
          <c:yMode val="edge"/>
          <c:x val="0.14651768826073563"/>
          <c:y val="0.13801712490856677"/>
          <c:w val="0.73299263297882711"/>
          <c:h val="8.9069833483929273E-2"/>
        </c:manualLayout>
      </c:layout>
      <c:overlay val="0"/>
      <c:spPr>
        <a:noFill/>
        <a:ln>
          <a:noFill/>
        </a:ln>
        <a:effectLst/>
      </c:spPr>
      <c:txPr>
        <a:bodyPr rot="0" vert="horz"/>
        <a:lstStyle/>
        <a:p>
          <a:pPr>
            <a:defRPr sz="1200"/>
          </a:pPr>
          <a:endParaRPr lang="zh-CN"/>
        </a:p>
      </c:txPr>
    </c:legend>
    <c:plotVisOnly val="1"/>
    <c:dispBlanksAs val="gap"/>
    <c:showDLblsOverMax val="0"/>
  </c:chart>
  <c:spPr>
    <a:noFill/>
    <a:ln w="9525" cap="flat" cmpd="sng" algn="ctr">
      <a:noFill/>
      <a:round/>
    </a:ln>
    <a:effectLst/>
  </c:spPr>
  <c:txPr>
    <a:bodyPr/>
    <a:lstStyle/>
    <a:p>
      <a:pPr>
        <a:defRPr sz="1000">
          <a:latin typeface="微软雅黑" pitchFamily="34" charset="-122"/>
          <a:ea typeface="微软雅黑" pitchFamily="34" charset="-122"/>
        </a:defRPr>
      </a:pPr>
      <a:endParaRPr lang="zh-CN"/>
    </a:p>
  </c:txPr>
  <c:externalData r:id="rId2">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sz="1600"/>
            </a:pPr>
            <a:r>
              <a:rPr lang="zh-CN" altLang="en-US" sz="1800" dirty="0">
                <a:latin typeface="微软雅黑" pitchFamily="34" charset="-122"/>
                <a:ea typeface="微软雅黑" pitchFamily="34" charset="-122"/>
              </a:rPr>
              <a:t>北京”国庆周“一手房市场量价走势</a:t>
            </a:r>
          </a:p>
        </c:rich>
      </c:tx>
      <c:layout>
        <c:manualLayout>
          <c:xMode val="edge"/>
          <c:yMode val="edge"/>
          <c:x val="0.2432193806269802"/>
          <c:y val="0"/>
        </c:manualLayout>
      </c:layout>
      <c:overlay val="0"/>
    </c:title>
    <c:autoTitleDeleted val="0"/>
    <c:plotArea>
      <c:layout>
        <c:manualLayout>
          <c:layoutTarget val="inner"/>
          <c:xMode val="edge"/>
          <c:yMode val="edge"/>
          <c:x val="7.2568911718653192E-2"/>
          <c:y val="0.21605679617916612"/>
          <c:w val="0.89097613254969699"/>
          <c:h val="0.67117421797685128"/>
        </c:manualLayout>
      </c:layout>
      <c:barChart>
        <c:barDir val="col"/>
        <c:grouping val="clustered"/>
        <c:varyColors val="0"/>
        <c:ser>
          <c:idx val="0"/>
          <c:order val="0"/>
          <c:tx>
            <c:strRef>
              <c:f>十一黄金周!$B$44</c:f>
              <c:strCache>
                <c:ptCount val="1"/>
                <c:pt idx="0">
                  <c:v>成交套数</c:v>
                </c:pt>
              </c:strCache>
            </c:strRef>
          </c:tx>
          <c:spPr>
            <a:solidFill>
              <a:srgbClr val="0070C0"/>
            </a:solidFill>
            <a:ln>
              <a:noFill/>
            </a:ln>
            <a:effectLst>
              <a:outerShdw blurRad="50800" dist="12700" algn="l" rotWithShape="0">
                <a:prstClr val="black">
                  <a:alpha val="40000"/>
                </a:prstClr>
              </a:outerShdw>
            </a:effectLst>
          </c:spPr>
          <c:invertIfNegative val="0"/>
          <c:dLbls>
            <c:numFmt formatCode="#,##0_);[Red]\(#,##0\)" sourceLinked="0"/>
            <c:spPr>
              <a:noFill/>
              <a:ln>
                <a:noFill/>
              </a:ln>
              <a:effectLst/>
            </c:spPr>
            <c:txPr>
              <a:bodyPr/>
              <a:lstStyle/>
              <a:p>
                <a:pPr>
                  <a:defRPr sz="1100" b="1">
                    <a:solidFill>
                      <a:srgbClr val="0070C0"/>
                    </a:solidFill>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十一黄金周!$A$45:$A$51</c:f>
              <c:strCache>
                <c:ptCount val="7"/>
                <c:pt idx="0">
                  <c:v>2010年</c:v>
                </c:pt>
                <c:pt idx="1">
                  <c:v>2011年</c:v>
                </c:pt>
                <c:pt idx="2">
                  <c:v>2012年</c:v>
                </c:pt>
                <c:pt idx="3">
                  <c:v>2013年</c:v>
                </c:pt>
                <c:pt idx="4">
                  <c:v>2014年</c:v>
                </c:pt>
                <c:pt idx="5">
                  <c:v>2015年</c:v>
                </c:pt>
                <c:pt idx="6">
                  <c:v>2016年</c:v>
                </c:pt>
              </c:strCache>
            </c:strRef>
          </c:cat>
          <c:val>
            <c:numRef>
              <c:f>十一黄金周!$B$45:$B$51</c:f>
              <c:numCache>
                <c:formatCode>General</c:formatCode>
                <c:ptCount val="7"/>
                <c:pt idx="0">
                  <c:v>1296</c:v>
                </c:pt>
                <c:pt idx="1">
                  <c:v>829</c:v>
                </c:pt>
                <c:pt idx="2">
                  <c:v>771</c:v>
                </c:pt>
                <c:pt idx="3">
                  <c:v>541</c:v>
                </c:pt>
                <c:pt idx="4">
                  <c:v>353</c:v>
                </c:pt>
                <c:pt idx="5">
                  <c:v>381</c:v>
                </c:pt>
                <c:pt idx="6">
                  <c:v>1437</c:v>
                </c:pt>
              </c:numCache>
            </c:numRef>
          </c:val>
          <c:extLst>
            <c:ext xmlns:c16="http://schemas.microsoft.com/office/drawing/2014/chart" uri="{C3380CC4-5D6E-409C-BE32-E72D297353CC}">
              <c16:uniqueId val="{00000000-3C40-4B48-948A-3100EDA84DF3}"/>
            </c:ext>
          </c:extLst>
        </c:ser>
        <c:dLbls>
          <c:dLblPos val="outEnd"/>
          <c:showLegendKey val="0"/>
          <c:showVal val="1"/>
          <c:showCatName val="0"/>
          <c:showSerName val="0"/>
          <c:showPercent val="0"/>
          <c:showBubbleSize val="0"/>
        </c:dLbls>
        <c:gapWidth val="219"/>
        <c:axId val="240144768"/>
        <c:axId val="240146304"/>
      </c:barChart>
      <c:lineChart>
        <c:grouping val="standard"/>
        <c:varyColors val="0"/>
        <c:ser>
          <c:idx val="1"/>
          <c:order val="1"/>
          <c:tx>
            <c:strRef>
              <c:f>十一黄金周!$D$44</c:f>
              <c:strCache>
                <c:ptCount val="1"/>
                <c:pt idx="0">
                  <c:v>成交均价(元/㎡)</c:v>
                </c:pt>
              </c:strCache>
            </c:strRef>
          </c:tx>
          <c:marker>
            <c:symbol val="square"/>
            <c:size val="5"/>
          </c:marker>
          <c:dLbls>
            <c:dLbl>
              <c:idx val="0"/>
              <c:layout>
                <c:manualLayout>
                  <c:x val="-3.6242250834525515E-2"/>
                  <c:y val="-6.557377049180328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C40-4B48-948A-3100EDA84DF3}"/>
                </c:ext>
              </c:extLst>
            </c:dLbl>
            <c:dLbl>
              <c:idx val="1"/>
              <c:layout>
                <c:manualLayout>
                  <c:x val="-3.8149737720553134E-2"/>
                  <c:y val="-8.743169398907103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3C40-4B48-948A-3100EDA84DF3}"/>
                </c:ext>
              </c:extLst>
            </c:dLbl>
            <c:dLbl>
              <c:idx val="2"/>
              <c:layout>
                <c:manualLayout>
                  <c:x val="-3.6242308362631433E-2"/>
                  <c:y val="-3.497267759562841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3C40-4B48-948A-3100EDA84DF3}"/>
                </c:ext>
              </c:extLst>
            </c:dLbl>
            <c:dLbl>
              <c:idx val="3"/>
              <c:layout>
                <c:manualLayout>
                  <c:x val="-4.005722460658076E-2"/>
                  <c:y val="-6.120218579234972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3C40-4B48-948A-3100EDA84DF3}"/>
                </c:ext>
              </c:extLst>
            </c:dLbl>
            <c:dLbl>
              <c:idx val="4"/>
              <c:layout>
                <c:manualLayout>
                  <c:x val="-4.3872198378636075E-2"/>
                  <c:y val="-6.120218579234972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3C40-4B48-948A-3100EDA84DF3}"/>
                </c:ext>
              </c:extLst>
            </c:dLbl>
            <c:dLbl>
              <c:idx val="5"/>
              <c:layout>
                <c:manualLayout>
                  <c:x val="-5.5317119694802096E-2"/>
                  <c:y val="-6.557377049180328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3C40-4B48-948A-3100EDA84DF3}"/>
                </c:ext>
              </c:extLst>
            </c:dLbl>
            <c:dLbl>
              <c:idx val="6"/>
              <c:layout>
                <c:manualLayout>
                  <c:x val="-1.9163027230908361E-2"/>
                  <c:y val="5.245901639344266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3C40-4B48-948A-3100EDA84DF3}"/>
                </c:ext>
              </c:extLst>
            </c:dLbl>
            <c:spPr>
              <a:noFill/>
              <a:ln>
                <a:noFill/>
              </a:ln>
              <a:effectLst/>
            </c:spPr>
            <c:txPr>
              <a:bodyPr/>
              <a:lstStyle/>
              <a:p>
                <a:pPr>
                  <a:defRPr b="1">
                    <a:solidFill>
                      <a:srgbClr val="F4A73C"/>
                    </a:solidFill>
                    <a:latin typeface="微软雅黑" pitchFamily="34" charset="-122"/>
                    <a:ea typeface="微软雅黑" pitchFamily="34" charset="-122"/>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十一黄金周!$D$45:$D$51</c:f>
              <c:numCache>
                <c:formatCode>General</c:formatCode>
                <c:ptCount val="7"/>
                <c:pt idx="0">
                  <c:v>18173</c:v>
                </c:pt>
                <c:pt idx="1">
                  <c:v>17980</c:v>
                </c:pt>
                <c:pt idx="2">
                  <c:v>21730</c:v>
                </c:pt>
                <c:pt idx="3">
                  <c:v>19631</c:v>
                </c:pt>
                <c:pt idx="4">
                  <c:v>22160</c:v>
                </c:pt>
                <c:pt idx="5">
                  <c:v>23964</c:v>
                </c:pt>
                <c:pt idx="6">
                  <c:v>44446</c:v>
                </c:pt>
              </c:numCache>
            </c:numRef>
          </c:val>
          <c:smooth val="0"/>
          <c:extLst>
            <c:ext xmlns:c16="http://schemas.microsoft.com/office/drawing/2014/chart" uri="{C3380CC4-5D6E-409C-BE32-E72D297353CC}">
              <c16:uniqueId val="{00000008-3C40-4B48-948A-3100EDA84DF3}"/>
            </c:ext>
          </c:extLst>
        </c:ser>
        <c:dLbls>
          <c:showLegendKey val="0"/>
          <c:showVal val="0"/>
          <c:showCatName val="0"/>
          <c:showSerName val="0"/>
          <c:showPercent val="0"/>
          <c:showBubbleSize val="0"/>
        </c:dLbls>
        <c:marker val="1"/>
        <c:smooth val="0"/>
        <c:axId val="240170112"/>
        <c:axId val="240147840"/>
      </c:lineChart>
      <c:catAx>
        <c:axId val="240144768"/>
        <c:scaling>
          <c:orientation val="minMax"/>
        </c:scaling>
        <c:delete val="0"/>
        <c:axPos val="b"/>
        <c:numFmt formatCode="General" sourceLinked="1"/>
        <c:majorTickMark val="out"/>
        <c:minorTickMark val="none"/>
        <c:tickLblPos val="nextTo"/>
        <c:spPr>
          <a:noFill/>
          <a:ln w="9525" cap="flat" cmpd="sng" algn="ctr">
            <a:solidFill>
              <a:sysClr val="window" lastClr="FFFFFF">
                <a:lumMod val="65000"/>
              </a:sys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微软雅黑" pitchFamily="34" charset="-122"/>
                <a:ea typeface="微软雅黑" pitchFamily="34" charset="-122"/>
                <a:cs typeface="+mn-cs"/>
              </a:defRPr>
            </a:pPr>
            <a:endParaRPr lang="zh-CN"/>
          </a:p>
        </c:txPr>
        <c:crossAx val="240146304"/>
        <c:crosses val="autoZero"/>
        <c:auto val="1"/>
        <c:lblAlgn val="ctr"/>
        <c:lblOffset val="100"/>
        <c:noMultiLvlLbl val="0"/>
      </c:catAx>
      <c:valAx>
        <c:axId val="240146304"/>
        <c:scaling>
          <c:orientation val="minMax"/>
          <c:max val="1500"/>
          <c:min val="0"/>
        </c:scaling>
        <c:delete val="0"/>
        <c:axPos val="l"/>
        <c:majorGridlines>
          <c:spPr>
            <a:ln w="9525" cap="flat" cmpd="sng" algn="ctr">
              <a:solidFill>
                <a:schemeClr val="bg1">
                  <a:lumMod val="95000"/>
                </a:schemeClr>
              </a:solidFill>
              <a:round/>
            </a:ln>
            <a:effectLst/>
          </c:spPr>
        </c:majorGridlines>
        <c:numFmt formatCode="0_ " sourceLinked="0"/>
        <c:majorTickMark val="out"/>
        <c:minorTickMark val="none"/>
        <c:tickLblPos val="nextTo"/>
        <c:txPr>
          <a:bodyPr/>
          <a:lstStyle/>
          <a:p>
            <a:pPr>
              <a:defRPr sz="1000">
                <a:solidFill>
                  <a:schemeClr val="tx1"/>
                </a:solidFill>
                <a:latin typeface="微软雅黑" pitchFamily="34" charset="-122"/>
                <a:ea typeface="微软雅黑" pitchFamily="34" charset="-122"/>
              </a:defRPr>
            </a:pPr>
            <a:endParaRPr lang="zh-CN"/>
          </a:p>
        </c:txPr>
        <c:crossAx val="240144768"/>
        <c:crosses val="autoZero"/>
        <c:crossBetween val="between"/>
        <c:majorUnit val="300"/>
      </c:valAx>
      <c:valAx>
        <c:axId val="240147840"/>
        <c:scaling>
          <c:orientation val="minMax"/>
          <c:max val="50000"/>
          <c:min val="0"/>
        </c:scaling>
        <c:delete val="0"/>
        <c:axPos val="r"/>
        <c:numFmt formatCode="General" sourceLinked="1"/>
        <c:majorTickMark val="out"/>
        <c:minorTickMark val="none"/>
        <c:tickLblPos val="nextTo"/>
        <c:crossAx val="240170112"/>
        <c:crosses val="max"/>
        <c:crossBetween val="between"/>
        <c:majorUnit val="10000"/>
      </c:valAx>
      <c:catAx>
        <c:axId val="240170112"/>
        <c:scaling>
          <c:orientation val="minMax"/>
        </c:scaling>
        <c:delete val="1"/>
        <c:axPos val="b"/>
        <c:majorTickMark val="out"/>
        <c:minorTickMark val="none"/>
        <c:tickLblPos val="nextTo"/>
        <c:crossAx val="240147840"/>
        <c:crosses val="autoZero"/>
        <c:auto val="1"/>
        <c:lblAlgn val="ctr"/>
        <c:lblOffset val="100"/>
        <c:noMultiLvlLbl val="0"/>
      </c:catAx>
      <c:spPr>
        <a:noFill/>
        <a:ln>
          <a:noFill/>
        </a:ln>
        <a:effectLst/>
      </c:spPr>
    </c:plotArea>
    <c:legend>
      <c:legendPos val="b"/>
      <c:layout>
        <c:manualLayout>
          <c:xMode val="edge"/>
          <c:yMode val="edge"/>
          <c:x val="0.25731637622550402"/>
          <c:y val="0.22544881889763779"/>
          <c:w val="0.4772113142509547"/>
          <c:h val="8.9069833483929273E-2"/>
        </c:manualLayout>
      </c:layout>
      <c:overlay val="0"/>
      <c:spPr>
        <a:noFill/>
        <a:ln>
          <a:noFill/>
        </a:ln>
        <a:effectLst/>
      </c:spPr>
      <c:txPr>
        <a:bodyPr rot="0" spcFirstLastPara="1" vertOverflow="ellipsis" vert="horz" wrap="square" anchor="ctr" anchorCtr="1"/>
        <a:lstStyle/>
        <a:p>
          <a:pPr>
            <a:defRPr sz="1100" b="1" i="0" u="none" strike="noStrike" kern="1200" baseline="0">
              <a:solidFill>
                <a:schemeClr val="tx1"/>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chart>
  <c:spPr>
    <a:noFill/>
    <a:ln w="9525" cap="flat" cmpd="sng" algn="ctr">
      <a:noFill/>
      <a:round/>
    </a:ln>
    <a:effectLst/>
  </c:spPr>
  <c:txPr>
    <a:bodyPr/>
    <a:lstStyle/>
    <a:p>
      <a:pPr>
        <a:defRPr/>
      </a:pPr>
      <a:endParaRPr lang="zh-CN"/>
    </a:p>
  </c:txPr>
  <c:externalData r:id="rId2">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0" i="0" u="none" strike="noStrike" kern="1200" spc="0" baseline="0">
                <a:solidFill>
                  <a:schemeClr val="tx1">
                    <a:lumMod val="65000"/>
                    <a:lumOff val="35000"/>
                  </a:schemeClr>
                </a:solidFill>
                <a:latin typeface="微软雅黑" pitchFamily="34" charset="-122"/>
                <a:ea typeface="微软雅黑" pitchFamily="34" charset="-122"/>
                <a:cs typeface="+mn-cs"/>
              </a:defRPr>
            </a:pPr>
            <a:r>
              <a:rPr lang="zh-CN" altLang="en-US" sz="1600" b="1">
                <a:latin typeface="微软雅黑" pitchFamily="34" charset="-122"/>
                <a:ea typeface="微软雅黑" pitchFamily="34" charset="-122"/>
              </a:rPr>
              <a:t>北京一手房各业态成交占比</a:t>
            </a:r>
          </a:p>
        </c:rich>
      </c:tx>
      <c:layout>
        <c:manualLayout>
          <c:xMode val="edge"/>
          <c:yMode val="edge"/>
          <c:x val="0.30896424463795957"/>
          <c:y val="2.4169117414540048E-2"/>
        </c:manualLayout>
      </c:layout>
      <c:overlay val="0"/>
      <c:spPr>
        <a:noFill/>
        <a:ln>
          <a:noFill/>
        </a:ln>
        <a:effectLst/>
      </c:spPr>
    </c:title>
    <c:autoTitleDeleted val="0"/>
    <c:plotArea>
      <c:layout>
        <c:manualLayout>
          <c:layoutTarget val="inner"/>
          <c:xMode val="edge"/>
          <c:yMode val="edge"/>
          <c:x val="5.9327409761853162E-2"/>
          <c:y val="0.25992875890513684"/>
          <c:w val="0.87287066644759292"/>
          <c:h val="0.46221190145816443"/>
        </c:manualLayout>
      </c:layout>
      <c:barChart>
        <c:barDir val="col"/>
        <c:grouping val="stacked"/>
        <c:varyColors val="0"/>
        <c:ser>
          <c:idx val="0"/>
          <c:order val="0"/>
          <c:tx>
            <c:strRef>
              <c:f>供应成交!$I$93</c:f>
              <c:strCache>
                <c:ptCount val="1"/>
                <c:pt idx="0">
                  <c:v>普通住宅</c:v>
                </c:pt>
              </c:strCache>
            </c:strRef>
          </c:tx>
          <c:spPr>
            <a:solidFill>
              <a:srgbClr val="0070C0"/>
            </a:solidFill>
            <a:ln w="31750" cap="rnd">
              <a:noFill/>
              <a:round/>
            </a:ln>
            <a:effectLst>
              <a:outerShdw blurRad="38100" dist="38100" dir="5400000" algn="t" rotWithShape="0">
                <a:srgbClr val="717171">
                  <a:alpha val="40000"/>
                </a:srgbClr>
              </a:outerShdw>
            </a:effectLst>
          </c:spPr>
          <c:invertIfNegative val="0"/>
          <c:dLbls>
            <c:dLbl>
              <c:idx val="13"/>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3A8-434C-B176-7C2BD96206D0}"/>
                </c:ext>
              </c:extLst>
            </c:dLbl>
            <c:dLbl>
              <c:idx val="14"/>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3A8-434C-B176-7C2BD96206D0}"/>
                </c:ext>
              </c:extLst>
            </c:dLbl>
            <c:dLbl>
              <c:idx val="15"/>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53A8-434C-B176-7C2BD96206D0}"/>
                </c:ext>
              </c:extLst>
            </c:dLbl>
            <c:dLbl>
              <c:idx val="16"/>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53A8-434C-B176-7C2BD96206D0}"/>
                </c:ext>
              </c:extLst>
            </c:dLbl>
            <c:dLbl>
              <c:idx val="17"/>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53A8-434C-B176-7C2BD96206D0}"/>
                </c:ext>
              </c:extLst>
            </c:dLbl>
            <c:dLbl>
              <c:idx val="18"/>
              <c:layout>
                <c:manualLayout>
                  <c:x val="4.2803638309256284E-3"/>
                  <c:y val="8.0321285140562242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53A8-434C-B176-7C2BD96206D0}"/>
                </c:ext>
              </c:extLst>
            </c:dLbl>
            <c:dLbl>
              <c:idx val="19"/>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53A8-434C-B176-7C2BD96206D0}"/>
                </c:ext>
              </c:extLst>
            </c:dLbl>
            <c:dLbl>
              <c:idx val="20"/>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53A8-434C-B176-7C2BD96206D0}"/>
                </c:ext>
              </c:extLst>
            </c:dLbl>
            <c:numFmt formatCode="0%" sourceLinked="0"/>
            <c:spPr>
              <a:noFill/>
              <a:ln>
                <a:noFill/>
              </a:ln>
              <a:effectLst/>
            </c:spPr>
            <c:txPr>
              <a:bodyPr/>
              <a:lstStyle/>
              <a:p>
                <a:pPr>
                  <a:defRPr sz="900" b="1">
                    <a:latin typeface="微软雅黑" pitchFamily="34" charset="-122"/>
                    <a:ea typeface="微软雅黑" pitchFamily="34" charset="-122"/>
                  </a:defRPr>
                </a:pPr>
                <a:endParaRPr lang="zh-CN"/>
              </a:p>
            </c:txPr>
            <c:showLegendKey val="0"/>
            <c:showVal val="0"/>
            <c:showCatName val="0"/>
            <c:showSerName val="0"/>
            <c:showPercent val="0"/>
            <c:showBubbleSize val="0"/>
            <c:extLst>
              <c:ext xmlns:c15="http://schemas.microsoft.com/office/drawing/2012/chart" uri="{CE6537A1-D6FC-4f65-9D91-7224C49458BB}">
                <c15:showLeaderLines val="0"/>
              </c:ext>
            </c:extLst>
          </c:dLbls>
          <c:cat>
            <c:numRef>
              <c:f>供应成交!$A$94:$A$114</c:f>
              <c:numCache>
                <c:formatCode>yyyy"年"m"月"</c:formatCode>
                <c:ptCount val="21"/>
                <c:pt idx="0">
                  <c:v>42005</c:v>
                </c:pt>
                <c:pt idx="1">
                  <c:v>42036</c:v>
                </c:pt>
                <c:pt idx="2">
                  <c:v>42064</c:v>
                </c:pt>
                <c:pt idx="3">
                  <c:v>42095</c:v>
                </c:pt>
                <c:pt idx="4">
                  <c:v>42125</c:v>
                </c:pt>
                <c:pt idx="5">
                  <c:v>42156</c:v>
                </c:pt>
                <c:pt idx="6">
                  <c:v>42186</c:v>
                </c:pt>
                <c:pt idx="7">
                  <c:v>42217</c:v>
                </c:pt>
                <c:pt idx="8">
                  <c:v>42248</c:v>
                </c:pt>
                <c:pt idx="9">
                  <c:v>42278</c:v>
                </c:pt>
                <c:pt idx="10">
                  <c:v>42309</c:v>
                </c:pt>
                <c:pt idx="11">
                  <c:v>42339</c:v>
                </c:pt>
                <c:pt idx="12">
                  <c:v>42370</c:v>
                </c:pt>
                <c:pt idx="13">
                  <c:v>42401</c:v>
                </c:pt>
                <c:pt idx="14">
                  <c:v>42430</c:v>
                </c:pt>
                <c:pt idx="15">
                  <c:v>42461</c:v>
                </c:pt>
                <c:pt idx="16">
                  <c:v>42491</c:v>
                </c:pt>
                <c:pt idx="17">
                  <c:v>42522</c:v>
                </c:pt>
                <c:pt idx="18">
                  <c:v>42552</c:v>
                </c:pt>
                <c:pt idx="19">
                  <c:v>42584</c:v>
                </c:pt>
                <c:pt idx="20">
                  <c:v>42616</c:v>
                </c:pt>
              </c:numCache>
            </c:numRef>
          </c:cat>
          <c:val>
            <c:numRef>
              <c:f>供应成交!$I$94:$I$114</c:f>
              <c:numCache>
                <c:formatCode>0.0%</c:formatCode>
                <c:ptCount val="21"/>
                <c:pt idx="0">
                  <c:v>0.40634520432818572</c:v>
                </c:pt>
                <c:pt idx="1">
                  <c:v>0.4134665965281431</c:v>
                </c:pt>
                <c:pt idx="2">
                  <c:v>0.54147209250611517</c:v>
                </c:pt>
                <c:pt idx="3">
                  <c:v>0.51644444444444448</c:v>
                </c:pt>
                <c:pt idx="4">
                  <c:v>0.64366424535916056</c:v>
                </c:pt>
                <c:pt idx="5">
                  <c:v>0.64271696467509809</c:v>
                </c:pt>
                <c:pt idx="6">
                  <c:v>0.47490687436505247</c:v>
                </c:pt>
                <c:pt idx="7">
                  <c:v>0.44722267470272031</c:v>
                </c:pt>
                <c:pt idx="8">
                  <c:v>0.4519786571809693</c:v>
                </c:pt>
                <c:pt idx="9">
                  <c:v>0.37530535198756387</c:v>
                </c:pt>
                <c:pt idx="10">
                  <c:v>0.34178172876867791</c:v>
                </c:pt>
                <c:pt idx="11">
                  <c:v>0.29279197631563048</c:v>
                </c:pt>
                <c:pt idx="12">
                  <c:v>0.43693521700394555</c:v>
                </c:pt>
                <c:pt idx="13">
                  <c:v>0.47135795289328292</c:v>
                </c:pt>
                <c:pt idx="14">
                  <c:v>0.36873968079251512</c:v>
                </c:pt>
                <c:pt idx="15">
                  <c:v>0.27226129455239001</c:v>
                </c:pt>
                <c:pt idx="16">
                  <c:v>0.34971546818416971</c:v>
                </c:pt>
                <c:pt idx="17">
                  <c:v>0.20688291139240506</c:v>
                </c:pt>
                <c:pt idx="18">
                  <c:v>0.27235534774985398</c:v>
                </c:pt>
                <c:pt idx="19">
                  <c:v>0.23641602634467618</c:v>
                </c:pt>
                <c:pt idx="20">
                  <c:v>0.27635429731828226</c:v>
                </c:pt>
              </c:numCache>
            </c:numRef>
          </c:val>
          <c:extLst>
            <c:ext xmlns:c16="http://schemas.microsoft.com/office/drawing/2014/chart" uri="{C3380CC4-5D6E-409C-BE32-E72D297353CC}">
              <c16:uniqueId val="{00000008-53A8-434C-B176-7C2BD96206D0}"/>
            </c:ext>
          </c:extLst>
        </c:ser>
        <c:ser>
          <c:idx val="1"/>
          <c:order val="1"/>
          <c:tx>
            <c:strRef>
              <c:f>供应成交!$J$93</c:f>
              <c:strCache>
                <c:ptCount val="1"/>
                <c:pt idx="0">
                  <c:v>公寓</c:v>
                </c:pt>
              </c:strCache>
            </c:strRef>
          </c:tx>
          <c:spPr>
            <a:solidFill>
              <a:srgbClr val="FFC000"/>
            </a:solidFill>
            <a:ln w="31750" cap="rnd">
              <a:noFill/>
              <a:round/>
            </a:ln>
            <a:effectLst>
              <a:outerShdw blurRad="38100" dist="38100" dir="5400000" algn="t" rotWithShape="0">
                <a:srgbClr val="717171">
                  <a:alpha val="40000"/>
                </a:srgbClr>
              </a:outerShdw>
            </a:effectLst>
          </c:spPr>
          <c:invertIfNegative val="0"/>
          <c:dLbls>
            <c:dLbl>
              <c:idx val="13"/>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53A8-434C-B176-7C2BD96206D0}"/>
                </c:ext>
              </c:extLst>
            </c:dLbl>
            <c:dLbl>
              <c:idx val="14"/>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53A8-434C-B176-7C2BD96206D0}"/>
                </c:ext>
              </c:extLst>
            </c:dLbl>
            <c:dLbl>
              <c:idx val="15"/>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53A8-434C-B176-7C2BD96206D0}"/>
                </c:ext>
              </c:extLst>
            </c:dLbl>
            <c:dLbl>
              <c:idx val="16"/>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53A8-434C-B176-7C2BD96206D0}"/>
                </c:ext>
              </c:extLst>
            </c:dLbl>
            <c:dLbl>
              <c:idx val="17"/>
              <c:layout>
                <c:manualLayout>
                  <c:x val="0"/>
                  <c:y val="4.0160642570281121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53A8-434C-B176-7C2BD96206D0}"/>
                </c:ext>
              </c:extLst>
            </c:dLbl>
            <c:dLbl>
              <c:idx val="18"/>
              <c:layout>
                <c:manualLayout>
                  <c:x val="0"/>
                  <c:y val="-2.025009713664946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53A8-434C-B176-7C2BD96206D0}"/>
                </c:ext>
              </c:extLst>
            </c:dLbl>
            <c:dLbl>
              <c:idx val="19"/>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53A8-434C-B176-7C2BD96206D0}"/>
                </c:ext>
              </c:extLst>
            </c:dLbl>
            <c:dLbl>
              <c:idx val="20"/>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53A8-434C-B176-7C2BD96206D0}"/>
                </c:ext>
              </c:extLst>
            </c:dLbl>
            <c:numFmt formatCode="0%" sourceLinked="0"/>
            <c:spPr>
              <a:noFill/>
              <a:ln>
                <a:noFill/>
              </a:ln>
              <a:effectLst/>
            </c:spPr>
            <c:txPr>
              <a:bodyPr/>
              <a:lstStyle/>
              <a:p>
                <a:pPr>
                  <a:defRPr sz="900" b="1">
                    <a:latin typeface="微软雅黑" pitchFamily="34" charset="-122"/>
                    <a:ea typeface="微软雅黑" pitchFamily="34" charset="-122"/>
                  </a:defRPr>
                </a:pPr>
                <a:endParaRPr lang="zh-CN"/>
              </a:p>
            </c:txPr>
            <c:showLegendKey val="0"/>
            <c:showVal val="0"/>
            <c:showCatName val="0"/>
            <c:showSerName val="0"/>
            <c:showPercent val="0"/>
            <c:showBubbleSize val="0"/>
            <c:extLst>
              <c:ext xmlns:c15="http://schemas.microsoft.com/office/drawing/2012/chart" uri="{CE6537A1-D6FC-4f65-9D91-7224C49458BB}">
                <c15:showLeaderLines val="0"/>
              </c:ext>
            </c:extLst>
          </c:dLbls>
          <c:cat>
            <c:numRef>
              <c:f>供应成交!$A$94:$A$114</c:f>
              <c:numCache>
                <c:formatCode>yyyy"年"m"月"</c:formatCode>
                <c:ptCount val="21"/>
                <c:pt idx="0">
                  <c:v>42005</c:v>
                </c:pt>
                <c:pt idx="1">
                  <c:v>42036</c:v>
                </c:pt>
                <c:pt idx="2">
                  <c:v>42064</c:v>
                </c:pt>
                <c:pt idx="3">
                  <c:v>42095</c:v>
                </c:pt>
                <c:pt idx="4">
                  <c:v>42125</c:v>
                </c:pt>
                <c:pt idx="5">
                  <c:v>42156</c:v>
                </c:pt>
                <c:pt idx="6">
                  <c:v>42186</c:v>
                </c:pt>
                <c:pt idx="7">
                  <c:v>42217</c:v>
                </c:pt>
                <c:pt idx="8">
                  <c:v>42248</c:v>
                </c:pt>
                <c:pt idx="9">
                  <c:v>42278</c:v>
                </c:pt>
                <c:pt idx="10">
                  <c:v>42309</c:v>
                </c:pt>
                <c:pt idx="11">
                  <c:v>42339</c:v>
                </c:pt>
                <c:pt idx="12">
                  <c:v>42370</c:v>
                </c:pt>
                <c:pt idx="13">
                  <c:v>42401</c:v>
                </c:pt>
                <c:pt idx="14">
                  <c:v>42430</c:v>
                </c:pt>
                <c:pt idx="15">
                  <c:v>42461</c:v>
                </c:pt>
                <c:pt idx="16">
                  <c:v>42491</c:v>
                </c:pt>
                <c:pt idx="17">
                  <c:v>42522</c:v>
                </c:pt>
                <c:pt idx="18">
                  <c:v>42552</c:v>
                </c:pt>
                <c:pt idx="19">
                  <c:v>42584</c:v>
                </c:pt>
                <c:pt idx="20">
                  <c:v>42616</c:v>
                </c:pt>
              </c:numCache>
            </c:numRef>
          </c:cat>
          <c:val>
            <c:numRef>
              <c:f>供应成交!$J$94:$J$114</c:f>
              <c:numCache>
                <c:formatCode>0.0%</c:formatCode>
                <c:ptCount val="21"/>
                <c:pt idx="0">
                  <c:v>0.10967538606996534</c:v>
                </c:pt>
                <c:pt idx="1">
                  <c:v>0.13203577064702787</c:v>
                </c:pt>
                <c:pt idx="2">
                  <c:v>0.20702690682677341</c:v>
                </c:pt>
                <c:pt idx="3">
                  <c:v>0.12311111111111112</c:v>
                </c:pt>
                <c:pt idx="4">
                  <c:v>0.11824051654560129</c:v>
                </c:pt>
                <c:pt idx="5">
                  <c:v>0.15307457479284781</c:v>
                </c:pt>
                <c:pt idx="6">
                  <c:v>0.11872671859126312</c:v>
                </c:pt>
                <c:pt idx="7">
                  <c:v>0.26747027203127544</c:v>
                </c:pt>
                <c:pt idx="8">
                  <c:v>0.22676745220097821</c:v>
                </c:pt>
                <c:pt idx="9">
                  <c:v>0.20208749722407285</c:v>
                </c:pt>
                <c:pt idx="10">
                  <c:v>0.30896538679780594</c:v>
                </c:pt>
                <c:pt idx="11">
                  <c:v>0.24784000966708961</c:v>
                </c:pt>
                <c:pt idx="12">
                  <c:v>0.33078783250604554</c:v>
                </c:pt>
                <c:pt idx="13">
                  <c:v>0.32422215760395462</c:v>
                </c:pt>
                <c:pt idx="14">
                  <c:v>0.43221427261053019</c:v>
                </c:pt>
                <c:pt idx="15">
                  <c:v>0.58064131600905944</c:v>
                </c:pt>
                <c:pt idx="16">
                  <c:v>0.4123124676668391</c:v>
                </c:pt>
                <c:pt idx="17">
                  <c:v>0.62596066907775771</c:v>
                </c:pt>
                <c:pt idx="18">
                  <c:v>0.451782583284629</c:v>
                </c:pt>
                <c:pt idx="19">
                  <c:v>0.35805433589462132</c:v>
                </c:pt>
                <c:pt idx="20">
                  <c:v>0.53897151048199243</c:v>
                </c:pt>
              </c:numCache>
            </c:numRef>
          </c:val>
          <c:extLst>
            <c:ext xmlns:c16="http://schemas.microsoft.com/office/drawing/2014/chart" uri="{C3380CC4-5D6E-409C-BE32-E72D297353CC}">
              <c16:uniqueId val="{00000011-53A8-434C-B176-7C2BD96206D0}"/>
            </c:ext>
          </c:extLst>
        </c:ser>
        <c:ser>
          <c:idx val="2"/>
          <c:order val="2"/>
          <c:tx>
            <c:strRef>
              <c:f>供应成交!$K$93</c:f>
              <c:strCache>
                <c:ptCount val="1"/>
                <c:pt idx="0">
                  <c:v>别墅</c:v>
                </c:pt>
              </c:strCache>
            </c:strRef>
          </c:tx>
          <c:spPr>
            <a:solidFill>
              <a:srgbClr val="1F497D">
                <a:lumMod val="60000"/>
                <a:lumOff val="40000"/>
              </a:srgbClr>
            </a:solidFill>
          </c:spPr>
          <c:invertIfNegative val="0"/>
          <c:cat>
            <c:numRef>
              <c:f>供应成交!$A$94:$A$114</c:f>
              <c:numCache>
                <c:formatCode>yyyy"年"m"月"</c:formatCode>
                <c:ptCount val="21"/>
                <c:pt idx="0">
                  <c:v>42005</c:v>
                </c:pt>
                <c:pt idx="1">
                  <c:v>42036</c:v>
                </c:pt>
                <c:pt idx="2">
                  <c:v>42064</c:v>
                </c:pt>
                <c:pt idx="3">
                  <c:v>42095</c:v>
                </c:pt>
                <c:pt idx="4">
                  <c:v>42125</c:v>
                </c:pt>
                <c:pt idx="5">
                  <c:v>42156</c:v>
                </c:pt>
                <c:pt idx="6">
                  <c:v>42186</c:v>
                </c:pt>
                <c:pt idx="7">
                  <c:v>42217</c:v>
                </c:pt>
                <c:pt idx="8">
                  <c:v>42248</c:v>
                </c:pt>
                <c:pt idx="9">
                  <c:v>42278</c:v>
                </c:pt>
                <c:pt idx="10">
                  <c:v>42309</c:v>
                </c:pt>
                <c:pt idx="11">
                  <c:v>42339</c:v>
                </c:pt>
                <c:pt idx="12">
                  <c:v>42370</c:v>
                </c:pt>
                <c:pt idx="13">
                  <c:v>42401</c:v>
                </c:pt>
                <c:pt idx="14">
                  <c:v>42430</c:v>
                </c:pt>
                <c:pt idx="15">
                  <c:v>42461</c:v>
                </c:pt>
                <c:pt idx="16">
                  <c:v>42491</c:v>
                </c:pt>
                <c:pt idx="17">
                  <c:v>42522</c:v>
                </c:pt>
                <c:pt idx="18">
                  <c:v>42552</c:v>
                </c:pt>
                <c:pt idx="19">
                  <c:v>42584</c:v>
                </c:pt>
                <c:pt idx="20">
                  <c:v>42616</c:v>
                </c:pt>
              </c:numCache>
            </c:numRef>
          </c:cat>
          <c:val>
            <c:numRef>
              <c:f>供应成交!$K$94:$K$114</c:f>
              <c:numCache>
                <c:formatCode>0.0%</c:formatCode>
                <c:ptCount val="21"/>
                <c:pt idx="0">
                  <c:v>1.4287215043597017E-2</c:v>
                </c:pt>
                <c:pt idx="1">
                  <c:v>1.9463440294581798E-2</c:v>
                </c:pt>
                <c:pt idx="2">
                  <c:v>2.8018679119412943E-2</c:v>
                </c:pt>
                <c:pt idx="3">
                  <c:v>2.8444444444444446E-2</c:v>
                </c:pt>
                <c:pt idx="4">
                  <c:v>4.2372881355932202E-2</c:v>
                </c:pt>
                <c:pt idx="5">
                  <c:v>4.7535979066724812E-2</c:v>
                </c:pt>
                <c:pt idx="6">
                  <c:v>2.3095157466982728E-2</c:v>
                </c:pt>
                <c:pt idx="7">
                  <c:v>3.0623880110767224E-2</c:v>
                </c:pt>
                <c:pt idx="8">
                  <c:v>3.8461538461538464E-2</c:v>
                </c:pt>
                <c:pt idx="9">
                  <c:v>2.8980679546968688E-2</c:v>
                </c:pt>
                <c:pt idx="10">
                  <c:v>3.641006241724986E-2</c:v>
                </c:pt>
                <c:pt idx="11">
                  <c:v>3.8910035647392906E-2</c:v>
                </c:pt>
                <c:pt idx="12">
                  <c:v>4.098256331933308E-2</c:v>
                </c:pt>
                <c:pt idx="13">
                  <c:v>6.0191916254725211E-2</c:v>
                </c:pt>
                <c:pt idx="14">
                  <c:v>4.1735461383232433E-2</c:v>
                </c:pt>
                <c:pt idx="15">
                  <c:v>3.9337227321492432E-2</c:v>
                </c:pt>
                <c:pt idx="16">
                  <c:v>7.1805483704086917E-2</c:v>
                </c:pt>
                <c:pt idx="17">
                  <c:v>5.7583634719710668E-2</c:v>
                </c:pt>
                <c:pt idx="18">
                  <c:v>4.7535554256769919E-2</c:v>
                </c:pt>
                <c:pt idx="19">
                  <c:v>4.4388035126234904E-2</c:v>
                </c:pt>
                <c:pt idx="20">
                  <c:v>5.3275995938601203E-2</c:v>
                </c:pt>
              </c:numCache>
            </c:numRef>
          </c:val>
          <c:extLst>
            <c:ext xmlns:c16="http://schemas.microsoft.com/office/drawing/2014/chart" uri="{C3380CC4-5D6E-409C-BE32-E72D297353CC}">
              <c16:uniqueId val="{00000012-53A8-434C-B176-7C2BD96206D0}"/>
            </c:ext>
          </c:extLst>
        </c:ser>
        <c:ser>
          <c:idx val="3"/>
          <c:order val="3"/>
          <c:tx>
            <c:strRef>
              <c:f>供应成交!$L$93</c:f>
              <c:strCache>
                <c:ptCount val="1"/>
                <c:pt idx="0">
                  <c:v>办公</c:v>
                </c:pt>
              </c:strCache>
            </c:strRef>
          </c:tx>
          <c:spPr>
            <a:solidFill>
              <a:srgbClr val="F79646">
                <a:lumMod val="75000"/>
              </a:srgbClr>
            </a:solidFill>
          </c:spPr>
          <c:invertIfNegative val="0"/>
          <c:cat>
            <c:numRef>
              <c:f>供应成交!$A$94:$A$114</c:f>
              <c:numCache>
                <c:formatCode>yyyy"年"m"月"</c:formatCode>
                <c:ptCount val="21"/>
                <c:pt idx="0">
                  <c:v>42005</c:v>
                </c:pt>
                <c:pt idx="1">
                  <c:v>42036</c:v>
                </c:pt>
                <c:pt idx="2">
                  <c:v>42064</c:v>
                </c:pt>
                <c:pt idx="3">
                  <c:v>42095</c:v>
                </c:pt>
                <c:pt idx="4">
                  <c:v>42125</c:v>
                </c:pt>
                <c:pt idx="5">
                  <c:v>42156</c:v>
                </c:pt>
                <c:pt idx="6">
                  <c:v>42186</c:v>
                </c:pt>
                <c:pt idx="7">
                  <c:v>42217</c:v>
                </c:pt>
                <c:pt idx="8">
                  <c:v>42248</c:v>
                </c:pt>
                <c:pt idx="9">
                  <c:v>42278</c:v>
                </c:pt>
                <c:pt idx="10">
                  <c:v>42309</c:v>
                </c:pt>
                <c:pt idx="11">
                  <c:v>42339</c:v>
                </c:pt>
                <c:pt idx="12">
                  <c:v>42370</c:v>
                </c:pt>
                <c:pt idx="13">
                  <c:v>42401</c:v>
                </c:pt>
                <c:pt idx="14">
                  <c:v>42430</c:v>
                </c:pt>
                <c:pt idx="15">
                  <c:v>42461</c:v>
                </c:pt>
                <c:pt idx="16">
                  <c:v>42491</c:v>
                </c:pt>
                <c:pt idx="17">
                  <c:v>42522</c:v>
                </c:pt>
                <c:pt idx="18">
                  <c:v>42552</c:v>
                </c:pt>
                <c:pt idx="19">
                  <c:v>42584</c:v>
                </c:pt>
                <c:pt idx="20">
                  <c:v>42616</c:v>
                </c:pt>
              </c:numCache>
            </c:numRef>
          </c:cat>
          <c:val>
            <c:numRef>
              <c:f>供应成交!$L$94:$L$114</c:f>
              <c:numCache>
                <c:formatCode>0.0%</c:formatCode>
                <c:ptCount val="21"/>
                <c:pt idx="0">
                  <c:v>1.7438806597331654E-2</c:v>
                </c:pt>
                <c:pt idx="1">
                  <c:v>2.9195160441872699E-2</c:v>
                </c:pt>
                <c:pt idx="2">
                  <c:v>4.2028018679119414E-2</c:v>
                </c:pt>
                <c:pt idx="3">
                  <c:v>3.0074074074074073E-2</c:v>
                </c:pt>
                <c:pt idx="4">
                  <c:v>3.1746031746031744E-2</c:v>
                </c:pt>
                <c:pt idx="5">
                  <c:v>2.1151330135194067E-2</c:v>
                </c:pt>
                <c:pt idx="6">
                  <c:v>2.9055198103623434E-2</c:v>
                </c:pt>
                <c:pt idx="7">
                  <c:v>2.0524515393386546E-2</c:v>
                </c:pt>
                <c:pt idx="8">
                  <c:v>6.0360160071142727E-2</c:v>
                </c:pt>
                <c:pt idx="9">
                  <c:v>3.1423495447479459E-2</c:v>
                </c:pt>
                <c:pt idx="10">
                  <c:v>8.0574995271420466E-2</c:v>
                </c:pt>
                <c:pt idx="11">
                  <c:v>7.6370007854510299E-2</c:v>
                </c:pt>
                <c:pt idx="12">
                  <c:v>5.3328242331678759E-2</c:v>
                </c:pt>
                <c:pt idx="13">
                  <c:v>3.4603082291363767E-2</c:v>
                </c:pt>
                <c:pt idx="14">
                  <c:v>4.852320675105485E-2</c:v>
                </c:pt>
                <c:pt idx="15">
                  <c:v>4.190010728334724E-2</c:v>
                </c:pt>
                <c:pt idx="16">
                  <c:v>3.8178996378685978E-2</c:v>
                </c:pt>
                <c:pt idx="17">
                  <c:v>3.9556962025316458E-2</c:v>
                </c:pt>
                <c:pt idx="18">
                  <c:v>4.5977011494252873E-2</c:v>
                </c:pt>
                <c:pt idx="19">
                  <c:v>4.8367178924259055E-2</c:v>
                </c:pt>
                <c:pt idx="20">
                  <c:v>6.480320133787254E-2</c:v>
                </c:pt>
              </c:numCache>
            </c:numRef>
          </c:val>
          <c:extLst>
            <c:ext xmlns:c16="http://schemas.microsoft.com/office/drawing/2014/chart" uri="{C3380CC4-5D6E-409C-BE32-E72D297353CC}">
              <c16:uniqueId val="{00000013-53A8-434C-B176-7C2BD96206D0}"/>
            </c:ext>
          </c:extLst>
        </c:ser>
        <c:ser>
          <c:idx val="4"/>
          <c:order val="4"/>
          <c:tx>
            <c:strRef>
              <c:f>供应成交!$M$93</c:f>
              <c:strCache>
                <c:ptCount val="1"/>
                <c:pt idx="0">
                  <c:v>商业</c:v>
                </c:pt>
              </c:strCache>
            </c:strRef>
          </c:tx>
          <c:invertIfNegative val="0"/>
          <c:cat>
            <c:numRef>
              <c:f>供应成交!$A$94:$A$114</c:f>
              <c:numCache>
                <c:formatCode>yyyy"年"m"月"</c:formatCode>
                <c:ptCount val="21"/>
                <c:pt idx="0">
                  <c:v>42005</c:v>
                </c:pt>
                <c:pt idx="1">
                  <c:v>42036</c:v>
                </c:pt>
                <c:pt idx="2">
                  <c:v>42064</c:v>
                </c:pt>
                <c:pt idx="3">
                  <c:v>42095</c:v>
                </c:pt>
                <c:pt idx="4">
                  <c:v>42125</c:v>
                </c:pt>
                <c:pt idx="5">
                  <c:v>42156</c:v>
                </c:pt>
                <c:pt idx="6">
                  <c:v>42186</c:v>
                </c:pt>
                <c:pt idx="7">
                  <c:v>42217</c:v>
                </c:pt>
                <c:pt idx="8">
                  <c:v>42248</c:v>
                </c:pt>
                <c:pt idx="9">
                  <c:v>42278</c:v>
                </c:pt>
                <c:pt idx="10">
                  <c:v>42309</c:v>
                </c:pt>
                <c:pt idx="11">
                  <c:v>42339</c:v>
                </c:pt>
                <c:pt idx="12">
                  <c:v>42370</c:v>
                </c:pt>
                <c:pt idx="13">
                  <c:v>42401</c:v>
                </c:pt>
                <c:pt idx="14">
                  <c:v>42430</c:v>
                </c:pt>
                <c:pt idx="15">
                  <c:v>42461</c:v>
                </c:pt>
                <c:pt idx="16">
                  <c:v>42491</c:v>
                </c:pt>
                <c:pt idx="17">
                  <c:v>42522</c:v>
                </c:pt>
                <c:pt idx="18">
                  <c:v>42552</c:v>
                </c:pt>
                <c:pt idx="19">
                  <c:v>42584</c:v>
                </c:pt>
                <c:pt idx="20">
                  <c:v>42616</c:v>
                </c:pt>
              </c:numCache>
            </c:numRef>
          </c:cat>
          <c:val>
            <c:numRef>
              <c:f>供应成交!$M$94:$M$114</c:f>
              <c:numCache>
                <c:formatCode>0.0%</c:formatCode>
                <c:ptCount val="21"/>
                <c:pt idx="0">
                  <c:v>2.384704275659208E-2</c:v>
                </c:pt>
                <c:pt idx="1">
                  <c:v>3.3403471856917409E-2</c:v>
                </c:pt>
                <c:pt idx="2">
                  <c:v>2.5127863019790971E-2</c:v>
                </c:pt>
                <c:pt idx="3">
                  <c:v>3.2444444444444442E-2</c:v>
                </c:pt>
                <c:pt idx="4">
                  <c:v>4.3449018025289214E-2</c:v>
                </c:pt>
                <c:pt idx="5">
                  <c:v>3.0309638028783253E-2</c:v>
                </c:pt>
                <c:pt idx="6">
                  <c:v>2.2079241449373517E-2</c:v>
                </c:pt>
                <c:pt idx="7">
                  <c:v>4.0316012379866428E-2</c:v>
                </c:pt>
                <c:pt idx="8">
                  <c:v>4.5464650955980436E-2</c:v>
                </c:pt>
                <c:pt idx="9">
                  <c:v>4.1194759049522543E-2</c:v>
                </c:pt>
                <c:pt idx="10">
                  <c:v>7.6508416871571783E-2</c:v>
                </c:pt>
                <c:pt idx="11">
                  <c:v>5.9513020361307477E-2</c:v>
                </c:pt>
                <c:pt idx="12">
                  <c:v>5.0146366297569044E-2</c:v>
                </c:pt>
                <c:pt idx="13">
                  <c:v>3.1113695841814479E-2</c:v>
                </c:pt>
                <c:pt idx="14">
                  <c:v>5.4301962942579343E-2</c:v>
                </c:pt>
                <c:pt idx="15">
                  <c:v>5.9005840982238648E-2</c:v>
                </c:pt>
                <c:pt idx="16">
                  <c:v>5.7941024314536987E-2</c:v>
                </c:pt>
                <c:pt idx="17">
                  <c:v>5.4080018083182642E-2</c:v>
                </c:pt>
                <c:pt idx="18">
                  <c:v>5.3639846743295021E-2</c:v>
                </c:pt>
                <c:pt idx="19">
                  <c:v>9.3166849615806804E-2</c:v>
                </c:pt>
                <c:pt idx="20">
                  <c:v>4.6407453861315173E-2</c:v>
                </c:pt>
              </c:numCache>
            </c:numRef>
          </c:val>
          <c:extLst>
            <c:ext xmlns:c16="http://schemas.microsoft.com/office/drawing/2014/chart" uri="{C3380CC4-5D6E-409C-BE32-E72D297353CC}">
              <c16:uniqueId val="{00000014-53A8-434C-B176-7C2BD96206D0}"/>
            </c:ext>
          </c:extLst>
        </c:ser>
        <c:ser>
          <c:idx val="5"/>
          <c:order val="5"/>
          <c:tx>
            <c:strRef>
              <c:f>供应成交!$N$93</c:f>
              <c:strCache>
                <c:ptCount val="1"/>
                <c:pt idx="0">
                  <c:v>自住房</c:v>
                </c:pt>
              </c:strCache>
            </c:strRef>
          </c:tx>
          <c:invertIfNegative val="0"/>
          <c:cat>
            <c:numRef>
              <c:f>供应成交!$A$94:$A$114</c:f>
              <c:numCache>
                <c:formatCode>yyyy"年"m"月"</c:formatCode>
                <c:ptCount val="21"/>
                <c:pt idx="0">
                  <c:v>42005</c:v>
                </c:pt>
                <c:pt idx="1">
                  <c:v>42036</c:v>
                </c:pt>
                <c:pt idx="2">
                  <c:v>42064</c:v>
                </c:pt>
                <c:pt idx="3">
                  <c:v>42095</c:v>
                </c:pt>
                <c:pt idx="4">
                  <c:v>42125</c:v>
                </c:pt>
                <c:pt idx="5">
                  <c:v>42156</c:v>
                </c:pt>
                <c:pt idx="6">
                  <c:v>42186</c:v>
                </c:pt>
                <c:pt idx="7">
                  <c:v>42217</c:v>
                </c:pt>
                <c:pt idx="8">
                  <c:v>42248</c:v>
                </c:pt>
                <c:pt idx="9">
                  <c:v>42278</c:v>
                </c:pt>
                <c:pt idx="10">
                  <c:v>42309</c:v>
                </c:pt>
                <c:pt idx="11">
                  <c:v>42339</c:v>
                </c:pt>
                <c:pt idx="12">
                  <c:v>42370</c:v>
                </c:pt>
                <c:pt idx="13">
                  <c:v>42401</c:v>
                </c:pt>
                <c:pt idx="14">
                  <c:v>42430</c:v>
                </c:pt>
                <c:pt idx="15">
                  <c:v>42461</c:v>
                </c:pt>
                <c:pt idx="16">
                  <c:v>42491</c:v>
                </c:pt>
                <c:pt idx="17">
                  <c:v>42522</c:v>
                </c:pt>
                <c:pt idx="18">
                  <c:v>42552</c:v>
                </c:pt>
                <c:pt idx="19">
                  <c:v>42584</c:v>
                </c:pt>
                <c:pt idx="20">
                  <c:v>42616</c:v>
                </c:pt>
              </c:numCache>
            </c:numRef>
          </c:cat>
          <c:val>
            <c:numRef>
              <c:f>供应成交!$N$94:$N$114</c:f>
              <c:numCache>
                <c:formatCode>0.0%</c:formatCode>
                <c:ptCount val="21"/>
                <c:pt idx="0">
                  <c:v>0.42840634520432819</c:v>
                </c:pt>
                <c:pt idx="1">
                  <c:v>0.37243556023145713</c:v>
                </c:pt>
                <c:pt idx="2">
                  <c:v>0.15632643984878808</c:v>
                </c:pt>
                <c:pt idx="3">
                  <c:v>0.26948148148148149</c:v>
                </c:pt>
                <c:pt idx="4">
                  <c:v>0.12052730696798493</c:v>
                </c:pt>
                <c:pt idx="5">
                  <c:v>0.10521151330135194</c:v>
                </c:pt>
                <c:pt idx="6">
                  <c:v>0.33213681002370471</c:v>
                </c:pt>
                <c:pt idx="7">
                  <c:v>0.19384264538198404</c:v>
                </c:pt>
                <c:pt idx="8">
                  <c:v>0.17696754112939084</c:v>
                </c:pt>
                <c:pt idx="9">
                  <c:v>0.32100821674439262</c:v>
                </c:pt>
                <c:pt idx="10">
                  <c:v>0.15575940987327408</c:v>
                </c:pt>
                <c:pt idx="11">
                  <c:v>0.28457495015406925</c:v>
                </c:pt>
                <c:pt idx="12">
                  <c:v>8.7819778541428029E-2</c:v>
                </c:pt>
                <c:pt idx="13">
                  <c:v>7.8511195114858975E-2</c:v>
                </c:pt>
                <c:pt idx="14">
                  <c:v>5.4485415520088058E-2</c:v>
                </c:pt>
                <c:pt idx="15">
                  <c:v>6.8542138514721658E-3</c:v>
                </c:pt>
                <c:pt idx="16">
                  <c:v>7.0046559751681323E-2</c:v>
                </c:pt>
                <c:pt idx="17">
                  <c:v>1.5935804701627487E-2</c:v>
                </c:pt>
                <c:pt idx="18">
                  <c:v>0.12870965647119942</c:v>
                </c:pt>
                <c:pt idx="19">
                  <c:v>0.21960757409440176</c:v>
                </c:pt>
                <c:pt idx="20">
                  <c:v>2.0187541061936331E-2</c:v>
                </c:pt>
              </c:numCache>
            </c:numRef>
          </c:val>
          <c:extLst>
            <c:ext xmlns:c16="http://schemas.microsoft.com/office/drawing/2014/chart" uri="{C3380CC4-5D6E-409C-BE32-E72D297353CC}">
              <c16:uniqueId val="{00000015-53A8-434C-B176-7C2BD96206D0}"/>
            </c:ext>
          </c:extLst>
        </c:ser>
        <c:dLbls>
          <c:showLegendKey val="0"/>
          <c:showVal val="0"/>
          <c:showCatName val="0"/>
          <c:showSerName val="0"/>
          <c:showPercent val="0"/>
          <c:showBubbleSize val="0"/>
        </c:dLbls>
        <c:gapWidth val="150"/>
        <c:overlap val="100"/>
        <c:axId val="241141248"/>
        <c:axId val="241142784"/>
      </c:barChart>
      <c:dateAx>
        <c:axId val="241141248"/>
        <c:scaling>
          <c:orientation val="minMax"/>
        </c:scaling>
        <c:delete val="0"/>
        <c:axPos val="b"/>
        <c:majorGridlines>
          <c:spPr>
            <a:ln w="12700" cap="flat" cmpd="sng" algn="ctr">
              <a:solidFill>
                <a:schemeClr val="bg1"/>
              </a:solidFill>
              <a:round/>
            </a:ln>
            <a:effectLst/>
          </c:spPr>
        </c:majorGridlines>
        <c:numFmt formatCode="yyyy&quot;年&quot;m&quot;月&quot;" sourceLinked="1"/>
        <c:majorTickMark val="out"/>
        <c:minorTickMark val="none"/>
        <c:tickLblPos val="nextTo"/>
        <c:spPr>
          <a:noFill/>
          <a:ln w="9525" cap="flat" cmpd="sng" algn="ctr">
            <a:solidFill>
              <a:srgbClr val="FFFFFF"/>
            </a:solidFill>
            <a:round/>
          </a:ln>
          <a:effectLst/>
        </c:spPr>
        <c:txPr>
          <a:bodyPr rot="-60000000" spcFirstLastPara="1" vertOverflow="ellipsis" vert="horz" wrap="square" anchor="ctr" anchorCtr="1"/>
          <a:lstStyle/>
          <a:p>
            <a:pPr>
              <a:defRPr sz="1000" b="1" i="0" u="none" strike="noStrike" kern="1200" baseline="0">
                <a:solidFill>
                  <a:schemeClr val="tx1">
                    <a:lumMod val="65000"/>
                    <a:lumOff val="35000"/>
                  </a:schemeClr>
                </a:solidFill>
                <a:latin typeface="Arial" panose="020B0604020202020204" pitchFamily="34" charset="0"/>
                <a:ea typeface="微软雅黑" panose="020B0503020204020204" pitchFamily="34" charset="-122"/>
                <a:cs typeface="+mn-cs"/>
              </a:defRPr>
            </a:pPr>
            <a:endParaRPr lang="zh-CN"/>
          </a:p>
        </c:txPr>
        <c:crossAx val="241142784"/>
        <c:crosses val="autoZero"/>
        <c:auto val="1"/>
        <c:lblOffset val="100"/>
        <c:baseTimeUnit val="months"/>
        <c:majorUnit val="1"/>
        <c:majorTimeUnit val="months"/>
      </c:dateAx>
      <c:valAx>
        <c:axId val="241142784"/>
        <c:scaling>
          <c:orientation val="minMax"/>
          <c:max val="1"/>
          <c:min val="0"/>
        </c:scaling>
        <c:delete val="0"/>
        <c:axPos val="l"/>
        <c:majorGridlines>
          <c:spPr>
            <a:ln w="12700" cap="flat" cmpd="sng" algn="ctr">
              <a:solidFill>
                <a:schemeClr val="bg1"/>
              </a:solidFill>
              <a:round/>
            </a:ln>
            <a:effectLst/>
          </c:spPr>
        </c:majorGridlines>
        <c:numFmt formatCode="0.0%" sourceLinked="1"/>
        <c:majorTickMark val="out"/>
        <c:minorTickMark val="none"/>
        <c:tickLblPos val="nextTo"/>
        <c:spPr>
          <a:noFill/>
          <a:ln>
            <a:noFill/>
          </a:ln>
          <a:effectLst/>
        </c:spPr>
        <c:txPr>
          <a:bodyPr rot="-60000000" spcFirstLastPara="1" vertOverflow="ellipsis" vert="horz" wrap="square" anchor="ctr" anchorCtr="1"/>
          <a:lstStyle/>
          <a:p>
            <a:pPr>
              <a:defRPr sz="1050" b="1" i="0" u="none" strike="noStrike" kern="1200" baseline="0">
                <a:solidFill>
                  <a:schemeClr val="tx1">
                    <a:lumMod val="65000"/>
                    <a:lumOff val="35000"/>
                  </a:schemeClr>
                </a:solidFill>
                <a:latin typeface="Arial" panose="020B0604020202020204" pitchFamily="34" charset="0"/>
                <a:ea typeface="微软雅黑" panose="020B0503020204020204" pitchFamily="34" charset="-122"/>
                <a:cs typeface="+mn-cs"/>
              </a:defRPr>
            </a:pPr>
            <a:endParaRPr lang="zh-CN"/>
          </a:p>
        </c:txPr>
        <c:crossAx val="241141248"/>
        <c:crosses val="autoZero"/>
        <c:crossBetween val="between"/>
        <c:majorUnit val="0.2"/>
      </c:valAx>
      <c:spPr>
        <a:solidFill>
          <a:srgbClr val="EAEAEA"/>
        </a:solidFill>
        <a:ln>
          <a:noFill/>
        </a:ln>
        <a:effectLst/>
      </c:spPr>
    </c:plotArea>
    <c:legend>
      <c:legendPos val="b"/>
      <c:layout>
        <c:manualLayout>
          <c:xMode val="edge"/>
          <c:yMode val="edge"/>
          <c:x val="0.10177810294489002"/>
          <c:y val="0.1420646364987509"/>
          <c:w val="0.85343601864269492"/>
          <c:h val="7.2959870979982924E-2"/>
        </c:manualLayout>
      </c:layout>
      <c:overlay val="0"/>
      <c:spPr>
        <a:noFill/>
        <a:ln>
          <a:noFill/>
        </a:ln>
        <a:effectLst/>
      </c:spPr>
      <c:txPr>
        <a:bodyPr rot="0" spcFirstLastPara="1" vertOverflow="ellipsis" vert="horz" wrap="square" anchor="ctr" anchorCtr="1"/>
        <a:lstStyle/>
        <a:p>
          <a:pPr>
            <a:defRPr sz="1100" b="1" i="0" u="none" strike="noStrike" kern="1200" baseline="0">
              <a:solidFill>
                <a:schemeClr val="tx1">
                  <a:lumMod val="65000"/>
                  <a:lumOff val="35000"/>
                </a:schemeClr>
              </a:solidFill>
              <a:latin typeface="Arial" panose="020B0604020202020204" pitchFamily="34" charset="0"/>
              <a:ea typeface="微软雅黑" panose="020B0503020204020204" pitchFamily="34" charset="-122"/>
              <a:cs typeface="+mn-cs"/>
            </a:defRPr>
          </a:pPr>
          <a:endParaRPr lang="zh-CN"/>
        </a:p>
      </c:txPr>
    </c:legend>
    <c:plotVisOnly val="1"/>
    <c:dispBlanksAs val="gap"/>
    <c:showDLblsOverMax val="0"/>
  </c:chart>
  <c:spPr>
    <a:solidFill>
      <a:srgbClr val="FFFFFF"/>
    </a:solidFill>
    <a:ln w="9525" cap="flat" cmpd="sng" algn="ctr">
      <a:noFill/>
      <a:round/>
    </a:ln>
    <a:effectLst/>
  </c:spPr>
  <c:txPr>
    <a:bodyPr/>
    <a:lstStyle/>
    <a:p>
      <a:pPr>
        <a:defRPr/>
      </a:pPr>
      <a:endParaRPr lang="zh-CN"/>
    </a:p>
  </c:txPr>
  <c:externalData r:id="rId2">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0" i="0" u="none" strike="noStrike" kern="1200" spc="0" baseline="0">
                <a:solidFill>
                  <a:schemeClr val="tx1">
                    <a:lumMod val="65000"/>
                    <a:lumOff val="35000"/>
                  </a:schemeClr>
                </a:solidFill>
                <a:latin typeface="Arial" panose="020B0604020202020204" pitchFamily="34" charset="0"/>
                <a:ea typeface="微软雅黑" panose="020B0503020204020204" pitchFamily="34" charset="-122"/>
                <a:cs typeface="+mn-cs"/>
              </a:defRPr>
            </a:pPr>
            <a:r>
              <a:rPr lang="zh-CN" altLang="en-US" sz="1600" b="1"/>
              <a:t>北京一手房各业态成交套数对比</a:t>
            </a:r>
          </a:p>
        </c:rich>
      </c:tx>
      <c:layout>
        <c:manualLayout>
          <c:xMode val="edge"/>
          <c:yMode val="edge"/>
          <c:x val="0.25878871583887481"/>
          <c:y val="6.1068675451938011E-2"/>
        </c:manualLayout>
      </c:layout>
      <c:overlay val="0"/>
      <c:spPr>
        <a:noFill/>
        <a:ln>
          <a:noFill/>
        </a:ln>
        <a:effectLst/>
      </c:spPr>
    </c:title>
    <c:autoTitleDeleted val="0"/>
    <c:plotArea>
      <c:layout>
        <c:manualLayout>
          <c:layoutTarget val="inner"/>
          <c:xMode val="edge"/>
          <c:yMode val="edge"/>
          <c:x val="7.7983621421194291E-2"/>
          <c:y val="0.3090444558356239"/>
          <c:w val="0.89658471435031972"/>
          <c:h val="0.5548898455046124"/>
        </c:manualLayout>
      </c:layout>
      <c:barChart>
        <c:barDir val="col"/>
        <c:grouping val="clustered"/>
        <c:varyColors val="0"/>
        <c:ser>
          <c:idx val="0"/>
          <c:order val="0"/>
          <c:tx>
            <c:strRef>
              <c:f>供应成交!$X$120</c:f>
              <c:strCache>
                <c:ptCount val="1"/>
                <c:pt idx="0">
                  <c:v>2016年8月</c:v>
                </c:pt>
              </c:strCache>
            </c:strRef>
          </c:tx>
          <c:spPr>
            <a:solidFill>
              <a:srgbClr val="1F497D">
                <a:lumMod val="60000"/>
                <a:lumOff val="40000"/>
              </a:srgbClr>
            </a:solidFill>
            <a:ln w="31750" cap="rnd">
              <a:solidFill>
                <a:srgbClr val="3B95D2"/>
              </a:solidFill>
              <a:round/>
            </a:ln>
            <a:effectLst>
              <a:outerShdw blurRad="38100" dist="38100" dir="5400000" algn="t" rotWithShape="0">
                <a:srgbClr val="717171">
                  <a:alpha val="40000"/>
                </a:srgbClr>
              </a:outerShdw>
            </a:effectLst>
          </c:spPr>
          <c:invertIfNegative val="0"/>
          <c:dLbls>
            <c:dLbl>
              <c:idx val="2"/>
              <c:layout>
                <c:manualLayout>
                  <c:x val="-2.185792349726776E-3"/>
                  <c:y val="3.8685589833186117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C4D-4E1C-B5D7-BC17713FF724}"/>
                </c:ext>
              </c:extLst>
            </c:dLbl>
            <c:dLbl>
              <c:idx val="3"/>
              <c:layout>
                <c:manualLayout>
                  <c:x val="0"/>
                  <c:y val="1.616161616161616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C4D-4E1C-B5D7-BC17713FF724}"/>
                </c:ext>
              </c:extLst>
            </c:dLbl>
            <c:spPr>
              <a:noFill/>
              <a:ln>
                <a:noFill/>
              </a:ln>
              <a:effectLst/>
            </c:spPr>
            <c:txPr>
              <a:bodyPr/>
              <a:lstStyle/>
              <a:p>
                <a:pPr>
                  <a:defRPr b="1">
                    <a:latin typeface="微软雅黑" pitchFamily="34" charset="-122"/>
                    <a:ea typeface="微软雅黑" pitchFamily="34" charset="-122"/>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供应成交!$Y$113:$AD$113</c:f>
              <c:strCache>
                <c:ptCount val="6"/>
                <c:pt idx="0">
                  <c:v>普通住宅</c:v>
                </c:pt>
                <c:pt idx="1">
                  <c:v>别墅</c:v>
                </c:pt>
                <c:pt idx="2">
                  <c:v>公寓</c:v>
                </c:pt>
                <c:pt idx="3">
                  <c:v>办公</c:v>
                </c:pt>
                <c:pt idx="4">
                  <c:v>商业</c:v>
                </c:pt>
                <c:pt idx="5">
                  <c:v>自住房</c:v>
                </c:pt>
              </c:strCache>
            </c:strRef>
          </c:cat>
          <c:val>
            <c:numRef>
              <c:f>供应成交!$Y$120:$AD$120</c:f>
              <c:numCache>
                <c:formatCode>General</c:formatCode>
                <c:ptCount val="6"/>
                <c:pt idx="0">
                  <c:v>3446</c:v>
                </c:pt>
                <c:pt idx="1">
                  <c:v>647</c:v>
                </c:pt>
                <c:pt idx="2">
                  <c:v>5219</c:v>
                </c:pt>
                <c:pt idx="3">
                  <c:v>705</c:v>
                </c:pt>
                <c:pt idx="4">
                  <c:v>1358</c:v>
                </c:pt>
                <c:pt idx="5">
                  <c:v>3201</c:v>
                </c:pt>
              </c:numCache>
            </c:numRef>
          </c:val>
          <c:extLst>
            <c:ext xmlns:c16="http://schemas.microsoft.com/office/drawing/2014/chart" uri="{C3380CC4-5D6E-409C-BE32-E72D297353CC}">
              <c16:uniqueId val="{00000002-5C4D-4E1C-B5D7-BC17713FF724}"/>
            </c:ext>
          </c:extLst>
        </c:ser>
        <c:ser>
          <c:idx val="1"/>
          <c:order val="1"/>
          <c:tx>
            <c:strRef>
              <c:f>供应成交!$X$121</c:f>
              <c:strCache>
                <c:ptCount val="1"/>
                <c:pt idx="0">
                  <c:v>2016年9月</c:v>
                </c:pt>
              </c:strCache>
            </c:strRef>
          </c:tx>
          <c:spPr>
            <a:ln w="31750" cap="rnd">
              <a:solidFill>
                <a:srgbClr val="FFD966"/>
              </a:solidFill>
              <a:round/>
            </a:ln>
            <a:effectLst>
              <a:outerShdw blurRad="38100" dist="38100" dir="5400000" algn="t" rotWithShape="0">
                <a:srgbClr val="717171">
                  <a:alpha val="40000"/>
                </a:srgbClr>
              </a:outerShdw>
            </a:effectLst>
          </c:spPr>
          <c:invertIfNegative val="0"/>
          <c:dLbls>
            <c:dLbl>
              <c:idx val="0"/>
              <c:layout>
                <c:manualLayout>
                  <c:x val="0"/>
                  <c:y val="-1.6161616161616089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5C4D-4E1C-B5D7-BC17713FF724}"/>
                </c:ext>
              </c:extLst>
            </c:dLbl>
            <c:dLbl>
              <c:idx val="1"/>
              <c:layout>
                <c:manualLayout>
                  <c:x val="-4.0072396825243255E-17"/>
                  <c:y val="1.2121212121212121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5C4D-4E1C-B5D7-BC17713FF724}"/>
                </c:ext>
              </c:extLst>
            </c:dLbl>
            <c:dLbl>
              <c:idx val="2"/>
              <c:layout>
                <c:manualLayout>
                  <c:x val="0"/>
                  <c:y val="2.4390243902439025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5C4D-4E1C-B5D7-BC17713FF724}"/>
                </c:ext>
              </c:extLst>
            </c:dLbl>
            <c:spPr>
              <a:noFill/>
              <a:ln>
                <a:noFill/>
              </a:ln>
              <a:effectLst/>
            </c:spPr>
            <c:txPr>
              <a:bodyPr/>
              <a:lstStyle/>
              <a:p>
                <a:pPr>
                  <a:defRPr b="1">
                    <a:latin typeface="微软雅黑" pitchFamily="34" charset="-122"/>
                    <a:ea typeface="微软雅黑" pitchFamily="34" charset="-122"/>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供应成交!$Y$113:$AD$113</c:f>
              <c:strCache>
                <c:ptCount val="6"/>
                <c:pt idx="0">
                  <c:v>普通住宅</c:v>
                </c:pt>
                <c:pt idx="1">
                  <c:v>别墅</c:v>
                </c:pt>
                <c:pt idx="2">
                  <c:v>公寓</c:v>
                </c:pt>
                <c:pt idx="3">
                  <c:v>办公</c:v>
                </c:pt>
                <c:pt idx="4">
                  <c:v>商业</c:v>
                </c:pt>
                <c:pt idx="5">
                  <c:v>自住房</c:v>
                </c:pt>
              </c:strCache>
            </c:strRef>
          </c:cat>
          <c:val>
            <c:numRef>
              <c:f>供应成交!$Y$121:$AD$121</c:f>
              <c:numCache>
                <c:formatCode>General</c:formatCode>
                <c:ptCount val="6"/>
                <c:pt idx="0">
                  <c:v>4627</c:v>
                </c:pt>
                <c:pt idx="1">
                  <c:v>892</c:v>
                </c:pt>
                <c:pt idx="2">
                  <c:v>9024</c:v>
                </c:pt>
                <c:pt idx="3">
                  <c:v>1085</c:v>
                </c:pt>
                <c:pt idx="4">
                  <c:v>777</c:v>
                </c:pt>
                <c:pt idx="5">
                  <c:v>338</c:v>
                </c:pt>
              </c:numCache>
            </c:numRef>
          </c:val>
          <c:extLst>
            <c:ext xmlns:c16="http://schemas.microsoft.com/office/drawing/2014/chart" uri="{C3380CC4-5D6E-409C-BE32-E72D297353CC}">
              <c16:uniqueId val="{00000006-5C4D-4E1C-B5D7-BC17713FF724}"/>
            </c:ext>
          </c:extLst>
        </c:ser>
        <c:dLbls>
          <c:showLegendKey val="0"/>
          <c:showVal val="0"/>
          <c:showCatName val="0"/>
          <c:showSerName val="0"/>
          <c:showPercent val="0"/>
          <c:showBubbleSize val="0"/>
        </c:dLbls>
        <c:gapWidth val="150"/>
        <c:axId val="240845568"/>
        <c:axId val="240847104"/>
      </c:barChart>
      <c:catAx>
        <c:axId val="240845568"/>
        <c:scaling>
          <c:orientation val="minMax"/>
        </c:scaling>
        <c:delete val="0"/>
        <c:axPos val="b"/>
        <c:majorGridlines>
          <c:spPr>
            <a:ln w="12700" cap="flat" cmpd="sng" algn="ctr">
              <a:solidFill>
                <a:schemeClr val="bg1"/>
              </a:solidFill>
              <a:round/>
            </a:ln>
            <a:effectLst/>
          </c:spPr>
        </c:majorGridlines>
        <c:numFmt formatCode="General" sourceLinked="1"/>
        <c:majorTickMark val="out"/>
        <c:minorTickMark val="none"/>
        <c:tickLblPos val="nextTo"/>
        <c:spPr>
          <a:noFill/>
          <a:ln w="9525" cap="flat" cmpd="sng" algn="ctr">
            <a:solidFill>
              <a:srgbClr val="FFFFFF"/>
            </a:solidFill>
            <a:round/>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Arial" panose="020B0604020202020204" pitchFamily="34" charset="0"/>
                <a:ea typeface="微软雅黑" panose="020B0503020204020204" pitchFamily="34" charset="-122"/>
                <a:cs typeface="+mn-cs"/>
              </a:defRPr>
            </a:pPr>
            <a:endParaRPr lang="zh-CN"/>
          </a:p>
        </c:txPr>
        <c:crossAx val="240847104"/>
        <c:crosses val="autoZero"/>
        <c:auto val="1"/>
        <c:lblAlgn val="ctr"/>
        <c:lblOffset val="100"/>
        <c:tickLblSkip val="1"/>
        <c:noMultiLvlLbl val="0"/>
      </c:catAx>
      <c:valAx>
        <c:axId val="240847104"/>
        <c:scaling>
          <c:orientation val="minMax"/>
        </c:scaling>
        <c:delete val="0"/>
        <c:axPos val="l"/>
        <c:majorGridlines>
          <c:spPr>
            <a:ln w="12700" cap="flat" cmpd="sng" algn="ctr">
              <a:solidFill>
                <a:schemeClr val="bg1"/>
              </a:solidFill>
              <a:round/>
            </a:ln>
            <a:effectLst/>
          </c:spPr>
        </c:majorGridlines>
        <c:title>
          <c:tx>
            <c:rich>
              <a:bodyPr rot="0" vert="horz"/>
              <a:lstStyle/>
              <a:p>
                <a:pPr>
                  <a:defRPr/>
                </a:pPr>
                <a:r>
                  <a:rPr lang="zh-CN" altLang="en-US"/>
                  <a:t>套</a:t>
                </a:r>
              </a:p>
            </c:rich>
          </c:tx>
          <c:layout>
            <c:manualLayout>
              <c:xMode val="edge"/>
              <c:yMode val="edge"/>
              <c:x val="2.2484541877459247E-3"/>
              <c:y val="0.14196437945256846"/>
            </c:manualLayout>
          </c:layout>
          <c:overlay val="0"/>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050" b="1" i="0" u="none" strike="noStrike" kern="1200" baseline="0">
                <a:solidFill>
                  <a:schemeClr val="tx1">
                    <a:lumMod val="65000"/>
                    <a:lumOff val="35000"/>
                  </a:schemeClr>
                </a:solidFill>
                <a:latin typeface="Arial" panose="020B0604020202020204" pitchFamily="34" charset="0"/>
                <a:ea typeface="微软雅黑" panose="020B0503020204020204" pitchFamily="34" charset="-122"/>
                <a:cs typeface="+mn-cs"/>
              </a:defRPr>
            </a:pPr>
            <a:endParaRPr lang="zh-CN"/>
          </a:p>
        </c:txPr>
        <c:crossAx val="240845568"/>
        <c:crosses val="autoZero"/>
        <c:crossBetween val="between"/>
        <c:majorUnit val="2000"/>
      </c:valAx>
      <c:spPr>
        <a:solidFill>
          <a:srgbClr val="EAEAEA"/>
        </a:solidFill>
        <a:ln>
          <a:noFill/>
        </a:ln>
        <a:effectLst/>
      </c:spPr>
    </c:plotArea>
    <c:legend>
      <c:legendPos val="b"/>
      <c:layout>
        <c:manualLayout>
          <c:xMode val="edge"/>
          <c:yMode val="edge"/>
          <c:x val="0.18973139050397256"/>
          <c:y val="0.20848530362063716"/>
          <c:w val="0.60074316939890715"/>
          <c:h val="7.3402052016225239E-2"/>
        </c:manualLayout>
      </c:layout>
      <c:overlay val="0"/>
      <c:spPr>
        <a:noFill/>
        <a:ln>
          <a:noFill/>
        </a:ln>
        <a:effectLst/>
      </c:spPr>
      <c:txPr>
        <a:bodyPr rot="0" spcFirstLastPara="1" vertOverflow="ellipsis" vert="horz" wrap="square" anchor="ctr" anchorCtr="1"/>
        <a:lstStyle/>
        <a:p>
          <a:pPr>
            <a:defRPr sz="1100" b="1" i="0" u="none" strike="noStrike" kern="1200" baseline="0">
              <a:solidFill>
                <a:schemeClr val="tx1">
                  <a:lumMod val="65000"/>
                  <a:lumOff val="35000"/>
                </a:schemeClr>
              </a:solidFill>
              <a:latin typeface="Arial" panose="020B0604020202020204" pitchFamily="34" charset="0"/>
              <a:ea typeface="微软雅黑" panose="020B0503020204020204" pitchFamily="34" charset="-122"/>
              <a:cs typeface="+mn-cs"/>
            </a:defRPr>
          </a:pPr>
          <a:endParaRPr lang="zh-CN"/>
        </a:p>
      </c:txPr>
    </c:legend>
    <c:plotVisOnly val="1"/>
    <c:dispBlanksAs val="gap"/>
    <c:showDLblsOverMax val="0"/>
  </c:chart>
  <c:spPr>
    <a:noFill/>
    <a:ln w="9525" cap="flat" cmpd="sng" algn="ctr">
      <a:noFill/>
      <a:round/>
    </a:ln>
    <a:effectLst/>
  </c:spPr>
  <c:txPr>
    <a:bodyPr/>
    <a:lstStyle/>
    <a:p>
      <a:pPr>
        <a:defRPr/>
      </a:pPr>
      <a:endParaRPr lang="zh-CN"/>
    </a:p>
  </c:txPr>
  <c:externalData r:id="rId2">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0" i="0" u="none" strike="noStrike" kern="1200" spc="0" baseline="0">
                <a:solidFill>
                  <a:schemeClr val="tx1"/>
                </a:solidFill>
                <a:latin typeface="微软雅黑" pitchFamily="34" charset="-122"/>
                <a:ea typeface="微软雅黑" pitchFamily="34" charset="-122"/>
                <a:cs typeface="+mn-cs"/>
              </a:defRPr>
            </a:pPr>
            <a:r>
              <a:rPr lang="zh-CN" altLang="en-US" sz="1600" b="1">
                <a:solidFill>
                  <a:schemeClr val="tx1"/>
                </a:solidFill>
                <a:latin typeface="微软雅黑" pitchFamily="34" charset="-122"/>
                <a:ea typeface="微软雅黑" pitchFamily="34" charset="-122"/>
              </a:rPr>
              <a:t>北京一手房居住业态成交价格走势</a:t>
            </a:r>
          </a:p>
        </c:rich>
      </c:tx>
      <c:layout>
        <c:manualLayout>
          <c:xMode val="edge"/>
          <c:yMode val="edge"/>
          <c:x val="0.25389316570706122"/>
          <c:y val="1.2048039449614252E-2"/>
        </c:manualLayout>
      </c:layout>
      <c:overlay val="0"/>
      <c:spPr>
        <a:noFill/>
        <a:ln>
          <a:noFill/>
        </a:ln>
        <a:effectLst/>
      </c:spPr>
    </c:title>
    <c:autoTitleDeleted val="0"/>
    <c:plotArea>
      <c:layout>
        <c:manualLayout>
          <c:layoutTarget val="inner"/>
          <c:xMode val="edge"/>
          <c:yMode val="edge"/>
          <c:x val="8.93386977555293E-2"/>
          <c:y val="0.25992867912787498"/>
          <c:w val="0.88143139780377366"/>
          <c:h val="0.46786197609470209"/>
        </c:manualLayout>
      </c:layout>
      <c:lineChart>
        <c:grouping val="standard"/>
        <c:varyColors val="0"/>
        <c:ser>
          <c:idx val="0"/>
          <c:order val="0"/>
          <c:tx>
            <c:strRef>
              <c:f>供应成交!$B$121</c:f>
              <c:strCache>
                <c:ptCount val="1"/>
                <c:pt idx="0">
                  <c:v>普通住宅</c:v>
                </c:pt>
              </c:strCache>
            </c:strRef>
          </c:tx>
          <c:spPr>
            <a:ln w="31750" cap="rnd">
              <a:solidFill>
                <a:srgbClr val="3B95D2"/>
              </a:solidFill>
              <a:round/>
            </a:ln>
            <a:effectLst>
              <a:outerShdw blurRad="38100" dist="38100" dir="5400000" algn="t" rotWithShape="0">
                <a:srgbClr val="717171">
                  <a:alpha val="40000"/>
                </a:srgbClr>
              </a:outerShdw>
            </a:effectLst>
          </c:spPr>
          <c:marker>
            <c:symbol val="circle"/>
            <c:size val="7"/>
            <c:spPr>
              <a:solidFill>
                <a:srgbClr val="3B95D2"/>
              </a:solidFill>
              <a:ln w="31750">
                <a:solidFill>
                  <a:schemeClr val="bg1"/>
                </a:solidFill>
              </a:ln>
              <a:effectLst>
                <a:outerShdw blurRad="38100" dist="38100" dir="5400000" algn="t" rotWithShape="0">
                  <a:srgbClr val="717171">
                    <a:alpha val="40000"/>
                  </a:srgbClr>
                </a:outerShdw>
              </a:effectLst>
            </c:spPr>
          </c:marker>
          <c:cat>
            <c:numRef>
              <c:f>供应成交!$A$122:$A$142</c:f>
              <c:numCache>
                <c:formatCode>yyyy"年"m"月"</c:formatCode>
                <c:ptCount val="21"/>
                <c:pt idx="0">
                  <c:v>42005</c:v>
                </c:pt>
                <c:pt idx="1">
                  <c:v>42036</c:v>
                </c:pt>
                <c:pt idx="2">
                  <c:v>42064</c:v>
                </c:pt>
                <c:pt idx="3">
                  <c:v>42095</c:v>
                </c:pt>
                <c:pt idx="4">
                  <c:v>42125</c:v>
                </c:pt>
                <c:pt idx="5">
                  <c:v>42156</c:v>
                </c:pt>
                <c:pt idx="6">
                  <c:v>42186</c:v>
                </c:pt>
                <c:pt idx="7">
                  <c:v>42217</c:v>
                </c:pt>
                <c:pt idx="8">
                  <c:v>42248</c:v>
                </c:pt>
                <c:pt idx="9">
                  <c:v>42278</c:v>
                </c:pt>
                <c:pt idx="10">
                  <c:v>42309</c:v>
                </c:pt>
                <c:pt idx="11">
                  <c:v>42339</c:v>
                </c:pt>
                <c:pt idx="12">
                  <c:v>42370</c:v>
                </c:pt>
                <c:pt idx="13">
                  <c:v>42401</c:v>
                </c:pt>
                <c:pt idx="14">
                  <c:v>42430</c:v>
                </c:pt>
                <c:pt idx="15">
                  <c:v>42461</c:v>
                </c:pt>
                <c:pt idx="16">
                  <c:v>42491</c:v>
                </c:pt>
                <c:pt idx="17">
                  <c:v>42522</c:v>
                </c:pt>
                <c:pt idx="18">
                  <c:v>42553</c:v>
                </c:pt>
                <c:pt idx="19">
                  <c:v>42585</c:v>
                </c:pt>
                <c:pt idx="20">
                  <c:v>42617</c:v>
                </c:pt>
              </c:numCache>
            </c:numRef>
          </c:cat>
          <c:val>
            <c:numRef>
              <c:f>供应成交!$B$122:$B$142</c:f>
              <c:numCache>
                <c:formatCode>General</c:formatCode>
                <c:ptCount val="21"/>
                <c:pt idx="0">
                  <c:v>23709</c:v>
                </c:pt>
                <c:pt idx="1">
                  <c:v>26767</c:v>
                </c:pt>
                <c:pt idx="2">
                  <c:v>27919</c:v>
                </c:pt>
                <c:pt idx="3">
                  <c:v>28609</c:v>
                </c:pt>
                <c:pt idx="4">
                  <c:v>28280</c:v>
                </c:pt>
                <c:pt idx="5">
                  <c:v>27374</c:v>
                </c:pt>
                <c:pt idx="6">
                  <c:v>26477</c:v>
                </c:pt>
                <c:pt idx="7">
                  <c:v>28511</c:v>
                </c:pt>
                <c:pt idx="8">
                  <c:v>31402</c:v>
                </c:pt>
                <c:pt idx="9">
                  <c:v>30053</c:v>
                </c:pt>
                <c:pt idx="10">
                  <c:v>32140</c:v>
                </c:pt>
                <c:pt idx="11">
                  <c:v>32506</c:v>
                </c:pt>
                <c:pt idx="12">
                  <c:v>30594</c:v>
                </c:pt>
                <c:pt idx="13">
                  <c:v>33612</c:v>
                </c:pt>
                <c:pt idx="14">
                  <c:v>34420</c:v>
                </c:pt>
                <c:pt idx="15">
                  <c:v>35203</c:v>
                </c:pt>
                <c:pt idx="16">
                  <c:v>37178</c:v>
                </c:pt>
                <c:pt idx="17">
                  <c:v>36731</c:v>
                </c:pt>
                <c:pt idx="18">
                  <c:v>38278</c:v>
                </c:pt>
                <c:pt idx="19">
                  <c:v>35788</c:v>
                </c:pt>
                <c:pt idx="20">
                  <c:v>39335</c:v>
                </c:pt>
              </c:numCache>
            </c:numRef>
          </c:val>
          <c:smooth val="1"/>
          <c:extLst>
            <c:ext xmlns:c16="http://schemas.microsoft.com/office/drawing/2014/chart" uri="{C3380CC4-5D6E-409C-BE32-E72D297353CC}">
              <c16:uniqueId val="{00000000-F83B-4F0C-BED4-DA1C0035CEE3}"/>
            </c:ext>
          </c:extLst>
        </c:ser>
        <c:ser>
          <c:idx val="1"/>
          <c:order val="1"/>
          <c:tx>
            <c:strRef>
              <c:f>供应成交!$C$121</c:f>
              <c:strCache>
                <c:ptCount val="1"/>
                <c:pt idx="0">
                  <c:v>别墅</c:v>
                </c:pt>
              </c:strCache>
            </c:strRef>
          </c:tx>
          <c:spPr>
            <a:ln w="31750" cap="rnd">
              <a:solidFill>
                <a:srgbClr val="FFD966"/>
              </a:solidFill>
              <a:round/>
            </a:ln>
            <a:effectLst>
              <a:outerShdw blurRad="38100" dist="38100" dir="5400000" algn="t" rotWithShape="0">
                <a:srgbClr val="717171">
                  <a:alpha val="40000"/>
                </a:srgbClr>
              </a:outerShdw>
            </a:effectLst>
          </c:spPr>
          <c:marker>
            <c:symbol val="circle"/>
            <c:size val="7"/>
            <c:spPr>
              <a:solidFill>
                <a:srgbClr val="FFD966"/>
              </a:solidFill>
              <a:ln w="31750">
                <a:solidFill>
                  <a:srgbClr val="FFFFFF"/>
                </a:solidFill>
              </a:ln>
              <a:effectLst>
                <a:outerShdw blurRad="38100" dist="38100" dir="5400000" algn="t" rotWithShape="0">
                  <a:srgbClr val="717171">
                    <a:alpha val="40000"/>
                  </a:srgbClr>
                </a:outerShdw>
              </a:effectLst>
            </c:spPr>
          </c:marker>
          <c:cat>
            <c:numRef>
              <c:f>供应成交!$A$122:$A$142</c:f>
              <c:numCache>
                <c:formatCode>yyyy"年"m"月"</c:formatCode>
                <c:ptCount val="21"/>
                <c:pt idx="0">
                  <c:v>42005</c:v>
                </c:pt>
                <c:pt idx="1">
                  <c:v>42036</c:v>
                </c:pt>
                <c:pt idx="2">
                  <c:v>42064</c:v>
                </c:pt>
                <c:pt idx="3">
                  <c:v>42095</c:v>
                </c:pt>
                <c:pt idx="4">
                  <c:v>42125</c:v>
                </c:pt>
                <c:pt idx="5">
                  <c:v>42156</c:v>
                </c:pt>
                <c:pt idx="6">
                  <c:v>42186</c:v>
                </c:pt>
                <c:pt idx="7">
                  <c:v>42217</c:v>
                </c:pt>
                <c:pt idx="8">
                  <c:v>42248</c:v>
                </c:pt>
                <c:pt idx="9">
                  <c:v>42278</c:v>
                </c:pt>
                <c:pt idx="10">
                  <c:v>42309</c:v>
                </c:pt>
                <c:pt idx="11">
                  <c:v>42339</c:v>
                </c:pt>
                <c:pt idx="12">
                  <c:v>42370</c:v>
                </c:pt>
                <c:pt idx="13">
                  <c:v>42401</c:v>
                </c:pt>
                <c:pt idx="14">
                  <c:v>42430</c:v>
                </c:pt>
                <c:pt idx="15">
                  <c:v>42461</c:v>
                </c:pt>
                <c:pt idx="16">
                  <c:v>42491</c:v>
                </c:pt>
                <c:pt idx="17">
                  <c:v>42522</c:v>
                </c:pt>
                <c:pt idx="18">
                  <c:v>42553</c:v>
                </c:pt>
                <c:pt idx="19">
                  <c:v>42585</c:v>
                </c:pt>
                <c:pt idx="20">
                  <c:v>42617</c:v>
                </c:pt>
              </c:numCache>
            </c:numRef>
          </c:cat>
          <c:val>
            <c:numRef>
              <c:f>供应成交!$C$122:$C$142</c:f>
              <c:numCache>
                <c:formatCode>General</c:formatCode>
                <c:ptCount val="21"/>
                <c:pt idx="0">
                  <c:v>29684</c:v>
                </c:pt>
                <c:pt idx="1">
                  <c:v>30370</c:v>
                </c:pt>
                <c:pt idx="2">
                  <c:v>32954</c:v>
                </c:pt>
                <c:pt idx="3">
                  <c:v>35487</c:v>
                </c:pt>
                <c:pt idx="4">
                  <c:v>31727</c:v>
                </c:pt>
                <c:pt idx="5">
                  <c:v>40271</c:v>
                </c:pt>
                <c:pt idx="6">
                  <c:v>34079</c:v>
                </c:pt>
                <c:pt idx="7">
                  <c:v>32853</c:v>
                </c:pt>
                <c:pt idx="8">
                  <c:v>34582</c:v>
                </c:pt>
                <c:pt idx="9">
                  <c:v>33691</c:v>
                </c:pt>
                <c:pt idx="10">
                  <c:v>33181</c:v>
                </c:pt>
                <c:pt idx="11">
                  <c:v>34471</c:v>
                </c:pt>
                <c:pt idx="12">
                  <c:v>35031</c:v>
                </c:pt>
                <c:pt idx="13">
                  <c:v>37842</c:v>
                </c:pt>
                <c:pt idx="14">
                  <c:v>32702</c:v>
                </c:pt>
                <c:pt idx="15">
                  <c:v>37982</c:v>
                </c:pt>
                <c:pt idx="16">
                  <c:v>37994</c:v>
                </c:pt>
                <c:pt idx="17">
                  <c:v>31097</c:v>
                </c:pt>
                <c:pt idx="18">
                  <c:v>35755</c:v>
                </c:pt>
                <c:pt idx="19">
                  <c:v>38235</c:v>
                </c:pt>
                <c:pt idx="20">
                  <c:v>39547</c:v>
                </c:pt>
              </c:numCache>
            </c:numRef>
          </c:val>
          <c:smooth val="1"/>
          <c:extLst>
            <c:ext xmlns:c16="http://schemas.microsoft.com/office/drawing/2014/chart" uri="{C3380CC4-5D6E-409C-BE32-E72D297353CC}">
              <c16:uniqueId val="{00000001-F83B-4F0C-BED4-DA1C0035CEE3}"/>
            </c:ext>
          </c:extLst>
        </c:ser>
        <c:ser>
          <c:idx val="2"/>
          <c:order val="2"/>
          <c:tx>
            <c:strRef>
              <c:f>供应成交!$D$121</c:f>
              <c:strCache>
                <c:ptCount val="1"/>
                <c:pt idx="0">
                  <c:v>公寓</c:v>
                </c:pt>
              </c:strCache>
            </c:strRef>
          </c:tx>
          <c:marker>
            <c:symbol val="circle"/>
            <c:size val="7"/>
            <c:spPr>
              <a:ln w="22225">
                <a:solidFill>
                  <a:sysClr val="window" lastClr="FFFFFF"/>
                </a:solidFill>
              </a:ln>
            </c:spPr>
          </c:marker>
          <c:cat>
            <c:numRef>
              <c:f>供应成交!$A$122:$A$142</c:f>
              <c:numCache>
                <c:formatCode>yyyy"年"m"月"</c:formatCode>
                <c:ptCount val="21"/>
                <c:pt idx="0">
                  <c:v>42005</c:v>
                </c:pt>
                <c:pt idx="1">
                  <c:v>42036</c:v>
                </c:pt>
                <c:pt idx="2">
                  <c:v>42064</c:v>
                </c:pt>
                <c:pt idx="3">
                  <c:v>42095</c:v>
                </c:pt>
                <c:pt idx="4">
                  <c:v>42125</c:v>
                </c:pt>
                <c:pt idx="5">
                  <c:v>42156</c:v>
                </c:pt>
                <c:pt idx="6">
                  <c:v>42186</c:v>
                </c:pt>
                <c:pt idx="7">
                  <c:v>42217</c:v>
                </c:pt>
                <c:pt idx="8">
                  <c:v>42248</c:v>
                </c:pt>
                <c:pt idx="9">
                  <c:v>42278</c:v>
                </c:pt>
                <c:pt idx="10">
                  <c:v>42309</c:v>
                </c:pt>
                <c:pt idx="11">
                  <c:v>42339</c:v>
                </c:pt>
                <c:pt idx="12">
                  <c:v>42370</c:v>
                </c:pt>
                <c:pt idx="13">
                  <c:v>42401</c:v>
                </c:pt>
                <c:pt idx="14">
                  <c:v>42430</c:v>
                </c:pt>
                <c:pt idx="15">
                  <c:v>42461</c:v>
                </c:pt>
                <c:pt idx="16">
                  <c:v>42491</c:v>
                </c:pt>
                <c:pt idx="17">
                  <c:v>42522</c:v>
                </c:pt>
                <c:pt idx="18">
                  <c:v>42553</c:v>
                </c:pt>
                <c:pt idx="19">
                  <c:v>42585</c:v>
                </c:pt>
                <c:pt idx="20">
                  <c:v>42617</c:v>
                </c:pt>
              </c:numCache>
            </c:numRef>
          </c:cat>
          <c:val>
            <c:numRef>
              <c:f>供应成交!$D$122:$D$142</c:f>
              <c:numCache>
                <c:formatCode>General</c:formatCode>
                <c:ptCount val="21"/>
                <c:pt idx="1">
                  <c:v>23453</c:v>
                </c:pt>
                <c:pt idx="2">
                  <c:v>21718</c:v>
                </c:pt>
                <c:pt idx="3">
                  <c:v>26083</c:v>
                </c:pt>
                <c:pt idx="4">
                  <c:v>24896</c:v>
                </c:pt>
                <c:pt idx="5">
                  <c:v>23653</c:v>
                </c:pt>
                <c:pt idx="6">
                  <c:v>23246</c:v>
                </c:pt>
                <c:pt idx="7">
                  <c:v>24474</c:v>
                </c:pt>
                <c:pt idx="8">
                  <c:v>25110</c:v>
                </c:pt>
                <c:pt idx="9">
                  <c:v>26681</c:v>
                </c:pt>
                <c:pt idx="10">
                  <c:v>27534</c:v>
                </c:pt>
                <c:pt idx="11">
                  <c:v>29964</c:v>
                </c:pt>
                <c:pt idx="12">
                  <c:v>26925</c:v>
                </c:pt>
                <c:pt idx="13">
                  <c:v>25089</c:v>
                </c:pt>
                <c:pt idx="14">
                  <c:v>27299</c:v>
                </c:pt>
                <c:pt idx="15">
                  <c:v>27519</c:v>
                </c:pt>
                <c:pt idx="16">
                  <c:v>30879</c:v>
                </c:pt>
                <c:pt idx="17">
                  <c:v>28291</c:v>
                </c:pt>
                <c:pt idx="18">
                  <c:v>31093</c:v>
                </c:pt>
                <c:pt idx="19">
                  <c:v>31067</c:v>
                </c:pt>
                <c:pt idx="20">
                  <c:v>32224</c:v>
                </c:pt>
              </c:numCache>
            </c:numRef>
          </c:val>
          <c:smooth val="1"/>
          <c:extLst>
            <c:ext xmlns:c16="http://schemas.microsoft.com/office/drawing/2014/chart" uri="{C3380CC4-5D6E-409C-BE32-E72D297353CC}">
              <c16:uniqueId val="{00000002-F83B-4F0C-BED4-DA1C0035CEE3}"/>
            </c:ext>
          </c:extLst>
        </c:ser>
        <c:dLbls>
          <c:showLegendKey val="0"/>
          <c:showVal val="0"/>
          <c:showCatName val="0"/>
          <c:showSerName val="0"/>
          <c:showPercent val="0"/>
          <c:showBubbleSize val="0"/>
        </c:dLbls>
        <c:marker val="1"/>
        <c:smooth val="0"/>
        <c:axId val="240935296"/>
        <c:axId val="240937216"/>
      </c:lineChart>
      <c:dateAx>
        <c:axId val="240935296"/>
        <c:scaling>
          <c:orientation val="minMax"/>
        </c:scaling>
        <c:delete val="0"/>
        <c:axPos val="b"/>
        <c:majorGridlines>
          <c:spPr>
            <a:ln w="12700" cap="flat" cmpd="sng" algn="ctr">
              <a:solidFill>
                <a:schemeClr val="bg1"/>
              </a:solidFill>
              <a:round/>
            </a:ln>
            <a:effectLst/>
          </c:spPr>
        </c:majorGridlines>
        <c:numFmt formatCode="yyyy&quot;年&quot;m&quot;月&quot;" sourceLinked="1"/>
        <c:majorTickMark val="out"/>
        <c:minorTickMark val="none"/>
        <c:tickLblPos val="nextTo"/>
        <c:spPr>
          <a:noFill/>
          <a:ln w="9525" cap="flat" cmpd="sng" algn="ctr">
            <a:solidFill>
              <a:srgbClr val="FFFFFF"/>
            </a:solidFill>
            <a:round/>
          </a:ln>
          <a:effectLst/>
        </c:spPr>
        <c:txPr>
          <a:bodyPr rot="-60000000" spcFirstLastPara="1" vertOverflow="ellipsis" vert="horz" wrap="square" anchor="ctr" anchorCtr="1"/>
          <a:lstStyle/>
          <a:p>
            <a:pPr>
              <a:defRPr sz="1000" b="1" i="0" u="none" strike="noStrike" kern="1200" baseline="0">
                <a:solidFill>
                  <a:schemeClr val="tx1">
                    <a:lumMod val="65000"/>
                    <a:lumOff val="35000"/>
                  </a:schemeClr>
                </a:solidFill>
                <a:latin typeface="Arial" panose="020B0604020202020204" pitchFamily="34" charset="0"/>
                <a:ea typeface="微软雅黑" panose="020B0503020204020204" pitchFamily="34" charset="-122"/>
                <a:cs typeface="+mn-cs"/>
              </a:defRPr>
            </a:pPr>
            <a:endParaRPr lang="zh-CN"/>
          </a:p>
        </c:txPr>
        <c:crossAx val="240937216"/>
        <c:crosses val="autoZero"/>
        <c:auto val="1"/>
        <c:lblOffset val="100"/>
        <c:baseTimeUnit val="months"/>
        <c:majorUnit val="1"/>
        <c:majorTimeUnit val="months"/>
      </c:dateAx>
      <c:valAx>
        <c:axId val="240937216"/>
        <c:scaling>
          <c:orientation val="minMax"/>
          <c:max val="45000"/>
          <c:min val="10000"/>
        </c:scaling>
        <c:delete val="0"/>
        <c:axPos val="l"/>
        <c:majorGridlines>
          <c:spPr>
            <a:ln w="12700" cap="flat" cmpd="sng" algn="ctr">
              <a:solidFill>
                <a:schemeClr val="bg1"/>
              </a:solidFill>
              <a:round/>
            </a:ln>
            <a:effectLst/>
          </c:spPr>
        </c:majorGridlines>
        <c:title>
          <c:tx>
            <c:rich>
              <a:bodyPr rot="0" vert="horz"/>
              <a:lstStyle/>
              <a:p>
                <a:pPr>
                  <a:defRPr/>
                </a:pPr>
                <a:r>
                  <a:rPr lang="zh-CN" altLang="en-US"/>
                  <a:t>元</a:t>
                </a:r>
                <a:r>
                  <a:rPr lang="en-US" altLang="zh-CN"/>
                  <a:t>/</a:t>
                </a:r>
                <a:r>
                  <a:rPr lang="zh-CN" altLang="en-US"/>
                  <a:t>㎡</a:t>
                </a:r>
              </a:p>
            </c:rich>
          </c:tx>
          <c:layout>
            <c:manualLayout>
              <c:xMode val="edge"/>
              <c:yMode val="edge"/>
              <c:x val="2.6981450252951095E-2"/>
              <c:y val="0.1419644598805814"/>
            </c:manualLayout>
          </c:layout>
          <c:overlay val="0"/>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050" b="1" i="0" u="none" strike="noStrike" kern="1200" baseline="0">
                <a:solidFill>
                  <a:schemeClr val="tx1">
                    <a:lumMod val="65000"/>
                    <a:lumOff val="35000"/>
                  </a:schemeClr>
                </a:solidFill>
                <a:latin typeface="Arial" panose="020B0604020202020204" pitchFamily="34" charset="0"/>
                <a:ea typeface="微软雅黑" panose="020B0503020204020204" pitchFamily="34" charset="-122"/>
                <a:cs typeface="+mn-cs"/>
              </a:defRPr>
            </a:pPr>
            <a:endParaRPr lang="zh-CN"/>
          </a:p>
        </c:txPr>
        <c:crossAx val="240935296"/>
        <c:crosses val="autoZero"/>
        <c:crossBetween val="between"/>
        <c:majorUnit val="5000"/>
      </c:valAx>
      <c:spPr>
        <a:solidFill>
          <a:srgbClr val="EAEAEA"/>
        </a:solidFill>
        <a:ln>
          <a:noFill/>
        </a:ln>
        <a:effectLst/>
      </c:spPr>
    </c:plotArea>
    <c:legend>
      <c:legendPos val="b"/>
      <c:layout>
        <c:manualLayout>
          <c:xMode val="edge"/>
          <c:yMode val="edge"/>
          <c:x val="8.7223318212682879E-2"/>
          <c:y val="0.15082888354216292"/>
          <c:w val="0.8080944350758853"/>
          <c:h val="7.3180293550919429E-2"/>
        </c:manualLayout>
      </c:layout>
      <c:overlay val="0"/>
      <c:spPr>
        <a:noFill/>
        <a:ln>
          <a:noFill/>
        </a:ln>
        <a:effectLst/>
      </c:spPr>
      <c:txPr>
        <a:bodyPr rot="0" spcFirstLastPara="1" vertOverflow="ellipsis" vert="horz" wrap="square" anchor="ctr" anchorCtr="1"/>
        <a:lstStyle/>
        <a:p>
          <a:pPr>
            <a:defRPr sz="1100" b="1" i="0" u="none" strike="noStrike" kern="1200" baseline="0">
              <a:solidFill>
                <a:schemeClr val="tx1">
                  <a:lumMod val="65000"/>
                  <a:lumOff val="35000"/>
                </a:schemeClr>
              </a:solidFill>
              <a:latin typeface="Arial" panose="020B0604020202020204" pitchFamily="34" charset="0"/>
              <a:ea typeface="微软雅黑" panose="020B0503020204020204" pitchFamily="34" charset="-122"/>
              <a:cs typeface="+mn-cs"/>
            </a:defRPr>
          </a:pPr>
          <a:endParaRPr lang="zh-CN"/>
        </a:p>
      </c:txPr>
    </c:legend>
    <c:plotVisOnly val="1"/>
    <c:dispBlanksAs val="gap"/>
    <c:showDLblsOverMax val="0"/>
  </c:chart>
  <c:spPr>
    <a:solidFill>
      <a:srgbClr val="FFFFFF"/>
    </a:solidFill>
    <a:ln w="9525" cap="flat" cmpd="sng" algn="ctr">
      <a:noFill/>
      <a:round/>
    </a:ln>
    <a:effectLst/>
  </c:spPr>
  <c:txPr>
    <a:bodyPr/>
    <a:lstStyle/>
    <a:p>
      <a:pPr>
        <a:defRPr/>
      </a:pPr>
      <a:endParaRPr lang="zh-CN"/>
    </a:p>
  </c:txPr>
  <c:externalData r:id="rId2">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0" i="0" u="none" strike="noStrike" kern="1200" spc="0" baseline="0">
                <a:solidFill>
                  <a:schemeClr val="tx1"/>
                </a:solidFill>
                <a:latin typeface="Arial" panose="020B0604020202020204" pitchFamily="34" charset="0"/>
                <a:ea typeface="微软雅黑" panose="020B0503020204020204" pitchFamily="34" charset="-122"/>
                <a:cs typeface="+mn-cs"/>
              </a:defRPr>
            </a:pPr>
            <a:r>
              <a:rPr lang="zh-CN" altLang="en-US" sz="1600" b="1">
                <a:solidFill>
                  <a:schemeClr val="tx1"/>
                </a:solidFill>
              </a:rPr>
              <a:t>北京一手房各业态成交均价对比</a:t>
            </a:r>
          </a:p>
        </c:rich>
      </c:tx>
      <c:layout>
        <c:manualLayout>
          <c:xMode val="edge"/>
          <c:yMode val="edge"/>
          <c:x val="0.24785973064842304"/>
          <c:y val="1.9515417715642689E-3"/>
        </c:manualLayout>
      </c:layout>
      <c:overlay val="0"/>
      <c:spPr>
        <a:noFill/>
        <a:ln>
          <a:noFill/>
        </a:ln>
        <a:effectLst/>
      </c:spPr>
    </c:title>
    <c:autoTitleDeleted val="0"/>
    <c:plotArea>
      <c:layout>
        <c:manualLayout>
          <c:layoutTarget val="inner"/>
          <c:xMode val="edge"/>
          <c:yMode val="edge"/>
          <c:x val="5.9327409761853162E-2"/>
          <c:y val="0.25992875890513684"/>
          <c:w val="0.89658471435031972"/>
          <c:h val="0.59241201992608072"/>
        </c:manualLayout>
      </c:layout>
      <c:barChart>
        <c:barDir val="col"/>
        <c:grouping val="clustered"/>
        <c:varyColors val="0"/>
        <c:ser>
          <c:idx val="0"/>
          <c:order val="0"/>
          <c:tx>
            <c:strRef>
              <c:f>供应成交!$A$145</c:f>
              <c:strCache>
                <c:ptCount val="1"/>
                <c:pt idx="0">
                  <c:v>2016年8月</c:v>
                </c:pt>
              </c:strCache>
            </c:strRef>
          </c:tx>
          <c:spPr>
            <a:solidFill>
              <a:srgbClr val="1F497D">
                <a:lumMod val="60000"/>
                <a:lumOff val="40000"/>
              </a:srgbClr>
            </a:solidFill>
            <a:ln w="31750" cap="rnd">
              <a:solidFill>
                <a:srgbClr val="3B95D2"/>
              </a:solidFill>
              <a:round/>
            </a:ln>
            <a:effectLst>
              <a:outerShdw blurRad="38100" dist="38100" dir="5400000" algn="t" rotWithShape="0">
                <a:srgbClr val="717171">
                  <a:alpha val="40000"/>
                </a:srgbClr>
              </a:outerShdw>
            </a:effectLst>
          </c:spPr>
          <c:invertIfNegative val="0"/>
          <c:dLbls>
            <c:dLbl>
              <c:idx val="0"/>
              <c:layout>
                <c:manualLayout>
                  <c:x val="0"/>
                  <c:y val="3.2323232323232323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99E-4313-A261-CA774D164329}"/>
                </c:ext>
              </c:extLst>
            </c:dLbl>
            <c:dLbl>
              <c:idx val="1"/>
              <c:layout>
                <c:manualLayout>
                  <c:x val="0"/>
                  <c:y val="4.4444444444444446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99E-4313-A261-CA774D164329}"/>
                </c:ext>
              </c:extLst>
            </c:dLbl>
            <c:dLbl>
              <c:idx val="2"/>
              <c:layout>
                <c:manualLayout>
                  <c:x val="0"/>
                  <c:y val="2.0202020202020204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99E-4313-A261-CA774D164329}"/>
                </c:ext>
              </c:extLst>
            </c:dLbl>
            <c:dLbl>
              <c:idx val="3"/>
              <c:layout>
                <c:manualLayout>
                  <c:x val="0"/>
                  <c:y val="1.616161616161616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99E-4313-A261-CA774D164329}"/>
                </c:ext>
              </c:extLst>
            </c:dLbl>
            <c:dLbl>
              <c:idx val="4"/>
              <c:layout>
                <c:manualLayout>
                  <c:x val="-2.185792349726776E-3"/>
                  <c:y val="2.4242424242424315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C99E-4313-A261-CA774D164329}"/>
                </c:ext>
              </c:extLst>
            </c:dLbl>
            <c:spPr>
              <a:noFill/>
              <a:ln>
                <a:noFill/>
              </a:ln>
              <a:effectLst/>
            </c:spPr>
            <c:txPr>
              <a:bodyPr/>
              <a:lstStyle/>
              <a:p>
                <a:pPr>
                  <a:defRPr sz="900" b="1">
                    <a:latin typeface="微软雅黑" pitchFamily="34" charset="-122"/>
                    <a:ea typeface="微软雅黑" pitchFamily="34" charset="-122"/>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供应成交!$B$144:$F$144</c:f>
              <c:strCache>
                <c:ptCount val="5"/>
                <c:pt idx="0">
                  <c:v>普通住宅</c:v>
                </c:pt>
                <c:pt idx="1">
                  <c:v>别墅</c:v>
                </c:pt>
                <c:pt idx="2">
                  <c:v>公寓</c:v>
                </c:pt>
                <c:pt idx="3">
                  <c:v>办公</c:v>
                </c:pt>
                <c:pt idx="4">
                  <c:v>商业</c:v>
                </c:pt>
              </c:strCache>
            </c:strRef>
          </c:cat>
          <c:val>
            <c:numRef>
              <c:f>供应成交!$B$145:$F$145</c:f>
              <c:numCache>
                <c:formatCode>General</c:formatCode>
                <c:ptCount val="5"/>
                <c:pt idx="0">
                  <c:v>35788</c:v>
                </c:pt>
                <c:pt idx="1">
                  <c:v>38235</c:v>
                </c:pt>
                <c:pt idx="2">
                  <c:v>31067</c:v>
                </c:pt>
                <c:pt idx="3">
                  <c:v>29971</c:v>
                </c:pt>
                <c:pt idx="4">
                  <c:v>27549</c:v>
                </c:pt>
              </c:numCache>
            </c:numRef>
          </c:val>
          <c:extLst>
            <c:ext xmlns:c16="http://schemas.microsoft.com/office/drawing/2014/chart" uri="{C3380CC4-5D6E-409C-BE32-E72D297353CC}">
              <c16:uniqueId val="{00000005-C99E-4313-A261-CA774D164329}"/>
            </c:ext>
          </c:extLst>
        </c:ser>
        <c:ser>
          <c:idx val="1"/>
          <c:order val="1"/>
          <c:tx>
            <c:strRef>
              <c:f>供应成交!$A$146</c:f>
              <c:strCache>
                <c:ptCount val="1"/>
                <c:pt idx="0">
                  <c:v>2016年9月</c:v>
                </c:pt>
              </c:strCache>
            </c:strRef>
          </c:tx>
          <c:spPr>
            <a:ln w="31750" cap="rnd">
              <a:solidFill>
                <a:srgbClr val="FFD966"/>
              </a:solidFill>
              <a:round/>
            </a:ln>
            <a:effectLst>
              <a:outerShdw blurRad="38100" dist="38100" dir="5400000" algn="t" rotWithShape="0">
                <a:srgbClr val="717171">
                  <a:alpha val="40000"/>
                </a:srgbClr>
              </a:outerShdw>
            </a:effectLst>
          </c:spPr>
          <c:invertIfNegative val="0"/>
          <c:dLbls>
            <c:dLbl>
              <c:idx val="0"/>
              <c:layout>
                <c:manualLayout>
                  <c:x val="2.0036198412621627E-17"/>
                  <c:y val="2.0202020202020204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C99E-4313-A261-CA774D164329}"/>
                </c:ext>
              </c:extLst>
            </c:dLbl>
            <c:dLbl>
              <c:idx val="1"/>
              <c:layout>
                <c:manualLayout>
                  <c:x val="2.1857923497268159E-3"/>
                  <c:y val="1.616161616161616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C99E-4313-A261-CA774D164329}"/>
                </c:ext>
              </c:extLst>
            </c:dLbl>
            <c:dLbl>
              <c:idx val="2"/>
              <c:layout>
                <c:manualLayout>
                  <c:x val="0"/>
                  <c:y val="8.4848484848484854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C99E-4313-A261-CA774D164329}"/>
                </c:ext>
              </c:extLst>
            </c:dLbl>
            <c:dLbl>
              <c:idx val="3"/>
              <c:layout>
                <c:manualLayout>
                  <c:x val="0"/>
                  <c:y val="6.8686868686868685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C99E-4313-A261-CA774D164329}"/>
                </c:ext>
              </c:extLst>
            </c:dLbl>
            <c:dLbl>
              <c:idx val="4"/>
              <c:layout>
                <c:manualLayout>
                  <c:x val="2.185792349726776E-3"/>
                  <c:y val="2.8282828282828285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C99E-4313-A261-CA774D164329}"/>
                </c:ext>
              </c:extLst>
            </c:dLbl>
            <c:spPr>
              <a:noFill/>
              <a:ln>
                <a:noFill/>
              </a:ln>
              <a:effectLst/>
            </c:spPr>
            <c:txPr>
              <a:bodyPr/>
              <a:lstStyle/>
              <a:p>
                <a:pPr>
                  <a:defRPr sz="900" b="1">
                    <a:latin typeface="微软雅黑" pitchFamily="34" charset="-122"/>
                    <a:ea typeface="微软雅黑" pitchFamily="34" charset="-122"/>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供应成交!$B$144:$F$144</c:f>
              <c:strCache>
                <c:ptCount val="5"/>
                <c:pt idx="0">
                  <c:v>普通住宅</c:v>
                </c:pt>
                <c:pt idx="1">
                  <c:v>别墅</c:v>
                </c:pt>
                <c:pt idx="2">
                  <c:v>公寓</c:v>
                </c:pt>
                <c:pt idx="3">
                  <c:v>办公</c:v>
                </c:pt>
                <c:pt idx="4">
                  <c:v>商业</c:v>
                </c:pt>
              </c:strCache>
            </c:strRef>
          </c:cat>
          <c:val>
            <c:numRef>
              <c:f>供应成交!$B$146:$F$146</c:f>
              <c:numCache>
                <c:formatCode>General</c:formatCode>
                <c:ptCount val="5"/>
                <c:pt idx="0">
                  <c:v>39335</c:v>
                </c:pt>
                <c:pt idx="1">
                  <c:v>39547</c:v>
                </c:pt>
                <c:pt idx="2">
                  <c:v>32224</c:v>
                </c:pt>
                <c:pt idx="3">
                  <c:v>30166</c:v>
                </c:pt>
                <c:pt idx="4">
                  <c:v>39660</c:v>
                </c:pt>
              </c:numCache>
            </c:numRef>
          </c:val>
          <c:extLst>
            <c:ext xmlns:c16="http://schemas.microsoft.com/office/drawing/2014/chart" uri="{C3380CC4-5D6E-409C-BE32-E72D297353CC}">
              <c16:uniqueId val="{0000000B-C99E-4313-A261-CA774D164329}"/>
            </c:ext>
          </c:extLst>
        </c:ser>
        <c:dLbls>
          <c:showLegendKey val="0"/>
          <c:showVal val="0"/>
          <c:showCatName val="0"/>
          <c:showSerName val="0"/>
          <c:showPercent val="0"/>
          <c:showBubbleSize val="0"/>
        </c:dLbls>
        <c:gapWidth val="150"/>
        <c:axId val="240985984"/>
        <c:axId val="240987520"/>
      </c:barChart>
      <c:catAx>
        <c:axId val="240985984"/>
        <c:scaling>
          <c:orientation val="minMax"/>
        </c:scaling>
        <c:delete val="0"/>
        <c:axPos val="b"/>
        <c:majorGridlines>
          <c:spPr>
            <a:ln w="12700" cap="flat" cmpd="sng" algn="ctr">
              <a:solidFill>
                <a:schemeClr val="bg1"/>
              </a:solidFill>
              <a:round/>
            </a:ln>
            <a:effectLst/>
          </c:spPr>
        </c:majorGridlines>
        <c:numFmt formatCode="General" sourceLinked="1"/>
        <c:majorTickMark val="out"/>
        <c:minorTickMark val="none"/>
        <c:tickLblPos val="nextTo"/>
        <c:spPr>
          <a:noFill/>
          <a:ln w="9525" cap="flat" cmpd="sng" algn="ctr">
            <a:solidFill>
              <a:srgbClr val="FFFFFF"/>
            </a:solidFill>
            <a:round/>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Arial" panose="020B0604020202020204" pitchFamily="34" charset="0"/>
                <a:ea typeface="微软雅黑" panose="020B0503020204020204" pitchFamily="34" charset="-122"/>
                <a:cs typeface="+mn-cs"/>
              </a:defRPr>
            </a:pPr>
            <a:endParaRPr lang="zh-CN"/>
          </a:p>
        </c:txPr>
        <c:crossAx val="240987520"/>
        <c:crosses val="autoZero"/>
        <c:auto val="1"/>
        <c:lblAlgn val="ctr"/>
        <c:lblOffset val="100"/>
        <c:tickLblSkip val="1"/>
        <c:noMultiLvlLbl val="0"/>
      </c:catAx>
      <c:valAx>
        <c:axId val="240987520"/>
        <c:scaling>
          <c:orientation val="minMax"/>
          <c:max val="50000"/>
          <c:min val="10000"/>
        </c:scaling>
        <c:delete val="0"/>
        <c:axPos val="l"/>
        <c:majorGridlines>
          <c:spPr>
            <a:ln w="12700" cap="flat" cmpd="sng" algn="ctr">
              <a:solidFill>
                <a:schemeClr val="bg1"/>
              </a:solidFill>
              <a:round/>
            </a:ln>
            <a:effectLst/>
          </c:spPr>
        </c:majorGridlines>
        <c:title>
          <c:tx>
            <c:rich>
              <a:bodyPr rot="0" vert="horz"/>
              <a:lstStyle/>
              <a:p>
                <a:pPr>
                  <a:defRPr/>
                </a:pPr>
                <a:r>
                  <a:rPr lang="zh-CN" altLang="en-US"/>
                  <a:t>元</a:t>
                </a:r>
                <a:r>
                  <a:rPr lang="en-US" altLang="zh-CN"/>
                  <a:t>/</a:t>
                </a:r>
                <a:r>
                  <a:rPr lang="zh-CN" altLang="en-US"/>
                  <a:t>㎡</a:t>
                </a:r>
              </a:p>
            </c:rich>
          </c:tx>
          <c:layout>
            <c:manualLayout>
              <c:xMode val="edge"/>
              <c:yMode val="edge"/>
              <c:x val="1.3177402005077235E-2"/>
              <c:y val="0.14196452716137756"/>
            </c:manualLayout>
          </c:layout>
          <c:overlay val="0"/>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050" b="1" i="0" u="none" strike="noStrike" kern="1200" baseline="0">
                <a:solidFill>
                  <a:schemeClr val="tx1">
                    <a:lumMod val="65000"/>
                    <a:lumOff val="35000"/>
                  </a:schemeClr>
                </a:solidFill>
                <a:latin typeface="Arial" panose="020B0604020202020204" pitchFamily="34" charset="0"/>
                <a:ea typeface="微软雅黑" panose="020B0503020204020204" pitchFamily="34" charset="-122"/>
                <a:cs typeface="+mn-cs"/>
              </a:defRPr>
            </a:pPr>
            <a:endParaRPr lang="zh-CN"/>
          </a:p>
        </c:txPr>
        <c:crossAx val="240985984"/>
        <c:crosses val="autoZero"/>
        <c:crossBetween val="between"/>
        <c:majorUnit val="10000"/>
      </c:valAx>
      <c:spPr>
        <a:solidFill>
          <a:srgbClr val="EAEAEA"/>
        </a:solidFill>
        <a:ln>
          <a:noFill/>
        </a:ln>
        <a:effectLst/>
      </c:spPr>
    </c:plotArea>
    <c:legend>
      <c:legendPos val="b"/>
      <c:layout>
        <c:manualLayout>
          <c:xMode val="edge"/>
          <c:yMode val="edge"/>
          <c:x val="0.17420765027322405"/>
          <c:y val="0.16214523184601923"/>
          <c:w val="0.60074316939890715"/>
          <c:h val="7.3402052016225239E-2"/>
        </c:manualLayout>
      </c:layout>
      <c:overlay val="0"/>
      <c:spPr>
        <a:noFill/>
        <a:ln>
          <a:noFill/>
        </a:ln>
        <a:effectLst/>
      </c:spPr>
      <c:txPr>
        <a:bodyPr rot="0" spcFirstLastPara="1" vertOverflow="ellipsis" vert="horz" wrap="square" anchor="ctr" anchorCtr="1"/>
        <a:lstStyle/>
        <a:p>
          <a:pPr>
            <a:defRPr sz="1100" b="1" i="0" u="none" strike="noStrike" kern="1200" baseline="0">
              <a:solidFill>
                <a:schemeClr val="tx1">
                  <a:lumMod val="65000"/>
                  <a:lumOff val="35000"/>
                </a:schemeClr>
              </a:solidFill>
              <a:latin typeface="Arial" panose="020B0604020202020204" pitchFamily="34" charset="0"/>
              <a:ea typeface="微软雅黑" panose="020B0503020204020204" pitchFamily="34" charset="-122"/>
              <a:cs typeface="+mn-cs"/>
            </a:defRPr>
          </a:pPr>
          <a:endParaRPr lang="zh-CN"/>
        </a:p>
      </c:txPr>
    </c:legend>
    <c:plotVisOnly val="1"/>
    <c:dispBlanksAs val="gap"/>
    <c:showDLblsOverMax val="0"/>
  </c:chart>
  <c:spPr>
    <a:noFill/>
    <a:ln w="9525" cap="flat" cmpd="sng" algn="ctr">
      <a:noFill/>
      <a:round/>
    </a:ln>
    <a:effectLst/>
  </c:spPr>
  <c:txPr>
    <a:bodyPr/>
    <a:lstStyle/>
    <a:p>
      <a:pPr>
        <a:defRPr/>
      </a:pPr>
      <a:endParaRPr lang="zh-CN"/>
    </a:p>
  </c:txPr>
  <c:externalData r:id="rId2">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0" i="0" u="none" strike="noStrike" kern="1200" spc="0" baseline="0">
                <a:solidFill>
                  <a:schemeClr val="tx1"/>
                </a:solidFill>
                <a:latin typeface="Arial" panose="020B0604020202020204" pitchFamily="34" charset="0"/>
                <a:ea typeface="微软雅黑" panose="020B0503020204020204" pitchFamily="34" charset="-122"/>
                <a:cs typeface="+mn-cs"/>
              </a:defRPr>
            </a:pPr>
            <a:r>
              <a:rPr lang="zh-CN" altLang="en-US" sz="1600" b="1">
                <a:solidFill>
                  <a:schemeClr val="tx1"/>
                </a:solidFill>
              </a:rPr>
              <a:t>北京新建住宅分面积段成交占比对比</a:t>
            </a:r>
          </a:p>
        </c:rich>
      </c:tx>
      <c:layout>
        <c:manualLayout>
          <c:xMode val="edge"/>
          <c:yMode val="edge"/>
          <c:x val="0.25441710769760334"/>
          <c:y val="2.0092261194623401E-2"/>
        </c:manualLayout>
      </c:layout>
      <c:overlay val="0"/>
      <c:spPr>
        <a:noFill/>
        <a:ln>
          <a:noFill/>
        </a:ln>
        <a:effectLst/>
      </c:spPr>
    </c:title>
    <c:autoTitleDeleted val="0"/>
    <c:plotArea>
      <c:layout>
        <c:manualLayout>
          <c:layoutTarget val="inner"/>
          <c:xMode val="edge"/>
          <c:yMode val="edge"/>
          <c:x val="8.8095004517877898E-2"/>
          <c:y val="0.25992873618070467"/>
          <c:w val="0.89658471435031972"/>
          <c:h val="0.5470605265250934"/>
        </c:manualLayout>
      </c:layout>
      <c:barChart>
        <c:barDir val="col"/>
        <c:grouping val="clustered"/>
        <c:varyColors val="0"/>
        <c:ser>
          <c:idx val="0"/>
          <c:order val="0"/>
          <c:tx>
            <c:strRef>
              <c:f>面积段!$A$50</c:f>
              <c:strCache>
                <c:ptCount val="1"/>
                <c:pt idx="0">
                  <c:v>2016年8月</c:v>
                </c:pt>
              </c:strCache>
            </c:strRef>
          </c:tx>
          <c:spPr>
            <a:solidFill>
              <a:srgbClr val="1F497D">
                <a:lumMod val="60000"/>
                <a:lumOff val="40000"/>
              </a:srgbClr>
            </a:solidFill>
            <a:ln w="31750" cap="rnd">
              <a:solidFill>
                <a:srgbClr val="3B95D2"/>
              </a:solidFill>
              <a:round/>
            </a:ln>
            <a:effectLst>
              <a:outerShdw blurRad="38100" dist="38100" dir="5400000" algn="t" rotWithShape="0">
                <a:srgbClr val="717171">
                  <a:alpha val="40000"/>
                </a:srgbClr>
              </a:outerShdw>
            </a:effectLst>
          </c:spPr>
          <c:invertIfNegative val="0"/>
          <c:dLbls>
            <c:dLbl>
              <c:idx val="0"/>
              <c:layout>
                <c:manualLayout>
                  <c:x val="0"/>
                  <c:y val="3.2323232323232323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346D-4C94-8D23-B3CE63333DCA}"/>
                </c:ext>
              </c:extLst>
            </c:dLbl>
            <c:dLbl>
              <c:idx val="1"/>
              <c:layout>
                <c:manualLayout>
                  <c:x val="2.185792349726776E-3"/>
                  <c:y val="1.2121212121212121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46D-4C94-8D23-B3CE63333DCA}"/>
                </c:ext>
              </c:extLst>
            </c:dLbl>
            <c:dLbl>
              <c:idx val="2"/>
              <c:layout>
                <c:manualLayout>
                  <c:x val="-2.185792349726776E-3"/>
                  <c:y val="6.4646464646464646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346D-4C94-8D23-B3CE63333DCA}"/>
                </c:ext>
              </c:extLst>
            </c:dLbl>
            <c:dLbl>
              <c:idx val="3"/>
              <c:layout>
                <c:manualLayout>
                  <c:x val="-2.185792349726776E-3"/>
                  <c:y val="4.8484848484848485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346D-4C94-8D23-B3CE63333DCA}"/>
                </c:ext>
              </c:extLst>
            </c:dLbl>
            <c:dLbl>
              <c:idx val="4"/>
              <c:layout>
                <c:manualLayout>
                  <c:x val="4.3714125898197155E-3"/>
                  <c:y val="1.616161616161616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346D-4C94-8D23-B3CE63333DCA}"/>
                </c:ext>
              </c:extLst>
            </c:dLbl>
            <c:dLbl>
              <c:idx val="5"/>
              <c:layout>
                <c:manualLayout>
                  <c:x val="0"/>
                  <c:y val="2.424242424242424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346D-4C94-8D23-B3CE63333DCA}"/>
                </c:ext>
              </c:extLst>
            </c:dLbl>
            <c:spPr>
              <a:noFill/>
              <a:ln>
                <a:noFill/>
              </a:ln>
              <a:effectLst/>
            </c:spPr>
            <c:txPr>
              <a:bodyPr/>
              <a:lstStyle/>
              <a:p>
                <a:pPr>
                  <a:defRPr b="1">
                    <a:latin typeface="微软雅黑" pitchFamily="34" charset="-122"/>
                    <a:ea typeface="微软雅黑" pitchFamily="34" charset="-122"/>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面积段!$B$49:$G$49</c:f>
              <c:strCache>
                <c:ptCount val="6"/>
                <c:pt idx="0">
                  <c:v>60㎡以下</c:v>
                </c:pt>
                <c:pt idx="1">
                  <c:v>60~90㎡</c:v>
                </c:pt>
                <c:pt idx="2">
                  <c:v>90~120㎡</c:v>
                </c:pt>
                <c:pt idx="3">
                  <c:v>120~150㎡</c:v>
                </c:pt>
                <c:pt idx="4">
                  <c:v>150~200㎡</c:v>
                </c:pt>
                <c:pt idx="5">
                  <c:v>200㎡以上</c:v>
                </c:pt>
              </c:strCache>
            </c:strRef>
          </c:cat>
          <c:val>
            <c:numRef>
              <c:f>面积段!$B$50:$G$50</c:f>
              <c:numCache>
                <c:formatCode>0.0%</c:formatCode>
                <c:ptCount val="6"/>
                <c:pt idx="0">
                  <c:v>3.8846811629611532E-2</c:v>
                </c:pt>
                <c:pt idx="1">
                  <c:v>0.19252382115807476</c:v>
                </c:pt>
                <c:pt idx="2">
                  <c:v>0.24212069386757878</c:v>
                </c:pt>
                <c:pt idx="3">
                  <c:v>0.22062057170779378</c:v>
                </c:pt>
                <c:pt idx="4">
                  <c:v>0.14561446371854386</c:v>
                </c:pt>
                <c:pt idx="5">
                  <c:v>0.16027363791839727</c:v>
                </c:pt>
              </c:numCache>
            </c:numRef>
          </c:val>
          <c:extLst>
            <c:ext xmlns:c16="http://schemas.microsoft.com/office/drawing/2014/chart" uri="{C3380CC4-5D6E-409C-BE32-E72D297353CC}">
              <c16:uniqueId val="{00000006-346D-4C94-8D23-B3CE63333DCA}"/>
            </c:ext>
          </c:extLst>
        </c:ser>
        <c:ser>
          <c:idx val="1"/>
          <c:order val="1"/>
          <c:tx>
            <c:strRef>
              <c:f>面积段!$A$51</c:f>
              <c:strCache>
                <c:ptCount val="1"/>
                <c:pt idx="0">
                  <c:v>2016年9月</c:v>
                </c:pt>
              </c:strCache>
            </c:strRef>
          </c:tx>
          <c:spPr>
            <a:ln w="31750" cap="rnd">
              <a:solidFill>
                <a:srgbClr val="FFD966"/>
              </a:solidFill>
              <a:round/>
            </a:ln>
            <a:effectLst>
              <a:outerShdw blurRad="38100" dist="38100" dir="5400000" algn="t" rotWithShape="0">
                <a:srgbClr val="717171">
                  <a:alpha val="40000"/>
                </a:srgbClr>
              </a:outerShdw>
            </a:effectLst>
          </c:spPr>
          <c:invertIfNegative val="0"/>
          <c:dLbls>
            <c:dLbl>
              <c:idx val="0"/>
              <c:layout>
                <c:manualLayout>
                  <c:x val="-2.185792349726776E-3"/>
                  <c:y val="-7.4073218373934501E-1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346D-4C94-8D23-B3CE63333DCA}"/>
                </c:ext>
              </c:extLst>
            </c:dLbl>
            <c:dLbl>
              <c:idx val="1"/>
              <c:layout>
                <c:manualLayout>
                  <c:x val="2.1854481304591023E-3"/>
                  <c:y val="3.2323232323232323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346D-4C94-8D23-B3CE63333DCA}"/>
                </c:ext>
              </c:extLst>
            </c:dLbl>
            <c:dLbl>
              <c:idx val="2"/>
              <c:layout>
                <c:manualLayout>
                  <c:x val="-4.0156718709141725E-3"/>
                  <c:y val="2.424242424242424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346D-4C94-8D23-B3CE63333DCA}"/>
                </c:ext>
              </c:extLst>
            </c:dLbl>
            <c:dLbl>
              <c:idx val="3"/>
              <c:layout>
                <c:manualLayout>
                  <c:x val="4.3714125898197155E-3"/>
                  <c:y val="2.0202020202020238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346D-4C94-8D23-B3CE63333DCA}"/>
                </c:ext>
              </c:extLst>
            </c:dLbl>
            <c:dLbl>
              <c:idx val="4"/>
              <c:layout>
                <c:manualLayout>
                  <c:x val="2.185792349726776E-3"/>
                  <c:y val="3.636363636363636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346D-4C94-8D23-B3CE63333DCA}"/>
                </c:ext>
              </c:extLst>
            </c:dLbl>
            <c:spPr>
              <a:noFill/>
              <a:ln>
                <a:noFill/>
              </a:ln>
              <a:effectLst/>
            </c:spPr>
            <c:txPr>
              <a:bodyPr/>
              <a:lstStyle/>
              <a:p>
                <a:pPr>
                  <a:defRPr b="1">
                    <a:latin typeface="微软雅黑" pitchFamily="34" charset="-122"/>
                    <a:ea typeface="微软雅黑" pitchFamily="34" charset="-122"/>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面积段!$B$49:$G$49</c:f>
              <c:strCache>
                <c:ptCount val="6"/>
                <c:pt idx="0">
                  <c:v>60㎡以下</c:v>
                </c:pt>
                <c:pt idx="1">
                  <c:v>60~90㎡</c:v>
                </c:pt>
                <c:pt idx="2">
                  <c:v>90~120㎡</c:v>
                </c:pt>
                <c:pt idx="3">
                  <c:v>120~150㎡</c:v>
                </c:pt>
                <c:pt idx="4">
                  <c:v>150~200㎡</c:v>
                </c:pt>
                <c:pt idx="5">
                  <c:v>200㎡以上</c:v>
                </c:pt>
              </c:strCache>
            </c:strRef>
          </c:cat>
          <c:val>
            <c:numRef>
              <c:f>面积段!$B$51:$G$51</c:f>
              <c:numCache>
                <c:formatCode>0.0%</c:formatCode>
                <c:ptCount val="6"/>
                <c:pt idx="0">
                  <c:v>3.9681101648849429E-2</c:v>
                </c:pt>
                <c:pt idx="1">
                  <c:v>0.16742163435404964</c:v>
                </c:pt>
                <c:pt idx="2">
                  <c:v>0.25928610255481066</c:v>
                </c:pt>
                <c:pt idx="3">
                  <c:v>0.23301322703388294</c:v>
                </c:pt>
                <c:pt idx="4">
                  <c:v>0.13245153107447002</c:v>
                </c:pt>
                <c:pt idx="5">
                  <c:v>0.16814640333393729</c:v>
                </c:pt>
              </c:numCache>
            </c:numRef>
          </c:val>
          <c:extLst>
            <c:ext xmlns:c16="http://schemas.microsoft.com/office/drawing/2014/chart" uri="{C3380CC4-5D6E-409C-BE32-E72D297353CC}">
              <c16:uniqueId val="{0000000C-346D-4C94-8D23-B3CE63333DCA}"/>
            </c:ext>
          </c:extLst>
        </c:ser>
        <c:dLbls>
          <c:showLegendKey val="0"/>
          <c:showVal val="0"/>
          <c:showCatName val="0"/>
          <c:showSerName val="0"/>
          <c:showPercent val="0"/>
          <c:showBubbleSize val="0"/>
        </c:dLbls>
        <c:gapWidth val="150"/>
        <c:axId val="241465984"/>
        <c:axId val="241484160"/>
      </c:barChart>
      <c:catAx>
        <c:axId val="241465984"/>
        <c:scaling>
          <c:orientation val="minMax"/>
        </c:scaling>
        <c:delete val="0"/>
        <c:axPos val="b"/>
        <c:majorGridlines>
          <c:spPr>
            <a:ln w="12700" cap="flat" cmpd="sng" algn="ctr">
              <a:solidFill>
                <a:schemeClr val="bg1"/>
              </a:solidFill>
              <a:round/>
            </a:ln>
            <a:effectLst/>
          </c:spPr>
        </c:majorGridlines>
        <c:numFmt formatCode="General" sourceLinked="1"/>
        <c:majorTickMark val="out"/>
        <c:minorTickMark val="none"/>
        <c:tickLblPos val="nextTo"/>
        <c:spPr>
          <a:noFill/>
          <a:ln w="9525" cap="flat" cmpd="sng" algn="ctr">
            <a:solidFill>
              <a:srgbClr val="FFFFFF"/>
            </a:solidFill>
            <a:round/>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Arial" panose="020B0604020202020204" pitchFamily="34" charset="0"/>
                <a:ea typeface="微软雅黑" panose="020B0503020204020204" pitchFamily="34" charset="-122"/>
                <a:cs typeface="+mn-cs"/>
              </a:defRPr>
            </a:pPr>
            <a:endParaRPr lang="zh-CN"/>
          </a:p>
        </c:txPr>
        <c:crossAx val="241484160"/>
        <c:crosses val="autoZero"/>
        <c:auto val="1"/>
        <c:lblAlgn val="ctr"/>
        <c:lblOffset val="100"/>
        <c:tickLblSkip val="1"/>
        <c:noMultiLvlLbl val="0"/>
      </c:catAx>
      <c:valAx>
        <c:axId val="241484160"/>
        <c:scaling>
          <c:orientation val="minMax"/>
        </c:scaling>
        <c:delete val="0"/>
        <c:axPos val="l"/>
        <c:majorGridlines>
          <c:spPr>
            <a:ln w="12700" cap="flat" cmpd="sng" algn="ctr">
              <a:solidFill>
                <a:schemeClr val="bg1"/>
              </a:solidFill>
              <a:round/>
            </a:ln>
            <a:effectLst/>
          </c:spPr>
        </c:majorGridlines>
        <c:numFmt formatCode="0.0%" sourceLinked="1"/>
        <c:majorTickMark val="out"/>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Arial" panose="020B0604020202020204" pitchFamily="34" charset="0"/>
                <a:ea typeface="微软雅黑" panose="020B0503020204020204" pitchFamily="34" charset="-122"/>
                <a:cs typeface="+mn-cs"/>
              </a:defRPr>
            </a:pPr>
            <a:endParaRPr lang="zh-CN"/>
          </a:p>
        </c:txPr>
        <c:crossAx val="241465984"/>
        <c:crosses val="autoZero"/>
        <c:crossBetween val="between"/>
      </c:valAx>
      <c:spPr>
        <a:solidFill>
          <a:srgbClr val="EAEAEA"/>
        </a:solidFill>
        <a:ln>
          <a:noFill/>
        </a:ln>
        <a:effectLst/>
      </c:spPr>
    </c:plotArea>
    <c:legend>
      <c:legendPos val="b"/>
      <c:layout>
        <c:manualLayout>
          <c:xMode val="edge"/>
          <c:yMode val="edge"/>
          <c:x val="0.19169398907103824"/>
          <c:y val="0.15810482780561519"/>
          <c:w val="0.60074316939890715"/>
          <c:h val="7.3402052016225239E-2"/>
        </c:manualLayout>
      </c:layout>
      <c:overlay val="0"/>
      <c:spPr>
        <a:noFill/>
        <a:ln>
          <a:noFill/>
        </a:ln>
        <a:effectLst/>
      </c:spPr>
      <c:txPr>
        <a:bodyPr rot="0" spcFirstLastPara="1" vertOverflow="ellipsis" vert="horz" wrap="square" anchor="ctr" anchorCtr="1"/>
        <a:lstStyle/>
        <a:p>
          <a:pPr>
            <a:defRPr sz="1100" b="1" i="0" u="none" strike="noStrike" kern="1200" baseline="0">
              <a:solidFill>
                <a:schemeClr val="tx1">
                  <a:lumMod val="65000"/>
                  <a:lumOff val="35000"/>
                </a:schemeClr>
              </a:solidFill>
              <a:latin typeface="Arial" panose="020B0604020202020204" pitchFamily="34" charset="0"/>
              <a:ea typeface="微软雅黑" panose="020B0503020204020204" pitchFamily="34" charset="-122"/>
              <a:cs typeface="+mn-cs"/>
            </a:defRPr>
          </a:pPr>
          <a:endParaRPr lang="zh-CN"/>
        </a:p>
      </c:txPr>
    </c:legend>
    <c:plotVisOnly val="1"/>
    <c:dispBlanksAs val="gap"/>
    <c:showDLblsOverMax val="0"/>
  </c:chart>
  <c:spPr>
    <a:noFill/>
    <a:ln w="9525" cap="flat" cmpd="sng" algn="ctr">
      <a:noFill/>
      <a:round/>
    </a:ln>
    <a:effectLst/>
  </c:spPr>
  <c:txPr>
    <a:bodyPr/>
    <a:lstStyle/>
    <a:p>
      <a:pPr>
        <a:defRPr/>
      </a:pPr>
      <a:endParaRPr lang="zh-CN"/>
    </a:p>
  </c:txPr>
  <c:externalData r:id="rId2">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0" i="0" u="none" strike="noStrike" kern="1200" spc="0" baseline="0">
                <a:solidFill>
                  <a:schemeClr val="tx1"/>
                </a:solidFill>
                <a:latin typeface="微软雅黑" pitchFamily="34" charset="-122"/>
                <a:ea typeface="微软雅黑" pitchFamily="34" charset="-122"/>
                <a:cs typeface="+mn-cs"/>
              </a:defRPr>
            </a:pPr>
            <a:r>
              <a:rPr lang="zh-CN" altLang="en-US" sz="1600" b="1">
                <a:solidFill>
                  <a:schemeClr val="tx1"/>
                </a:solidFill>
                <a:latin typeface="微软雅黑" pitchFamily="34" charset="-122"/>
                <a:ea typeface="微软雅黑" pitchFamily="34" charset="-122"/>
              </a:rPr>
              <a:t>北京新建住宅分面积段成交占比</a:t>
            </a:r>
          </a:p>
        </c:rich>
      </c:tx>
      <c:layout>
        <c:manualLayout>
          <c:xMode val="edge"/>
          <c:yMode val="edge"/>
          <c:x val="0.29450186784166354"/>
          <c:y val="4.1291907419197032E-3"/>
        </c:manualLayout>
      </c:layout>
      <c:overlay val="0"/>
      <c:spPr>
        <a:noFill/>
        <a:ln>
          <a:noFill/>
        </a:ln>
        <a:effectLst/>
      </c:spPr>
    </c:title>
    <c:autoTitleDeleted val="0"/>
    <c:plotArea>
      <c:layout>
        <c:manualLayout>
          <c:layoutTarget val="inner"/>
          <c:xMode val="edge"/>
          <c:yMode val="edge"/>
          <c:x val="5.9327409761853162E-2"/>
          <c:y val="0.25992875890513684"/>
          <c:w val="0.86645012070120453"/>
          <c:h val="0.54222001059420666"/>
        </c:manualLayout>
      </c:layout>
      <c:barChart>
        <c:barDir val="col"/>
        <c:grouping val="stacked"/>
        <c:varyColors val="0"/>
        <c:ser>
          <c:idx val="0"/>
          <c:order val="0"/>
          <c:tx>
            <c:strRef>
              <c:f>面积段!$B$27</c:f>
              <c:strCache>
                <c:ptCount val="1"/>
                <c:pt idx="0">
                  <c:v>60㎡以下</c:v>
                </c:pt>
              </c:strCache>
            </c:strRef>
          </c:tx>
          <c:spPr>
            <a:solidFill>
              <a:srgbClr val="0070C0"/>
            </a:solidFill>
            <a:effectLst>
              <a:outerShdw blurRad="38100" dist="38100" dir="5400000" algn="t" rotWithShape="0">
                <a:srgbClr val="717171">
                  <a:alpha val="40000"/>
                </a:srgbClr>
              </a:outerShdw>
            </a:effectLst>
          </c:spPr>
          <c:invertIfNegative val="0"/>
          <c:cat>
            <c:numRef>
              <c:f>面积段!$A$28:$A$48</c:f>
              <c:numCache>
                <c:formatCode>yyyy"年"m"月"</c:formatCode>
                <c:ptCount val="21"/>
                <c:pt idx="0">
                  <c:v>42005</c:v>
                </c:pt>
                <c:pt idx="1">
                  <c:v>42036</c:v>
                </c:pt>
                <c:pt idx="2">
                  <c:v>42064</c:v>
                </c:pt>
                <c:pt idx="3">
                  <c:v>42095</c:v>
                </c:pt>
                <c:pt idx="4">
                  <c:v>42125</c:v>
                </c:pt>
                <c:pt idx="5">
                  <c:v>42156</c:v>
                </c:pt>
                <c:pt idx="6">
                  <c:v>42186</c:v>
                </c:pt>
                <c:pt idx="7">
                  <c:v>42217</c:v>
                </c:pt>
                <c:pt idx="8">
                  <c:v>42248</c:v>
                </c:pt>
                <c:pt idx="9">
                  <c:v>42278</c:v>
                </c:pt>
                <c:pt idx="10">
                  <c:v>42309</c:v>
                </c:pt>
                <c:pt idx="11">
                  <c:v>42339</c:v>
                </c:pt>
                <c:pt idx="12">
                  <c:v>42370</c:v>
                </c:pt>
                <c:pt idx="13">
                  <c:v>42401</c:v>
                </c:pt>
                <c:pt idx="14">
                  <c:v>42430</c:v>
                </c:pt>
                <c:pt idx="15">
                  <c:v>42461</c:v>
                </c:pt>
                <c:pt idx="16">
                  <c:v>42491</c:v>
                </c:pt>
                <c:pt idx="17">
                  <c:v>42522</c:v>
                </c:pt>
                <c:pt idx="18">
                  <c:v>42552</c:v>
                </c:pt>
                <c:pt idx="19">
                  <c:v>42584</c:v>
                </c:pt>
                <c:pt idx="20">
                  <c:v>42614</c:v>
                </c:pt>
              </c:numCache>
            </c:numRef>
          </c:cat>
          <c:val>
            <c:numRef>
              <c:f>面积段!$B$28:$B$48</c:f>
              <c:numCache>
                <c:formatCode>0.0%</c:formatCode>
                <c:ptCount val="21"/>
                <c:pt idx="0">
                  <c:v>2.2033049574361543E-2</c:v>
                </c:pt>
                <c:pt idx="1">
                  <c:v>3.1591737545565005E-2</c:v>
                </c:pt>
                <c:pt idx="2">
                  <c:v>1.8749999999999999E-2</c:v>
                </c:pt>
                <c:pt idx="3">
                  <c:v>2.0136054421768707E-2</c:v>
                </c:pt>
                <c:pt idx="4">
                  <c:v>2.1615248575358615E-2</c:v>
                </c:pt>
                <c:pt idx="5">
                  <c:v>5.3857120228100741E-2</c:v>
                </c:pt>
                <c:pt idx="6">
                  <c:v>4.6692077320991017E-2</c:v>
                </c:pt>
                <c:pt idx="7">
                  <c:v>2.3764746110446232E-2</c:v>
                </c:pt>
                <c:pt idx="8">
                  <c:v>1.7292377701934016E-2</c:v>
                </c:pt>
                <c:pt idx="9">
                  <c:v>2.4189114898295765E-2</c:v>
                </c:pt>
                <c:pt idx="10">
                  <c:v>1.9578313253012049E-2</c:v>
                </c:pt>
                <c:pt idx="11">
                  <c:v>1.6746411483253589E-2</c:v>
                </c:pt>
                <c:pt idx="12">
                  <c:v>2.3701731025299599E-2</c:v>
                </c:pt>
                <c:pt idx="13">
                  <c:v>3.0634573304157548E-2</c:v>
                </c:pt>
                <c:pt idx="14">
                  <c:v>2.212290502793296E-2</c:v>
                </c:pt>
                <c:pt idx="15">
                  <c:v>2.3527161438408568E-2</c:v>
                </c:pt>
                <c:pt idx="16">
                  <c:v>5.3264604810996562E-2</c:v>
                </c:pt>
                <c:pt idx="17">
                  <c:v>3.6752136752136753E-2</c:v>
                </c:pt>
                <c:pt idx="18">
                  <c:v>2.936378466557912E-2</c:v>
                </c:pt>
                <c:pt idx="19">
                  <c:v>3.8846811629611532E-2</c:v>
                </c:pt>
                <c:pt idx="20">
                  <c:v>3.9681101648849429E-2</c:v>
                </c:pt>
              </c:numCache>
            </c:numRef>
          </c:val>
          <c:extLst>
            <c:ext xmlns:c16="http://schemas.microsoft.com/office/drawing/2014/chart" uri="{C3380CC4-5D6E-409C-BE32-E72D297353CC}">
              <c16:uniqueId val="{00000000-131F-4CFF-8ECA-27825D5BD351}"/>
            </c:ext>
          </c:extLst>
        </c:ser>
        <c:ser>
          <c:idx val="1"/>
          <c:order val="1"/>
          <c:tx>
            <c:strRef>
              <c:f>面积段!$C$27</c:f>
              <c:strCache>
                <c:ptCount val="1"/>
                <c:pt idx="0">
                  <c:v>60~90㎡</c:v>
                </c:pt>
              </c:strCache>
            </c:strRef>
          </c:tx>
          <c:spPr>
            <a:solidFill>
              <a:srgbClr val="FFC000"/>
            </a:solidFill>
            <a:ln w="31750" cap="rnd">
              <a:noFill/>
              <a:round/>
            </a:ln>
            <a:effectLst>
              <a:outerShdw blurRad="38100" dist="38100" dir="5400000" algn="t" rotWithShape="0">
                <a:srgbClr val="717171">
                  <a:alpha val="40000"/>
                </a:srgbClr>
              </a:outerShdw>
            </a:effectLst>
          </c:spPr>
          <c:invertIfNegative val="0"/>
          <c:cat>
            <c:numRef>
              <c:f>面积段!$A$28:$A$48</c:f>
              <c:numCache>
                <c:formatCode>yyyy"年"m"月"</c:formatCode>
                <c:ptCount val="21"/>
                <c:pt idx="0">
                  <c:v>42005</c:v>
                </c:pt>
                <c:pt idx="1">
                  <c:v>42036</c:v>
                </c:pt>
                <c:pt idx="2">
                  <c:v>42064</c:v>
                </c:pt>
                <c:pt idx="3">
                  <c:v>42095</c:v>
                </c:pt>
                <c:pt idx="4">
                  <c:v>42125</c:v>
                </c:pt>
                <c:pt idx="5">
                  <c:v>42156</c:v>
                </c:pt>
                <c:pt idx="6">
                  <c:v>42186</c:v>
                </c:pt>
                <c:pt idx="7">
                  <c:v>42217</c:v>
                </c:pt>
                <c:pt idx="8">
                  <c:v>42248</c:v>
                </c:pt>
                <c:pt idx="9">
                  <c:v>42278</c:v>
                </c:pt>
                <c:pt idx="10">
                  <c:v>42309</c:v>
                </c:pt>
                <c:pt idx="11">
                  <c:v>42339</c:v>
                </c:pt>
                <c:pt idx="12">
                  <c:v>42370</c:v>
                </c:pt>
                <c:pt idx="13">
                  <c:v>42401</c:v>
                </c:pt>
                <c:pt idx="14">
                  <c:v>42430</c:v>
                </c:pt>
                <c:pt idx="15">
                  <c:v>42461</c:v>
                </c:pt>
                <c:pt idx="16">
                  <c:v>42491</c:v>
                </c:pt>
                <c:pt idx="17">
                  <c:v>42522</c:v>
                </c:pt>
                <c:pt idx="18">
                  <c:v>42552</c:v>
                </c:pt>
                <c:pt idx="19">
                  <c:v>42584</c:v>
                </c:pt>
                <c:pt idx="20">
                  <c:v>42614</c:v>
                </c:pt>
              </c:numCache>
            </c:numRef>
          </c:cat>
          <c:val>
            <c:numRef>
              <c:f>面积段!$C$28:$C$48</c:f>
              <c:numCache>
                <c:formatCode>0.0%</c:formatCode>
                <c:ptCount val="21"/>
                <c:pt idx="0">
                  <c:v>0.3898347521281923</c:v>
                </c:pt>
                <c:pt idx="1">
                  <c:v>0.31652490886998785</c:v>
                </c:pt>
                <c:pt idx="2">
                  <c:v>0.32773437500000002</c:v>
                </c:pt>
                <c:pt idx="3">
                  <c:v>0.38693877551020406</c:v>
                </c:pt>
                <c:pt idx="4">
                  <c:v>0.33994890941245826</c:v>
                </c:pt>
                <c:pt idx="5">
                  <c:v>0.3383494376683035</c:v>
                </c:pt>
                <c:pt idx="6">
                  <c:v>0.35937925401579091</c:v>
                </c:pt>
                <c:pt idx="7">
                  <c:v>0.31133527098649344</c:v>
                </c:pt>
                <c:pt idx="8">
                  <c:v>0.28418657565415245</c:v>
                </c:pt>
                <c:pt idx="9">
                  <c:v>0.2795492028587136</c:v>
                </c:pt>
                <c:pt idx="10">
                  <c:v>0.26179718875502006</c:v>
                </c:pt>
                <c:pt idx="11">
                  <c:v>0.25395656974604341</c:v>
                </c:pt>
                <c:pt idx="12">
                  <c:v>0.29720372836218373</c:v>
                </c:pt>
                <c:pt idx="13">
                  <c:v>0.25875273522975928</c:v>
                </c:pt>
                <c:pt idx="14">
                  <c:v>0.23530726256983239</c:v>
                </c:pt>
                <c:pt idx="15">
                  <c:v>0.27888293802601377</c:v>
                </c:pt>
                <c:pt idx="16">
                  <c:v>0.22042218949435444</c:v>
                </c:pt>
                <c:pt idx="17">
                  <c:v>0.18568376068376069</c:v>
                </c:pt>
                <c:pt idx="18">
                  <c:v>0.2020799347471452</c:v>
                </c:pt>
                <c:pt idx="19">
                  <c:v>0.19252382115807476</c:v>
                </c:pt>
                <c:pt idx="20">
                  <c:v>0.16742163435404964</c:v>
                </c:pt>
              </c:numCache>
            </c:numRef>
          </c:val>
          <c:extLst>
            <c:ext xmlns:c16="http://schemas.microsoft.com/office/drawing/2014/chart" uri="{C3380CC4-5D6E-409C-BE32-E72D297353CC}">
              <c16:uniqueId val="{00000001-131F-4CFF-8ECA-27825D5BD351}"/>
            </c:ext>
          </c:extLst>
        </c:ser>
        <c:ser>
          <c:idx val="2"/>
          <c:order val="2"/>
          <c:tx>
            <c:strRef>
              <c:f>面积段!$D$27</c:f>
              <c:strCache>
                <c:ptCount val="1"/>
                <c:pt idx="0">
                  <c:v>90~120㎡</c:v>
                </c:pt>
              </c:strCache>
            </c:strRef>
          </c:tx>
          <c:spPr>
            <a:solidFill>
              <a:srgbClr val="1F497D">
                <a:lumMod val="60000"/>
                <a:lumOff val="40000"/>
              </a:srgbClr>
            </a:solidFill>
          </c:spPr>
          <c:invertIfNegative val="0"/>
          <c:cat>
            <c:numRef>
              <c:f>面积段!$A$28:$A$48</c:f>
              <c:numCache>
                <c:formatCode>yyyy"年"m"月"</c:formatCode>
                <c:ptCount val="21"/>
                <c:pt idx="0">
                  <c:v>42005</c:v>
                </c:pt>
                <c:pt idx="1">
                  <c:v>42036</c:v>
                </c:pt>
                <c:pt idx="2">
                  <c:v>42064</c:v>
                </c:pt>
                <c:pt idx="3">
                  <c:v>42095</c:v>
                </c:pt>
                <c:pt idx="4">
                  <c:v>42125</c:v>
                </c:pt>
                <c:pt idx="5">
                  <c:v>42156</c:v>
                </c:pt>
                <c:pt idx="6">
                  <c:v>42186</c:v>
                </c:pt>
                <c:pt idx="7">
                  <c:v>42217</c:v>
                </c:pt>
                <c:pt idx="8">
                  <c:v>42248</c:v>
                </c:pt>
                <c:pt idx="9">
                  <c:v>42278</c:v>
                </c:pt>
                <c:pt idx="10">
                  <c:v>42309</c:v>
                </c:pt>
                <c:pt idx="11">
                  <c:v>42339</c:v>
                </c:pt>
                <c:pt idx="12">
                  <c:v>42370</c:v>
                </c:pt>
                <c:pt idx="13">
                  <c:v>42401</c:v>
                </c:pt>
                <c:pt idx="14">
                  <c:v>42430</c:v>
                </c:pt>
                <c:pt idx="15">
                  <c:v>42461</c:v>
                </c:pt>
                <c:pt idx="16">
                  <c:v>42491</c:v>
                </c:pt>
                <c:pt idx="17">
                  <c:v>42522</c:v>
                </c:pt>
                <c:pt idx="18">
                  <c:v>42552</c:v>
                </c:pt>
                <c:pt idx="19">
                  <c:v>42584</c:v>
                </c:pt>
                <c:pt idx="20">
                  <c:v>42614</c:v>
                </c:pt>
              </c:numCache>
            </c:numRef>
          </c:cat>
          <c:val>
            <c:numRef>
              <c:f>面积段!$D$28:$D$48</c:f>
              <c:numCache>
                <c:formatCode>0.0%</c:formatCode>
                <c:ptCount val="21"/>
                <c:pt idx="0">
                  <c:v>0.29369053580370558</c:v>
                </c:pt>
                <c:pt idx="1">
                  <c:v>0.30862697448359661</c:v>
                </c:pt>
                <c:pt idx="2">
                  <c:v>0.26992187499999998</c:v>
                </c:pt>
                <c:pt idx="3">
                  <c:v>0.28435374149659864</c:v>
                </c:pt>
                <c:pt idx="4">
                  <c:v>0.29219886028689329</c:v>
                </c:pt>
                <c:pt idx="5">
                  <c:v>0.24837636622841755</c:v>
                </c:pt>
                <c:pt idx="6">
                  <c:v>0.30098012523822487</c:v>
                </c:pt>
                <c:pt idx="7">
                  <c:v>0.29252863737391005</c:v>
                </c:pt>
                <c:pt idx="8">
                  <c:v>0.2653014789533561</c:v>
                </c:pt>
                <c:pt idx="9">
                  <c:v>0.27515118196811433</c:v>
                </c:pt>
                <c:pt idx="10">
                  <c:v>0.25401606425702811</c:v>
                </c:pt>
                <c:pt idx="11">
                  <c:v>0.2681266102318734</c:v>
                </c:pt>
                <c:pt idx="12">
                  <c:v>0.27509986684420773</c:v>
                </c:pt>
                <c:pt idx="13">
                  <c:v>0.27625820568927789</c:v>
                </c:pt>
                <c:pt idx="14">
                  <c:v>0.27061452513966483</c:v>
                </c:pt>
                <c:pt idx="15">
                  <c:v>0.21920428462127009</c:v>
                </c:pt>
                <c:pt idx="16">
                  <c:v>0.21502209131075112</c:v>
                </c:pt>
                <c:pt idx="17">
                  <c:v>0.2108974358974359</c:v>
                </c:pt>
                <c:pt idx="18">
                  <c:v>0.24775693311582381</c:v>
                </c:pt>
                <c:pt idx="19">
                  <c:v>0.24212069386757878</c:v>
                </c:pt>
                <c:pt idx="20">
                  <c:v>0.25928610255481066</c:v>
                </c:pt>
              </c:numCache>
            </c:numRef>
          </c:val>
          <c:extLst>
            <c:ext xmlns:c16="http://schemas.microsoft.com/office/drawing/2014/chart" uri="{C3380CC4-5D6E-409C-BE32-E72D297353CC}">
              <c16:uniqueId val="{00000002-131F-4CFF-8ECA-27825D5BD351}"/>
            </c:ext>
          </c:extLst>
        </c:ser>
        <c:ser>
          <c:idx val="3"/>
          <c:order val="3"/>
          <c:tx>
            <c:strRef>
              <c:f>面积段!$E$27</c:f>
              <c:strCache>
                <c:ptCount val="1"/>
                <c:pt idx="0">
                  <c:v>120~150㎡</c:v>
                </c:pt>
              </c:strCache>
            </c:strRef>
          </c:tx>
          <c:spPr>
            <a:solidFill>
              <a:srgbClr val="F79646">
                <a:lumMod val="75000"/>
              </a:srgbClr>
            </a:solidFill>
          </c:spPr>
          <c:invertIfNegative val="0"/>
          <c:cat>
            <c:numRef>
              <c:f>面积段!$A$28:$A$48</c:f>
              <c:numCache>
                <c:formatCode>yyyy"年"m"月"</c:formatCode>
                <c:ptCount val="21"/>
                <c:pt idx="0">
                  <c:v>42005</c:v>
                </c:pt>
                <c:pt idx="1">
                  <c:v>42036</c:v>
                </c:pt>
                <c:pt idx="2">
                  <c:v>42064</c:v>
                </c:pt>
                <c:pt idx="3">
                  <c:v>42095</c:v>
                </c:pt>
                <c:pt idx="4">
                  <c:v>42125</c:v>
                </c:pt>
                <c:pt idx="5">
                  <c:v>42156</c:v>
                </c:pt>
                <c:pt idx="6">
                  <c:v>42186</c:v>
                </c:pt>
                <c:pt idx="7">
                  <c:v>42217</c:v>
                </c:pt>
                <c:pt idx="8">
                  <c:v>42248</c:v>
                </c:pt>
                <c:pt idx="9">
                  <c:v>42278</c:v>
                </c:pt>
                <c:pt idx="10">
                  <c:v>42309</c:v>
                </c:pt>
                <c:pt idx="11">
                  <c:v>42339</c:v>
                </c:pt>
                <c:pt idx="12">
                  <c:v>42370</c:v>
                </c:pt>
                <c:pt idx="13">
                  <c:v>42401</c:v>
                </c:pt>
                <c:pt idx="14">
                  <c:v>42430</c:v>
                </c:pt>
                <c:pt idx="15">
                  <c:v>42461</c:v>
                </c:pt>
                <c:pt idx="16">
                  <c:v>42491</c:v>
                </c:pt>
                <c:pt idx="17">
                  <c:v>42522</c:v>
                </c:pt>
                <c:pt idx="18">
                  <c:v>42552</c:v>
                </c:pt>
                <c:pt idx="19">
                  <c:v>42584</c:v>
                </c:pt>
                <c:pt idx="20">
                  <c:v>42614</c:v>
                </c:pt>
              </c:numCache>
            </c:numRef>
          </c:cat>
          <c:val>
            <c:numRef>
              <c:f>面积段!$E$28:$E$48</c:f>
              <c:numCache>
                <c:formatCode>0.0%</c:formatCode>
                <c:ptCount val="21"/>
                <c:pt idx="0">
                  <c:v>0.17901852779168753</c:v>
                </c:pt>
                <c:pt idx="1">
                  <c:v>0.17679222357229649</c:v>
                </c:pt>
                <c:pt idx="2">
                  <c:v>0.18867187499999999</c:v>
                </c:pt>
                <c:pt idx="3">
                  <c:v>0.16163265306122448</c:v>
                </c:pt>
                <c:pt idx="4">
                  <c:v>0.14462566319512674</c:v>
                </c:pt>
                <c:pt idx="5">
                  <c:v>0.15175035640741327</c:v>
                </c:pt>
                <c:pt idx="6">
                  <c:v>0.12850530901170706</c:v>
                </c:pt>
                <c:pt idx="7">
                  <c:v>0.16789194734142587</c:v>
                </c:pt>
                <c:pt idx="8">
                  <c:v>0.18703071672354948</c:v>
                </c:pt>
                <c:pt idx="9">
                  <c:v>0.19406267179769104</c:v>
                </c:pt>
                <c:pt idx="10">
                  <c:v>0.19528112449799198</c:v>
                </c:pt>
                <c:pt idx="11">
                  <c:v>0.21347073978652925</c:v>
                </c:pt>
                <c:pt idx="12">
                  <c:v>0.18135818908122503</c:v>
                </c:pt>
                <c:pt idx="13">
                  <c:v>0.19310722100656455</c:v>
                </c:pt>
                <c:pt idx="14">
                  <c:v>0.22033519553072625</c:v>
                </c:pt>
                <c:pt idx="15">
                  <c:v>0.20065034429992348</c:v>
                </c:pt>
                <c:pt idx="16">
                  <c:v>0.18998527245949925</c:v>
                </c:pt>
                <c:pt idx="17">
                  <c:v>0.2170940170940171</c:v>
                </c:pt>
                <c:pt idx="18">
                  <c:v>0.23327895595432299</c:v>
                </c:pt>
                <c:pt idx="19">
                  <c:v>0.22062057170779378</c:v>
                </c:pt>
                <c:pt idx="20">
                  <c:v>0.23301322703388294</c:v>
                </c:pt>
              </c:numCache>
            </c:numRef>
          </c:val>
          <c:extLst>
            <c:ext xmlns:c16="http://schemas.microsoft.com/office/drawing/2014/chart" uri="{C3380CC4-5D6E-409C-BE32-E72D297353CC}">
              <c16:uniqueId val="{00000003-131F-4CFF-8ECA-27825D5BD351}"/>
            </c:ext>
          </c:extLst>
        </c:ser>
        <c:ser>
          <c:idx val="4"/>
          <c:order val="4"/>
          <c:tx>
            <c:strRef>
              <c:f>面积段!$F$27</c:f>
              <c:strCache>
                <c:ptCount val="1"/>
                <c:pt idx="0">
                  <c:v>150~200㎡</c:v>
                </c:pt>
              </c:strCache>
            </c:strRef>
          </c:tx>
          <c:invertIfNegative val="0"/>
          <c:cat>
            <c:numRef>
              <c:f>面积段!$A$28:$A$48</c:f>
              <c:numCache>
                <c:formatCode>yyyy"年"m"月"</c:formatCode>
                <c:ptCount val="21"/>
                <c:pt idx="0">
                  <c:v>42005</c:v>
                </c:pt>
                <c:pt idx="1">
                  <c:v>42036</c:v>
                </c:pt>
                <c:pt idx="2">
                  <c:v>42064</c:v>
                </c:pt>
                <c:pt idx="3">
                  <c:v>42095</c:v>
                </c:pt>
                <c:pt idx="4">
                  <c:v>42125</c:v>
                </c:pt>
                <c:pt idx="5">
                  <c:v>42156</c:v>
                </c:pt>
                <c:pt idx="6">
                  <c:v>42186</c:v>
                </c:pt>
                <c:pt idx="7">
                  <c:v>42217</c:v>
                </c:pt>
                <c:pt idx="8">
                  <c:v>42248</c:v>
                </c:pt>
                <c:pt idx="9">
                  <c:v>42278</c:v>
                </c:pt>
                <c:pt idx="10">
                  <c:v>42309</c:v>
                </c:pt>
                <c:pt idx="11">
                  <c:v>42339</c:v>
                </c:pt>
                <c:pt idx="12">
                  <c:v>42370</c:v>
                </c:pt>
                <c:pt idx="13">
                  <c:v>42401</c:v>
                </c:pt>
                <c:pt idx="14">
                  <c:v>42430</c:v>
                </c:pt>
                <c:pt idx="15">
                  <c:v>42461</c:v>
                </c:pt>
                <c:pt idx="16">
                  <c:v>42491</c:v>
                </c:pt>
                <c:pt idx="17">
                  <c:v>42522</c:v>
                </c:pt>
                <c:pt idx="18">
                  <c:v>42552</c:v>
                </c:pt>
                <c:pt idx="19">
                  <c:v>42584</c:v>
                </c:pt>
                <c:pt idx="20">
                  <c:v>42614</c:v>
                </c:pt>
              </c:numCache>
            </c:numRef>
          </c:cat>
          <c:val>
            <c:numRef>
              <c:f>面积段!$F$28:$F$48</c:f>
              <c:numCache>
                <c:formatCode>0.0%</c:formatCode>
                <c:ptCount val="21"/>
                <c:pt idx="0">
                  <c:v>4.9073610415623435E-2</c:v>
                </c:pt>
                <c:pt idx="1">
                  <c:v>7.5941676792223578E-2</c:v>
                </c:pt>
                <c:pt idx="2">
                  <c:v>9.1015625000000003E-2</c:v>
                </c:pt>
                <c:pt idx="3">
                  <c:v>6.9659863945578229E-2</c:v>
                </c:pt>
                <c:pt idx="4">
                  <c:v>9.6482609550009826E-2</c:v>
                </c:pt>
                <c:pt idx="5">
                  <c:v>9.0765087913828604E-2</c:v>
                </c:pt>
                <c:pt idx="6">
                  <c:v>7.4870677919956441E-2</c:v>
                </c:pt>
                <c:pt idx="7">
                  <c:v>9.0784749529834161E-2</c:v>
                </c:pt>
                <c:pt idx="8">
                  <c:v>0.10875995449374289</c:v>
                </c:pt>
                <c:pt idx="9">
                  <c:v>0.10005497526113249</c:v>
                </c:pt>
                <c:pt idx="10">
                  <c:v>0.11997991967871485</c:v>
                </c:pt>
                <c:pt idx="11">
                  <c:v>0.11078395288921605</c:v>
                </c:pt>
                <c:pt idx="12">
                  <c:v>9.693741677762982E-2</c:v>
                </c:pt>
                <c:pt idx="13">
                  <c:v>9.7921225382932173E-2</c:v>
                </c:pt>
                <c:pt idx="14">
                  <c:v>0.12022346368715084</c:v>
                </c:pt>
                <c:pt idx="15">
                  <c:v>0.130451415455241</c:v>
                </c:pt>
                <c:pt idx="16">
                  <c:v>0.12592047128129602</c:v>
                </c:pt>
                <c:pt idx="17">
                  <c:v>0.12564102564102564</c:v>
                </c:pt>
                <c:pt idx="18">
                  <c:v>0.13764274061990212</c:v>
                </c:pt>
                <c:pt idx="19">
                  <c:v>0.14561446371854386</c:v>
                </c:pt>
                <c:pt idx="20">
                  <c:v>0.13245153107447002</c:v>
                </c:pt>
              </c:numCache>
            </c:numRef>
          </c:val>
          <c:extLst>
            <c:ext xmlns:c16="http://schemas.microsoft.com/office/drawing/2014/chart" uri="{C3380CC4-5D6E-409C-BE32-E72D297353CC}">
              <c16:uniqueId val="{00000004-131F-4CFF-8ECA-27825D5BD351}"/>
            </c:ext>
          </c:extLst>
        </c:ser>
        <c:ser>
          <c:idx val="5"/>
          <c:order val="5"/>
          <c:tx>
            <c:strRef>
              <c:f>面积段!$G$27</c:f>
              <c:strCache>
                <c:ptCount val="1"/>
                <c:pt idx="0">
                  <c:v>200㎡以上</c:v>
                </c:pt>
              </c:strCache>
            </c:strRef>
          </c:tx>
          <c:invertIfNegative val="0"/>
          <c:cat>
            <c:numRef>
              <c:f>面积段!$A$28:$A$48</c:f>
              <c:numCache>
                <c:formatCode>yyyy"年"m"月"</c:formatCode>
                <c:ptCount val="21"/>
                <c:pt idx="0">
                  <c:v>42005</c:v>
                </c:pt>
                <c:pt idx="1">
                  <c:v>42036</c:v>
                </c:pt>
                <c:pt idx="2">
                  <c:v>42064</c:v>
                </c:pt>
                <c:pt idx="3">
                  <c:v>42095</c:v>
                </c:pt>
                <c:pt idx="4">
                  <c:v>42125</c:v>
                </c:pt>
                <c:pt idx="5">
                  <c:v>42156</c:v>
                </c:pt>
                <c:pt idx="6">
                  <c:v>42186</c:v>
                </c:pt>
                <c:pt idx="7">
                  <c:v>42217</c:v>
                </c:pt>
                <c:pt idx="8">
                  <c:v>42248</c:v>
                </c:pt>
                <c:pt idx="9">
                  <c:v>42278</c:v>
                </c:pt>
                <c:pt idx="10">
                  <c:v>42309</c:v>
                </c:pt>
                <c:pt idx="11">
                  <c:v>42339</c:v>
                </c:pt>
                <c:pt idx="12">
                  <c:v>42370</c:v>
                </c:pt>
                <c:pt idx="13">
                  <c:v>42401</c:v>
                </c:pt>
                <c:pt idx="14">
                  <c:v>42430</c:v>
                </c:pt>
                <c:pt idx="15">
                  <c:v>42461</c:v>
                </c:pt>
                <c:pt idx="16">
                  <c:v>42491</c:v>
                </c:pt>
                <c:pt idx="17">
                  <c:v>42522</c:v>
                </c:pt>
                <c:pt idx="18">
                  <c:v>42552</c:v>
                </c:pt>
                <c:pt idx="19">
                  <c:v>42584</c:v>
                </c:pt>
                <c:pt idx="20">
                  <c:v>42614</c:v>
                </c:pt>
              </c:numCache>
            </c:numRef>
          </c:cat>
          <c:val>
            <c:numRef>
              <c:f>面积段!$G$28:$G$48</c:f>
              <c:numCache>
                <c:formatCode>0.0%</c:formatCode>
                <c:ptCount val="21"/>
                <c:pt idx="0">
                  <c:v>6.6349524286429651E-2</c:v>
                </c:pt>
                <c:pt idx="1">
                  <c:v>9.05224787363305E-2</c:v>
                </c:pt>
                <c:pt idx="2">
                  <c:v>0.10390625000000001</c:v>
                </c:pt>
                <c:pt idx="3">
                  <c:v>7.7278911564625852E-2</c:v>
                </c:pt>
                <c:pt idx="4">
                  <c:v>0.10512870898015327</c:v>
                </c:pt>
                <c:pt idx="5">
                  <c:v>0.11690163155393632</c:v>
                </c:pt>
                <c:pt idx="6">
                  <c:v>8.9572556493329708E-2</c:v>
                </c:pt>
                <c:pt idx="7">
                  <c:v>0.11369464865789024</c:v>
                </c:pt>
                <c:pt idx="8">
                  <c:v>0.13742889647326506</c:v>
                </c:pt>
                <c:pt idx="9">
                  <c:v>0.12699285321605278</c:v>
                </c:pt>
                <c:pt idx="10">
                  <c:v>0.14934738955823293</c:v>
                </c:pt>
                <c:pt idx="11">
                  <c:v>0.13691571586308429</c:v>
                </c:pt>
                <c:pt idx="12">
                  <c:v>0.12569906790945407</c:v>
                </c:pt>
                <c:pt idx="13">
                  <c:v>0.14332603938730853</c:v>
                </c:pt>
                <c:pt idx="14">
                  <c:v>0.13139664804469273</c:v>
                </c:pt>
                <c:pt idx="15">
                  <c:v>0.14728385615914308</c:v>
                </c:pt>
                <c:pt idx="16">
                  <c:v>0.1953853706431026</c:v>
                </c:pt>
                <c:pt idx="17">
                  <c:v>0.22393162393162394</c:v>
                </c:pt>
                <c:pt idx="18">
                  <c:v>0.14987765089722677</c:v>
                </c:pt>
                <c:pt idx="19">
                  <c:v>0.16027363791839727</c:v>
                </c:pt>
                <c:pt idx="20">
                  <c:v>0.16814640333393729</c:v>
                </c:pt>
              </c:numCache>
            </c:numRef>
          </c:val>
          <c:extLst>
            <c:ext xmlns:c16="http://schemas.microsoft.com/office/drawing/2014/chart" uri="{C3380CC4-5D6E-409C-BE32-E72D297353CC}">
              <c16:uniqueId val="{00000005-131F-4CFF-8ECA-27825D5BD351}"/>
            </c:ext>
          </c:extLst>
        </c:ser>
        <c:dLbls>
          <c:showLegendKey val="0"/>
          <c:showVal val="0"/>
          <c:showCatName val="0"/>
          <c:showSerName val="0"/>
          <c:showPercent val="0"/>
          <c:showBubbleSize val="0"/>
        </c:dLbls>
        <c:gapWidth val="150"/>
        <c:overlap val="100"/>
        <c:axId val="241088768"/>
        <c:axId val="241095040"/>
      </c:barChart>
      <c:lineChart>
        <c:grouping val="standard"/>
        <c:varyColors val="0"/>
        <c:ser>
          <c:idx val="6"/>
          <c:order val="6"/>
          <c:tx>
            <c:strRef>
              <c:f>面积段!$H$27</c:f>
              <c:strCache>
                <c:ptCount val="1"/>
              </c:strCache>
            </c:strRef>
          </c:tx>
          <c:spPr>
            <a:ln>
              <a:solidFill>
                <a:sysClr val="windowText" lastClr="000000"/>
              </a:solidFill>
            </a:ln>
          </c:spPr>
          <c:marker>
            <c:symbol val="diamond"/>
            <c:size val="7"/>
            <c:spPr>
              <a:solidFill>
                <a:sysClr val="windowText" lastClr="000000"/>
              </a:solidFill>
              <a:ln>
                <a:solidFill>
                  <a:sysClr val="window" lastClr="FFFFFF"/>
                </a:solidFill>
              </a:ln>
            </c:spPr>
          </c:marker>
          <c:cat>
            <c:numRef>
              <c:f>面积段!$A$28:$A$47</c:f>
              <c:numCache>
                <c:formatCode>yyyy"年"m"月"</c:formatCode>
                <c:ptCount val="20"/>
                <c:pt idx="0">
                  <c:v>42005</c:v>
                </c:pt>
                <c:pt idx="1">
                  <c:v>42036</c:v>
                </c:pt>
                <c:pt idx="2">
                  <c:v>42064</c:v>
                </c:pt>
                <c:pt idx="3">
                  <c:v>42095</c:v>
                </c:pt>
                <c:pt idx="4">
                  <c:v>42125</c:v>
                </c:pt>
                <c:pt idx="5">
                  <c:v>42156</c:v>
                </c:pt>
                <c:pt idx="6">
                  <c:v>42186</c:v>
                </c:pt>
                <c:pt idx="7">
                  <c:v>42217</c:v>
                </c:pt>
                <c:pt idx="8">
                  <c:v>42248</c:v>
                </c:pt>
                <c:pt idx="9">
                  <c:v>42278</c:v>
                </c:pt>
                <c:pt idx="10">
                  <c:v>42309</c:v>
                </c:pt>
                <c:pt idx="11">
                  <c:v>42339</c:v>
                </c:pt>
                <c:pt idx="12">
                  <c:v>42370</c:v>
                </c:pt>
                <c:pt idx="13">
                  <c:v>42401</c:v>
                </c:pt>
                <c:pt idx="14">
                  <c:v>42430</c:v>
                </c:pt>
                <c:pt idx="15">
                  <c:v>42461</c:v>
                </c:pt>
                <c:pt idx="16">
                  <c:v>42491</c:v>
                </c:pt>
                <c:pt idx="17">
                  <c:v>42522</c:v>
                </c:pt>
                <c:pt idx="18">
                  <c:v>42552</c:v>
                </c:pt>
                <c:pt idx="19">
                  <c:v>42584</c:v>
                </c:pt>
              </c:numCache>
            </c:numRef>
          </c:cat>
          <c:val>
            <c:numRef>
              <c:f>面积段!$H$28:$H$48</c:f>
              <c:numCache>
                <c:formatCode>0.0%</c:formatCode>
                <c:ptCount val="21"/>
                <c:pt idx="0">
                  <c:v>0.41186780170255383</c:v>
                </c:pt>
                <c:pt idx="1">
                  <c:v>0.34811664641555284</c:v>
                </c:pt>
                <c:pt idx="2">
                  <c:v>0.34648437500000001</c:v>
                </c:pt>
                <c:pt idx="3">
                  <c:v>0.40707482993197275</c:v>
                </c:pt>
                <c:pt idx="4">
                  <c:v>0.36156415798781688</c:v>
                </c:pt>
                <c:pt idx="5">
                  <c:v>0.39220655789640424</c:v>
                </c:pt>
                <c:pt idx="6">
                  <c:v>0.40607133133678192</c:v>
                </c:pt>
                <c:pt idx="7">
                  <c:v>0.33510001709693965</c:v>
                </c:pt>
                <c:pt idx="8">
                  <c:v>0.30147895335608649</c:v>
                </c:pt>
                <c:pt idx="9">
                  <c:v>0.30373831775700938</c:v>
                </c:pt>
                <c:pt idx="10">
                  <c:v>0.28137550200803213</c:v>
                </c:pt>
                <c:pt idx="11">
                  <c:v>0.27070298122929698</c:v>
                </c:pt>
                <c:pt idx="12">
                  <c:v>0.32090545938748333</c:v>
                </c:pt>
                <c:pt idx="13">
                  <c:v>0.28938730853391681</c:v>
                </c:pt>
                <c:pt idx="14">
                  <c:v>0.25743016759776538</c:v>
                </c:pt>
                <c:pt idx="15">
                  <c:v>0.30241009946442232</c:v>
                </c:pt>
                <c:pt idx="16">
                  <c:v>0.27368679430535098</c:v>
                </c:pt>
                <c:pt idx="17">
                  <c:v>0.22243589743589745</c:v>
                </c:pt>
                <c:pt idx="18">
                  <c:v>0.23144371941272432</c:v>
                </c:pt>
                <c:pt idx="19">
                  <c:v>0.2313706327876863</c:v>
                </c:pt>
                <c:pt idx="20">
                  <c:v>0.20710273600289908</c:v>
                </c:pt>
              </c:numCache>
            </c:numRef>
          </c:val>
          <c:smooth val="0"/>
          <c:extLst>
            <c:ext xmlns:c16="http://schemas.microsoft.com/office/drawing/2014/chart" uri="{C3380CC4-5D6E-409C-BE32-E72D297353CC}">
              <c16:uniqueId val="{00000006-131F-4CFF-8ECA-27825D5BD351}"/>
            </c:ext>
          </c:extLst>
        </c:ser>
        <c:dLbls>
          <c:showLegendKey val="0"/>
          <c:showVal val="0"/>
          <c:showCatName val="0"/>
          <c:showSerName val="0"/>
          <c:showPercent val="0"/>
          <c:showBubbleSize val="0"/>
        </c:dLbls>
        <c:marker val="1"/>
        <c:smooth val="0"/>
        <c:axId val="241088768"/>
        <c:axId val="241095040"/>
      </c:lineChart>
      <c:dateAx>
        <c:axId val="241088768"/>
        <c:scaling>
          <c:orientation val="minMax"/>
        </c:scaling>
        <c:delete val="0"/>
        <c:axPos val="b"/>
        <c:majorGridlines>
          <c:spPr>
            <a:ln w="12700" cap="flat" cmpd="sng" algn="ctr">
              <a:solidFill>
                <a:schemeClr val="bg1"/>
              </a:solidFill>
              <a:round/>
            </a:ln>
            <a:effectLst/>
          </c:spPr>
        </c:majorGridlines>
        <c:numFmt formatCode="yyyy&quot;年&quot;m&quot;月&quot;" sourceLinked="1"/>
        <c:majorTickMark val="out"/>
        <c:minorTickMark val="none"/>
        <c:tickLblPos val="nextTo"/>
        <c:spPr>
          <a:noFill/>
          <a:ln w="9525" cap="flat" cmpd="sng" algn="ctr">
            <a:solidFill>
              <a:srgbClr val="FFFFFF"/>
            </a:solidFill>
            <a:round/>
          </a:ln>
          <a:effectLst/>
        </c:spPr>
        <c:txPr>
          <a:bodyPr rot="-60000000" spcFirstLastPara="1" vertOverflow="ellipsis" vert="horz" wrap="square" anchor="ctr" anchorCtr="1"/>
          <a:lstStyle/>
          <a:p>
            <a:pPr>
              <a:defRPr sz="800" b="1" i="0" u="none" strike="noStrike" kern="1200" baseline="0">
                <a:solidFill>
                  <a:schemeClr val="tx1">
                    <a:lumMod val="65000"/>
                    <a:lumOff val="35000"/>
                  </a:schemeClr>
                </a:solidFill>
                <a:latin typeface="Arial" panose="020B0604020202020204" pitchFamily="34" charset="0"/>
                <a:ea typeface="微软雅黑" panose="020B0503020204020204" pitchFamily="34" charset="-122"/>
                <a:cs typeface="+mn-cs"/>
              </a:defRPr>
            </a:pPr>
            <a:endParaRPr lang="zh-CN"/>
          </a:p>
        </c:txPr>
        <c:crossAx val="241095040"/>
        <c:crosses val="autoZero"/>
        <c:auto val="1"/>
        <c:lblOffset val="100"/>
        <c:baseTimeUnit val="months"/>
        <c:majorUnit val="1"/>
        <c:majorTimeUnit val="months"/>
      </c:dateAx>
      <c:valAx>
        <c:axId val="241095040"/>
        <c:scaling>
          <c:orientation val="minMax"/>
          <c:max val="1"/>
          <c:min val="0"/>
        </c:scaling>
        <c:delete val="0"/>
        <c:axPos val="l"/>
        <c:majorGridlines>
          <c:spPr>
            <a:ln w="12700" cap="flat" cmpd="sng" algn="ctr">
              <a:solidFill>
                <a:schemeClr val="bg1"/>
              </a:solidFill>
              <a:round/>
            </a:ln>
            <a:effectLst/>
          </c:spPr>
        </c:majorGridlines>
        <c:numFmt formatCode="0.0%" sourceLinked="1"/>
        <c:majorTickMark val="out"/>
        <c:minorTickMark val="none"/>
        <c:tickLblPos val="nextTo"/>
        <c:spPr>
          <a:noFill/>
          <a:ln>
            <a:noFill/>
          </a:ln>
          <a:effectLst/>
        </c:spPr>
        <c:txPr>
          <a:bodyPr rot="-60000000" spcFirstLastPara="1" vertOverflow="ellipsis" vert="horz" wrap="square" anchor="ctr" anchorCtr="1"/>
          <a:lstStyle/>
          <a:p>
            <a:pPr>
              <a:defRPr sz="1050" b="1" i="0" u="none" strike="noStrike" kern="1200" baseline="0">
                <a:solidFill>
                  <a:schemeClr val="tx1">
                    <a:lumMod val="65000"/>
                    <a:lumOff val="35000"/>
                  </a:schemeClr>
                </a:solidFill>
                <a:latin typeface="Arial" panose="020B0604020202020204" pitchFamily="34" charset="0"/>
                <a:ea typeface="微软雅黑" panose="020B0503020204020204" pitchFamily="34" charset="-122"/>
                <a:cs typeface="+mn-cs"/>
              </a:defRPr>
            </a:pPr>
            <a:endParaRPr lang="zh-CN"/>
          </a:p>
        </c:txPr>
        <c:crossAx val="241088768"/>
        <c:crosses val="autoZero"/>
        <c:crossBetween val="between"/>
        <c:majorUnit val="0.2"/>
      </c:valAx>
      <c:spPr>
        <a:solidFill>
          <a:srgbClr val="EAEAEA"/>
        </a:solidFill>
        <a:ln>
          <a:noFill/>
        </a:ln>
        <a:effectLst/>
      </c:spPr>
    </c:plotArea>
    <c:legend>
      <c:legendPos val="t"/>
      <c:legendEntry>
        <c:idx val="6"/>
        <c:delete val="1"/>
      </c:legendEntry>
      <c:layout>
        <c:manualLayout>
          <c:xMode val="edge"/>
          <c:yMode val="edge"/>
          <c:x val="8.8239544710399742E-2"/>
          <c:y val="0.13361981619978053"/>
          <c:w val="0.83739959471358216"/>
          <c:h val="7.1330044587800012E-2"/>
        </c:manualLayout>
      </c:layout>
      <c:overlay val="0"/>
      <c:txPr>
        <a:bodyPr/>
        <a:lstStyle/>
        <a:p>
          <a:pPr>
            <a:defRPr sz="1000" b="1">
              <a:latin typeface="微软雅黑" pitchFamily="34" charset="-122"/>
              <a:ea typeface="微软雅黑" pitchFamily="34" charset="-122"/>
            </a:defRPr>
          </a:pPr>
          <a:endParaRPr lang="zh-CN"/>
        </a:p>
      </c:txPr>
    </c:legend>
    <c:plotVisOnly val="1"/>
    <c:dispBlanksAs val="gap"/>
    <c:showDLblsOverMax val="0"/>
  </c:chart>
  <c:spPr>
    <a:solidFill>
      <a:srgbClr val="FFFFFF"/>
    </a:solidFill>
    <a:ln w="9525" cap="flat" cmpd="sng" algn="ctr">
      <a:noFill/>
      <a:round/>
    </a:ln>
    <a:effectLst/>
  </c:spPr>
  <c:txPr>
    <a:bodyPr/>
    <a:lstStyle/>
    <a:p>
      <a:pPr>
        <a:defRPr/>
      </a:pPr>
      <a:endParaRPr lang="zh-CN"/>
    </a:p>
  </c:txPr>
  <c:externalData r:id="rId2">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1" i="0" u="none" strike="noStrike" kern="1200" spc="0" baseline="0">
                <a:solidFill>
                  <a:schemeClr val="tx1"/>
                </a:solidFill>
                <a:latin typeface="微软雅黑" pitchFamily="34" charset="-122"/>
                <a:ea typeface="微软雅黑" pitchFamily="34" charset="-122"/>
                <a:cs typeface="+mn-cs"/>
              </a:defRPr>
            </a:pPr>
            <a:r>
              <a:rPr lang="zh-CN" altLang="en-US" sz="1600" b="1">
                <a:solidFill>
                  <a:schemeClr val="tx1"/>
                </a:solidFill>
                <a:latin typeface="微软雅黑" pitchFamily="34" charset="-122"/>
                <a:ea typeface="微软雅黑" pitchFamily="34" charset="-122"/>
              </a:rPr>
              <a:t>北京新建住宅分单价段成交占比</a:t>
            </a:r>
          </a:p>
        </c:rich>
      </c:tx>
      <c:layout>
        <c:manualLayout>
          <c:xMode val="edge"/>
          <c:yMode val="edge"/>
          <c:x val="0.28542224356786861"/>
          <c:y val="1.6930316142914245E-4"/>
        </c:manualLayout>
      </c:layout>
      <c:overlay val="0"/>
      <c:spPr>
        <a:noFill/>
        <a:ln>
          <a:noFill/>
        </a:ln>
        <a:effectLst/>
      </c:spPr>
    </c:title>
    <c:autoTitleDeleted val="0"/>
    <c:plotArea>
      <c:layout>
        <c:manualLayout>
          <c:layoutTarget val="inner"/>
          <c:xMode val="edge"/>
          <c:yMode val="edge"/>
          <c:x val="5.9327409761853162E-2"/>
          <c:y val="0.25992875890513684"/>
          <c:w val="0.86645012070120453"/>
          <c:h val="0.46221190145816443"/>
        </c:manualLayout>
      </c:layout>
      <c:barChart>
        <c:barDir val="col"/>
        <c:grouping val="stacked"/>
        <c:varyColors val="0"/>
        <c:ser>
          <c:idx val="0"/>
          <c:order val="0"/>
          <c:tx>
            <c:strRef>
              <c:f>总价单价!$G$49</c:f>
              <c:strCache>
                <c:ptCount val="1"/>
                <c:pt idx="0">
                  <c:v>2万以下</c:v>
                </c:pt>
              </c:strCache>
            </c:strRef>
          </c:tx>
          <c:spPr>
            <a:solidFill>
              <a:srgbClr val="0070C0"/>
            </a:solidFill>
          </c:spPr>
          <c:invertIfNegative val="0"/>
          <c:cat>
            <c:numRef>
              <c:f>总价单价!$A$50:$A$70</c:f>
              <c:numCache>
                <c:formatCode>yyyy"年"m"月"</c:formatCode>
                <c:ptCount val="21"/>
                <c:pt idx="0">
                  <c:v>42005</c:v>
                </c:pt>
                <c:pt idx="1">
                  <c:v>42036</c:v>
                </c:pt>
                <c:pt idx="2">
                  <c:v>42064</c:v>
                </c:pt>
                <c:pt idx="3">
                  <c:v>42095</c:v>
                </c:pt>
                <c:pt idx="4">
                  <c:v>42125</c:v>
                </c:pt>
                <c:pt idx="5">
                  <c:v>42156</c:v>
                </c:pt>
                <c:pt idx="6">
                  <c:v>42186</c:v>
                </c:pt>
                <c:pt idx="7">
                  <c:v>42217</c:v>
                </c:pt>
                <c:pt idx="8">
                  <c:v>42248</c:v>
                </c:pt>
                <c:pt idx="9">
                  <c:v>42278</c:v>
                </c:pt>
                <c:pt idx="10">
                  <c:v>42309</c:v>
                </c:pt>
                <c:pt idx="11">
                  <c:v>42339</c:v>
                </c:pt>
                <c:pt idx="12">
                  <c:v>42370</c:v>
                </c:pt>
                <c:pt idx="13">
                  <c:v>42401</c:v>
                </c:pt>
                <c:pt idx="14">
                  <c:v>42430</c:v>
                </c:pt>
                <c:pt idx="15">
                  <c:v>42461</c:v>
                </c:pt>
                <c:pt idx="16">
                  <c:v>42491</c:v>
                </c:pt>
                <c:pt idx="17">
                  <c:v>42522</c:v>
                </c:pt>
                <c:pt idx="18">
                  <c:v>42552</c:v>
                </c:pt>
                <c:pt idx="19">
                  <c:v>42583</c:v>
                </c:pt>
                <c:pt idx="20">
                  <c:v>42614</c:v>
                </c:pt>
              </c:numCache>
            </c:numRef>
          </c:cat>
          <c:val>
            <c:numRef>
              <c:f>总价单价!$G$50:$G$70</c:f>
              <c:numCache>
                <c:formatCode>0.0%</c:formatCode>
                <c:ptCount val="21"/>
                <c:pt idx="0">
                  <c:v>0.43465197796695043</c:v>
                </c:pt>
                <c:pt idx="1">
                  <c:v>0.37181044957472659</c:v>
                </c:pt>
                <c:pt idx="2">
                  <c:v>0.34257812500000001</c:v>
                </c:pt>
                <c:pt idx="3">
                  <c:v>0.29278911564625848</c:v>
                </c:pt>
                <c:pt idx="4">
                  <c:v>0.28080172921988605</c:v>
                </c:pt>
                <c:pt idx="5">
                  <c:v>0.36797085379375893</c:v>
                </c:pt>
                <c:pt idx="6">
                  <c:v>0.35883473999455484</c:v>
                </c:pt>
                <c:pt idx="7">
                  <c:v>0.36142930415455632</c:v>
                </c:pt>
                <c:pt idx="8">
                  <c:v>0.25529010238907851</c:v>
                </c:pt>
                <c:pt idx="9">
                  <c:v>0.29411764705882354</c:v>
                </c:pt>
                <c:pt idx="10">
                  <c:v>0.27535140562248994</c:v>
                </c:pt>
                <c:pt idx="11">
                  <c:v>0.2793522267206478</c:v>
                </c:pt>
                <c:pt idx="12">
                  <c:v>0.30545938748335555</c:v>
                </c:pt>
                <c:pt idx="13">
                  <c:v>0.30470459518599563</c:v>
                </c:pt>
                <c:pt idx="14">
                  <c:v>0.23910614525139665</c:v>
                </c:pt>
                <c:pt idx="15">
                  <c:v>0.2921369810598814</c:v>
                </c:pt>
                <c:pt idx="16">
                  <c:v>0.22440944881889763</c:v>
                </c:pt>
                <c:pt idx="17">
                  <c:v>0.32028393202839323</c:v>
                </c:pt>
                <c:pt idx="18">
                  <c:v>0.32402120717781402</c:v>
                </c:pt>
                <c:pt idx="19">
                  <c:v>0.35792817004642069</c:v>
                </c:pt>
                <c:pt idx="20">
                  <c:v>0.30349701032795795</c:v>
                </c:pt>
              </c:numCache>
            </c:numRef>
          </c:val>
          <c:extLst>
            <c:ext xmlns:c16="http://schemas.microsoft.com/office/drawing/2014/chart" uri="{C3380CC4-5D6E-409C-BE32-E72D297353CC}">
              <c16:uniqueId val="{00000000-BBE4-44DC-B173-48549709ACD6}"/>
            </c:ext>
          </c:extLst>
        </c:ser>
        <c:ser>
          <c:idx val="1"/>
          <c:order val="1"/>
          <c:tx>
            <c:strRef>
              <c:f>总价单价!$H$49</c:f>
              <c:strCache>
                <c:ptCount val="1"/>
                <c:pt idx="0">
                  <c:v>2~3万</c:v>
                </c:pt>
              </c:strCache>
            </c:strRef>
          </c:tx>
          <c:invertIfNegative val="0"/>
          <c:cat>
            <c:numRef>
              <c:f>总价单价!$A$50:$A$70</c:f>
              <c:numCache>
                <c:formatCode>yyyy"年"m"月"</c:formatCode>
                <c:ptCount val="21"/>
                <c:pt idx="0">
                  <c:v>42005</c:v>
                </c:pt>
                <c:pt idx="1">
                  <c:v>42036</c:v>
                </c:pt>
                <c:pt idx="2">
                  <c:v>42064</c:v>
                </c:pt>
                <c:pt idx="3">
                  <c:v>42095</c:v>
                </c:pt>
                <c:pt idx="4">
                  <c:v>42125</c:v>
                </c:pt>
                <c:pt idx="5">
                  <c:v>42156</c:v>
                </c:pt>
                <c:pt idx="6">
                  <c:v>42186</c:v>
                </c:pt>
                <c:pt idx="7">
                  <c:v>42217</c:v>
                </c:pt>
                <c:pt idx="8">
                  <c:v>42248</c:v>
                </c:pt>
                <c:pt idx="9">
                  <c:v>42278</c:v>
                </c:pt>
                <c:pt idx="10">
                  <c:v>42309</c:v>
                </c:pt>
                <c:pt idx="11">
                  <c:v>42339</c:v>
                </c:pt>
                <c:pt idx="12">
                  <c:v>42370</c:v>
                </c:pt>
                <c:pt idx="13">
                  <c:v>42401</c:v>
                </c:pt>
                <c:pt idx="14">
                  <c:v>42430</c:v>
                </c:pt>
                <c:pt idx="15">
                  <c:v>42461</c:v>
                </c:pt>
                <c:pt idx="16">
                  <c:v>42491</c:v>
                </c:pt>
                <c:pt idx="17">
                  <c:v>42522</c:v>
                </c:pt>
                <c:pt idx="18">
                  <c:v>42552</c:v>
                </c:pt>
                <c:pt idx="19">
                  <c:v>42583</c:v>
                </c:pt>
                <c:pt idx="20">
                  <c:v>42614</c:v>
                </c:pt>
              </c:numCache>
            </c:numRef>
          </c:cat>
          <c:val>
            <c:numRef>
              <c:f>总价单价!$H$50:$H$70</c:f>
              <c:numCache>
                <c:formatCode>0.0%</c:formatCode>
                <c:ptCount val="21"/>
                <c:pt idx="0">
                  <c:v>0.39283925888833249</c:v>
                </c:pt>
                <c:pt idx="1">
                  <c:v>0.41676792223572295</c:v>
                </c:pt>
                <c:pt idx="2">
                  <c:v>0.43828125000000001</c:v>
                </c:pt>
                <c:pt idx="3">
                  <c:v>0.44625850340136053</c:v>
                </c:pt>
                <c:pt idx="4">
                  <c:v>0.42267636077814896</c:v>
                </c:pt>
                <c:pt idx="5">
                  <c:v>0.33787422778393789</c:v>
                </c:pt>
                <c:pt idx="6">
                  <c:v>0.34590253199019877</c:v>
                </c:pt>
                <c:pt idx="7">
                  <c:v>0.35732603863908358</c:v>
                </c:pt>
                <c:pt idx="8">
                  <c:v>0.41820250284414107</c:v>
                </c:pt>
                <c:pt idx="9">
                  <c:v>0.32985156679494226</c:v>
                </c:pt>
                <c:pt idx="10">
                  <c:v>0.36370481927710846</c:v>
                </c:pt>
                <c:pt idx="11">
                  <c:v>0.35958778064041225</c:v>
                </c:pt>
                <c:pt idx="12">
                  <c:v>0.37816245006657789</c:v>
                </c:pt>
                <c:pt idx="13">
                  <c:v>0.37800875273522977</c:v>
                </c:pt>
                <c:pt idx="14">
                  <c:v>0.34994413407821229</c:v>
                </c:pt>
                <c:pt idx="15">
                  <c:v>0.28792806581212932</c:v>
                </c:pt>
                <c:pt idx="16">
                  <c:v>0.32677165354330706</c:v>
                </c:pt>
                <c:pt idx="17">
                  <c:v>0.25360292536029255</c:v>
                </c:pt>
                <c:pt idx="18">
                  <c:v>0.20187601957585644</c:v>
                </c:pt>
                <c:pt idx="19">
                  <c:v>0.21377962374786219</c:v>
                </c:pt>
                <c:pt idx="20">
                  <c:v>0.16687805761913391</c:v>
                </c:pt>
              </c:numCache>
            </c:numRef>
          </c:val>
          <c:extLst>
            <c:ext xmlns:c16="http://schemas.microsoft.com/office/drawing/2014/chart" uri="{C3380CC4-5D6E-409C-BE32-E72D297353CC}">
              <c16:uniqueId val="{00000001-BBE4-44DC-B173-48549709ACD6}"/>
            </c:ext>
          </c:extLst>
        </c:ser>
        <c:ser>
          <c:idx val="2"/>
          <c:order val="2"/>
          <c:tx>
            <c:strRef>
              <c:f>总价单价!$I$49</c:f>
              <c:strCache>
                <c:ptCount val="1"/>
                <c:pt idx="0">
                  <c:v>3~4万</c:v>
                </c:pt>
              </c:strCache>
            </c:strRef>
          </c:tx>
          <c:invertIfNegative val="0"/>
          <c:cat>
            <c:numRef>
              <c:f>总价单价!$A$50:$A$70</c:f>
              <c:numCache>
                <c:formatCode>yyyy"年"m"月"</c:formatCode>
                <c:ptCount val="21"/>
                <c:pt idx="0">
                  <c:v>42005</c:v>
                </c:pt>
                <c:pt idx="1">
                  <c:v>42036</c:v>
                </c:pt>
                <c:pt idx="2">
                  <c:v>42064</c:v>
                </c:pt>
                <c:pt idx="3">
                  <c:v>42095</c:v>
                </c:pt>
                <c:pt idx="4">
                  <c:v>42125</c:v>
                </c:pt>
                <c:pt idx="5">
                  <c:v>42156</c:v>
                </c:pt>
                <c:pt idx="6">
                  <c:v>42186</c:v>
                </c:pt>
                <c:pt idx="7">
                  <c:v>42217</c:v>
                </c:pt>
                <c:pt idx="8">
                  <c:v>42248</c:v>
                </c:pt>
                <c:pt idx="9">
                  <c:v>42278</c:v>
                </c:pt>
                <c:pt idx="10">
                  <c:v>42309</c:v>
                </c:pt>
                <c:pt idx="11">
                  <c:v>42339</c:v>
                </c:pt>
                <c:pt idx="12">
                  <c:v>42370</c:v>
                </c:pt>
                <c:pt idx="13">
                  <c:v>42401</c:v>
                </c:pt>
                <c:pt idx="14">
                  <c:v>42430</c:v>
                </c:pt>
                <c:pt idx="15">
                  <c:v>42461</c:v>
                </c:pt>
                <c:pt idx="16">
                  <c:v>42491</c:v>
                </c:pt>
                <c:pt idx="17">
                  <c:v>42522</c:v>
                </c:pt>
                <c:pt idx="18">
                  <c:v>42552</c:v>
                </c:pt>
                <c:pt idx="19">
                  <c:v>42583</c:v>
                </c:pt>
                <c:pt idx="20">
                  <c:v>42614</c:v>
                </c:pt>
              </c:numCache>
            </c:numRef>
          </c:cat>
          <c:val>
            <c:numRef>
              <c:f>总价单价!$I$50:$I$70</c:f>
              <c:numCache>
                <c:formatCode>0.0%</c:formatCode>
                <c:ptCount val="21"/>
                <c:pt idx="0">
                  <c:v>0.10565848773159739</c:v>
                </c:pt>
                <c:pt idx="1">
                  <c:v>0.11239368165249089</c:v>
                </c:pt>
                <c:pt idx="2">
                  <c:v>9.8437499999999997E-2</c:v>
                </c:pt>
                <c:pt idx="3">
                  <c:v>0.16380952380952382</c:v>
                </c:pt>
                <c:pt idx="4">
                  <c:v>0.18510512870898016</c:v>
                </c:pt>
                <c:pt idx="5">
                  <c:v>0.17725328686836686</c:v>
                </c:pt>
                <c:pt idx="6">
                  <c:v>0.16675741900353935</c:v>
                </c:pt>
                <c:pt idx="7">
                  <c:v>0.1555821507950077</c:v>
                </c:pt>
                <c:pt idx="8">
                  <c:v>0.15244596131968147</c:v>
                </c:pt>
                <c:pt idx="9">
                  <c:v>0.25316107751511818</c:v>
                </c:pt>
                <c:pt idx="10">
                  <c:v>0.2015562248995984</c:v>
                </c:pt>
                <c:pt idx="11">
                  <c:v>0.17004048582995951</c:v>
                </c:pt>
                <c:pt idx="12">
                  <c:v>0.16724367509986685</c:v>
                </c:pt>
                <c:pt idx="13">
                  <c:v>0.14715536105032823</c:v>
                </c:pt>
                <c:pt idx="14">
                  <c:v>0.17899441340782124</c:v>
                </c:pt>
                <c:pt idx="15">
                  <c:v>0.15439066386072317</c:v>
                </c:pt>
                <c:pt idx="16">
                  <c:v>0.20127952755905512</c:v>
                </c:pt>
                <c:pt idx="17">
                  <c:v>0.19014841901484189</c:v>
                </c:pt>
                <c:pt idx="18">
                  <c:v>0.15293637846655792</c:v>
                </c:pt>
                <c:pt idx="19">
                  <c:v>0.16076227705839238</c:v>
                </c:pt>
                <c:pt idx="20">
                  <c:v>0.1523826780213807</c:v>
                </c:pt>
              </c:numCache>
            </c:numRef>
          </c:val>
          <c:extLst>
            <c:ext xmlns:c16="http://schemas.microsoft.com/office/drawing/2014/chart" uri="{C3380CC4-5D6E-409C-BE32-E72D297353CC}">
              <c16:uniqueId val="{00000002-BBE4-44DC-B173-48549709ACD6}"/>
            </c:ext>
          </c:extLst>
        </c:ser>
        <c:ser>
          <c:idx val="3"/>
          <c:order val="3"/>
          <c:tx>
            <c:strRef>
              <c:f>总价单价!$J$49</c:f>
              <c:strCache>
                <c:ptCount val="1"/>
                <c:pt idx="0">
                  <c:v>4万以上</c:v>
                </c:pt>
              </c:strCache>
            </c:strRef>
          </c:tx>
          <c:invertIfNegative val="0"/>
          <c:cat>
            <c:numRef>
              <c:f>总价单价!$A$50:$A$70</c:f>
              <c:numCache>
                <c:formatCode>yyyy"年"m"月"</c:formatCode>
                <c:ptCount val="21"/>
                <c:pt idx="0">
                  <c:v>42005</c:v>
                </c:pt>
                <c:pt idx="1">
                  <c:v>42036</c:v>
                </c:pt>
                <c:pt idx="2">
                  <c:v>42064</c:v>
                </c:pt>
                <c:pt idx="3">
                  <c:v>42095</c:v>
                </c:pt>
                <c:pt idx="4">
                  <c:v>42125</c:v>
                </c:pt>
                <c:pt idx="5">
                  <c:v>42156</c:v>
                </c:pt>
                <c:pt idx="6">
                  <c:v>42186</c:v>
                </c:pt>
                <c:pt idx="7">
                  <c:v>42217</c:v>
                </c:pt>
                <c:pt idx="8">
                  <c:v>42248</c:v>
                </c:pt>
                <c:pt idx="9">
                  <c:v>42278</c:v>
                </c:pt>
                <c:pt idx="10">
                  <c:v>42309</c:v>
                </c:pt>
                <c:pt idx="11">
                  <c:v>42339</c:v>
                </c:pt>
                <c:pt idx="12">
                  <c:v>42370</c:v>
                </c:pt>
                <c:pt idx="13">
                  <c:v>42401</c:v>
                </c:pt>
                <c:pt idx="14">
                  <c:v>42430</c:v>
                </c:pt>
                <c:pt idx="15">
                  <c:v>42461</c:v>
                </c:pt>
                <c:pt idx="16">
                  <c:v>42491</c:v>
                </c:pt>
                <c:pt idx="17">
                  <c:v>42522</c:v>
                </c:pt>
                <c:pt idx="18">
                  <c:v>42552</c:v>
                </c:pt>
                <c:pt idx="19">
                  <c:v>42583</c:v>
                </c:pt>
                <c:pt idx="20">
                  <c:v>42614</c:v>
                </c:pt>
              </c:numCache>
            </c:numRef>
          </c:cat>
          <c:val>
            <c:numRef>
              <c:f>总价单价!$J$50:$J$70</c:f>
              <c:numCache>
                <c:formatCode>0.0%</c:formatCode>
                <c:ptCount val="21"/>
                <c:pt idx="0">
                  <c:v>6.6850275413119678E-2</c:v>
                </c:pt>
                <c:pt idx="1">
                  <c:v>9.9027946537059541E-2</c:v>
                </c:pt>
                <c:pt idx="2">
                  <c:v>0.12070312499999999</c:v>
                </c:pt>
                <c:pt idx="3">
                  <c:v>9.7142857142857142E-2</c:v>
                </c:pt>
                <c:pt idx="4">
                  <c:v>0.11141678129298486</c:v>
                </c:pt>
                <c:pt idx="5">
                  <c:v>0.11690163155393632</c:v>
                </c:pt>
                <c:pt idx="6">
                  <c:v>0.12850530901170706</c:v>
                </c:pt>
                <c:pt idx="7">
                  <c:v>0.12566250641135238</c:v>
                </c:pt>
                <c:pt idx="8">
                  <c:v>0.17406143344709898</c:v>
                </c:pt>
                <c:pt idx="9">
                  <c:v>0.122869708631116</c:v>
                </c:pt>
                <c:pt idx="10">
                  <c:v>0.15938755020080322</c:v>
                </c:pt>
                <c:pt idx="11">
                  <c:v>0.1910195068089805</c:v>
                </c:pt>
                <c:pt idx="12">
                  <c:v>0.14913448735019974</c:v>
                </c:pt>
                <c:pt idx="13">
                  <c:v>0.1701312910284464</c:v>
                </c:pt>
                <c:pt idx="14">
                  <c:v>0.23195530726256983</c:v>
                </c:pt>
                <c:pt idx="15">
                  <c:v>0.26554428926726614</c:v>
                </c:pt>
                <c:pt idx="16">
                  <c:v>0.24753937007874016</c:v>
                </c:pt>
                <c:pt idx="17">
                  <c:v>0.23596472359647236</c:v>
                </c:pt>
                <c:pt idx="18">
                  <c:v>0.3211663947797716</c:v>
                </c:pt>
                <c:pt idx="19">
                  <c:v>0.26752992914732471</c:v>
                </c:pt>
                <c:pt idx="20">
                  <c:v>0.37724225403152745</c:v>
                </c:pt>
              </c:numCache>
            </c:numRef>
          </c:val>
          <c:extLst>
            <c:ext xmlns:c16="http://schemas.microsoft.com/office/drawing/2014/chart" uri="{C3380CC4-5D6E-409C-BE32-E72D297353CC}">
              <c16:uniqueId val="{00000003-BBE4-44DC-B173-48549709ACD6}"/>
            </c:ext>
          </c:extLst>
        </c:ser>
        <c:dLbls>
          <c:showLegendKey val="0"/>
          <c:showVal val="0"/>
          <c:showCatName val="0"/>
          <c:showSerName val="0"/>
          <c:showPercent val="0"/>
          <c:showBubbleSize val="0"/>
        </c:dLbls>
        <c:gapWidth val="150"/>
        <c:overlap val="100"/>
        <c:axId val="241214592"/>
        <c:axId val="241216512"/>
      </c:barChart>
      <c:lineChart>
        <c:grouping val="stacked"/>
        <c:varyColors val="0"/>
        <c:ser>
          <c:idx val="4"/>
          <c:order val="4"/>
          <c:tx>
            <c:strRef>
              <c:f>总价单价!$K$49</c:f>
              <c:strCache>
                <c:ptCount val="1"/>
                <c:pt idx="0">
                  <c:v>123</c:v>
                </c:pt>
              </c:strCache>
            </c:strRef>
          </c:tx>
          <c:marker>
            <c:symbol val="square"/>
            <c:size val="7"/>
            <c:spPr>
              <a:ln>
                <a:solidFill>
                  <a:sysClr val="window" lastClr="FFFFFF"/>
                </a:solidFill>
              </a:ln>
            </c:spPr>
          </c:marker>
          <c:cat>
            <c:numRef>
              <c:f>总价单价!$A$50:$A$67</c:f>
              <c:numCache>
                <c:formatCode>yyyy"年"m"月"</c:formatCode>
                <c:ptCount val="18"/>
                <c:pt idx="0">
                  <c:v>42005</c:v>
                </c:pt>
                <c:pt idx="1">
                  <c:v>42036</c:v>
                </c:pt>
                <c:pt idx="2">
                  <c:v>42064</c:v>
                </c:pt>
                <c:pt idx="3">
                  <c:v>42095</c:v>
                </c:pt>
                <c:pt idx="4">
                  <c:v>42125</c:v>
                </c:pt>
                <c:pt idx="5">
                  <c:v>42156</c:v>
                </c:pt>
                <c:pt idx="6">
                  <c:v>42186</c:v>
                </c:pt>
                <c:pt idx="7">
                  <c:v>42217</c:v>
                </c:pt>
                <c:pt idx="8">
                  <c:v>42248</c:v>
                </c:pt>
                <c:pt idx="9">
                  <c:v>42278</c:v>
                </c:pt>
                <c:pt idx="10">
                  <c:v>42309</c:v>
                </c:pt>
                <c:pt idx="11">
                  <c:v>42339</c:v>
                </c:pt>
                <c:pt idx="12">
                  <c:v>42370</c:v>
                </c:pt>
                <c:pt idx="13">
                  <c:v>42401</c:v>
                </c:pt>
                <c:pt idx="14">
                  <c:v>42430</c:v>
                </c:pt>
                <c:pt idx="15">
                  <c:v>42461</c:v>
                </c:pt>
                <c:pt idx="16">
                  <c:v>42491</c:v>
                </c:pt>
                <c:pt idx="17">
                  <c:v>42522</c:v>
                </c:pt>
              </c:numCache>
            </c:numRef>
          </c:cat>
          <c:val>
            <c:numRef>
              <c:f>总价单价!$K$50:$K$70</c:f>
              <c:numCache>
                <c:formatCode>0.0%</c:formatCode>
                <c:ptCount val="21"/>
                <c:pt idx="0">
                  <c:v>0.82749123685528292</c:v>
                </c:pt>
                <c:pt idx="1">
                  <c:v>0.78857837181044954</c:v>
                </c:pt>
                <c:pt idx="2">
                  <c:v>0.78085937500000002</c:v>
                </c:pt>
                <c:pt idx="3">
                  <c:v>0.73904761904761895</c:v>
                </c:pt>
                <c:pt idx="4">
                  <c:v>0.70347808999803507</c:v>
                </c:pt>
                <c:pt idx="5">
                  <c:v>0.70584508157769688</c:v>
                </c:pt>
                <c:pt idx="6">
                  <c:v>0.70473727198475355</c:v>
                </c:pt>
                <c:pt idx="7">
                  <c:v>0.71875534279363995</c:v>
                </c:pt>
                <c:pt idx="8">
                  <c:v>0.67349260523321952</c:v>
                </c:pt>
                <c:pt idx="9">
                  <c:v>0.6239692138537658</c:v>
                </c:pt>
                <c:pt idx="10">
                  <c:v>0.63905622489959835</c:v>
                </c:pt>
                <c:pt idx="11">
                  <c:v>0.63894000736106005</c:v>
                </c:pt>
                <c:pt idx="12">
                  <c:v>0.68362183754993344</c:v>
                </c:pt>
                <c:pt idx="13">
                  <c:v>0.6827133479212254</c:v>
                </c:pt>
                <c:pt idx="14">
                  <c:v>0.58905027932960896</c:v>
                </c:pt>
                <c:pt idx="15">
                  <c:v>0.58006504687201077</c:v>
                </c:pt>
                <c:pt idx="16">
                  <c:v>0.55118110236220463</c:v>
                </c:pt>
                <c:pt idx="17">
                  <c:v>0.57388685738868572</c:v>
                </c:pt>
                <c:pt idx="18">
                  <c:v>0.52589722675367045</c:v>
                </c:pt>
                <c:pt idx="19">
                  <c:v>0.57170779379428294</c:v>
                </c:pt>
                <c:pt idx="20">
                  <c:v>0.47037506794709183</c:v>
                </c:pt>
              </c:numCache>
            </c:numRef>
          </c:val>
          <c:smooth val="0"/>
          <c:extLst>
            <c:ext xmlns:c16="http://schemas.microsoft.com/office/drawing/2014/chart" uri="{C3380CC4-5D6E-409C-BE32-E72D297353CC}">
              <c16:uniqueId val="{00000004-BBE4-44DC-B173-48549709ACD6}"/>
            </c:ext>
          </c:extLst>
        </c:ser>
        <c:dLbls>
          <c:showLegendKey val="0"/>
          <c:showVal val="0"/>
          <c:showCatName val="0"/>
          <c:showSerName val="0"/>
          <c:showPercent val="0"/>
          <c:showBubbleSize val="0"/>
        </c:dLbls>
        <c:marker val="1"/>
        <c:smooth val="0"/>
        <c:axId val="241214592"/>
        <c:axId val="241216512"/>
      </c:lineChart>
      <c:dateAx>
        <c:axId val="241214592"/>
        <c:scaling>
          <c:orientation val="minMax"/>
        </c:scaling>
        <c:delete val="0"/>
        <c:axPos val="b"/>
        <c:majorGridlines>
          <c:spPr>
            <a:ln w="12700" cap="flat" cmpd="sng" algn="ctr">
              <a:solidFill>
                <a:schemeClr val="bg1"/>
              </a:solidFill>
              <a:round/>
            </a:ln>
            <a:effectLst/>
          </c:spPr>
        </c:majorGridlines>
        <c:numFmt formatCode="yyyy&quot;年&quot;m&quot;月&quot;" sourceLinked="1"/>
        <c:majorTickMark val="out"/>
        <c:minorTickMark val="none"/>
        <c:tickLblPos val="nextTo"/>
        <c:spPr>
          <a:noFill/>
          <a:ln w="9525" cap="flat" cmpd="sng" algn="ctr">
            <a:solidFill>
              <a:srgbClr val="FFFFFF"/>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Arial" panose="020B0604020202020204" pitchFamily="34" charset="0"/>
                <a:ea typeface="微软雅黑" panose="020B0503020204020204" pitchFamily="34" charset="-122"/>
                <a:cs typeface="+mn-cs"/>
              </a:defRPr>
            </a:pPr>
            <a:endParaRPr lang="zh-CN"/>
          </a:p>
        </c:txPr>
        <c:crossAx val="241216512"/>
        <c:crosses val="autoZero"/>
        <c:auto val="1"/>
        <c:lblOffset val="100"/>
        <c:baseTimeUnit val="months"/>
        <c:majorUnit val="1"/>
        <c:majorTimeUnit val="months"/>
      </c:dateAx>
      <c:valAx>
        <c:axId val="241216512"/>
        <c:scaling>
          <c:orientation val="minMax"/>
          <c:max val="1"/>
          <c:min val="0"/>
        </c:scaling>
        <c:delete val="0"/>
        <c:axPos val="l"/>
        <c:majorGridlines>
          <c:spPr>
            <a:ln w="12700" cap="flat" cmpd="sng" algn="ctr">
              <a:solidFill>
                <a:schemeClr val="bg1"/>
              </a:solidFill>
              <a:round/>
            </a:ln>
            <a:effectLst/>
          </c:spPr>
        </c:majorGridlines>
        <c:numFmt formatCode="0.0%" sourceLinked="1"/>
        <c:majorTickMark val="out"/>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Arial" panose="020B0604020202020204" pitchFamily="34" charset="0"/>
                <a:ea typeface="微软雅黑" panose="020B0503020204020204" pitchFamily="34" charset="-122"/>
                <a:cs typeface="+mn-cs"/>
              </a:defRPr>
            </a:pPr>
            <a:endParaRPr lang="zh-CN"/>
          </a:p>
        </c:txPr>
        <c:crossAx val="241214592"/>
        <c:crosses val="autoZero"/>
        <c:crossBetween val="between"/>
        <c:majorUnit val="0.2"/>
      </c:valAx>
      <c:spPr>
        <a:solidFill>
          <a:srgbClr val="EAEAEA"/>
        </a:solidFill>
        <a:ln>
          <a:noFill/>
        </a:ln>
        <a:effectLst/>
      </c:spPr>
    </c:plotArea>
    <c:legend>
      <c:legendPos val="t"/>
      <c:legendEntry>
        <c:idx val="4"/>
        <c:delete val="1"/>
      </c:legendEntry>
      <c:layout>
        <c:manualLayout>
          <c:xMode val="edge"/>
          <c:yMode val="edge"/>
          <c:x val="0.1990101237345332"/>
          <c:y val="0.15269064339930483"/>
          <c:w val="0.63553190682625338"/>
          <c:h val="7.1330044587800012E-2"/>
        </c:manualLayout>
      </c:layout>
      <c:overlay val="0"/>
      <c:txPr>
        <a:bodyPr/>
        <a:lstStyle/>
        <a:p>
          <a:pPr>
            <a:defRPr sz="1000" b="1">
              <a:latin typeface="微软雅黑" pitchFamily="34" charset="-122"/>
              <a:ea typeface="微软雅黑" pitchFamily="34" charset="-122"/>
            </a:defRPr>
          </a:pPr>
          <a:endParaRPr lang="zh-CN"/>
        </a:p>
      </c:txPr>
    </c:legend>
    <c:plotVisOnly val="1"/>
    <c:dispBlanksAs val="gap"/>
    <c:showDLblsOverMax val="0"/>
  </c:chart>
  <c:spPr>
    <a:solidFill>
      <a:srgbClr val="FFFFFF"/>
    </a:solidFill>
    <a:ln w="9525" cap="flat" cmpd="sng" algn="ctr">
      <a:noFill/>
      <a:round/>
    </a:ln>
    <a:effectLst/>
  </c:spPr>
  <c:txPr>
    <a:bodyPr/>
    <a:lstStyle/>
    <a:p>
      <a:pPr>
        <a:defRPr/>
      </a:pPr>
      <a:endParaRPr lang="zh-CN"/>
    </a:p>
  </c:txPr>
  <c:externalData r:id="rId2">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0" i="0" u="none" strike="noStrike" kern="1200" spc="0" baseline="0">
                <a:solidFill>
                  <a:schemeClr val="tx1"/>
                </a:solidFill>
                <a:latin typeface="微软雅黑" pitchFamily="34" charset="-122"/>
                <a:ea typeface="微软雅黑" pitchFamily="34" charset="-122"/>
                <a:cs typeface="+mn-cs"/>
              </a:defRPr>
            </a:pPr>
            <a:r>
              <a:rPr lang="zh-CN" altLang="en-US" sz="1600" b="1">
                <a:solidFill>
                  <a:schemeClr val="tx1"/>
                </a:solidFill>
                <a:latin typeface="微软雅黑" pitchFamily="34" charset="-122"/>
                <a:ea typeface="微软雅黑" pitchFamily="34" charset="-122"/>
              </a:rPr>
              <a:t>北京新建住宅分总价段成交占比</a:t>
            </a:r>
          </a:p>
        </c:rich>
      </c:tx>
      <c:layout>
        <c:manualLayout>
          <c:xMode val="edge"/>
          <c:yMode val="edge"/>
          <c:x val="0.26830078824416609"/>
          <c:y val="5.4419923156697476E-2"/>
        </c:manualLayout>
      </c:layout>
      <c:overlay val="0"/>
      <c:spPr>
        <a:noFill/>
        <a:ln>
          <a:noFill/>
        </a:ln>
        <a:effectLst/>
      </c:spPr>
    </c:title>
    <c:autoTitleDeleted val="0"/>
    <c:plotArea>
      <c:layout>
        <c:manualLayout>
          <c:layoutTarget val="inner"/>
          <c:xMode val="edge"/>
          <c:yMode val="edge"/>
          <c:x val="5.9327409761853162E-2"/>
          <c:y val="0.29984880632435917"/>
          <c:w val="0.86645012070120453"/>
          <c:h val="0.42229179436402786"/>
        </c:manualLayout>
      </c:layout>
      <c:barChart>
        <c:barDir val="col"/>
        <c:grouping val="stacked"/>
        <c:varyColors val="0"/>
        <c:ser>
          <c:idx val="0"/>
          <c:order val="0"/>
          <c:tx>
            <c:strRef>
              <c:f>总价单价!$H$22</c:f>
              <c:strCache>
                <c:ptCount val="1"/>
                <c:pt idx="0">
                  <c:v>200万以下</c:v>
                </c:pt>
              </c:strCache>
            </c:strRef>
          </c:tx>
          <c:spPr>
            <a:solidFill>
              <a:srgbClr val="0070C0"/>
            </a:solidFill>
          </c:spPr>
          <c:invertIfNegative val="0"/>
          <c:cat>
            <c:numRef>
              <c:f>总价单价!$A$23:$A$43</c:f>
              <c:numCache>
                <c:formatCode>yyyy"年"m"月"</c:formatCode>
                <c:ptCount val="21"/>
                <c:pt idx="0">
                  <c:v>42005</c:v>
                </c:pt>
                <c:pt idx="1">
                  <c:v>42036</c:v>
                </c:pt>
                <c:pt idx="2">
                  <c:v>42064</c:v>
                </c:pt>
                <c:pt idx="3">
                  <c:v>42095</c:v>
                </c:pt>
                <c:pt idx="4">
                  <c:v>42125</c:v>
                </c:pt>
                <c:pt idx="5">
                  <c:v>42156</c:v>
                </c:pt>
                <c:pt idx="6">
                  <c:v>42186</c:v>
                </c:pt>
                <c:pt idx="7">
                  <c:v>42217</c:v>
                </c:pt>
                <c:pt idx="8">
                  <c:v>42248</c:v>
                </c:pt>
                <c:pt idx="9">
                  <c:v>42278</c:v>
                </c:pt>
                <c:pt idx="10">
                  <c:v>42309</c:v>
                </c:pt>
                <c:pt idx="11">
                  <c:v>42339</c:v>
                </c:pt>
                <c:pt idx="12">
                  <c:v>42370</c:v>
                </c:pt>
                <c:pt idx="13">
                  <c:v>42401</c:v>
                </c:pt>
                <c:pt idx="14">
                  <c:v>42430</c:v>
                </c:pt>
                <c:pt idx="15">
                  <c:v>42461</c:v>
                </c:pt>
                <c:pt idx="16">
                  <c:v>42491</c:v>
                </c:pt>
                <c:pt idx="17">
                  <c:v>42522</c:v>
                </c:pt>
                <c:pt idx="18">
                  <c:v>42552</c:v>
                </c:pt>
                <c:pt idx="19">
                  <c:v>42583</c:v>
                </c:pt>
                <c:pt idx="20">
                  <c:v>42614</c:v>
                </c:pt>
              </c:numCache>
            </c:numRef>
          </c:cat>
          <c:val>
            <c:numRef>
              <c:f>总价单价!$H$23:$H$43</c:f>
              <c:numCache>
                <c:formatCode>0.0%</c:formatCode>
                <c:ptCount val="21"/>
                <c:pt idx="0">
                  <c:v>0.53004506760140213</c:v>
                </c:pt>
                <c:pt idx="1">
                  <c:v>0.43256379100850545</c:v>
                </c:pt>
                <c:pt idx="2">
                  <c:v>0.38242187500000002</c:v>
                </c:pt>
                <c:pt idx="3">
                  <c:v>0.31564625850340133</c:v>
                </c:pt>
                <c:pt idx="4">
                  <c:v>0.30968756140695619</c:v>
                </c:pt>
                <c:pt idx="5">
                  <c:v>0.37684143830191669</c:v>
                </c:pt>
                <c:pt idx="6">
                  <c:v>0.38224884290770489</c:v>
                </c:pt>
                <c:pt idx="7">
                  <c:v>0.39271670371003592</c:v>
                </c:pt>
                <c:pt idx="8">
                  <c:v>0.2732650739476678</c:v>
                </c:pt>
                <c:pt idx="9">
                  <c:v>0.31143485431555801</c:v>
                </c:pt>
                <c:pt idx="10">
                  <c:v>0.29166666666666669</c:v>
                </c:pt>
                <c:pt idx="11">
                  <c:v>0.27125506072874495</c:v>
                </c:pt>
                <c:pt idx="12">
                  <c:v>0.33182423435419439</c:v>
                </c:pt>
                <c:pt idx="13">
                  <c:v>0.28993435448577681</c:v>
                </c:pt>
                <c:pt idx="14">
                  <c:v>0.22011173184357541</c:v>
                </c:pt>
                <c:pt idx="15">
                  <c:v>0.27754399387911249</c:v>
                </c:pt>
                <c:pt idx="16">
                  <c:v>0.24159096489074391</c:v>
                </c:pt>
                <c:pt idx="17">
                  <c:v>0.24865562486556247</c:v>
                </c:pt>
                <c:pt idx="18">
                  <c:v>0.24225122349102773</c:v>
                </c:pt>
                <c:pt idx="19">
                  <c:v>0.28438797947715611</c:v>
                </c:pt>
                <c:pt idx="20">
                  <c:v>0.25403152745062513</c:v>
                </c:pt>
              </c:numCache>
            </c:numRef>
          </c:val>
          <c:extLst>
            <c:ext xmlns:c16="http://schemas.microsoft.com/office/drawing/2014/chart" uri="{C3380CC4-5D6E-409C-BE32-E72D297353CC}">
              <c16:uniqueId val="{00000000-3BE4-4D3B-B4C8-0739FA37E52B}"/>
            </c:ext>
          </c:extLst>
        </c:ser>
        <c:ser>
          <c:idx val="1"/>
          <c:order val="1"/>
          <c:tx>
            <c:strRef>
              <c:f>总价单价!$I$22</c:f>
              <c:strCache>
                <c:ptCount val="1"/>
                <c:pt idx="0">
                  <c:v>200~300万</c:v>
                </c:pt>
              </c:strCache>
            </c:strRef>
          </c:tx>
          <c:invertIfNegative val="0"/>
          <c:cat>
            <c:numRef>
              <c:f>总价单价!$A$23:$A$43</c:f>
              <c:numCache>
                <c:formatCode>yyyy"年"m"月"</c:formatCode>
                <c:ptCount val="21"/>
                <c:pt idx="0">
                  <c:v>42005</c:v>
                </c:pt>
                <c:pt idx="1">
                  <c:v>42036</c:v>
                </c:pt>
                <c:pt idx="2">
                  <c:v>42064</c:v>
                </c:pt>
                <c:pt idx="3">
                  <c:v>42095</c:v>
                </c:pt>
                <c:pt idx="4">
                  <c:v>42125</c:v>
                </c:pt>
                <c:pt idx="5">
                  <c:v>42156</c:v>
                </c:pt>
                <c:pt idx="6">
                  <c:v>42186</c:v>
                </c:pt>
                <c:pt idx="7">
                  <c:v>42217</c:v>
                </c:pt>
                <c:pt idx="8">
                  <c:v>42248</c:v>
                </c:pt>
                <c:pt idx="9">
                  <c:v>42278</c:v>
                </c:pt>
                <c:pt idx="10">
                  <c:v>42309</c:v>
                </c:pt>
                <c:pt idx="11">
                  <c:v>42339</c:v>
                </c:pt>
                <c:pt idx="12">
                  <c:v>42370</c:v>
                </c:pt>
                <c:pt idx="13">
                  <c:v>42401</c:v>
                </c:pt>
                <c:pt idx="14">
                  <c:v>42430</c:v>
                </c:pt>
                <c:pt idx="15">
                  <c:v>42461</c:v>
                </c:pt>
                <c:pt idx="16">
                  <c:v>42491</c:v>
                </c:pt>
                <c:pt idx="17">
                  <c:v>42522</c:v>
                </c:pt>
                <c:pt idx="18">
                  <c:v>42552</c:v>
                </c:pt>
                <c:pt idx="19">
                  <c:v>42583</c:v>
                </c:pt>
                <c:pt idx="20">
                  <c:v>42614</c:v>
                </c:pt>
              </c:numCache>
            </c:numRef>
          </c:cat>
          <c:val>
            <c:numRef>
              <c:f>总价单价!$I$23:$I$43</c:f>
              <c:numCache>
                <c:formatCode>0.0%</c:formatCode>
                <c:ptCount val="21"/>
                <c:pt idx="0">
                  <c:v>0.23234852278417625</c:v>
                </c:pt>
                <c:pt idx="1">
                  <c:v>0.26427703523693802</c:v>
                </c:pt>
                <c:pt idx="2">
                  <c:v>0.28046874999999999</c:v>
                </c:pt>
                <c:pt idx="3">
                  <c:v>0.34394557823129251</c:v>
                </c:pt>
                <c:pt idx="4">
                  <c:v>0.3267832580074671</c:v>
                </c:pt>
                <c:pt idx="5">
                  <c:v>0.23190242357041027</c:v>
                </c:pt>
                <c:pt idx="6">
                  <c:v>0.26898992649060716</c:v>
                </c:pt>
                <c:pt idx="7">
                  <c:v>0.24653786972131989</c:v>
                </c:pt>
                <c:pt idx="8">
                  <c:v>0.27736063708759956</c:v>
                </c:pt>
                <c:pt idx="9">
                  <c:v>0.23474436503573393</c:v>
                </c:pt>
                <c:pt idx="10">
                  <c:v>0.22540160642570281</c:v>
                </c:pt>
                <c:pt idx="11">
                  <c:v>0.22193595877806405</c:v>
                </c:pt>
                <c:pt idx="12">
                  <c:v>0.23009320905459388</c:v>
                </c:pt>
                <c:pt idx="13">
                  <c:v>0.25656455142231949</c:v>
                </c:pt>
                <c:pt idx="14">
                  <c:v>0.20960893854748602</c:v>
                </c:pt>
                <c:pt idx="15">
                  <c:v>0.1929992348890589</c:v>
                </c:pt>
                <c:pt idx="16">
                  <c:v>0.20279891971519765</c:v>
                </c:pt>
                <c:pt idx="17">
                  <c:v>0.16218541621854163</c:v>
                </c:pt>
                <c:pt idx="18">
                  <c:v>0.17006525285481239</c:v>
                </c:pt>
                <c:pt idx="19">
                  <c:v>0.18250671878817493</c:v>
                </c:pt>
                <c:pt idx="20">
                  <c:v>0.11868092045660446</c:v>
                </c:pt>
              </c:numCache>
            </c:numRef>
          </c:val>
          <c:extLst>
            <c:ext xmlns:c16="http://schemas.microsoft.com/office/drawing/2014/chart" uri="{C3380CC4-5D6E-409C-BE32-E72D297353CC}">
              <c16:uniqueId val="{00000001-3BE4-4D3B-B4C8-0739FA37E52B}"/>
            </c:ext>
          </c:extLst>
        </c:ser>
        <c:ser>
          <c:idx val="2"/>
          <c:order val="2"/>
          <c:tx>
            <c:strRef>
              <c:f>总价单价!$J$22</c:f>
              <c:strCache>
                <c:ptCount val="1"/>
                <c:pt idx="0">
                  <c:v>300~500万</c:v>
                </c:pt>
              </c:strCache>
            </c:strRef>
          </c:tx>
          <c:invertIfNegative val="0"/>
          <c:cat>
            <c:numRef>
              <c:f>总价单价!$A$23:$A$43</c:f>
              <c:numCache>
                <c:formatCode>yyyy"年"m"月"</c:formatCode>
                <c:ptCount val="21"/>
                <c:pt idx="0">
                  <c:v>42005</c:v>
                </c:pt>
                <c:pt idx="1">
                  <c:v>42036</c:v>
                </c:pt>
                <c:pt idx="2">
                  <c:v>42064</c:v>
                </c:pt>
                <c:pt idx="3">
                  <c:v>42095</c:v>
                </c:pt>
                <c:pt idx="4">
                  <c:v>42125</c:v>
                </c:pt>
                <c:pt idx="5">
                  <c:v>42156</c:v>
                </c:pt>
                <c:pt idx="6">
                  <c:v>42186</c:v>
                </c:pt>
                <c:pt idx="7">
                  <c:v>42217</c:v>
                </c:pt>
                <c:pt idx="8">
                  <c:v>42248</c:v>
                </c:pt>
                <c:pt idx="9">
                  <c:v>42278</c:v>
                </c:pt>
                <c:pt idx="10">
                  <c:v>42309</c:v>
                </c:pt>
                <c:pt idx="11">
                  <c:v>42339</c:v>
                </c:pt>
                <c:pt idx="12">
                  <c:v>42370</c:v>
                </c:pt>
                <c:pt idx="13">
                  <c:v>42401</c:v>
                </c:pt>
                <c:pt idx="14">
                  <c:v>42430</c:v>
                </c:pt>
                <c:pt idx="15">
                  <c:v>42461</c:v>
                </c:pt>
                <c:pt idx="16">
                  <c:v>42491</c:v>
                </c:pt>
                <c:pt idx="17">
                  <c:v>42522</c:v>
                </c:pt>
                <c:pt idx="18">
                  <c:v>42552</c:v>
                </c:pt>
                <c:pt idx="19">
                  <c:v>42583</c:v>
                </c:pt>
                <c:pt idx="20">
                  <c:v>42614</c:v>
                </c:pt>
              </c:numCache>
            </c:numRef>
          </c:cat>
          <c:val>
            <c:numRef>
              <c:f>总价单价!$J$23:$J$43</c:f>
              <c:numCache>
                <c:formatCode>0.0%</c:formatCode>
                <c:ptCount val="21"/>
                <c:pt idx="0">
                  <c:v>0.13069604406609914</c:v>
                </c:pt>
                <c:pt idx="1">
                  <c:v>0.15006075334143379</c:v>
                </c:pt>
                <c:pt idx="2">
                  <c:v>0.17109374999999999</c:v>
                </c:pt>
                <c:pt idx="3">
                  <c:v>0.20734693877551019</c:v>
                </c:pt>
                <c:pt idx="4">
                  <c:v>0.19217921006091571</c:v>
                </c:pt>
                <c:pt idx="5">
                  <c:v>0.19024235704102646</c:v>
                </c:pt>
                <c:pt idx="6">
                  <c:v>0.20950176967056902</c:v>
                </c:pt>
                <c:pt idx="7">
                  <c:v>0.17592750897589332</c:v>
                </c:pt>
                <c:pt idx="8">
                  <c:v>0.2179749715585893</c:v>
                </c:pt>
                <c:pt idx="9">
                  <c:v>0.24134139637163277</c:v>
                </c:pt>
                <c:pt idx="10">
                  <c:v>0.21937751004016065</c:v>
                </c:pt>
                <c:pt idx="11">
                  <c:v>0.24346705925653295</c:v>
                </c:pt>
                <c:pt idx="12">
                  <c:v>0.21864181091877496</c:v>
                </c:pt>
                <c:pt idx="13">
                  <c:v>0.20404814004376368</c:v>
                </c:pt>
                <c:pt idx="14">
                  <c:v>0.29586592178770948</c:v>
                </c:pt>
                <c:pt idx="15">
                  <c:v>0.21289211935730681</c:v>
                </c:pt>
                <c:pt idx="16">
                  <c:v>0.22685980849496684</c:v>
                </c:pt>
                <c:pt idx="17">
                  <c:v>0.18412561841256184</c:v>
                </c:pt>
                <c:pt idx="18">
                  <c:v>0.19840946166394779</c:v>
                </c:pt>
                <c:pt idx="19">
                  <c:v>0.15807476178841925</c:v>
                </c:pt>
                <c:pt idx="20">
                  <c:v>0.21688711723138249</c:v>
                </c:pt>
              </c:numCache>
            </c:numRef>
          </c:val>
          <c:extLst>
            <c:ext xmlns:c16="http://schemas.microsoft.com/office/drawing/2014/chart" uri="{C3380CC4-5D6E-409C-BE32-E72D297353CC}">
              <c16:uniqueId val="{00000002-3BE4-4D3B-B4C8-0739FA37E52B}"/>
            </c:ext>
          </c:extLst>
        </c:ser>
        <c:ser>
          <c:idx val="3"/>
          <c:order val="3"/>
          <c:tx>
            <c:strRef>
              <c:f>总价单价!$K$22</c:f>
              <c:strCache>
                <c:ptCount val="1"/>
                <c:pt idx="0">
                  <c:v>500~1000万</c:v>
                </c:pt>
              </c:strCache>
            </c:strRef>
          </c:tx>
          <c:invertIfNegative val="0"/>
          <c:cat>
            <c:numRef>
              <c:f>总价单价!$A$23:$A$43</c:f>
              <c:numCache>
                <c:formatCode>yyyy"年"m"月"</c:formatCode>
                <c:ptCount val="21"/>
                <c:pt idx="0">
                  <c:v>42005</c:v>
                </c:pt>
                <c:pt idx="1">
                  <c:v>42036</c:v>
                </c:pt>
                <c:pt idx="2">
                  <c:v>42064</c:v>
                </c:pt>
                <c:pt idx="3">
                  <c:v>42095</c:v>
                </c:pt>
                <c:pt idx="4">
                  <c:v>42125</c:v>
                </c:pt>
                <c:pt idx="5">
                  <c:v>42156</c:v>
                </c:pt>
                <c:pt idx="6">
                  <c:v>42186</c:v>
                </c:pt>
                <c:pt idx="7">
                  <c:v>42217</c:v>
                </c:pt>
                <c:pt idx="8">
                  <c:v>42248</c:v>
                </c:pt>
                <c:pt idx="9">
                  <c:v>42278</c:v>
                </c:pt>
                <c:pt idx="10">
                  <c:v>42309</c:v>
                </c:pt>
                <c:pt idx="11">
                  <c:v>42339</c:v>
                </c:pt>
                <c:pt idx="12">
                  <c:v>42370</c:v>
                </c:pt>
                <c:pt idx="13">
                  <c:v>42401</c:v>
                </c:pt>
                <c:pt idx="14">
                  <c:v>42430</c:v>
                </c:pt>
                <c:pt idx="15">
                  <c:v>42461</c:v>
                </c:pt>
                <c:pt idx="16">
                  <c:v>42491</c:v>
                </c:pt>
                <c:pt idx="17">
                  <c:v>42522</c:v>
                </c:pt>
                <c:pt idx="18">
                  <c:v>42552</c:v>
                </c:pt>
                <c:pt idx="19">
                  <c:v>42583</c:v>
                </c:pt>
                <c:pt idx="20">
                  <c:v>42614</c:v>
                </c:pt>
              </c:numCache>
            </c:numRef>
          </c:cat>
          <c:val>
            <c:numRef>
              <c:f>总价单价!$K$23:$K$43</c:f>
              <c:numCache>
                <c:formatCode>0.0%</c:formatCode>
                <c:ptCount val="21"/>
                <c:pt idx="0">
                  <c:v>7.8868302453680525E-2</c:v>
                </c:pt>
                <c:pt idx="1">
                  <c:v>9.9027946537059541E-2</c:v>
                </c:pt>
                <c:pt idx="2">
                  <c:v>0.108203125</c:v>
                </c:pt>
                <c:pt idx="3">
                  <c:v>8.8707482993197279E-2</c:v>
                </c:pt>
                <c:pt idx="4">
                  <c:v>0.12713696207506386</c:v>
                </c:pt>
                <c:pt idx="5">
                  <c:v>0.14604783779502614</c:v>
                </c:pt>
                <c:pt idx="6">
                  <c:v>9.8557037843724479E-2</c:v>
                </c:pt>
                <c:pt idx="7">
                  <c:v>0.1201914857240554</c:v>
                </c:pt>
                <c:pt idx="8">
                  <c:v>0.15244596131968147</c:v>
                </c:pt>
                <c:pt idx="9">
                  <c:v>0.15640461792193514</c:v>
                </c:pt>
                <c:pt idx="10">
                  <c:v>0.18273092369477911</c:v>
                </c:pt>
                <c:pt idx="11">
                  <c:v>0.18052999631947</c:v>
                </c:pt>
                <c:pt idx="12">
                  <c:v>0.14540612516644474</c:v>
                </c:pt>
                <c:pt idx="13">
                  <c:v>0.14989059080962802</c:v>
                </c:pt>
                <c:pt idx="14">
                  <c:v>0.18391061452513965</c:v>
                </c:pt>
                <c:pt idx="15">
                  <c:v>0.19816373374139251</c:v>
                </c:pt>
                <c:pt idx="16">
                  <c:v>0.18242082003437271</c:v>
                </c:pt>
                <c:pt idx="17">
                  <c:v>0.26607872660787268</c:v>
                </c:pt>
                <c:pt idx="18">
                  <c:v>0.28507340946166393</c:v>
                </c:pt>
                <c:pt idx="19">
                  <c:v>0.25580258978744197</c:v>
                </c:pt>
                <c:pt idx="20">
                  <c:v>0.28320347889110348</c:v>
                </c:pt>
              </c:numCache>
            </c:numRef>
          </c:val>
          <c:extLst>
            <c:ext xmlns:c16="http://schemas.microsoft.com/office/drawing/2014/chart" uri="{C3380CC4-5D6E-409C-BE32-E72D297353CC}">
              <c16:uniqueId val="{00000003-3BE4-4D3B-B4C8-0739FA37E52B}"/>
            </c:ext>
          </c:extLst>
        </c:ser>
        <c:ser>
          <c:idx val="4"/>
          <c:order val="4"/>
          <c:tx>
            <c:strRef>
              <c:f>总价单价!$L$22</c:f>
              <c:strCache>
                <c:ptCount val="1"/>
                <c:pt idx="0">
                  <c:v>1000万以上</c:v>
                </c:pt>
              </c:strCache>
            </c:strRef>
          </c:tx>
          <c:invertIfNegative val="0"/>
          <c:cat>
            <c:numRef>
              <c:f>总价单价!$A$23:$A$43</c:f>
              <c:numCache>
                <c:formatCode>yyyy"年"m"月"</c:formatCode>
                <c:ptCount val="21"/>
                <c:pt idx="0">
                  <c:v>42005</c:v>
                </c:pt>
                <c:pt idx="1">
                  <c:v>42036</c:v>
                </c:pt>
                <c:pt idx="2">
                  <c:v>42064</c:v>
                </c:pt>
                <c:pt idx="3">
                  <c:v>42095</c:v>
                </c:pt>
                <c:pt idx="4">
                  <c:v>42125</c:v>
                </c:pt>
                <c:pt idx="5">
                  <c:v>42156</c:v>
                </c:pt>
                <c:pt idx="6">
                  <c:v>42186</c:v>
                </c:pt>
                <c:pt idx="7">
                  <c:v>42217</c:v>
                </c:pt>
                <c:pt idx="8">
                  <c:v>42248</c:v>
                </c:pt>
                <c:pt idx="9">
                  <c:v>42278</c:v>
                </c:pt>
                <c:pt idx="10">
                  <c:v>42309</c:v>
                </c:pt>
                <c:pt idx="11">
                  <c:v>42339</c:v>
                </c:pt>
                <c:pt idx="12">
                  <c:v>42370</c:v>
                </c:pt>
                <c:pt idx="13">
                  <c:v>42401</c:v>
                </c:pt>
                <c:pt idx="14">
                  <c:v>42430</c:v>
                </c:pt>
                <c:pt idx="15">
                  <c:v>42461</c:v>
                </c:pt>
                <c:pt idx="16">
                  <c:v>42491</c:v>
                </c:pt>
                <c:pt idx="17">
                  <c:v>42522</c:v>
                </c:pt>
                <c:pt idx="18">
                  <c:v>42552</c:v>
                </c:pt>
                <c:pt idx="19">
                  <c:v>42583</c:v>
                </c:pt>
                <c:pt idx="20">
                  <c:v>42614</c:v>
                </c:pt>
              </c:numCache>
            </c:numRef>
          </c:cat>
          <c:val>
            <c:numRef>
              <c:f>总价单价!$L$23:$L$43</c:f>
              <c:numCache>
                <c:formatCode>0.0%</c:formatCode>
                <c:ptCount val="21"/>
                <c:pt idx="0">
                  <c:v>2.8042063094641963E-2</c:v>
                </c:pt>
                <c:pt idx="1">
                  <c:v>5.4070473876063181E-2</c:v>
                </c:pt>
                <c:pt idx="2">
                  <c:v>5.7812500000000003E-2</c:v>
                </c:pt>
                <c:pt idx="3">
                  <c:v>4.4353741496598639E-2</c:v>
                </c:pt>
                <c:pt idx="4">
                  <c:v>4.421300844959717E-2</c:v>
                </c:pt>
                <c:pt idx="5">
                  <c:v>5.4965943291620467E-2</c:v>
                </c:pt>
                <c:pt idx="6">
                  <c:v>4.0702423087394503E-2</c:v>
                </c:pt>
                <c:pt idx="7">
                  <c:v>6.4626431868695502E-2</c:v>
                </c:pt>
                <c:pt idx="8">
                  <c:v>7.8953356086461882E-2</c:v>
                </c:pt>
                <c:pt idx="9">
                  <c:v>5.6074766355140186E-2</c:v>
                </c:pt>
                <c:pt idx="10">
                  <c:v>8.0823293172690769E-2</c:v>
                </c:pt>
                <c:pt idx="11">
                  <c:v>8.2811924917188071E-2</c:v>
                </c:pt>
                <c:pt idx="12">
                  <c:v>7.4034620505992008E-2</c:v>
                </c:pt>
                <c:pt idx="13">
                  <c:v>9.9562363238512031E-2</c:v>
                </c:pt>
                <c:pt idx="14">
                  <c:v>9.0502793296089387E-2</c:v>
                </c:pt>
                <c:pt idx="15">
                  <c:v>0.11840091813312931</c:v>
                </c:pt>
                <c:pt idx="16">
                  <c:v>0.14632948686471889</c:v>
                </c:pt>
                <c:pt idx="17">
                  <c:v>0.13895461389546138</c:v>
                </c:pt>
                <c:pt idx="18">
                  <c:v>0.10420065252854813</c:v>
                </c:pt>
                <c:pt idx="19">
                  <c:v>0.11922795015880772</c:v>
                </c:pt>
                <c:pt idx="20">
                  <c:v>0.12719695597028446</c:v>
                </c:pt>
              </c:numCache>
            </c:numRef>
          </c:val>
          <c:extLst>
            <c:ext xmlns:c16="http://schemas.microsoft.com/office/drawing/2014/chart" uri="{C3380CC4-5D6E-409C-BE32-E72D297353CC}">
              <c16:uniqueId val="{00000004-3BE4-4D3B-B4C8-0739FA37E52B}"/>
            </c:ext>
          </c:extLst>
        </c:ser>
        <c:dLbls>
          <c:showLegendKey val="0"/>
          <c:showVal val="0"/>
          <c:showCatName val="0"/>
          <c:showSerName val="0"/>
          <c:showPercent val="0"/>
          <c:showBubbleSize val="0"/>
        </c:dLbls>
        <c:gapWidth val="150"/>
        <c:overlap val="100"/>
        <c:axId val="241283456"/>
        <c:axId val="241285376"/>
      </c:barChart>
      <c:lineChart>
        <c:grouping val="standard"/>
        <c:varyColors val="0"/>
        <c:ser>
          <c:idx val="5"/>
          <c:order val="5"/>
          <c:tx>
            <c:strRef>
              <c:f>总价单价!$M$22</c:f>
              <c:strCache>
                <c:ptCount val="1"/>
                <c:pt idx="0">
                  <c:v>123</c:v>
                </c:pt>
              </c:strCache>
            </c:strRef>
          </c:tx>
          <c:spPr>
            <a:ln>
              <a:solidFill>
                <a:srgbClr val="C00000"/>
              </a:solidFill>
            </a:ln>
          </c:spPr>
          <c:marker>
            <c:symbol val="circle"/>
            <c:size val="7"/>
            <c:spPr>
              <a:solidFill>
                <a:srgbClr val="C00000"/>
              </a:solidFill>
              <a:ln>
                <a:solidFill>
                  <a:sysClr val="window" lastClr="FFFFFF"/>
                </a:solidFill>
              </a:ln>
            </c:spPr>
          </c:marker>
          <c:val>
            <c:numRef>
              <c:f>总价单价!$M$23:$M$43</c:f>
              <c:numCache>
                <c:formatCode>0.0%</c:formatCode>
                <c:ptCount val="21"/>
                <c:pt idx="0">
                  <c:v>0.76239359038557841</c:v>
                </c:pt>
                <c:pt idx="1">
                  <c:v>0.69684082624544352</c:v>
                </c:pt>
                <c:pt idx="2">
                  <c:v>0.66289062499999996</c:v>
                </c:pt>
                <c:pt idx="3">
                  <c:v>0.65959183673469379</c:v>
                </c:pt>
                <c:pt idx="4">
                  <c:v>0.63647081941442329</c:v>
                </c:pt>
                <c:pt idx="5">
                  <c:v>0.60874386187232699</c:v>
                </c:pt>
                <c:pt idx="6">
                  <c:v>0.65123876939831205</c:v>
                </c:pt>
                <c:pt idx="7">
                  <c:v>0.63925457343135583</c:v>
                </c:pt>
                <c:pt idx="8">
                  <c:v>0.55062571103526736</c:v>
                </c:pt>
                <c:pt idx="9">
                  <c:v>0.54617921935129199</c:v>
                </c:pt>
                <c:pt idx="10">
                  <c:v>0.51706827309236947</c:v>
                </c:pt>
                <c:pt idx="11">
                  <c:v>0.49319101950680899</c:v>
                </c:pt>
                <c:pt idx="12">
                  <c:v>0.56191744340878824</c:v>
                </c:pt>
                <c:pt idx="13">
                  <c:v>0.54649890590809624</c:v>
                </c:pt>
                <c:pt idx="14">
                  <c:v>0.42972067039106143</c:v>
                </c:pt>
                <c:pt idx="15">
                  <c:v>0.4705432287681714</c:v>
                </c:pt>
                <c:pt idx="16">
                  <c:v>0.44438988460594153</c:v>
                </c:pt>
                <c:pt idx="17">
                  <c:v>0.41084104108410413</c:v>
                </c:pt>
                <c:pt idx="18">
                  <c:v>0.41231647634584012</c:v>
                </c:pt>
                <c:pt idx="19">
                  <c:v>0.46689469826533103</c:v>
                </c:pt>
                <c:pt idx="20">
                  <c:v>0.37271244790722957</c:v>
                </c:pt>
              </c:numCache>
            </c:numRef>
          </c:val>
          <c:smooth val="0"/>
          <c:extLst>
            <c:ext xmlns:c16="http://schemas.microsoft.com/office/drawing/2014/chart" uri="{C3380CC4-5D6E-409C-BE32-E72D297353CC}">
              <c16:uniqueId val="{00000005-3BE4-4D3B-B4C8-0739FA37E52B}"/>
            </c:ext>
          </c:extLst>
        </c:ser>
        <c:dLbls>
          <c:showLegendKey val="0"/>
          <c:showVal val="0"/>
          <c:showCatName val="0"/>
          <c:showSerName val="0"/>
          <c:showPercent val="0"/>
          <c:showBubbleSize val="0"/>
        </c:dLbls>
        <c:marker val="1"/>
        <c:smooth val="0"/>
        <c:axId val="241283456"/>
        <c:axId val="241285376"/>
      </c:lineChart>
      <c:dateAx>
        <c:axId val="241283456"/>
        <c:scaling>
          <c:orientation val="minMax"/>
        </c:scaling>
        <c:delete val="0"/>
        <c:axPos val="b"/>
        <c:majorGridlines>
          <c:spPr>
            <a:ln w="12700" cap="flat" cmpd="sng" algn="ctr">
              <a:solidFill>
                <a:schemeClr val="bg1"/>
              </a:solidFill>
              <a:round/>
            </a:ln>
            <a:effectLst/>
          </c:spPr>
        </c:majorGridlines>
        <c:numFmt formatCode="yyyy&quot;年&quot;m&quot;月&quot;" sourceLinked="1"/>
        <c:majorTickMark val="out"/>
        <c:minorTickMark val="none"/>
        <c:tickLblPos val="nextTo"/>
        <c:spPr>
          <a:noFill/>
          <a:ln w="9525" cap="flat" cmpd="sng" algn="ctr">
            <a:solidFill>
              <a:srgbClr val="FFFFFF"/>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Arial" panose="020B0604020202020204" pitchFamily="34" charset="0"/>
                <a:ea typeface="微软雅黑" panose="020B0503020204020204" pitchFamily="34" charset="-122"/>
                <a:cs typeface="+mn-cs"/>
              </a:defRPr>
            </a:pPr>
            <a:endParaRPr lang="zh-CN"/>
          </a:p>
        </c:txPr>
        <c:crossAx val="241285376"/>
        <c:crosses val="autoZero"/>
        <c:auto val="1"/>
        <c:lblOffset val="100"/>
        <c:baseTimeUnit val="months"/>
        <c:majorUnit val="1"/>
        <c:majorTimeUnit val="months"/>
      </c:dateAx>
      <c:valAx>
        <c:axId val="241285376"/>
        <c:scaling>
          <c:orientation val="minMax"/>
          <c:max val="1"/>
          <c:min val="0"/>
        </c:scaling>
        <c:delete val="0"/>
        <c:axPos val="l"/>
        <c:majorGridlines>
          <c:spPr>
            <a:ln w="12700" cap="flat" cmpd="sng" algn="ctr">
              <a:solidFill>
                <a:schemeClr val="bg1"/>
              </a:solidFill>
              <a:round/>
            </a:ln>
            <a:effectLst/>
          </c:spPr>
        </c:majorGridlines>
        <c:numFmt formatCode="0.0%" sourceLinked="1"/>
        <c:majorTickMark val="out"/>
        <c:minorTickMark val="none"/>
        <c:tickLblPos val="nextTo"/>
        <c:spPr>
          <a:noFill/>
          <a:ln>
            <a:noFill/>
          </a:ln>
          <a:effectLst/>
        </c:spPr>
        <c:txPr>
          <a:bodyPr rot="-60000000" spcFirstLastPara="1" vertOverflow="ellipsis" vert="horz" wrap="square" anchor="ctr" anchorCtr="1"/>
          <a:lstStyle/>
          <a:p>
            <a:pPr>
              <a:defRPr sz="1050" b="1" i="0" u="none" strike="noStrike" kern="1200" baseline="0">
                <a:solidFill>
                  <a:schemeClr val="tx1">
                    <a:lumMod val="65000"/>
                    <a:lumOff val="35000"/>
                  </a:schemeClr>
                </a:solidFill>
                <a:latin typeface="Arial" panose="020B0604020202020204" pitchFamily="34" charset="0"/>
                <a:ea typeface="微软雅黑" panose="020B0503020204020204" pitchFamily="34" charset="-122"/>
                <a:cs typeface="+mn-cs"/>
              </a:defRPr>
            </a:pPr>
            <a:endParaRPr lang="zh-CN"/>
          </a:p>
        </c:txPr>
        <c:crossAx val="241283456"/>
        <c:crosses val="autoZero"/>
        <c:crossBetween val="between"/>
        <c:majorUnit val="0.2"/>
      </c:valAx>
      <c:spPr>
        <a:solidFill>
          <a:srgbClr val="EAEAEA"/>
        </a:solidFill>
        <a:ln>
          <a:noFill/>
        </a:ln>
        <a:effectLst/>
      </c:spPr>
    </c:plotArea>
    <c:legend>
      <c:legendPos val="t"/>
      <c:legendEntry>
        <c:idx val="5"/>
        <c:delete val="1"/>
      </c:legendEntry>
      <c:layout>
        <c:manualLayout>
          <c:xMode val="edge"/>
          <c:yMode val="edge"/>
          <c:x val="0.11768321094694624"/>
          <c:y val="0.19660270011158784"/>
          <c:w val="0.76869402560634981"/>
          <c:h val="7.0902918572304213E-2"/>
        </c:manualLayout>
      </c:layout>
      <c:overlay val="0"/>
      <c:txPr>
        <a:bodyPr/>
        <a:lstStyle/>
        <a:p>
          <a:pPr>
            <a:defRPr sz="1000" b="1">
              <a:latin typeface="微软雅黑" pitchFamily="34" charset="-122"/>
              <a:ea typeface="微软雅黑" pitchFamily="34" charset="-122"/>
            </a:defRPr>
          </a:pPr>
          <a:endParaRPr lang="zh-CN"/>
        </a:p>
      </c:txPr>
    </c:legend>
    <c:plotVisOnly val="1"/>
    <c:dispBlanksAs val="gap"/>
    <c:showDLblsOverMax val="0"/>
  </c:chart>
  <c:spPr>
    <a:solidFill>
      <a:srgbClr val="FFFFFF"/>
    </a:solidFill>
    <a:ln w="9525" cap="flat" cmpd="sng" algn="ctr">
      <a:noFill/>
      <a:round/>
    </a:ln>
    <a:effectLst/>
  </c:spPr>
  <c:txPr>
    <a:bodyPr/>
    <a:lstStyle/>
    <a:p>
      <a:pPr>
        <a:defRPr/>
      </a:pPr>
      <a:endParaRPr lang="zh-CN"/>
    </a:p>
  </c:txPr>
  <c:externalData r:id="rId2">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sz="1600"/>
            </a:pPr>
            <a:r>
              <a:rPr lang="zh-CN" altLang="en-US" sz="1600">
                <a:latin typeface="微软雅黑" pitchFamily="34" charset="-122"/>
                <a:ea typeface="微软雅黑" pitchFamily="34" charset="-122"/>
              </a:rPr>
              <a:t>北京一手房存量情况</a:t>
            </a:r>
          </a:p>
        </c:rich>
      </c:tx>
      <c:layout>
        <c:manualLayout>
          <c:xMode val="edge"/>
          <c:yMode val="edge"/>
          <c:x val="0.36090812895159985"/>
          <c:y val="2.185792349726776E-2"/>
        </c:manualLayout>
      </c:layout>
      <c:overlay val="0"/>
    </c:title>
    <c:autoTitleDeleted val="0"/>
    <c:plotArea>
      <c:layout>
        <c:manualLayout>
          <c:layoutTarget val="inner"/>
          <c:xMode val="edge"/>
          <c:yMode val="edge"/>
          <c:x val="7.5375087847822805E-2"/>
          <c:y val="0.22479996557807325"/>
          <c:w val="0.88727779012764563"/>
          <c:h val="0.54358624844025649"/>
        </c:manualLayout>
      </c:layout>
      <c:barChart>
        <c:barDir val="col"/>
        <c:grouping val="clustered"/>
        <c:varyColors val="0"/>
        <c:ser>
          <c:idx val="0"/>
          <c:order val="0"/>
          <c:tx>
            <c:strRef>
              <c:f>存量!$I$1</c:f>
              <c:strCache>
                <c:ptCount val="1"/>
                <c:pt idx="0">
                  <c:v>存量套数</c:v>
                </c:pt>
              </c:strCache>
            </c:strRef>
          </c:tx>
          <c:spPr>
            <a:solidFill>
              <a:srgbClr val="1F497D">
                <a:lumMod val="60000"/>
                <a:lumOff val="40000"/>
              </a:srgbClr>
            </a:solidFill>
            <a:ln>
              <a:noFill/>
            </a:ln>
            <a:effectLst>
              <a:outerShdw blurRad="50800" dist="12700" algn="l" rotWithShape="0">
                <a:prstClr val="black">
                  <a:alpha val="40000"/>
                </a:prstClr>
              </a:outerShdw>
            </a:effectLst>
          </c:spPr>
          <c:invertIfNegative val="0"/>
          <c:dLbls>
            <c:dLbl>
              <c:idx val="32"/>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1B64-4E20-BEDC-9DBAA0A40DC5}"/>
                </c:ext>
              </c:extLst>
            </c:dLbl>
            <c:spPr>
              <a:noFill/>
              <a:ln>
                <a:noFill/>
              </a:ln>
              <a:effectLst/>
            </c:spPr>
            <c:txPr>
              <a:bodyPr/>
              <a:lstStyle/>
              <a:p>
                <a:pPr>
                  <a:defRPr>
                    <a:latin typeface="微软雅黑" pitchFamily="34" charset="-122"/>
                    <a:ea typeface="微软雅黑" pitchFamily="34" charset="-122"/>
                  </a:defRPr>
                </a:pPr>
                <a:endParaRPr lang="zh-CN"/>
              </a:p>
            </c:txPr>
            <c:dLblPos val="outEnd"/>
            <c:showLegendKey val="0"/>
            <c:showVal val="0"/>
            <c:showCatName val="0"/>
            <c:showSerName val="0"/>
            <c:showPercent val="0"/>
            <c:showBubbleSize val="0"/>
            <c:extLst>
              <c:ext xmlns:c15="http://schemas.microsoft.com/office/drawing/2012/chart" uri="{CE6537A1-D6FC-4f65-9D91-7224C49458BB}">
                <c15:showLeaderLines val="0"/>
              </c:ext>
            </c:extLst>
          </c:dLbls>
          <c:cat>
            <c:multiLvlStrRef>
              <c:f>存量!$A$2:$B$34</c:f>
              <c:multiLvlStrCache>
                <c:ptCount val="33"/>
                <c:lvl>
                  <c:pt idx="0">
                    <c:v>1月</c:v>
                  </c:pt>
                  <c:pt idx="1">
                    <c:v>2月</c:v>
                  </c:pt>
                  <c:pt idx="2">
                    <c:v>3月</c:v>
                  </c:pt>
                  <c:pt idx="3">
                    <c:v>4月</c:v>
                  </c:pt>
                  <c:pt idx="4">
                    <c:v>5月</c:v>
                  </c:pt>
                  <c:pt idx="5">
                    <c:v>6月</c:v>
                  </c:pt>
                  <c:pt idx="6">
                    <c:v>7月</c:v>
                  </c:pt>
                  <c:pt idx="7">
                    <c:v>8月</c:v>
                  </c:pt>
                  <c:pt idx="8">
                    <c:v>9月</c:v>
                  </c:pt>
                  <c:pt idx="9">
                    <c:v>10月</c:v>
                  </c:pt>
                  <c:pt idx="10">
                    <c:v>11月</c:v>
                  </c:pt>
                  <c:pt idx="11">
                    <c:v>12月</c:v>
                  </c:pt>
                  <c:pt idx="12">
                    <c:v>1月</c:v>
                  </c:pt>
                  <c:pt idx="13">
                    <c:v>2月</c:v>
                  </c:pt>
                  <c:pt idx="14">
                    <c:v>3月</c:v>
                  </c:pt>
                  <c:pt idx="15">
                    <c:v>4月</c:v>
                  </c:pt>
                  <c:pt idx="16">
                    <c:v>5月</c:v>
                  </c:pt>
                  <c:pt idx="17">
                    <c:v>6月</c:v>
                  </c:pt>
                  <c:pt idx="18">
                    <c:v>7月</c:v>
                  </c:pt>
                  <c:pt idx="19">
                    <c:v>8月</c:v>
                  </c:pt>
                  <c:pt idx="20">
                    <c:v>9月</c:v>
                  </c:pt>
                  <c:pt idx="21">
                    <c:v>10月</c:v>
                  </c:pt>
                  <c:pt idx="22">
                    <c:v>11月</c:v>
                  </c:pt>
                  <c:pt idx="23">
                    <c:v>12月</c:v>
                  </c:pt>
                  <c:pt idx="24">
                    <c:v>1月</c:v>
                  </c:pt>
                  <c:pt idx="25">
                    <c:v>2月</c:v>
                  </c:pt>
                  <c:pt idx="26">
                    <c:v>3月</c:v>
                  </c:pt>
                  <c:pt idx="27">
                    <c:v>4月</c:v>
                  </c:pt>
                  <c:pt idx="28">
                    <c:v>5月</c:v>
                  </c:pt>
                  <c:pt idx="29">
                    <c:v>6月</c:v>
                  </c:pt>
                  <c:pt idx="30">
                    <c:v>7月</c:v>
                  </c:pt>
                  <c:pt idx="31">
                    <c:v>8月</c:v>
                  </c:pt>
                  <c:pt idx="32">
                    <c:v>9月</c:v>
                  </c:pt>
                </c:lvl>
                <c:lvl>
                  <c:pt idx="0">
                    <c:v>2014年</c:v>
                  </c:pt>
                  <c:pt idx="12">
                    <c:v>2015年</c:v>
                  </c:pt>
                  <c:pt idx="24">
                    <c:v>2016年</c:v>
                  </c:pt>
                </c:lvl>
              </c:multiLvlStrCache>
            </c:multiLvlStrRef>
          </c:cat>
          <c:val>
            <c:numRef>
              <c:f>存量!$I$2:$I$34</c:f>
              <c:numCache>
                <c:formatCode>General</c:formatCode>
                <c:ptCount val="33"/>
                <c:pt idx="0">
                  <c:v>108223</c:v>
                </c:pt>
                <c:pt idx="1">
                  <c:v>109283</c:v>
                </c:pt>
                <c:pt idx="2">
                  <c:v>113683</c:v>
                </c:pt>
                <c:pt idx="3">
                  <c:v>122089</c:v>
                </c:pt>
                <c:pt idx="4">
                  <c:v>131744</c:v>
                </c:pt>
                <c:pt idx="5">
                  <c:v>137678</c:v>
                </c:pt>
                <c:pt idx="6">
                  <c:v>140583</c:v>
                </c:pt>
                <c:pt idx="7">
                  <c:v>143515</c:v>
                </c:pt>
                <c:pt idx="8">
                  <c:v>148985</c:v>
                </c:pt>
                <c:pt idx="9">
                  <c:v>149344</c:v>
                </c:pt>
                <c:pt idx="10">
                  <c:v>152290</c:v>
                </c:pt>
                <c:pt idx="11">
                  <c:v>158552</c:v>
                </c:pt>
                <c:pt idx="12">
                  <c:v>158792</c:v>
                </c:pt>
                <c:pt idx="13">
                  <c:v>156396</c:v>
                </c:pt>
                <c:pt idx="14">
                  <c:v>157183</c:v>
                </c:pt>
                <c:pt idx="15">
                  <c:v>155330</c:v>
                </c:pt>
                <c:pt idx="16">
                  <c:v>155957</c:v>
                </c:pt>
                <c:pt idx="17">
                  <c:v>162391</c:v>
                </c:pt>
                <c:pt idx="18">
                  <c:v>164120</c:v>
                </c:pt>
                <c:pt idx="19">
                  <c:v>163599</c:v>
                </c:pt>
                <c:pt idx="20">
                  <c:v>164997</c:v>
                </c:pt>
                <c:pt idx="21">
                  <c:v>166547</c:v>
                </c:pt>
                <c:pt idx="22">
                  <c:v>170405</c:v>
                </c:pt>
                <c:pt idx="23">
                  <c:v>162859</c:v>
                </c:pt>
                <c:pt idx="24">
                  <c:v>162008</c:v>
                </c:pt>
                <c:pt idx="25">
                  <c:v>160551</c:v>
                </c:pt>
                <c:pt idx="26">
                  <c:v>158394</c:v>
                </c:pt>
                <c:pt idx="27">
                  <c:v>154939</c:v>
                </c:pt>
                <c:pt idx="28">
                  <c:v>154564</c:v>
                </c:pt>
                <c:pt idx="29">
                  <c:v>149503</c:v>
                </c:pt>
                <c:pt idx="30">
                  <c:v>151343</c:v>
                </c:pt>
                <c:pt idx="31">
                  <c:v>142398</c:v>
                </c:pt>
                <c:pt idx="32">
                  <c:v>133605</c:v>
                </c:pt>
              </c:numCache>
            </c:numRef>
          </c:val>
          <c:extLst>
            <c:ext xmlns:c16="http://schemas.microsoft.com/office/drawing/2014/chart" uri="{C3380CC4-5D6E-409C-BE32-E72D297353CC}">
              <c16:uniqueId val="{00000001-1B64-4E20-BEDC-9DBAA0A40DC5}"/>
            </c:ext>
          </c:extLst>
        </c:ser>
        <c:dLbls>
          <c:dLblPos val="outEnd"/>
          <c:showLegendKey val="0"/>
          <c:showVal val="1"/>
          <c:showCatName val="0"/>
          <c:showSerName val="0"/>
          <c:showPercent val="0"/>
          <c:showBubbleSize val="0"/>
        </c:dLbls>
        <c:gapWidth val="219"/>
        <c:axId val="241352704"/>
        <c:axId val="241355008"/>
      </c:barChart>
      <c:lineChart>
        <c:grouping val="standard"/>
        <c:varyColors val="0"/>
        <c:ser>
          <c:idx val="1"/>
          <c:order val="1"/>
          <c:tx>
            <c:strRef>
              <c:f>存量!$J$1</c:f>
              <c:strCache>
                <c:ptCount val="1"/>
                <c:pt idx="0">
                  <c:v>存量面积(万㎡)</c:v>
                </c:pt>
              </c:strCache>
            </c:strRef>
          </c:tx>
          <c:marker>
            <c:symbol val="square"/>
            <c:size val="5"/>
            <c:spPr>
              <a:ln>
                <a:solidFill>
                  <a:srgbClr val="FFFFFF"/>
                </a:solidFill>
              </a:ln>
            </c:spPr>
          </c:marker>
          <c:val>
            <c:numRef>
              <c:f>存量!$J$2:$J$34</c:f>
              <c:numCache>
                <c:formatCode>0.0_ </c:formatCode>
                <c:ptCount val="33"/>
                <c:pt idx="0">
                  <c:v>1911.9</c:v>
                </c:pt>
                <c:pt idx="1">
                  <c:v>1932.42</c:v>
                </c:pt>
                <c:pt idx="2">
                  <c:v>1992.22</c:v>
                </c:pt>
                <c:pt idx="3">
                  <c:v>2084.31</c:v>
                </c:pt>
                <c:pt idx="4">
                  <c:v>2195.6999999999998</c:v>
                </c:pt>
                <c:pt idx="5">
                  <c:v>2234.3200000000002</c:v>
                </c:pt>
                <c:pt idx="6">
                  <c:v>2259.35</c:v>
                </c:pt>
                <c:pt idx="7">
                  <c:v>2293.08</c:v>
                </c:pt>
                <c:pt idx="8">
                  <c:v>2342.64</c:v>
                </c:pt>
                <c:pt idx="9">
                  <c:v>2353.8200000000002</c:v>
                </c:pt>
                <c:pt idx="10">
                  <c:v>2372.27</c:v>
                </c:pt>
                <c:pt idx="11">
                  <c:v>2443.61</c:v>
                </c:pt>
                <c:pt idx="12">
                  <c:v>2416.86</c:v>
                </c:pt>
                <c:pt idx="13">
                  <c:v>2394.3200000000002</c:v>
                </c:pt>
                <c:pt idx="14">
                  <c:v>2411.33</c:v>
                </c:pt>
                <c:pt idx="15">
                  <c:v>2401.3000000000002</c:v>
                </c:pt>
                <c:pt idx="16">
                  <c:v>2401.9</c:v>
                </c:pt>
                <c:pt idx="17">
                  <c:v>2448.7199999999998</c:v>
                </c:pt>
                <c:pt idx="18">
                  <c:v>2482.33</c:v>
                </c:pt>
                <c:pt idx="19">
                  <c:v>2486.23</c:v>
                </c:pt>
                <c:pt idx="20">
                  <c:v>2488.38</c:v>
                </c:pt>
                <c:pt idx="21">
                  <c:v>2507.98</c:v>
                </c:pt>
                <c:pt idx="22">
                  <c:v>2554.4699999999998</c:v>
                </c:pt>
                <c:pt idx="23">
                  <c:v>2476.94</c:v>
                </c:pt>
                <c:pt idx="24">
                  <c:v>2448.38</c:v>
                </c:pt>
                <c:pt idx="25">
                  <c:v>2431.54</c:v>
                </c:pt>
                <c:pt idx="26">
                  <c:v>2400.64</c:v>
                </c:pt>
                <c:pt idx="27" formatCode="General">
                  <c:v>2407.52</c:v>
                </c:pt>
                <c:pt idx="28" formatCode="General">
                  <c:v>2402.9699999999998</c:v>
                </c:pt>
                <c:pt idx="29" formatCode="General">
                  <c:v>2328.65</c:v>
                </c:pt>
                <c:pt idx="30" formatCode="General">
                  <c:v>2336.64</c:v>
                </c:pt>
                <c:pt idx="31" formatCode="General">
                  <c:v>2248.5300000000002</c:v>
                </c:pt>
                <c:pt idx="32" formatCode="General">
                  <c:v>2173.19</c:v>
                </c:pt>
              </c:numCache>
            </c:numRef>
          </c:val>
          <c:smooth val="0"/>
          <c:extLst>
            <c:ext xmlns:c16="http://schemas.microsoft.com/office/drawing/2014/chart" uri="{C3380CC4-5D6E-409C-BE32-E72D297353CC}">
              <c16:uniqueId val="{00000002-1B64-4E20-BEDC-9DBAA0A40DC5}"/>
            </c:ext>
          </c:extLst>
        </c:ser>
        <c:dLbls>
          <c:showLegendKey val="0"/>
          <c:showVal val="0"/>
          <c:showCatName val="0"/>
          <c:showSerName val="0"/>
          <c:showPercent val="0"/>
          <c:showBubbleSize val="0"/>
        </c:dLbls>
        <c:marker val="1"/>
        <c:smooth val="0"/>
        <c:axId val="241362816"/>
        <c:axId val="241360896"/>
      </c:lineChart>
      <c:catAx>
        <c:axId val="241352704"/>
        <c:scaling>
          <c:orientation val="minMax"/>
        </c:scaling>
        <c:delete val="0"/>
        <c:axPos val="b"/>
        <c:title>
          <c:tx>
            <c:rich>
              <a:bodyPr/>
              <a:lstStyle/>
              <a:p>
                <a:pPr>
                  <a:defRPr/>
                </a:pPr>
                <a:r>
                  <a:rPr lang="zh-CN" altLang="en-US"/>
                  <a:t>套</a:t>
                </a:r>
              </a:p>
            </c:rich>
          </c:tx>
          <c:layout>
            <c:manualLayout>
              <c:xMode val="edge"/>
              <c:yMode val="edge"/>
              <c:x val="2.7134349662458611E-2"/>
              <c:y val="9.5068886880943185E-2"/>
            </c:manualLayout>
          </c:layout>
          <c:overlay val="0"/>
        </c:title>
        <c:numFmt formatCode="General" sourceLinked="1"/>
        <c:majorTickMark val="out"/>
        <c:minorTickMark val="none"/>
        <c:tickLblPos val="nextTo"/>
        <c:spPr>
          <a:noFill/>
          <a:ln w="9525" cap="flat" cmpd="sng" algn="ctr">
            <a:solidFill>
              <a:sysClr val="window" lastClr="FFFFFF">
                <a:lumMod val="65000"/>
              </a:sys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微软雅黑" pitchFamily="34" charset="-122"/>
                <a:ea typeface="微软雅黑" pitchFamily="34" charset="-122"/>
                <a:cs typeface="+mn-cs"/>
              </a:defRPr>
            </a:pPr>
            <a:endParaRPr lang="zh-CN"/>
          </a:p>
        </c:txPr>
        <c:crossAx val="241355008"/>
        <c:crosses val="autoZero"/>
        <c:auto val="1"/>
        <c:lblAlgn val="ctr"/>
        <c:lblOffset val="100"/>
        <c:noMultiLvlLbl val="0"/>
      </c:catAx>
      <c:valAx>
        <c:axId val="241355008"/>
        <c:scaling>
          <c:orientation val="minMax"/>
          <c:max val="200000"/>
          <c:min val="0"/>
        </c:scaling>
        <c:delete val="0"/>
        <c:axPos val="l"/>
        <c:majorGridlines>
          <c:spPr>
            <a:ln w="9525" cap="flat" cmpd="sng" algn="ctr">
              <a:solidFill>
                <a:schemeClr val="bg1">
                  <a:lumMod val="95000"/>
                </a:schemeClr>
              </a:solidFill>
              <a:round/>
            </a:ln>
            <a:effectLst/>
          </c:spPr>
        </c:majorGridlines>
        <c:numFmt formatCode="0_ " sourceLinked="0"/>
        <c:majorTickMark val="out"/>
        <c:minorTickMark val="none"/>
        <c:tickLblPos val="nextTo"/>
        <c:txPr>
          <a:bodyPr/>
          <a:lstStyle/>
          <a:p>
            <a:pPr>
              <a:defRPr sz="900">
                <a:solidFill>
                  <a:schemeClr val="tx1"/>
                </a:solidFill>
                <a:latin typeface="微软雅黑" pitchFamily="34" charset="-122"/>
                <a:ea typeface="微软雅黑" pitchFamily="34" charset="-122"/>
              </a:defRPr>
            </a:pPr>
            <a:endParaRPr lang="zh-CN"/>
          </a:p>
        </c:txPr>
        <c:crossAx val="241352704"/>
        <c:crosses val="autoZero"/>
        <c:crossBetween val="between"/>
      </c:valAx>
      <c:valAx>
        <c:axId val="241360896"/>
        <c:scaling>
          <c:orientation val="minMax"/>
          <c:max val="3000"/>
          <c:min val="1000"/>
        </c:scaling>
        <c:delete val="0"/>
        <c:axPos val="r"/>
        <c:title>
          <c:tx>
            <c:rich>
              <a:bodyPr rot="0" vert="horz"/>
              <a:lstStyle/>
              <a:p>
                <a:pPr>
                  <a:defRPr/>
                </a:pPr>
                <a:r>
                  <a:rPr lang="zh-CN" altLang="en-US"/>
                  <a:t>万</a:t>
                </a:r>
                <a:r>
                  <a:rPr lang="en-US" altLang="zh-CN"/>
                  <a:t>/</a:t>
                </a:r>
                <a:r>
                  <a:rPr lang="zh-CN" altLang="en-US"/>
                  <a:t>㎡</a:t>
                </a:r>
              </a:p>
            </c:rich>
          </c:tx>
          <c:layout>
            <c:manualLayout>
              <c:xMode val="edge"/>
              <c:yMode val="edge"/>
              <c:x val="0.91243189697870231"/>
              <c:y val="0.12063680564519599"/>
            </c:manualLayout>
          </c:layout>
          <c:overlay val="0"/>
        </c:title>
        <c:numFmt formatCode="0.0_ " sourceLinked="1"/>
        <c:majorTickMark val="out"/>
        <c:minorTickMark val="none"/>
        <c:tickLblPos val="nextTo"/>
        <c:txPr>
          <a:bodyPr/>
          <a:lstStyle/>
          <a:p>
            <a:pPr>
              <a:defRPr>
                <a:latin typeface="微软雅黑" pitchFamily="34" charset="-122"/>
                <a:ea typeface="微软雅黑" pitchFamily="34" charset="-122"/>
              </a:defRPr>
            </a:pPr>
            <a:endParaRPr lang="zh-CN"/>
          </a:p>
        </c:txPr>
        <c:crossAx val="241362816"/>
        <c:crosses val="max"/>
        <c:crossBetween val="between"/>
        <c:majorUnit val="500"/>
      </c:valAx>
      <c:catAx>
        <c:axId val="241362816"/>
        <c:scaling>
          <c:orientation val="minMax"/>
        </c:scaling>
        <c:delete val="1"/>
        <c:axPos val="b"/>
        <c:majorTickMark val="out"/>
        <c:minorTickMark val="none"/>
        <c:tickLblPos val="nextTo"/>
        <c:crossAx val="241360896"/>
        <c:crosses val="autoZero"/>
        <c:auto val="1"/>
        <c:lblAlgn val="ctr"/>
        <c:lblOffset val="100"/>
        <c:noMultiLvlLbl val="0"/>
      </c:catAx>
      <c:spPr>
        <a:noFill/>
        <a:ln>
          <a:noFill/>
        </a:ln>
        <a:effectLst/>
      </c:spPr>
    </c:plotArea>
    <c:legend>
      <c:legendPos val="b"/>
      <c:layout>
        <c:manualLayout>
          <c:xMode val="edge"/>
          <c:yMode val="edge"/>
          <c:x val="0.21784008706228794"/>
          <c:y val="0.15987504840583452"/>
          <c:w val="0.56649436651027829"/>
          <c:h val="8.9069833483929273E-2"/>
        </c:manualLayout>
      </c:layout>
      <c:overlay val="0"/>
      <c:spPr>
        <a:noFill/>
        <a:ln>
          <a:noFill/>
        </a:ln>
        <a:effectLst/>
      </c:spPr>
      <c:txPr>
        <a:bodyPr rot="0" spcFirstLastPara="1" vertOverflow="ellipsis" vert="horz" wrap="square" anchor="ctr" anchorCtr="1"/>
        <a:lstStyle/>
        <a:p>
          <a:pPr>
            <a:defRPr sz="1200" b="1" i="0" u="none" strike="noStrike" kern="1200" baseline="0">
              <a:solidFill>
                <a:schemeClr val="tx1"/>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chart>
  <c:spPr>
    <a:noFill/>
    <a:ln w="9525" cap="flat" cmpd="sng" algn="ctr">
      <a:noFill/>
      <a:round/>
    </a:ln>
    <a:effectLst/>
  </c:spPr>
  <c:txPr>
    <a:bodyPr/>
    <a:lstStyle/>
    <a:p>
      <a:pPr>
        <a:defRPr/>
      </a:pPr>
      <a:endParaRPr lang="zh-CN"/>
    </a:p>
  </c:txPr>
  <c:externalData r:id="rId2">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0" i="0" u="none" strike="noStrike" kern="1200" spc="0" baseline="0">
                <a:solidFill>
                  <a:schemeClr val="tx1"/>
                </a:solidFill>
                <a:latin typeface="Arial" panose="020B0604020202020204" pitchFamily="34" charset="0"/>
                <a:ea typeface="微软雅黑" panose="020B0503020204020204" pitchFamily="34" charset="-122"/>
                <a:cs typeface="+mn-cs"/>
              </a:defRPr>
            </a:pPr>
            <a:r>
              <a:rPr lang="zh-CN" altLang="en-US" sz="1600" b="1">
                <a:solidFill>
                  <a:schemeClr val="tx1"/>
                </a:solidFill>
              </a:rPr>
              <a:t>北京一手房各业态存量套数对比</a:t>
            </a:r>
          </a:p>
        </c:rich>
      </c:tx>
      <c:layout>
        <c:manualLayout>
          <c:xMode val="edge"/>
          <c:yMode val="edge"/>
          <c:x val="0.26753186179596405"/>
          <c:y val="5.5021062615654127E-2"/>
        </c:manualLayout>
      </c:layout>
      <c:overlay val="0"/>
      <c:spPr>
        <a:noFill/>
        <a:ln>
          <a:noFill/>
        </a:ln>
        <a:effectLst/>
      </c:spPr>
    </c:title>
    <c:autoTitleDeleted val="0"/>
    <c:plotArea>
      <c:layout>
        <c:manualLayout>
          <c:layoutTarget val="inner"/>
          <c:xMode val="edge"/>
          <c:yMode val="edge"/>
          <c:x val="8.6848930768899796E-2"/>
          <c:y val="0.29215437194217792"/>
          <c:w val="0.89658471435031972"/>
          <c:h val="0.5470605265250934"/>
        </c:manualLayout>
      </c:layout>
      <c:barChart>
        <c:barDir val="col"/>
        <c:grouping val="clustered"/>
        <c:varyColors val="0"/>
        <c:ser>
          <c:idx val="0"/>
          <c:order val="0"/>
          <c:tx>
            <c:strRef>
              <c:f>存量!$A$98</c:f>
              <c:strCache>
                <c:ptCount val="1"/>
                <c:pt idx="0">
                  <c:v>2016年8月</c:v>
                </c:pt>
              </c:strCache>
            </c:strRef>
          </c:tx>
          <c:spPr>
            <a:solidFill>
              <a:srgbClr val="1F497D">
                <a:lumMod val="60000"/>
                <a:lumOff val="40000"/>
              </a:srgbClr>
            </a:solidFill>
            <a:ln w="31750" cap="rnd">
              <a:solidFill>
                <a:srgbClr val="3B95D2"/>
              </a:solidFill>
              <a:round/>
            </a:ln>
            <a:effectLst>
              <a:outerShdw blurRad="38100" dist="38100" dir="5400000" algn="t" rotWithShape="0">
                <a:srgbClr val="717171">
                  <a:alpha val="40000"/>
                </a:srgbClr>
              </a:outerShdw>
            </a:effectLst>
          </c:spPr>
          <c:invertIfNegative val="0"/>
          <c:dLbls>
            <c:dLbl>
              <c:idx val="0"/>
              <c:layout>
                <c:manualLayout>
                  <c:x val="0"/>
                  <c:y val="1.6161616161616123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31C4-4ED2-BEEB-1AE6C56C6DF6}"/>
                </c:ext>
              </c:extLst>
            </c:dLbl>
            <c:dLbl>
              <c:idx val="2"/>
              <c:layout>
                <c:manualLayout>
                  <c:x val="0"/>
                  <c:y val="2.0202020202020204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1C4-4ED2-BEEB-1AE6C56C6DF6}"/>
                </c:ext>
              </c:extLst>
            </c:dLbl>
            <c:dLbl>
              <c:idx val="3"/>
              <c:layout>
                <c:manualLayout>
                  <c:x val="0"/>
                  <c:y val="1.616161616161616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31C4-4ED2-BEEB-1AE6C56C6DF6}"/>
                </c:ext>
              </c:extLst>
            </c:dLbl>
            <c:spPr>
              <a:noFill/>
              <a:ln>
                <a:noFill/>
              </a:ln>
              <a:effectLst/>
            </c:spPr>
            <c:txPr>
              <a:bodyPr/>
              <a:lstStyle/>
              <a:p>
                <a:pPr>
                  <a:defRPr sz="900" b="1">
                    <a:latin typeface="微软雅黑" pitchFamily="34" charset="-122"/>
                    <a:ea typeface="微软雅黑" pitchFamily="34" charset="-122"/>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存量!$B$97:$F$97</c:f>
              <c:strCache>
                <c:ptCount val="5"/>
                <c:pt idx="0">
                  <c:v>普通住宅</c:v>
                </c:pt>
                <c:pt idx="1">
                  <c:v>别墅</c:v>
                </c:pt>
                <c:pt idx="2">
                  <c:v>公寓</c:v>
                </c:pt>
                <c:pt idx="3">
                  <c:v>办公</c:v>
                </c:pt>
                <c:pt idx="4">
                  <c:v>商业</c:v>
                </c:pt>
              </c:strCache>
            </c:strRef>
          </c:cat>
          <c:val>
            <c:numRef>
              <c:f>存量!$B$98:$F$98</c:f>
              <c:numCache>
                <c:formatCode>General</c:formatCode>
                <c:ptCount val="5"/>
                <c:pt idx="0">
                  <c:v>49734</c:v>
                </c:pt>
                <c:pt idx="1">
                  <c:v>7846</c:v>
                </c:pt>
                <c:pt idx="2">
                  <c:v>41724</c:v>
                </c:pt>
                <c:pt idx="3">
                  <c:v>18309</c:v>
                </c:pt>
                <c:pt idx="4">
                  <c:v>22686</c:v>
                </c:pt>
              </c:numCache>
            </c:numRef>
          </c:val>
          <c:extLst>
            <c:ext xmlns:c16="http://schemas.microsoft.com/office/drawing/2014/chart" uri="{C3380CC4-5D6E-409C-BE32-E72D297353CC}">
              <c16:uniqueId val="{00000003-31C4-4ED2-BEEB-1AE6C56C6DF6}"/>
            </c:ext>
          </c:extLst>
        </c:ser>
        <c:ser>
          <c:idx val="1"/>
          <c:order val="1"/>
          <c:tx>
            <c:strRef>
              <c:f>存量!$A$99</c:f>
              <c:strCache>
                <c:ptCount val="1"/>
                <c:pt idx="0">
                  <c:v>2016年9月</c:v>
                </c:pt>
              </c:strCache>
            </c:strRef>
          </c:tx>
          <c:spPr>
            <a:ln w="31750" cap="rnd">
              <a:solidFill>
                <a:srgbClr val="FFD966"/>
              </a:solidFill>
              <a:round/>
            </a:ln>
            <a:effectLst>
              <a:outerShdw blurRad="38100" dist="38100" dir="5400000" algn="t" rotWithShape="0">
                <a:srgbClr val="717171">
                  <a:alpha val="40000"/>
                </a:srgbClr>
              </a:outerShdw>
            </a:effectLst>
          </c:spPr>
          <c:invertIfNegative val="0"/>
          <c:dLbls>
            <c:dLbl>
              <c:idx val="0"/>
              <c:layout>
                <c:manualLayout>
                  <c:x val="-2.0036198412621627E-17"/>
                  <c:y val="6.0606060606060608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31C4-4ED2-BEEB-1AE6C56C6DF6}"/>
                </c:ext>
              </c:extLst>
            </c:dLbl>
            <c:dLbl>
              <c:idx val="1"/>
              <c:layout>
                <c:manualLayout>
                  <c:x val="0"/>
                  <c:y val="6.4646464646464577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31C4-4ED2-BEEB-1AE6C56C6DF6}"/>
                </c:ext>
              </c:extLst>
            </c:dLbl>
            <c:dLbl>
              <c:idx val="2"/>
              <c:layout>
                <c:manualLayout>
                  <c:x val="0"/>
                  <c:y val="5.25252525252526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31C4-4ED2-BEEB-1AE6C56C6DF6}"/>
                </c:ext>
              </c:extLst>
            </c:dLbl>
            <c:dLbl>
              <c:idx val="3"/>
              <c:layout>
                <c:manualLayout>
                  <c:x val="8.014479365048651E-17"/>
                  <c:y val="6.4646464646464646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31C4-4ED2-BEEB-1AE6C56C6DF6}"/>
                </c:ext>
              </c:extLst>
            </c:dLbl>
            <c:dLbl>
              <c:idx val="4"/>
              <c:layout>
                <c:manualLayout>
                  <c:x val="0"/>
                  <c:y val="7.676767676767676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31C4-4ED2-BEEB-1AE6C56C6DF6}"/>
                </c:ext>
              </c:extLst>
            </c:dLbl>
            <c:spPr>
              <a:noFill/>
              <a:ln>
                <a:noFill/>
              </a:ln>
              <a:effectLst/>
            </c:spPr>
            <c:txPr>
              <a:bodyPr/>
              <a:lstStyle/>
              <a:p>
                <a:pPr>
                  <a:defRPr sz="900" b="1">
                    <a:latin typeface="微软雅黑" pitchFamily="34" charset="-122"/>
                    <a:ea typeface="微软雅黑" pitchFamily="34" charset="-122"/>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存量!$B$97:$F$97</c:f>
              <c:strCache>
                <c:ptCount val="5"/>
                <c:pt idx="0">
                  <c:v>普通住宅</c:v>
                </c:pt>
                <c:pt idx="1">
                  <c:v>别墅</c:v>
                </c:pt>
                <c:pt idx="2">
                  <c:v>公寓</c:v>
                </c:pt>
                <c:pt idx="3">
                  <c:v>办公</c:v>
                </c:pt>
                <c:pt idx="4">
                  <c:v>商业</c:v>
                </c:pt>
              </c:strCache>
            </c:strRef>
          </c:cat>
          <c:val>
            <c:numRef>
              <c:f>存量!$B$99:$F$99</c:f>
              <c:numCache>
                <c:formatCode>General</c:formatCode>
                <c:ptCount val="5"/>
                <c:pt idx="0">
                  <c:v>47477</c:v>
                </c:pt>
                <c:pt idx="1">
                  <c:v>7759</c:v>
                </c:pt>
                <c:pt idx="2">
                  <c:v>36774</c:v>
                </c:pt>
                <c:pt idx="3">
                  <c:v>17322</c:v>
                </c:pt>
                <c:pt idx="4">
                  <c:v>22512</c:v>
                </c:pt>
              </c:numCache>
            </c:numRef>
          </c:val>
          <c:extLst>
            <c:ext xmlns:c16="http://schemas.microsoft.com/office/drawing/2014/chart" uri="{C3380CC4-5D6E-409C-BE32-E72D297353CC}">
              <c16:uniqueId val="{00000009-31C4-4ED2-BEEB-1AE6C56C6DF6}"/>
            </c:ext>
          </c:extLst>
        </c:ser>
        <c:dLbls>
          <c:showLegendKey val="0"/>
          <c:showVal val="0"/>
          <c:showCatName val="0"/>
          <c:showSerName val="0"/>
          <c:showPercent val="0"/>
          <c:showBubbleSize val="0"/>
        </c:dLbls>
        <c:gapWidth val="150"/>
        <c:axId val="241380736"/>
        <c:axId val="241423488"/>
      </c:barChart>
      <c:catAx>
        <c:axId val="241380736"/>
        <c:scaling>
          <c:orientation val="minMax"/>
        </c:scaling>
        <c:delete val="0"/>
        <c:axPos val="b"/>
        <c:majorGridlines>
          <c:spPr>
            <a:ln w="12700" cap="flat" cmpd="sng" algn="ctr">
              <a:solidFill>
                <a:schemeClr val="bg1"/>
              </a:solidFill>
              <a:round/>
            </a:ln>
            <a:effectLst/>
          </c:spPr>
        </c:majorGridlines>
        <c:numFmt formatCode="General" sourceLinked="1"/>
        <c:majorTickMark val="out"/>
        <c:minorTickMark val="none"/>
        <c:tickLblPos val="nextTo"/>
        <c:spPr>
          <a:noFill/>
          <a:ln w="9525" cap="flat" cmpd="sng" algn="ctr">
            <a:solidFill>
              <a:srgbClr val="FFFFFF"/>
            </a:solidFill>
            <a:round/>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Arial" panose="020B0604020202020204" pitchFamily="34" charset="0"/>
                <a:ea typeface="微软雅黑" panose="020B0503020204020204" pitchFamily="34" charset="-122"/>
                <a:cs typeface="+mn-cs"/>
              </a:defRPr>
            </a:pPr>
            <a:endParaRPr lang="zh-CN"/>
          </a:p>
        </c:txPr>
        <c:crossAx val="241423488"/>
        <c:crosses val="autoZero"/>
        <c:auto val="1"/>
        <c:lblAlgn val="ctr"/>
        <c:lblOffset val="100"/>
        <c:tickLblSkip val="1"/>
        <c:noMultiLvlLbl val="0"/>
      </c:catAx>
      <c:valAx>
        <c:axId val="241423488"/>
        <c:scaling>
          <c:orientation val="minMax"/>
          <c:max val="60000"/>
          <c:min val="0"/>
        </c:scaling>
        <c:delete val="0"/>
        <c:axPos val="l"/>
        <c:majorGridlines>
          <c:spPr>
            <a:ln w="12700" cap="flat" cmpd="sng" algn="ctr">
              <a:solidFill>
                <a:schemeClr val="bg1"/>
              </a:solidFill>
              <a:round/>
            </a:ln>
            <a:effectLst/>
          </c:spPr>
        </c:majorGridlines>
        <c:title>
          <c:tx>
            <c:rich>
              <a:bodyPr rot="0" vert="horz"/>
              <a:lstStyle/>
              <a:p>
                <a:pPr>
                  <a:defRPr/>
                </a:pPr>
                <a:r>
                  <a:rPr lang="zh-CN" altLang="en-US"/>
                  <a:t>套</a:t>
                </a:r>
              </a:p>
            </c:rich>
          </c:tx>
          <c:layout>
            <c:manualLayout>
              <c:xMode val="edge"/>
              <c:yMode val="edge"/>
              <c:x val="1.3177402005077235E-2"/>
              <c:y val="0.14196452716137756"/>
            </c:manualLayout>
          </c:layout>
          <c:overlay val="0"/>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050" b="1" i="0" u="none" strike="noStrike" kern="1200" baseline="0">
                <a:solidFill>
                  <a:schemeClr val="tx1">
                    <a:lumMod val="65000"/>
                    <a:lumOff val="35000"/>
                  </a:schemeClr>
                </a:solidFill>
                <a:latin typeface="Arial" panose="020B0604020202020204" pitchFamily="34" charset="0"/>
                <a:ea typeface="微软雅黑" panose="020B0503020204020204" pitchFamily="34" charset="-122"/>
                <a:cs typeface="+mn-cs"/>
              </a:defRPr>
            </a:pPr>
            <a:endParaRPr lang="zh-CN"/>
          </a:p>
        </c:txPr>
        <c:crossAx val="241380736"/>
        <c:crosses val="autoZero"/>
        <c:crossBetween val="between"/>
        <c:majorUnit val="10000"/>
      </c:valAx>
      <c:spPr>
        <a:solidFill>
          <a:srgbClr val="EAEAEA"/>
        </a:solidFill>
        <a:ln>
          <a:noFill/>
        </a:ln>
        <a:effectLst/>
      </c:spPr>
    </c:plotArea>
    <c:legend>
      <c:legendPos val="b"/>
      <c:layout>
        <c:manualLayout>
          <c:xMode val="edge"/>
          <c:yMode val="edge"/>
          <c:x val="0.17639344262295081"/>
          <c:y val="0.19122338877073669"/>
          <c:w val="0.60074316939890715"/>
          <c:h val="7.3402052016225239E-2"/>
        </c:manualLayout>
      </c:layout>
      <c:overlay val="0"/>
      <c:spPr>
        <a:noFill/>
        <a:ln>
          <a:noFill/>
        </a:ln>
        <a:effectLst/>
      </c:spPr>
      <c:txPr>
        <a:bodyPr rot="0" spcFirstLastPara="1" vertOverflow="ellipsis" vert="horz" wrap="square" anchor="ctr" anchorCtr="1"/>
        <a:lstStyle/>
        <a:p>
          <a:pPr>
            <a:defRPr sz="1100" b="1" i="0" u="none" strike="noStrike" kern="1200" baseline="0">
              <a:solidFill>
                <a:schemeClr val="tx1">
                  <a:lumMod val="65000"/>
                  <a:lumOff val="35000"/>
                </a:schemeClr>
              </a:solidFill>
              <a:latin typeface="Arial" panose="020B0604020202020204" pitchFamily="34" charset="0"/>
              <a:ea typeface="微软雅黑" panose="020B0503020204020204" pitchFamily="34" charset="-122"/>
              <a:cs typeface="+mn-cs"/>
            </a:defRPr>
          </a:pPr>
          <a:endParaRPr lang="zh-CN"/>
        </a:p>
      </c:txPr>
    </c:legend>
    <c:plotVisOnly val="1"/>
    <c:dispBlanksAs val="gap"/>
    <c:showDLblsOverMax val="0"/>
  </c:chart>
  <c:spPr>
    <a:noFill/>
    <a:ln w="9525" cap="flat" cmpd="sng" algn="ctr">
      <a:noFill/>
      <a:round/>
    </a:ln>
    <a:effectLst/>
  </c:spPr>
  <c:txPr>
    <a:bodyPr/>
    <a:lstStyle/>
    <a:p>
      <a:pPr>
        <a:defRPr/>
      </a:pPr>
      <a:endParaRPr lang="zh-CN"/>
    </a:p>
  </c:txPr>
  <c:externalData r:id="rId2">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sz="1600" b="0">
                <a:solidFill>
                  <a:schemeClr val="tx1"/>
                </a:solidFill>
                <a:latin typeface="微软雅黑" pitchFamily="34" charset="-122"/>
                <a:ea typeface="微软雅黑" pitchFamily="34" charset="-122"/>
              </a:defRPr>
            </a:pPr>
            <a:r>
              <a:rPr lang="zh-CN" altLang="en-US" sz="1600" b="1">
                <a:solidFill>
                  <a:schemeClr val="tx1"/>
                </a:solidFill>
              </a:rPr>
              <a:t>北京各业态去化周期走势图</a:t>
            </a:r>
          </a:p>
        </c:rich>
      </c:tx>
      <c:layout>
        <c:manualLayout>
          <c:xMode val="edge"/>
          <c:yMode val="edge"/>
          <c:x val="0.32896407609226497"/>
          <c:y val="0"/>
        </c:manualLayout>
      </c:layout>
      <c:overlay val="0"/>
    </c:title>
    <c:autoTitleDeleted val="0"/>
    <c:plotArea>
      <c:layout>
        <c:manualLayout>
          <c:layoutTarget val="inner"/>
          <c:xMode val="edge"/>
          <c:yMode val="edge"/>
          <c:x val="8.4865637346933059E-2"/>
          <c:y val="0.26994075740532436"/>
          <c:w val="0.88903709100419392"/>
          <c:h val="0.43500674915635545"/>
        </c:manualLayout>
      </c:layout>
      <c:lineChart>
        <c:grouping val="standard"/>
        <c:varyColors val="0"/>
        <c:ser>
          <c:idx val="1"/>
          <c:order val="0"/>
          <c:tx>
            <c:strRef>
              <c:f>去化周期!$C$1</c:f>
              <c:strCache>
                <c:ptCount val="1"/>
                <c:pt idx="0">
                  <c:v>办公</c:v>
                </c:pt>
              </c:strCache>
            </c:strRef>
          </c:tx>
          <c:spPr>
            <a:ln w="12700">
              <a:solidFill>
                <a:srgbClr val="C00000"/>
              </a:solidFill>
              <a:prstDash val="solid"/>
            </a:ln>
            <a:effectLst>
              <a:outerShdw blurRad="50800" dist="38100" dir="16200000" sx="1000" sy="1000" rotWithShape="0">
                <a:prstClr val="black">
                  <a:alpha val="40000"/>
                </a:prstClr>
              </a:outerShdw>
            </a:effectLst>
          </c:spPr>
          <c:marker>
            <c:symbol val="none"/>
          </c:marker>
          <c:cat>
            <c:multiLvlStrRef>
              <c:f>去化周期!$A$2:$B$34</c:f>
              <c:multiLvlStrCache>
                <c:ptCount val="33"/>
                <c:lvl>
                  <c:pt idx="0">
                    <c:v>1月</c:v>
                  </c:pt>
                  <c:pt idx="1">
                    <c:v>2月</c:v>
                  </c:pt>
                  <c:pt idx="2">
                    <c:v>3月</c:v>
                  </c:pt>
                  <c:pt idx="3">
                    <c:v>4月</c:v>
                  </c:pt>
                  <c:pt idx="4">
                    <c:v>5月</c:v>
                  </c:pt>
                  <c:pt idx="5">
                    <c:v>6月</c:v>
                  </c:pt>
                  <c:pt idx="6">
                    <c:v>7月</c:v>
                  </c:pt>
                  <c:pt idx="7">
                    <c:v>8月</c:v>
                  </c:pt>
                  <c:pt idx="8">
                    <c:v>9月</c:v>
                  </c:pt>
                  <c:pt idx="9">
                    <c:v>10月</c:v>
                  </c:pt>
                  <c:pt idx="10">
                    <c:v>11月</c:v>
                  </c:pt>
                  <c:pt idx="11">
                    <c:v>12月</c:v>
                  </c:pt>
                  <c:pt idx="12">
                    <c:v>1月</c:v>
                  </c:pt>
                  <c:pt idx="13">
                    <c:v>2月</c:v>
                  </c:pt>
                  <c:pt idx="14">
                    <c:v>3月</c:v>
                  </c:pt>
                  <c:pt idx="15">
                    <c:v>4月</c:v>
                  </c:pt>
                  <c:pt idx="16">
                    <c:v>5月</c:v>
                  </c:pt>
                  <c:pt idx="17">
                    <c:v>6月</c:v>
                  </c:pt>
                  <c:pt idx="18">
                    <c:v>7月</c:v>
                  </c:pt>
                  <c:pt idx="19">
                    <c:v>8月</c:v>
                  </c:pt>
                  <c:pt idx="20">
                    <c:v>9月</c:v>
                  </c:pt>
                  <c:pt idx="21">
                    <c:v>10月</c:v>
                  </c:pt>
                  <c:pt idx="22">
                    <c:v>11月</c:v>
                  </c:pt>
                  <c:pt idx="23">
                    <c:v>12月</c:v>
                  </c:pt>
                  <c:pt idx="24">
                    <c:v>1月</c:v>
                  </c:pt>
                  <c:pt idx="25">
                    <c:v>2月</c:v>
                  </c:pt>
                  <c:pt idx="26">
                    <c:v>3月</c:v>
                  </c:pt>
                  <c:pt idx="27">
                    <c:v>4月</c:v>
                  </c:pt>
                  <c:pt idx="28">
                    <c:v>5月</c:v>
                  </c:pt>
                  <c:pt idx="29">
                    <c:v>6月</c:v>
                  </c:pt>
                  <c:pt idx="30">
                    <c:v>7月</c:v>
                  </c:pt>
                  <c:pt idx="31">
                    <c:v>8月</c:v>
                  </c:pt>
                  <c:pt idx="32">
                    <c:v>9月</c:v>
                  </c:pt>
                </c:lvl>
                <c:lvl>
                  <c:pt idx="0">
                    <c:v>2014年</c:v>
                  </c:pt>
                  <c:pt idx="12">
                    <c:v>2015年</c:v>
                  </c:pt>
                  <c:pt idx="24">
                    <c:v>2016年</c:v>
                  </c:pt>
                </c:lvl>
              </c:multiLvlStrCache>
            </c:multiLvlStrRef>
          </c:cat>
          <c:val>
            <c:numRef>
              <c:f>去化周期!$C$2:$C$34</c:f>
              <c:numCache>
                <c:formatCode>0.0_ </c:formatCode>
                <c:ptCount val="33"/>
                <c:pt idx="0">
                  <c:v>19.19871106337272</c:v>
                </c:pt>
                <c:pt idx="1">
                  <c:v>19.116995406646851</c:v>
                </c:pt>
                <c:pt idx="2">
                  <c:v>19.045361667347773</c:v>
                </c:pt>
                <c:pt idx="3">
                  <c:v>21.219512195121954</c:v>
                </c:pt>
                <c:pt idx="4">
                  <c:v>22.812163446309789</c:v>
                </c:pt>
                <c:pt idx="5">
                  <c:v>24.459218420625913</c:v>
                </c:pt>
                <c:pt idx="6">
                  <c:v>24.548967795210572</c:v>
                </c:pt>
                <c:pt idx="7">
                  <c:v>25.464074973967371</c:v>
                </c:pt>
                <c:pt idx="8">
                  <c:v>28.043763676148796</c:v>
                </c:pt>
                <c:pt idx="9">
                  <c:v>27.73299195318215</c:v>
                </c:pt>
                <c:pt idx="10">
                  <c:v>33.552666965486331</c:v>
                </c:pt>
                <c:pt idx="11">
                  <c:v>34.806212018906145</c:v>
                </c:pt>
                <c:pt idx="12">
                  <c:v>40.665154950869237</c:v>
                </c:pt>
                <c:pt idx="13">
                  <c:v>40.875383043922369</c:v>
                </c:pt>
                <c:pt idx="14">
                  <c:v>44.722772277227726</c:v>
                </c:pt>
                <c:pt idx="15">
                  <c:v>45.849823800487933</c:v>
                </c:pt>
                <c:pt idx="16">
                  <c:v>46.561034761519807</c:v>
                </c:pt>
                <c:pt idx="17">
                  <c:v>50.044186046511626</c:v>
                </c:pt>
                <c:pt idx="18">
                  <c:v>48.9124965054515</c:v>
                </c:pt>
                <c:pt idx="19">
                  <c:v>54.238511418099804</c:v>
                </c:pt>
                <c:pt idx="20">
                  <c:v>49.339188840093001</c:v>
                </c:pt>
                <c:pt idx="21">
                  <c:v>53.926439232409379</c:v>
                </c:pt>
                <c:pt idx="22">
                  <c:v>48.934426229508198</c:v>
                </c:pt>
                <c:pt idx="23">
                  <c:v>42.907242693773824</c:v>
                </c:pt>
                <c:pt idx="24">
                  <c:v>39.36553369111509</c:v>
                </c:pt>
                <c:pt idx="25">
                  <c:v>39.761300555114993</c:v>
                </c:pt>
                <c:pt idx="26">
                  <c:v>40.06327018576421</c:v>
                </c:pt>
                <c:pt idx="27">
                  <c:v>36.438605356240522</c:v>
                </c:pt>
                <c:pt idx="28">
                  <c:v>35.124217462932457</c:v>
                </c:pt>
                <c:pt idx="29">
                  <c:v>34.512773722627735</c:v>
                </c:pt>
                <c:pt idx="30">
                  <c:v>32.007002188183804</c:v>
                </c:pt>
                <c:pt idx="31">
                  <c:v>30.064039408866996</c:v>
                </c:pt>
                <c:pt idx="32">
                  <c:v>26.479490445859874</c:v>
                </c:pt>
              </c:numCache>
            </c:numRef>
          </c:val>
          <c:smooth val="0"/>
          <c:extLst>
            <c:ext xmlns:c16="http://schemas.microsoft.com/office/drawing/2014/chart" uri="{C3380CC4-5D6E-409C-BE32-E72D297353CC}">
              <c16:uniqueId val="{00000000-2639-430B-A155-F9D44901BD9D}"/>
            </c:ext>
          </c:extLst>
        </c:ser>
        <c:ser>
          <c:idx val="2"/>
          <c:order val="1"/>
          <c:tx>
            <c:strRef>
              <c:f>去化周期!$D$1</c:f>
              <c:strCache>
                <c:ptCount val="1"/>
                <c:pt idx="0">
                  <c:v>商业</c:v>
                </c:pt>
              </c:strCache>
            </c:strRef>
          </c:tx>
          <c:spPr>
            <a:ln w="19050">
              <a:solidFill>
                <a:srgbClr val="7030A0"/>
              </a:solidFill>
              <a:prstDash val="solid"/>
              <a:headEnd type="none" w="med" len="med"/>
              <a:tailEnd type="none" w="med" len="med"/>
            </a:ln>
          </c:spPr>
          <c:marker>
            <c:symbol val="none"/>
          </c:marker>
          <c:cat>
            <c:multiLvlStrRef>
              <c:f>去化周期!$A$2:$B$34</c:f>
              <c:multiLvlStrCache>
                <c:ptCount val="33"/>
                <c:lvl>
                  <c:pt idx="0">
                    <c:v>1月</c:v>
                  </c:pt>
                  <c:pt idx="1">
                    <c:v>2月</c:v>
                  </c:pt>
                  <c:pt idx="2">
                    <c:v>3月</c:v>
                  </c:pt>
                  <c:pt idx="3">
                    <c:v>4月</c:v>
                  </c:pt>
                  <c:pt idx="4">
                    <c:v>5月</c:v>
                  </c:pt>
                  <c:pt idx="5">
                    <c:v>6月</c:v>
                  </c:pt>
                  <c:pt idx="6">
                    <c:v>7月</c:v>
                  </c:pt>
                  <c:pt idx="7">
                    <c:v>8月</c:v>
                  </c:pt>
                  <c:pt idx="8">
                    <c:v>9月</c:v>
                  </c:pt>
                  <c:pt idx="9">
                    <c:v>10月</c:v>
                  </c:pt>
                  <c:pt idx="10">
                    <c:v>11月</c:v>
                  </c:pt>
                  <c:pt idx="11">
                    <c:v>12月</c:v>
                  </c:pt>
                  <c:pt idx="12">
                    <c:v>1月</c:v>
                  </c:pt>
                  <c:pt idx="13">
                    <c:v>2月</c:v>
                  </c:pt>
                  <c:pt idx="14">
                    <c:v>3月</c:v>
                  </c:pt>
                  <c:pt idx="15">
                    <c:v>4月</c:v>
                  </c:pt>
                  <c:pt idx="16">
                    <c:v>5月</c:v>
                  </c:pt>
                  <c:pt idx="17">
                    <c:v>6月</c:v>
                  </c:pt>
                  <c:pt idx="18">
                    <c:v>7月</c:v>
                  </c:pt>
                  <c:pt idx="19">
                    <c:v>8月</c:v>
                  </c:pt>
                  <c:pt idx="20">
                    <c:v>9月</c:v>
                  </c:pt>
                  <c:pt idx="21">
                    <c:v>10月</c:v>
                  </c:pt>
                  <c:pt idx="22">
                    <c:v>11月</c:v>
                  </c:pt>
                  <c:pt idx="23">
                    <c:v>12月</c:v>
                  </c:pt>
                  <c:pt idx="24">
                    <c:v>1月</c:v>
                  </c:pt>
                  <c:pt idx="25">
                    <c:v>2月</c:v>
                  </c:pt>
                  <c:pt idx="26">
                    <c:v>3月</c:v>
                  </c:pt>
                  <c:pt idx="27">
                    <c:v>4月</c:v>
                  </c:pt>
                  <c:pt idx="28">
                    <c:v>5月</c:v>
                  </c:pt>
                  <c:pt idx="29">
                    <c:v>6月</c:v>
                  </c:pt>
                  <c:pt idx="30">
                    <c:v>7月</c:v>
                  </c:pt>
                  <c:pt idx="31">
                    <c:v>8月</c:v>
                  </c:pt>
                  <c:pt idx="32">
                    <c:v>9月</c:v>
                  </c:pt>
                </c:lvl>
                <c:lvl>
                  <c:pt idx="0">
                    <c:v>2014年</c:v>
                  </c:pt>
                  <c:pt idx="12">
                    <c:v>2015年</c:v>
                  </c:pt>
                  <c:pt idx="24">
                    <c:v>2016年</c:v>
                  </c:pt>
                </c:lvl>
              </c:multiLvlStrCache>
            </c:multiLvlStrRef>
          </c:cat>
          <c:val>
            <c:numRef>
              <c:f>去化周期!$D$2:$D$34</c:f>
              <c:numCache>
                <c:formatCode>0.0_ </c:formatCode>
                <c:ptCount val="33"/>
                <c:pt idx="0">
                  <c:v>40.337852693294252</c:v>
                </c:pt>
                <c:pt idx="1">
                  <c:v>40.806236080178174</c:v>
                </c:pt>
                <c:pt idx="2">
                  <c:v>42.209726443768993</c:v>
                </c:pt>
                <c:pt idx="3">
                  <c:v>42.256195196340066</c:v>
                </c:pt>
                <c:pt idx="4">
                  <c:v>42.375</c:v>
                </c:pt>
                <c:pt idx="5">
                  <c:v>42.042037492899077</c:v>
                </c:pt>
                <c:pt idx="6">
                  <c:v>41.930352045670787</c:v>
                </c:pt>
                <c:pt idx="7">
                  <c:v>45.346770876182639</c:v>
                </c:pt>
                <c:pt idx="8">
                  <c:v>46.239294710327457</c:v>
                </c:pt>
                <c:pt idx="9">
                  <c:v>48.793671720500988</c:v>
                </c:pt>
                <c:pt idx="10">
                  <c:v>52.790424782914812</c:v>
                </c:pt>
                <c:pt idx="11">
                  <c:v>56.306337166625887</c:v>
                </c:pt>
                <c:pt idx="12">
                  <c:v>59.56190962471279</c:v>
                </c:pt>
                <c:pt idx="13">
                  <c:v>59.71303677037799</c:v>
                </c:pt>
                <c:pt idx="14">
                  <c:v>61.937632135306558</c:v>
                </c:pt>
                <c:pt idx="15">
                  <c:v>65.755610972568576</c:v>
                </c:pt>
                <c:pt idx="16">
                  <c:v>65.764969222160047</c:v>
                </c:pt>
                <c:pt idx="17">
                  <c:v>68.494773519163758</c:v>
                </c:pt>
                <c:pt idx="18">
                  <c:v>69.994768962510904</c:v>
                </c:pt>
                <c:pt idx="19">
                  <c:v>64.435418359057678</c:v>
                </c:pt>
                <c:pt idx="20">
                  <c:v>62.636315510852306</c:v>
                </c:pt>
                <c:pt idx="21">
                  <c:v>64.169043297899918</c:v>
                </c:pt>
                <c:pt idx="22">
                  <c:v>59.033707865168537</c:v>
                </c:pt>
                <c:pt idx="23">
                  <c:v>52.464758650149506</c:v>
                </c:pt>
                <c:pt idx="24">
                  <c:v>54.351340206185561</c:v>
                </c:pt>
                <c:pt idx="25">
                  <c:v>54.347826086956523</c:v>
                </c:pt>
                <c:pt idx="26">
                  <c:v>48.964608433734938</c:v>
                </c:pt>
                <c:pt idx="27">
                  <c:v>42.643102601865486</c:v>
                </c:pt>
                <c:pt idx="28">
                  <c:v>42.118128839187271</c:v>
                </c:pt>
                <c:pt idx="29">
                  <c:v>39.877632327831535</c:v>
                </c:pt>
                <c:pt idx="30">
                  <c:v>37.992513368983957</c:v>
                </c:pt>
                <c:pt idx="31">
                  <c:v>32.629989212513486</c:v>
                </c:pt>
                <c:pt idx="32">
                  <c:v>31.011824130409828</c:v>
                </c:pt>
              </c:numCache>
            </c:numRef>
          </c:val>
          <c:smooth val="0"/>
          <c:extLst>
            <c:ext xmlns:c16="http://schemas.microsoft.com/office/drawing/2014/chart" uri="{C3380CC4-5D6E-409C-BE32-E72D297353CC}">
              <c16:uniqueId val="{00000001-2639-430B-A155-F9D44901BD9D}"/>
            </c:ext>
          </c:extLst>
        </c:ser>
        <c:ser>
          <c:idx val="0"/>
          <c:order val="2"/>
          <c:tx>
            <c:strRef>
              <c:f>去化周期!$E$1</c:f>
              <c:strCache>
                <c:ptCount val="1"/>
                <c:pt idx="0">
                  <c:v>普通住宅</c:v>
                </c:pt>
              </c:strCache>
            </c:strRef>
          </c:tx>
          <c:spPr>
            <a:ln w="22225">
              <a:solidFill>
                <a:srgbClr val="F79646">
                  <a:lumMod val="75000"/>
                </a:srgbClr>
              </a:solidFill>
            </a:ln>
          </c:spPr>
          <c:marker>
            <c:symbol val="none"/>
          </c:marker>
          <c:cat>
            <c:multiLvlStrRef>
              <c:f>去化周期!$A$2:$B$34</c:f>
              <c:multiLvlStrCache>
                <c:ptCount val="33"/>
                <c:lvl>
                  <c:pt idx="0">
                    <c:v>1月</c:v>
                  </c:pt>
                  <c:pt idx="1">
                    <c:v>2月</c:v>
                  </c:pt>
                  <c:pt idx="2">
                    <c:v>3月</c:v>
                  </c:pt>
                  <c:pt idx="3">
                    <c:v>4月</c:v>
                  </c:pt>
                  <c:pt idx="4">
                    <c:v>5月</c:v>
                  </c:pt>
                  <c:pt idx="5">
                    <c:v>6月</c:v>
                  </c:pt>
                  <c:pt idx="6">
                    <c:v>7月</c:v>
                  </c:pt>
                  <c:pt idx="7">
                    <c:v>8月</c:v>
                  </c:pt>
                  <c:pt idx="8">
                    <c:v>9月</c:v>
                  </c:pt>
                  <c:pt idx="9">
                    <c:v>10月</c:v>
                  </c:pt>
                  <c:pt idx="10">
                    <c:v>11月</c:v>
                  </c:pt>
                  <c:pt idx="11">
                    <c:v>12月</c:v>
                  </c:pt>
                  <c:pt idx="12">
                    <c:v>1月</c:v>
                  </c:pt>
                  <c:pt idx="13">
                    <c:v>2月</c:v>
                  </c:pt>
                  <c:pt idx="14">
                    <c:v>3月</c:v>
                  </c:pt>
                  <c:pt idx="15">
                    <c:v>4月</c:v>
                  </c:pt>
                  <c:pt idx="16">
                    <c:v>5月</c:v>
                  </c:pt>
                  <c:pt idx="17">
                    <c:v>6月</c:v>
                  </c:pt>
                  <c:pt idx="18">
                    <c:v>7月</c:v>
                  </c:pt>
                  <c:pt idx="19">
                    <c:v>8月</c:v>
                  </c:pt>
                  <c:pt idx="20">
                    <c:v>9月</c:v>
                  </c:pt>
                  <c:pt idx="21">
                    <c:v>10月</c:v>
                  </c:pt>
                  <c:pt idx="22">
                    <c:v>11月</c:v>
                  </c:pt>
                  <c:pt idx="23">
                    <c:v>12月</c:v>
                  </c:pt>
                  <c:pt idx="24">
                    <c:v>1月</c:v>
                  </c:pt>
                  <c:pt idx="25">
                    <c:v>2月</c:v>
                  </c:pt>
                  <c:pt idx="26">
                    <c:v>3月</c:v>
                  </c:pt>
                  <c:pt idx="27">
                    <c:v>4月</c:v>
                  </c:pt>
                  <c:pt idx="28">
                    <c:v>5月</c:v>
                  </c:pt>
                  <c:pt idx="29">
                    <c:v>6月</c:v>
                  </c:pt>
                  <c:pt idx="30">
                    <c:v>7月</c:v>
                  </c:pt>
                  <c:pt idx="31">
                    <c:v>8月</c:v>
                  </c:pt>
                  <c:pt idx="32">
                    <c:v>9月</c:v>
                  </c:pt>
                </c:lvl>
                <c:lvl>
                  <c:pt idx="0">
                    <c:v>2014年</c:v>
                  </c:pt>
                  <c:pt idx="12">
                    <c:v>2015年</c:v>
                  </c:pt>
                  <c:pt idx="24">
                    <c:v>2016年</c:v>
                  </c:pt>
                </c:lvl>
              </c:multiLvlStrCache>
            </c:multiLvlStrRef>
          </c:cat>
          <c:val>
            <c:numRef>
              <c:f>去化周期!$E$2:$E$34</c:f>
              <c:numCache>
                <c:formatCode>0.0_ </c:formatCode>
                <c:ptCount val="33"/>
                <c:pt idx="0">
                  <c:v>7.4965093432548811</c:v>
                </c:pt>
                <c:pt idx="1">
                  <c:v>7.8840345121616355</c:v>
                </c:pt>
                <c:pt idx="2">
                  <c:v>9.3392312005482534</c:v>
                </c:pt>
                <c:pt idx="3">
                  <c:v>10.457239947139891</c:v>
                </c:pt>
                <c:pt idx="4">
                  <c:v>12.356845942316301</c:v>
                </c:pt>
                <c:pt idx="5">
                  <c:v>14.05478742685516</c:v>
                </c:pt>
                <c:pt idx="6">
                  <c:v>14.628561013396519</c:v>
                </c:pt>
                <c:pt idx="7">
                  <c:v>16.669309947459912</c:v>
                </c:pt>
                <c:pt idx="8">
                  <c:v>18.291983122362868</c:v>
                </c:pt>
                <c:pt idx="9">
                  <c:v>18.872956876091532</c:v>
                </c:pt>
                <c:pt idx="10">
                  <c:v>18.762726374711885</c:v>
                </c:pt>
                <c:pt idx="11">
                  <c:v>18.336991272790115</c:v>
                </c:pt>
                <c:pt idx="12">
                  <c:v>18.092676291193118</c:v>
                </c:pt>
                <c:pt idx="13">
                  <c:v>17.85174018483319</c:v>
                </c:pt>
                <c:pt idx="14">
                  <c:v>18.744555824403733</c:v>
                </c:pt>
                <c:pt idx="15">
                  <c:v>18.621472091883184</c:v>
                </c:pt>
                <c:pt idx="16">
                  <c:v>18.014026402640265</c:v>
                </c:pt>
                <c:pt idx="17">
                  <c:v>17.195702457900087</c:v>
                </c:pt>
                <c:pt idx="18">
                  <c:v>14.819267123152516</c:v>
                </c:pt>
                <c:pt idx="19">
                  <c:v>14.207102631881392</c:v>
                </c:pt>
                <c:pt idx="20">
                  <c:v>14.410585953838549</c:v>
                </c:pt>
                <c:pt idx="21">
                  <c:v>14.232773060705828</c:v>
                </c:pt>
                <c:pt idx="22">
                  <c:v>14.265688159805347</c:v>
                </c:pt>
                <c:pt idx="23">
                  <c:v>13.73232903865213</c:v>
                </c:pt>
                <c:pt idx="24">
                  <c:v>14.018113117015535</c:v>
                </c:pt>
                <c:pt idx="25">
                  <c:v>13.917037806315033</c:v>
                </c:pt>
                <c:pt idx="26">
                  <c:v>12.700607843896396</c:v>
                </c:pt>
                <c:pt idx="27">
                  <c:v>11.836149513568868</c:v>
                </c:pt>
                <c:pt idx="28">
                  <c:v>12.202002883528815</c:v>
                </c:pt>
                <c:pt idx="29">
                  <c:v>12.539721339525789</c:v>
                </c:pt>
                <c:pt idx="30">
                  <c:v>13.308100409471246</c:v>
                </c:pt>
                <c:pt idx="31">
                  <c:v>13.445751053916133</c:v>
                </c:pt>
                <c:pt idx="32">
                  <c:v>12.736310424682264</c:v>
                </c:pt>
              </c:numCache>
            </c:numRef>
          </c:val>
          <c:smooth val="0"/>
          <c:extLst>
            <c:ext xmlns:c16="http://schemas.microsoft.com/office/drawing/2014/chart" uri="{C3380CC4-5D6E-409C-BE32-E72D297353CC}">
              <c16:uniqueId val="{00000002-2639-430B-A155-F9D44901BD9D}"/>
            </c:ext>
          </c:extLst>
        </c:ser>
        <c:ser>
          <c:idx val="3"/>
          <c:order val="3"/>
          <c:tx>
            <c:strRef>
              <c:f>去化周期!$F$1</c:f>
              <c:strCache>
                <c:ptCount val="1"/>
                <c:pt idx="0">
                  <c:v>别墅</c:v>
                </c:pt>
              </c:strCache>
            </c:strRef>
          </c:tx>
          <c:spPr>
            <a:ln w="22225">
              <a:solidFill>
                <a:srgbClr val="8064A2"/>
              </a:solidFill>
            </a:ln>
          </c:spPr>
          <c:marker>
            <c:symbol val="none"/>
          </c:marker>
          <c:cat>
            <c:multiLvlStrRef>
              <c:f>去化周期!$A$2:$B$34</c:f>
              <c:multiLvlStrCache>
                <c:ptCount val="33"/>
                <c:lvl>
                  <c:pt idx="0">
                    <c:v>1月</c:v>
                  </c:pt>
                  <c:pt idx="1">
                    <c:v>2月</c:v>
                  </c:pt>
                  <c:pt idx="2">
                    <c:v>3月</c:v>
                  </c:pt>
                  <c:pt idx="3">
                    <c:v>4月</c:v>
                  </c:pt>
                  <c:pt idx="4">
                    <c:v>5月</c:v>
                  </c:pt>
                  <c:pt idx="5">
                    <c:v>6月</c:v>
                  </c:pt>
                  <c:pt idx="6">
                    <c:v>7月</c:v>
                  </c:pt>
                  <c:pt idx="7">
                    <c:v>8月</c:v>
                  </c:pt>
                  <c:pt idx="8">
                    <c:v>9月</c:v>
                  </c:pt>
                  <c:pt idx="9">
                    <c:v>10月</c:v>
                  </c:pt>
                  <c:pt idx="10">
                    <c:v>11月</c:v>
                  </c:pt>
                  <c:pt idx="11">
                    <c:v>12月</c:v>
                  </c:pt>
                  <c:pt idx="12">
                    <c:v>1月</c:v>
                  </c:pt>
                  <c:pt idx="13">
                    <c:v>2月</c:v>
                  </c:pt>
                  <c:pt idx="14">
                    <c:v>3月</c:v>
                  </c:pt>
                  <c:pt idx="15">
                    <c:v>4月</c:v>
                  </c:pt>
                  <c:pt idx="16">
                    <c:v>5月</c:v>
                  </c:pt>
                  <c:pt idx="17">
                    <c:v>6月</c:v>
                  </c:pt>
                  <c:pt idx="18">
                    <c:v>7月</c:v>
                  </c:pt>
                  <c:pt idx="19">
                    <c:v>8月</c:v>
                  </c:pt>
                  <c:pt idx="20">
                    <c:v>9月</c:v>
                  </c:pt>
                  <c:pt idx="21">
                    <c:v>10月</c:v>
                  </c:pt>
                  <c:pt idx="22">
                    <c:v>11月</c:v>
                  </c:pt>
                  <c:pt idx="23">
                    <c:v>12月</c:v>
                  </c:pt>
                  <c:pt idx="24">
                    <c:v>1月</c:v>
                  </c:pt>
                  <c:pt idx="25">
                    <c:v>2月</c:v>
                  </c:pt>
                  <c:pt idx="26">
                    <c:v>3月</c:v>
                  </c:pt>
                  <c:pt idx="27">
                    <c:v>4月</c:v>
                  </c:pt>
                  <c:pt idx="28">
                    <c:v>5月</c:v>
                  </c:pt>
                  <c:pt idx="29">
                    <c:v>6月</c:v>
                  </c:pt>
                  <c:pt idx="30">
                    <c:v>7月</c:v>
                  </c:pt>
                  <c:pt idx="31">
                    <c:v>8月</c:v>
                  </c:pt>
                  <c:pt idx="32">
                    <c:v>9月</c:v>
                  </c:pt>
                </c:lvl>
                <c:lvl>
                  <c:pt idx="0">
                    <c:v>2014年</c:v>
                  </c:pt>
                  <c:pt idx="12">
                    <c:v>2015年</c:v>
                  </c:pt>
                  <c:pt idx="24">
                    <c:v>2016年</c:v>
                  </c:pt>
                </c:lvl>
              </c:multiLvlStrCache>
            </c:multiLvlStrRef>
          </c:cat>
          <c:val>
            <c:numRef>
              <c:f>去化周期!$F$2:$F$34</c:f>
              <c:numCache>
                <c:formatCode>0.0_ </c:formatCode>
                <c:ptCount val="33"/>
                <c:pt idx="0">
                  <c:v>19.897684064984446</c:v>
                </c:pt>
                <c:pt idx="1">
                  <c:v>21.218124341412011</c:v>
                </c:pt>
                <c:pt idx="2">
                  <c:v>23.939372067845543</c:v>
                </c:pt>
                <c:pt idx="3">
                  <c:v>26.668166479190102</c:v>
                </c:pt>
                <c:pt idx="4">
                  <c:v>30.831659300924066</c:v>
                </c:pt>
                <c:pt idx="5">
                  <c:v>33.86159169550173</c:v>
                </c:pt>
                <c:pt idx="6">
                  <c:v>34.803738317757009</c:v>
                </c:pt>
                <c:pt idx="7">
                  <c:v>37.609756097560975</c:v>
                </c:pt>
                <c:pt idx="8">
                  <c:v>41.77709923664122</c:v>
                </c:pt>
                <c:pt idx="9">
                  <c:v>43.067018469656993</c:v>
                </c:pt>
                <c:pt idx="10">
                  <c:v>46.759299781181618</c:v>
                </c:pt>
                <c:pt idx="11">
                  <c:v>47.615008156606855</c:v>
                </c:pt>
                <c:pt idx="12">
                  <c:v>47.961017866811048</c:v>
                </c:pt>
                <c:pt idx="13">
                  <c:v>47.651050080775441</c:v>
                </c:pt>
                <c:pt idx="14">
                  <c:v>50.71869539895166</c:v>
                </c:pt>
                <c:pt idx="15">
                  <c:v>48.209695603156703</c:v>
                </c:pt>
                <c:pt idx="16">
                  <c:v>45.346452615225274</c:v>
                </c:pt>
                <c:pt idx="17">
                  <c:v>38.729705619982155</c:v>
                </c:pt>
                <c:pt idx="18">
                  <c:v>39.409429280397021</c:v>
                </c:pt>
                <c:pt idx="19">
                  <c:v>38.145276627775687</c:v>
                </c:pt>
                <c:pt idx="20">
                  <c:v>35.795050540257925</c:v>
                </c:pt>
                <c:pt idx="21">
                  <c:v>35.387508394895903</c:v>
                </c:pt>
                <c:pt idx="22">
                  <c:v>33.52842497670084</c:v>
                </c:pt>
                <c:pt idx="23">
                  <c:v>27.944933920704845</c:v>
                </c:pt>
                <c:pt idx="24">
                  <c:v>27.853326348873754</c:v>
                </c:pt>
                <c:pt idx="25">
                  <c:v>26.287015945330296</c:v>
                </c:pt>
                <c:pt idx="26">
                  <c:v>23.980378416257885</c:v>
                </c:pt>
                <c:pt idx="27">
                  <c:v>22.72620050547599</c:v>
                </c:pt>
                <c:pt idx="28">
                  <c:v>20.247366367538042</c:v>
                </c:pt>
                <c:pt idx="29">
                  <c:v>16.980378416257881</c:v>
                </c:pt>
                <c:pt idx="30">
                  <c:v>16.360419397116644</c:v>
                </c:pt>
                <c:pt idx="31">
                  <c:v>14.768941176470587</c:v>
                </c:pt>
                <c:pt idx="32">
                  <c:v>13.452969224100563</c:v>
                </c:pt>
              </c:numCache>
            </c:numRef>
          </c:val>
          <c:smooth val="0"/>
          <c:extLst>
            <c:ext xmlns:c16="http://schemas.microsoft.com/office/drawing/2014/chart" uri="{C3380CC4-5D6E-409C-BE32-E72D297353CC}">
              <c16:uniqueId val="{00000003-2639-430B-A155-F9D44901BD9D}"/>
            </c:ext>
          </c:extLst>
        </c:ser>
        <c:ser>
          <c:idx val="4"/>
          <c:order val="4"/>
          <c:tx>
            <c:strRef>
              <c:f>去化周期!$G$1</c:f>
              <c:strCache>
                <c:ptCount val="1"/>
                <c:pt idx="0">
                  <c:v>公寓</c:v>
                </c:pt>
              </c:strCache>
            </c:strRef>
          </c:tx>
          <c:spPr>
            <a:ln w="38100">
              <a:solidFill>
                <a:srgbClr val="FF0000"/>
              </a:solidFill>
            </a:ln>
          </c:spPr>
          <c:marker>
            <c:symbol val="none"/>
          </c:marker>
          <c:dPt>
            <c:idx val="24"/>
            <c:marker>
              <c:symbol val="triangle"/>
              <c:size val="8"/>
              <c:spPr>
                <a:solidFill>
                  <a:srgbClr val="FF0000"/>
                </a:solidFill>
                <a:ln>
                  <a:solidFill>
                    <a:sysClr val="window" lastClr="FFFFFF"/>
                  </a:solidFill>
                </a:ln>
              </c:spPr>
            </c:marker>
            <c:bubble3D val="0"/>
            <c:extLst>
              <c:ext xmlns:c16="http://schemas.microsoft.com/office/drawing/2014/chart" uri="{C3380CC4-5D6E-409C-BE32-E72D297353CC}">
                <c16:uniqueId val="{00000004-2639-430B-A155-F9D44901BD9D}"/>
              </c:ext>
            </c:extLst>
          </c:dPt>
          <c:dPt>
            <c:idx val="32"/>
            <c:marker>
              <c:symbol val="triangle"/>
              <c:size val="7"/>
              <c:spPr>
                <a:solidFill>
                  <a:srgbClr val="FF0000"/>
                </a:solidFill>
                <a:ln>
                  <a:solidFill>
                    <a:sysClr val="window" lastClr="FFFFFF"/>
                  </a:solidFill>
                </a:ln>
              </c:spPr>
            </c:marker>
            <c:bubble3D val="0"/>
            <c:extLst>
              <c:ext xmlns:c16="http://schemas.microsoft.com/office/drawing/2014/chart" uri="{C3380CC4-5D6E-409C-BE32-E72D297353CC}">
                <c16:uniqueId val="{00000005-2639-430B-A155-F9D44901BD9D}"/>
              </c:ext>
            </c:extLst>
          </c:dPt>
          <c:dLbls>
            <c:dLbl>
              <c:idx val="24"/>
              <c:layout>
                <c:manualLayout>
                  <c:x val="-5.4505953772794678E-2"/>
                  <c:y val="-7.6190476190476197E-2"/>
                </c:manualLayout>
              </c:layout>
              <c:spPr/>
              <c:txPr>
                <a:bodyPr/>
                <a:lstStyle/>
                <a:p>
                  <a:pPr>
                    <a:defRPr sz="1600" b="1">
                      <a:latin typeface="+mj-ea"/>
                      <a:ea typeface="+mj-ea"/>
                    </a:defRPr>
                  </a:pPr>
                  <a:endParaRPr lang="zh-CN"/>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2639-430B-A155-F9D44901BD9D}"/>
                </c:ext>
              </c:extLst>
            </c:dLbl>
            <c:dLbl>
              <c:idx val="32"/>
              <c:layout>
                <c:manualLayout>
                  <c:x val="-2.819273471006635E-2"/>
                  <c:y val="-9.5238095238095233E-2"/>
                </c:manualLayout>
              </c:layout>
              <c:spPr/>
              <c:txPr>
                <a:bodyPr/>
                <a:lstStyle/>
                <a:p>
                  <a:pPr>
                    <a:defRPr sz="1400" b="1">
                      <a:latin typeface="+mj-ea"/>
                      <a:ea typeface="+mj-ea"/>
                    </a:defRPr>
                  </a:pPr>
                  <a:endParaRPr lang="zh-CN"/>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2639-430B-A155-F9D44901BD9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multiLvlStrRef>
              <c:f>去化周期!$A$2:$B$34</c:f>
              <c:multiLvlStrCache>
                <c:ptCount val="33"/>
                <c:lvl>
                  <c:pt idx="0">
                    <c:v>1月</c:v>
                  </c:pt>
                  <c:pt idx="1">
                    <c:v>2月</c:v>
                  </c:pt>
                  <c:pt idx="2">
                    <c:v>3月</c:v>
                  </c:pt>
                  <c:pt idx="3">
                    <c:v>4月</c:v>
                  </c:pt>
                  <c:pt idx="4">
                    <c:v>5月</c:v>
                  </c:pt>
                  <c:pt idx="5">
                    <c:v>6月</c:v>
                  </c:pt>
                  <c:pt idx="6">
                    <c:v>7月</c:v>
                  </c:pt>
                  <c:pt idx="7">
                    <c:v>8月</c:v>
                  </c:pt>
                  <c:pt idx="8">
                    <c:v>9月</c:v>
                  </c:pt>
                  <c:pt idx="9">
                    <c:v>10月</c:v>
                  </c:pt>
                  <c:pt idx="10">
                    <c:v>11月</c:v>
                  </c:pt>
                  <c:pt idx="11">
                    <c:v>12月</c:v>
                  </c:pt>
                  <c:pt idx="12">
                    <c:v>1月</c:v>
                  </c:pt>
                  <c:pt idx="13">
                    <c:v>2月</c:v>
                  </c:pt>
                  <c:pt idx="14">
                    <c:v>3月</c:v>
                  </c:pt>
                  <c:pt idx="15">
                    <c:v>4月</c:v>
                  </c:pt>
                  <c:pt idx="16">
                    <c:v>5月</c:v>
                  </c:pt>
                  <c:pt idx="17">
                    <c:v>6月</c:v>
                  </c:pt>
                  <c:pt idx="18">
                    <c:v>7月</c:v>
                  </c:pt>
                  <c:pt idx="19">
                    <c:v>8月</c:v>
                  </c:pt>
                  <c:pt idx="20">
                    <c:v>9月</c:v>
                  </c:pt>
                  <c:pt idx="21">
                    <c:v>10月</c:v>
                  </c:pt>
                  <c:pt idx="22">
                    <c:v>11月</c:v>
                  </c:pt>
                  <c:pt idx="23">
                    <c:v>12月</c:v>
                  </c:pt>
                  <c:pt idx="24">
                    <c:v>1月</c:v>
                  </c:pt>
                  <c:pt idx="25">
                    <c:v>2月</c:v>
                  </c:pt>
                  <c:pt idx="26">
                    <c:v>3月</c:v>
                  </c:pt>
                  <c:pt idx="27">
                    <c:v>4月</c:v>
                  </c:pt>
                  <c:pt idx="28">
                    <c:v>5月</c:v>
                  </c:pt>
                  <c:pt idx="29">
                    <c:v>6月</c:v>
                  </c:pt>
                  <c:pt idx="30">
                    <c:v>7月</c:v>
                  </c:pt>
                  <c:pt idx="31">
                    <c:v>8月</c:v>
                  </c:pt>
                  <c:pt idx="32">
                    <c:v>9月</c:v>
                  </c:pt>
                </c:lvl>
                <c:lvl>
                  <c:pt idx="0">
                    <c:v>2014年</c:v>
                  </c:pt>
                  <c:pt idx="12">
                    <c:v>2015年</c:v>
                  </c:pt>
                  <c:pt idx="24">
                    <c:v>2016年</c:v>
                  </c:pt>
                </c:lvl>
              </c:multiLvlStrCache>
            </c:multiLvlStrRef>
          </c:cat>
          <c:val>
            <c:numRef>
              <c:f>去化周期!$G$2:$G$34</c:f>
              <c:numCache>
                <c:formatCode>0.0_ </c:formatCode>
                <c:ptCount val="33"/>
                <c:pt idx="0">
                  <c:v>10.819714563036991</c:v>
                </c:pt>
                <c:pt idx="1">
                  <c:v>11.046239635007424</c:v>
                </c:pt>
                <c:pt idx="2">
                  <c:v>12.159096489074392</c:v>
                </c:pt>
                <c:pt idx="3">
                  <c:v>14.567810310759834</c:v>
                </c:pt>
                <c:pt idx="4">
                  <c:v>15.689007006523315</c:v>
                </c:pt>
                <c:pt idx="5">
                  <c:v>15.900293255131965</c:v>
                </c:pt>
                <c:pt idx="6">
                  <c:v>16.796355353075171</c:v>
                </c:pt>
                <c:pt idx="7">
                  <c:v>18.478118045989191</c:v>
                </c:pt>
                <c:pt idx="8">
                  <c:v>20.104760847852624</c:v>
                </c:pt>
                <c:pt idx="9">
                  <c:v>23.026967122275583</c:v>
                </c:pt>
                <c:pt idx="10">
                  <c:v>27.299062312961365</c:v>
                </c:pt>
                <c:pt idx="11">
                  <c:v>34.384579366318093</c:v>
                </c:pt>
                <c:pt idx="12">
                  <c:v>44.042157470551771</c:v>
                </c:pt>
                <c:pt idx="13">
                  <c:v>45.406267179769102</c:v>
                </c:pt>
                <c:pt idx="14">
                  <c:v>46.507139524031736</c:v>
                </c:pt>
                <c:pt idx="15">
                  <c:v>47.301756051257712</c:v>
                </c:pt>
                <c:pt idx="16">
                  <c:v>49.338003502626968</c:v>
                </c:pt>
                <c:pt idx="17">
                  <c:v>49.337423312883438</c:v>
                </c:pt>
                <c:pt idx="18">
                  <c:v>48.176228100309167</c:v>
                </c:pt>
                <c:pt idx="19">
                  <c:v>40.285100901674539</c:v>
                </c:pt>
                <c:pt idx="20">
                  <c:v>36.233214169645763</c:v>
                </c:pt>
                <c:pt idx="21">
                  <c:v>35.644966161585913</c:v>
                </c:pt>
                <c:pt idx="22">
                  <c:v>32.255350867852201</c:v>
                </c:pt>
                <c:pt idx="23">
                  <c:v>28.054536304158848</c:v>
                </c:pt>
                <c:pt idx="24">
                  <c:v>26.432701724505005</c:v>
                </c:pt>
                <c:pt idx="25">
                  <c:v>25.348247576435497</c:v>
                </c:pt>
                <c:pt idx="26">
                  <c:v>23.032521489971348</c:v>
                </c:pt>
                <c:pt idx="27">
                  <c:v>15.703243729062832</c:v>
                </c:pt>
                <c:pt idx="28">
                  <c:v>14.53632323029405</c:v>
                </c:pt>
                <c:pt idx="29">
                  <c:v>10.733907140259426</c:v>
                </c:pt>
                <c:pt idx="30">
                  <c:v>9.8477615223847756</c:v>
                </c:pt>
                <c:pt idx="31">
                  <c:v>8.8647155680671368</c:v>
                </c:pt>
                <c:pt idx="32">
                  <c:v>6.9532498227369413</c:v>
                </c:pt>
              </c:numCache>
            </c:numRef>
          </c:val>
          <c:smooth val="0"/>
          <c:extLst>
            <c:ext xmlns:c16="http://schemas.microsoft.com/office/drawing/2014/chart" uri="{C3380CC4-5D6E-409C-BE32-E72D297353CC}">
              <c16:uniqueId val="{00000006-2639-430B-A155-F9D44901BD9D}"/>
            </c:ext>
          </c:extLst>
        </c:ser>
        <c:dLbls>
          <c:showLegendKey val="0"/>
          <c:showVal val="0"/>
          <c:showCatName val="0"/>
          <c:showSerName val="0"/>
          <c:showPercent val="0"/>
          <c:showBubbleSize val="0"/>
        </c:dLbls>
        <c:smooth val="0"/>
        <c:axId val="241911680"/>
        <c:axId val="241913216"/>
      </c:lineChart>
      <c:catAx>
        <c:axId val="241911680"/>
        <c:scaling>
          <c:orientation val="minMax"/>
        </c:scaling>
        <c:delete val="0"/>
        <c:axPos val="b"/>
        <c:majorGridlines>
          <c:spPr>
            <a:ln>
              <a:solidFill>
                <a:schemeClr val="bg1">
                  <a:lumMod val="95000"/>
                </a:schemeClr>
              </a:solidFill>
            </a:ln>
          </c:spPr>
        </c:majorGridlines>
        <c:numFmt formatCode="General" sourceLinked="0"/>
        <c:majorTickMark val="out"/>
        <c:minorTickMark val="none"/>
        <c:tickLblPos val="nextTo"/>
        <c:spPr>
          <a:ln>
            <a:solidFill>
              <a:sysClr val="window" lastClr="FFFFFF">
                <a:lumMod val="85000"/>
              </a:sysClr>
            </a:solidFill>
          </a:ln>
        </c:spPr>
        <c:txPr>
          <a:bodyPr/>
          <a:lstStyle/>
          <a:p>
            <a:pPr>
              <a:defRPr sz="900">
                <a:solidFill>
                  <a:schemeClr val="tx1"/>
                </a:solidFill>
                <a:latin typeface="微软雅黑" panose="020B0503020204020204" pitchFamily="34" charset="-122"/>
                <a:ea typeface="微软雅黑" panose="020B0503020204020204" pitchFamily="34" charset="-122"/>
              </a:defRPr>
            </a:pPr>
            <a:endParaRPr lang="zh-CN"/>
          </a:p>
        </c:txPr>
        <c:crossAx val="241913216"/>
        <c:crosses val="autoZero"/>
        <c:auto val="1"/>
        <c:lblAlgn val="ctr"/>
        <c:lblOffset val="100"/>
        <c:noMultiLvlLbl val="0"/>
      </c:catAx>
      <c:valAx>
        <c:axId val="241913216"/>
        <c:scaling>
          <c:orientation val="minMax"/>
        </c:scaling>
        <c:delete val="0"/>
        <c:axPos val="l"/>
        <c:majorGridlines>
          <c:spPr>
            <a:ln>
              <a:solidFill>
                <a:schemeClr val="bg1">
                  <a:lumMod val="95000"/>
                </a:schemeClr>
              </a:solidFill>
            </a:ln>
          </c:spPr>
        </c:majorGridlines>
        <c:title>
          <c:tx>
            <c:rich>
              <a:bodyPr rot="0" vert="horz"/>
              <a:lstStyle/>
              <a:p>
                <a:pPr>
                  <a:defRPr/>
                </a:pPr>
                <a:r>
                  <a:rPr lang="zh-CN" altLang="en-US"/>
                  <a:t>月</a:t>
                </a:r>
              </a:p>
            </c:rich>
          </c:tx>
          <c:layout>
            <c:manualLayout>
              <c:xMode val="edge"/>
              <c:yMode val="edge"/>
              <c:x val="1.3769363166953529E-2"/>
              <c:y val="0.1303010873640795"/>
            </c:manualLayout>
          </c:layout>
          <c:overlay val="0"/>
        </c:title>
        <c:numFmt formatCode="0.0_ " sourceLinked="1"/>
        <c:majorTickMark val="out"/>
        <c:minorTickMark val="in"/>
        <c:tickLblPos val="nextTo"/>
        <c:spPr>
          <a:ln>
            <a:noFill/>
          </a:ln>
        </c:spPr>
        <c:txPr>
          <a:bodyPr/>
          <a:lstStyle/>
          <a:p>
            <a:pPr>
              <a:defRPr>
                <a:solidFill>
                  <a:schemeClr val="tx1"/>
                </a:solidFill>
              </a:defRPr>
            </a:pPr>
            <a:endParaRPr lang="zh-CN"/>
          </a:p>
        </c:txPr>
        <c:crossAx val="241911680"/>
        <c:crosses val="autoZero"/>
        <c:crossBetween val="midCat"/>
      </c:valAx>
      <c:spPr>
        <a:solidFill>
          <a:sysClr val="window" lastClr="FFFFFF"/>
        </a:solidFill>
      </c:spPr>
    </c:plotArea>
    <c:legend>
      <c:legendPos val="b"/>
      <c:layout>
        <c:manualLayout>
          <c:xMode val="edge"/>
          <c:yMode val="edge"/>
          <c:x val="0.15171997880735114"/>
          <c:y val="0.17256580427446572"/>
          <c:w val="0.66092943201376941"/>
          <c:h val="9.0776152980877392E-2"/>
        </c:manualLayout>
      </c:layout>
      <c:overlay val="0"/>
      <c:txPr>
        <a:bodyPr/>
        <a:lstStyle/>
        <a:p>
          <a:pPr>
            <a:defRPr sz="1000" b="1">
              <a:solidFill>
                <a:schemeClr val="bg1">
                  <a:lumMod val="50000"/>
                </a:schemeClr>
              </a:solidFill>
              <a:latin typeface="微软雅黑" panose="020B0503020204020204" pitchFamily="34" charset="-122"/>
              <a:ea typeface="微软雅黑" panose="020B0503020204020204" pitchFamily="34" charset="-122"/>
            </a:defRPr>
          </a:pPr>
          <a:endParaRPr lang="zh-CN"/>
        </a:p>
      </c:txPr>
    </c:legend>
    <c:plotVisOnly val="1"/>
    <c:dispBlanksAs val="gap"/>
    <c:showDLblsOverMax val="0"/>
  </c:chart>
  <c:spPr>
    <a:solidFill>
      <a:sysClr val="window" lastClr="FFFFFF"/>
    </a:solidFill>
    <a:ln>
      <a:noFill/>
    </a:ln>
  </c:spPr>
  <c:externalData r:id="rId2">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0" i="0" u="none" strike="noStrike" kern="1200" spc="0" baseline="0">
                <a:solidFill>
                  <a:schemeClr val="tx1"/>
                </a:solidFill>
                <a:latin typeface="Arial" panose="020B0604020202020204" pitchFamily="34" charset="0"/>
                <a:ea typeface="微软雅黑" panose="020B0503020204020204" pitchFamily="34" charset="-122"/>
                <a:cs typeface="+mn-cs"/>
              </a:defRPr>
            </a:pPr>
            <a:r>
              <a:rPr lang="zh-CN" altLang="en-US" sz="1600" b="1">
                <a:solidFill>
                  <a:schemeClr val="tx1"/>
                </a:solidFill>
              </a:rPr>
              <a:t>北京各业态去化周期对比</a:t>
            </a:r>
          </a:p>
        </c:rich>
      </c:tx>
      <c:layout>
        <c:manualLayout>
          <c:xMode val="edge"/>
          <c:yMode val="edge"/>
          <c:x val="0.33036246583308926"/>
          <c:y val="4.6544063781407873E-2"/>
        </c:manualLayout>
      </c:layout>
      <c:overlay val="0"/>
      <c:spPr>
        <a:noFill/>
        <a:ln>
          <a:noFill/>
        </a:ln>
        <a:effectLst/>
      </c:spPr>
    </c:title>
    <c:autoTitleDeleted val="0"/>
    <c:plotArea>
      <c:layout>
        <c:manualLayout>
          <c:layoutTarget val="inner"/>
          <c:xMode val="edge"/>
          <c:yMode val="edge"/>
          <c:x val="5.9327409761853162E-2"/>
          <c:y val="0.25992875890513684"/>
          <c:w val="0.89658471435031972"/>
          <c:h val="0.5470605265250934"/>
        </c:manualLayout>
      </c:layout>
      <c:barChart>
        <c:barDir val="col"/>
        <c:grouping val="clustered"/>
        <c:varyColors val="0"/>
        <c:ser>
          <c:idx val="0"/>
          <c:order val="0"/>
          <c:tx>
            <c:strRef>
              <c:f>去化周期!$A$37</c:f>
              <c:strCache>
                <c:ptCount val="1"/>
                <c:pt idx="0">
                  <c:v>2016年8月</c:v>
                </c:pt>
              </c:strCache>
            </c:strRef>
          </c:tx>
          <c:spPr>
            <a:solidFill>
              <a:srgbClr val="1F497D">
                <a:lumMod val="60000"/>
                <a:lumOff val="40000"/>
              </a:srgbClr>
            </a:solidFill>
            <a:ln w="31750" cap="rnd">
              <a:solidFill>
                <a:srgbClr val="3B95D2"/>
              </a:solidFill>
              <a:round/>
            </a:ln>
            <a:effectLst>
              <a:outerShdw blurRad="38100" dist="38100" dir="5400000" algn="t" rotWithShape="0">
                <a:srgbClr val="717171">
                  <a:alpha val="40000"/>
                </a:srgbClr>
              </a:outerShdw>
            </a:effectLst>
          </c:spPr>
          <c:invertIfNegative val="0"/>
          <c:dLbls>
            <c:dLbl>
              <c:idx val="2"/>
              <c:layout>
                <c:manualLayout>
                  <c:x val="-2.185792349726776E-3"/>
                  <c:y val="1.2121212121212121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F8A-4049-B089-277D9F3A8F19}"/>
                </c:ext>
              </c:extLst>
            </c:dLbl>
            <c:dLbl>
              <c:idx val="3"/>
              <c:layout>
                <c:manualLayout>
                  <c:x val="0"/>
                  <c:y val="1.616161616161616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F8A-4049-B089-277D9F3A8F19}"/>
                </c:ext>
              </c:extLst>
            </c:dLbl>
            <c:dLbl>
              <c:idx val="4"/>
              <c:layout>
                <c:manualLayout>
                  <c:x val="-8.014479365048651E-17"/>
                  <c:y val="2.424242424242424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EF8A-4049-B089-277D9F3A8F19}"/>
                </c:ext>
              </c:extLst>
            </c:dLbl>
            <c:spPr>
              <a:noFill/>
              <a:ln>
                <a:noFill/>
              </a:ln>
              <a:effectLst/>
            </c:spPr>
            <c:txPr>
              <a:bodyPr/>
              <a:lstStyle/>
              <a:p>
                <a:pPr>
                  <a:defRPr sz="900" b="1">
                    <a:latin typeface="微软雅黑" pitchFamily="34" charset="-122"/>
                    <a:ea typeface="微软雅黑" pitchFamily="34" charset="-122"/>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去化周期!$B$36:$F$36</c:f>
              <c:strCache>
                <c:ptCount val="5"/>
                <c:pt idx="0">
                  <c:v>办公</c:v>
                </c:pt>
                <c:pt idx="1">
                  <c:v>商业</c:v>
                </c:pt>
                <c:pt idx="2">
                  <c:v>普通住宅</c:v>
                </c:pt>
                <c:pt idx="3">
                  <c:v>别墅</c:v>
                </c:pt>
                <c:pt idx="4">
                  <c:v>公寓</c:v>
                </c:pt>
              </c:strCache>
            </c:strRef>
          </c:cat>
          <c:val>
            <c:numRef>
              <c:f>去化周期!$B$37:$F$37</c:f>
              <c:numCache>
                <c:formatCode>0.0_ </c:formatCode>
                <c:ptCount val="5"/>
                <c:pt idx="0">
                  <c:v>30.064039408866996</c:v>
                </c:pt>
                <c:pt idx="1">
                  <c:v>32.629989212513486</c:v>
                </c:pt>
                <c:pt idx="2">
                  <c:v>13.445751053916133</c:v>
                </c:pt>
                <c:pt idx="3">
                  <c:v>14.768941176470587</c:v>
                </c:pt>
                <c:pt idx="4">
                  <c:v>8.8647155680671368</c:v>
                </c:pt>
              </c:numCache>
            </c:numRef>
          </c:val>
          <c:extLst>
            <c:ext xmlns:c16="http://schemas.microsoft.com/office/drawing/2014/chart" uri="{C3380CC4-5D6E-409C-BE32-E72D297353CC}">
              <c16:uniqueId val="{00000003-EF8A-4049-B089-277D9F3A8F19}"/>
            </c:ext>
          </c:extLst>
        </c:ser>
        <c:ser>
          <c:idx val="1"/>
          <c:order val="1"/>
          <c:tx>
            <c:strRef>
              <c:f>去化周期!$A$38</c:f>
              <c:strCache>
                <c:ptCount val="1"/>
                <c:pt idx="0">
                  <c:v>2016年9月</c:v>
                </c:pt>
              </c:strCache>
            </c:strRef>
          </c:tx>
          <c:spPr>
            <a:ln w="31750" cap="rnd">
              <a:solidFill>
                <a:srgbClr val="FFD966"/>
              </a:solidFill>
              <a:round/>
            </a:ln>
            <a:effectLst>
              <a:outerShdw blurRad="38100" dist="38100" dir="5400000" algn="t" rotWithShape="0">
                <a:srgbClr val="717171">
                  <a:alpha val="40000"/>
                </a:srgbClr>
              </a:outerShdw>
            </a:effectLst>
          </c:spPr>
          <c:invertIfNegative val="0"/>
          <c:dLbls>
            <c:dLbl>
              <c:idx val="0"/>
              <c:layout>
                <c:manualLayout>
                  <c:x val="0"/>
                  <c:y val="-1.6161616161616089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EF8A-4049-B089-277D9F3A8F19}"/>
                </c:ext>
              </c:extLst>
            </c:dLbl>
            <c:dLbl>
              <c:idx val="1"/>
              <c:layout>
                <c:manualLayout>
                  <c:x val="-1.7210963387682642E-7"/>
                  <c:y val="-1.2121212121212121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EF8A-4049-B089-277D9F3A8F19}"/>
                </c:ext>
              </c:extLst>
            </c:dLbl>
            <c:spPr>
              <a:noFill/>
              <a:ln>
                <a:noFill/>
              </a:ln>
              <a:effectLst/>
            </c:spPr>
            <c:txPr>
              <a:bodyPr/>
              <a:lstStyle/>
              <a:p>
                <a:pPr>
                  <a:defRPr sz="900" b="1">
                    <a:latin typeface="微软雅黑" pitchFamily="34" charset="-122"/>
                    <a:ea typeface="微软雅黑" pitchFamily="34" charset="-122"/>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去化周期!$B$36:$F$36</c:f>
              <c:strCache>
                <c:ptCount val="5"/>
                <c:pt idx="0">
                  <c:v>办公</c:v>
                </c:pt>
                <c:pt idx="1">
                  <c:v>商业</c:v>
                </c:pt>
                <c:pt idx="2">
                  <c:v>普通住宅</c:v>
                </c:pt>
                <c:pt idx="3">
                  <c:v>别墅</c:v>
                </c:pt>
                <c:pt idx="4">
                  <c:v>公寓</c:v>
                </c:pt>
              </c:strCache>
            </c:strRef>
          </c:cat>
          <c:val>
            <c:numRef>
              <c:f>去化周期!$B$38:$F$38</c:f>
              <c:numCache>
                <c:formatCode>0.0_ </c:formatCode>
                <c:ptCount val="5"/>
                <c:pt idx="0">
                  <c:v>26.479490445859874</c:v>
                </c:pt>
                <c:pt idx="1">
                  <c:v>31.011824130409828</c:v>
                </c:pt>
                <c:pt idx="2">
                  <c:v>12.736310424682264</c:v>
                </c:pt>
                <c:pt idx="3">
                  <c:v>13.452969224100563</c:v>
                </c:pt>
                <c:pt idx="4">
                  <c:v>6.9532498227369413</c:v>
                </c:pt>
              </c:numCache>
            </c:numRef>
          </c:val>
          <c:extLst>
            <c:ext xmlns:c16="http://schemas.microsoft.com/office/drawing/2014/chart" uri="{C3380CC4-5D6E-409C-BE32-E72D297353CC}">
              <c16:uniqueId val="{00000006-EF8A-4049-B089-277D9F3A8F19}"/>
            </c:ext>
          </c:extLst>
        </c:ser>
        <c:dLbls>
          <c:showLegendKey val="0"/>
          <c:showVal val="0"/>
          <c:showCatName val="0"/>
          <c:showSerName val="0"/>
          <c:showPercent val="0"/>
          <c:showBubbleSize val="0"/>
        </c:dLbls>
        <c:gapWidth val="150"/>
        <c:axId val="241964544"/>
        <c:axId val="241966080"/>
      </c:barChart>
      <c:catAx>
        <c:axId val="241964544"/>
        <c:scaling>
          <c:orientation val="minMax"/>
        </c:scaling>
        <c:delete val="0"/>
        <c:axPos val="b"/>
        <c:majorGridlines>
          <c:spPr>
            <a:ln w="12700" cap="flat" cmpd="sng" algn="ctr">
              <a:solidFill>
                <a:schemeClr val="bg1"/>
              </a:solidFill>
              <a:round/>
            </a:ln>
            <a:effectLst/>
          </c:spPr>
        </c:majorGridlines>
        <c:numFmt formatCode="General" sourceLinked="1"/>
        <c:majorTickMark val="out"/>
        <c:minorTickMark val="none"/>
        <c:tickLblPos val="nextTo"/>
        <c:spPr>
          <a:noFill/>
          <a:ln w="9525" cap="flat" cmpd="sng" algn="ctr">
            <a:solidFill>
              <a:srgbClr val="FFFFFF"/>
            </a:solidFill>
            <a:round/>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Arial" panose="020B0604020202020204" pitchFamily="34" charset="0"/>
                <a:ea typeface="微软雅黑" panose="020B0503020204020204" pitchFamily="34" charset="-122"/>
                <a:cs typeface="+mn-cs"/>
              </a:defRPr>
            </a:pPr>
            <a:endParaRPr lang="zh-CN"/>
          </a:p>
        </c:txPr>
        <c:crossAx val="241966080"/>
        <c:crosses val="autoZero"/>
        <c:auto val="1"/>
        <c:lblAlgn val="ctr"/>
        <c:lblOffset val="100"/>
        <c:tickLblSkip val="1"/>
        <c:noMultiLvlLbl val="0"/>
      </c:catAx>
      <c:valAx>
        <c:axId val="241966080"/>
        <c:scaling>
          <c:orientation val="minMax"/>
          <c:max val="45"/>
          <c:min val="0"/>
        </c:scaling>
        <c:delete val="0"/>
        <c:axPos val="l"/>
        <c:majorGridlines>
          <c:spPr>
            <a:ln w="12700" cap="flat" cmpd="sng" algn="ctr">
              <a:solidFill>
                <a:schemeClr val="bg1"/>
              </a:solidFill>
              <a:round/>
            </a:ln>
            <a:effectLst/>
          </c:spPr>
        </c:majorGridlines>
        <c:numFmt formatCode="0.0_ " sourceLinked="1"/>
        <c:majorTickMark val="out"/>
        <c:minorTickMark val="none"/>
        <c:tickLblPos val="nextTo"/>
        <c:spPr>
          <a:noFill/>
          <a:ln>
            <a:noFill/>
          </a:ln>
          <a:effectLst/>
        </c:spPr>
        <c:txPr>
          <a:bodyPr rot="-60000000" spcFirstLastPara="1" vertOverflow="ellipsis" vert="horz" wrap="square" anchor="ctr" anchorCtr="1"/>
          <a:lstStyle/>
          <a:p>
            <a:pPr>
              <a:defRPr sz="1050" b="1" i="0" u="none" strike="noStrike" kern="1200" baseline="0">
                <a:solidFill>
                  <a:schemeClr val="tx1">
                    <a:lumMod val="65000"/>
                    <a:lumOff val="35000"/>
                  </a:schemeClr>
                </a:solidFill>
                <a:latin typeface="Arial" panose="020B0604020202020204" pitchFamily="34" charset="0"/>
                <a:ea typeface="微软雅黑" panose="020B0503020204020204" pitchFamily="34" charset="-122"/>
                <a:cs typeface="+mn-cs"/>
              </a:defRPr>
            </a:pPr>
            <a:endParaRPr lang="zh-CN"/>
          </a:p>
        </c:txPr>
        <c:crossAx val="241964544"/>
        <c:crosses val="autoZero"/>
        <c:crossBetween val="between"/>
        <c:majorUnit val="9"/>
      </c:valAx>
      <c:spPr>
        <a:solidFill>
          <a:srgbClr val="EAEAEA"/>
        </a:solidFill>
        <a:ln>
          <a:noFill/>
        </a:ln>
        <a:effectLst/>
      </c:spPr>
    </c:plotArea>
    <c:legend>
      <c:legendPos val="b"/>
      <c:layout>
        <c:manualLayout>
          <c:xMode val="edge"/>
          <c:yMode val="edge"/>
          <c:x val="0.18786528804667246"/>
          <c:y val="0.19817764582705849"/>
          <c:w val="0.60074316939890715"/>
          <c:h val="7.3402052016225239E-2"/>
        </c:manualLayout>
      </c:layout>
      <c:overlay val="0"/>
      <c:spPr>
        <a:noFill/>
        <a:ln>
          <a:noFill/>
        </a:ln>
        <a:effectLst/>
      </c:spPr>
      <c:txPr>
        <a:bodyPr rot="0" spcFirstLastPara="1" vertOverflow="ellipsis" vert="horz" wrap="square" anchor="ctr" anchorCtr="1"/>
        <a:lstStyle/>
        <a:p>
          <a:pPr>
            <a:defRPr sz="1100" b="1" i="0" u="none" strike="noStrike" kern="1200" baseline="0">
              <a:solidFill>
                <a:schemeClr val="tx1">
                  <a:lumMod val="65000"/>
                  <a:lumOff val="35000"/>
                </a:schemeClr>
              </a:solidFill>
              <a:latin typeface="Arial" panose="020B0604020202020204" pitchFamily="34" charset="0"/>
              <a:ea typeface="微软雅黑" panose="020B0503020204020204" pitchFamily="34" charset="-122"/>
              <a:cs typeface="+mn-cs"/>
            </a:defRPr>
          </a:pPr>
          <a:endParaRPr lang="zh-CN"/>
        </a:p>
      </c:txPr>
    </c:legend>
    <c:plotVisOnly val="1"/>
    <c:dispBlanksAs val="gap"/>
    <c:showDLblsOverMax val="0"/>
  </c:chart>
  <c:spPr>
    <a:noFill/>
    <a:ln w="9525" cap="flat" cmpd="sng" algn="ctr">
      <a:noFill/>
      <a:round/>
    </a:ln>
    <a:effectLst/>
  </c:spPr>
  <c:txPr>
    <a:bodyPr/>
    <a:lstStyle/>
    <a:p>
      <a:pPr>
        <a:defRPr/>
      </a:pPr>
      <a:endParaRPr lang="zh-CN"/>
    </a:p>
  </c:txPr>
  <c:externalData r:id="rId2">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zh-CN" altLang="en-US" dirty="0"/>
              <a:t>成交价格</a:t>
            </a:r>
          </a:p>
        </c:rich>
      </c:tx>
      <c:layout>
        <c:manualLayout>
          <c:xMode val="edge"/>
          <c:yMode val="edge"/>
          <c:x val="0.82324693147959438"/>
          <c:y val="3.2407407407407406E-2"/>
        </c:manualLayout>
      </c:layout>
      <c:overlay val="0"/>
    </c:title>
    <c:autoTitleDeleted val="0"/>
    <c:plotArea>
      <c:layout>
        <c:manualLayout>
          <c:layoutTarget val="inner"/>
          <c:xMode val="edge"/>
          <c:yMode val="edge"/>
          <c:x val="7.8672966280766893E-2"/>
          <c:y val="0.19214129483814524"/>
          <c:w val="0.88066354106407652"/>
          <c:h val="0.58289442986293383"/>
        </c:manualLayout>
      </c:layout>
      <c:areaChart>
        <c:grouping val="standard"/>
        <c:varyColors val="0"/>
        <c:ser>
          <c:idx val="0"/>
          <c:order val="0"/>
          <c:tx>
            <c:strRef>
              <c:f>量价!$O$22</c:f>
              <c:strCache>
                <c:ptCount val="1"/>
                <c:pt idx="0">
                  <c:v>成交均价</c:v>
                </c:pt>
              </c:strCache>
            </c:strRef>
          </c:tx>
          <c:spPr>
            <a:solidFill>
              <a:schemeClr val="tx2">
                <a:lumMod val="60000"/>
                <a:lumOff val="40000"/>
                <a:alpha val="70000"/>
              </a:schemeClr>
            </a:solidFill>
          </c:spPr>
          <c:cat>
            <c:strRef>
              <c:f>量价!$N$23:$N$37</c:f>
              <c:strCache>
                <c:ptCount val="15"/>
                <c:pt idx="0">
                  <c:v>15/07</c:v>
                </c:pt>
                <c:pt idx="1">
                  <c:v>15/08</c:v>
                </c:pt>
                <c:pt idx="2">
                  <c:v>15/09</c:v>
                </c:pt>
                <c:pt idx="3">
                  <c:v>15/10</c:v>
                </c:pt>
                <c:pt idx="4">
                  <c:v>15/11</c:v>
                </c:pt>
                <c:pt idx="5">
                  <c:v>15/12</c:v>
                </c:pt>
                <c:pt idx="6">
                  <c:v>16/01</c:v>
                </c:pt>
                <c:pt idx="7">
                  <c:v>16/02</c:v>
                </c:pt>
                <c:pt idx="8">
                  <c:v>16/03</c:v>
                </c:pt>
                <c:pt idx="9">
                  <c:v>16/04</c:v>
                </c:pt>
                <c:pt idx="10">
                  <c:v>16/05</c:v>
                </c:pt>
                <c:pt idx="11">
                  <c:v>16/06</c:v>
                </c:pt>
                <c:pt idx="12">
                  <c:v>16/07</c:v>
                </c:pt>
                <c:pt idx="13">
                  <c:v>16/08</c:v>
                </c:pt>
                <c:pt idx="14">
                  <c:v>16/09</c:v>
                </c:pt>
              </c:strCache>
            </c:strRef>
          </c:cat>
          <c:val>
            <c:numRef>
              <c:f>量价!$O$23:$O$37</c:f>
              <c:numCache>
                <c:formatCode>0_);[Red]\(0\)</c:formatCode>
                <c:ptCount val="15"/>
                <c:pt idx="0">
                  <c:v>39091.963756860299</c:v>
                </c:pt>
                <c:pt idx="1">
                  <c:v>39444.455268178928</c:v>
                </c:pt>
                <c:pt idx="2">
                  <c:v>39771.194307837184</c:v>
                </c:pt>
                <c:pt idx="3">
                  <c:v>39841.064003346597</c:v>
                </c:pt>
                <c:pt idx="4">
                  <c:v>40207.463488420603</c:v>
                </c:pt>
                <c:pt idx="5">
                  <c:v>40509.787453569952</c:v>
                </c:pt>
                <c:pt idx="6">
                  <c:v>41583</c:v>
                </c:pt>
                <c:pt idx="7">
                  <c:v>42427</c:v>
                </c:pt>
                <c:pt idx="8">
                  <c:v>44922</c:v>
                </c:pt>
                <c:pt idx="9">
                  <c:v>45805</c:v>
                </c:pt>
                <c:pt idx="10">
                  <c:v>46629</c:v>
                </c:pt>
                <c:pt idx="11">
                  <c:v>47235.176999999996</c:v>
                </c:pt>
                <c:pt idx="12">
                  <c:v>47792.552088599994</c:v>
                </c:pt>
                <c:pt idx="13">
                  <c:v>48796.195682460588</c:v>
                </c:pt>
                <c:pt idx="14" formatCode="0">
                  <c:v>51199.412895352383</c:v>
                </c:pt>
              </c:numCache>
            </c:numRef>
          </c:val>
          <c:extLst>
            <c:ext xmlns:c16="http://schemas.microsoft.com/office/drawing/2014/chart" uri="{C3380CC4-5D6E-409C-BE32-E72D297353CC}">
              <c16:uniqueId val="{00000000-0A2C-4C84-9E53-83CF5B74AAF0}"/>
            </c:ext>
          </c:extLst>
        </c:ser>
        <c:dLbls>
          <c:showLegendKey val="0"/>
          <c:showVal val="0"/>
          <c:showCatName val="0"/>
          <c:showSerName val="0"/>
          <c:showPercent val="0"/>
          <c:showBubbleSize val="0"/>
        </c:dLbls>
        <c:axId val="242023424"/>
        <c:axId val="242033408"/>
      </c:areaChart>
      <c:lineChart>
        <c:grouping val="standard"/>
        <c:varyColors val="0"/>
        <c:ser>
          <c:idx val="1"/>
          <c:order val="1"/>
          <c:tx>
            <c:strRef>
              <c:f>量价!$P$22</c:f>
              <c:strCache>
                <c:ptCount val="1"/>
                <c:pt idx="0">
                  <c:v>成交均价</c:v>
                </c:pt>
              </c:strCache>
            </c:strRef>
          </c:tx>
          <c:spPr>
            <a:ln>
              <a:solidFill>
                <a:schemeClr val="accent1"/>
              </a:solidFill>
            </a:ln>
          </c:spPr>
          <c:marker>
            <c:symbol val="diamond"/>
            <c:size val="8"/>
            <c:spPr>
              <a:solidFill>
                <a:schemeClr val="bg1"/>
              </a:solidFill>
              <a:ln w="19050">
                <a:solidFill>
                  <a:schemeClr val="accent1"/>
                </a:solidFill>
              </a:ln>
            </c:spPr>
          </c:marker>
          <c:dLbls>
            <c:dLbl>
              <c:idx val="12"/>
              <c:layout>
                <c:manualLayout>
                  <c:x val="-4.8720758125686679E-2"/>
                  <c:y val="-7.870370370370370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0A2C-4C84-9E53-83CF5B74AAF0}"/>
                </c:ext>
              </c:extLst>
            </c:dLbl>
            <c:dLbl>
              <c:idx val="13"/>
              <c:layout>
                <c:manualLayout>
                  <c:x val="-4.3500676897934534E-2"/>
                  <c:y val="-9.259259259259258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0A2C-4C84-9E53-83CF5B74AAF0}"/>
                </c:ext>
              </c:extLst>
            </c:dLbl>
            <c:dLbl>
              <c:idx val="14"/>
              <c:layout>
                <c:manualLayout>
                  <c:x val="-3.3060514442430119E-2"/>
                  <c:y val="-7.407407407407405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A2C-4C84-9E53-83CF5B74AAF0}"/>
                </c:ext>
              </c:extLst>
            </c:dLbl>
            <c:spPr>
              <a:noFill/>
              <a:ln>
                <a:noFill/>
              </a:ln>
              <a:effectLst/>
            </c:spPr>
            <c:txPr>
              <a:bodyPr/>
              <a:lstStyle/>
              <a:p>
                <a:pPr>
                  <a:defRPr b="1"/>
                </a:pPr>
                <a:endParaRPr lang="zh-CN"/>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量价!$N$23:$N$37</c:f>
              <c:strCache>
                <c:ptCount val="15"/>
                <c:pt idx="0">
                  <c:v>15/07</c:v>
                </c:pt>
                <c:pt idx="1">
                  <c:v>15/08</c:v>
                </c:pt>
                <c:pt idx="2">
                  <c:v>15/09</c:v>
                </c:pt>
                <c:pt idx="3">
                  <c:v>15/10</c:v>
                </c:pt>
                <c:pt idx="4">
                  <c:v>15/11</c:v>
                </c:pt>
                <c:pt idx="5">
                  <c:v>15/12</c:v>
                </c:pt>
                <c:pt idx="6">
                  <c:v>16/01</c:v>
                </c:pt>
                <c:pt idx="7">
                  <c:v>16/02</c:v>
                </c:pt>
                <c:pt idx="8">
                  <c:v>16/03</c:v>
                </c:pt>
                <c:pt idx="9">
                  <c:v>16/04</c:v>
                </c:pt>
                <c:pt idx="10">
                  <c:v>16/05</c:v>
                </c:pt>
                <c:pt idx="11">
                  <c:v>16/06</c:v>
                </c:pt>
                <c:pt idx="12">
                  <c:v>16/07</c:v>
                </c:pt>
                <c:pt idx="13">
                  <c:v>16/08</c:v>
                </c:pt>
                <c:pt idx="14">
                  <c:v>16/09</c:v>
                </c:pt>
              </c:strCache>
            </c:strRef>
          </c:cat>
          <c:val>
            <c:numRef>
              <c:f>量价!$P$23:$P$37</c:f>
              <c:numCache>
                <c:formatCode>0_);[Red]\(0\)</c:formatCode>
                <c:ptCount val="15"/>
                <c:pt idx="0">
                  <c:v>39091.963756860299</c:v>
                </c:pt>
                <c:pt idx="1">
                  <c:v>39444.455268178928</c:v>
                </c:pt>
                <c:pt idx="2">
                  <c:v>39771.194307837184</c:v>
                </c:pt>
                <c:pt idx="3">
                  <c:v>39841.064003346597</c:v>
                </c:pt>
                <c:pt idx="4">
                  <c:v>40207.463488420603</c:v>
                </c:pt>
                <c:pt idx="5">
                  <c:v>40509.787453569952</c:v>
                </c:pt>
                <c:pt idx="6">
                  <c:v>41583</c:v>
                </c:pt>
                <c:pt idx="7">
                  <c:v>42427</c:v>
                </c:pt>
                <c:pt idx="8">
                  <c:v>44922</c:v>
                </c:pt>
                <c:pt idx="9">
                  <c:v>45805</c:v>
                </c:pt>
                <c:pt idx="10">
                  <c:v>46629</c:v>
                </c:pt>
                <c:pt idx="11">
                  <c:v>47235.176999999996</c:v>
                </c:pt>
                <c:pt idx="12">
                  <c:v>47792.552088599994</c:v>
                </c:pt>
                <c:pt idx="13">
                  <c:v>48796.195682460588</c:v>
                </c:pt>
                <c:pt idx="14" formatCode="0">
                  <c:v>51199.412895352383</c:v>
                </c:pt>
              </c:numCache>
            </c:numRef>
          </c:val>
          <c:smooth val="0"/>
          <c:extLst>
            <c:ext xmlns:c16="http://schemas.microsoft.com/office/drawing/2014/chart" uri="{C3380CC4-5D6E-409C-BE32-E72D297353CC}">
              <c16:uniqueId val="{00000004-0A2C-4C84-9E53-83CF5B74AAF0}"/>
            </c:ext>
          </c:extLst>
        </c:ser>
        <c:dLbls>
          <c:showLegendKey val="0"/>
          <c:showVal val="0"/>
          <c:showCatName val="0"/>
          <c:showSerName val="0"/>
          <c:showPercent val="0"/>
          <c:showBubbleSize val="0"/>
        </c:dLbls>
        <c:marker val="1"/>
        <c:smooth val="0"/>
        <c:axId val="242023424"/>
        <c:axId val="242033408"/>
      </c:lineChart>
      <c:catAx>
        <c:axId val="242023424"/>
        <c:scaling>
          <c:orientation val="minMax"/>
        </c:scaling>
        <c:delete val="0"/>
        <c:axPos val="b"/>
        <c:numFmt formatCode="General" sourceLinked="1"/>
        <c:majorTickMark val="out"/>
        <c:minorTickMark val="none"/>
        <c:tickLblPos val="nextTo"/>
        <c:spPr>
          <a:ln>
            <a:solidFill>
              <a:schemeClr val="bg1">
                <a:lumMod val="85000"/>
              </a:schemeClr>
            </a:solidFill>
          </a:ln>
        </c:spPr>
        <c:txPr>
          <a:bodyPr/>
          <a:lstStyle/>
          <a:p>
            <a:pPr>
              <a:defRPr b="1"/>
            </a:pPr>
            <a:endParaRPr lang="zh-CN"/>
          </a:p>
        </c:txPr>
        <c:crossAx val="242033408"/>
        <c:crosses val="autoZero"/>
        <c:auto val="1"/>
        <c:lblAlgn val="ctr"/>
        <c:lblOffset val="0"/>
        <c:noMultiLvlLbl val="0"/>
      </c:catAx>
      <c:valAx>
        <c:axId val="242033408"/>
        <c:scaling>
          <c:orientation val="minMax"/>
          <c:max val="55000"/>
          <c:min val="35000"/>
        </c:scaling>
        <c:delete val="0"/>
        <c:axPos val="l"/>
        <c:majorGridlines>
          <c:spPr>
            <a:ln>
              <a:solidFill>
                <a:schemeClr val="bg1"/>
              </a:solidFill>
            </a:ln>
          </c:spPr>
        </c:majorGridlines>
        <c:numFmt formatCode="0_);[Red]\(0\)" sourceLinked="1"/>
        <c:majorTickMark val="out"/>
        <c:minorTickMark val="none"/>
        <c:tickLblPos val="nextTo"/>
        <c:spPr>
          <a:ln>
            <a:solidFill>
              <a:schemeClr val="bg1">
                <a:lumMod val="85000"/>
              </a:schemeClr>
            </a:solidFill>
          </a:ln>
        </c:spPr>
        <c:txPr>
          <a:bodyPr/>
          <a:lstStyle/>
          <a:p>
            <a:pPr>
              <a:defRPr b="1"/>
            </a:pPr>
            <a:endParaRPr lang="zh-CN"/>
          </a:p>
        </c:txPr>
        <c:crossAx val="242023424"/>
        <c:crosses val="autoZero"/>
        <c:crossBetween val="between"/>
        <c:majorUnit val="5000"/>
      </c:valAx>
      <c:spPr>
        <a:solidFill>
          <a:schemeClr val="bg1">
            <a:lumMod val="95000"/>
          </a:schemeClr>
        </a:solidFill>
        <a:ln>
          <a:solidFill>
            <a:schemeClr val="bg1">
              <a:lumMod val="95000"/>
            </a:schemeClr>
          </a:solidFill>
        </a:ln>
      </c:spPr>
    </c:plotArea>
    <c:plotVisOnly val="1"/>
    <c:dispBlanksAs val="gap"/>
    <c:showDLblsOverMax val="0"/>
  </c:chart>
  <c:spPr>
    <a:noFill/>
    <a:ln>
      <a:noFill/>
    </a:ln>
  </c:spPr>
  <c:txPr>
    <a:bodyPr/>
    <a:lstStyle/>
    <a:p>
      <a:pPr>
        <a:defRPr>
          <a:latin typeface="微软雅黑" pitchFamily="34" charset="-122"/>
          <a:ea typeface="微软雅黑" pitchFamily="34" charset="-122"/>
        </a:defRPr>
      </a:pPr>
      <a:endParaRPr lang="zh-CN"/>
    </a:p>
  </c:txPr>
  <c:externalData r:id="rId1">
    <c:autoUpdate val="0"/>
  </c:externalData>
  <c:userShapes r:id="rId2"/>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zh-CN" altLang="en-US" dirty="0"/>
              <a:t>成交量</a:t>
            </a:r>
          </a:p>
        </c:rich>
      </c:tx>
      <c:layout>
        <c:manualLayout>
          <c:xMode val="edge"/>
          <c:yMode val="edge"/>
          <c:x val="0.8393796159478174"/>
          <c:y val="5.1088931609301347E-4"/>
        </c:manualLayout>
      </c:layout>
      <c:overlay val="0"/>
    </c:title>
    <c:autoTitleDeleted val="0"/>
    <c:plotArea>
      <c:layout>
        <c:manualLayout>
          <c:layoutTarget val="inner"/>
          <c:xMode val="edge"/>
          <c:yMode val="edge"/>
          <c:x val="8.739432828270069E-2"/>
          <c:y val="0.21117074412521178"/>
          <c:w val="0.86885568607096919"/>
          <c:h val="0.57332560854642345"/>
        </c:manualLayout>
      </c:layout>
      <c:barChart>
        <c:barDir val="col"/>
        <c:grouping val="clustered"/>
        <c:varyColors val="0"/>
        <c:ser>
          <c:idx val="0"/>
          <c:order val="0"/>
          <c:tx>
            <c:strRef>
              <c:f>量价!$B$22</c:f>
              <c:strCache>
                <c:ptCount val="1"/>
                <c:pt idx="0">
                  <c:v>成交套数</c:v>
                </c:pt>
              </c:strCache>
            </c:strRef>
          </c:tx>
          <c:invertIfNegative val="0"/>
          <c:dPt>
            <c:idx val="8"/>
            <c:invertIfNegative val="0"/>
            <c:bubble3D val="0"/>
            <c:spPr>
              <a:solidFill>
                <a:srgbClr val="C00000"/>
              </a:solidFill>
            </c:spPr>
            <c:extLst>
              <c:ext xmlns:c16="http://schemas.microsoft.com/office/drawing/2014/chart" uri="{C3380CC4-5D6E-409C-BE32-E72D297353CC}">
                <c16:uniqueId val="{00000001-F134-41EA-941E-100C1A17F833}"/>
              </c:ext>
            </c:extLst>
          </c:dPt>
          <c:dLbls>
            <c:dLbl>
              <c:idx val="8"/>
              <c:layout>
                <c:manualLayout>
                  <c:x val="0"/>
                  <c:y val="1.337757529472695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F134-41EA-941E-100C1A17F833}"/>
                </c:ext>
              </c:extLst>
            </c:dLbl>
            <c:dLbl>
              <c:idx val="14"/>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F134-41EA-941E-100C1A17F833}"/>
                </c:ext>
              </c:extLst>
            </c:dLbl>
            <c:spPr>
              <a:noFill/>
              <a:ln>
                <a:noFill/>
              </a:ln>
              <a:effectLst/>
            </c:spPr>
            <c:txPr>
              <a:bodyPr/>
              <a:lstStyle/>
              <a:p>
                <a:pPr>
                  <a:defRPr b="1"/>
                </a:pPr>
                <a:endParaRPr lang="zh-CN"/>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量价!$A$23:$A$37</c:f>
              <c:strCache>
                <c:ptCount val="15"/>
                <c:pt idx="0">
                  <c:v>15/07</c:v>
                </c:pt>
                <c:pt idx="1">
                  <c:v>15/08</c:v>
                </c:pt>
                <c:pt idx="2">
                  <c:v>15/09</c:v>
                </c:pt>
                <c:pt idx="3">
                  <c:v>15/10</c:v>
                </c:pt>
                <c:pt idx="4">
                  <c:v>15/11</c:v>
                </c:pt>
                <c:pt idx="5">
                  <c:v>15/12</c:v>
                </c:pt>
                <c:pt idx="6">
                  <c:v>16/01</c:v>
                </c:pt>
                <c:pt idx="7">
                  <c:v>16/02</c:v>
                </c:pt>
                <c:pt idx="8">
                  <c:v>16/03</c:v>
                </c:pt>
                <c:pt idx="9">
                  <c:v>16/04</c:v>
                </c:pt>
                <c:pt idx="10">
                  <c:v>16/05</c:v>
                </c:pt>
                <c:pt idx="11">
                  <c:v>16/06</c:v>
                </c:pt>
                <c:pt idx="12">
                  <c:v>16/07</c:v>
                </c:pt>
                <c:pt idx="13">
                  <c:v>16/08</c:v>
                </c:pt>
                <c:pt idx="14">
                  <c:v>16/09</c:v>
                </c:pt>
              </c:strCache>
            </c:strRef>
          </c:cat>
          <c:val>
            <c:numRef>
              <c:f>量价!$B$23:$B$37</c:f>
              <c:numCache>
                <c:formatCode>General</c:formatCode>
                <c:ptCount val="15"/>
                <c:pt idx="0">
                  <c:v>21473</c:v>
                </c:pt>
                <c:pt idx="1">
                  <c:v>19088</c:v>
                </c:pt>
                <c:pt idx="2">
                  <c:v>17888</c:v>
                </c:pt>
                <c:pt idx="3">
                  <c:v>14798</c:v>
                </c:pt>
                <c:pt idx="4">
                  <c:v>17890</c:v>
                </c:pt>
                <c:pt idx="5">
                  <c:v>23096</c:v>
                </c:pt>
                <c:pt idx="6">
                  <c:v>24312</c:v>
                </c:pt>
                <c:pt idx="7">
                  <c:v>15149</c:v>
                </c:pt>
                <c:pt idx="8">
                  <c:v>32009</c:v>
                </c:pt>
                <c:pt idx="9">
                  <c:v>26374</c:v>
                </c:pt>
                <c:pt idx="10">
                  <c:v>23924</c:v>
                </c:pt>
                <c:pt idx="11">
                  <c:v>13739</c:v>
                </c:pt>
                <c:pt idx="12">
                  <c:v>22340</c:v>
                </c:pt>
                <c:pt idx="13">
                  <c:v>25670</c:v>
                </c:pt>
                <c:pt idx="14">
                  <c:v>30516</c:v>
                </c:pt>
              </c:numCache>
            </c:numRef>
          </c:val>
          <c:extLst>
            <c:ext xmlns:c16="http://schemas.microsoft.com/office/drawing/2014/chart" uri="{C3380CC4-5D6E-409C-BE32-E72D297353CC}">
              <c16:uniqueId val="{00000003-F134-41EA-941E-100C1A17F833}"/>
            </c:ext>
          </c:extLst>
        </c:ser>
        <c:dLbls>
          <c:showLegendKey val="0"/>
          <c:showVal val="0"/>
          <c:showCatName val="0"/>
          <c:showSerName val="0"/>
          <c:showPercent val="0"/>
          <c:showBubbleSize val="0"/>
        </c:dLbls>
        <c:gapWidth val="150"/>
        <c:axId val="242059136"/>
        <c:axId val="242060672"/>
      </c:barChart>
      <c:catAx>
        <c:axId val="242059136"/>
        <c:scaling>
          <c:orientation val="minMax"/>
        </c:scaling>
        <c:delete val="0"/>
        <c:axPos val="b"/>
        <c:numFmt formatCode="General" sourceLinked="1"/>
        <c:majorTickMark val="out"/>
        <c:minorTickMark val="none"/>
        <c:tickLblPos val="nextTo"/>
        <c:spPr>
          <a:ln>
            <a:solidFill>
              <a:schemeClr val="bg1">
                <a:lumMod val="85000"/>
              </a:schemeClr>
            </a:solidFill>
          </a:ln>
        </c:spPr>
        <c:txPr>
          <a:bodyPr/>
          <a:lstStyle/>
          <a:p>
            <a:pPr>
              <a:defRPr b="1"/>
            </a:pPr>
            <a:endParaRPr lang="zh-CN"/>
          </a:p>
        </c:txPr>
        <c:crossAx val="242060672"/>
        <c:crosses val="autoZero"/>
        <c:auto val="1"/>
        <c:lblAlgn val="ctr"/>
        <c:lblOffset val="0"/>
        <c:noMultiLvlLbl val="0"/>
      </c:catAx>
      <c:valAx>
        <c:axId val="242060672"/>
        <c:scaling>
          <c:orientation val="minMax"/>
          <c:max val="40000"/>
          <c:min val="0"/>
        </c:scaling>
        <c:delete val="0"/>
        <c:axPos val="l"/>
        <c:majorGridlines>
          <c:spPr>
            <a:ln>
              <a:solidFill>
                <a:schemeClr val="bg1"/>
              </a:solidFill>
            </a:ln>
          </c:spPr>
        </c:majorGridlines>
        <c:numFmt formatCode="General" sourceLinked="1"/>
        <c:majorTickMark val="out"/>
        <c:minorTickMark val="none"/>
        <c:tickLblPos val="nextTo"/>
        <c:spPr>
          <a:ln>
            <a:solidFill>
              <a:schemeClr val="bg1">
                <a:lumMod val="85000"/>
              </a:schemeClr>
            </a:solidFill>
          </a:ln>
        </c:spPr>
        <c:txPr>
          <a:bodyPr/>
          <a:lstStyle/>
          <a:p>
            <a:pPr>
              <a:defRPr b="1"/>
            </a:pPr>
            <a:endParaRPr lang="zh-CN"/>
          </a:p>
        </c:txPr>
        <c:crossAx val="242059136"/>
        <c:crosses val="autoZero"/>
        <c:crossBetween val="between"/>
        <c:majorUnit val="10000"/>
      </c:valAx>
      <c:spPr>
        <a:solidFill>
          <a:schemeClr val="bg1">
            <a:lumMod val="95000"/>
          </a:schemeClr>
        </a:solidFill>
        <a:ln>
          <a:solidFill>
            <a:schemeClr val="bg1">
              <a:lumMod val="95000"/>
            </a:schemeClr>
          </a:solidFill>
        </a:ln>
      </c:spPr>
    </c:plotArea>
    <c:plotVisOnly val="1"/>
    <c:dispBlanksAs val="gap"/>
    <c:showDLblsOverMax val="0"/>
  </c:chart>
  <c:spPr>
    <a:noFill/>
    <a:ln>
      <a:noFill/>
    </a:ln>
  </c:spPr>
  <c:txPr>
    <a:bodyPr/>
    <a:lstStyle/>
    <a:p>
      <a:pPr>
        <a:defRPr>
          <a:latin typeface="微软雅黑" pitchFamily="34" charset="-122"/>
          <a:ea typeface="微软雅黑" pitchFamily="34" charset="-122"/>
        </a:defRPr>
      </a:pPr>
      <a:endParaRPr lang="zh-CN"/>
    </a:p>
  </c:txPr>
  <c:externalData r:id="rId1">
    <c:autoUpdate val="0"/>
  </c:externalData>
  <c:userShapes r:id="rId2"/>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600"/>
            </a:pPr>
            <a:r>
              <a:rPr lang="en-US" altLang="zh-CN" sz="1600">
                <a:latin typeface="微软雅黑" pitchFamily="34" charset="-122"/>
                <a:ea typeface="微软雅黑" pitchFamily="34" charset="-122"/>
              </a:rPr>
              <a:t>2016</a:t>
            </a:r>
            <a:r>
              <a:rPr lang="zh-CN" altLang="en-US" sz="1600">
                <a:latin typeface="微软雅黑" pitchFamily="34" charset="-122"/>
                <a:ea typeface="微软雅黑" pitchFamily="34" charset="-122"/>
              </a:rPr>
              <a:t>年“国庆周”北京二手住宅成交量走势</a:t>
            </a:r>
          </a:p>
        </c:rich>
      </c:tx>
      <c:overlay val="0"/>
    </c:title>
    <c:autoTitleDeleted val="0"/>
    <c:plotArea>
      <c:layout>
        <c:manualLayout>
          <c:layoutTarget val="inner"/>
          <c:xMode val="edge"/>
          <c:yMode val="edge"/>
          <c:x val="0.10015501734848857"/>
          <c:y val="0.219919072615923"/>
          <c:w val="0.83751334208223971"/>
          <c:h val="0.62313867016622926"/>
        </c:manualLayout>
      </c:layout>
      <c:barChart>
        <c:barDir val="col"/>
        <c:grouping val="clustered"/>
        <c:varyColors val="0"/>
        <c:ser>
          <c:idx val="0"/>
          <c:order val="0"/>
          <c:tx>
            <c:strRef>
              <c:f>国庆周!$C$2</c:f>
              <c:strCache>
                <c:ptCount val="1"/>
                <c:pt idx="0">
                  <c:v>套数</c:v>
                </c:pt>
              </c:strCache>
            </c:strRef>
          </c:tx>
          <c:invertIfNegative val="0"/>
          <c:dLbls>
            <c:spPr>
              <a:noFill/>
              <a:ln>
                <a:noFill/>
              </a:ln>
              <a:effectLst/>
            </c:spPr>
            <c:txPr>
              <a:bodyPr/>
              <a:lstStyle/>
              <a:p>
                <a:pPr>
                  <a:defRPr b="1">
                    <a:latin typeface="微软雅黑" pitchFamily="34" charset="-122"/>
                    <a:ea typeface="微软雅黑" pitchFamily="34" charset="-122"/>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国庆周!$A$3:$A$9</c:f>
              <c:strCache>
                <c:ptCount val="7"/>
                <c:pt idx="0">
                  <c:v>2010年</c:v>
                </c:pt>
                <c:pt idx="1">
                  <c:v>2011年</c:v>
                </c:pt>
                <c:pt idx="2">
                  <c:v>2012年</c:v>
                </c:pt>
                <c:pt idx="3">
                  <c:v>2013年</c:v>
                </c:pt>
                <c:pt idx="4">
                  <c:v>2014年</c:v>
                </c:pt>
                <c:pt idx="5">
                  <c:v>2015年</c:v>
                </c:pt>
                <c:pt idx="6">
                  <c:v>2016年</c:v>
                </c:pt>
              </c:strCache>
            </c:strRef>
          </c:cat>
          <c:val>
            <c:numRef>
              <c:f>国庆周!$C$3:$C$9</c:f>
              <c:numCache>
                <c:formatCode>General</c:formatCode>
                <c:ptCount val="7"/>
                <c:pt idx="0">
                  <c:v>282</c:v>
                </c:pt>
                <c:pt idx="1">
                  <c:v>131</c:v>
                </c:pt>
                <c:pt idx="2">
                  <c:v>150</c:v>
                </c:pt>
                <c:pt idx="3">
                  <c:v>80</c:v>
                </c:pt>
                <c:pt idx="4">
                  <c:v>56</c:v>
                </c:pt>
                <c:pt idx="5">
                  <c:v>101</c:v>
                </c:pt>
                <c:pt idx="6">
                  <c:v>209</c:v>
                </c:pt>
              </c:numCache>
            </c:numRef>
          </c:val>
          <c:extLst>
            <c:ext xmlns:c16="http://schemas.microsoft.com/office/drawing/2014/chart" uri="{C3380CC4-5D6E-409C-BE32-E72D297353CC}">
              <c16:uniqueId val="{00000000-CE5D-439C-B21E-20F559295660}"/>
            </c:ext>
          </c:extLst>
        </c:ser>
        <c:dLbls>
          <c:showLegendKey val="0"/>
          <c:showVal val="0"/>
          <c:showCatName val="0"/>
          <c:showSerName val="0"/>
          <c:showPercent val="0"/>
          <c:showBubbleSize val="0"/>
        </c:dLbls>
        <c:gapWidth val="150"/>
        <c:axId val="242128768"/>
        <c:axId val="242130304"/>
      </c:barChart>
      <c:catAx>
        <c:axId val="242128768"/>
        <c:scaling>
          <c:orientation val="minMax"/>
        </c:scaling>
        <c:delete val="0"/>
        <c:axPos val="b"/>
        <c:numFmt formatCode="General" sourceLinked="1"/>
        <c:majorTickMark val="out"/>
        <c:minorTickMark val="none"/>
        <c:tickLblPos val="nextTo"/>
        <c:txPr>
          <a:bodyPr/>
          <a:lstStyle/>
          <a:p>
            <a:pPr>
              <a:defRPr b="1">
                <a:latin typeface="微软雅黑" pitchFamily="34" charset="-122"/>
                <a:ea typeface="微软雅黑" pitchFamily="34" charset="-122"/>
              </a:defRPr>
            </a:pPr>
            <a:endParaRPr lang="zh-CN"/>
          </a:p>
        </c:txPr>
        <c:crossAx val="242130304"/>
        <c:crosses val="autoZero"/>
        <c:auto val="1"/>
        <c:lblAlgn val="ctr"/>
        <c:lblOffset val="100"/>
        <c:noMultiLvlLbl val="0"/>
      </c:catAx>
      <c:valAx>
        <c:axId val="242130304"/>
        <c:scaling>
          <c:orientation val="minMax"/>
        </c:scaling>
        <c:delete val="0"/>
        <c:axPos val="l"/>
        <c:numFmt formatCode="General" sourceLinked="1"/>
        <c:majorTickMark val="out"/>
        <c:minorTickMark val="none"/>
        <c:tickLblPos val="nextTo"/>
        <c:txPr>
          <a:bodyPr/>
          <a:lstStyle/>
          <a:p>
            <a:pPr>
              <a:defRPr b="1">
                <a:latin typeface="微软雅黑" pitchFamily="34" charset="-122"/>
                <a:ea typeface="微软雅黑" pitchFamily="34" charset="-122"/>
              </a:defRPr>
            </a:pPr>
            <a:endParaRPr lang="zh-CN"/>
          </a:p>
        </c:txPr>
        <c:crossAx val="242128768"/>
        <c:crosses val="autoZero"/>
        <c:crossBetween val="between"/>
      </c:valAx>
    </c:plotArea>
    <c:legend>
      <c:legendPos val="r"/>
      <c:layout>
        <c:manualLayout>
          <c:xMode val="edge"/>
          <c:yMode val="edge"/>
          <c:x val="0.72504308836395437"/>
          <c:y val="0.19054862933799943"/>
          <c:w val="0.15829024496937882"/>
          <c:h val="8.3717191601049873E-2"/>
        </c:manualLayout>
      </c:layout>
      <c:overlay val="0"/>
      <c:txPr>
        <a:bodyPr/>
        <a:lstStyle/>
        <a:p>
          <a:pPr>
            <a:defRPr sz="1100">
              <a:latin typeface="微软雅黑" pitchFamily="34" charset="-122"/>
              <a:ea typeface="微软雅黑" pitchFamily="34" charset="-122"/>
            </a:defRPr>
          </a:pPr>
          <a:endParaRPr lang="zh-CN"/>
        </a:p>
      </c:txPr>
    </c:legend>
    <c:plotVisOnly val="1"/>
    <c:dispBlanksAs val="gap"/>
    <c:showDLblsOverMax val="0"/>
  </c:chart>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ltLang="zh-CN" sz="1600" dirty="0">
                <a:latin typeface="微软雅黑" pitchFamily="34" charset="-122"/>
                <a:ea typeface="微软雅黑" pitchFamily="34" charset="-122"/>
              </a:rPr>
              <a:t>2016</a:t>
            </a:r>
            <a:r>
              <a:rPr lang="zh-CN" altLang="en-US" sz="1600" dirty="0">
                <a:latin typeface="微软雅黑" pitchFamily="34" charset="-122"/>
                <a:ea typeface="微软雅黑" pitchFamily="34" charset="-122"/>
              </a:rPr>
              <a:t>年北京二手住宅天成交量走势</a:t>
            </a:r>
          </a:p>
        </c:rich>
      </c:tx>
      <c:overlay val="0"/>
    </c:title>
    <c:autoTitleDeleted val="0"/>
    <c:plotArea>
      <c:layout>
        <c:manualLayout>
          <c:layoutTarget val="inner"/>
          <c:xMode val="edge"/>
          <c:yMode val="edge"/>
          <c:x val="0.10015507436570428"/>
          <c:y val="0.26983960338291046"/>
          <c:w val="0.83751334208223971"/>
          <c:h val="0.48424978127734031"/>
        </c:manualLayout>
      </c:layout>
      <c:lineChart>
        <c:grouping val="standard"/>
        <c:varyColors val="0"/>
        <c:ser>
          <c:idx val="0"/>
          <c:order val="0"/>
          <c:tx>
            <c:strRef>
              <c:f>国庆周!$B$13</c:f>
              <c:strCache>
                <c:ptCount val="1"/>
                <c:pt idx="0">
                  <c:v>成交套数</c:v>
                </c:pt>
              </c:strCache>
            </c:strRef>
          </c:tx>
          <c:marker>
            <c:symbol val="square"/>
            <c:size val="5"/>
          </c:marker>
          <c:dLbls>
            <c:dLbl>
              <c:idx val="12"/>
              <c:layout>
                <c:manualLayout>
                  <c:x val="-3.8505601503840879E-2"/>
                  <c:y val="-6.481481481481481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4C20-4944-A86C-4AF11F58067A}"/>
                </c:ext>
              </c:extLst>
            </c:dLbl>
            <c:dLbl>
              <c:idx val="13"/>
              <c:layout>
                <c:manualLayout>
                  <c:x val="-2.2003200859337609E-2"/>
                  <c:y val="-9.72222222222221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C20-4944-A86C-4AF11F58067A}"/>
                </c:ext>
              </c:extLst>
            </c:dLbl>
            <c:dLbl>
              <c:idx val="14"/>
              <c:layout>
                <c:manualLayout>
                  <c:x val="-2.2003200859337609E-2"/>
                  <c:y val="-4.166666666666666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C20-4944-A86C-4AF11F58067A}"/>
                </c:ext>
              </c:extLst>
            </c:dLbl>
            <c:dLbl>
              <c:idx val="15"/>
              <c:layout>
                <c:manualLayout>
                  <c:x val="-2.5670401002560544E-2"/>
                  <c:y val="-5.092629046369203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C20-4944-A86C-4AF11F58067A}"/>
                </c:ext>
              </c:extLst>
            </c:dLbl>
            <c:dLbl>
              <c:idx val="16"/>
              <c:layout>
                <c:manualLayout>
                  <c:x val="-3.1171201217394945E-2"/>
                  <c:y val="-6.481481481481481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4C20-4944-A86C-4AF11F58067A}"/>
                </c:ext>
              </c:extLst>
            </c:dLbl>
            <c:dLbl>
              <c:idx val="17"/>
              <c:layout>
                <c:manualLayout>
                  <c:x val="-2.3836800930949077E-2"/>
                  <c:y val="-6.481481481481481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4C20-4944-A86C-4AF11F58067A}"/>
                </c:ext>
              </c:extLst>
            </c:dLbl>
            <c:dLbl>
              <c:idx val="18"/>
              <c:layout>
                <c:manualLayout>
                  <c:x val="-2.7504001074172009E-2"/>
                  <c:y val="-5.555555555555555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4C20-4944-A86C-4AF11F58067A}"/>
                </c:ext>
              </c:extLst>
            </c:dLbl>
            <c:dLbl>
              <c:idx val="19"/>
              <c:layout>
                <c:manualLayout>
                  <c:x val="-2.7504001074172009E-2"/>
                  <c:y val="-6.481481481481481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4C20-4944-A86C-4AF11F58067A}"/>
                </c:ext>
              </c:extLst>
            </c:dLbl>
            <c:spPr>
              <a:noFill/>
              <a:ln>
                <a:noFill/>
              </a:ln>
              <a:effectLst/>
            </c:spPr>
            <c:txPr>
              <a:bodyPr/>
              <a:lstStyle/>
              <a:p>
                <a:pPr>
                  <a:defRPr b="1">
                    <a:latin typeface="微软雅黑" pitchFamily="34" charset="-122"/>
                    <a:ea typeface="微软雅黑" pitchFamily="34" charset="-122"/>
                  </a:defRPr>
                </a:pPr>
                <a:endParaRPr lang="zh-CN"/>
              </a:p>
            </c:txPr>
            <c:showLegendKey val="0"/>
            <c:showVal val="0"/>
            <c:showCatName val="0"/>
            <c:showSerName val="0"/>
            <c:showPercent val="0"/>
            <c:showBubbleSize val="0"/>
            <c:extLst>
              <c:ext xmlns:c15="http://schemas.microsoft.com/office/drawing/2012/chart" uri="{CE6537A1-D6FC-4f65-9D91-7224C49458BB}">
                <c15:showLeaderLines val="0"/>
              </c:ext>
            </c:extLst>
          </c:dLbls>
          <c:cat>
            <c:numRef>
              <c:f>国庆周!$A$14:$A$33</c:f>
              <c:numCache>
                <c:formatCode>m/d/yyyy</c:formatCode>
                <c:ptCount val="20"/>
                <c:pt idx="0">
                  <c:v>42631</c:v>
                </c:pt>
                <c:pt idx="1">
                  <c:v>42632</c:v>
                </c:pt>
                <c:pt idx="2">
                  <c:v>42633</c:v>
                </c:pt>
                <c:pt idx="3">
                  <c:v>42634</c:v>
                </c:pt>
                <c:pt idx="4">
                  <c:v>42635</c:v>
                </c:pt>
                <c:pt idx="5">
                  <c:v>42636</c:v>
                </c:pt>
                <c:pt idx="6">
                  <c:v>42637</c:v>
                </c:pt>
                <c:pt idx="7">
                  <c:v>42638</c:v>
                </c:pt>
                <c:pt idx="8">
                  <c:v>42639</c:v>
                </c:pt>
                <c:pt idx="9">
                  <c:v>42640</c:v>
                </c:pt>
                <c:pt idx="10">
                  <c:v>42641</c:v>
                </c:pt>
                <c:pt idx="11">
                  <c:v>42642</c:v>
                </c:pt>
                <c:pt idx="12">
                  <c:v>42643</c:v>
                </c:pt>
                <c:pt idx="13">
                  <c:v>42644</c:v>
                </c:pt>
                <c:pt idx="14">
                  <c:v>42645</c:v>
                </c:pt>
                <c:pt idx="15">
                  <c:v>42646</c:v>
                </c:pt>
                <c:pt idx="16">
                  <c:v>42647</c:v>
                </c:pt>
                <c:pt idx="17">
                  <c:v>42648</c:v>
                </c:pt>
                <c:pt idx="18">
                  <c:v>42649</c:v>
                </c:pt>
                <c:pt idx="19">
                  <c:v>42650</c:v>
                </c:pt>
              </c:numCache>
            </c:numRef>
          </c:cat>
          <c:val>
            <c:numRef>
              <c:f>国庆周!$B$14:$B$33</c:f>
              <c:numCache>
                <c:formatCode>General</c:formatCode>
                <c:ptCount val="20"/>
                <c:pt idx="0">
                  <c:v>1336</c:v>
                </c:pt>
                <c:pt idx="1">
                  <c:v>1371</c:v>
                </c:pt>
                <c:pt idx="2">
                  <c:v>1312</c:v>
                </c:pt>
                <c:pt idx="3">
                  <c:v>1352</c:v>
                </c:pt>
                <c:pt idx="4">
                  <c:v>1389</c:v>
                </c:pt>
                <c:pt idx="5">
                  <c:v>1439</c:v>
                </c:pt>
                <c:pt idx="6">
                  <c:v>127</c:v>
                </c:pt>
                <c:pt idx="7">
                  <c:v>189</c:v>
                </c:pt>
                <c:pt idx="8">
                  <c:v>1556</c:v>
                </c:pt>
                <c:pt idx="9">
                  <c:v>1542</c:v>
                </c:pt>
                <c:pt idx="10">
                  <c:v>1443</c:v>
                </c:pt>
                <c:pt idx="11">
                  <c:v>1809</c:v>
                </c:pt>
                <c:pt idx="12">
                  <c:v>2927</c:v>
                </c:pt>
                <c:pt idx="13">
                  <c:v>66</c:v>
                </c:pt>
                <c:pt idx="14">
                  <c:v>25</c:v>
                </c:pt>
                <c:pt idx="15">
                  <c:v>14</c:v>
                </c:pt>
                <c:pt idx="16">
                  <c:v>11</c:v>
                </c:pt>
                <c:pt idx="17">
                  <c:v>18</c:v>
                </c:pt>
                <c:pt idx="18">
                  <c:v>18</c:v>
                </c:pt>
                <c:pt idx="19">
                  <c:v>57</c:v>
                </c:pt>
              </c:numCache>
            </c:numRef>
          </c:val>
          <c:smooth val="0"/>
          <c:extLst>
            <c:ext xmlns:c16="http://schemas.microsoft.com/office/drawing/2014/chart" uri="{C3380CC4-5D6E-409C-BE32-E72D297353CC}">
              <c16:uniqueId val="{00000008-4C20-4944-A86C-4AF11F58067A}"/>
            </c:ext>
          </c:extLst>
        </c:ser>
        <c:dLbls>
          <c:showLegendKey val="0"/>
          <c:showVal val="0"/>
          <c:showCatName val="0"/>
          <c:showSerName val="0"/>
          <c:showPercent val="0"/>
          <c:showBubbleSize val="0"/>
        </c:dLbls>
        <c:marker val="1"/>
        <c:smooth val="0"/>
        <c:axId val="242172288"/>
        <c:axId val="242173824"/>
      </c:lineChart>
      <c:dateAx>
        <c:axId val="242172288"/>
        <c:scaling>
          <c:orientation val="minMax"/>
        </c:scaling>
        <c:delete val="0"/>
        <c:axPos val="b"/>
        <c:numFmt formatCode="m/d/yyyy" sourceLinked="1"/>
        <c:majorTickMark val="out"/>
        <c:minorTickMark val="none"/>
        <c:tickLblPos val="nextTo"/>
        <c:crossAx val="242173824"/>
        <c:crosses val="autoZero"/>
        <c:auto val="1"/>
        <c:lblOffset val="100"/>
        <c:baseTimeUnit val="days"/>
      </c:dateAx>
      <c:valAx>
        <c:axId val="242173824"/>
        <c:scaling>
          <c:orientation val="minMax"/>
        </c:scaling>
        <c:delete val="0"/>
        <c:axPos val="l"/>
        <c:numFmt formatCode="General" sourceLinked="1"/>
        <c:majorTickMark val="out"/>
        <c:minorTickMark val="none"/>
        <c:tickLblPos val="nextTo"/>
        <c:crossAx val="242172288"/>
        <c:crosses val="autoZero"/>
        <c:crossBetween val="between"/>
      </c:valAx>
    </c:plotArea>
    <c:legend>
      <c:legendPos val="r"/>
      <c:layout>
        <c:manualLayout>
          <c:xMode val="edge"/>
          <c:yMode val="edge"/>
          <c:x val="0.71736686367039093"/>
          <c:y val="0.21832640711577725"/>
          <c:w val="0.19444444444444445"/>
          <c:h val="8.3717191601049873E-2"/>
        </c:manualLayout>
      </c:layout>
      <c:overlay val="0"/>
      <c:txPr>
        <a:bodyPr/>
        <a:lstStyle/>
        <a:p>
          <a:pPr>
            <a:defRPr sz="1100">
              <a:latin typeface="微软雅黑" pitchFamily="34" charset="-122"/>
              <a:ea typeface="微软雅黑" pitchFamily="34" charset="-122"/>
            </a:defRPr>
          </a:pPr>
          <a:endParaRPr lang="zh-CN"/>
        </a:p>
      </c:txPr>
    </c:legend>
    <c:plotVisOnly val="1"/>
    <c:dispBlanksAs val="gap"/>
    <c:showDLblsOverMax val="0"/>
  </c:chart>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zh-CN" altLang="en-US" dirty="0">
                <a:latin typeface="微软雅黑" pitchFamily="34" charset="-122"/>
                <a:ea typeface="微软雅黑" pitchFamily="34" charset="-122"/>
              </a:rPr>
              <a:t>北京二手住宅城郊区价格涨幅走势图</a:t>
            </a:r>
          </a:p>
        </c:rich>
      </c:tx>
      <c:layout>
        <c:manualLayout>
          <c:xMode val="edge"/>
          <c:yMode val="edge"/>
          <c:x val="0.24058028087753314"/>
          <c:y val="2.7777777777777776E-2"/>
        </c:manualLayout>
      </c:layout>
      <c:overlay val="0"/>
    </c:title>
    <c:autoTitleDeleted val="0"/>
    <c:plotArea>
      <c:layout>
        <c:manualLayout>
          <c:layoutTarget val="inner"/>
          <c:xMode val="edge"/>
          <c:yMode val="edge"/>
          <c:x val="7.564553392049353E-2"/>
          <c:y val="0.17406240886555846"/>
          <c:w val="0.78348239833091537"/>
          <c:h val="0.72525116652085153"/>
        </c:manualLayout>
      </c:layout>
      <c:lineChart>
        <c:grouping val="standard"/>
        <c:varyColors val="0"/>
        <c:ser>
          <c:idx val="0"/>
          <c:order val="0"/>
          <c:tx>
            <c:strRef>
              <c:f>区域!$B$163</c:f>
              <c:strCache>
                <c:ptCount val="1"/>
                <c:pt idx="0">
                  <c:v>主城</c:v>
                </c:pt>
              </c:strCache>
            </c:strRef>
          </c:tx>
          <c:cat>
            <c:numRef>
              <c:f>区域!$A$164:$A$171</c:f>
              <c:numCache>
                <c:formatCode>General</c:formatCode>
                <c:ptCount val="8"/>
                <c:pt idx="0">
                  <c:v>201602</c:v>
                </c:pt>
                <c:pt idx="1">
                  <c:v>201603</c:v>
                </c:pt>
                <c:pt idx="2">
                  <c:v>201604</c:v>
                </c:pt>
                <c:pt idx="3">
                  <c:v>201605</c:v>
                </c:pt>
                <c:pt idx="4">
                  <c:v>201606</c:v>
                </c:pt>
                <c:pt idx="5">
                  <c:v>201607</c:v>
                </c:pt>
                <c:pt idx="6">
                  <c:v>201608</c:v>
                </c:pt>
                <c:pt idx="7">
                  <c:v>201609</c:v>
                </c:pt>
              </c:numCache>
            </c:numRef>
          </c:cat>
          <c:val>
            <c:numRef>
              <c:f>区域!$B$164:$B$171</c:f>
              <c:numCache>
                <c:formatCode>0.0%</c:formatCode>
                <c:ptCount val="8"/>
                <c:pt idx="0">
                  <c:v>2.2218143211915509E-2</c:v>
                </c:pt>
                <c:pt idx="1">
                  <c:v>6.1990927650755534E-2</c:v>
                </c:pt>
                <c:pt idx="2">
                  <c:v>2.8297014997884729E-2</c:v>
                </c:pt>
                <c:pt idx="3">
                  <c:v>1.9243533156459103E-2</c:v>
                </c:pt>
                <c:pt idx="4">
                  <c:v>1.4585664801809006E-2</c:v>
                </c:pt>
                <c:pt idx="5">
                  <c:v>8.3133366269083631E-3</c:v>
                </c:pt>
                <c:pt idx="6">
                  <c:v>1.6144958369324502E-2</c:v>
                </c:pt>
                <c:pt idx="7">
                  <c:v>3.2619270841427017E-2</c:v>
                </c:pt>
              </c:numCache>
            </c:numRef>
          </c:val>
          <c:smooth val="0"/>
          <c:extLst>
            <c:ext xmlns:c16="http://schemas.microsoft.com/office/drawing/2014/chart" uri="{C3380CC4-5D6E-409C-BE32-E72D297353CC}">
              <c16:uniqueId val="{00000000-C480-46EC-93CA-C276C5AA0532}"/>
            </c:ext>
          </c:extLst>
        </c:ser>
        <c:ser>
          <c:idx val="1"/>
          <c:order val="1"/>
          <c:tx>
            <c:strRef>
              <c:f>区域!$C$163</c:f>
              <c:strCache>
                <c:ptCount val="1"/>
                <c:pt idx="0">
                  <c:v>近郊</c:v>
                </c:pt>
              </c:strCache>
            </c:strRef>
          </c:tx>
          <c:cat>
            <c:numRef>
              <c:f>区域!$A$164:$A$171</c:f>
              <c:numCache>
                <c:formatCode>General</c:formatCode>
                <c:ptCount val="8"/>
                <c:pt idx="0">
                  <c:v>201602</c:v>
                </c:pt>
                <c:pt idx="1">
                  <c:v>201603</c:v>
                </c:pt>
                <c:pt idx="2">
                  <c:v>201604</c:v>
                </c:pt>
                <c:pt idx="3">
                  <c:v>201605</c:v>
                </c:pt>
                <c:pt idx="4">
                  <c:v>201606</c:v>
                </c:pt>
                <c:pt idx="5">
                  <c:v>201607</c:v>
                </c:pt>
                <c:pt idx="6">
                  <c:v>201608</c:v>
                </c:pt>
                <c:pt idx="7">
                  <c:v>201609</c:v>
                </c:pt>
              </c:numCache>
            </c:numRef>
          </c:cat>
          <c:val>
            <c:numRef>
              <c:f>区域!$C$164:$C$171</c:f>
              <c:numCache>
                <c:formatCode>0.0%</c:formatCode>
                <c:ptCount val="8"/>
                <c:pt idx="0">
                  <c:v>1.786689093040339E-2</c:v>
                </c:pt>
                <c:pt idx="1">
                  <c:v>4.8851902779963208E-2</c:v>
                </c:pt>
                <c:pt idx="2">
                  <c:v>1.868115958894534E-2</c:v>
                </c:pt>
                <c:pt idx="3">
                  <c:v>1.5678539744931719E-2</c:v>
                </c:pt>
                <c:pt idx="4">
                  <c:v>2.2329466290460065E-2</c:v>
                </c:pt>
                <c:pt idx="5">
                  <c:v>8.3008675239186758E-3</c:v>
                </c:pt>
                <c:pt idx="6">
                  <c:v>2.2529563088324212E-2</c:v>
                </c:pt>
                <c:pt idx="7">
                  <c:v>3.8531415928986901E-2</c:v>
                </c:pt>
              </c:numCache>
            </c:numRef>
          </c:val>
          <c:smooth val="0"/>
          <c:extLst>
            <c:ext xmlns:c16="http://schemas.microsoft.com/office/drawing/2014/chart" uri="{C3380CC4-5D6E-409C-BE32-E72D297353CC}">
              <c16:uniqueId val="{00000001-C480-46EC-93CA-C276C5AA0532}"/>
            </c:ext>
          </c:extLst>
        </c:ser>
        <c:ser>
          <c:idx val="2"/>
          <c:order val="2"/>
          <c:tx>
            <c:strRef>
              <c:f>区域!$D$163</c:f>
              <c:strCache>
                <c:ptCount val="1"/>
                <c:pt idx="0">
                  <c:v>远郊</c:v>
                </c:pt>
              </c:strCache>
            </c:strRef>
          </c:tx>
          <c:cat>
            <c:numRef>
              <c:f>区域!$A$164:$A$171</c:f>
              <c:numCache>
                <c:formatCode>General</c:formatCode>
                <c:ptCount val="8"/>
                <c:pt idx="0">
                  <c:v>201602</c:v>
                </c:pt>
                <c:pt idx="1">
                  <c:v>201603</c:v>
                </c:pt>
                <c:pt idx="2">
                  <c:v>201604</c:v>
                </c:pt>
                <c:pt idx="3">
                  <c:v>201605</c:v>
                </c:pt>
                <c:pt idx="4">
                  <c:v>201606</c:v>
                </c:pt>
                <c:pt idx="5">
                  <c:v>201607</c:v>
                </c:pt>
                <c:pt idx="6">
                  <c:v>201608</c:v>
                </c:pt>
                <c:pt idx="7">
                  <c:v>201609</c:v>
                </c:pt>
              </c:numCache>
            </c:numRef>
          </c:cat>
          <c:val>
            <c:numRef>
              <c:f>区域!$D$164:$D$171</c:f>
              <c:numCache>
                <c:formatCode>0.0%</c:formatCode>
                <c:ptCount val="8"/>
                <c:pt idx="0">
                  <c:v>1.0546929763932011E-2</c:v>
                </c:pt>
                <c:pt idx="1">
                  <c:v>1.9345631120169182E-2</c:v>
                </c:pt>
                <c:pt idx="2">
                  <c:v>1.1687640045016989E-2</c:v>
                </c:pt>
                <c:pt idx="3">
                  <c:v>1.7676049302040031E-2</c:v>
                </c:pt>
                <c:pt idx="4">
                  <c:v>1.2456617313402418E-2</c:v>
                </c:pt>
                <c:pt idx="5">
                  <c:v>4.5615813482007272E-3</c:v>
                </c:pt>
                <c:pt idx="6">
                  <c:v>9.1269496120711668E-3</c:v>
                </c:pt>
                <c:pt idx="7">
                  <c:v>3.3737465041413284E-2</c:v>
                </c:pt>
              </c:numCache>
            </c:numRef>
          </c:val>
          <c:smooth val="0"/>
          <c:extLst>
            <c:ext xmlns:c16="http://schemas.microsoft.com/office/drawing/2014/chart" uri="{C3380CC4-5D6E-409C-BE32-E72D297353CC}">
              <c16:uniqueId val="{00000002-C480-46EC-93CA-C276C5AA0532}"/>
            </c:ext>
          </c:extLst>
        </c:ser>
        <c:dLbls>
          <c:showLegendKey val="0"/>
          <c:showVal val="0"/>
          <c:showCatName val="0"/>
          <c:showSerName val="0"/>
          <c:showPercent val="0"/>
          <c:showBubbleSize val="0"/>
        </c:dLbls>
        <c:marker val="1"/>
        <c:smooth val="0"/>
        <c:axId val="241645056"/>
        <c:axId val="241646592"/>
      </c:lineChart>
      <c:catAx>
        <c:axId val="241645056"/>
        <c:scaling>
          <c:orientation val="minMax"/>
        </c:scaling>
        <c:delete val="0"/>
        <c:axPos val="b"/>
        <c:numFmt formatCode="General" sourceLinked="1"/>
        <c:majorTickMark val="out"/>
        <c:minorTickMark val="none"/>
        <c:tickLblPos val="nextTo"/>
        <c:txPr>
          <a:bodyPr/>
          <a:lstStyle/>
          <a:p>
            <a:pPr>
              <a:defRPr sz="1050" b="1">
                <a:latin typeface="微软雅黑" pitchFamily="34" charset="-122"/>
                <a:ea typeface="微软雅黑" pitchFamily="34" charset="-122"/>
              </a:defRPr>
            </a:pPr>
            <a:endParaRPr lang="zh-CN"/>
          </a:p>
        </c:txPr>
        <c:crossAx val="241646592"/>
        <c:crosses val="autoZero"/>
        <c:auto val="1"/>
        <c:lblAlgn val="ctr"/>
        <c:lblOffset val="100"/>
        <c:noMultiLvlLbl val="0"/>
      </c:catAx>
      <c:valAx>
        <c:axId val="241646592"/>
        <c:scaling>
          <c:orientation val="minMax"/>
        </c:scaling>
        <c:delete val="0"/>
        <c:axPos val="l"/>
        <c:numFmt formatCode="0.0%" sourceLinked="1"/>
        <c:majorTickMark val="out"/>
        <c:minorTickMark val="none"/>
        <c:tickLblPos val="nextTo"/>
        <c:txPr>
          <a:bodyPr/>
          <a:lstStyle/>
          <a:p>
            <a:pPr>
              <a:defRPr b="1">
                <a:latin typeface="微软雅黑" pitchFamily="34" charset="-122"/>
                <a:ea typeface="微软雅黑" pitchFamily="34" charset="-122"/>
              </a:defRPr>
            </a:pPr>
            <a:endParaRPr lang="zh-CN"/>
          </a:p>
        </c:txPr>
        <c:crossAx val="241645056"/>
        <c:crosses val="autoZero"/>
        <c:crossBetween val="between"/>
      </c:valAx>
    </c:plotArea>
    <c:legend>
      <c:legendPos val="r"/>
      <c:layout>
        <c:manualLayout>
          <c:xMode val="edge"/>
          <c:yMode val="edge"/>
          <c:x val="0.87360385946062824"/>
          <c:y val="0.46457421988918052"/>
          <c:w val="0.10150443966032618"/>
          <c:h val="0.26476377952755903"/>
        </c:manualLayout>
      </c:layout>
      <c:overlay val="0"/>
      <c:txPr>
        <a:bodyPr/>
        <a:lstStyle/>
        <a:p>
          <a:pPr>
            <a:defRPr>
              <a:latin typeface="微软雅黑" pitchFamily="34" charset="-122"/>
              <a:ea typeface="微软雅黑" pitchFamily="34" charset="-122"/>
            </a:defRPr>
          </a:pPr>
          <a:endParaRPr lang="zh-CN"/>
        </a:p>
      </c:txPr>
    </c:legend>
    <c:plotVisOnly val="1"/>
    <c:dispBlanksAs val="gap"/>
    <c:showDLblsOverMax val="0"/>
  </c:chart>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zh-CN" altLang="en-US" dirty="0"/>
              <a:t>北京二手住宅各行政区均价</a:t>
            </a:r>
          </a:p>
        </c:rich>
      </c:tx>
      <c:overlay val="0"/>
    </c:title>
    <c:autoTitleDeleted val="0"/>
    <c:plotArea>
      <c:layout>
        <c:manualLayout>
          <c:layoutTarget val="inner"/>
          <c:xMode val="edge"/>
          <c:yMode val="edge"/>
          <c:x val="0.13415655912091767"/>
          <c:y val="0.1303474952243171"/>
          <c:w val="0.79228642194373589"/>
          <c:h val="0.57911258892145756"/>
        </c:manualLayout>
      </c:layout>
      <c:barChart>
        <c:barDir val="col"/>
        <c:grouping val="clustered"/>
        <c:varyColors val="0"/>
        <c:ser>
          <c:idx val="0"/>
          <c:order val="0"/>
          <c:tx>
            <c:strRef>
              <c:f>成交价!$C$151</c:f>
              <c:strCache>
                <c:ptCount val="1"/>
                <c:pt idx="0">
                  <c:v>9月</c:v>
                </c:pt>
              </c:strCache>
            </c:strRef>
          </c:tx>
          <c:spPr>
            <a:solidFill>
              <a:srgbClr val="006EC7">
                <a:alpha val="49000"/>
              </a:srgbClr>
            </a:solidFill>
            <a:ln>
              <a:noFill/>
            </a:ln>
          </c:spPr>
          <c:invertIfNegative val="0"/>
          <c:cat>
            <c:multiLvlStrRef>
              <c:f>成交价!$A$152:$B$167</c:f>
              <c:multiLvlStrCache>
                <c:ptCount val="16"/>
                <c:lvl>
                  <c:pt idx="0">
                    <c:v>西城</c:v>
                  </c:pt>
                  <c:pt idx="1">
                    <c:v>东城</c:v>
                  </c:pt>
                  <c:pt idx="2">
                    <c:v>海淀</c:v>
                  </c:pt>
                  <c:pt idx="3">
                    <c:v>朝阳</c:v>
                  </c:pt>
                  <c:pt idx="4">
                    <c:v>丰台</c:v>
                  </c:pt>
                  <c:pt idx="5">
                    <c:v>石景山</c:v>
                  </c:pt>
                  <c:pt idx="6">
                    <c:v>通州</c:v>
                  </c:pt>
                  <c:pt idx="7">
                    <c:v>大兴</c:v>
                  </c:pt>
                  <c:pt idx="8">
                    <c:v>顺义</c:v>
                  </c:pt>
                  <c:pt idx="9">
                    <c:v>昌平</c:v>
                  </c:pt>
                  <c:pt idx="10">
                    <c:v>门头沟</c:v>
                  </c:pt>
                  <c:pt idx="11">
                    <c:v>房山</c:v>
                  </c:pt>
                  <c:pt idx="12">
                    <c:v>怀柔</c:v>
                  </c:pt>
                  <c:pt idx="13">
                    <c:v>密云</c:v>
                  </c:pt>
                  <c:pt idx="14">
                    <c:v>延庆</c:v>
                  </c:pt>
                  <c:pt idx="15">
                    <c:v>平谷</c:v>
                  </c:pt>
                </c:lvl>
                <c:lvl>
                  <c:pt idx="0">
                    <c:v>主城区</c:v>
                  </c:pt>
                  <c:pt idx="6">
                    <c:v>近郊区</c:v>
                  </c:pt>
                  <c:pt idx="12">
                    <c:v>远郊区</c:v>
                  </c:pt>
                </c:lvl>
              </c:multiLvlStrCache>
            </c:multiLvlStrRef>
          </c:cat>
          <c:val>
            <c:numRef>
              <c:f>成交价!$C$152:$C$167</c:f>
              <c:numCache>
                <c:formatCode>0_);[Red]\(0\)</c:formatCode>
                <c:ptCount val="16"/>
                <c:pt idx="0">
                  <c:v>85116.658112531426</c:v>
                </c:pt>
                <c:pt idx="1">
                  <c:v>77554.08174852845</c:v>
                </c:pt>
                <c:pt idx="2">
                  <c:v>66120.756052169876</c:v>
                </c:pt>
                <c:pt idx="3">
                  <c:v>52771.186544180491</c:v>
                </c:pt>
                <c:pt idx="4">
                  <c:v>40876.338142778142</c:v>
                </c:pt>
                <c:pt idx="5">
                  <c:v>37342.582607165263</c:v>
                </c:pt>
                <c:pt idx="6">
                  <c:v>35364.638522690788</c:v>
                </c:pt>
                <c:pt idx="7">
                  <c:v>30478.2584115014</c:v>
                </c:pt>
                <c:pt idx="8">
                  <c:v>27476.110449783759</c:v>
                </c:pt>
                <c:pt idx="9">
                  <c:v>26945.074609871579</c:v>
                </c:pt>
                <c:pt idx="10">
                  <c:v>22713.758813628268</c:v>
                </c:pt>
                <c:pt idx="11">
                  <c:v>16899.090823736522</c:v>
                </c:pt>
                <c:pt idx="12">
                  <c:v>20213.461275764279</c:v>
                </c:pt>
                <c:pt idx="13">
                  <c:v>18623.712210625468</c:v>
                </c:pt>
                <c:pt idx="14">
                  <c:v>20424.165415586187</c:v>
                </c:pt>
                <c:pt idx="15">
                  <c:v>17618.699224606757</c:v>
                </c:pt>
              </c:numCache>
            </c:numRef>
          </c:val>
          <c:extLst>
            <c:ext xmlns:c16="http://schemas.microsoft.com/office/drawing/2014/chart" uri="{C3380CC4-5D6E-409C-BE32-E72D297353CC}">
              <c16:uniqueId val="{00000000-A4EB-49F2-A09A-2181C77F895F}"/>
            </c:ext>
          </c:extLst>
        </c:ser>
        <c:dLbls>
          <c:showLegendKey val="0"/>
          <c:showVal val="0"/>
          <c:showCatName val="0"/>
          <c:showSerName val="0"/>
          <c:showPercent val="0"/>
          <c:showBubbleSize val="0"/>
        </c:dLbls>
        <c:gapWidth val="150"/>
        <c:axId val="241692672"/>
        <c:axId val="241694208"/>
      </c:barChart>
      <c:lineChart>
        <c:grouping val="standard"/>
        <c:varyColors val="0"/>
        <c:ser>
          <c:idx val="1"/>
          <c:order val="1"/>
          <c:tx>
            <c:strRef>
              <c:f>成交价!$E$151</c:f>
              <c:strCache>
                <c:ptCount val="1"/>
                <c:pt idx="0">
                  <c:v>平均值</c:v>
                </c:pt>
              </c:strCache>
            </c:strRef>
          </c:tx>
          <c:spPr>
            <a:ln w="38100">
              <a:solidFill>
                <a:srgbClr val="C00000"/>
              </a:solidFill>
              <a:prstDash val="sysDash"/>
            </a:ln>
          </c:spPr>
          <c:marker>
            <c:symbol val="none"/>
          </c:marker>
          <c:dPt>
            <c:idx val="6"/>
            <c:bubble3D val="0"/>
            <c:spPr>
              <a:ln w="38100">
                <a:noFill/>
                <a:prstDash val="sysDash"/>
              </a:ln>
            </c:spPr>
            <c:extLst>
              <c:ext xmlns:c16="http://schemas.microsoft.com/office/drawing/2014/chart" uri="{C3380CC4-5D6E-409C-BE32-E72D297353CC}">
                <c16:uniqueId val="{00000002-A4EB-49F2-A09A-2181C77F895F}"/>
              </c:ext>
            </c:extLst>
          </c:dPt>
          <c:dPt>
            <c:idx val="12"/>
            <c:bubble3D val="0"/>
            <c:spPr>
              <a:ln w="38100">
                <a:noFill/>
                <a:prstDash val="sysDash"/>
              </a:ln>
            </c:spPr>
            <c:extLst>
              <c:ext xmlns:c16="http://schemas.microsoft.com/office/drawing/2014/chart" uri="{C3380CC4-5D6E-409C-BE32-E72D297353CC}">
                <c16:uniqueId val="{00000004-A4EB-49F2-A09A-2181C77F895F}"/>
              </c:ext>
            </c:extLst>
          </c:dPt>
          <c:dLbls>
            <c:dLbl>
              <c:idx val="2"/>
              <c:layout>
                <c:manualLayout>
                  <c:x val="-3.5993740219092331E-2"/>
                  <c:y val="-6.6149881568273061E-2"/>
                </c:manualLayout>
              </c:layout>
              <c:tx>
                <c:rich>
                  <a:bodyPr/>
                  <a:lstStyle/>
                  <a:p>
                    <a:pPr>
                      <a:defRPr sz="1100" b="1"/>
                    </a:pPr>
                    <a:r>
                      <a:rPr lang="en-US" altLang="zh-CN" sz="1100" b="1" dirty="0"/>
                      <a:t>59964</a:t>
                    </a:r>
                    <a:r>
                      <a:rPr lang="zh-CN" altLang="en-US" sz="1100" b="1" dirty="0"/>
                      <a:t>元</a:t>
                    </a:r>
                    <a:r>
                      <a:rPr lang="en-US" altLang="zh-CN" sz="1100" b="1" dirty="0"/>
                      <a:t>/㎡ </a:t>
                    </a:r>
                    <a:endParaRPr lang="zh-CN" altLang="en-US" sz="1200" b="1" dirty="0"/>
                  </a:p>
                </c:rich>
              </c:tx>
              <c:sp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A4EB-49F2-A09A-2181C77F895F}"/>
                </c:ext>
              </c:extLst>
            </c:dLbl>
            <c:dLbl>
              <c:idx val="9"/>
              <c:layout>
                <c:manualLayout>
                  <c:x val="-7.1987480438184662E-2"/>
                  <c:y val="-6.2015513970255995E-2"/>
                </c:manualLayout>
              </c:layout>
              <c:tx>
                <c:rich>
                  <a:bodyPr/>
                  <a:lstStyle/>
                  <a:p>
                    <a:pPr>
                      <a:defRPr sz="1100" b="1"/>
                    </a:pPr>
                    <a:r>
                      <a:rPr lang="en-US" altLang="zh-CN" sz="1100" b="1" dirty="0"/>
                      <a:t>26646</a:t>
                    </a:r>
                    <a:r>
                      <a:rPr lang="zh-CN" altLang="en-US" sz="1100" b="1" dirty="0"/>
                      <a:t>元</a:t>
                    </a:r>
                    <a:r>
                      <a:rPr lang="en-US" altLang="zh-CN" sz="1100" b="1" dirty="0"/>
                      <a:t>/㎡ </a:t>
                    </a:r>
                    <a:endParaRPr lang="zh-CN" altLang="en-US" sz="1200" b="1" dirty="0"/>
                  </a:p>
                </c:rich>
              </c:tx>
              <c:sp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A4EB-49F2-A09A-2181C77F895F}"/>
                </c:ext>
              </c:extLst>
            </c:dLbl>
            <c:dLbl>
              <c:idx val="14"/>
              <c:layout>
                <c:manualLayout>
                  <c:x val="-4.5383411580594564E-2"/>
                  <c:y val="-6.2015513970255995E-2"/>
                </c:manualLayout>
              </c:layout>
              <c:tx>
                <c:rich>
                  <a:bodyPr/>
                  <a:lstStyle/>
                  <a:p>
                    <a:pPr>
                      <a:defRPr sz="1100" b="1"/>
                    </a:pPr>
                    <a:r>
                      <a:rPr lang="en-US" altLang="zh-CN" sz="1100" b="1" dirty="0"/>
                      <a:t>19220</a:t>
                    </a:r>
                    <a:r>
                      <a:rPr lang="zh-CN" altLang="en-US" sz="1100" b="1" dirty="0"/>
                      <a:t>元</a:t>
                    </a:r>
                    <a:r>
                      <a:rPr lang="en-US" altLang="zh-CN" sz="1100" b="1" dirty="0"/>
                      <a:t>/㎡ </a:t>
                    </a:r>
                    <a:endParaRPr lang="zh-CN" altLang="en-US" sz="1200" b="1" dirty="0"/>
                  </a:p>
                </c:rich>
              </c:tx>
              <c:sp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A4EB-49F2-A09A-2181C77F895F}"/>
                </c:ext>
              </c:extLst>
            </c:dLbl>
            <c:spPr>
              <a:noFill/>
              <a:ln>
                <a:noFill/>
              </a:ln>
              <a:effectLst/>
            </c:spPr>
            <c:txPr>
              <a:bodyPr/>
              <a:lstStyle/>
              <a:p>
                <a:pPr>
                  <a:defRPr sz="1100"/>
                </a:pPr>
                <a:endParaRPr lang="zh-CN"/>
              </a:p>
            </c:txPr>
            <c:showLegendKey val="0"/>
            <c:showVal val="0"/>
            <c:showCatName val="0"/>
            <c:showSerName val="0"/>
            <c:showPercent val="0"/>
            <c:showBubbleSize val="0"/>
            <c:extLst>
              <c:ext xmlns:c15="http://schemas.microsoft.com/office/drawing/2012/chart" uri="{CE6537A1-D6FC-4f65-9D91-7224C49458BB}">
                <c15:showLeaderLines val="0"/>
              </c:ext>
            </c:extLst>
          </c:dLbls>
          <c:cat>
            <c:multiLvlStrRef>
              <c:f>成交价!$A$152:$B$167</c:f>
              <c:multiLvlStrCache>
                <c:ptCount val="16"/>
                <c:lvl>
                  <c:pt idx="0">
                    <c:v>西城</c:v>
                  </c:pt>
                  <c:pt idx="1">
                    <c:v>东城</c:v>
                  </c:pt>
                  <c:pt idx="2">
                    <c:v>海淀</c:v>
                  </c:pt>
                  <c:pt idx="3">
                    <c:v>朝阳</c:v>
                  </c:pt>
                  <c:pt idx="4">
                    <c:v>丰台</c:v>
                  </c:pt>
                  <c:pt idx="5">
                    <c:v>石景山</c:v>
                  </c:pt>
                  <c:pt idx="6">
                    <c:v>通州</c:v>
                  </c:pt>
                  <c:pt idx="7">
                    <c:v>大兴</c:v>
                  </c:pt>
                  <c:pt idx="8">
                    <c:v>顺义</c:v>
                  </c:pt>
                  <c:pt idx="9">
                    <c:v>昌平</c:v>
                  </c:pt>
                  <c:pt idx="10">
                    <c:v>门头沟</c:v>
                  </c:pt>
                  <c:pt idx="11">
                    <c:v>房山</c:v>
                  </c:pt>
                  <c:pt idx="12">
                    <c:v>怀柔</c:v>
                  </c:pt>
                  <c:pt idx="13">
                    <c:v>密云</c:v>
                  </c:pt>
                  <c:pt idx="14">
                    <c:v>延庆</c:v>
                  </c:pt>
                  <c:pt idx="15">
                    <c:v>平谷</c:v>
                  </c:pt>
                </c:lvl>
                <c:lvl>
                  <c:pt idx="0">
                    <c:v>主城区</c:v>
                  </c:pt>
                  <c:pt idx="6">
                    <c:v>近郊区</c:v>
                  </c:pt>
                  <c:pt idx="12">
                    <c:v>远郊区</c:v>
                  </c:pt>
                </c:lvl>
              </c:multiLvlStrCache>
            </c:multiLvlStrRef>
          </c:cat>
          <c:val>
            <c:numRef>
              <c:f>成交价!$E$152:$E$167</c:f>
              <c:numCache>
                <c:formatCode>0_);[Red]\(0\)</c:formatCode>
                <c:ptCount val="16"/>
                <c:pt idx="0">
                  <c:v>59963.600534558944</c:v>
                </c:pt>
                <c:pt idx="1">
                  <c:v>59963.600534558944</c:v>
                </c:pt>
                <c:pt idx="2">
                  <c:v>59963.600534558944</c:v>
                </c:pt>
                <c:pt idx="3">
                  <c:v>59963.600534558944</c:v>
                </c:pt>
                <c:pt idx="4">
                  <c:v>59963.600534558944</c:v>
                </c:pt>
                <c:pt idx="5">
                  <c:v>59963.600534558944</c:v>
                </c:pt>
                <c:pt idx="6">
                  <c:v>26646.155271868716</c:v>
                </c:pt>
                <c:pt idx="7">
                  <c:v>26646.155271868716</c:v>
                </c:pt>
                <c:pt idx="8">
                  <c:v>26646.155271868716</c:v>
                </c:pt>
                <c:pt idx="9">
                  <c:v>26646.155271868716</c:v>
                </c:pt>
                <c:pt idx="10">
                  <c:v>26646.155271868716</c:v>
                </c:pt>
                <c:pt idx="11">
                  <c:v>26646.155271868716</c:v>
                </c:pt>
                <c:pt idx="12">
                  <c:v>19220.009531645672</c:v>
                </c:pt>
                <c:pt idx="13">
                  <c:v>19220.009531645672</c:v>
                </c:pt>
                <c:pt idx="14">
                  <c:v>19220.009531645672</c:v>
                </c:pt>
                <c:pt idx="15">
                  <c:v>19220.009531645672</c:v>
                </c:pt>
              </c:numCache>
            </c:numRef>
          </c:val>
          <c:smooth val="0"/>
          <c:extLst>
            <c:ext xmlns:c16="http://schemas.microsoft.com/office/drawing/2014/chart" uri="{C3380CC4-5D6E-409C-BE32-E72D297353CC}">
              <c16:uniqueId val="{00000008-A4EB-49F2-A09A-2181C77F895F}"/>
            </c:ext>
          </c:extLst>
        </c:ser>
        <c:dLbls>
          <c:showLegendKey val="0"/>
          <c:showVal val="0"/>
          <c:showCatName val="0"/>
          <c:showSerName val="0"/>
          <c:showPercent val="0"/>
          <c:showBubbleSize val="0"/>
        </c:dLbls>
        <c:marker val="1"/>
        <c:smooth val="0"/>
        <c:axId val="241692672"/>
        <c:axId val="241694208"/>
      </c:lineChart>
      <c:catAx>
        <c:axId val="241692672"/>
        <c:scaling>
          <c:orientation val="minMax"/>
        </c:scaling>
        <c:delete val="0"/>
        <c:axPos val="b"/>
        <c:numFmt formatCode="General" sourceLinked="0"/>
        <c:majorTickMark val="out"/>
        <c:minorTickMark val="none"/>
        <c:tickLblPos val="nextTo"/>
        <c:spPr>
          <a:ln>
            <a:solidFill>
              <a:schemeClr val="bg1">
                <a:lumMod val="85000"/>
              </a:schemeClr>
            </a:solidFill>
          </a:ln>
        </c:spPr>
        <c:txPr>
          <a:bodyPr/>
          <a:lstStyle/>
          <a:p>
            <a:pPr>
              <a:defRPr sz="1050" b="1"/>
            </a:pPr>
            <a:endParaRPr lang="zh-CN"/>
          </a:p>
        </c:txPr>
        <c:crossAx val="241694208"/>
        <c:crosses val="autoZero"/>
        <c:auto val="1"/>
        <c:lblAlgn val="ctr"/>
        <c:lblOffset val="100"/>
        <c:tickLblSkip val="2"/>
        <c:noMultiLvlLbl val="0"/>
      </c:catAx>
      <c:valAx>
        <c:axId val="241694208"/>
        <c:scaling>
          <c:orientation val="minMax"/>
          <c:max val="90000"/>
          <c:min val="0"/>
        </c:scaling>
        <c:delete val="0"/>
        <c:axPos val="l"/>
        <c:numFmt formatCode="0_);[Red]\(0\)" sourceLinked="1"/>
        <c:majorTickMark val="out"/>
        <c:minorTickMark val="none"/>
        <c:tickLblPos val="nextTo"/>
        <c:spPr>
          <a:noFill/>
          <a:ln>
            <a:solidFill>
              <a:schemeClr val="bg1">
                <a:lumMod val="75000"/>
              </a:schemeClr>
            </a:solidFill>
          </a:ln>
        </c:spPr>
        <c:txPr>
          <a:bodyPr/>
          <a:lstStyle/>
          <a:p>
            <a:pPr>
              <a:defRPr sz="1050" b="1"/>
            </a:pPr>
            <a:endParaRPr lang="zh-CN"/>
          </a:p>
        </c:txPr>
        <c:crossAx val="241692672"/>
        <c:crosses val="autoZero"/>
        <c:crossBetween val="between"/>
        <c:majorUnit val="20000"/>
      </c:valAx>
    </c:plotArea>
    <c:plotVisOnly val="1"/>
    <c:dispBlanksAs val="gap"/>
    <c:showDLblsOverMax val="0"/>
  </c:chart>
  <c:spPr>
    <a:ln>
      <a:noFill/>
    </a:ln>
  </c:spPr>
  <c:txPr>
    <a:bodyPr/>
    <a:lstStyle/>
    <a:p>
      <a:pPr>
        <a:defRPr>
          <a:latin typeface="微软雅黑" pitchFamily="34" charset="-122"/>
          <a:ea typeface="微软雅黑" pitchFamily="34" charset="-122"/>
        </a:defRPr>
      </a:pPr>
      <a:endParaRPr lang="zh-CN"/>
    </a:p>
  </c:tx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a:t>2016</a:t>
            </a:r>
            <a:r>
              <a:rPr lang="zh-CN" dirty="0"/>
              <a:t>年</a:t>
            </a:r>
            <a:r>
              <a:rPr lang="en-US" dirty="0"/>
              <a:t>1-8</a:t>
            </a:r>
            <a:r>
              <a:rPr lang="zh-CN" dirty="0"/>
              <a:t>月北京市二手住宅</a:t>
            </a:r>
            <a:r>
              <a:rPr lang="zh-CN" altLang="en-US" dirty="0"/>
              <a:t>成交</a:t>
            </a:r>
            <a:r>
              <a:rPr lang="zh-CN" dirty="0"/>
              <a:t>房源</a:t>
            </a:r>
            <a:r>
              <a:rPr lang="zh-CN" altLang="en-US" dirty="0"/>
              <a:t>售前状态情况</a:t>
            </a:r>
            <a:endParaRPr lang="zh-CN" dirty="0"/>
          </a:p>
        </c:rich>
      </c:tx>
      <c:layout>
        <c:manualLayout>
          <c:xMode val="edge"/>
          <c:yMode val="edge"/>
          <c:x val="0.1216108672292453"/>
          <c:y val="4.6488870125227108E-2"/>
        </c:manualLayout>
      </c:layout>
      <c:overlay val="0"/>
    </c:title>
    <c:autoTitleDeleted val="0"/>
    <c:plotArea>
      <c:layout>
        <c:manualLayout>
          <c:layoutTarget val="inner"/>
          <c:xMode val="edge"/>
          <c:yMode val="edge"/>
          <c:x val="0.10831034863117248"/>
          <c:y val="0.25684429645012941"/>
          <c:w val="0.84265433519828059"/>
          <c:h val="0.55423943633697159"/>
        </c:manualLayout>
      </c:layout>
      <c:barChart>
        <c:barDir val="col"/>
        <c:grouping val="clustered"/>
        <c:varyColors val="0"/>
        <c:ser>
          <c:idx val="0"/>
          <c:order val="0"/>
          <c:spPr>
            <a:solidFill>
              <a:srgbClr val="006EC7">
                <a:alpha val="67000"/>
              </a:srgbClr>
            </a:solidFill>
          </c:spPr>
          <c:invertIfNegative val="0"/>
          <c:dPt>
            <c:idx val="0"/>
            <c:invertIfNegative val="0"/>
            <c:bubble3D val="0"/>
            <c:extLst>
              <c:ext xmlns:c16="http://schemas.microsoft.com/office/drawing/2014/chart" uri="{C3380CC4-5D6E-409C-BE32-E72D297353CC}">
                <c16:uniqueId val="{00000000-6602-45DF-9D1B-ABCC67EE1E17}"/>
              </c:ext>
            </c:extLst>
          </c:dPt>
          <c:dPt>
            <c:idx val="1"/>
            <c:invertIfNegative val="0"/>
            <c:bubble3D val="0"/>
            <c:extLst>
              <c:ext xmlns:c16="http://schemas.microsoft.com/office/drawing/2014/chart" uri="{C3380CC4-5D6E-409C-BE32-E72D297353CC}">
                <c16:uniqueId val="{00000001-6602-45DF-9D1B-ABCC67EE1E17}"/>
              </c:ext>
            </c:extLst>
          </c:dPt>
          <c:dPt>
            <c:idx val="2"/>
            <c:invertIfNegative val="0"/>
            <c:bubble3D val="0"/>
            <c:extLst>
              <c:ext xmlns:c16="http://schemas.microsoft.com/office/drawing/2014/chart" uri="{C3380CC4-5D6E-409C-BE32-E72D297353CC}">
                <c16:uniqueId val="{00000002-6602-45DF-9D1B-ABCC67EE1E17}"/>
              </c:ext>
            </c:extLst>
          </c:dPt>
          <c:dLbls>
            <c:spPr>
              <a:noFill/>
              <a:ln>
                <a:noFill/>
              </a:ln>
              <a:effectLst/>
            </c:spPr>
            <c:txPr>
              <a:bodyPr/>
              <a:lstStyle/>
              <a:p>
                <a:pPr>
                  <a:defRPr sz="1200" b="1"/>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Sheet1!$B$6:$B$8</c:f>
              <c:strCache>
                <c:ptCount val="3"/>
                <c:pt idx="0">
                  <c:v>空置</c:v>
                </c:pt>
                <c:pt idx="1">
                  <c:v>出租</c:v>
                </c:pt>
                <c:pt idx="2">
                  <c:v>自住</c:v>
                </c:pt>
              </c:strCache>
            </c:strRef>
          </c:cat>
          <c:val>
            <c:numRef>
              <c:f>Sheet1!$C$6:$C$8</c:f>
              <c:numCache>
                <c:formatCode>0.00%</c:formatCode>
                <c:ptCount val="3"/>
                <c:pt idx="0">
                  <c:v>0.23451110207173215</c:v>
                </c:pt>
                <c:pt idx="1">
                  <c:v>0.35247499754534106</c:v>
                </c:pt>
                <c:pt idx="2">
                  <c:v>0.41302792700545637</c:v>
                </c:pt>
              </c:numCache>
            </c:numRef>
          </c:val>
          <c:extLst>
            <c:ext xmlns:c16="http://schemas.microsoft.com/office/drawing/2014/chart" uri="{C3380CC4-5D6E-409C-BE32-E72D297353CC}">
              <c16:uniqueId val="{00000003-6602-45DF-9D1B-ABCC67EE1E17}"/>
            </c:ext>
          </c:extLst>
        </c:ser>
        <c:dLbls>
          <c:showLegendKey val="0"/>
          <c:showVal val="0"/>
          <c:showCatName val="0"/>
          <c:showSerName val="0"/>
          <c:showPercent val="0"/>
          <c:showBubbleSize val="0"/>
        </c:dLbls>
        <c:gapWidth val="150"/>
        <c:axId val="241740032"/>
        <c:axId val="241745920"/>
      </c:barChart>
      <c:catAx>
        <c:axId val="241740032"/>
        <c:scaling>
          <c:orientation val="minMax"/>
        </c:scaling>
        <c:delete val="0"/>
        <c:axPos val="b"/>
        <c:numFmt formatCode="General" sourceLinked="0"/>
        <c:majorTickMark val="out"/>
        <c:minorTickMark val="none"/>
        <c:tickLblPos val="nextTo"/>
        <c:txPr>
          <a:bodyPr/>
          <a:lstStyle/>
          <a:p>
            <a:pPr>
              <a:defRPr sz="1200"/>
            </a:pPr>
            <a:endParaRPr lang="zh-CN"/>
          </a:p>
        </c:txPr>
        <c:crossAx val="241745920"/>
        <c:crosses val="autoZero"/>
        <c:auto val="1"/>
        <c:lblAlgn val="ctr"/>
        <c:lblOffset val="100"/>
        <c:noMultiLvlLbl val="0"/>
      </c:catAx>
      <c:valAx>
        <c:axId val="241745920"/>
        <c:scaling>
          <c:orientation val="minMax"/>
          <c:max val="0.60000000000000009"/>
        </c:scaling>
        <c:delete val="0"/>
        <c:axPos val="l"/>
        <c:majorGridlines>
          <c:spPr>
            <a:ln>
              <a:solidFill>
                <a:schemeClr val="tx1">
                  <a:alpha val="20000"/>
                </a:schemeClr>
              </a:solidFill>
              <a:prstDash val="sysDash"/>
            </a:ln>
          </c:spPr>
        </c:majorGridlines>
        <c:numFmt formatCode="0.00%" sourceLinked="1"/>
        <c:majorTickMark val="out"/>
        <c:minorTickMark val="none"/>
        <c:tickLblPos val="nextTo"/>
        <c:spPr>
          <a:ln>
            <a:noFill/>
          </a:ln>
        </c:spPr>
        <c:crossAx val="241740032"/>
        <c:crosses val="autoZero"/>
        <c:crossBetween val="between"/>
        <c:majorUnit val="0.1"/>
      </c:valAx>
    </c:plotArea>
    <c:plotVisOnly val="1"/>
    <c:dispBlanksAs val="gap"/>
    <c:showDLblsOverMax val="0"/>
  </c:chart>
  <c:txPr>
    <a:bodyPr/>
    <a:lstStyle/>
    <a:p>
      <a:pPr>
        <a:defRPr>
          <a:latin typeface="微软雅黑" pitchFamily="34" charset="-122"/>
          <a:ea typeface="微软雅黑" pitchFamily="34" charset="-122"/>
        </a:defRPr>
      </a:pPr>
      <a:endParaRPr lang="zh-CN"/>
    </a:p>
  </c:tx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600"/>
            </a:pPr>
            <a:r>
              <a:rPr lang="en-US" altLang="zh-CN" sz="1600" dirty="0"/>
              <a:t>2016</a:t>
            </a:r>
            <a:r>
              <a:rPr lang="zh-CN" altLang="en-US" sz="1600" dirty="0"/>
              <a:t>年</a:t>
            </a:r>
            <a:r>
              <a:rPr lang="en-US" altLang="zh-CN" sz="1600" dirty="0"/>
              <a:t>1-8</a:t>
            </a:r>
            <a:r>
              <a:rPr lang="zh-CN" altLang="en-US" sz="1600" dirty="0"/>
              <a:t>月北京</a:t>
            </a:r>
            <a:r>
              <a:rPr lang="zh-CN" sz="1600" dirty="0"/>
              <a:t>二手</a:t>
            </a:r>
            <a:r>
              <a:rPr lang="zh-CN" altLang="en-US" sz="1600" dirty="0"/>
              <a:t>住宅各区域</a:t>
            </a:r>
            <a:r>
              <a:rPr lang="zh-CN" sz="1600" dirty="0"/>
              <a:t>成交房源</a:t>
            </a:r>
            <a:r>
              <a:rPr lang="zh-CN" altLang="en-US" sz="1600" dirty="0"/>
              <a:t>售前状态</a:t>
            </a:r>
            <a:endParaRPr lang="zh-CN" sz="1600" dirty="0"/>
          </a:p>
        </c:rich>
      </c:tx>
      <c:overlay val="1"/>
    </c:title>
    <c:autoTitleDeleted val="0"/>
    <c:plotArea>
      <c:layout>
        <c:manualLayout>
          <c:layoutTarget val="inner"/>
          <c:xMode val="edge"/>
          <c:yMode val="edge"/>
          <c:x val="0.12446871276768796"/>
          <c:y val="0.1647153413809572"/>
          <c:w val="0.84426383887943657"/>
          <c:h val="0.61132302674079375"/>
        </c:manualLayout>
      </c:layout>
      <c:barChart>
        <c:barDir val="col"/>
        <c:grouping val="clustered"/>
        <c:varyColors val="0"/>
        <c:ser>
          <c:idx val="0"/>
          <c:order val="0"/>
          <c:tx>
            <c:strRef>
              <c:f>Sheet5!$A$8</c:f>
              <c:strCache>
                <c:ptCount val="1"/>
                <c:pt idx="0">
                  <c:v>自住</c:v>
                </c:pt>
              </c:strCache>
            </c:strRef>
          </c:tx>
          <c:spPr>
            <a:solidFill>
              <a:srgbClr val="006EC7">
                <a:alpha val="69000"/>
              </a:srgbClr>
            </a:solidFill>
          </c:spPr>
          <c:invertIfNegative val="0"/>
          <c:dLbls>
            <c:spPr>
              <a:noFill/>
              <a:ln>
                <a:noFill/>
              </a:ln>
              <a:effectLst/>
            </c:spPr>
            <c:txPr>
              <a:bodyPr/>
              <a:lstStyle/>
              <a:p>
                <a:pPr>
                  <a:defRPr b="1"/>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Sheet5!$B$7:$C$7</c:f>
              <c:strCache>
                <c:ptCount val="2"/>
                <c:pt idx="0">
                  <c:v>主城区</c:v>
                </c:pt>
                <c:pt idx="1">
                  <c:v>近郊区</c:v>
                </c:pt>
              </c:strCache>
            </c:strRef>
          </c:cat>
          <c:val>
            <c:numRef>
              <c:f>Sheet5!$B$8:$C$8</c:f>
              <c:numCache>
                <c:formatCode>0.00%</c:formatCode>
                <c:ptCount val="2"/>
                <c:pt idx="0">
                  <c:v>0.40203522196146491</c:v>
                </c:pt>
                <c:pt idx="1">
                  <c:v>0.45182525433871934</c:v>
                </c:pt>
              </c:numCache>
            </c:numRef>
          </c:val>
          <c:extLst>
            <c:ext xmlns:c16="http://schemas.microsoft.com/office/drawing/2014/chart" uri="{C3380CC4-5D6E-409C-BE32-E72D297353CC}">
              <c16:uniqueId val="{00000000-A3E7-43B3-828D-4FC058FE863F}"/>
            </c:ext>
          </c:extLst>
        </c:ser>
        <c:ser>
          <c:idx val="1"/>
          <c:order val="1"/>
          <c:tx>
            <c:strRef>
              <c:f>Sheet5!$A$9</c:f>
              <c:strCache>
                <c:ptCount val="1"/>
                <c:pt idx="0">
                  <c:v>空置</c:v>
                </c:pt>
              </c:strCache>
            </c:strRef>
          </c:tx>
          <c:spPr>
            <a:solidFill>
              <a:srgbClr val="C00000">
                <a:alpha val="88000"/>
              </a:srgbClr>
            </a:solidFill>
          </c:spPr>
          <c:invertIfNegative val="0"/>
          <c:dLbls>
            <c:spPr>
              <a:noFill/>
              <a:ln>
                <a:noFill/>
              </a:ln>
              <a:effectLst/>
            </c:spPr>
            <c:txPr>
              <a:bodyPr/>
              <a:lstStyle/>
              <a:p>
                <a:pPr>
                  <a:defRPr b="1"/>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Sheet5!$B$7:$C$7</c:f>
              <c:strCache>
                <c:ptCount val="2"/>
                <c:pt idx="0">
                  <c:v>主城区</c:v>
                </c:pt>
                <c:pt idx="1">
                  <c:v>近郊区</c:v>
                </c:pt>
              </c:strCache>
            </c:strRef>
          </c:cat>
          <c:val>
            <c:numRef>
              <c:f>Sheet5!$B$9:$C$9</c:f>
              <c:numCache>
                <c:formatCode>0.00%</c:formatCode>
                <c:ptCount val="2"/>
                <c:pt idx="0">
                  <c:v>0.22898219180783719</c:v>
                </c:pt>
                <c:pt idx="1">
                  <c:v>0.25473768202673053</c:v>
                </c:pt>
              </c:numCache>
            </c:numRef>
          </c:val>
          <c:extLst>
            <c:ext xmlns:c16="http://schemas.microsoft.com/office/drawing/2014/chart" uri="{C3380CC4-5D6E-409C-BE32-E72D297353CC}">
              <c16:uniqueId val="{00000001-A3E7-43B3-828D-4FC058FE863F}"/>
            </c:ext>
          </c:extLst>
        </c:ser>
        <c:ser>
          <c:idx val="2"/>
          <c:order val="2"/>
          <c:tx>
            <c:strRef>
              <c:f>Sheet5!$A$10</c:f>
              <c:strCache>
                <c:ptCount val="1"/>
                <c:pt idx="0">
                  <c:v>出租 </c:v>
                </c:pt>
              </c:strCache>
            </c:strRef>
          </c:tx>
          <c:spPr>
            <a:solidFill>
              <a:srgbClr val="FF9618"/>
            </a:solidFill>
          </c:spPr>
          <c:invertIfNegative val="0"/>
          <c:dPt>
            <c:idx val="0"/>
            <c:invertIfNegative val="0"/>
            <c:bubble3D val="0"/>
            <c:spPr>
              <a:solidFill>
                <a:srgbClr val="FFC000"/>
              </a:solidFill>
            </c:spPr>
            <c:extLst>
              <c:ext xmlns:c16="http://schemas.microsoft.com/office/drawing/2014/chart" uri="{C3380CC4-5D6E-409C-BE32-E72D297353CC}">
                <c16:uniqueId val="{00000003-A3E7-43B3-828D-4FC058FE863F}"/>
              </c:ext>
            </c:extLst>
          </c:dPt>
          <c:dLbls>
            <c:spPr>
              <a:noFill/>
              <a:ln>
                <a:noFill/>
              </a:ln>
              <a:effectLst/>
            </c:spPr>
            <c:txPr>
              <a:bodyPr/>
              <a:lstStyle/>
              <a:p>
                <a:pPr>
                  <a:defRPr b="1"/>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Sheet5!$B$7:$C$7</c:f>
              <c:strCache>
                <c:ptCount val="2"/>
                <c:pt idx="0">
                  <c:v>主城区</c:v>
                </c:pt>
                <c:pt idx="1">
                  <c:v>近郊区</c:v>
                </c:pt>
              </c:strCache>
            </c:strRef>
          </c:cat>
          <c:val>
            <c:numRef>
              <c:f>Sheet5!$B$10:$C$10</c:f>
              <c:numCache>
                <c:formatCode>0.00%</c:formatCode>
                <c:ptCount val="2"/>
                <c:pt idx="0">
                  <c:v>0.36898258623069791</c:v>
                </c:pt>
                <c:pt idx="1">
                  <c:v>0.29343706363455019</c:v>
                </c:pt>
              </c:numCache>
            </c:numRef>
          </c:val>
          <c:extLst>
            <c:ext xmlns:c16="http://schemas.microsoft.com/office/drawing/2014/chart" uri="{C3380CC4-5D6E-409C-BE32-E72D297353CC}">
              <c16:uniqueId val="{00000004-A3E7-43B3-828D-4FC058FE863F}"/>
            </c:ext>
          </c:extLst>
        </c:ser>
        <c:dLbls>
          <c:showLegendKey val="0"/>
          <c:showVal val="0"/>
          <c:showCatName val="0"/>
          <c:showSerName val="0"/>
          <c:showPercent val="0"/>
          <c:showBubbleSize val="0"/>
        </c:dLbls>
        <c:gapWidth val="150"/>
        <c:axId val="242660480"/>
        <c:axId val="242662016"/>
      </c:barChart>
      <c:catAx>
        <c:axId val="242660480"/>
        <c:scaling>
          <c:orientation val="minMax"/>
        </c:scaling>
        <c:delete val="0"/>
        <c:axPos val="b"/>
        <c:numFmt formatCode="General" sourceLinked="0"/>
        <c:majorTickMark val="out"/>
        <c:minorTickMark val="none"/>
        <c:tickLblPos val="nextTo"/>
        <c:txPr>
          <a:bodyPr/>
          <a:lstStyle/>
          <a:p>
            <a:pPr>
              <a:defRPr sz="1200" b="1"/>
            </a:pPr>
            <a:endParaRPr lang="zh-CN"/>
          </a:p>
        </c:txPr>
        <c:crossAx val="242662016"/>
        <c:crosses val="autoZero"/>
        <c:auto val="1"/>
        <c:lblAlgn val="ctr"/>
        <c:lblOffset val="100"/>
        <c:noMultiLvlLbl val="0"/>
      </c:catAx>
      <c:valAx>
        <c:axId val="242662016"/>
        <c:scaling>
          <c:orientation val="minMax"/>
          <c:max val="0.70000000000000007"/>
        </c:scaling>
        <c:delete val="0"/>
        <c:axPos val="l"/>
        <c:majorGridlines>
          <c:spPr>
            <a:ln>
              <a:solidFill>
                <a:schemeClr val="tx1">
                  <a:alpha val="20000"/>
                </a:schemeClr>
              </a:solidFill>
              <a:prstDash val="sysDash"/>
            </a:ln>
          </c:spPr>
        </c:majorGridlines>
        <c:numFmt formatCode="0.00%" sourceLinked="1"/>
        <c:majorTickMark val="out"/>
        <c:minorTickMark val="none"/>
        <c:tickLblPos val="nextTo"/>
        <c:spPr>
          <a:ln>
            <a:noFill/>
          </a:ln>
        </c:spPr>
        <c:txPr>
          <a:bodyPr/>
          <a:lstStyle/>
          <a:p>
            <a:pPr>
              <a:defRPr b="1"/>
            </a:pPr>
            <a:endParaRPr lang="zh-CN"/>
          </a:p>
        </c:txPr>
        <c:crossAx val="242660480"/>
        <c:crosses val="autoZero"/>
        <c:crossBetween val="between"/>
        <c:majorUnit val="0.1"/>
      </c:valAx>
    </c:plotArea>
    <c:legend>
      <c:legendPos val="b"/>
      <c:layout>
        <c:manualLayout>
          <c:xMode val="edge"/>
          <c:yMode val="edge"/>
          <c:x val="0.36418298803099008"/>
          <c:y val="0.88871259352914567"/>
          <c:w val="0.25442972577601797"/>
          <c:h val="6.7779527559055114E-2"/>
        </c:manualLayout>
      </c:layout>
      <c:overlay val="0"/>
    </c:legend>
    <c:plotVisOnly val="1"/>
    <c:dispBlanksAs val="gap"/>
    <c:showDLblsOverMax val="0"/>
  </c:chart>
  <c:txPr>
    <a:bodyPr/>
    <a:lstStyle/>
    <a:p>
      <a:pPr>
        <a:defRPr>
          <a:latin typeface="微软雅黑" pitchFamily="34" charset="-122"/>
          <a:ea typeface="微软雅黑" pitchFamily="34" charset="-122"/>
        </a:defRPr>
      </a:pPr>
      <a:endParaRPr lang="zh-CN"/>
    </a:p>
  </c:tx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600" b="1" baseline="0">
                <a:ea typeface="微软雅黑" panose="020B0503020204020204" pitchFamily="34" charset="-122"/>
              </a:defRPr>
            </a:pPr>
            <a:r>
              <a:rPr lang="en-US" altLang="zh-CN" sz="1600" b="1" i="0" baseline="0" dirty="0">
                <a:effectLst/>
                <a:ea typeface="微软雅黑" panose="020B0503020204020204" pitchFamily="34" charset="-122"/>
              </a:rPr>
              <a:t>2016</a:t>
            </a:r>
            <a:r>
              <a:rPr lang="zh-CN" altLang="en-US" sz="1600" b="1" i="0" baseline="0" dirty="0">
                <a:effectLst/>
                <a:ea typeface="微软雅黑" panose="020B0503020204020204" pitchFamily="34" charset="-122"/>
              </a:rPr>
              <a:t>年</a:t>
            </a:r>
            <a:r>
              <a:rPr lang="en-US" altLang="zh-CN" sz="1600" b="1" i="0" baseline="0" dirty="0">
                <a:effectLst/>
                <a:ea typeface="微软雅黑" panose="020B0503020204020204" pitchFamily="34" charset="-122"/>
              </a:rPr>
              <a:t>1-8</a:t>
            </a:r>
            <a:r>
              <a:rPr lang="zh-CN" altLang="en-US" sz="1600" b="1" i="0" baseline="0" dirty="0">
                <a:effectLst/>
                <a:ea typeface="微软雅黑" panose="020B0503020204020204" pitchFamily="34" charset="-122"/>
              </a:rPr>
              <a:t>月北京各类别</a:t>
            </a:r>
            <a:r>
              <a:rPr lang="zh-CN" altLang="zh-CN" sz="1600" b="1" i="0" baseline="0" dirty="0">
                <a:effectLst/>
                <a:ea typeface="微软雅黑" panose="020B0503020204020204" pitchFamily="34" charset="-122"/>
              </a:rPr>
              <a:t>二手</a:t>
            </a:r>
            <a:r>
              <a:rPr lang="zh-CN" altLang="en-US" sz="1600" b="1" i="0" baseline="0" dirty="0">
                <a:effectLst/>
                <a:ea typeface="微软雅黑" panose="020B0503020204020204" pitchFamily="34" charset="-122"/>
              </a:rPr>
              <a:t>住宅</a:t>
            </a:r>
            <a:r>
              <a:rPr lang="zh-CN" altLang="zh-CN" sz="1600" b="1" i="0" baseline="0" dirty="0">
                <a:effectLst/>
                <a:ea typeface="微软雅黑" panose="020B0503020204020204" pitchFamily="34" charset="-122"/>
              </a:rPr>
              <a:t>成交房源</a:t>
            </a:r>
            <a:r>
              <a:rPr lang="zh-CN" altLang="en-US" sz="1600" b="1" i="0" baseline="0" dirty="0">
                <a:effectLst/>
                <a:ea typeface="微软雅黑" panose="020B0503020204020204" pitchFamily="34" charset="-122"/>
              </a:rPr>
              <a:t>售前状态</a:t>
            </a:r>
            <a:endParaRPr lang="zh-CN" altLang="zh-CN" sz="1600" b="1" baseline="0" dirty="0">
              <a:effectLst/>
              <a:ea typeface="微软雅黑" panose="020B0503020204020204" pitchFamily="34" charset="-122"/>
            </a:endParaRPr>
          </a:p>
        </c:rich>
      </c:tx>
      <c:overlay val="1"/>
    </c:title>
    <c:autoTitleDeleted val="0"/>
    <c:plotArea>
      <c:layout>
        <c:manualLayout>
          <c:layoutTarget val="inner"/>
          <c:xMode val="edge"/>
          <c:yMode val="edge"/>
          <c:x val="8.7775152481060562E-2"/>
          <c:y val="0.21840903972982414"/>
          <c:w val="0.86947083227499788"/>
          <c:h val="0.55209762867669765"/>
        </c:manualLayout>
      </c:layout>
      <c:barChart>
        <c:barDir val="col"/>
        <c:grouping val="clustered"/>
        <c:varyColors val="0"/>
        <c:ser>
          <c:idx val="0"/>
          <c:order val="0"/>
          <c:tx>
            <c:strRef>
              <c:f>Sheet3!$B$15</c:f>
              <c:strCache>
                <c:ptCount val="1"/>
                <c:pt idx="0">
                  <c:v>自住</c:v>
                </c:pt>
              </c:strCache>
            </c:strRef>
          </c:tx>
          <c:spPr>
            <a:solidFill>
              <a:srgbClr val="006EC7">
                <a:alpha val="80000"/>
              </a:srgbClr>
            </a:solidFill>
          </c:spPr>
          <c:invertIfNegative val="0"/>
          <c:dLbls>
            <c:spPr>
              <a:noFill/>
              <a:ln>
                <a:noFill/>
              </a:ln>
              <a:effectLst/>
            </c:spPr>
            <c:txPr>
              <a:bodyPr/>
              <a:lstStyle/>
              <a:p>
                <a:pPr>
                  <a:defRPr b="1" i="0" baseline="0">
                    <a:solidFill>
                      <a:schemeClr val="tx1"/>
                    </a:solidFill>
                    <a:latin typeface="+mj-ea"/>
                    <a:ea typeface="+mj-ea"/>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Sheet3!$A$16:$A$19</c:f>
              <c:strCache>
                <c:ptCount val="4"/>
                <c:pt idx="0">
                  <c:v>普通住宅</c:v>
                </c:pt>
                <c:pt idx="1">
                  <c:v>别墅</c:v>
                </c:pt>
                <c:pt idx="2">
                  <c:v>经济适用房</c:v>
                </c:pt>
                <c:pt idx="3">
                  <c:v>公寓</c:v>
                </c:pt>
              </c:strCache>
            </c:strRef>
          </c:cat>
          <c:val>
            <c:numRef>
              <c:f>Sheet3!$B$16:$B$19</c:f>
              <c:numCache>
                <c:formatCode>0%</c:formatCode>
                <c:ptCount val="4"/>
                <c:pt idx="0">
                  <c:v>0.42274425736531046</c:v>
                </c:pt>
                <c:pt idx="1">
                  <c:v>0.31791907514450868</c:v>
                </c:pt>
                <c:pt idx="2">
                  <c:v>0.3888888888888889</c:v>
                </c:pt>
                <c:pt idx="3">
                  <c:v>0.2790944464096215</c:v>
                </c:pt>
              </c:numCache>
            </c:numRef>
          </c:val>
          <c:extLst>
            <c:ext xmlns:c16="http://schemas.microsoft.com/office/drawing/2014/chart" uri="{C3380CC4-5D6E-409C-BE32-E72D297353CC}">
              <c16:uniqueId val="{00000000-0B40-4439-8DA4-E45853D165EC}"/>
            </c:ext>
          </c:extLst>
        </c:ser>
        <c:ser>
          <c:idx val="1"/>
          <c:order val="1"/>
          <c:tx>
            <c:strRef>
              <c:f>Sheet3!$C$15</c:f>
              <c:strCache>
                <c:ptCount val="1"/>
                <c:pt idx="0">
                  <c:v>空置</c:v>
                </c:pt>
              </c:strCache>
            </c:strRef>
          </c:tx>
          <c:spPr>
            <a:solidFill>
              <a:srgbClr val="C00000"/>
            </a:solidFill>
          </c:spPr>
          <c:invertIfNegative val="0"/>
          <c:dLbls>
            <c:spPr>
              <a:noFill/>
              <a:ln>
                <a:noFill/>
              </a:ln>
              <a:effectLst/>
            </c:spPr>
            <c:txPr>
              <a:bodyPr/>
              <a:lstStyle/>
              <a:p>
                <a:pPr>
                  <a:defRPr b="1" i="0" baseline="0">
                    <a:solidFill>
                      <a:srgbClr val="525252"/>
                    </a:solidFill>
                    <a:ea typeface="汉仪菱心体简" panose="02010609000101010101" pitchFamily="49" charset="-122"/>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Sheet3!$A$16:$A$19</c:f>
              <c:strCache>
                <c:ptCount val="4"/>
                <c:pt idx="0">
                  <c:v>普通住宅</c:v>
                </c:pt>
                <c:pt idx="1">
                  <c:v>别墅</c:v>
                </c:pt>
                <c:pt idx="2">
                  <c:v>经济适用房</c:v>
                </c:pt>
                <c:pt idx="3">
                  <c:v>公寓</c:v>
                </c:pt>
              </c:strCache>
            </c:strRef>
          </c:cat>
          <c:val>
            <c:numRef>
              <c:f>Sheet3!$C$16:$C$19</c:f>
              <c:numCache>
                <c:formatCode>0%</c:formatCode>
                <c:ptCount val="4"/>
                <c:pt idx="0">
                  <c:v>0.24</c:v>
                </c:pt>
                <c:pt idx="1">
                  <c:v>0.57514450867052025</c:v>
                </c:pt>
                <c:pt idx="2">
                  <c:v>0.26455026455026454</c:v>
                </c:pt>
                <c:pt idx="3">
                  <c:v>0.24301379554297842</c:v>
                </c:pt>
              </c:numCache>
            </c:numRef>
          </c:val>
          <c:extLst>
            <c:ext xmlns:c16="http://schemas.microsoft.com/office/drawing/2014/chart" uri="{C3380CC4-5D6E-409C-BE32-E72D297353CC}">
              <c16:uniqueId val="{00000001-0B40-4439-8DA4-E45853D165EC}"/>
            </c:ext>
          </c:extLst>
        </c:ser>
        <c:ser>
          <c:idx val="2"/>
          <c:order val="2"/>
          <c:tx>
            <c:strRef>
              <c:f>Sheet3!$D$15</c:f>
              <c:strCache>
                <c:ptCount val="1"/>
                <c:pt idx="0">
                  <c:v>出租 </c:v>
                </c:pt>
              </c:strCache>
            </c:strRef>
          </c:tx>
          <c:spPr>
            <a:solidFill>
              <a:srgbClr val="FF9618"/>
            </a:solidFill>
          </c:spPr>
          <c:invertIfNegative val="0"/>
          <c:dLbls>
            <c:spPr>
              <a:noFill/>
              <a:ln>
                <a:noFill/>
              </a:ln>
              <a:effectLst/>
            </c:spPr>
            <c:txPr>
              <a:bodyPr/>
              <a:lstStyle/>
              <a:p>
                <a:pPr>
                  <a:defRPr b="0" i="0" baseline="0">
                    <a:solidFill>
                      <a:schemeClr val="tx1"/>
                    </a:solidFill>
                    <a:latin typeface="+mj-ea"/>
                    <a:ea typeface="+mj-ea"/>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Sheet3!$A$16:$A$19</c:f>
              <c:strCache>
                <c:ptCount val="4"/>
                <c:pt idx="0">
                  <c:v>普通住宅</c:v>
                </c:pt>
                <c:pt idx="1">
                  <c:v>别墅</c:v>
                </c:pt>
                <c:pt idx="2">
                  <c:v>经济适用房</c:v>
                </c:pt>
                <c:pt idx="3">
                  <c:v>公寓</c:v>
                </c:pt>
              </c:strCache>
            </c:strRef>
          </c:cat>
          <c:val>
            <c:numRef>
              <c:f>Sheet3!$D$16:$D$19</c:f>
              <c:numCache>
                <c:formatCode>0%</c:formatCode>
                <c:ptCount val="4"/>
                <c:pt idx="0">
                  <c:v>0.34333735280544297</c:v>
                </c:pt>
                <c:pt idx="1">
                  <c:v>0.1</c:v>
                </c:pt>
                <c:pt idx="2">
                  <c:v>0.34656084656084657</c:v>
                </c:pt>
                <c:pt idx="3">
                  <c:v>0.47789175804740008</c:v>
                </c:pt>
              </c:numCache>
            </c:numRef>
          </c:val>
          <c:extLst>
            <c:ext xmlns:c16="http://schemas.microsoft.com/office/drawing/2014/chart" uri="{C3380CC4-5D6E-409C-BE32-E72D297353CC}">
              <c16:uniqueId val="{00000002-0B40-4439-8DA4-E45853D165EC}"/>
            </c:ext>
          </c:extLst>
        </c:ser>
        <c:dLbls>
          <c:showLegendKey val="0"/>
          <c:showVal val="0"/>
          <c:showCatName val="0"/>
          <c:showSerName val="0"/>
          <c:showPercent val="0"/>
          <c:showBubbleSize val="0"/>
        </c:dLbls>
        <c:gapWidth val="156"/>
        <c:axId val="242763264"/>
        <c:axId val="242764800"/>
      </c:barChart>
      <c:catAx>
        <c:axId val="242763264"/>
        <c:scaling>
          <c:orientation val="minMax"/>
        </c:scaling>
        <c:delete val="0"/>
        <c:axPos val="b"/>
        <c:numFmt formatCode="General" sourceLinked="0"/>
        <c:majorTickMark val="out"/>
        <c:minorTickMark val="none"/>
        <c:tickLblPos val="nextTo"/>
        <c:txPr>
          <a:bodyPr/>
          <a:lstStyle/>
          <a:p>
            <a:pPr>
              <a:defRPr sz="1200" baseline="0">
                <a:ea typeface="微软雅黑" panose="020B0503020204020204" pitchFamily="34" charset="-122"/>
              </a:defRPr>
            </a:pPr>
            <a:endParaRPr lang="zh-CN"/>
          </a:p>
        </c:txPr>
        <c:crossAx val="242764800"/>
        <c:crosses val="autoZero"/>
        <c:auto val="1"/>
        <c:lblAlgn val="ctr"/>
        <c:lblOffset val="100"/>
        <c:noMultiLvlLbl val="0"/>
      </c:catAx>
      <c:valAx>
        <c:axId val="242764800"/>
        <c:scaling>
          <c:orientation val="minMax"/>
        </c:scaling>
        <c:delete val="0"/>
        <c:axPos val="l"/>
        <c:majorGridlines>
          <c:spPr>
            <a:ln>
              <a:solidFill>
                <a:schemeClr val="tx1">
                  <a:alpha val="20000"/>
                </a:schemeClr>
              </a:solidFill>
              <a:prstDash val="sysDash"/>
            </a:ln>
          </c:spPr>
        </c:majorGridlines>
        <c:numFmt formatCode="0%" sourceLinked="1"/>
        <c:majorTickMark val="out"/>
        <c:minorTickMark val="none"/>
        <c:tickLblPos val="nextTo"/>
        <c:spPr>
          <a:ln>
            <a:noFill/>
          </a:ln>
        </c:spPr>
        <c:txPr>
          <a:bodyPr/>
          <a:lstStyle/>
          <a:p>
            <a:pPr>
              <a:defRPr b="1" baseline="0">
                <a:ea typeface="微软雅黑" panose="020B0503020204020204" pitchFamily="34" charset="-122"/>
              </a:defRPr>
            </a:pPr>
            <a:endParaRPr lang="zh-CN"/>
          </a:p>
        </c:txPr>
        <c:crossAx val="242763264"/>
        <c:crosses val="autoZero"/>
        <c:crossBetween val="between"/>
      </c:valAx>
    </c:plotArea>
    <c:legend>
      <c:legendPos val="b"/>
      <c:layout>
        <c:manualLayout>
          <c:xMode val="edge"/>
          <c:yMode val="edge"/>
          <c:x val="0.33919100018633008"/>
          <c:y val="0.90186176324574463"/>
          <c:w val="0.22846692550527958"/>
          <c:h val="6.1158541799605393E-2"/>
        </c:manualLayout>
      </c:layout>
      <c:overlay val="0"/>
      <c:txPr>
        <a:bodyPr/>
        <a:lstStyle/>
        <a:p>
          <a:pPr>
            <a:defRPr baseline="0">
              <a:ea typeface="微软雅黑" panose="020B0503020204020204" pitchFamily="34" charset="-122"/>
            </a:defRPr>
          </a:pPr>
          <a:endParaRPr lang="zh-CN"/>
        </a:p>
      </c:txPr>
    </c:legend>
    <c:plotVisOnly val="1"/>
    <c:dispBlanksAs val="gap"/>
    <c:showDLblsOverMax val="0"/>
  </c:chart>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600">
                <a:latin typeface="+mj-ea"/>
                <a:ea typeface="+mj-ea"/>
              </a:defRPr>
            </a:pPr>
            <a:r>
              <a:rPr lang="zh-CN" altLang="en-US" sz="1600">
                <a:latin typeface="+mj-ea"/>
                <a:ea typeface="+mj-ea"/>
              </a:rPr>
              <a:t>北京新建住宅销售价格同比涨幅</a:t>
            </a:r>
            <a:r>
              <a:rPr lang="zh-CN" altLang="zh-CN" sz="1600" b="1" i="0" u="none" strike="noStrike" baseline="0">
                <a:effectLst/>
                <a:latin typeface="+mj-ea"/>
                <a:ea typeface="+mj-ea"/>
              </a:rPr>
              <a:t>（</a:t>
            </a:r>
            <a:r>
              <a:rPr lang="en-US" altLang="zh-CN" sz="1600" b="1" i="0" u="none" strike="noStrike" baseline="0">
                <a:effectLst/>
                <a:latin typeface="+mj-ea"/>
                <a:ea typeface="+mj-ea"/>
              </a:rPr>
              <a:t>2008.01-2016.08</a:t>
            </a:r>
            <a:r>
              <a:rPr lang="zh-CN" altLang="zh-CN" sz="1600" b="1" i="0" u="none" strike="noStrike" baseline="0">
                <a:effectLst/>
                <a:latin typeface="+mj-ea"/>
                <a:ea typeface="+mj-ea"/>
              </a:rPr>
              <a:t>）</a:t>
            </a:r>
            <a:endParaRPr lang="zh-CN" altLang="en-US" sz="1600">
              <a:latin typeface="+mj-ea"/>
              <a:ea typeface="+mj-ea"/>
            </a:endParaRPr>
          </a:p>
        </c:rich>
      </c:tx>
      <c:layout>
        <c:manualLayout>
          <c:xMode val="edge"/>
          <c:yMode val="edge"/>
          <c:x val="0.16297102617676915"/>
          <c:y val="0"/>
        </c:manualLayout>
      </c:layout>
      <c:overlay val="0"/>
    </c:title>
    <c:autoTitleDeleted val="0"/>
    <c:plotArea>
      <c:layout>
        <c:manualLayout>
          <c:layoutTarget val="inner"/>
          <c:xMode val="edge"/>
          <c:yMode val="edge"/>
          <c:x val="6.0660230822526751E-2"/>
          <c:y val="0.18565981335666376"/>
          <c:w val="0.91317021271519028"/>
          <c:h val="0.6879504360460349"/>
        </c:manualLayout>
      </c:layout>
      <c:lineChart>
        <c:grouping val="standard"/>
        <c:varyColors val="0"/>
        <c:ser>
          <c:idx val="0"/>
          <c:order val="0"/>
          <c:tx>
            <c:strRef>
              <c:f>Sheet3!$B$1</c:f>
              <c:strCache>
                <c:ptCount val="1"/>
                <c:pt idx="0">
                  <c:v>北京房价同比涨幅</c:v>
                </c:pt>
              </c:strCache>
            </c:strRef>
          </c:tx>
          <c:marker>
            <c:symbol val="diamond"/>
            <c:size val="4"/>
          </c:marker>
          <c:cat>
            <c:strRef>
              <c:f>Sheet3!$A$2:$A$105</c:f>
              <c:strCache>
                <c:ptCount val="104"/>
                <c:pt idx="0">
                  <c:v>08.01</c:v>
                </c:pt>
                <c:pt idx="1">
                  <c:v>08.02</c:v>
                </c:pt>
                <c:pt idx="2">
                  <c:v>08.03</c:v>
                </c:pt>
                <c:pt idx="3">
                  <c:v>08.04</c:v>
                </c:pt>
                <c:pt idx="4">
                  <c:v>08.05</c:v>
                </c:pt>
                <c:pt idx="5">
                  <c:v>08.06</c:v>
                </c:pt>
                <c:pt idx="6">
                  <c:v>08.07</c:v>
                </c:pt>
                <c:pt idx="7">
                  <c:v>08.08</c:v>
                </c:pt>
                <c:pt idx="8">
                  <c:v>08.09</c:v>
                </c:pt>
                <c:pt idx="9">
                  <c:v>08.10</c:v>
                </c:pt>
                <c:pt idx="10">
                  <c:v>08.11</c:v>
                </c:pt>
                <c:pt idx="11">
                  <c:v>08.12</c:v>
                </c:pt>
                <c:pt idx="12">
                  <c:v>09.01</c:v>
                </c:pt>
                <c:pt idx="13">
                  <c:v>09.02</c:v>
                </c:pt>
                <c:pt idx="14">
                  <c:v>09.03</c:v>
                </c:pt>
                <c:pt idx="15">
                  <c:v>09.04</c:v>
                </c:pt>
                <c:pt idx="16">
                  <c:v>09.05</c:v>
                </c:pt>
                <c:pt idx="17">
                  <c:v>09.06</c:v>
                </c:pt>
                <c:pt idx="18">
                  <c:v>09.07</c:v>
                </c:pt>
                <c:pt idx="19">
                  <c:v>09.08</c:v>
                </c:pt>
                <c:pt idx="20">
                  <c:v>09.09</c:v>
                </c:pt>
                <c:pt idx="21">
                  <c:v>09.10</c:v>
                </c:pt>
                <c:pt idx="22">
                  <c:v>09.11</c:v>
                </c:pt>
                <c:pt idx="23">
                  <c:v>09.12</c:v>
                </c:pt>
                <c:pt idx="24">
                  <c:v>10.01</c:v>
                </c:pt>
                <c:pt idx="25">
                  <c:v>10.02</c:v>
                </c:pt>
                <c:pt idx="26">
                  <c:v>10.03</c:v>
                </c:pt>
                <c:pt idx="27">
                  <c:v>10.04</c:v>
                </c:pt>
                <c:pt idx="28">
                  <c:v>10.05</c:v>
                </c:pt>
                <c:pt idx="29">
                  <c:v>10.06</c:v>
                </c:pt>
                <c:pt idx="30">
                  <c:v>10.07</c:v>
                </c:pt>
                <c:pt idx="31">
                  <c:v>10.08</c:v>
                </c:pt>
                <c:pt idx="32">
                  <c:v>10.09</c:v>
                </c:pt>
                <c:pt idx="33">
                  <c:v>10.10</c:v>
                </c:pt>
                <c:pt idx="34">
                  <c:v>10.11</c:v>
                </c:pt>
                <c:pt idx="35">
                  <c:v>10.12</c:v>
                </c:pt>
                <c:pt idx="36">
                  <c:v>11.01</c:v>
                </c:pt>
                <c:pt idx="37">
                  <c:v>11.02</c:v>
                </c:pt>
                <c:pt idx="38">
                  <c:v>11.03</c:v>
                </c:pt>
                <c:pt idx="39">
                  <c:v>11.04</c:v>
                </c:pt>
                <c:pt idx="40">
                  <c:v>11.05</c:v>
                </c:pt>
                <c:pt idx="41">
                  <c:v>11.06</c:v>
                </c:pt>
                <c:pt idx="42">
                  <c:v>11.07</c:v>
                </c:pt>
                <c:pt idx="43">
                  <c:v>11.08</c:v>
                </c:pt>
                <c:pt idx="44">
                  <c:v>11.09</c:v>
                </c:pt>
                <c:pt idx="45">
                  <c:v>11.10</c:v>
                </c:pt>
                <c:pt idx="46">
                  <c:v>11.11</c:v>
                </c:pt>
                <c:pt idx="47">
                  <c:v>11.12</c:v>
                </c:pt>
                <c:pt idx="48">
                  <c:v>12.01</c:v>
                </c:pt>
                <c:pt idx="49">
                  <c:v>12.02</c:v>
                </c:pt>
                <c:pt idx="50">
                  <c:v>12.03</c:v>
                </c:pt>
                <c:pt idx="51">
                  <c:v>12.04</c:v>
                </c:pt>
                <c:pt idx="52">
                  <c:v>12.05</c:v>
                </c:pt>
                <c:pt idx="53">
                  <c:v>12.06</c:v>
                </c:pt>
                <c:pt idx="54">
                  <c:v>12.07</c:v>
                </c:pt>
                <c:pt idx="55">
                  <c:v>12.08</c:v>
                </c:pt>
                <c:pt idx="56">
                  <c:v>12.09</c:v>
                </c:pt>
                <c:pt idx="57">
                  <c:v>12.10</c:v>
                </c:pt>
                <c:pt idx="58">
                  <c:v>12.11</c:v>
                </c:pt>
                <c:pt idx="59">
                  <c:v>12.12</c:v>
                </c:pt>
                <c:pt idx="60">
                  <c:v>13.01</c:v>
                </c:pt>
                <c:pt idx="61">
                  <c:v>13.02</c:v>
                </c:pt>
                <c:pt idx="62">
                  <c:v>13.03</c:v>
                </c:pt>
                <c:pt idx="63">
                  <c:v>13.04</c:v>
                </c:pt>
                <c:pt idx="64">
                  <c:v>13.05</c:v>
                </c:pt>
                <c:pt idx="65">
                  <c:v>13.06</c:v>
                </c:pt>
                <c:pt idx="66">
                  <c:v>13.07</c:v>
                </c:pt>
                <c:pt idx="67">
                  <c:v>13.08</c:v>
                </c:pt>
                <c:pt idx="68">
                  <c:v>13.09</c:v>
                </c:pt>
                <c:pt idx="69">
                  <c:v>13.10</c:v>
                </c:pt>
                <c:pt idx="70">
                  <c:v>13.11</c:v>
                </c:pt>
                <c:pt idx="71">
                  <c:v>13.12</c:v>
                </c:pt>
                <c:pt idx="72">
                  <c:v>14.01</c:v>
                </c:pt>
                <c:pt idx="73">
                  <c:v>14.02</c:v>
                </c:pt>
                <c:pt idx="74">
                  <c:v>14.03</c:v>
                </c:pt>
                <c:pt idx="75">
                  <c:v>14.04</c:v>
                </c:pt>
                <c:pt idx="76">
                  <c:v>14.05</c:v>
                </c:pt>
                <c:pt idx="77">
                  <c:v>14.06</c:v>
                </c:pt>
                <c:pt idx="78">
                  <c:v>14.07</c:v>
                </c:pt>
                <c:pt idx="79">
                  <c:v>14.08</c:v>
                </c:pt>
                <c:pt idx="80">
                  <c:v>14.09</c:v>
                </c:pt>
                <c:pt idx="81">
                  <c:v>14.10</c:v>
                </c:pt>
                <c:pt idx="82">
                  <c:v>14.11</c:v>
                </c:pt>
                <c:pt idx="83">
                  <c:v>14.12</c:v>
                </c:pt>
                <c:pt idx="84">
                  <c:v>15.01</c:v>
                </c:pt>
                <c:pt idx="85">
                  <c:v>15.02</c:v>
                </c:pt>
                <c:pt idx="86">
                  <c:v>15.03</c:v>
                </c:pt>
                <c:pt idx="87">
                  <c:v>15.04</c:v>
                </c:pt>
                <c:pt idx="88">
                  <c:v>15.05</c:v>
                </c:pt>
                <c:pt idx="89">
                  <c:v>15.06</c:v>
                </c:pt>
                <c:pt idx="90">
                  <c:v>15.07</c:v>
                </c:pt>
                <c:pt idx="91">
                  <c:v>15.08</c:v>
                </c:pt>
                <c:pt idx="92">
                  <c:v>15.09</c:v>
                </c:pt>
                <c:pt idx="93">
                  <c:v>15.10</c:v>
                </c:pt>
                <c:pt idx="94">
                  <c:v>15.11</c:v>
                </c:pt>
                <c:pt idx="95">
                  <c:v>15.12</c:v>
                </c:pt>
                <c:pt idx="96">
                  <c:v>16.01</c:v>
                </c:pt>
                <c:pt idx="97">
                  <c:v>16.02</c:v>
                </c:pt>
                <c:pt idx="98">
                  <c:v>16.03</c:v>
                </c:pt>
                <c:pt idx="99">
                  <c:v>16.04</c:v>
                </c:pt>
                <c:pt idx="100">
                  <c:v>16.05</c:v>
                </c:pt>
                <c:pt idx="101">
                  <c:v>16.06</c:v>
                </c:pt>
                <c:pt idx="102">
                  <c:v>16.07</c:v>
                </c:pt>
                <c:pt idx="103">
                  <c:v>16.08</c:v>
                </c:pt>
              </c:strCache>
            </c:strRef>
          </c:cat>
          <c:val>
            <c:numRef>
              <c:f>Sheet3!$B$2:$B$105</c:f>
              <c:numCache>
                <c:formatCode>0.0%</c:formatCode>
                <c:ptCount val="104"/>
                <c:pt idx="0">
                  <c:v>0.17199999999999993</c:v>
                </c:pt>
                <c:pt idx="1">
                  <c:v>0.16500000000000004</c:v>
                </c:pt>
                <c:pt idx="2">
                  <c:v>0.16900000000000004</c:v>
                </c:pt>
                <c:pt idx="3">
                  <c:v>0.16100000000000003</c:v>
                </c:pt>
                <c:pt idx="4">
                  <c:v>0.15700000000000003</c:v>
                </c:pt>
                <c:pt idx="5">
                  <c:v>0.14300000000000002</c:v>
                </c:pt>
                <c:pt idx="6">
                  <c:v>0.12999999999999989</c:v>
                </c:pt>
                <c:pt idx="7">
                  <c:v>0.11699999999999999</c:v>
                </c:pt>
                <c:pt idx="8">
                  <c:v>8.6999999999999966E-2</c:v>
                </c:pt>
                <c:pt idx="9">
                  <c:v>6.899999999999995E-2</c:v>
                </c:pt>
                <c:pt idx="10">
                  <c:v>4.2000000000000037E-2</c:v>
                </c:pt>
                <c:pt idx="11">
                  <c:v>1.4000000000000012E-2</c:v>
                </c:pt>
                <c:pt idx="12">
                  <c:v>4.0000000000000036E-3</c:v>
                </c:pt>
                <c:pt idx="13">
                  <c:v>9.9999999999988987E-4</c:v>
                </c:pt>
                <c:pt idx="14">
                  <c:v>-8.0000000000000071E-3</c:v>
                </c:pt>
                <c:pt idx="15">
                  <c:v>-5.9999999999998943E-3</c:v>
                </c:pt>
                <c:pt idx="16">
                  <c:v>-5.9999999999998943E-3</c:v>
                </c:pt>
                <c:pt idx="17">
                  <c:v>-4.0000000000000036E-3</c:v>
                </c:pt>
                <c:pt idx="18">
                  <c:v>8.0000000000000071E-3</c:v>
                </c:pt>
                <c:pt idx="19">
                  <c:v>2.0999999999999908E-2</c:v>
                </c:pt>
                <c:pt idx="20">
                  <c:v>3.6000000000000032E-2</c:v>
                </c:pt>
                <c:pt idx="21">
                  <c:v>4.2999999999999927E-2</c:v>
                </c:pt>
                <c:pt idx="22">
                  <c:v>8.0000000000000071E-2</c:v>
                </c:pt>
                <c:pt idx="23">
                  <c:v>0.13200000000000012</c:v>
                </c:pt>
                <c:pt idx="24">
                  <c:v>0.15999999999999992</c:v>
                </c:pt>
                <c:pt idx="25">
                  <c:v>0.16900000000000004</c:v>
                </c:pt>
                <c:pt idx="26">
                  <c:v>0.18999999999999995</c:v>
                </c:pt>
                <c:pt idx="27">
                  <c:v>0.21500000000000008</c:v>
                </c:pt>
                <c:pt idx="28">
                  <c:v>0.21999999999999997</c:v>
                </c:pt>
                <c:pt idx="29">
                  <c:v>0.21500000000000008</c:v>
                </c:pt>
                <c:pt idx="30">
                  <c:v>0.20099999999999985</c:v>
                </c:pt>
                <c:pt idx="31">
                  <c:v>0.18599999999999994</c:v>
                </c:pt>
                <c:pt idx="32">
                  <c:v>0.18199999999999994</c:v>
                </c:pt>
                <c:pt idx="33">
                  <c:v>0.17500000000000004</c:v>
                </c:pt>
                <c:pt idx="34">
                  <c:v>0.14300000000000002</c:v>
                </c:pt>
                <c:pt idx="35">
                  <c:v>9.8999999999999977E-2</c:v>
                </c:pt>
                <c:pt idx="36">
                  <c:v>9.099999999999997E-2</c:v>
                </c:pt>
                <c:pt idx="37">
                  <c:v>8.4000000000000075E-2</c:v>
                </c:pt>
                <c:pt idx="38">
                  <c:v>6.2000000000000055E-2</c:v>
                </c:pt>
                <c:pt idx="39">
                  <c:v>3.400000000000003E-2</c:v>
                </c:pt>
                <c:pt idx="40">
                  <c:v>2.6000000000000023E-2</c:v>
                </c:pt>
                <c:pt idx="41">
                  <c:v>2.7000000000000135E-2</c:v>
                </c:pt>
                <c:pt idx="42">
                  <c:v>2.4000000000000021E-2</c:v>
                </c:pt>
                <c:pt idx="43">
                  <c:v>2.4000000000000021E-2</c:v>
                </c:pt>
                <c:pt idx="44">
                  <c:v>2.2999999999999909E-2</c:v>
                </c:pt>
                <c:pt idx="45">
                  <c:v>2.200000000000002E-2</c:v>
                </c:pt>
                <c:pt idx="46">
                  <c:v>1.6000000000000014E-2</c:v>
                </c:pt>
                <c:pt idx="47">
                  <c:v>1.2999999999999901E-2</c:v>
                </c:pt>
                <c:pt idx="48">
                  <c:v>9.9999999999988987E-4</c:v>
                </c:pt>
                <c:pt idx="49">
                  <c:v>-5.0000000000000044E-3</c:v>
                </c:pt>
                <c:pt idx="50">
                  <c:v>-1.0000000000000009E-2</c:v>
                </c:pt>
                <c:pt idx="51">
                  <c:v>-1.3000000000000012E-2</c:v>
                </c:pt>
                <c:pt idx="52">
                  <c:v>-1.5999999999999903E-2</c:v>
                </c:pt>
                <c:pt idx="53">
                  <c:v>-1.3000000000000012E-2</c:v>
                </c:pt>
                <c:pt idx="54">
                  <c:v>-1.0000000000000009E-2</c:v>
                </c:pt>
                <c:pt idx="55">
                  <c:v>-8.0000000000000071E-3</c:v>
                </c:pt>
                <c:pt idx="56">
                  <c:v>-7.0000000000000062E-3</c:v>
                </c:pt>
                <c:pt idx="57">
                  <c:v>-3.0000000000000027E-3</c:v>
                </c:pt>
                <c:pt idx="58">
                  <c:v>9.000000000000119E-3</c:v>
                </c:pt>
                <c:pt idx="59">
                  <c:v>2.0000000000000018E-2</c:v>
                </c:pt>
                <c:pt idx="60">
                  <c:v>4.2999999999999927E-2</c:v>
                </c:pt>
                <c:pt idx="61">
                  <c:v>7.6999999999999957E-2</c:v>
                </c:pt>
                <c:pt idx="62">
                  <c:v>0.1120000000000001</c:v>
                </c:pt>
                <c:pt idx="63">
                  <c:v>0.13400000000000012</c:v>
                </c:pt>
                <c:pt idx="64">
                  <c:v>0.15200000000000014</c:v>
                </c:pt>
                <c:pt idx="65">
                  <c:v>0.16700000000000004</c:v>
                </c:pt>
                <c:pt idx="66">
                  <c:v>0.18300000000000005</c:v>
                </c:pt>
                <c:pt idx="67">
                  <c:v>0.19300000000000006</c:v>
                </c:pt>
                <c:pt idx="68">
                  <c:v>0.20599999999999996</c:v>
                </c:pt>
                <c:pt idx="69">
                  <c:v>0.21199999999999997</c:v>
                </c:pt>
                <c:pt idx="70">
                  <c:v>0.21099999999999985</c:v>
                </c:pt>
                <c:pt idx="71">
                  <c:v>0.20599999999999996</c:v>
                </c:pt>
                <c:pt idx="72">
                  <c:v>0.18799999999999994</c:v>
                </c:pt>
                <c:pt idx="73">
                  <c:v>0.15500000000000003</c:v>
                </c:pt>
                <c:pt idx="74">
                  <c:v>0.12999999999999989</c:v>
                </c:pt>
                <c:pt idx="75">
                  <c:v>0.1120000000000001</c:v>
                </c:pt>
                <c:pt idx="76">
                  <c:v>9.6999999999999975E-2</c:v>
                </c:pt>
                <c:pt idx="77">
                  <c:v>8.0000000000000071E-2</c:v>
                </c:pt>
                <c:pt idx="78">
                  <c:v>4.9000000000000155E-2</c:v>
                </c:pt>
                <c:pt idx="79">
                  <c:v>2.6000000000000023E-2</c:v>
                </c:pt>
                <c:pt idx="80">
                  <c:v>4.0000000000000036E-3</c:v>
                </c:pt>
                <c:pt idx="81">
                  <c:v>-1.7000000000000015E-2</c:v>
                </c:pt>
                <c:pt idx="82">
                  <c:v>-2.5999999999999912E-2</c:v>
                </c:pt>
                <c:pt idx="83">
                  <c:v>-3.400000000000003E-2</c:v>
                </c:pt>
                <c:pt idx="84">
                  <c:v>-4.0000000000000036E-2</c:v>
                </c:pt>
                <c:pt idx="85">
                  <c:v>-4.500000000000004E-2</c:v>
                </c:pt>
                <c:pt idx="86">
                  <c:v>-4.7000000000000042E-2</c:v>
                </c:pt>
                <c:pt idx="87">
                  <c:v>-4.0000000000000036E-2</c:v>
                </c:pt>
                <c:pt idx="88">
                  <c:v>-2.9000000000000026E-2</c:v>
                </c:pt>
                <c:pt idx="89">
                  <c:v>-1.4000000000000012E-2</c:v>
                </c:pt>
                <c:pt idx="90">
                  <c:v>1.2000000000000011E-2</c:v>
                </c:pt>
                <c:pt idx="91">
                  <c:v>3.6999999999999922E-2</c:v>
                </c:pt>
                <c:pt idx="92">
                  <c:v>5.9000000000000163E-2</c:v>
                </c:pt>
                <c:pt idx="93">
                  <c:v>8.0999999999999961E-2</c:v>
                </c:pt>
                <c:pt idx="94">
                  <c:v>9.5999999999999863E-2</c:v>
                </c:pt>
                <c:pt idx="95">
                  <c:v>0.10400000000000009</c:v>
                </c:pt>
                <c:pt idx="96">
                  <c:v>0.11299999999999999</c:v>
                </c:pt>
                <c:pt idx="97">
                  <c:v>0.14200000000000013</c:v>
                </c:pt>
                <c:pt idx="98">
                  <c:v>0.17599999999999993</c:v>
                </c:pt>
                <c:pt idx="99">
                  <c:v>0.20199999999999996</c:v>
                </c:pt>
                <c:pt idx="100">
                  <c:v>0.21399999999999997</c:v>
                </c:pt>
                <c:pt idx="101">
                  <c:v>0.22299999999999986</c:v>
                </c:pt>
                <c:pt idx="102">
                  <c:v>0.22700000000000009</c:v>
                </c:pt>
                <c:pt idx="103">
                  <c:v>0.25800000000000001</c:v>
                </c:pt>
              </c:numCache>
            </c:numRef>
          </c:val>
          <c:smooth val="0"/>
          <c:extLst>
            <c:ext xmlns:c16="http://schemas.microsoft.com/office/drawing/2014/chart" uri="{C3380CC4-5D6E-409C-BE32-E72D297353CC}">
              <c16:uniqueId val="{00000000-8EAA-4901-92DB-BEF1E4AF3156}"/>
            </c:ext>
          </c:extLst>
        </c:ser>
        <c:dLbls>
          <c:showLegendKey val="0"/>
          <c:showVal val="0"/>
          <c:showCatName val="0"/>
          <c:showSerName val="0"/>
          <c:showPercent val="0"/>
          <c:showBubbleSize val="0"/>
        </c:dLbls>
        <c:marker val="1"/>
        <c:smooth val="0"/>
        <c:axId val="242688768"/>
        <c:axId val="242690304"/>
      </c:lineChart>
      <c:catAx>
        <c:axId val="242688768"/>
        <c:scaling>
          <c:orientation val="minMax"/>
        </c:scaling>
        <c:delete val="0"/>
        <c:axPos val="b"/>
        <c:numFmt formatCode="#,##0.00_);[Red]\(#,##0.00\)" sourceLinked="0"/>
        <c:majorTickMark val="out"/>
        <c:minorTickMark val="none"/>
        <c:tickLblPos val="nextTo"/>
        <c:txPr>
          <a:bodyPr/>
          <a:lstStyle/>
          <a:p>
            <a:pPr>
              <a:defRPr>
                <a:latin typeface="+mj-ea"/>
                <a:ea typeface="+mj-ea"/>
              </a:defRPr>
            </a:pPr>
            <a:endParaRPr lang="zh-CN"/>
          </a:p>
        </c:txPr>
        <c:crossAx val="242690304"/>
        <c:crosses val="autoZero"/>
        <c:auto val="1"/>
        <c:lblAlgn val="ctr"/>
        <c:lblOffset val="100"/>
        <c:tickLblSkip val="3"/>
        <c:noMultiLvlLbl val="0"/>
      </c:catAx>
      <c:valAx>
        <c:axId val="242690304"/>
        <c:scaling>
          <c:orientation val="minMax"/>
        </c:scaling>
        <c:delete val="0"/>
        <c:axPos val="l"/>
        <c:title>
          <c:tx>
            <c:rich>
              <a:bodyPr rot="0" vert="horz"/>
              <a:lstStyle/>
              <a:p>
                <a:pPr>
                  <a:defRPr sz="1050">
                    <a:latin typeface="+mj-ea"/>
                    <a:ea typeface="+mj-ea"/>
                  </a:defRPr>
                </a:pPr>
                <a:r>
                  <a:rPr lang="zh-CN" altLang="en-US" sz="1050" dirty="0">
                    <a:latin typeface="+mj-ea"/>
                    <a:ea typeface="+mj-ea"/>
                  </a:rPr>
                  <a:t>数据来源：国家统计局</a:t>
                </a:r>
              </a:p>
            </c:rich>
          </c:tx>
          <c:layout>
            <c:manualLayout>
              <c:xMode val="edge"/>
              <c:yMode val="edge"/>
              <c:x val="1.1935207263802048E-2"/>
              <c:y val="0.92592592592592593"/>
            </c:manualLayout>
          </c:layout>
          <c:overlay val="0"/>
        </c:title>
        <c:numFmt formatCode="0.0%" sourceLinked="1"/>
        <c:majorTickMark val="out"/>
        <c:minorTickMark val="none"/>
        <c:tickLblPos val="nextTo"/>
        <c:crossAx val="242688768"/>
        <c:crosses val="autoZero"/>
        <c:crossBetween val="between"/>
      </c:valAx>
    </c:plotArea>
    <c:plotVisOnly val="1"/>
    <c:dispBlanksAs val="gap"/>
    <c:showDLblsOverMax val="0"/>
  </c:chart>
  <c:externalData r:id="rId1">
    <c:autoUpdate val="0"/>
  </c:externalData>
  <c:userShapes r:id="rId2"/>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b="1"/>
            </a:pPr>
            <a:r>
              <a:rPr lang="zh-CN" altLang="en-US" b="1"/>
              <a:t>石家庄普通</a:t>
            </a:r>
            <a:r>
              <a:rPr lang="zh-CN" b="1"/>
              <a:t>住宅各</a:t>
            </a:r>
            <a:r>
              <a:rPr lang="zh-CN" b="1">
                <a:solidFill>
                  <a:schemeClr val="accent1"/>
                </a:solidFill>
              </a:rPr>
              <a:t>总价</a:t>
            </a:r>
            <a:r>
              <a:rPr lang="zh-CN" b="1"/>
              <a:t>段成交占比走势</a:t>
            </a:r>
          </a:p>
        </c:rich>
      </c:tx>
      <c:layout>
        <c:manualLayout>
          <c:xMode val="edge"/>
          <c:yMode val="edge"/>
          <c:x val="0.26099318181818182"/>
          <c:y val="0"/>
        </c:manualLayout>
      </c:layout>
      <c:overlay val="0"/>
    </c:title>
    <c:autoTitleDeleted val="0"/>
    <c:plotArea>
      <c:layout>
        <c:manualLayout>
          <c:layoutTarget val="inner"/>
          <c:xMode val="edge"/>
          <c:yMode val="edge"/>
          <c:x val="2.9281666424862723E-2"/>
          <c:y val="0.19258092738407698"/>
          <c:w val="0.81602878787878785"/>
          <c:h val="0.62458734324876053"/>
        </c:manualLayout>
      </c:layout>
      <c:barChart>
        <c:barDir val="col"/>
        <c:grouping val="stacked"/>
        <c:varyColors val="0"/>
        <c:ser>
          <c:idx val="0"/>
          <c:order val="0"/>
          <c:tx>
            <c:strRef>
              <c:f>石家庄!$H$38</c:f>
              <c:strCache>
                <c:ptCount val="1"/>
                <c:pt idx="0">
                  <c:v>60万以下</c:v>
                </c:pt>
              </c:strCache>
            </c:strRef>
          </c:tx>
          <c:invertIfNegative val="0"/>
          <c:dLbls>
            <c:spPr>
              <a:noFill/>
              <a:ln>
                <a:noFill/>
              </a:ln>
              <a:effectLst/>
            </c:spPr>
            <c:txPr>
              <a:bodyPr/>
              <a:lstStyle/>
              <a:p>
                <a:pPr>
                  <a:defRPr sz="800"/>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石家庄!$G$39:$G$58</c:f>
              <c:strCache>
                <c:ptCount val="20"/>
                <c:pt idx="0">
                  <c:v>15/01</c:v>
                </c:pt>
                <c:pt idx="1">
                  <c:v>15/02</c:v>
                </c:pt>
                <c:pt idx="2">
                  <c:v>15/03</c:v>
                </c:pt>
                <c:pt idx="3">
                  <c:v>15/04</c:v>
                </c:pt>
                <c:pt idx="4">
                  <c:v>15/05</c:v>
                </c:pt>
                <c:pt idx="5">
                  <c:v>15/06</c:v>
                </c:pt>
                <c:pt idx="6">
                  <c:v>15/07</c:v>
                </c:pt>
                <c:pt idx="7">
                  <c:v>15/08</c:v>
                </c:pt>
                <c:pt idx="8">
                  <c:v>15/09</c:v>
                </c:pt>
                <c:pt idx="9">
                  <c:v>15/10</c:v>
                </c:pt>
                <c:pt idx="10">
                  <c:v>15/11</c:v>
                </c:pt>
                <c:pt idx="11">
                  <c:v>15/12</c:v>
                </c:pt>
                <c:pt idx="12">
                  <c:v>16/01</c:v>
                </c:pt>
                <c:pt idx="13">
                  <c:v>16/02</c:v>
                </c:pt>
                <c:pt idx="14">
                  <c:v>16/03</c:v>
                </c:pt>
                <c:pt idx="15">
                  <c:v>16/04</c:v>
                </c:pt>
                <c:pt idx="16">
                  <c:v>16/05</c:v>
                </c:pt>
                <c:pt idx="17">
                  <c:v>16/06</c:v>
                </c:pt>
                <c:pt idx="18">
                  <c:v>16/07</c:v>
                </c:pt>
                <c:pt idx="19">
                  <c:v>16/08</c:v>
                </c:pt>
              </c:strCache>
            </c:strRef>
          </c:cat>
          <c:val>
            <c:numRef>
              <c:f>石家庄!$H$39:$H$58</c:f>
              <c:numCache>
                <c:formatCode>0%</c:formatCode>
                <c:ptCount val="20"/>
                <c:pt idx="0">
                  <c:v>0.38185465893892107</c:v>
                </c:pt>
                <c:pt idx="1">
                  <c:v>0.43967150979153508</c:v>
                </c:pt>
                <c:pt idx="2">
                  <c:v>0.41588554514060189</c:v>
                </c:pt>
                <c:pt idx="3">
                  <c:v>0.15034965034965034</c:v>
                </c:pt>
                <c:pt idx="4">
                  <c:v>0.24170744970092442</c:v>
                </c:pt>
                <c:pt idx="5">
                  <c:v>0.24971164936562859</c:v>
                </c:pt>
                <c:pt idx="6">
                  <c:v>0.33760186263096625</c:v>
                </c:pt>
                <c:pt idx="7">
                  <c:v>0.25610482430017867</c:v>
                </c:pt>
                <c:pt idx="8">
                  <c:v>0.33042895442359249</c:v>
                </c:pt>
                <c:pt idx="9">
                  <c:v>0.30893026191227518</c:v>
                </c:pt>
                <c:pt idx="10">
                  <c:v>0.27495462794918329</c:v>
                </c:pt>
                <c:pt idx="11">
                  <c:v>0.22619047619047619</c:v>
                </c:pt>
                <c:pt idx="12">
                  <c:v>0.3809662398137369</c:v>
                </c:pt>
                <c:pt idx="13">
                  <c:v>0.33702391496899914</c:v>
                </c:pt>
                <c:pt idx="14">
                  <c:v>0.23991121872477805</c:v>
                </c:pt>
                <c:pt idx="15">
                  <c:v>0.35885497499568891</c:v>
                </c:pt>
                <c:pt idx="16">
                  <c:v>0.47734215885947046</c:v>
                </c:pt>
                <c:pt idx="17">
                  <c:v>0.44951863737348802</c:v>
                </c:pt>
                <c:pt idx="18">
                  <c:v>0.32541806020066888</c:v>
                </c:pt>
                <c:pt idx="19">
                  <c:v>0.21246105919003117</c:v>
                </c:pt>
              </c:numCache>
            </c:numRef>
          </c:val>
          <c:extLst>
            <c:ext xmlns:c16="http://schemas.microsoft.com/office/drawing/2014/chart" uri="{C3380CC4-5D6E-409C-BE32-E72D297353CC}">
              <c16:uniqueId val="{00000000-855F-40C2-BFBC-2019B4D41CBA}"/>
            </c:ext>
          </c:extLst>
        </c:ser>
        <c:ser>
          <c:idx val="1"/>
          <c:order val="1"/>
          <c:tx>
            <c:strRef>
              <c:f>石家庄!$I$38</c:f>
              <c:strCache>
                <c:ptCount val="1"/>
                <c:pt idx="0">
                  <c:v>60~100万</c:v>
                </c:pt>
              </c:strCache>
            </c:strRef>
          </c:tx>
          <c:invertIfNegative val="0"/>
          <c:dLbls>
            <c:spPr>
              <a:noFill/>
              <a:ln>
                <a:noFill/>
              </a:ln>
              <a:effectLst/>
            </c:spPr>
            <c:txPr>
              <a:bodyPr/>
              <a:lstStyle/>
              <a:p>
                <a:pPr>
                  <a:defRPr sz="800"/>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石家庄!$G$39:$G$58</c:f>
              <c:strCache>
                <c:ptCount val="20"/>
                <c:pt idx="0">
                  <c:v>15/01</c:v>
                </c:pt>
                <c:pt idx="1">
                  <c:v>15/02</c:v>
                </c:pt>
                <c:pt idx="2">
                  <c:v>15/03</c:v>
                </c:pt>
                <c:pt idx="3">
                  <c:v>15/04</c:v>
                </c:pt>
                <c:pt idx="4">
                  <c:v>15/05</c:v>
                </c:pt>
                <c:pt idx="5">
                  <c:v>15/06</c:v>
                </c:pt>
                <c:pt idx="6">
                  <c:v>15/07</c:v>
                </c:pt>
                <c:pt idx="7">
                  <c:v>15/08</c:v>
                </c:pt>
                <c:pt idx="8">
                  <c:v>15/09</c:v>
                </c:pt>
                <c:pt idx="9">
                  <c:v>15/10</c:v>
                </c:pt>
                <c:pt idx="10">
                  <c:v>15/11</c:v>
                </c:pt>
                <c:pt idx="11">
                  <c:v>15/12</c:v>
                </c:pt>
                <c:pt idx="12">
                  <c:v>16/01</c:v>
                </c:pt>
                <c:pt idx="13">
                  <c:v>16/02</c:v>
                </c:pt>
                <c:pt idx="14">
                  <c:v>16/03</c:v>
                </c:pt>
                <c:pt idx="15">
                  <c:v>16/04</c:v>
                </c:pt>
                <c:pt idx="16">
                  <c:v>16/05</c:v>
                </c:pt>
                <c:pt idx="17">
                  <c:v>16/06</c:v>
                </c:pt>
                <c:pt idx="18">
                  <c:v>16/07</c:v>
                </c:pt>
                <c:pt idx="19">
                  <c:v>16/08</c:v>
                </c:pt>
              </c:strCache>
            </c:strRef>
          </c:cat>
          <c:val>
            <c:numRef>
              <c:f>石家庄!$I$39:$I$58</c:f>
              <c:numCache>
                <c:formatCode>0%</c:formatCode>
                <c:ptCount val="20"/>
                <c:pt idx="0">
                  <c:v>0.4572001783325903</c:v>
                </c:pt>
                <c:pt idx="1">
                  <c:v>0.4061907770056854</c:v>
                </c:pt>
                <c:pt idx="2">
                  <c:v>0.44079921065614208</c:v>
                </c:pt>
                <c:pt idx="3">
                  <c:v>0.60139860139860135</c:v>
                </c:pt>
                <c:pt idx="4">
                  <c:v>0.56905927134312129</c:v>
                </c:pt>
                <c:pt idx="5">
                  <c:v>0.5337370242214533</c:v>
                </c:pt>
                <c:pt idx="6">
                  <c:v>0.42025611175785799</c:v>
                </c:pt>
                <c:pt idx="7">
                  <c:v>0.4312090530077427</c:v>
                </c:pt>
                <c:pt idx="8">
                  <c:v>0.41655495978552282</c:v>
                </c:pt>
                <c:pt idx="9">
                  <c:v>0.39917955190911958</c:v>
                </c:pt>
                <c:pt idx="10">
                  <c:v>0.40532365396249243</c:v>
                </c:pt>
                <c:pt idx="11">
                  <c:v>0.4486607142857143</c:v>
                </c:pt>
                <c:pt idx="12">
                  <c:v>0.40075669383003493</c:v>
                </c:pt>
                <c:pt idx="13">
                  <c:v>0.42161204605845881</c:v>
                </c:pt>
                <c:pt idx="14">
                  <c:v>0.46045197740112992</c:v>
                </c:pt>
                <c:pt idx="15">
                  <c:v>0.37265045697534055</c:v>
                </c:pt>
                <c:pt idx="16">
                  <c:v>0.25076374745417518</c:v>
                </c:pt>
                <c:pt idx="17">
                  <c:v>0.25993581831646506</c:v>
                </c:pt>
                <c:pt idx="18">
                  <c:v>0.23812709030100335</c:v>
                </c:pt>
                <c:pt idx="19">
                  <c:v>0.37445482866043611</c:v>
                </c:pt>
              </c:numCache>
            </c:numRef>
          </c:val>
          <c:extLst>
            <c:ext xmlns:c16="http://schemas.microsoft.com/office/drawing/2014/chart" uri="{C3380CC4-5D6E-409C-BE32-E72D297353CC}">
              <c16:uniqueId val="{00000001-855F-40C2-BFBC-2019B4D41CBA}"/>
            </c:ext>
          </c:extLst>
        </c:ser>
        <c:ser>
          <c:idx val="2"/>
          <c:order val="2"/>
          <c:tx>
            <c:strRef>
              <c:f>石家庄!$J$38</c:f>
              <c:strCache>
                <c:ptCount val="1"/>
                <c:pt idx="0">
                  <c:v>100~150万</c:v>
                </c:pt>
              </c:strCache>
            </c:strRef>
          </c:tx>
          <c:invertIfNegative val="0"/>
          <c:dLbls>
            <c:spPr>
              <a:noFill/>
              <a:ln>
                <a:noFill/>
              </a:ln>
              <a:effectLst/>
            </c:spPr>
            <c:txPr>
              <a:bodyPr/>
              <a:lstStyle/>
              <a:p>
                <a:pPr>
                  <a:defRPr sz="800"/>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石家庄!$G$39:$G$58</c:f>
              <c:strCache>
                <c:ptCount val="20"/>
                <c:pt idx="0">
                  <c:v>15/01</c:v>
                </c:pt>
                <c:pt idx="1">
                  <c:v>15/02</c:v>
                </c:pt>
                <c:pt idx="2">
                  <c:v>15/03</c:v>
                </c:pt>
                <c:pt idx="3">
                  <c:v>15/04</c:v>
                </c:pt>
                <c:pt idx="4">
                  <c:v>15/05</c:v>
                </c:pt>
                <c:pt idx="5">
                  <c:v>15/06</c:v>
                </c:pt>
                <c:pt idx="6">
                  <c:v>15/07</c:v>
                </c:pt>
                <c:pt idx="7">
                  <c:v>15/08</c:v>
                </c:pt>
                <c:pt idx="8">
                  <c:v>15/09</c:v>
                </c:pt>
                <c:pt idx="9">
                  <c:v>15/10</c:v>
                </c:pt>
                <c:pt idx="10">
                  <c:v>15/11</c:v>
                </c:pt>
                <c:pt idx="11">
                  <c:v>15/12</c:v>
                </c:pt>
                <c:pt idx="12">
                  <c:v>16/01</c:v>
                </c:pt>
                <c:pt idx="13">
                  <c:v>16/02</c:v>
                </c:pt>
                <c:pt idx="14">
                  <c:v>16/03</c:v>
                </c:pt>
                <c:pt idx="15">
                  <c:v>16/04</c:v>
                </c:pt>
                <c:pt idx="16">
                  <c:v>16/05</c:v>
                </c:pt>
                <c:pt idx="17">
                  <c:v>16/06</c:v>
                </c:pt>
                <c:pt idx="18">
                  <c:v>16/07</c:v>
                </c:pt>
                <c:pt idx="19">
                  <c:v>16/08</c:v>
                </c:pt>
              </c:strCache>
            </c:strRef>
          </c:cat>
          <c:val>
            <c:numRef>
              <c:f>石家庄!$J$39:$J$58</c:f>
              <c:numCache>
                <c:formatCode>0%</c:formatCode>
                <c:ptCount val="20"/>
                <c:pt idx="0">
                  <c:v>0.11903700401248328</c:v>
                </c:pt>
                <c:pt idx="1">
                  <c:v>0.11181301326595072</c:v>
                </c:pt>
                <c:pt idx="2">
                  <c:v>0.10212136161815491</c:v>
                </c:pt>
                <c:pt idx="3">
                  <c:v>0.15151515151515152</c:v>
                </c:pt>
                <c:pt idx="4">
                  <c:v>0.14328439369222404</c:v>
                </c:pt>
                <c:pt idx="5">
                  <c:v>0.15916955017301038</c:v>
                </c:pt>
                <c:pt idx="6">
                  <c:v>0.17869615832363214</c:v>
                </c:pt>
                <c:pt idx="7">
                  <c:v>0.23823704586063132</c:v>
                </c:pt>
                <c:pt idx="8">
                  <c:v>0.1826407506702413</c:v>
                </c:pt>
                <c:pt idx="9">
                  <c:v>0.20826759230041023</c:v>
                </c:pt>
                <c:pt idx="10">
                  <c:v>0.20387174833635813</c:v>
                </c:pt>
                <c:pt idx="11">
                  <c:v>0.20833333333333334</c:v>
                </c:pt>
                <c:pt idx="12">
                  <c:v>0.1420256111757858</c:v>
                </c:pt>
                <c:pt idx="13">
                  <c:v>0.19220549158547387</c:v>
                </c:pt>
                <c:pt idx="14">
                  <c:v>0.24313962873284908</c:v>
                </c:pt>
                <c:pt idx="15">
                  <c:v>0.19624073116054491</c:v>
                </c:pt>
                <c:pt idx="16">
                  <c:v>0.16242362525458248</c:v>
                </c:pt>
                <c:pt idx="17">
                  <c:v>0.13971858800296222</c:v>
                </c:pt>
                <c:pt idx="18">
                  <c:v>0.21304347826086956</c:v>
                </c:pt>
                <c:pt idx="19">
                  <c:v>0.22180685358255453</c:v>
                </c:pt>
              </c:numCache>
            </c:numRef>
          </c:val>
          <c:extLst>
            <c:ext xmlns:c16="http://schemas.microsoft.com/office/drawing/2014/chart" uri="{C3380CC4-5D6E-409C-BE32-E72D297353CC}">
              <c16:uniqueId val="{00000002-855F-40C2-BFBC-2019B4D41CBA}"/>
            </c:ext>
          </c:extLst>
        </c:ser>
        <c:ser>
          <c:idx val="3"/>
          <c:order val="3"/>
          <c:tx>
            <c:strRef>
              <c:f>石家庄!$K$38</c:f>
              <c:strCache>
                <c:ptCount val="1"/>
                <c:pt idx="0">
                  <c:v>150~200万</c:v>
                </c:pt>
              </c:strCache>
            </c:strRef>
          </c:tx>
          <c:invertIfNegative val="0"/>
          <c:dLbls>
            <c:delete val="1"/>
          </c:dLbls>
          <c:cat>
            <c:strRef>
              <c:f>石家庄!$G$39:$G$58</c:f>
              <c:strCache>
                <c:ptCount val="20"/>
                <c:pt idx="0">
                  <c:v>15/01</c:v>
                </c:pt>
                <c:pt idx="1">
                  <c:v>15/02</c:v>
                </c:pt>
                <c:pt idx="2">
                  <c:v>15/03</c:v>
                </c:pt>
                <c:pt idx="3">
                  <c:v>15/04</c:v>
                </c:pt>
                <c:pt idx="4">
                  <c:v>15/05</c:v>
                </c:pt>
                <c:pt idx="5">
                  <c:v>15/06</c:v>
                </c:pt>
                <c:pt idx="6">
                  <c:v>15/07</c:v>
                </c:pt>
                <c:pt idx="7">
                  <c:v>15/08</c:v>
                </c:pt>
                <c:pt idx="8">
                  <c:v>15/09</c:v>
                </c:pt>
                <c:pt idx="9">
                  <c:v>15/10</c:v>
                </c:pt>
                <c:pt idx="10">
                  <c:v>15/11</c:v>
                </c:pt>
                <c:pt idx="11">
                  <c:v>15/12</c:v>
                </c:pt>
                <c:pt idx="12">
                  <c:v>16/01</c:v>
                </c:pt>
                <c:pt idx="13">
                  <c:v>16/02</c:v>
                </c:pt>
                <c:pt idx="14">
                  <c:v>16/03</c:v>
                </c:pt>
                <c:pt idx="15">
                  <c:v>16/04</c:v>
                </c:pt>
                <c:pt idx="16">
                  <c:v>16/05</c:v>
                </c:pt>
                <c:pt idx="17">
                  <c:v>16/06</c:v>
                </c:pt>
                <c:pt idx="18">
                  <c:v>16/07</c:v>
                </c:pt>
                <c:pt idx="19">
                  <c:v>16/08</c:v>
                </c:pt>
              </c:strCache>
            </c:strRef>
          </c:cat>
          <c:val>
            <c:numRef>
              <c:f>石家庄!$K$39:$K$58</c:f>
              <c:numCache>
                <c:formatCode>0%</c:formatCode>
                <c:ptCount val="20"/>
                <c:pt idx="0">
                  <c:v>2.9424877396344182E-2</c:v>
                </c:pt>
                <c:pt idx="1">
                  <c:v>1.7687934301958308E-2</c:v>
                </c:pt>
                <c:pt idx="2">
                  <c:v>2.5407005426739022E-2</c:v>
                </c:pt>
                <c:pt idx="3">
                  <c:v>2.9137529137529136E-2</c:v>
                </c:pt>
                <c:pt idx="4">
                  <c:v>2.6101141924959218E-2</c:v>
                </c:pt>
                <c:pt idx="5">
                  <c:v>3.2871972318339097E-2</c:v>
                </c:pt>
                <c:pt idx="6">
                  <c:v>3.7543655413271246E-2</c:v>
                </c:pt>
                <c:pt idx="7">
                  <c:v>5.1518761167361524E-2</c:v>
                </c:pt>
                <c:pt idx="8">
                  <c:v>4.524128686327078E-2</c:v>
                </c:pt>
                <c:pt idx="9">
                  <c:v>5.8378037235721048E-2</c:v>
                </c:pt>
                <c:pt idx="10">
                  <c:v>3.0550514216575921E-2</c:v>
                </c:pt>
                <c:pt idx="11">
                  <c:v>5.8779761904761904E-2</c:v>
                </c:pt>
                <c:pt idx="12">
                  <c:v>4.4819557625145515E-2</c:v>
                </c:pt>
                <c:pt idx="13">
                  <c:v>3.100088573959256E-2</c:v>
                </c:pt>
                <c:pt idx="14">
                  <c:v>3.470540758676352E-2</c:v>
                </c:pt>
                <c:pt idx="15">
                  <c:v>4.3800655285394036E-2</c:v>
                </c:pt>
                <c:pt idx="16">
                  <c:v>7.4847250509164964E-2</c:v>
                </c:pt>
                <c:pt idx="17">
                  <c:v>5.7269809923475683E-2</c:v>
                </c:pt>
                <c:pt idx="18">
                  <c:v>7.5919732441471571E-2</c:v>
                </c:pt>
                <c:pt idx="19">
                  <c:v>6.4485981308411211E-2</c:v>
                </c:pt>
              </c:numCache>
            </c:numRef>
          </c:val>
          <c:extLst>
            <c:ext xmlns:c16="http://schemas.microsoft.com/office/drawing/2014/chart" uri="{C3380CC4-5D6E-409C-BE32-E72D297353CC}">
              <c16:uniqueId val="{00000003-855F-40C2-BFBC-2019B4D41CBA}"/>
            </c:ext>
          </c:extLst>
        </c:ser>
        <c:ser>
          <c:idx val="4"/>
          <c:order val="4"/>
          <c:tx>
            <c:strRef>
              <c:f>石家庄!$L$38</c:f>
              <c:strCache>
                <c:ptCount val="1"/>
                <c:pt idx="0">
                  <c:v>200万及以上</c:v>
                </c:pt>
              </c:strCache>
            </c:strRef>
          </c:tx>
          <c:invertIfNegative val="0"/>
          <c:dLbls>
            <c:delete val="1"/>
          </c:dLbls>
          <c:cat>
            <c:strRef>
              <c:f>石家庄!$G$39:$G$58</c:f>
              <c:strCache>
                <c:ptCount val="20"/>
                <c:pt idx="0">
                  <c:v>15/01</c:v>
                </c:pt>
                <c:pt idx="1">
                  <c:v>15/02</c:v>
                </c:pt>
                <c:pt idx="2">
                  <c:v>15/03</c:v>
                </c:pt>
                <c:pt idx="3">
                  <c:v>15/04</c:v>
                </c:pt>
                <c:pt idx="4">
                  <c:v>15/05</c:v>
                </c:pt>
                <c:pt idx="5">
                  <c:v>15/06</c:v>
                </c:pt>
                <c:pt idx="6">
                  <c:v>15/07</c:v>
                </c:pt>
                <c:pt idx="7">
                  <c:v>15/08</c:v>
                </c:pt>
                <c:pt idx="8">
                  <c:v>15/09</c:v>
                </c:pt>
                <c:pt idx="9">
                  <c:v>15/10</c:v>
                </c:pt>
                <c:pt idx="10">
                  <c:v>15/11</c:v>
                </c:pt>
                <c:pt idx="11">
                  <c:v>15/12</c:v>
                </c:pt>
                <c:pt idx="12">
                  <c:v>16/01</c:v>
                </c:pt>
                <c:pt idx="13">
                  <c:v>16/02</c:v>
                </c:pt>
                <c:pt idx="14">
                  <c:v>16/03</c:v>
                </c:pt>
                <c:pt idx="15">
                  <c:v>16/04</c:v>
                </c:pt>
                <c:pt idx="16">
                  <c:v>16/05</c:v>
                </c:pt>
                <c:pt idx="17">
                  <c:v>16/06</c:v>
                </c:pt>
                <c:pt idx="18">
                  <c:v>16/07</c:v>
                </c:pt>
                <c:pt idx="19">
                  <c:v>16/08</c:v>
                </c:pt>
              </c:strCache>
            </c:strRef>
          </c:cat>
          <c:val>
            <c:numRef>
              <c:f>石家庄!$L$39:$L$58</c:f>
              <c:numCache>
                <c:formatCode>0%</c:formatCode>
                <c:ptCount val="20"/>
                <c:pt idx="0">
                  <c:v>1.2483281319661168E-2</c:v>
                </c:pt>
                <c:pt idx="1">
                  <c:v>2.4636765634870498E-2</c:v>
                </c:pt>
                <c:pt idx="2">
                  <c:v>1.5786877158362113E-2</c:v>
                </c:pt>
                <c:pt idx="3">
                  <c:v>6.75990675990676E-2</c:v>
                </c:pt>
                <c:pt idx="4">
                  <c:v>1.9847743338771071E-2</c:v>
                </c:pt>
                <c:pt idx="5">
                  <c:v>2.4509803921568627E-2</c:v>
                </c:pt>
                <c:pt idx="6">
                  <c:v>2.5902211874272409E-2</c:v>
                </c:pt>
                <c:pt idx="7">
                  <c:v>2.2930315664085765E-2</c:v>
                </c:pt>
                <c:pt idx="8">
                  <c:v>2.5134048257372654E-2</c:v>
                </c:pt>
                <c:pt idx="9">
                  <c:v>2.5244556642473968E-2</c:v>
                </c:pt>
                <c:pt idx="10">
                  <c:v>8.5299455535390201E-2</c:v>
                </c:pt>
                <c:pt idx="11">
                  <c:v>5.8035714285714288E-2</c:v>
                </c:pt>
                <c:pt idx="12">
                  <c:v>3.1431897555296857E-2</c:v>
                </c:pt>
                <c:pt idx="13">
                  <c:v>1.8157661647475641E-2</c:v>
                </c:pt>
                <c:pt idx="14">
                  <c:v>2.1791767554479417E-2</c:v>
                </c:pt>
                <c:pt idx="15">
                  <c:v>2.8453181583031558E-2</c:v>
                </c:pt>
                <c:pt idx="16">
                  <c:v>3.4623217922606926E-2</c:v>
                </c:pt>
                <c:pt idx="17">
                  <c:v>9.3557146383608986E-2</c:v>
                </c:pt>
                <c:pt idx="18">
                  <c:v>0.14749163879598662</c:v>
                </c:pt>
                <c:pt idx="19">
                  <c:v>0.12679127725856698</c:v>
                </c:pt>
              </c:numCache>
            </c:numRef>
          </c:val>
          <c:extLst>
            <c:ext xmlns:c16="http://schemas.microsoft.com/office/drawing/2014/chart" uri="{C3380CC4-5D6E-409C-BE32-E72D297353CC}">
              <c16:uniqueId val="{00000004-855F-40C2-BFBC-2019B4D41CBA}"/>
            </c:ext>
          </c:extLst>
        </c:ser>
        <c:dLbls>
          <c:dLblPos val="ctr"/>
          <c:showLegendKey val="0"/>
          <c:showVal val="1"/>
          <c:showCatName val="0"/>
          <c:showSerName val="0"/>
          <c:showPercent val="0"/>
          <c:showBubbleSize val="0"/>
        </c:dLbls>
        <c:gapWidth val="138"/>
        <c:overlap val="100"/>
        <c:axId val="242834432"/>
        <c:axId val="242860800"/>
      </c:barChart>
      <c:lineChart>
        <c:grouping val="standard"/>
        <c:varyColors val="0"/>
        <c:ser>
          <c:idx val="5"/>
          <c:order val="5"/>
          <c:tx>
            <c:strRef>
              <c:f>石家庄!$M$38</c:f>
              <c:strCache>
                <c:ptCount val="1"/>
                <c:pt idx="0">
                  <c:v>1</c:v>
                </c:pt>
              </c:strCache>
            </c:strRef>
          </c:tx>
          <c:marker>
            <c:symbol val="none"/>
          </c:marker>
          <c:cat>
            <c:strRef>
              <c:f>石家庄!$G$39:$G$58</c:f>
              <c:strCache>
                <c:ptCount val="20"/>
                <c:pt idx="0">
                  <c:v>15/01</c:v>
                </c:pt>
                <c:pt idx="1">
                  <c:v>15/02</c:v>
                </c:pt>
                <c:pt idx="2">
                  <c:v>15/03</c:v>
                </c:pt>
                <c:pt idx="3">
                  <c:v>15/04</c:v>
                </c:pt>
                <c:pt idx="4">
                  <c:v>15/05</c:v>
                </c:pt>
                <c:pt idx="5">
                  <c:v>15/06</c:v>
                </c:pt>
                <c:pt idx="6">
                  <c:v>15/07</c:v>
                </c:pt>
                <c:pt idx="7">
                  <c:v>15/08</c:v>
                </c:pt>
                <c:pt idx="8">
                  <c:v>15/09</c:v>
                </c:pt>
                <c:pt idx="9">
                  <c:v>15/10</c:v>
                </c:pt>
                <c:pt idx="10">
                  <c:v>15/11</c:v>
                </c:pt>
                <c:pt idx="11">
                  <c:v>15/12</c:v>
                </c:pt>
                <c:pt idx="12">
                  <c:v>16/01</c:v>
                </c:pt>
                <c:pt idx="13">
                  <c:v>16/02</c:v>
                </c:pt>
                <c:pt idx="14">
                  <c:v>16/03</c:v>
                </c:pt>
                <c:pt idx="15">
                  <c:v>16/04</c:v>
                </c:pt>
                <c:pt idx="16">
                  <c:v>16/05</c:v>
                </c:pt>
                <c:pt idx="17">
                  <c:v>16/06</c:v>
                </c:pt>
                <c:pt idx="18">
                  <c:v>16/07</c:v>
                </c:pt>
                <c:pt idx="19">
                  <c:v>16/08</c:v>
                </c:pt>
              </c:strCache>
            </c:strRef>
          </c:cat>
          <c:val>
            <c:numRef>
              <c:f>石家庄!$M$39:$M$58</c:f>
              <c:numCache>
                <c:formatCode>0%</c:formatCode>
                <c:ptCount val="20"/>
                <c:pt idx="0">
                  <c:v>0.83905483727151142</c:v>
                </c:pt>
                <c:pt idx="1">
                  <c:v>0.84586228679722053</c:v>
                </c:pt>
                <c:pt idx="2">
                  <c:v>0.85668475579674397</c:v>
                </c:pt>
                <c:pt idx="3">
                  <c:v>0.75174825174825166</c:v>
                </c:pt>
                <c:pt idx="4">
                  <c:v>0.81076672104404568</c:v>
                </c:pt>
                <c:pt idx="5">
                  <c:v>0.78344867358708192</c:v>
                </c:pt>
                <c:pt idx="6">
                  <c:v>0.7578579743888243</c:v>
                </c:pt>
                <c:pt idx="7">
                  <c:v>0.68731387730792137</c:v>
                </c:pt>
                <c:pt idx="8">
                  <c:v>0.74698391420911525</c:v>
                </c:pt>
                <c:pt idx="9">
                  <c:v>0.70810981382139482</c:v>
                </c:pt>
                <c:pt idx="10">
                  <c:v>0.68027828191167572</c:v>
                </c:pt>
                <c:pt idx="11">
                  <c:v>0.67485119047619047</c:v>
                </c:pt>
                <c:pt idx="12">
                  <c:v>0.78172293364377188</c:v>
                </c:pt>
                <c:pt idx="13">
                  <c:v>0.75863596102745801</c:v>
                </c:pt>
                <c:pt idx="14">
                  <c:v>0.70036319612590803</c:v>
                </c:pt>
                <c:pt idx="15">
                  <c:v>0.73150543197102946</c:v>
                </c:pt>
                <c:pt idx="16">
                  <c:v>0.72810590631364569</c:v>
                </c:pt>
                <c:pt idx="17">
                  <c:v>0.70945445568995313</c:v>
                </c:pt>
                <c:pt idx="18">
                  <c:v>0.5635451505016722</c:v>
                </c:pt>
                <c:pt idx="19">
                  <c:v>0.58691588785046722</c:v>
                </c:pt>
              </c:numCache>
            </c:numRef>
          </c:val>
          <c:smooth val="0"/>
          <c:extLst>
            <c:ext xmlns:c16="http://schemas.microsoft.com/office/drawing/2014/chart" uri="{C3380CC4-5D6E-409C-BE32-E72D297353CC}">
              <c16:uniqueId val="{00000005-855F-40C2-BFBC-2019B4D41CBA}"/>
            </c:ext>
          </c:extLst>
        </c:ser>
        <c:dLbls>
          <c:showLegendKey val="0"/>
          <c:showVal val="0"/>
          <c:showCatName val="0"/>
          <c:showSerName val="0"/>
          <c:showPercent val="0"/>
          <c:showBubbleSize val="0"/>
        </c:dLbls>
        <c:marker val="1"/>
        <c:smooth val="0"/>
        <c:axId val="242834432"/>
        <c:axId val="242860800"/>
      </c:lineChart>
      <c:catAx>
        <c:axId val="242834432"/>
        <c:scaling>
          <c:orientation val="minMax"/>
        </c:scaling>
        <c:delete val="0"/>
        <c:axPos val="b"/>
        <c:numFmt formatCode="General" sourceLinked="1"/>
        <c:majorTickMark val="none"/>
        <c:minorTickMark val="none"/>
        <c:tickLblPos val="nextTo"/>
        <c:spPr>
          <a:noFill/>
          <a:ln w="9525" cap="flat" cmpd="sng" algn="ctr">
            <a:solidFill>
              <a:schemeClr val="bg1">
                <a:lumMod val="95000"/>
              </a:schemeClr>
            </a:solidFill>
            <a:round/>
          </a:ln>
          <a:effectLst/>
        </c:spPr>
        <c:txPr>
          <a:bodyPr rot="-2760000" vert="horz"/>
          <a:lstStyle/>
          <a:p>
            <a:pPr>
              <a:defRPr b="0"/>
            </a:pPr>
            <a:endParaRPr lang="zh-CN"/>
          </a:p>
        </c:txPr>
        <c:crossAx val="242860800"/>
        <c:crosses val="autoZero"/>
        <c:auto val="1"/>
        <c:lblAlgn val="ctr"/>
        <c:lblOffset val="100"/>
        <c:tickLblSkip val="1"/>
        <c:noMultiLvlLbl val="0"/>
      </c:catAx>
      <c:valAx>
        <c:axId val="242860800"/>
        <c:scaling>
          <c:orientation val="minMax"/>
          <c:max val="1"/>
        </c:scaling>
        <c:delete val="0"/>
        <c:axPos val="l"/>
        <c:majorGridlines>
          <c:spPr>
            <a:ln w="9525" cap="flat" cmpd="sng" algn="ctr">
              <a:solidFill>
                <a:schemeClr val="bg1">
                  <a:lumMod val="95000"/>
                </a:schemeClr>
              </a:solidFill>
              <a:round/>
            </a:ln>
            <a:effectLst/>
          </c:spPr>
        </c:majorGridlines>
        <c:numFmt formatCode="0%" sourceLinked="0"/>
        <c:majorTickMark val="out"/>
        <c:minorTickMark val="none"/>
        <c:tickLblPos val="nextTo"/>
        <c:txPr>
          <a:bodyPr/>
          <a:lstStyle/>
          <a:p>
            <a:pPr>
              <a:defRPr b="0"/>
            </a:pPr>
            <a:endParaRPr lang="zh-CN"/>
          </a:p>
        </c:txPr>
        <c:crossAx val="242834432"/>
        <c:crosses val="autoZero"/>
        <c:crossBetween val="between"/>
      </c:valAx>
      <c:spPr>
        <a:noFill/>
        <a:ln>
          <a:noFill/>
        </a:ln>
        <a:effectLst/>
      </c:spPr>
    </c:plotArea>
    <c:legend>
      <c:legendPos val="r"/>
      <c:legendEntry>
        <c:idx val="5"/>
        <c:delete val="1"/>
      </c:legendEntry>
      <c:layout>
        <c:manualLayout>
          <c:xMode val="edge"/>
          <c:yMode val="edge"/>
          <c:x val="0.88529646279510554"/>
          <c:y val="0.17511739846078564"/>
          <c:w val="0.11470353720489437"/>
          <c:h val="0.59121313225677308"/>
        </c:manualLayout>
      </c:layout>
      <c:overlay val="0"/>
      <c:spPr>
        <a:noFill/>
        <a:ln>
          <a:noFill/>
        </a:ln>
        <a:effectLst/>
      </c:spPr>
      <c:txPr>
        <a:bodyPr rot="0" vert="horz"/>
        <a:lstStyle/>
        <a:p>
          <a:pPr>
            <a:defRPr sz="900" b="0"/>
          </a:pPr>
          <a:endParaRPr lang="zh-CN"/>
        </a:p>
      </c:txPr>
    </c:legend>
    <c:plotVisOnly val="1"/>
    <c:dispBlanksAs val="gap"/>
    <c:showDLblsOverMax val="0"/>
  </c:chart>
  <c:spPr>
    <a:noFill/>
    <a:ln w="9525" cap="flat" cmpd="sng" algn="ctr">
      <a:noFill/>
      <a:round/>
    </a:ln>
    <a:effectLst/>
  </c:spPr>
  <c:txPr>
    <a:bodyPr/>
    <a:lstStyle/>
    <a:p>
      <a:pPr>
        <a:defRPr b="1">
          <a:solidFill>
            <a:sysClr val="windowText" lastClr="000000"/>
          </a:solidFill>
          <a:latin typeface="微软雅黑" pitchFamily="34" charset="-122"/>
          <a:ea typeface="微软雅黑" pitchFamily="34" charset="-122"/>
        </a:defRPr>
      </a:pPr>
      <a:endParaRPr lang="zh-CN"/>
    </a:p>
  </c:txPr>
  <c:externalData r:id="rId2">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lgn="ctr" rtl="0">
              <a:defRPr lang="zh-CN" sz="1800" b="1" i="0" u="none" strike="noStrike" kern="1200" baseline="0">
                <a:solidFill>
                  <a:sysClr val="windowText" lastClr="000000"/>
                </a:solidFill>
                <a:latin typeface="微软雅黑" pitchFamily="34" charset="-122"/>
                <a:ea typeface="微软雅黑" pitchFamily="34" charset="-122"/>
                <a:cs typeface="+mn-cs"/>
              </a:defRPr>
            </a:pPr>
            <a:r>
              <a:rPr lang="zh-CN" sz="1800" b="1" i="0" u="none" strike="noStrike" kern="1200" baseline="0">
                <a:solidFill>
                  <a:sysClr val="windowText" lastClr="000000"/>
                </a:solidFill>
                <a:latin typeface="微软雅黑" pitchFamily="34" charset="-122"/>
                <a:ea typeface="微软雅黑" pitchFamily="34" charset="-122"/>
                <a:cs typeface="+mn-cs"/>
              </a:rPr>
              <a:t>石家庄普通住宅各</a:t>
            </a:r>
            <a:r>
              <a:rPr lang="zh-CN" sz="1800" b="1" i="0" u="none" strike="noStrike" kern="1200" baseline="0">
                <a:solidFill>
                  <a:schemeClr val="accent1"/>
                </a:solidFill>
                <a:latin typeface="微软雅黑" pitchFamily="34" charset="-122"/>
                <a:ea typeface="微软雅黑" pitchFamily="34" charset="-122"/>
                <a:cs typeface="+mn-cs"/>
              </a:rPr>
              <a:t>面积</a:t>
            </a:r>
            <a:r>
              <a:rPr lang="zh-CN" sz="1800" b="1" i="0" u="none" strike="noStrike" kern="1200" baseline="0">
                <a:solidFill>
                  <a:sysClr val="windowText" lastClr="000000"/>
                </a:solidFill>
                <a:latin typeface="微软雅黑" pitchFamily="34" charset="-122"/>
                <a:ea typeface="微软雅黑" pitchFamily="34" charset="-122"/>
                <a:cs typeface="+mn-cs"/>
              </a:rPr>
              <a:t>段成交占比走势</a:t>
            </a:r>
          </a:p>
        </c:rich>
      </c:tx>
      <c:layout>
        <c:manualLayout>
          <c:xMode val="edge"/>
          <c:yMode val="edge"/>
          <c:x val="0.27268068181818184"/>
          <c:y val="9.4074074074074077E-3"/>
        </c:manualLayout>
      </c:layout>
      <c:overlay val="0"/>
    </c:title>
    <c:autoTitleDeleted val="0"/>
    <c:plotArea>
      <c:layout>
        <c:manualLayout>
          <c:layoutTarget val="inner"/>
          <c:xMode val="edge"/>
          <c:yMode val="edge"/>
          <c:x val="6.8391792929292927E-2"/>
          <c:y val="0.19463472755726277"/>
          <c:w val="0.81063611111111111"/>
          <c:h val="0.61505485732245513"/>
        </c:manualLayout>
      </c:layout>
      <c:barChart>
        <c:barDir val="col"/>
        <c:grouping val="stacked"/>
        <c:varyColors val="0"/>
        <c:ser>
          <c:idx val="0"/>
          <c:order val="0"/>
          <c:tx>
            <c:strRef>
              <c:f>石家庄!$I$62</c:f>
              <c:strCache>
                <c:ptCount val="1"/>
                <c:pt idx="0">
                  <c:v>60㎡以下</c:v>
                </c:pt>
              </c:strCache>
            </c:strRef>
          </c:tx>
          <c:spPr>
            <a:solidFill>
              <a:srgbClr val="92D050"/>
            </a:solidFill>
            <a:ln>
              <a:noFill/>
            </a:ln>
            <a:effectLst/>
            <a:sp3d/>
          </c:spPr>
          <c:invertIfNegative val="0"/>
          <c:dPt>
            <c:idx val="0"/>
            <c:invertIfNegative val="0"/>
            <c:bubble3D val="0"/>
            <c:extLst>
              <c:ext xmlns:c16="http://schemas.microsoft.com/office/drawing/2014/chart" uri="{C3380CC4-5D6E-409C-BE32-E72D297353CC}">
                <c16:uniqueId val="{00000000-E5BC-49B6-9A53-3A9CBD835D87}"/>
              </c:ext>
            </c:extLst>
          </c:dPt>
          <c:dPt>
            <c:idx val="1"/>
            <c:invertIfNegative val="0"/>
            <c:bubble3D val="0"/>
            <c:extLst>
              <c:ext xmlns:c16="http://schemas.microsoft.com/office/drawing/2014/chart" uri="{C3380CC4-5D6E-409C-BE32-E72D297353CC}">
                <c16:uniqueId val="{00000001-E5BC-49B6-9A53-3A9CBD835D87}"/>
              </c:ext>
            </c:extLst>
          </c:dPt>
          <c:dPt>
            <c:idx val="2"/>
            <c:invertIfNegative val="0"/>
            <c:bubble3D val="0"/>
            <c:extLst>
              <c:ext xmlns:c16="http://schemas.microsoft.com/office/drawing/2014/chart" uri="{C3380CC4-5D6E-409C-BE32-E72D297353CC}">
                <c16:uniqueId val="{00000002-E5BC-49B6-9A53-3A9CBD835D87}"/>
              </c:ext>
            </c:extLst>
          </c:dPt>
          <c:dPt>
            <c:idx val="3"/>
            <c:invertIfNegative val="0"/>
            <c:bubble3D val="0"/>
            <c:extLst>
              <c:ext xmlns:c16="http://schemas.microsoft.com/office/drawing/2014/chart" uri="{C3380CC4-5D6E-409C-BE32-E72D297353CC}">
                <c16:uniqueId val="{00000003-E5BC-49B6-9A53-3A9CBD835D87}"/>
              </c:ext>
            </c:extLst>
          </c:dPt>
          <c:dPt>
            <c:idx val="4"/>
            <c:invertIfNegative val="0"/>
            <c:bubble3D val="0"/>
            <c:extLst>
              <c:ext xmlns:c16="http://schemas.microsoft.com/office/drawing/2014/chart" uri="{C3380CC4-5D6E-409C-BE32-E72D297353CC}">
                <c16:uniqueId val="{00000004-E5BC-49B6-9A53-3A9CBD835D87}"/>
              </c:ext>
            </c:extLst>
          </c:dPt>
          <c:dPt>
            <c:idx val="5"/>
            <c:invertIfNegative val="0"/>
            <c:bubble3D val="0"/>
            <c:extLst>
              <c:ext xmlns:c16="http://schemas.microsoft.com/office/drawing/2014/chart" uri="{C3380CC4-5D6E-409C-BE32-E72D297353CC}">
                <c16:uniqueId val="{00000005-E5BC-49B6-9A53-3A9CBD835D87}"/>
              </c:ext>
            </c:extLst>
          </c:dPt>
          <c:cat>
            <c:strRef>
              <c:f>石家庄!$H$75:$H$94</c:f>
              <c:strCache>
                <c:ptCount val="20"/>
                <c:pt idx="0">
                  <c:v>15/01</c:v>
                </c:pt>
                <c:pt idx="1">
                  <c:v>15/02</c:v>
                </c:pt>
                <c:pt idx="2">
                  <c:v>15/03</c:v>
                </c:pt>
                <c:pt idx="3">
                  <c:v>15/04</c:v>
                </c:pt>
                <c:pt idx="4">
                  <c:v>15/05</c:v>
                </c:pt>
                <c:pt idx="5">
                  <c:v>15/06</c:v>
                </c:pt>
                <c:pt idx="6">
                  <c:v>15/07</c:v>
                </c:pt>
                <c:pt idx="7">
                  <c:v>15/08</c:v>
                </c:pt>
                <c:pt idx="8">
                  <c:v>15/09</c:v>
                </c:pt>
                <c:pt idx="9">
                  <c:v>15/10</c:v>
                </c:pt>
                <c:pt idx="10">
                  <c:v>15/11</c:v>
                </c:pt>
                <c:pt idx="11">
                  <c:v>15/12</c:v>
                </c:pt>
                <c:pt idx="12">
                  <c:v>16/01</c:v>
                </c:pt>
                <c:pt idx="13">
                  <c:v>16/02</c:v>
                </c:pt>
                <c:pt idx="14">
                  <c:v>16/03</c:v>
                </c:pt>
                <c:pt idx="15">
                  <c:v>16/04</c:v>
                </c:pt>
                <c:pt idx="16">
                  <c:v>16/05</c:v>
                </c:pt>
                <c:pt idx="17">
                  <c:v>16/06</c:v>
                </c:pt>
                <c:pt idx="18">
                  <c:v>16/07</c:v>
                </c:pt>
                <c:pt idx="19">
                  <c:v>16/08</c:v>
                </c:pt>
              </c:strCache>
            </c:strRef>
          </c:cat>
          <c:val>
            <c:numRef>
              <c:f>石家庄!$I$75:$I$94</c:f>
              <c:numCache>
                <c:formatCode>0%</c:formatCode>
                <c:ptCount val="20"/>
                <c:pt idx="0">
                  <c:v>1.2260365581810076E-2</c:v>
                </c:pt>
                <c:pt idx="1">
                  <c:v>5.6854074542008843E-3</c:v>
                </c:pt>
                <c:pt idx="2">
                  <c:v>1.0606808090774543E-2</c:v>
                </c:pt>
                <c:pt idx="3">
                  <c:v>5.8275058275058279E-3</c:v>
                </c:pt>
                <c:pt idx="4">
                  <c:v>4.8939641109298528E-3</c:v>
                </c:pt>
                <c:pt idx="5">
                  <c:v>2.4221453287197232E-2</c:v>
                </c:pt>
                <c:pt idx="6">
                  <c:v>1.3387660069848661E-2</c:v>
                </c:pt>
                <c:pt idx="7">
                  <c:v>8.0405002977963075E-3</c:v>
                </c:pt>
                <c:pt idx="8">
                  <c:v>2.2788203753351208E-2</c:v>
                </c:pt>
                <c:pt idx="9">
                  <c:v>1.4831177027453455E-2</c:v>
                </c:pt>
                <c:pt idx="10">
                  <c:v>1.6333938294010888E-2</c:v>
                </c:pt>
                <c:pt idx="11">
                  <c:v>1.0044642857142858E-2</c:v>
                </c:pt>
                <c:pt idx="12">
                  <c:v>9.8952270081490105E-3</c:v>
                </c:pt>
                <c:pt idx="13">
                  <c:v>3.9858281665190436E-3</c:v>
                </c:pt>
                <c:pt idx="14">
                  <c:v>5.8514931396287332E-3</c:v>
                </c:pt>
                <c:pt idx="15">
                  <c:v>3.7420244869805136E-2</c:v>
                </c:pt>
                <c:pt idx="16">
                  <c:v>2.3167006109979633E-2</c:v>
                </c:pt>
                <c:pt idx="17">
                  <c:v>2.6166378671932857E-2</c:v>
                </c:pt>
                <c:pt idx="18">
                  <c:v>1.4381270903010033E-2</c:v>
                </c:pt>
                <c:pt idx="19">
                  <c:v>1.9626168224299065E-2</c:v>
                </c:pt>
              </c:numCache>
            </c:numRef>
          </c:val>
          <c:extLst>
            <c:ext xmlns:c16="http://schemas.microsoft.com/office/drawing/2014/chart" uri="{C3380CC4-5D6E-409C-BE32-E72D297353CC}">
              <c16:uniqueId val="{00000006-E5BC-49B6-9A53-3A9CBD835D87}"/>
            </c:ext>
          </c:extLst>
        </c:ser>
        <c:ser>
          <c:idx val="1"/>
          <c:order val="1"/>
          <c:tx>
            <c:strRef>
              <c:f>石家庄!$J$62</c:f>
              <c:strCache>
                <c:ptCount val="1"/>
                <c:pt idx="0">
                  <c:v>60~90㎡</c:v>
                </c:pt>
              </c:strCache>
            </c:strRef>
          </c:tx>
          <c:spPr>
            <a:solidFill>
              <a:srgbClr val="ED7D2F"/>
            </a:solidFill>
            <a:ln>
              <a:noFill/>
            </a:ln>
            <a:effectLst/>
            <a:sp3d/>
          </c:spPr>
          <c:invertIfNegative val="0"/>
          <c:dPt>
            <c:idx val="0"/>
            <c:invertIfNegative val="0"/>
            <c:bubble3D val="0"/>
            <c:extLst>
              <c:ext xmlns:c16="http://schemas.microsoft.com/office/drawing/2014/chart" uri="{C3380CC4-5D6E-409C-BE32-E72D297353CC}">
                <c16:uniqueId val="{00000007-E5BC-49B6-9A53-3A9CBD835D87}"/>
              </c:ext>
            </c:extLst>
          </c:dPt>
          <c:dPt>
            <c:idx val="1"/>
            <c:invertIfNegative val="0"/>
            <c:bubble3D val="0"/>
            <c:extLst>
              <c:ext xmlns:c16="http://schemas.microsoft.com/office/drawing/2014/chart" uri="{C3380CC4-5D6E-409C-BE32-E72D297353CC}">
                <c16:uniqueId val="{00000008-E5BC-49B6-9A53-3A9CBD835D87}"/>
              </c:ext>
            </c:extLst>
          </c:dPt>
          <c:dPt>
            <c:idx val="2"/>
            <c:invertIfNegative val="0"/>
            <c:bubble3D val="0"/>
            <c:extLst>
              <c:ext xmlns:c16="http://schemas.microsoft.com/office/drawing/2014/chart" uri="{C3380CC4-5D6E-409C-BE32-E72D297353CC}">
                <c16:uniqueId val="{00000009-E5BC-49B6-9A53-3A9CBD835D87}"/>
              </c:ext>
            </c:extLst>
          </c:dPt>
          <c:dPt>
            <c:idx val="3"/>
            <c:invertIfNegative val="0"/>
            <c:bubble3D val="0"/>
            <c:extLst>
              <c:ext xmlns:c16="http://schemas.microsoft.com/office/drawing/2014/chart" uri="{C3380CC4-5D6E-409C-BE32-E72D297353CC}">
                <c16:uniqueId val="{0000000A-E5BC-49B6-9A53-3A9CBD835D87}"/>
              </c:ext>
            </c:extLst>
          </c:dPt>
          <c:dPt>
            <c:idx val="4"/>
            <c:invertIfNegative val="0"/>
            <c:bubble3D val="0"/>
            <c:extLst>
              <c:ext xmlns:c16="http://schemas.microsoft.com/office/drawing/2014/chart" uri="{C3380CC4-5D6E-409C-BE32-E72D297353CC}">
                <c16:uniqueId val="{0000000B-E5BC-49B6-9A53-3A9CBD835D87}"/>
              </c:ext>
            </c:extLst>
          </c:dPt>
          <c:dPt>
            <c:idx val="5"/>
            <c:invertIfNegative val="0"/>
            <c:bubble3D val="0"/>
            <c:extLst>
              <c:ext xmlns:c16="http://schemas.microsoft.com/office/drawing/2014/chart" uri="{C3380CC4-5D6E-409C-BE32-E72D297353CC}">
                <c16:uniqueId val="{0000000C-E5BC-49B6-9A53-3A9CBD835D87}"/>
              </c:ext>
            </c:extLst>
          </c:dPt>
          <c:dLbls>
            <c:spPr>
              <a:noFill/>
              <a:ln>
                <a:noFill/>
              </a:ln>
              <a:effectLst/>
            </c:sp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石家庄!$H$75:$H$94</c:f>
              <c:strCache>
                <c:ptCount val="20"/>
                <c:pt idx="0">
                  <c:v>15/01</c:v>
                </c:pt>
                <c:pt idx="1">
                  <c:v>15/02</c:v>
                </c:pt>
                <c:pt idx="2">
                  <c:v>15/03</c:v>
                </c:pt>
                <c:pt idx="3">
                  <c:v>15/04</c:v>
                </c:pt>
                <c:pt idx="4">
                  <c:v>15/05</c:v>
                </c:pt>
                <c:pt idx="5">
                  <c:v>15/06</c:v>
                </c:pt>
                <c:pt idx="6">
                  <c:v>15/07</c:v>
                </c:pt>
                <c:pt idx="7">
                  <c:v>15/08</c:v>
                </c:pt>
                <c:pt idx="8">
                  <c:v>15/09</c:v>
                </c:pt>
                <c:pt idx="9">
                  <c:v>15/10</c:v>
                </c:pt>
                <c:pt idx="10">
                  <c:v>15/11</c:v>
                </c:pt>
                <c:pt idx="11">
                  <c:v>15/12</c:v>
                </c:pt>
                <c:pt idx="12">
                  <c:v>16/01</c:v>
                </c:pt>
                <c:pt idx="13">
                  <c:v>16/02</c:v>
                </c:pt>
                <c:pt idx="14">
                  <c:v>16/03</c:v>
                </c:pt>
                <c:pt idx="15">
                  <c:v>16/04</c:v>
                </c:pt>
                <c:pt idx="16">
                  <c:v>16/05</c:v>
                </c:pt>
                <c:pt idx="17">
                  <c:v>16/06</c:v>
                </c:pt>
                <c:pt idx="18">
                  <c:v>16/07</c:v>
                </c:pt>
                <c:pt idx="19">
                  <c:v>16/08</c:v>
                </c:pt>
              </c:strCache>
            </c:strRef>
          </c:cat>
          <c:val>
            <c:numRef>
              <c:f>石家庄!$J$75:$J$94</c:f>
              <c:numCache>
                <c:formatCode>0%</c:formatCode>
                <c:ptCount val="20"/>
                <c:pt idx="0">
                  <c:v>0.1388765046812305</c:v>
                </c:pt>
                <c:pt idx="1">
                  <c:v>0.18319646241313961</c:v>
                </c:pt>
                <c:pt idx="2">
                  <c:v>0.25086334484459794</c:v>
                </c:pt>
                <c:pt idx="3">
                  <c:v>0.28205128205128205</c:v>
                </c:pt>
                <c:pt idx="4">
                  <c:v>0.3442088091353997</c:v>
                </c:pt>
                <c:pt idx="5">
                  <c:v>0.27825836216839678</c:v>
                </c:pt>
                <c:pt idx="6">
                  <c:v>0.22671711292200233</c:v>
                </c:pt>
                <c:pt idx="7">
                  <c:v>0.21858248957712925</c:v>
                </c:pt>
                <c:pt idx="8">
                  <c:v>0.21246648793565684</c:v>
                </c:pt>
                <c:pt idx="9">
                  <c:v>0.21552540233512149</c:v>
                </c:pt>
                <c:pt idx="10">
                  <c:v>0.1648517846339988</c:v>
                </c:pt>
                <c:pt idx="11">
                  <c:v>0.18080357142857142</c:v>
                </c:pt>
                <c:pt idx="12">
                  <c:v>0.26717112922002328</c:v>
                </c:pt>
                <c:pt idx="13">
                  <c:v>0.21124889282550929</c:v>
                </c:pt>
                <c:pt idx="14">
                  <c:v>0.12348668280871671</c:v>
                </c:pt>
                <c:pt idx="15">
                  <c:v>0.19779272288325572</c:v>
                </c:pt>
                <c:pt idx="16">
                  <c:v>0.21690427698574338</c:v>
                </c:pt>
                <c:pt idx="17">
                  <c:v>0.27993088126388543</c:v>
                </c:pt>
                <c:pt idx="18">
                  <c:v>0.2535117056856187</c:v>
                </c:pt>
                <c:pt idx="19">
                  <c:v>0.13894080996884736</c:v>
                </c:pt>
              </c:numCache>
            </c:numRef>
          </c:val>
          <c:extLst>
            <c:ext xmlns:c16="http://schemas.microsoft.com/office/drawing/2014/chart" uri="{C3380CC4-5D6E-409C-BE32-E72D297353CC}">
              <c16:uniqueId val="{0000000D-E5BC-49B6-9A53-3A9CBD835D87}"/>
            </c:ext>
          </c:extLst>
        </c:ser>
        <c:ser>
          <c:idx val="2"/>
          <c:order val="2"/>
          <c:tx>
            <c:strRef>
              <c:f>石家庄!$K$62</c:f>
              <c:strCache>
                <c:ptCount val="1"/>
                <c:pt idx="0">
                  <c:v>90~120㎡</c:v>
                </c:pt>
              </c:strCache>
            </c:strRef>
          </c:tx>
          <c:spPr>
            <a:ln>
              <a:noFill/>
            </a:ln>
          </c:spPr>
          <c:invertIfNegative val="0"/>
          <c:dLbls>
            <c:spPr>
              <a:noFill/>
              <a:ln>
                <a:noFill/>
              </a:ln>
              <a:effectLst/>
            </c:sp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石家庄!$H$75:$H$94</c:f>
              <c:strCache>
                <c:ptCount val="20"/>
                <c:pt idx="0">
                  <c:v>15/01</c:v>
                </c:pt>
                <c:pt idx="1">
                  <c:v>15/02</c:v>
                </c:pt>
                <c:pt idx="2">
                  <c:v>15/03</c:v>
                </c:pt>
                <c:pt idx="3">
                  <c:v>15/04</c:v>
                </c:pt>
                <c:pt idx="4">
                  <c:v>15/05</c:v>
                </c:pt>
                <c:pt idx="5">
                  <c:v>15/06</c:v>
                </c:pt>
                <c:pt idx="6">
                  <c:v>15/07</c:v>
                </c:pt>
                <c:pt idx="7">
                  <c:v>15/08</c:v>
                </c:pt>
                <c:pt idx="8">
                  <c:v>15/09</c:v>
                </c:pt>
                <c:pt idx="9">
                  <c:v>15/10</c:v>
                </c:pt>
                <c:pt idx="10">
                  <c:v>15/11</c:v>
                </c:pt>
                <c:pt idx="11">
                  <c:v>15/12</c:v>
                </c:pt>
                <c:pt idx="12">
                  <c:v>16/01</c:v>
                </c:pt>
                <c:pt idx="13">
                  <c:v>16/02</c:v>
                </c:pt>
                <c:pt idx="14">
                  <c:v>16/03</c:v>
                </c:pt>
                <c:pt idx="15">
                  <c:v>16/04</c:v>
                </c:pt>
                <c:pt idx="16">
                  <c:v>16/05</c:v>
                </c:pt>
                <c:pt idx="17">
                  <c:v>16/06</c:v>
                </c:pt>
                <c:pt idx="18">
                  <c:v>16/07</c:v>
                </c:pt>
                <c:pt idx="19">
                  <c:v>16/08</c:v>
                </c:pt>
              </c:strCache>
            </c:strRef>
          </c:cat>
          <c:val>
            <c:numRef>
              <c:f>石家庄!$K$75:$K$94</c:f>
              <c:numCache>
                <c:formatCode>0%</c:formatCode>
                <c:ptCount val="20"/>
                <c:pt idx="0">
                  <c:v>0.45942933571110123</c:v>
                </c:pt>
                <c:pt idx="1">
                  <c:v>0.47757422615287431</c:v>
                </c:pt>
                <c:pt idx="2">
                  <c:v>0.36605821410952144</c:v>
                </c:pt>
                <c:pt idx="3">
                  <c:v>0.38344988344988346</c:v>
                </c:pt>
                <c:pt idx="4">
                  <c:v>0.35399673735725939</c:v>
                </c:pt>
                <c:pt idx="5">
                  <c:v>0.33823529411764708</c:v>
                </c:pt>
                <c:pt idx="6">
                  <c:v>0.36263096623981372</c:v>
                </c:pt>
                <c:pt idx="7">
                  <c:v>0.35348421679571174</c:v>
                </c:pt>
                <c:pt idx="8">
                  <c:v>0.41521447721179627</c:v>
                </c:pt>
                <c:pt idx="9">
                  <c:v>0.4029662354054907</c:v>
                </c:pt>
                <c:pt idx="10">
                  <c:v>0.38959467634603751</c:v>
                </c:pt>
                <c:pt idx="11">
                  <c:v>0.37202380952380953</c:v>
                </c:pt>
                <c:pt idx="12">
                  <c:v>0.43597206053550641</c:v>
                </c:pt>
                <c:pt idx="13">
                  <c:v>0.46722763507528786</c:v>
                </c:pt>
                <c:pt idx="14">
                  <c:v>0.4675141242937853</c:v>
                </c:pt>
                <c:pt idx="15">
                  <c:v>0.36782203828246252</c:v>
                </c:pt>
                <c:pt idx="16">
                  <c:v>0.37245417515274948</c:v>
                </c:pt>
                <c:pt idx="17">
                  <c:v>0.28906442853616393</c:v>
                </c:pt>
                <c:pt idx="18">
                  <c:v>0.22709030100334449</c:v>
                </c:pt>
                <c:pt idx="19">
                  <c:v>0.39595015576323989</c:v>
                </c:pt>
              </c:numCache>
            </c:numRef>
          </c:val>
          <c:extLst>
            <c:ext xmlns:c16="http://schemas.microsoft.com/office/drawing/2014/chart" uri="{C3380CC4-5D6E-409C-BE32-E72D297353CC}">
              <c16:uniqueId val="{0000000E-E5BC-49B6-9A53-3A9CBD835D87}"/>
            </c:ext>
          </c:extLst>
        </c:ser>
        <c:ser>
          <c:idx val="3"/>
          <c:order val="3"/>
          <c:tx>
            <c:strRef>
              <c:f>石家庄!$L$62</c:f>
              <c:strCache>
                <c:ptCount val="1"/>
                <c:pt idx="0">
                  <c:v>120~150㎡</c:v>
                </c:pt>
              </c:strCache>
            </c:strRef>
          </c:tx>
          <c:invertIfNegative val="0"/>
          <c:dLbls>
            <c:spPr>
              <a:noFill/>
              <a:ln>
                <a:noFill/>
              </a:ln>
              <a:effectLst/>
            </c:sp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石家庄!$H$75:$H$94</c:f>
              <c:strCache>
                <c:ptCount val="20"/>
                <c:pt idx="0">
                  <c:v>15/01</c:v>
                </c:pt>
                <c:pt idx="1">
                  <c:v>15/02</c:v>
                </c:pt>
                <c:pt idx="2">
                  <c:v>15/03</c:v>
                </c:pt>
                <c:pt idx="3">
                  <c:v>15/04</c:v>
                </c:pt>
                <c:pt idx="4">
                  <c:v>15/05</c:v>
                </c:pt>
                <c:pt idx="5">
                  <c:v>15/06</c:v>
                </c:pt>
                <c:pt idx="6">
                  <c:v>15/07</c:v>
                </c:pt>
                <c:pt idx="7">
                  <c:v>15/08</c:v>
                </c:pt>
                <c:pt idx="8">
                  <c:v>15/09</c:v>
                </c:pt>
                <c:pt idx="9">
                  <c:v>15/10</c:v>
                </c:pt>
                <c:pt idx="10">
                  <c:v>15/11</c:v>
                </c:pt>
                <c:pt idx="11">
                  <c:v>15/12</c:v>
                </c:pt>
                <c:pt idx="12">
                  <c:v>16/01</c:v>
                </c:pt>
                <c:pt idx="13">
                  <c:v>16/02</c:v>
                </c:pt>
                <c:pt idx="14">
                  <c:v>16/03</c:v>
                </c:pt>
                <c:pt idx="15">
                  <c:v>16/04</c:v>
                </c:pt>
                <c:pt idx="16">
                  <c:v>16/05</c:v>
                </c:pt>
                <c:pt idx="17">
                  <c:v>16/06</c:v>
                </c:pt>
                <c:pt idx="18">
                  <c:v>16/07</c:v>
                </c:pt>
                <c:pt idx="19">
                  <c:v>16/08</c:v>
                </c:pt>
              </c:strCache>
            </c:strRef>
          </c:cat>
          <c:val>
            <c:numRef>
              <c:f>石家庄!$L$75:$L$94</c:f>
              <c:numCache>
                <c:formatCode>0%</c:formatCode>
                <c:ptCount val="20"/>
                <c:pt idx="0">
                  <c:v>0.3292465448060633</c:v>
                </c:pt>
                <c:pt idx="1">
                  <c:v>0.26216045483259631</c:v>
                </c:pt>
                <c:pt idx="2">
                  <c:v>0.29107054760730144</c:v>
                </c:pt>
                <c:pt idx="3">
                  <c:v>0.22610722610722611</c:v>
                </c:pt>
                <c:pt idx="4">
                  <c:v>0.23300706905927135</c:v>
                </c:pt>
                <c:pt idx="5">
                  <c:v>0.27739331026528258</c:v>
                </c:pt>
                <c:pt idx="6">
                  <c:v>0.28928987194412109</c:v>
                </c:pt>
                <c:pt idx="7">
                  <c:v>0.33323406789755805</c:v>
                </c:pt>
                <c:pt idx="8">
                  <c:v>0.26239946380697049</c:v>
                </c:pt>
                <c:pt idx="9">
                  <c:v>0.27674345219312085</c:v>
                </c:pt>
                <c:pt idx="10">
                  <c:v>0.27102238354506958</c:v>
                </c:pt>
                <c:pt idx="11">
                  <c:v>0.28534226190476192</c:v>
                </c:pt>
                <c:pt idx="12">
                  <c:v>0.20139697322467986</c:v>
                </c:pt>
                <c:pt idx="13">
                  <c:v>0.26527900797165632</c:v>
                </c:pt>
                <c:pt idx="14">
                  <c:v>0.30246166263115415</c:v>
                </c:pt>
                <c:pt idx="15">
                  <c:v>0.31143300569063631</c:v>
                </c:pt>
                <c:pt idx="16">
                  <c:v>0.28818737270875766</c:v>
                </c:pt>
                <c:pt idx="17">
                  <c:v>0.24463095531967416</c:v>
                </c:pt>
                <c:pt idx="18">
                  <c:v>0.28528428093645486</c:v>
                </c:pt>
                <c:pt idx="19">
                  <c:v>0.2557632398753894</c:v>
                </c:pt>
              </c:numCache>
            </c:numRef>
          </c:val>
          <c:extLst>
            <c:ext xmlns:c16="http://schemas.microsoft.com/office/drawing/2014/chart" uri="{C3380CC4-5D6E-409C-BE32-E72D297353CC}">
              <c16:uniqueId val="{0000000F-E5BC-49B6-9A53-3A9CBD835D87}"/>
            </c:ext>
          </c:extLst>
        </c:ser>
        <c:ser>
          <c:idx val="4"/>
          <c:order val="4"/>
          <c:tx>
            <c:strRef>
              <c:f>石家庄!$M$62</c:f>
              <c:strCache>
                <c:ptCount val="1"/>
                <c:pt idx="0">
                  <c:v>150㎡及以上</c:v>
                </c:pt>
              </c:strCache>
            </c:strRef>
          </c:tx>
          <c:invertIfNegative val="0"/>
          <c:cat>
            <c:strRef>
              <c:f>石家庄!$H$75:$H$94</c:f>
              <c:strCache>
                <c:ptCount val="20"/>
                <c:pt idx="0">
                  <c:v>15/01</c:v>
                </c:pt>
                <c:pt idx="1">
                  <c:v>15/02</c:v>
                </c:pt>
                <c:pt idx="2">
                  <c:v>15/03</c:v>
                </c:pt>
                <c:pt idx="3">
                  <c:v>15/04</c:v>
                </c:pt>
                <c:pt idx="4">
                  <c:v>15/05</c:v>
                </c:pt>
                <c:pt idx="5">
                  <c:v>15/06</c:v>
                </c:pt>
                <c:pt idx="6">
                  <c:v>15/07</c:v>
                </c:pt>
                <c:pt idx="7">
                  <c:v>15/08</c:v>
                </c:pt>
                <c:pt idx="8">
                  <c:v>15/09</c:v>
                </c:pt>
                <c:pt idx="9">
                  <c:v>15/10</c:v>
                </c:pt>
                <c:pt idx="10">
                  <c:v>15/11</c:v>
                </c:pt>
                <c:pt idx="11">
                  <c:v>15/12</c:v>
                </c:pt>
                <c:pt idx="12">
                  <c:v>16/01</c:v>
                </c:pt>
                <c:pt idx="13">
                  <c:v>16/02</c:v>
                </c:pt>
                <c:pt idx="14">
                  <c:v>16/03</c:v>
                </c:pt>
                <c:pt idx="15">
                  <c:v>16/04</c:v>
                </c:pt>
                <c:pt idx="16">
                  <c:v>16/05</c:v>
                </c:pt>
                <c:pt idx="17">
                  <c:v>16/06</c:v>
                </c:pt>
                <c:pt idx="18">
                  <c:v>16/07</c:v>
                </c:pt>
                <c:pt idx="19">
                  <c:v>16/08</c:v>
                </c:pt>
              </c:strCache>
            </c:strRef>
          </c:cat>
          <c:val>
            <c:numRef>
              <c:f>石家庄!$M$75:$M$94</c:f>
              <c:numCache>
                <c:formatCode>0%</c:formatCode>
                <c:ptCount val="20"/>
                <c:pt idx="0">
                  <c:v>6.0187249219794917E-2</c:v>
                </c:pt>
                <c:pt idx="1">
                  <c:v>7.1383449147188888E-2</c:v>
                </c:pt>
                <c:pt idx="2">
                  <c:v>8.1401085347804644E-2</c:v>
                </c:pt>
                <c:pt idx="3">
                  <c:v>0.10256410256410256</c:v>
                </c:pt>
                <c:pt idx="4">
                  <c:v>6.3893420337139753E-2</c:v>
                </c:pt>
                <c:pt idx="5">
                  <c:v>8.1891580161476352E-2</c:v>
                </c:pt>
                <c:pt idx="6">
                  <c:v>0.1079743888242142</c:v>
                </c:pt>
                <c:pt idx="7">
                  <c:v>8.665872543180464E-2</c:v>
                </c:pt>
                <c:pt idx="8">
                  <c:v>8.7131367292225204E-2</c:v>
                </c:pt>
                <c:pt idx="9">
                  <c:v>8.993373303881351E-2</c:v>
                </c:pt>
                <c:pt idx="10">
                  <c:v>0.15819721718088325</c:v>
                </c:pt>
                <c:pt idx="11">
                  <c:v>0.15178571428571427</c:v>
                </c:pt>
                <c:pt idx="12">
                  <c:v>8.5564610011641437E-2</c:v>
                </c:pt>
                <c:pt idx="13">
                  <c:v>5.2258635961027457E-2</c:v>
                </c:pt>
                <c:pt idx="14">
                  <c:v>0.10068603712671509</c:v>
                </c:pt>
                <c:pt idx="15">
                  <c:v>8.5531988273840315E-2</c:v>
                </c:pt>
                <c:pt idx="16">
                  <c:v>9.9287169042769852E-2</c:v>
                </c:pt>
                <c:pt idx="17">
                  <c:v>0.16020735620834362</c:v>
                </c:pt>
                <c:pt idx="18">
                  <c:v>0.21973244147157189</c:v>
                </c:pt>
                <c:pt idx="19">
                  <c:v>0.1897196261682243</c:v>
                </c:pt>
              </c:numCache>
            </c:numRef>
          </c:val>
          <c:extLst>
            <c:ext xmlns:c16="http://schemas.microsoft.com/office/drawing/2014/chart" uri="{C3380CC4-5D6E-409C-BE32-E72D297353CC}">
              <c16:uniqueId val="{00000010-E5BC-49B6-9A53-3A9CBD835D87}"/>
            </c:ext>
          </c:extLst>
        </c:ser>
        <c:dLbls>
          <c:showLegendKey val="0"/>
          <c:showVal val="0"/>
          <c:showCatName val="0"/>
          <c:showSerName val="0"/>
          <c:showPercent val="0"/>
          <c:showBubbleSize val="0"/>
        </c:dLbls>
        <c:gapWidth val="138"/>
        <c:overlap val="100"/>
        <c:axId val="242378240"/>
        <c:axId val="242379776"/>
      </c:barChart>
      <c:catAx>
        <c:axId val="242378240"/>
        <c:scaling>
          <c:orientation val="minMax"/>
        </c:scaling>
        <c:delete val="0"/>
        <c:axPos val="b"/>
        <c:numFmt formatCode="General" sourceLinked="1"/>
        <c:majorTickMark val="none"/>
        <c:minorTickMark val="none"/>
        <c:tickLblPos val="nextTo"/>
        <c:spPr>
          <a:noFill/>
          <a:ln>
            <a:noFill/>
          </a:ln>
          <a:effectLst/>
        </c:spPr>
        <c:txPr>
          <a:bodyPr rot="-3180000" vert="horz"/>
          <a:lstStyle/>
          <a:p>
            <a:pPr>
              <a:defRPr/>
            </a:pPr>
            <a:endParaRPr lang="zh-CN"/>
          </a:p>
        </c:txPr>
        <c:crossAx val="242379776"/>
        <c:crosses val="autoZero"/>
        <c:auto val="1"/>
        <c:lblAlgn val="ctr"/>
        <c:lblOffset val="100"/>
        <c:tickLblSkip val="1"/>
        <c:noMultiLvlLbl val="0"/>
      </c:catAx>
      <c:valAx>
        <c:axId val="242379776"/>
        <c:scaling>
          <c:orientation val="minMax"/>
          <c:max val="1"/>
        </c:scaling>
        <c:delete val="0"/>
        <c:axPos val="l"/>
        <c:numFmt formatCode="0%" sourceLinked="0"/>
        <c:majorTickMark val="out"/>
        <c:minorTickMark val="none"/>
        <c:tickLblPos val="nextTo"/>
        <c:crossAx val="242378240"/>
        <c:crosses val="autoZero"/>
        <c:crossBetween val="between"/>
        <c:majorUnit val="0.2"/>
      </c:valAx>
      <c:spPr>
        <a:noFill/>
        <a:ln>
          <a:noFill/>
        </a:ln>
        <a:effectLst/>
        <a:sp3d/>
      </c:spPr>
    </c:plotArea>
    <c:legend>
      <c:legendPos val="r"/>
      <c:layout>
        <c:manualLayout>
          <c:xMode val="edge"/>
          <c:yMode val="edge"/>
          <c:x val="0.88777904040404043"/>
          <c:y val="0.19307156067719447"/>
          <c:w val="0.108775"/>
          <c:h val="0.65283432920756868"/>
        </c:manualLayout>
      </c:layout>
      <c:overlay val="0"/>
      <c:txPr>
        <a:bodyPr/>
        <a:lstStyle/>
        <a:p>
          <a:pPr>
            <a:defRPr sz="900"/>
          </a:pPr>
          <a:endParaRPr lang="zh-CN"/>
        </a:p>
      </c:txPr>
    </c:legend>
    <c:plotVisOnly val="1"/>
    <c:dispBlanksAs val="gap"/>
    <c:showDLblsOverMax val="0"/>
  </c:chart>
  <c:spPr>
    <a:noFill/>
    <a:ln w="9525" cap="flat" cmpd="sng" algn="ctr">
      <a:noFill/>
      <a:round/>
    </a:ln>
    <a:effectLst/>
  </c:spPr>
  <c:txPr>
    <a:bodyPr/>
    <a:lstStyle/>
    <a:p>
      <a:pPr>
        <a:defRPr>
          <a:latin typeface="微软雅黑" panose="020B0503020204020204" pitchFamily="34" charset="-122"/>
          <a:ea typeface="微软雅黑" panose="020B0503020204020204" pitchFamily="34" charset="-122"/>
        </a:defRPr>
      </a:pPr>
      <a:endParaRPr lang="zh-CN"/>
    </a:p>
  </c:txPr>
  <c:externalData r:id="rId2">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sz="1400">
                <a:latin typeface="微软雅黑" pitchFamily="34" charset="-122"/>
                <a:ea typeface="微软雅黑" pitchFamily="34" charset="-122"/>
              </a:defRPr>
            </a:pPr>
            <a:r>
              <a:rPr lang="zh-CN" altLang="en-US" sz="1400" dirty="0">
                <a:latin typeface="微软雅黑" pitchFamily="34" charset="-122"/>
                <a:ea typeface="微软雅黑" pitchFamily="34" charset="-122"/>
              </a:rPr>
              <a:t>廊坊</a:t>
            </a:r>
            <a:r>
              <a:rPr lang="en-US" altLang="zh-CN" sz="1400" dirty="0">
                <a:latin typeface="微软雅黑" pitchFamily="34" charset="-122"/>
                <a:ea typeface="微软雅黑" pitchFamily="34" charset="-122"/>
              </a:rPr>
              <a:t>2015.01-2016.08</a:t>
            </a:r>
            <a:r>
              <a:rPr lang="zh-CN" altLang="en-US" sz="1400" dirty="0">
                <a:solidFill>
                  <a:srgbClr val="0070C0"/>
                </a:solidFill>
                <a:latin typeface="微软雅黑" pitchFamily="34" charset="-122"/>
                <a:ea typeface="微软雅黑" pitchFamily="34" charset="-122"/>
              </a:rPr>
              <a:t>办公</a:t>
            </a:r>
            <a:r>
              <a:rPr lang="zh-CN" altLang="en-US" sz="1400" dirty="0">
                <a:latin typeface="微软雅黑" pitchFamily="34" charset="-122"/>
                <a:ea typeface="微软雅黑" pitchFamily="34" charset="-122"/>
              </a:rPr>
              <a:t>市场成交情况</a:t>
            </a:r>
          </a:p>
        </c:rich>
      </c:tx>
      <c:layout>
        <c:manualLayout>
          <c:xMode val="edge"/>
          <c:yMode val="edge"/>
          <c:x val="0.2754287569399208"/>
          <c:y val="0"/>
        </c:manualLayout>
      </c:layout>
      <c:overlay val="0"/>
    </c:title>
    <c:autoTitleDeleted val="0"/>
    <c:plotArea>
      <c:layout>
        <c:manualLayout>
          <c:layoutTarget val="inner"/>
          <c:xMode val="edge"/>
          <c:yMode val="edge"/>
          <c:x val="7.8431877578036116E-2"/>
          <c:y val="0.24355109457471663"/>
          <c:w val="0.84838476444779309"/>
          <c:h val="0.57718271754492223"/>
        </c:manualLayout>
      </c:layout>
      <c:barChart>
        <c:barDir val="col"/>
        <c:grouping val="clustered"/>
        <c:varyColors val="0"/>
        <c:ser>
          <c:idx val="1"/>
          <c:order val="0"/>
          <c:tx>
            <c:strRef>
              <c:f>廊坊!$B$135</c:f>
              <c:strCache>
                <c:ptCount val="1"/>
                <c:pt idx="0">
                  <c:v>成交面积(㎡)</c:v>
                </c:pt>
              </c:strCache>
            </c:strRef>
          </c:tx>
          <c:spPr>
            <a:effectLst>
              <a:outerShdw blurRad="50800" dist="38100" algn="l" rotWithShape="0">
                <a:prstClr val="black">
                  <a:alpha val="40000"/>
                </a:prstClr>
              </a:outerShdw>
            </a:effectLst>
          </c:spPr>
          <c:invertIfNegative val="0"/>
          <c:dLbls>
            <c:dLbl>
              <c:idx val="15"/>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2897-47D6-8714-F94E26F5A8C8}"/>
                </c:ext>
              </c:extLst>
            </c:dLbl>
            <c:dLbl>
              <c:idx val="19"/>
              <c:spPr/>
              <c:txPr>
                <a:bodyPr/>
                <a:lstStyle/>
                <a:p>
                  <a:pPr>
                    <a:defRPr sz="1100" b="1">
                      <a:solidFill>
                        <a:srgbClr val="FF0000"/>
                      </a:solidFill>
                    </a:defRPr>
                  </a:pPr>
                  <a:endParaRPr lang="zh-CN"/>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2897-47D6-8714-F94E26F5A8C8}"/>
                </c:ext>
              </c:extLst>
            </c:dLbl>
            <c:spPr>
              <a:noFill/>
              <a:ln>
                <a:noFill/>
              </a:ln>
              <a:effectLst/>
            </c:spPr>
            <c:txPr>
              <a:bodyPr/>
              <a:lstStyle/>
              <a:p>
                <a:pPr>
                  <a:defRPr sz="1100"/>
                </a:pPr>
                <a:endParaRPr lang="zh-CN"/>
              </a:p>
            </c:txPr>
            <c:dLblPos val="outEnd"/>
            <c:showLegendKey val="0"/>
            <c:showVal val="0"/>
            <c:showCatName val="0"/>
            <c:showSerName val="0"/>
            <c:showPercent val="0"/>
            <c:showBubbleSize val="0"/>
            <c:extLst>
              <c:ext xmlns:c15="http://schemas.microsoft.com/office/drawing/2012/chart" uri="{CE6537A1-D6FC-4f65-9D91-7224C49458BB}">
                <c15:showLeaderLines val="0"/>
              </c:ext>
            </c:extLst>
          </c:dLbls>
          <c:cat>
            <c:strRef>
              <c:f>廊坊!$A$136:$A$155</c:f>
              <c:strCache>
                <c:ptCount val="20"/>
                <c:pt idx="0">
                  <c:v>15/01</c:v>
                </c:pt>
                <c:pt idx="1">
                  <c:v>15/02</c:v>
                </c:pt>
                <c:pt idx="2">
                  <c:v>15/03</c:v>
                </c:pt>
                <c:pt idx="3">
                  <c:v>15/04</c:v>
                </c:pt>
                <c:pt idx="4">
                  <c:v>15/05</c:v>
                </c:pt>
                <c:pt idx="5">
                  <c:v>15/06</c:v>
                </c:pt>
                <c:pt idx="6">
                  <c:v>15/07</c:v>
                </c:pt>
                <c:pt idx="7">
                  <c:v>15/08</c:v>
                </c:pt>
                <c:pt idx="8">
                  <c:v>15/09</c:v>
                </c:pt>
                <c:pt idx="9">
                  <c:v>15/10</c:v>
                </c:pt>
                <c:pt idx="10">
                  <c:v>15/11</c:v>
                </c:pt>
                <c:pt idx="11">
                  <c:v>15/12</c:v>
                </c:pt>
                <c:pt idx="12">
                  <c:v>16/01</c:v>
                </c:pt>
                <c:pt idx="13">
                  <c:v>16/02</c:v>
                </c:pt>
                <c:pt idx="14">
                  <c:v>16/03</c:v>
                </c:pt>
                <c:pt idx="15">
                  <c:v>16/04</c:v>
                </c:pt>
                <c:pt idx="16">
                  <c:v>16/05</c:v>
                </c:pt>
                <c:pt idx="17">
                  <c:v>16/06</c:v>
                </c:pt>
                <c:pt idx="18">
                  <c:v>16/07</c:v>
                </c:pt>
                <c:pt idx="19">
                  <c:v>16/08</c:v>
                </c:pt>
              </c:strCache>
            </c:strRef>
          </c:cat>
          <c:val>
            <c:numRef>
              <c:f>廊坊!$B$136:$B$155</c:f>
              <c:numCache>
                <c:formatCode>General</c:formatCode>
                <c:ptCount val="20"/>
                <c:pt idx="0">
                  <c:v>9830</c:v>
                </c:pt>
                <c:pt idx="1">
                  <c:v>14013</c:v>
                </c:pt>
                <c:pt idx="2">
                  <c:v>7695</c:v>
                </c:pt>
                <c:pt idx="3">
                  <c:v>6495</c:v>
                </c:pt>
                <c:pt idx="4">
                  <c:v>7542</c:v>
                </c:pt>
                <c:pt idx="5">
                  <c:v>15160</c:v>
                </c:pt>
                <c:pt idx="6">
                  <c:v>9587</c:v>
                </c:pt>
                <c:pt idx="7">
                  <c:v>4720</c:v>
                </c:pt>
                <c:pt idx="8">
                  <c:v>17512</c:v>
                </c:pt>
                <c:pt idx="9">
                  <c:v>8161</c:v>
                </c:pt>
                <c:pt idx="10">
                  <c:v>23245</c:v>
                </c:pt>
                <c:pt idx="11">
                  <c:v>15927</c:v>
                </c:pt>
                <c:pt idx="12">
                  <c:v>8998</c:v>
                </c:pt>
                <c:pt idx="13">
                  <c:v>3372</c:v>
                </c:pt>
                <c:pt idx="14">
                  <c:v>19864</c:v>
                </c:pt>
                <c:pt idx="15">
                  <c:v>27031</c:v>
                </c:pt>
                <c:pt idx="16">
                  <c:v>20967</c:v>
                </c:pt>
                <c:pt idx="17">
                  <c:v>11118</c:v>
                </c:pt>
                <c:pt idx="18">
                  <c:v>5868</c:v>
                </c:pt>
                <c:pt idx="19">
                  <c:v>10542</c:v>
                </c:pt>
              </c:numCache>
            </c:numRef>
          </c:val>
          <c:extLst>
            <c:ext xmlns:c16="http://schemas.microsoft.com/office/drawing/2014/chart" uri="{C3380CC4-5D6E-409C-BE32-E72D297353CC}">
              <c16:uniqueId val="{00000002-2897-47D6-8714-F94E26F5A8C8}"/>
            </c:ext>
          </c:extLst>
        </c:ser>
        <c:dLbls>
          <c:dLblPos val="outEnd"/>
          <c:showLegendKey val="0"/>
          <c:showVal val="1"/>
          <c:showCatName val="0"/>
          <c:showSerName val="0"/>
          <c:showPercent val="0"/>
          <c:showBubbleSize val="0"/>
        </c:dLbls>
        <c:gapWidth val="101"/>
        <c:axId val="242499968"/>
        <c:axId val="242501888"/>
      </c:barChart>
      <c:lineChart>
        <c:grouping val="standard"/>
        <c:varyColors val="0"/>
        <c:ser>
          <c:idx val="2"/>
          <c:order val="1"/>
          <c:tx>
            <c:strRef>
              <c:f>廊坊!$C$135</c:f>
              <c:strCache>
                <c:ptCount val="1"/>
                <c:pt idx="0">
                  <c:v>成交均价(元/㎡)</c:v>
                </c:pt>
              </c:strCache>
            </c:strRef>
          </c:tx>
          <c:spPr>
            <a:ln>
              <a:solidFill>
                <a:srgbClr val="F79646">
                  <a:lumMod val="75000"/>
                </a:srgbClr>
              </a:solidFill>
            </a:ln>
          </c:spPr>
          <c:marker>
            <c:symbol val="diamond"/>
            <c:size val="7"/>
            <c:spPr>
              <a:solidFill>
                <a:srgbClr val="F79646">
                  <a:lumMod val="75000"/>
                </a:srgbClr>
              </a:solidFill>
              <a:ln>
                <a:solidFill>
                  <a:sysClr val="window" lastClr="FFFFFF"/>
                </a:solidFill>
              </a:ln>
            </c:spPr>
          </c:marker>
          <c:dLbls>
            <c:dLbl>
              <c:idx val="8"/>
              <c:layout>
                <c:manualLayout>
                  <c:x val="-3.4148563658767402E-2"/>
                  <c:y val="-5.641025641025641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2897-47D6-8714-F94E26F5A8C8}"/>
                </c:ext>
              </c:extLst>
            </c:dLbl>
            <c:dLbl>
              <c:idx val="19"/>
              <c:spPr/>
              <c:txPr>
                <a:bodyPr/>
                <a:lstStyle/>
                <a:p>
                  <a:pPr>
                    <a:defRPr sz="1100" b="1">
                      <a:solidFill>
                        <a:srgbClr val="FF0000"/>
                      </a:solidFill>
                    </a:defRPr>
                  </a:pPr>
                  <a:endParaRPr lang="zh-CN"/>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2897-47D6-8714-F94E26F5A8C8}"/>
                </c:ext>
              </c:extLst>
            </c:dLbl>
            <c:spPr>
              <a:noFill/>
              <a:ln>
                <a:noFill/>
              </a:ln>
              <a:effectLst/>
            </c:spPr>
            <c:txPr>
              <a:bodyPr/>
              <a:lstStyle/>
              <a:p>
                <a:pPr>
                  <a:defRPr sz="1100"/>
                </a:pPr>
                <a:endParaRPr lang="zh-CN"/>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廊坊!$A$136:$A$155</c:f>
              <c:strCache>
                <c:ptCount val="20"/>
                <c:pt idx="0">
                  <c:v>15/01</c:v>
                </c:pt>
                <c:pt idx="1">
                  <c:v>15/02</c:v>
                </c:pt>
                <c:pt idx="2">
                  <c:v>15/03</c:v>
                </c:pt>
                <c:pt idx="3">
                  <c:v>15/04</c:v>
                </c:pt>
                <c:pt idx="4">
                  <c:v>15/05</c:v>
                </c:pt>
                <c:pt idx="5">
                  <c:v>15/06</c:v>
                </c:pt>
                <c:pt idx="6">
                  <c:v>15/07</c:v>
                </c:pt>
                <c:pt idx="7">
                  <c:v>15/08</c:v>
                </c:pt>
                <c:pt idx="8">
                  <c:v>15/09</c:v>
                </c:pt>
                <c:pt idx="9">
                  <c:v>15/10</c:v>
                </c:pt>
                <c:pt idx="10">
                  <c:v>15/11</c:v>
                </c:pt>
                <c:pt idx="11">
                  <c:v>15/12</c:v>
                </c:pt>
                <c:pt idx="12">
                  <c:v>16/01</c:v>
                </c:pt>
                <c:pt idx="13">
                  <c:v>16/02</c:v>
                </c:pt>
                <c:pt idx="14">
                  <c:v>16/03</c:v>
                </c:pt>
                <c:pt idx="15">
                  <c:v>16/04</c:v>
                </c:pt>
                <c:pt idx="16">
                  <c:v>16/05</c:v>
                </c:pt>
                <c:pt idx="17">
                  <c:v>16/06</c:v>
                </c:pt>
                <c:pt idx="18">
                  <c:v>16/07</c:v>
                </c:pt>
                <c:pt idx="19">
                  <c:v>16/08</c:v>
                </c:pt>
              </c:strCache>
            </c:strRef>
          </c:cat>
          <c:val>
            <c:numRef>
              <c:f>廊坊!$C$136:$C$155</c:f>
              <c:numCache>
                <c:formatCode>General</c:formatCode>
                <c:ptCount val="20"/>
                <c:pt idx="0">
                  <c:v>6762</c:v>
                </c:pt>
                <c:pt idx="1">
                  <c:v>8281</c:v>
                </c:pt>
                <c:pt idx="2">
                  <c:v>6101</c:v>
                </c:pt>
                <c:pt idx="3">
                  <c:v>6708</c:v>
                </c:pt>
                <c:pt idx="4">
                  <c:v>5241</c:v>
                </c:pt>
                <c:pt idx="5">
                  <c:v>6109</c:v>
                </c:pt>
                <c:pt idx="6">
                  <c:v>7777</c:v>
                </c:pt>
                <c:pt idx="7">
                  <c:v>7185</c:v>
                </c:pt>
                <c:pt idx="8">
                  <c:v>8937</c:v>
                </c:pt>
                <c:pt idx="9">
                  <c:v>5781</c:v>
                </c:pt>
                <c:pt idx="10">
                  <c:v>6639</c:v>
                </c:pt>
                <c:pt idx="11">
                  <c:v>6280</c:v>
                </c:pt>
                <c:pt idx="12">
                  <c:v>6734</c:v>
                </c:pt>
                <c:pt idx="13">
                  <c:v>7364</c:v>
                </c:pt>
                <c:pt idx="14">
                  <c:v>6042</c:v>
                </c:pt>
                <c:pt idx="15">
                  <c:v>6216</c:v>
                </c:pt>
                <c:pt idx="16">
                  <c:v>7511</c:v>
                </c:pt>
                <c:pt idx="17">
                  <c:v>6662</c:v>
                </c:pt>
                <c:pt idx="18">
                  <c:v>7389</c:v>
                </c:pt>
                <c:pt idx="19">
                  <c:v>7711</c:v>
                </c:pt>
              </c:numCache>
            </c:numRef>
          </c:val>
          <c:smooth val="0"/>
          <c:extLst>
            <c:ext xmlns:c16="http://schemas.microsoft.com/office/drawing/2014/chart" uri="{C3380CC4-5D6E-409C-BE32-E72D297353CC}">
              <c16:uniqueId val="{00000005-2897-47D6-8714-F94E26F5A8C8}"/>
            </c:ext>
          </c:extLst>
        </c:ser>
        <c:dLbls>
          <c:showLegendKey val="0"/>
          <c:showVal val="0"/>
          <c:showCatName val="0"/>
          <c:showSerName val="0"/>
          <c:showPercent val="0"/>
          <c:showBubbleSize val="0"/>
        </c:dLbls>
        <c:marker val="1"/>
        <c:smooth val="0"/>
        <c:axId val="242509696"/>
        <c:axId val="242507776"/>
      </c:lineChart>
      <c:catAx>
        <c:axId val="242499968"/>
        <c:scaling>
          <c:orientation val="minMax"/>
        </c:scaling>
        <c:delete val="0"/>
        <c:axPos val="b"/>
        <c:title>
          <c:tx>
            <c:rich>
              <a:bodyPr/>
              <a:lstStyle/>
              <a:p>
                <a:pPr>
                  <a:defRPr/>
                </a:pPr>
                <a:r>
                  <a:rPr lang="zh-CN" altLang="en-US"/>
                  <a:t>㎡</a:t>
                </a:r>
              </a:p>
            </c:rich>
          </c:tx>
          <c:layout>
            <c:manualLayout>
              <c:xMode val="edge"/>
              <c:yMode val="edge"/>
              <c:x val="3.885303810707872E-3"/>
              <c:y val="0.12256352571313202"/>
            </c:manualLayout>
          </c:layout>
          <c:overlay val="0"/>
        </c:title>
        <c:numFmt formatCode="General" sourceLinked="1"/>
        <c:majorTickMark val="out"/>
        <c:minorTickMark val="none"/>
        <c:tickLblPos val="nextTo"/>
        <c:spPr>
          <a:noFill/>
          <a:ln w="9525" cap="flat" cmpd="sng" algn="ctr">
            <a:solidFill>
              <a:schemeClr val="bg1">
                <a:lumMod val="95000"/>
              </a:schemeClr>
            </a:solidFill>
            <a:round/>
          </a:ln>
          <a:effectLst/>
        </c:spPr>
        <c:txPr>
          <a:bodyPr rot="-3120000" spcFirstLastPara="1" vertOverflow="ellipsis" vert="horz" wrap="square" anchor="ctr" anchorCtr="1"/>
          <a:lstStyle/>
          <a:p>
            <a:pPr>
              <a:defRPr sz="900" b="0" i="0" u="none" strike="noStrike" kern="1200" baseline="0">
                <a:solidFill>
                  <a:schemeClr val="tx1"/>
                </a:solidFill>
                <a:latin typeface="微软雅黑" pitchFamily="34" charset="-122"/>
                <a:ea typeface="微软雅黑" pitchFamily="34" charset="-122"/>
                <a:cs typeface="+mn-cs"/>
              </a:defRPr>
            </a:pPr>
            <a:endParaRPr lang="zh-CN"/>
          </a:p>
        </c:txPr>
        <c:crossAx val="242501888"/>
        <c:crosses val="autoZero"/>
        <c:auto val="1"/>
        <c:lblAlgn val="ctr"/>
        <c:lblOffset val="0"/>
        <c:tickLblSkip val="1"/>
        <c:noMultiLvlLbl val="0"/>
      </c:catAx>
      <c:valAx>
        <c:axId val="242501888"/>
        <c:scaling>
          <c:orientation val="minMax"/>
          <c:max val="30000"/>
        </c:scaling>
        <c:delete val="0"/>
        <c:axPos val="l"/>
        <c:numFmt formatCode="0_ " sourceLinked="0"/>
        <c:majorTickMark val="out"/>
        <c:minorTickMark val="none"/>
        <c:tickLblPos val="nextTo"/>
        <c:txPr>
          <a:bodyPr/>
          <a:lstStyle/>
          <a:p>
            <a:pPr>
              <a:defRPr sz="900">
                <a:solidFill>
                  <a:schemeClr val="tx1"/>
                </a:solidFill>
                <a:latin typeface="微软雅黑" pitchFamily="34" charset="-122"/>
                <a:ea typeface="微软雅黑" pitchFamily="34" charset="-122"/>
              </a:defRPr>
            </a:pPr>
            <a:endParaRPr lang="zh-CN"/>
          </a:p>
        </c:txPr>
        <c:crossAx val="242499968"/>
        <c:crosses val="autoZero"/>
        <c:crossBetween val="between"/>
        <c:majorUnit val="5000"/>
      </c:valAx>
      <c:valAx>
        <c:axId val="242507776"/>
        <c:scaling>
          <c:orientation val="minMax"/>
        </c:scaling>
        <c:delete val="0"/>
        <c:axPos val="r"/>
        <c:title>
          <c:tx>
            <c:rich>
              <a:bodyPr rot="0" vert="horz"/>
              <a:lstStyle/>
              <a:p>
                <a:pPr>
                  <a:defRPr/>
                </a:pPr>
                <a:r>
                  <a:rPr lang="zh-CN" altLang="en-US"/>
                  <a:t>元</a:t>
                </a:r>
                <a:r>
                  <a:rPr lang="en-US" altLang="zh-CN"/>
                  <a:t>/㎡</a:t>
                </a:r>
                <a:endParaRPr lang="zh-CN" altLang="en-US"/>
              </a:p>
            </c:rich>
          </c:tx>
          <c:layout>
            <c:manualLayout>
              <c:xMode val="edge"/>
              <c:yMode val="edge"/>
              <c:x val="0.94516926606627649"/>
              <c:y val="0.12569230769230769"/>
            </c:manualLayout>
          </c:layout>
          <c:overlay val="0"/>
        </c:title>
        <c:numFmt formatCode="General" sourceLinked="1"/>
        <c:majorTickMark val="out"/>
        <c:minorTickMark val="none"/>
        <c:tickLblPos val="nextTo"/>
        <c:txPr>
          <a:bodyPr/>
          <a:lstStyle/>
          <a:p>
            <a:pPr>
              <a:defRPr sz="900">
                <a:solidFill>
                  <a:schemeClr val="tx1"/>
                </a:solidFill>
                <a:latin typeface="微软雅黑" pitchFamily="34" charset="-122"/>
                <a:ea typeface="微软雅黑" pitchFamily="34" charset="-122"/>
              </a:defRPr>
            </a:pPr>
            <a:endParaRPr lang="zh-CN"/>
          </a:p>
        </c:txPr>
        <c:crossAx val="242509696"/>
        <c:crosses val="max"/>
        <c:crossBetween val="between"/>
      </c:valAx>
      <c:catAx>
        <c:axId val="242509696"/>
        <c:scaling>
          <c:orientation val="minMax"/>
        </c:scaling>
        <c:delete val="1"/>
        <c:axPos val="b"/>
        <c:numFmt formatCode="General" sourceLinked="1"/>
        <c:majorTickMark val="out"/>
        <c:minorTickMark val="none"/>
        <c:tickLblPos val="nextTo"/>
        <c:crossAx val="242507776"/>
        <c:crosses val="autoZero"/>
        <c:auto val="1"/>
        <c:lblAlgn val="ctr"/>
        <c:lblOffset val="100"/>
        <c:noMultiLvlLbl val="0"/>
      </c:catAx>
      <c:spPr>
        <a:noFill/>
        <a:ln>
          <a:noFill/>
        </a:ln>
        <a:effectLst/>
      </c:spPr>
    </c:plotArea>
    <c:legend>
      <c:legendPos val="b"/>
      <c:layout>
        <c:manualLayout>
          <c:xMode val="edge"/>
          <c:yMode val="edge"/>
          <c:x val="0.13640919379004751"/>
          <c:y val="0.15742539874823339"/>
          <c:w val="0.68516114635468139"/>
          <c:h val="9.9510253526001596E-2"/>
        </c:manualLayout>
      </c:layout>
      <c:overlay val="0"/>
      <c:spPr>
        <a:noFill/>
        <a:ln>
          <a:noFill/>
        </a:ln>
        <a:effectLst/>
      </c:spPr>
      <c:txPr>
        <a:bodyPr rot="0" spcFirstLastPara="1" vertOverflow="ellipsis" vert="horz" wrap="square" anchor="ctr" anchorCtr="1"/>
        <a:lstStyle/>
        <a:p>
          <a:pPr>
            <a:defRPr sz="1000" b="1" i="0" u="none" strike="noStrike" kern="1200" baseline="0">
              <a:solidFill>
                <a:schemeClr val="tx1"/>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chart>
  <c:spPr>
    <a:noFill/>
    <a:ln w="9525" cap="flat" cmpd="sng" algn="ctr">
      <a:noFill/>
      <a:round/>
    </a:ln>
    <a:effectLst/>
  </c:spPr>
  <c:txPr>
    <a:bodyPr/>
    <a:lstStyle/>
    <a:p>
      <a:pPr>
        <a:defRPr/>
      </a:pPr>
      <a:endParaRPr lang="zh-CN"/>
    </a:p>
  </c:txPr>
  <c:externalData r:id="rId2">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sz="1400">
                <a:latin typeface="微软雅黑" pitchFamily="34" charset="-122"/>
                <a:ea typeface="微软雅黑" pitchFamily="34" charset="-122"/>
              </a:defRPr>
            </a:pPr>
            <a:r>
              <a:rPr lang="zh-CN" altLang="en-US" sz="1400">
                <a:latin typeface="微软雅黑" pitchFamily="34" charset="-122"/>
                <a:ea typeface="微软雅黑" pitchFamily="34" charset="-122"/>
              </a:rPr>
              <a:t>廊坊</a:t>
            </a:r>
            <a:r>
              <a:rPr lang="en-US" altLang="zh-CN" sz="1400">
                <a:latin typeface="微软雅黑" pitchFamily="34" charset="-122"/>
                <a:ea typeface="微软雅黑" pitchFamily="34" charset="-122"/>
              </a:rPr>
              <a:t>2015.01-2016.08</a:t>
            </a:r>
            <a:r>
              <a:rPr lang="zh-CN" altLang="en-US" sz="1400">
                <a:solidFill>
                  <a:srgbClr val="0070C0"/>
                </a:solidFill>
                <a:latin typeface="微软雅黑" pitchFamily="34" charset="-122"/>
                <a:ea typeface="微软雅黑" pitchFamily="34" charset="-122"/>
              </a:rPr>
              <a:t>商业</a:t>
            </a:r>
            <a:r>
              <a:rPr lang="zh-CN" altLang="en-US" sz="1400">
                <a:latin typeface="微软雅黑" pitchFamily="34" charset="-122"/>
                <a:ea typeface="微软雅黑" pitchFamily="34" charset="-122"/>
              </a:rPr>
              <a:t>市场成交情况</a:t>
            </a:r>
          </a:p>
        </c:rich>
      </c:tx>
      <c:layout>
        <c:manualLayout>
          <c:xMode val="edge"/>
          <c:yMode val="edge"/>
          <c:x val="0.28459693337396874"/>
          <c:y val="0"/>
        </c:manualLayout>
      </c:layout>
      <c:overlay val="0"/>
    </c:title>
    <c:autoTitleDeleted val="0"/>
    <c:plotArea>
      <c:layout>
        <c:manualLayout>
          <c:layoutTarget val="inner"/>
          <c:xMode val="edge"/>
          <c:yMode val="edge"/>
          <c:x val="7.3242010129173973E-2"/>
          <c:y val="0.24355109457471663"/>
          <c:w val="0.85676540890166164"/>
          <c:h val="0.56754290329093482"/>
        </c:manualLayout>
      </c:layout>
      <c:barChart>
        <c:barDir val="col"/>
        <c:grouping val="clustered"/>
        <c:varyColors val="0"/>
        <c:ser>
          <c:idx val="1"/>
          <c:order val="0"/>
          <c:tx>
            <c:strRef>
              <c:f>廊坊!$K$135</c:f>
              <c:strCache>
                <c:ptCount val="1"/>
                <c:pt idx="0">
                  <c:v>成交面积(㎡)</c:v>
                </c:pt>
              </c:strCache>
            </c:strRef>
          </c:tx>
          <c:spPr>
            <a:effectLst>
              <a:outerShdw blurRad="50800" dist="38100" dir="2700000" algn="tl" rotWithShape="0">
                <a:prstClr val="black">
                  <a:alpha val="40000"/>
                </a:prstClr>
              </a:outerShdw>
            </a:effectLst>
          </c:spPr>
          <c:invertIfNegative val="0"/>
          <c:dLbls>
            <c:dLbl>
              <c:idx val="5"/>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1B77-49B2-AD61-AAF793F36CBC}"/>
                </c:ext>
              </c:extLst>
            </c:dLbl>
            <c:dLbl>
              <c:idx val="19"/>
              <c:spPr/>
              <c:txPr>
                <a:bodyPr/>
                <a:lstStyle/>
                <a:p>
                  <a:pPr>
                    <a:defRPr sz="1100" b="1">
                      <a:solidFill>
                        <a:srgbClr val="FF0000"/>
                      </a:solidFill>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1B77-49B2-AD61-AAF793F36CBC}"/>
                </c:ext>
              </c:extLst>
            </c:dLbl>
            <c:spPr>
              <a:noFill/>
              <a:ln>
                <a:noFill/>
              </a:ln>
              <a:effectLst/>
            </c:spPr>
            <c:txPr>
              <a:bodyPr/>
              <a:lstStyle/>
              <a:p>
                <a:pPr>
                  <a:defRPr sz="1100"/>
                </a:pPr>
                <a:endParaRPr lang="zh-CN"/>
              </a:p>
            </c:txPr>
            <c:dLblPos val="outEnd"/>
            <c:showLegendKey val="0"/>
            <c:showVal val="0"/>
            <c:showCatName val="0"/>
            <c:showSerName val="0"/>
            <c:showPercent val="0"/>
            <c:showBubbleSize val="0"/>
            <c:extLst>
              <c:ext xmlns:c15="http://schemas.microsoft.com/office/drawing/2012/chart" uri="{CE6537A1-D6FC-4f65-9D91-7224C49458BB}">
                <c15:showLeaderLines val="0"/>
              </c:ext>
            </c:extLst>
          </c:dLbls>
          <c:cat>
            <c:strRef>
              <c:f>廊坊!$J$136:$J$155</c:f>
              <c:strCache>
                <c:ptCount val="20"/>
                <c:pt idx="0">
                  <c:v>15/01</c:v>
                </c:pt>
                <c:pt idx="1">
                  <c:v>15/02</c:v>
                </c:pt>
                <c:pt idx="2">
                  <c:v>15/03</c:v>
                </c:pt>
                <c:pt idx="3">
                  <c:v>15/04</c:v>
                </c:pt>
                <c:pt idx="4">
                  <c:v>15/05</c:v>
                </c:pt>
                <c:pt idx="5">
                  <c:v>15/06</c:v>
                </c:pt>
                <c:pt idx="6">
                  <c:v>15/07</c:v>
                </c:pt>
                <c:pt idx="7">
                  <c:v>15/08</c:v>
                </c:pt>
                <c:pt idx="8">
                  <c:v>15/09</c:v>
                </c:pt>
                <c:pt idx="9">
                  <c:v>15/10</c:v>
                </c:pt>
                <c:pt idx="10">
                  <c:v>15/11</c:v>
                </c:pt>
                <c:pt idx="11">
                  <c:v>15/12</c:v>
                </c:pt>
                <c:pt idx="12">
                  <c:v>16/01</c:v>
                </c:pt>
                <c:pt idx="13">
                  <c:v>16/02</c:v>
                </c:pt>
                <c:pt idx="14">
                  <c:v>16/03</c:v>
                </c:pt>
                <c:pt idx="15">
                  <c:v>16/04</c:v>
                </c:pt>
                <c:pt idx="16">
                  <c:v>16/05</c:v>
                </c:pt>
                <c:pt idx="17">
                  <c:v>16/06</c:v>
                </c:pt>
                <c:pt idx="18">
                  <c:v>16/07</c:v>
                </c:pt>
                <c:pt idx="19">
                  <c:v>16/08</c:v>
                </c:pt>
              </c:strCache>
            </c:strRef>
          </c:cat>
          <c:val>
            <c:numRef>
              <c:f>廊坊!$K$136:$K$155</c:f>
              <c:numCache>
                <c:formatCode>General</c:formatCode>
                <c:ptCount val="20"/>
                <c:pt idx="0">
                  <c:v>29135</c:v>
                </c:pt>
                <c:pt idx="1">
                  <c:v>20986</c:v>
                </c:pt>
                <c:pt idx="2">
                  <c:v>13229</c:v>
                </c:pt>
                <c:pt idx="3">
                  <c:v>22795</c:v>
                </c:pt>
                <c:pt idx="4">
                  <c:v>18977</c:v>
                </c:pt>
                <c:pt idx="5">
                  <c:v>50669</c:v>
                </c:pt>
                <c:pt idx="6">
                  <c:v>32272</c:v>
                </c:pt>
                <c:pt idx="7">
                  <c:v>18850</c:v>
                </c:pt>
                <c:pt idx="8">
                  <c:v>17636</c:v>
                </c:pt>
                <c:pt idx="9">
                  <c:v>9893</c:v>
                </c:pt>
                <c:pt idx="10">
                  <c:v>15117</c:v>
                </c:pt>
                <c:pt idx="11">
                  <c:v>12934</c:v>
                </c:pt>
                <c:pt idx="12">
                  <c:v>12999</c:v>
                </c:pt>
                <c:pt idx="13">
                  <c:v>3628</c:v>
                </c:pt>
                <c:pt idx="14">
                  <c:v>23721</c:v>
                </c:pt>
                <c:pt idx="15">
                  <c:v>46849</c:v>
                </c:pt>
                <c:pt idx="16">
                  <c:v>38315</c:v>
                </c:pt>
                <c:pt idx="17">
                  <c:v>21659</c:v>
                </c:pt>
                <c:pt idx="18">
                  <c:v>25000</c:v>
                </c:pt>
                <c:pt idx="19">
                  <c:v>26512</c:v>
                </c:pt>
              </c:numCache>
            </c:numRef>
          </c:val>
          <c:extLst>
            <c:ext xmlns:c16="http://schemas.microsoft.com/office/drawing/2014/chart" uri="{C3380CC4-5D6E-409C-BE32-E72D297353CC}">
              <c16:uniqueId val="{00000002-1B77-49B2-AD61-AAF793F36CBC}"/>
            </c:ext>
          </c:extLst>
        </c:ser>
        <c:dLbls>
          <c:dLblPos val="outEnd"/>
          <c:showLegendKey val="0"/>
          <c:showVal val="1"/>
          <c:showCatName val="0"/>
          <c:showSerName val="0"/>
          <c:showPercent val="0"/>
          <c:showBubbleSize val="0"/>
        </c:dLbls>
        <c:gapWidth val="101"/>
        <c:axId val="243214592"/>
        <c:axId val="243229056"/>
      </c:barChart>
      <c:lineChart>
        <c:grouping val="standard"/>
        <c:varyColors val="0"/>
        <c:ser>
          <c:idx val="2"/>
          <c:order val="1"/>
          <c:tx>
            <c:strRef>
              <c:f>廊坊!$L$135</c:f>
              <c:strCache>
                <c:ptCount val="1"/>
                <c:pt idx="0">
                  <c:v>成交均价(元/㎡)</c:v>
                </c:pt>
              </c:strCache>
            </c:strRef>
          </c:tx>
          <c:spPr>
            <a:ln>
              <a:solidFill>
                <a:srgbClr val="F79646">
                  <a:lumMod val="75000"/>
                </a:srgbClr>
              </a:solidFill>
            </a:ln>
          </c:spPr>
          <c:marker>
            <c:symbol val="diamond"/>
            <c:size val="7"/>
            <c:spPr>
              <a:solidFill>
                <a:srgbClr val="F79646">
                  <a:lumMod val="75000"/>
                </a:srgbClr>
              </a:solidFill>
              <a:ln>
                <a:solidFill>
                  <a:sysClr val="window" lastClr="FFFFFF"/>
                </a:solidFill>
              </a:ln>
            </c:spPr>
          </c:marker>
          <c:dLbls>
            <c:dLbl>
              <c:idx val="2"/>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1B77-49B2-AD61-AAF793F36CBC}"/>
                </c:ext>
              </c:extLst>
            </c:dLbl>
            <c:dLbl>
              <c:idx val="18"/>
              <c:layout>
                <c:manualLayout>
                  <c:x val="-5.586759702600691E-2"/>
                  <c:y val="-6.007672117908338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1B77-49B2-AD61-AAF793F36CBC}"/>
                </c:ext>
              </c:extLst>
            </c:dLbl>
            <c:dLbl>
              <c:idx val="19"/>
              <c:layout>
                <c:manualLayout>
                  <c:x val="-3.2765333899765561E-2"/>
                  <c:y val="-7.5461336563698772E-2"/>
                </c:manualLayout>
              </c:layout>
              <c:spPr/>
              <c:txPr>
                <a:bodyPr/>
                <a:lstStyle/>
                <a:p>
                  <a:pPr>
                    <a:defRPr sz="1100" b="1">
                      <a:solidFill>
                        <a:srgbClr val="FF0000"/>
                      </a:solidFill>
                    </a:defRPr>
                  </a:pPr>
                  <a:endParaRPr lang="zh-CN"/>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1B77-49B2-AD61-AAF793F36CBC}"/>
                </c:ext>
              </c:extLst>
            </c:dLbl>
            <c:spPr>
              <a:noFill/>
              <a:ln>
                <a:noFill/>
              </a:ln>
              <a:effectLst/>
            </c:spPr>
            <c:txPr>
              <a:bodyPr/>
              <a:lstStyle/>
              <a:p>
                <a:pPr>
                  <a:defRPr sz="1100"/>
                </a:pPr>
                <a:endParaRPr lang="zh-CN"/>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廊坊!$J$136:$J$155</c:f>
              <c:strCache>
                <c:ptCount val="20"/>
                <c:pt idx="0">
                  <c:v>15/01</c:v>
                </c:pt>
                <c:pt idx="1">
                  <c:v>15/02</c:v>
                </c:pt>
                <c:pt idx="2">
                  <c:v>15/03</c:v>
                </c:pt>
                <c:pt idx="3">
                  <c:v>15/04</c:v>
                </c:pt>
                <c:pt idx="4">
                  <c:v>15/05</c:v>
                </c:pt>
                <c:pt idx="5">
                  <c:v>15/06</c:v>
                </c:pt>
                <c:pt idx="6">
                  <c:v>15/07</c:v>
                </c:pt>
                <c:pt idx="7">
                  <c:v>15/08</c:v>
                </c:pt>
                <c:pt idx="8">
                  <c:v>15/09</c:v>
                </c:pt>
                <c:pt idx="9">
                  <c:v>15/10</c:v>
                </c:pt>
                <c:pt idx="10">
                  <c:v>15/11</c:v>
                </c:pt>
                <c:pt idx="11">
                  <c:v>15/12</c:v>
                </c:pt>
                <c:pt idx="12">
                  <c:v>16/01</c:v>
                </c:pt>
                <c:pt idx="13">
                  <c:v>16/02</c:v>
                </c:pt>
                <c:pt idx="14">
                  <c:v>16/03</c:v>
                </c:pt>
                <c:pt idx="15">
                  <c:v>16/04</c:v>
                </c:pt>
                <c:pt idx="16">
                  <c:v>16/05</c:v>
                </c:pt>
                <c:pt idx="17">
                  <c:v>16/06</c:v>
                </c:pt>
                <c:pt idx="18">
                  <c:v>16/07</c:v>
                </c:pt>
                <c:pt idx="19">
                  <c:v>16/08</c:v>
                </c:pt>
              </c:strCache>
            </c:strRef>
          </c:cat>
          <c:val>
            <c:numRef>
              <c:f>廊坊!$L$136:$L$155</c:f>
              <c:numCache>
                <c:formatCode>General</c:formatCode>
                <c:ptCount val="20"/>
                <c:pt idx="0">
                  <c:v>7954</c:v>
                </c:pt>
                <c:pt idx="1">
                  <c:v>11073</c:v>
                </c:pt>
                <c:pt idx="2">
                  <c:v>18400</c:v>
                </c:pt>
                <c:pt idx="3">
                  <c:v>10890</c:v>
                </c:pt>
                <c:pt idx="4">
                  <c:v>8770</c:v>
                </c:pt>
                <c:pt idx="5">
                  <c:v>12455</c:v>
                </c:pt>
                <c:pt idx="6">
                  <c:v>10284</c:v>
                </c:pt>
                <c:pt idx="7">
                  <c:v>10227</c:v>
                </c:pt>
                <c:pt idx="8">
                  <c:v>12514</c:v>
                </c:pt>
                <c:pt idx="9">
                  <c:v>9535</c:v>
                </c:pt>
                <c:pt idx="10">
                  <c:v>14102</c:v>
                </c:pt>
                <c:pt idx="11">
                  <c:v>12290</c:v>
                </c:pt>
                <c:pt idx="12">
                  <c:v>10422</c:v>
                </c:pt>
                <c:pt idx="13">
                  <c:v>10280</c:v>
                </c:pt>
                <c:pt idx="14">
                  <c:v>9405</c:v>
                </c:pt>
                <c:pt idx="15">
                  <c:v>10345</c:v>
                </c:pt>
                <c:pt idx="16">
                  <c:v>9891</c:v>
                </c:pt>
                <c:pt idx="17">
                  <c:v>12261</c:v>
                </c:pt>
                <c:pt idx="18">
                  <c:v>12918</c:v>
                </c:pt>
                <c:pt idx="19">
                  <c:v>12716</c:v>
                </c:pt>
              </c:numCache>
            </c:numRef>
          </c:val>
          <c:smooth val="0"/>
          <c:extLst>
            <c:ext xmlns:c16="http://schemas.microsoft.com/office/drawing/2014/chart" uri="{C3380CC4-5D6E-409C-BE32-E72D297353CC}">
              <c16:uniqueId val="{00000006-1B77-49B2-AD61-AAF793F36CBC}"/>
            </c:ext>
          </c:extLst>
        </c:ser>
        <c:dLbls>
          <c:showLegendKey val="0"/>
          <c:showVal val="0"/>
          <c:showCatName val="0"/>
          <c:showSerName val="0"/>
          <c:showPercent val="0"/>
          <c:showBubbleSize val="0"/>
        </c:dLbls>
        <c:marker val="1"/>
        <c:smooth val="0"/>
        <c:axId val="243232768"/>
        <c:axId val="243230592"/>
      </c:lineChart>
      <c:catAx>
        <c:axId val="243214592"/>
        <c:scaling>
          <c:orientation val="minMax"/>
        </c:scaling>
        <c:delete val="0"/>
        <c:axPos val="b"/>
        <c:title>
          <c:tx>
            <c:rich>
              <a:bodyPr/>
              <a:lstStyle/>
              <a:p>
                <a:pPr>
                  <a:defRPr/>
                </a:pPr>
                <a:r>
                  <a:rPr lang="zh-CN" altLang="en-US"/>
                  <a:t>㎡</a:t>
                </a:r>
              </a:p>
            </c:rich>
          </c:tx>
          <c:layout>
            <c:manualLayout>
              <c:xMode val="edge"/>
              <c:yMode val="edge"/>
              <c:x val="3.885303810707872E-3"/>
              <c:y val="0.12256352571313202"/>
            </c:manualLayout>
          </c:layout>
          <c:overlay val="0"/>
        </c:title>
        <c:numFmt formatCode="General" sourceLinked="1"/>
        <c:majorTickMark val="out"/>
        <c:minorTickMark val="none"/>
        <c:tickLblPos val="nextTo"/>
        <c:spPr>
          <a:noFill/>
          <a:ln w="9525" cap="flat" cmpd="sng" algn="ctr">
            <a:solidFill>
              <a:schemeClr val="bg1">
                <a:lumMod val="95000"/>
              </a:schemeClr>
            </a:solidFill>
            <a:round/>
          </a:ln>
          <a:effectLst/>
        </c:spPr>
        <c:txPr>
          <a:bodyPr rot="-3120000" spcFirstLastPara="1" vertOverflow="ellipsis" vert="horz" wrap="square" anchor="ctr" anchorCtr="1"/>
          <a:lstStyle/>
          <a:p>
            <a:pPr>
              <a:defRPr sz="900" b="0" i="0" u="none" strike="noStrike" kern="1200" baseline="0">
                <a:solidFill>
                  <a:schemeClr val="tx1"/>
                </a:solidFill>
                <a:latin typeface="微软雅黑" pitchFamily="34" charset="-122"/>
                <a:ea typeface="微软雅黑" pitchFamily="34" charset="-122"/>
                <a:cs typeface="+mn-cs"/>
              </a:defRPr>
            </a:pPr>
            <a:endParaRPr lang="zh-CN"/>
          </a:p>
        </c:txPr>
        <c:crossAx val="243229056"/>
        <c:crosses val="autoZero"/>
        <c:auto val="1"/>
        <c:lblAlgn val="ctr"/>
        <c:lblOffset val="0"/>
        <c:tickLblSkip val="1"/>
        <c:noMultiLvlLbl val="0"/>
      </c:catAx>
      <c:valAx>
        <c:axId val="243229056"/>
        <c:scaling>
          <c:orientation val="minMax"/>
          <c:max val="55000"/>
        </c:scaling>
        <c:delete val="0"/>
        <c:axPos val="l"/>
        <c:numFmt formatCode="0_ " sourceLinked="0"/>
        <c:majorTickMark val="out"/>
        <c:minorTickMark val="none"/>
        <c:tickLblPos val="nextTo"/>
        <c:txPr>
          <a:bodyPr/>
          <a:lstStyle/>
          <a:p>
            <a:pPr>
              <a:defRPr sz="900">
                <a:solidFill>
                  <a:schemeClr val="tx1"/>
                </a:solidFill>
                <a:latin typeface="微软雅黑" pitchFamily="34" charset="-122"/>
                <a:ea typeface="微软雅黑" pitchFamily="34" charset="-122"/>
              </a:defRPr>
            </a:pPr>
            <a:endParaRPr lang="zh-CN"/>
          </a:p>
        </c:txPr>
        <c:crossAx val="243214592"/>
        <c:crosses val="autoZero"/>
        <c:crossBetween val="between"/>
        <c:majorUnit val="11000"/>
      </c:valAx>
      <c:valAx>
        <c:axId val="243230592"/>
        <c:scaling>
          <c:orientation val="minMax"/>
        </c:scaling>
        <c:delete val="0"/>
        <c:axPos val="r"/>
        <c:title>
          <c:tx>
            <c:rich>
              <a:bodyPr rot="0" vert="horz"/>
              <a:lstStyle/>
              <a:p>
                <a:pPr>
                  <a:defRPr/>
                </a:pPr>
                <a:r>
                  <a:rPr lang="zh-CN" altLang="en-US"/>
                  <a:t>元</a:t>
                </a:r>
                <a:r>
                  <a:rPr lang="en-US" altLang="zh-CN"/>
                  <a:t>/㎡</a:t>
                </a:r>
                <a:endParaRPr lang="zh-CN" altLang="en-US"/>
              </a:p>
            </c:rich>
          </c:tx>
          <c:layout>
            <c:manualLayout>
              <c:xMode val="edge"/>
              <c:yMode val="edge"/>
              <c:x val="0.94490676956479047"/>
              <c:y val="0.12569230769230769"/>
            </c:manualLayout>
          </c:layout>
          <c:overlay val="0"/>
        </c:title>
        <c:numFmt formatCode="General" sourceLinked="1"/>
        <c:majorTickMark val="out"/>
        <c:minorTickMark val="none"/>
        <c:tickLblPos val="nextTo"/>
        <c:txPr>
          <a:bodyPr/>
          <a:lstStyle/>
          <a:p>
            <a:pPr>
              <a:defRPr sz="900">
                <a:solidFill>
                  <a:schemeClr val="tx1"/>
                </a:solidFill>
                <a:latin typeface="微软雅黑" pitchFamily="34" charset="-122"/>
                <a:ea typeface="微软雅黑" pitchFamily="34" charset="-122"/>
              </a:defRPr>
            </a:pPr>
            <a:endParaRPr lang="zh-CN"/>
          </a:p>
        </c:txPr>
        <c:crossAx val="243232768"/>
        <c:crosses val="max"/>
        <c:crossBetween val="between"/>
      </c:valAx>
      <c:catAx>
        <c:axId val="243232768"/>
        <c:scaling>
          <c:orientation val="minMax"/>
        </c:scaling>
        <c:delete val="1"/>
        <c:axPos val="b"/>
        <c:numFmt formatCode="General" sourceLinked="1"/>
        <c:majorTickMark val="out"/>
        <c:minorTickMark val="none"/>
        <c:tickLblPos val="nextTo"/>
        <c:crossAx val="243230592"/>
        <c:crosses val="autoZero"/>
        <c:auto val="1"/>
        <c:lblAlgn val="ctr"/>
        <c:lblOffset val="100"/>
        <c:noMultiLvlLbl val="0"/>
      </c:catAx>
      <c:spPr>
        <a:noFill/>
        <a:ln>
          <a:noFill/>
        </a:ln>
        <a:effectLst/>
      </c:spPr>
    </c:plotArea>
    <c:legend>
      <c:legendPos val="b"/>
      <c:layout>
        <c:manualLayout>
          <c:xMode val="edge"/>
          <c:yMode val="edge"/>
          <c:x val="0.13640919379004751"/>
          <c:y val="0.15742539874823339"/>
          <c:w val="0.68516114635468139"/>
          <c:h val="9.9510253526001596E-2"/>
        </c:manualLayout>
      </c:layout>
      <c:overlay val="0"/>
      <c:spPr>
        <a:noFill/>
        <a:ln>
          <a:noFill/>
        </a:ln>
        <a:effectLst/>
      </c:spPr>
      <c:txPr>
        <a:bodyPr rot="0" spcFirstLastPara="1" vertOverflow="ellipsis" vert="horz" wrap="square" anchor="ctr" anchorCtr="1"/>
        <a:lstStyle/>
        <a:p>
          <a:pPr>
            <a:defRPr sz="1000" b="1" i="0" u="none" strike="noStrike" kern="1200" baseline="0">
              <a:solidFill>
                <a:schemeClr val="tx1"/>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chart>
  <c:spPr>
    <a:noFill/>
    <a:ln w="9525" cap="flat" cmpd="sng" algn="ctr">
      <a:noFill/>
      <a:round/>
    </a:ln>
    <a:effectLst/>
  </c:spPr>
  <c:txPr>
    <a:bodyPr/>
    <a:lstStyle/>
    <a:p>
      <a:pPr>
        <a:defRPr/>
      </a:pPr>
      <a:endParaRPr lang="zh-CN"/>
    </a:p>
  </c:txPr>
  <c:externalData r:id="rId2">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sz="1400"/>
            </a:pPr>
            <a:r>
              <a:rPr lang="zh-CN" altLang="en-US" sz="1400" b="1" i="0" kern="1200" baseline="0">
                <a:solidFill>
                  <a:srgbClr val="000000"/>
                </a:solidFill>
                <a:effectLst/>
                <a:latin typeface="微软雅黑"/>
                <a:ea typeface="微软雅黑"/>
              </a:rPr>
              <a:t>燕郊</a:t>
            </a:r>
            <a:r>
              <a:rPr lang="en-US" altLang="zh-CN" sz="1400" b="1" i="0" kern="1200" baseline="0">
                <a:solidFill>
                  <a:srgbClr val="000000"/>
                </a:solidFill>
                <a:effectLst/>
                <a:latin typeface="微软雅黑"/>
                <a:ea typeface="微软雅黑"/>
              </a:rPr>
              <a:t>2015.01-2016.08</a:t>
            </a:r>
            <a:r>
              <a:rPr lang="zh-CN" altLang="en-US" sz="1400" b="1" i="0" kern="1200" baseline="0">
                <a:solidFill>
                  <a:srgbClr val="000000"/>
                </a:solidFill>
                <a:effectLst/>
                <a:latin typeface="微软雅黑"/>
                <a:ea typeface="微软雅黑"/>
              </a:rPr>
              <a:t>商品房</a:t>
            </a:r>
            <a:r>
              <a:rPr lang="zh-CN" altLang="zh-CN" sz="1400" b="1" i="0" kern="1200" baseline="0">
                <a:solidFill>
                  <a:srgbClr val="000000"/>
                </a:solidFill>
                <a:effectLst/>
                <a:latin typeface="微软雅黑"/>
                <a:ea typeface="微软雅黑"/>
              </a:rPr>
              <a:t>供销情况</a:t>
            </a:r>
            <a:endParaRPr lang="zh-CN" altLang="zh-CN" sz="1400">
              <a:effectLst/>
            </a:endParaRPr>
          </a:p>
        </c:rich>
      </c:tx>
      <c:layout>
        <c:manualLayout>
          <c:xMode val="edge"/>
          <c:yMode val="edge"/>
          <c:x val="0.28026744422283645"/>
          <c:y val="0"/>
        </c:manualLayout>
      </c:layout>
      <c:overlay val="0"/>
    </c:title>
    <c:autoTitleDeleted val="0"/>
    <c:plotArea>
      <c:layout>
        <c:manualLayout>
          <c:layoutTarget val="inner"/>
          <c:xMode val="edge"/>
          <c:yMode val="edge"/>
          <c:x val="4.5995532629050317E-2"/>
          <c:y val="0.26919200484554817"/>
          <c:w val="0.88375809127621885"/>
          <c:h val="0.56692630728851201"/>
        </c:manualLayout>
      </c:layout>
      <c:barChart>
        <c:barDir val="col"/>
        <c:grouping val="clustered"/>
        <c:varyColors val="0"/>
        <c:ser>
          <c:idx val="0"/>
          <c:order val="0"/>
          <c:tx>
            <c:strRef>
              <c:f>燕郊!$B$1</c:f>
              <c:strCache>
                <c:ptCount val="1"/>
                <c:pt idx="0">
                  <c:v>新增供应面积(万㎡)</c:v>
                </c:pt>
              </c:strCache>
            </c:strRef>
          </c:tx>
          <c:spPr>
            <a:pattFill prst="wdUpDiag">
              <a:fgClr>
                <a:srgbClr val="70B1DE"/>
              </a:fgClr>
              <a:bgClr>
                <a:srgbClr val="3B95D2"/>
              </a:bgClr>
            </a:pattFill>
            <a:ln>
              <a:solidFill>
                <a:schemeClr val="bg1"/>
              </a:solidFill>
            </a:ln>
            <a:effectLst>
              <a:outerShdw blurRad="50800" dist="38100" algn="l" rotWithShape="0">
                <a:prstClr val="black">
                  <a:alpha val="40000"/>
                </a:prstClr>
              </a:outerShdw>
            </a:effectLst>
          </c:spPr>
          <c:invertIfNegative val="0"/>
          <c:dLbls>
            <c:delete val="1"/>
          </c:dLbls>
          <c:cat>
            <c:strRef>
              <c:f>燕郊!$A$14:$A$33</c:f>
              <c:strCache>
                <c:ptCount val="20"/>
                <c:pt idx="0">
                  <c:v>15/01</c:v>
                </c:pt>
                <c:pt idx="1">
                  <c:v>15/02</c:v>
                </c:pt>
                <c:pt idx="2">
                  <c:v>15/03</c:v>
                </c:pt>
                <c:pt idx="3">
                  <c:v>15/04</c:v>
                </c:pt>
                <c:pt idx="4">
                  <c:v>15/05</c:v>
                </c:pt>
                <c:pt idx="5">
                  <c:v>15/06</c:v>
                </c:pt>
                <c:pt idx="6">
                  <c:v>15/07</c:v>
                </c:pt>
                <c:pt idx="7">
                  <c:v>15/08</c:v>
                </c:pt>
                <c:pt idx="8">
                  <c:v>15/09</c:v>
                </c:pt>
                <c:pt idx="9">
                  <c:v>15/10</c:v>
                </c:pt>
                <c:pt idx="10">
                  <c:v>15/11</c:v>
                </c:pt>
                <c:pt idx="11">
                  <c:v>15/12</c:v>
                </c:pt>
                <c:pt idx="12">
                  <c:v>16/01</c:v>
                </c:pt>
                <c:pt idx="13">
                  <c:v>16/02</c:v>
                </c:pt>
                <c:pt idx="14">
                  <c:v>16/03</c:v>
                </c:pt>
                <c:pt idx="15">
                  <c:v>16/04</c:v>
                </c:pt>
                <c:pt idx="16">
                  <c:v>16/05</c:v>
                </c:pt>
                <c:pt idx="17">
                  <c:v>16/06</c:v>
                </c:pt>
                <c:pt idx="18">
                  <c:v>16/07</c:v>
                </c:pt>
                <c:pt idx="19">
                  <c:v>16/08</c:v>
                </c:pt>
              </c:strCache>
            </c:strRef>
          </c:cat>
          <c:val>
            <c:numRef>
              <c:f>燕郊!$B$14:$B$33</c:f>
              <c:numCache>
                <c:formatCode>General</c:formatCode>
                <c:ptCount val="20"/>
                <c:pt idx="0">
                  <c:v>2.7513999999999998</c:v>
                </c:pt>
                <c:pt idx="1">
                  <c:v>0</c:v>
                </c:pt>
                <c:pt idx="2">
                  <c:v>9.1654999999999998</c:v>
                </c:pt>
                <c:pt idx="3">
                  <c:v>4.7991999999999999</c:v>
                </c:pt>
                <c:pt idx="4">
                  <c:v>3.4028</c:v>
                </c:pt>
                <c:pt idx="5">
                  <c:v>6.8314000000000004</c:v>
                </c:pt>
                <c:pt idx="6">
                  <c:v>0</c:v>
                </c:pt>
                <c:pt idx="7">
                  <c:v>9.3537999999999997</c:v>
                </c:pt>
                <c:pt idx="8">
                  <c:v>33.2348</c:v>
                </c:pt>
                <c:pt idx="9">
                  <c:v>4.29</c:v>
                </c:pt>
                <c:pt idx="10">
                  <c:v>4.3475000000000001</c:v>
                </c:pt>
                <c:pt idx="11">
                  <c:v>3.6368999999999998</c:v>
                </c:pt>
                <c:pt idx="12">
                  <c:v>2.6615000000000002</c:v>
                </c:pt>
                <c:pt idx="13">
                  <c:v>0</c:v>
                </c:pt>
                <c:pt idx="14">
                  <c:v>9.2810000000000006</c:v>
                </c:pt>
                <c:pt idx="15">
                  <c:v>11.084</c:v>
                </c:pt>
                <c:pt idx="16">
                  <c:v>0.67620000000000002</c:v>
                </c:pt>
                <c:pt idx="17">
                  <c:v>1.4756</c:v>
                </c:pt>
                <c:pt idx="18">
                  <c:v>3.9405999999999999</c:v>
                </c:pt>
                <c:pt idx="19">
                  <c:v>2.698</c:v>
                </c:pt>
              </c:numCache>
            </c:numRef>
          </c:val>
          <c:extLst>
            <c:ext xmlns:c16="http://schemas.microsoft.com/office/drawing/2014/chart" uri="{C3380CC4-5D6E-409C-BE32-E72D297353CC}">
              <c16:uniqueId val="{00000000-9F72-4BF1-A51B-518938F3778C}"/>
            </c:ext>
          </c:extLst>
        </c:ser>
        <c:ser>
          <c:idx val="1"/>
          <c:order val="1"/>
          <c:tx>
            <c:strRef>
              <c:f>燕郊!$C$1</c:f>
              <c:strCache>
                <c:ptCount val="1"/>
                <c:pt idx="0">
                  <c:v>成交面积(万㎡)</c:v>
                </c:pt>
              </c:strCache>
            </c:strRef>
          </c:tx>
          <c:spPr>
            <a:effectLst>
              <a:outerShdw blurRad="50800" dist="38100" algn="l" rotWithShape="0">
                <a:prstClr val="black">
                  <a:alpha val="40000"/>
                </a:prstClr>
              </a:outerShdw>
            </a:effectLst>
          </c:spPr>
          <c:invertIfNegative val="0"/>
          <c:dLbls>
            <c:dLbl>
              <c:idx val="19"/>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F72-4BF1-A51B-518938F3778C}"/>
                </c:ext>
              </c:extLst>
            </c:dLbl>
            <c:numFmt formatCode="#,##0.00_);[Red]\(#,##0.00\)" sourceLinked="0"/>
            <c:spPr>
              <a:noFill/>
              <a:ln>
                <a:noFill/>
              </a:ln>
              <a:effectLst/>
            </c:spPr>
            <c:txPr>
              <a:bodyPr/>
              <a:lstStyle/>
              <a:p>
                <a:pPr>
                  <a:defRPr sz="1100" b="1">
                    <a:solidFill>
                      <a:srgbClr val="FF0000"/>
                    </a:solidFill>
                  </a:defRPr>
                </a:pPr>
                <a:endParaRPr lang="zh-CN"/>
              </a:p>
            </c:txPr>
            <c:dLblPos val="outEnd"/>
            <c:showLegendKey val="0"/>
            <c:showVal val="0"/>
            <c:showCatName val="0"/>
            <c:showSerName val="0"/>
            <c:showPercent val="0"/>
            <c:showBubbleSize val="0"/>
            <c:extLst>
              <c:ext xmlns:c15="http://schemas.microsoft.com/office/drawing/2012/chart" uri="{CE6537A1-D6FC-4f65-9D91-7224C49458BB}">
                <c15:showLeaderLines val="0"/>
              </c:ext>
            </c:extLst>
          </c:dLbls>
          <c:cat>
            <c:strRef>
              <c:f>燕郊!$A$14:$A$33</c:f>
              <c:strCache>
                <c:ptCount val="20"/>
                <c:pt idx="0">
                  <c:v>15/01</c:v>
                </c:pt>
                <c:pt idx="1">
                  <c:v>15/02</c:v>
                </c:pt>
                <c:pt idx="2">
                  <c:v>15/03</c:v>
                </c:pt>
                <c:pt idx="3">
                  <c:v>15/04</c:v>
                </c:pt>
                <c:pt idx="4">
                  <c:v>15/05</c:v>
                </c:pt>
                <c:pt idx="5">
                  <c:v>15/06</c:v>
                </c:pt>
                <c:pt idx="6">
                  <c:v>15/07</c:v>
                </c:pt>
                <c:pt idx="7">
                  <c:v>15/08</c:v>
                </c:pt>
                <c:pt idx="8">
                  <c:v>15/09</c:v>
                </c:pt>
                <c:pt idx="9">
                  <c:v>15/10</c:v>
                </c:pt>
                <c:pt idx="10">
                  <c:v>15/11</c:v>
                </c:pt>
                <c:pt idx="11">
                  <c:v>15/12</c:v>
                </c:pt>
                <c:pt idx="12">
                  <c:v>16/01</c:v>
                </c:pt>
                <c:pt idx="13">
                  <c:v>16/02</c:v>
                </c:pt>
                <c:pt idx="14">
                  <c:v>16/03</c:v>
                </c:pt>
                <c:pt idx="15">
                  <c:v>16/04</c:v>
                </c:pt>
                <c:pt idx="16">
                  <c:v>16/05</c:v>
                </c:pt>
                <c:pt idx="17">
                  <c:v>16/06</c:v>
                </c:pt>
                <c:pt idx="18">
                  <c:v>16/07</c:v>
                </c:pt>
                <c:pt idx="19">
                  <c:v>16/08</c:v>
                </c:pt>
              </c:strCache>
            </c:strRef>
          </c:cat>
          <c:val>
            <c:numRef>
              <c:f>燕郊!$C$14:$C$33</c:f>
              <c:numCache>
                <c:formatCode>General</c:formatCode>
                <c:ptCount val="20"/>
                <c:pt idx="0">
                  <c:v>21.6233</c:v>
                </c:pt>
                <c:pt idx="1">
                  <c:v>4.1172000000000004</c:v>
                </c:pt>
                <c:pt idx="2">
                  <c:v>15.7585</c:v>
                </c:pt>
                <c:pt idx="3">
                  <c:v>11.6877</c:v>
                </c:pt>
                <c:pt idx="4">
                  <c:v>17.613700000000001</c:v>
                </c:pt>
                <c:pt idx="5">
                  <c:v>19.3184</c:v>
                </c:pt>
                <c:pt idx="6">
                  <c:v>16.150400000000001</c:v>
                </c:pt>
                <c:pt idx="7">
                  <c:v>17.465199999999999</c:v>
                </c:pt>
                <c:pt idx="8">
                  <c:v>15.260300000000001</c:v>
                </c:pt>
                <c:pt idx="9">
                  <c:v>11.474500000000001</c:v>
                </c:pt>
                <c:pt idx="10">
                  <c:v>18.1678</c:v>
                </c:pt>
                <c:pt idx="11">
                  <c:v>22.841999999999999</c:v>
                </c:pt>
                <c:pt idx="12">
                  <c:v>18.430599999999998</c:v>
                </c:pt>
                <c:pt idx="13">
                  <c:v>6.8163999999999998</c:v>
                </c:pt>
                <c:pt idx="14">
                  <c:v>30.177099999999999</c:v>
                </c:pt>
                <c:pt idx="15">
                  <c:v>30.647400000000001</c:v>
                </c:pt>
                <c:pt idx="16">
                  <c:v>6.9008000000000003</c:v>
                </c:pt>
                <c:pt idx="17">
                  <c:v>8.4220000000000006</c:v>
                </c:pt>
                <c:pt idx="18">
                  <c:v>10.4344</c:v>
                </c:pt>
                <c:pt idx="19">
                  <c:v>12.275499999999999</c:v>
                </c:pt>
              </c:numCache>
            </c:numRef>
          </c:val>
          <c:extLst>
            <c:ext xmlns:c16="http://schemas.microsoft.com/office/drawing/2014/chart" uri="{C3380CC4-5D6E-409C-BE32-E72D297353CC}">
              <c16:uniqueId val="{00000002-9F72-4BF1-A51B-518938F3778C}"/>
            </c:ext>
          </c:extLst>
        </c:ser>
        <c:dLbls>
          <c:dLblPos val="outEnd"/>
          <c:showLegendKey val="0"/>
          <c:showVal val="1"/>
          <c:showCatName val="0"/>
          <c:showSerName val="0"/>
          <c:showPercent val="0"/>
          <c:showBubbleSize val="0"/>
        </c:dLbls>
        <c:gapWidth val="101"/>
        <c:axId val="243317760"/>
        <c:axId val="243332224"/>
      </c:barChart>
      <c:lineChart>
        <c:grouping val="standard"/>
        <c:varyColors val="0"/>
        <c:ser>
          <c:idx val="2"/>
          <c:order val="2"/>
          <c:tx>
            <c:strRef>
              <c:f>燕郊!$D$1</c:f>
              <c:strCache>
                <c:ptCount val="1"/>
                <c:pt idx="0">
                  <c:v>成交均价(元/㎡)</c:v>
                </c:pt>
              </c:strCache>
            </c:strRef>
          </c:tx>
          <c:spPr>
            <a:ln>
              <a:solidFill>
                <a:srgbClr val="F79646">
                  <a:lumMod val="75000"/>
                </a:srgbClr>
              </a:solidFill>
            </a:ln>
          </c:spPr>
          <c:marker>
            <c:symbol val="diamond"/>
            <c:size val="7"/>
            <c:spPr>
              <a:solidFill>
                <a:srgbClr val="F79646">
                  <a:lumMod val="75000"/>
                </a:srgbClr>
              </a:solidFill>
              <a:ln>
                <a:solidFill>
                  <a:sysClr val="window" lastClr="FFFFFF"/>
                </a:solidFill>
              </a:ln>
            </c:spPr>
          </c:marker>
          <c:dLbls>
            <c:dLbl>
              <c:idx val="17"/>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9F72-4BF1-A51B-518938F3778C}"/>
                </c:ext>
              </c:extLst>
            </c:dLbl>
            <c:dLbl>
              <c:idx val="19"/>
              <c:spPr/>
              <c:txPr>
                <a:bodyPr/>
                <a:lstStyle/>
                <a:p>
                  <a:pPr>
                    <a:defRPr sz="1100" b="1">
                      <a:solidFill>
                        <a:srgbClr val="FF0000"/>
                      </a:solidFill>
                    </a:defRPr>
                  </a:pPr>
                  <a:endParaRPr lang="zh-CN"/>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9F72-4BF1-A51B-518938F3778C}"/>
                </c:ext>
              </c:extLst>
            </c:dLbl>
            <c:spPr>
              <a:noFill/>
              <a:ln>
                <a:noFill/>
              </a:ln>
              <a:effectLst/>
            </c:spPr>
            <c:txPr>
              <a:bodyPr/>
              <a:lstStyle/>
              <a:p>
                <a:pPr>
                  <a:defRPr sz="1100"/>
                </a:pPr>
                <a:endParaRPr lang="zh-CN"/>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燕郊!$A$14:$A$33</c:f>
              <c:strCache>
                <c:ptCount val="20"/>
                <c:pt idx="0">
                  <c:v>15/01</c:v>
                </c:pt>
                <c:pt idx="1">
                  <c:v>15/02</c:v>
                </c:pt>
                <c:pt idx="2">
                  <c:v>15/03</c:v>
                </c:pt>
                <c:pt idx="3">
                  <c:v>15/04</c:v>
                </c:pt>
                <c:pt idx="4">
                  <c:v>15/05</c:v>
                </c:pt>
                <c:pt idx="5">
                  <c:v>15/06</c:v>
                </c:pt>
                <c:pt idx="6">
                  <c:v>15/07</c:v>
                </c:pt>
                <c:pt idx="7">
                  <c:v>15/08</c:v>
                </c:pt>
                <c:pt idx="8">
                  <c:v>15/09</c:v>
                </c:pt>
                <c:pt idx="9">
                  <c:v>15/10</c:v>
                </c:pt>
                <c:pt idx="10">
                  <c:v>15/11</c:v>
                </c:pt>
                <c:pt idx="11">
                  <c:v>15/12</c:v>
                </c:pt>
                <c:pt idx="12">
                  <c:v>16/01</c:v>
                </c:pt>
                <c:pt idx="13">
                  <c:v>16/02</c:v>
                </c:pt>
                <c:pt idx="14">
                  <c:v>16/03</c:v>
                </c:pt>
                <c:pt idx="15">
                  <c:v>16/04</c:v>
                </c:pt>
                <c:pt idx="16">
                  <c:v>16/05</c:v>
                </c:pt>
                <c:pt idx="17">
                  <c:v>16/06</c:v>
                </c:pt>
                <c:pt idx="18">
                  <c:v>16/07</c:v>
                </c:pt>
                <c:pt idx="19">
                  <c:v>16/08</c:v>
                </c:pt>
              </c:strCache>
            </c:strRef>
          </c:cat>
          <c:val>
            <c:numRef>
              <c:f>燕郊!$D$14:$D$33</c:f>
              <c:numCache>
                <c:formatCode>General</c:formatCode>
                <c:ptCount val="20"/>
                <c:pt idx="0">
                  <c:v>9160</c:v>
                </c:pt>
                <c:pt idx="1">
                  <c:v>9423</c:v>
                </c:pt>
                <c:pt idx="2">
                  <c:v>9283</c:v>
                </c:pt>
                <c:pt idx="3">
                  <c:v>9940</c:v>
                </c:pt>
                <c:pt idx="4">
                  <c:v>10076</c:v>
                </c:pt>
                <c:pt idx="5">
                  <c:v>10109</c:v>
                </c:pt>
                <c:pt idx="6">
                  <c:v>10206</c:v>
                </c:pt>
                <c:pt idx="7">
                  <c:v>10743</c:v>
                </c:pt>
                <c:pt idx="8">
                  <c:v>12388</c:v>
                </c:pt>
                <c:pt idx="9">
                  <c:v>13222</c:v>
                </c:pt>
                <c:pt idx="10">
                  <c:v>12725</c:v>
                </c:pt>
                <c:pt idx="11">
                  <c:v>13528</c:v>
                </c:pt>
                <c:pt idx="12">
                  <c:v>14408</c:v>
                </c:pt>
                <c:pt idx="13">
                  <c:v>14257</c:v>
                </c:pt>
                <c:pt idx="14">
                  <c:v>16412</c:v>
                </c:pt>
                <c:pt idx="15">
                  <c:v>14838</c:v>
                </c:pt>
                <c:pt idx="16">
                  <c:v>11046</c:v>
                </c:pt>
                <c:pt idx="17">
                  <c:v>18117</c:v>
                </c:pt>
                <c:pt idx="18">
                  <c:v>16998</c:v>
                </c:pt>
                <c:pt idx="19">
                  <c:v>17199</c:v>
                </c:pt>
              </c:numCache>
            </c:numRef>
          </c:val>
          <c:smooth val="0"/>
          <c:extLst>
            <c:ext xmlns:c16="http://schemas.microsoft.com/office/drawing/2014/chart" uri="{C3380CC4-5D6E-409C-BE32-E72D297353CC}">
              <c16:uniqueId val="{00000005-9F72-4BF1-A51B-518938F3778C}"/>
            </c:ext>
          </c:extLst>
        </c:ser>
        <c:dLbls>
          <c:showLegendKey val="0"/>
          <c:showVal val="0"/>
          <c:showCatName val="0"/>
          <c:showSerName val="0"/>
          <c:showPercent val="0"/>
          <c:showBubbleSize val="0"/>
        </c:dLbls>
        <c:marker val="1"/>
        <c:smooth val="0"/>
        <c:axId val="242950912"/>
        <c:axId val="243333760"/>
      </c:lineChart>
      <c:catAx>
        <c:axId val="243317760"/>
        <c:scaling>
          <c:orientation val="minMax"/>
        </c:scaling>
        <c:delete val="0"/>
        <c:axPos val="b"/>
        <c:title>
          <c:tx>
            <c:rich>
              <a:bodyPr/>
              <a:lstStyle/>
              <a:p>
                <a:pPr>
                  <a:defRPr/>
                </a:pPr>
                <a:r>
                  <a:rPr lang="zh-CN" altLang="en-US"/>
                  <a:t>万㎡</a:t>
                </a:r>
              </a:p>
            </c:rich>
          </c:tx>
          <c:layout>
            <c:manualLayout>
              <c:xMode val="edge"/>
              <c:yMode val="edge"/>
              <c:x val="3.8853298684937104E-3"/>
              <c:y val="0.15333292953765396"/>
            </c:manualLayout>
          </c:layout>
          <c:overlay val="0"/>
        </c:title>
        <c:numFmt formatCode="General" sourceLinked="1"/>
        <c:majorTickMark val="out"/>
        <c:minorTickMark val="none"/>
        <c:tickLblPos val="nextTo"/>
        <c:spPr>
          <a:noFill/>
          <a:ln w="9525" cap="flat" cmpd="sng" algn="ctr">
            <a:solidFill>
              <a:schemeClr val="bg1">
                <a:lumMod val="95000"/>
              </a:schemeClr>
            </a:solidFill>
            <a:round/>
          </a:ln>
          <a:effectLst/>
        </c:spPr>
        <c:txPr>
          <a:bodyPr rot="-2100000" spcFirstLastPara="1" vertOverflow="ellipsis" vert="horz" wrap="square" anchor="ctr" anchorCtr="1"/>
          <a:lstStyle/>
          <a:p>
            <a:pPr>
              <a:defRPr sz="900" b="0" i="0" u="none" strike="noStrike" kern="1200" baseline="0">
                <a:solidFill>
                  <a:schemeClr val="tx1"/>
                </a:solidFill>
                <a:latin typeface="微软雅黑" pitchFamily="34" charset="-122"/>
                <a:ea typeface="微软雅黑" pitchFamily="34" charset="-122"/>
                <a:cs typeface="+mn-cs"/>
              </a:defRPr>
            </a:pPr>
            <a:endParaRPr lang="zh-CN"/>
          </a:p>
        </c:txPr>
        <c:crossAx val="243332224"/>
        <c:crosses val="autoZero"/>
        <c:auto val="1"/>
        <c:lblAlgn val="ctr"/>
        <c:lblOffset val="0"/>
        <c:tickLblSkip val="1"/>
        <c:noMultiLvlLbl val="0"/>
      </c:catAx>
      <c:valAx>
        <c:axId val="243332224"/>
        <c:scaling>
          <c:orientation val="minMax"/>
        </c:scaling>
        <c:delete val="0"/>
        <c:axPos val="l"/>
        <c:numFmt formatCode="0_ " sourceLinked="0"/>
        <c:majorTickMark val="out"/>
        <c:minorTickMark val="none"/>
        <c:tickLblPos val="nextTo"/>
        <c:txPr>
          <a:bodyPr/>
          <a:lstStyle/>
          <a:p>
            <a:pPr>
              <a:defRPr sz="900">
                <a:solidFill>
                  <a:schemeClr val="tx1"/>
                </a:solidFill>
                <a:latin typeface="微软雅黑" pitchFamily="34" charset="-122"/>
                <a:ea typeface="微软雅黑" pitchFamily="34" charset="-122"/>
              </a:defRPr>
            </a:pPr>
            <a:endParaRPr lang="zh-CN"/>
          </a:p>
        </c:txPr>
        <c:crossAx val="243317760"/>
        <c:crosses val="autoZero"/>
        <c:crossBetween val="between"/>
      </c:valAx>
      <c:valAx>
        <c:axId val="243333760"/>
        <c:scaling>
          <c:orientation val="minMax"/>
        </c:scaling>
        <c:delete val="0"/>
        <c:axPos val="r"/>
        <c:title>
          <c:tx>
            <c:rich>
              <a:bodyPr rot="0" vert="horz"/>
              <a:lstStyle/>
              <a:p>
                <a:pPr>
                  <a:defRPr/>
                </a:pPr>
                <a:r>
                  <a:rPr lang="zh-CN" altLang="en-US"/>
                  <a:t>元</a:t>
                </a:r>
                <a:r>
                  <a:rPr lang="en-US" altLang="zh-CN"/>
                  <a:t>/㎡</a:t>
                </a:r>
                <a:endParaRPr lang="zh-CN" altLang="en-US"/>
              </a:p>
            </c:rich>
          </c:tx>
          <c:layout>
            <c:manualLayout>
              <c:xMode val="edge"/>
              <c:yMode val="edge"/>
              <c:x val="0.94458067885817953"/>
              <c:y val="0.15133333333333332"/>
            </c:manualLayout>
          </c:layout>
          <c:overlay val="0"/>
        </c:title>
        <c:numFmt formatCode="General" sourceLinked="1"/>
        <c:majorTickMark val="out"/>
        <c:minorTickMark val="none"/>
        <c:tickLblPos val="nextTo"/>
        <c:txPr>
          <a:bodyPr/>
          <a:lstStyle/>
          <a:p>
            <a:pPr>
              <a:defRPr sz="900">
                <a:solidFill>
                  <a:schemeClr val="tx1"/>
                </a:solidFill>
                <a:latin typeface="微软雅黑" pitchFamily="34" charset="-122"/>
                <a:ea typeface="微软雅黑" pitchFamily="34" charset="-122"/>
              </a:defRPr>
            </a:pPr>
            <a:endParaRPr lang="zh-CN"/>
          </a:p>
        </c:txPr>
        <c:crossAx val="242950912"/>
        <c:crosses val="max"/>
        <c:crossBetween val="between"/>
      </c:valAx>
      <c:catAx>
        <c:axId val="242950912"/>
        <c:scaling>
          <c:orientation val="minMax"/>
        </c:scaling>
        <c:delete val="1"/>
        <c:axPos val="b"/>
        <c:numFmt formatCode="General" sourceLinked="1"/>
        <c:majorTickMark val="out"/>
        <c:minorTickMark val="none"/>
        <c:tickLblPos val="nextTo"/>
        <c:crossAx val="243333760"/>
        <c:crosses val="autoZero"/>
        <c:auto val="1"/>
        <c:lblAlgn val="ctr"/>
        <c:lblOffset val="100"/>
        <c:noMultiLvlLbl val="0"/>
      </c:catAx>
      <c:spPr>
        <a:noFill/>
        <a:ln>
          <a:noFill/>
        </a:ln>
        <a:effectLst/>
      </c:spPr>
    </c:plotArea>
    <c:legend>
      <c:legendPos val="b"/>
      <c:layout>
        <c:manualLayout>
          <c:xMode val="edge"/>
          <c:yMode val="edge"/>
          <c:x val="8.27503144654088E-2"/>
          <c:y val="0.13691257823541289"/>
          <c:w val="0.81261383647798746"/>
          <c:h val="0.12628709872804361"/>
        </c:manualLayout>
      </c:layout>
      <c:overlay val="0"/>
      <c:spPr>
        <a:noFill/>
        <a:ln>
          <a:noFill/>
        </a:ln>
        <a:effectLst/>
      </c:spPr>
      <c:txPr>
        <a:bodyPr rot="0" spcFirstLastPara="1" vertOverflow="ellipsis" vert="horz" wrap="square" anchor="ctr" anchorCtr="1"/>
        <a:lstStyle/>
        <a:p>
          <a:pPr>
            <a:defRPr sz="1000" b="1" i="0" u="none" strike="noStrike" kern="1200" baseline="0">
              <a:solidFill>
                <a:schemeClr val="tx1"/>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chart>
  <c:spPr>
    <a:noFill/>
    <a:ln w="9525" cap="flat" cmpd="sng" algn="ctr">
      <a:noFill/>
      <a:round/>
    </a:ln>
    <a:effectLst/>
  </c:spPr>
  <c:txPr>
    <a:bodyPr/>
    <a:lstStyle/>
    <a:p>
      <a:pPr>
        <a:defRPr/>
      </a:pPr>
      <a:endParaRPr lang="zh-CN"/>
    </a:p>
  </c:txPr>
  <c:externalData r:id="rId2">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400"/>
            </a:pPr>
            <a:r>
              <a:rPr lang="zh-CN" altLang="en-US" sz="1400"/>
              <a:t>燕郊</a:t>
            </a:r>
            <a:r>
              <a:rPr lang="en-US" altLang="zh-CN" sz="1400"/>
              <a:t>2015.01-2016.08</a:t>
            </a:r>
            <a:r>
              <a:rPr lang="zh-CN" altLang="en-US" sz="1400"/>
              <a:t>商品房去化情况</a:t>
            </a:r>
          </a:p>
        </c:rich>
      </c:tx>
      <c:layout>
        <c:manualLayout>
          <c:xMode val="edge"/>
          <c:yMode val="edge"/>
          <c:x val="0.27846216358134146"/>
          <c:y val="0"/>
        </c:manualLayout>
      </c:layout>
      <c:overlay val="0"/>
    </c:title>
    <c:autoTitleDeleted val="0"/>
    <c:plotArea>
      <c:layout>
        <c:manualLayout>
          <c:layoutTarget val="inner"/>
          <c:xMode val="edge"/>
          <c:yMode val="edge"/>
          <c:x val="7.610012432962189E-2"/>
          <c:y val="0.22518653100775193"/>
          <c:w val="0.87244798011173175"/>
          <c:h val="0.59635780038759689"/>
        </c:manualLayout>
      </c:layout>
      <c:barChart>
        <c:barDir val="col"/>
        <c:grouping val="clustered"/>
        <c:varyColors val="0"/>
        <c:ser>
          <c:idx val="0"/>
          <c:order val="0"/>
          <c:tx>
            <c:strRef>
              <c:f>燕郊!$M$1</c:f>
              <c:strCache>
                <c:ptCount val="1"/>
                <c:pt idx="0">
                  <c:v>可售套数</c:v>
                </c:pt>
              </c:strCache>
            </c:strRef>
          </c:tx>
          <c:spPr>
            <a:solidFill>
              <a:srgbClr val="FFC000"/>
            </a:solidFill>
            <a:ln>
              <a:solidFill>
                <a:srgbClr val="FFC000"/>
              </a:solidFill>
            </a:ln>
          </c:spPr>
          <c:invertIfNegative val="0"/>
          <c:cat>
            <c:strRef>
              <c:f>燕郊!$L$2:$L$21</c:f>
              <c:strCache>
                <c:ptCount val="20"/>
                <c:pt idx="0">
                  <c:v>15/01</c:v>
                </c:pt>
                <c:pt idx="1">
                  <c:v>15/02</c:v>
                </c:pt>
                <c:pt idx="2">
                  <c:v>15/03</c:v>
                </c:pt>
                <c:pt idx="3">
                  <c:v>15/04</c:v>
                </c:pt>
                <c:pt idx="4">
                  <c:v>15/05</c:v>
                </c:pt>
                <c:pt idx="5">
                  <c:v>15/06</c:v>
                </c:pt>
                <c:pt idx="6">
                  <c:v>15/07</c:v>
                </c:pt>
                <c:pt idx="7">
                  <c:v>15/08</c:v>
                </c:pt>
                <c:pt idx="8">
                  <c:v>15/09</c:v>
                </c:pt>
                <c:pt idx="9">
                  <c:v>15/10</c:v>
                </c:pt>
                <c:pt idx="10">
                  <c:v>15/11</c:v>
                </c:pt>
                <c:pt idx="11">
                  <c:v>15/12</c:v>
                </c:pt>
                <c:pt idx="12">
                  <c:v>16/01</c:v>
                </c:pt>
                <c:pt idx="13">
                  <c:v>16/02</c:v>
                </c:pt>
                <c:pt idx="14">
                  <c:v>16/03</c:v>
                </c:pt>
                <c:pt idx="15">
                  <c:v>16/04</c:v>
                </c:pt>
                <c:pt idx="16">
                  <c:v>16/05</c:v>
                </c:pt>
                <c:pt idx="17">
                  <c:v>16/06</c:v>
                </c:pt>
                <c:pt idx="18">
                  <c:v>16/07</c:v>
                </c:pt>
                <c:pt idx="19">
                  <c:v>16/08</c:v>
                </c:pt>
              </c:strCache>
            </c:strRef>
          </c:cat>
          <c:val>
            <c:numRef>
              <c:f>燕郊!$M$2:$M$21</c:f>
              <c:numCache>
                <c:formatCode>General</c:formatCode>
                <c:ptCount val="20"/>
                <c:pt idx="0">
                  <c:v>21541</c:v>
                </c:pt>
                <c:pt idx="1">
                  <c:v>21077</c:v>
                </c:pt>
                <c:pt idx="2">
                  <c:v>20208</c:v>
                </c:pt>
                <c:pt idx="3">
                  <c:v>19404</c:v>
                </c:pt>
                <c:pt idx="4">
                  <c:v>17862</c:v>
                </c:pt>
                <c:pt idx="5">
                  <c:v>16501</c:v>
                </c:pt>
                <c:pt idx="6">
                  <c:v>14748</c:v>
                </c:pt>
                <c:pt idx="7">
                  <c:v>13829</c:v>
                </c:pt>
                <c:pt idx="8">
                  <c:v>15752</c:v>
                </c:pt>
                <c:pt idx="9">
                  <c:v>14937</c:v>
                </c:pt>
                <c:pt idx="10">
                  <c:v>13421</c:v>
                </c:pt>
                <c:pt idx="11">
                  <c:v>11322</c:v>
                </c:pt>
                <c:pt idx="12">
                  <c:v>9575</c:v>
                </c:pt>
                <c:pt idx="13">
                  <c:v>8812</c:v>
                </c:pt>
                <c:pt idx="14">
                  <c:v>6477</c:v>
                </c:pt>
                <c:pt idx="15">
                  <c:v>4400</c:v>
                </c:pt>
                <c:pt idx="16">
                  <c:v>3752</c:v>
                </c:pt>
                <c:pt idx="17">
                  <c:v>2994</c:v>
                </c:pt>
                <c:pt idx="18">
                  <c:v>2364</c:v>
                </c:pt>
                <c:pt idx="19">
                  <c:v>1357</c:v>
                </c:pt>
              </c:numCache>
            </c:numRef>
          </c:val>
          <c:extLst>
            <c:ext xmlns:c16="http://schemas.microsoft.com/office/drawing/2014/chart" uri="{C3380CC4-5D6E-409C-BE32-E72D297353CC}">
              <c16:uniqueId val="{00000000-C6CC-4A5B-8217-894CBD9FF2BC}"/>
            </c:ext>
          </c:extLst>
        </c:ser>
        <c:dLbls>
          <c:showLegendKey val="0"/>
          <c:showVal val="0"/>
          <c:showCatName val="0"/>
          <c:showSerName val="0"/>
          <c:showPercent val="0"/>
          <c:showBubbleSize val="0"/>
        </c:dLbls>
        <c:gapWidth val="150"/>
        <c:axId val="242986368"/>
        <c:axId val="242992256"/>
      </c:barChart>
      <c:lineChart>
        <c:grouping val="standard"/>
        <c:varyColors val="0"/>
        <c:ser>
          <c:idx val="1"/>
          <c:order val="1"/>
          <c:tx>
            <c:strRef>
              <c:f>燕郊!$N$1</c:f>
              <c:strCache>
                <c:ptCount val="1"/>
                <c:pt idx="0">
                  <c:v>去化周期</c:v>
                </c:pt>
              </c:strCache>
            </c:strRef>
          </c:tx>
          <c:spPr>
            <a:ln>
              <a:solidFill>
                <a:srgbClr val="0070C0"/>
              </a:solidFill>
            </a:ln>
          </c:spPr>
          <c:marker>
            <c:symbol val="none"/>
          </c:marker>
          <c:dLbls>
            <c:dLbl>
              <c:idx val="19"/>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6CC-4A5B-8217-894CBD9FF2BC}"/>
                </c:ext>
              </c:extLst>
            </c:dLbl>
            <c:spPr>
              <a:noFill/>
              <a:ln>
                <a:noFill/>
              </a:ln>
              <a:effectLst/>
            </c:spPr>
            <c:txPr>
              <a:bodyPr/>
              <a:lstStyle/>
              <a:p>
                <a:pPr>
                  <a:defRPr sz="1100" b="1">
                    <a:solidFill>
                      <a:srgbClr val="FF0000"/>
                    </a:solidFill>
                  </a:defRPr>
                </a:pPr>
                <a:endParaRPr lang="zh-CN"/>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燕郊!$L$2:$L$21</c:f>
              <c:strCache>
                <c:ptCount val="20"/>
                <c:pt idx="0">
                  <c:v>15/01</c:v>
                </c:pt>
                <c:pt idx="1">
                  <c:v>15/02</c:v>
                </c:pt>
                <c:pt idx="2">
                  <c:v>15/03</c:v>
                </c:pt>
                <c:pt idx="3">
                  <c:v>15/04</c:v>
                </c:pt>
                <c:pt idx="4">
                  <c:v>15/05</c:v>
                </c:pt>
                <c:pt idx="5">
                  <c:v>15/06</c:v>
                </c:pt>
                <c:pt idx="6">
                  <c:v>15/07</c:v>
                </c:pt>
                <c:pt idx="7">
                  <c:v>15/08</c:v>
                </c:pt>
                <c:pt idx="8">
                  <c:v>15/09</c:v>
                </c:pt>
                <c:pt idx="9">
                  <c:v>15/10</c:v>
                </c:pt>
                <c:pt idx="10">
                  <c:v>15/11</c:v>
                </c:pt>
                <c:pt idx="11">
                  <c:v>15/12</c:v>
                </c:pt>
                <c:pt idx="12">
                  <c:v>16/01</c:v>
                </c:pt>
                <c:pt idx="13">
                  <c:v>16/02</c:v>
                </c:pt>
                <c:pt idx="14">
                  <c:v>16/03</c:v>
                </c:pt>
                <c:pt idx="15">
                  <c:v>16/04</c:v>
                </c:pt>
                <c:pt idx="16">
                  <c:v>16/05</c:v>
                </c:pt>
                <c:pt idx="17">
                  <c:v>16/06</c:v>
                </c:pt>
                <c:pt idx="18">
                  <c:v>16/07</c:v>
                </c:pt>
                <c:pt idx="19">
                  <c:v>16/08</c:v>
                </c:pt>
              </c:strCache>
            </c:strRef>
          </c:cat>
          <c:val>
            <c:numRef>
              <c:f>燕郊!$N$2:$N$21</c:f>
              <c:numCache>
                <c:formatCode>0.0</c:formatCode>
                <c:ptCount val="20"/>
                <c:pt idx="0">
                  <c:v>20.726994401679498</c:v>
                </c:pt>
                <c:pt idx="1">
                  <c:v>19.9816426786176</c:v>
                </c:pt>
                <c:pt idx="2">
                  <c:v>17.247672253258845</c:v>
                </c:pt>
                <c:pt idx="3">
                  <c:v>16.375835150151204</c:v>
                </c:pt>
                <c:pt idx="4">
                  <c:v>13.605687444458551</c:v>
                </c:pt>
                <c:pt idx="5">
                  <c:v>11.235360871538811</c:v>
                </c:pt>
                <c:pt idx="6">
                  <c:v>9.2827694728560193</c:v>
                </c:pt>
                <c:pt idx="7">
                  <c:v>8.0370011623401787</c:v>
                </c:pt>
                <c:pt idx="8">
                  <c:v>8.7099806469449828</c:v>
                </c:pt>
                <c:pt idx="9">
                  <c:v>8.33615477629988</c:v>
                </c:pt>
                <c:pt idx="10">
                  <c:v>7.5145576707726764</c:v>
                </c:pt>
                <c:pt idx="11">
                  <c:v>6.3192558139534878</c:v>
                </c:pt>
                <c:pt idx="12">
                  <c:v>5.4522160007592291</c:v>
                </c:pt>
                <c:pt idx="13">
                  <c:v>4.9475506480138494</c:v>
                </c:pt>
                <c:pt idx="14">
                  <c:v>3.3976219618814478</c:v>
                </c:pt>
                <c:pt idx="15">
                  <c:v>2.1225277375783889</c:v>
                </c:pt>
                <c:pt idx="16">
                  <c:v>1.9029585798816568</c:v>
                </c:pt>
                <c:pt idx="17">
                  <c:v>1.5997862676997061</c:v>
                </c:pt>
                <c:pt idx="18">
                  <c:v>1.2989605751179083</c:v>
                </c:pt>
                <c:pt idx="19">
                  <c:v>0.76623376623376627</c:v>
                </c:pt>
              </c:numCache>
            </c:numRef>
          </c:val>
          <c:smooth val="0"/>
          <c:extLst>
            <c:ext xmlns:c16="http://schemas.microsoft.com/office/drawing/2014/chart" uri="{C3380CC4-5D6E-409C-BE32-E72D297353CC}">
              <c16:uniqueId val="{00000002-C6CC-4A5B-8217-894CBD9FF2BC}"/>
            </c:ext>
          </c:extLst>
        </c:ser>
        <c:dLbls>
          <c:showLegendKey val="0"/>
          <c:showVal val="0"/>
          <c:showCatName val="0"/>
          <c:showSerName val="0"/>
          <c:showPercent val="0"/>
          <c:showBubbleSize val="0"/>
        </c:dLbls>
        <c:marker val="1"/>
        <c:smooth val="0"/>
        <c:axId val="243000448"/>
        <c:axId val="242994176"/>
      </c:lineChart>
      <c:catAx>
        <c:axId val="242986368"/>
        <c:scaling>
          <c:orientation val="minMax"/>
        </c:scaling>
        <c:delete val="0"/>
        <c:axPos val="b"/>
        <c:numFmt formatCode="General" sourceLinked="0"/>
        <c:majorTickMark val="none"/>
        <c:minorTickMark val="none"/>
        <c:tickLblPos val="nextTo"/>
        <c:txPr>
          <a:bodyPr rot="-2880000"/>
          <a:lstStyle/>
          <a:p>
            <a:pPr>
              <a:defRPr/>
            </a:pPr>
            <a:endParaRPr lang="zh-CN"/>
          </a:p>
        </c:txPr>
        <c:crossAx val="242992256"/>
        <c:crosses val="autoZero"/>
        <c:auto val="1"/>
        <c:lblAlgn val="ctr"/>
        <c:lblOffset val="0"/>
        <c:tickLblSkip val="1"/>
        <c:noMultiLvlLbl val="0"/>
      </c:catAx>
      <c:valAx>
        <c:axId val="242992256"/>
        <c:scaling>
          <c:orientation val="minMax"/>
          <c:max val="25000"/>
          <c:min val="0"/>
        </c:scaling>
        <c:delete val="0"/>
        <c:axPos val="l"/>
        <c:title>
          <c:tx>
            <c:rich>
              <a:bodyPr rot="0" vert="horz"/>
              <a:lstStyle/>
              <a:p>
                <a:pPr>
                  <a:defRPr/>
                </a:pPr>
                <a:r>
                  <a:rPr lang="zh-CN" altLang="en-US"/>
                  <a:t>套</a:t>
                </a:r>
                <a:endParaRPr lang="zh-CN"/>
              </a:p>
            </c:rich>
          </c:tx>
          <c:layout>
            <c:manualLayout>
              <c:xMode val="edge"/>
              <c:yMode val="edge"/>
              <c:x val="1.5974842767295598E-2"/>
              <c:y val="9.4875645994832059E-2"/>
            </c:manualLayout>
          </c:layout>
          <c:overlay val="0"/>
        </c:title>
        <c:numFmt formatCode="General" sourceLinked="1"/>
        <c:majorTickMark val="out"/>
        <c:minorTickMark val="none"/>
        <c:tickLblPos val="nextTo"/>
        <c:crossAx val="242986368"/>
        <c:crosses val="autoZero"/>
        <c:crossBetween val="between"/>
        <c:majorUnit val="5000"/>
      </c:valAx>
      <c:valAx>
        <c:axId val="242994176"/>
        <c:scaling>
          <c:orientation val="minMax"/>
          <c:max val="25"/>
          <c:min val="0"/>
        </c:scaling>
        <c:delete val="0"/>
        <c:axPos val="r"/>
        <c:title>
          <c:tx>
            <c:rich>
              <a:bodyPr rot="0" vert="horz"/>
              <a:lstStyle/>
              <a:p>
                <a:pPr>
                  <a:defRPr/>
                </a:pPr>
                <a:r>
                  <a:rPr lang="zh-CN"/>
                  <a:t>月</a:t>
                </a:r>
              </a:p>
            </c:rich>
          </c:tx>
          <c:layout>
            <c:manualLayout>
              <c:xMode val="edge"/>
              <c:yMode val="edge"/>
              <c:x val="0.97040890724350704"/>
              <c:y val="9.0091650516795865E-2"/>
            </c:manualLayout>
          </c:layout>
          <c:overlay val="0"/>
        </c:title>
        <c:numFmt formatCode="#,##0_);[Red]\(#,##0\)" sourceLinked="0"/>
        <c:majorTickMark val="out"/>
        <c:minorTickMark val="none"/>
        <c:tickLblPos val="nextTo"/>
        <c:crossAx val="243000448"/>
        <c:crosses val="max"/>
        <c:crossBetween val="between"/>
        <c:majorUnit val="5"/>
      </c:valAx>
      <c:catAx>
        <c:axId val="243000448"/>
        <c:scaling>
          <c:orientation val="minMax"/>
        </c:scaling>
        <c:delete val="1"/>
        <c:axPos val="b"/>
        <c:numFmt formatCode="General" sourceLinked="1"/>
        <c:majorTickMark val="out"/>
        <c:minorTickMark val="none"/>
        <c:tickLblPos val="nextTo"/>
        <c:crossAx val="242994176"/>
        <c:crosses val="autoZero"/>
        <c:auto val="1"/>
        <c:lblAlgn val="ctr"/>
        <c:lblOffset val="100"/>
        <c:noMultiLvlLbl val="0"/>
      </c:catAx>
      <c:spPr>
        <a:noFill/>
      </c:spPr>
    </c:plotArea>
    <c:legend>
      <c:legendPos val="t"/>
      <c:layout>
        <c:manualLayout>
          <c:xMode val="edge"/>
          <c:yMode val="edge"/>
          <c:x val="0.2240173027486376"/>
          <c:y val="0.14594557493540053"/>
          <c:w val="0.48541404612159328"/>
          <c:h val="9.0292493974906074E-2"/>
        </c:manualLayout>
      </c:layout>
      <c:overlay val="0"/>
    </c:legend>
    <c:plotVisOnly val="1"/>
    <c:dispBlanksAs val="gap"/>
    <c:showDLblsOverMax val="0"/>
  </c:chart>
  <c:spPr>
    <a:noFill/>
    <a:ln>
      <a:noFill/>
    </a:ln>
  </c:spPr>
  <c:txPr>
    <a:bodyPr/>
    <a:lstStyle/>
    <a:p>
      <a:pPr>
        <a:defRPr>
          <a:latin typeface="微软雅黑" pitchFamily="34" charset="-122"/>
          <a:ea typeface="微软雅黑" pitchFamily="34" charset="-122"/>
        </a:defRPr>
      </a:pPr>
      <a:endParaRPr lang="zh-CN"/>
    </a:p>
  </c:txPr>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sz="1400"/>
            </a:pPr>
            <a:r>
              <a:rPr lang="zh-CN" sz="1400" dirty="0"/>
              <a:t>燕郊</a:t>
            </a:r>
            <a:r>
              <a:rPr lang="en-US" sz="1400" dirty="0"/>
              <a:t>2015.01-2016.08</a:t>
            </a:r>
            <a:r>
              <a:rPr lang="zh-CN" sz="1400" dirty="0"/>
              <a:t>商品住宅成交情况</a:t>
            </a:r>
          </a:p>
        </c:rich>
      </c:tx>
      <c:layout>
        <c:manualLayout>
          <c:xMode val="edge"/>
          <c:yMode val="edge"/>
          <c:x val="0.28333420896743838"/>
          <c:y val="3.5015067560999319E-3"/>
        </c:manualLayout>
      </c:layout>
      <c:overlay val="0"/>
    </c:title>
    <c:autoTitleDeleted val="0"/>
    <c:plotArea>
      <c:layout>
        <c:manualLayout>
          <c:layoutTarget val="inner"/>
          <c:xMode val="edge"/>
          <c:yMode val="edge"/>
          <c:x val="7.7009656715293542E-2"/>
          <c:y val="0.24725646794150699"/>
          <c:w val="0.8492504155092313"/>
          <c:h val="0.55688500048605039"/>
        </c:manualLayout>
      </c:layout>
      <c:barChart>
        <c:barDir val="col"/>
        <c:grouping val="clustered"/>
        <c:varyColors val="0"/>
        <c:ser>
          <c:idx val="0"/>
          <c:order val="0"/>
          <c:tx>
            <c:strRef>
              <c:f>燕郊!$B$41</c:f>
              <c:strCache>
                <c:ptCount val="1"/>
                <c:pt idx="0">
                  <c:v>商品住宅</c:v>
                </c:pt>
              </c:strCache>
            </c:strRef>
          </c:tx>
          <c:spPr>
            <a:solidFill>
              <a:srgbClr val="0070C0"/>
            </a:solidFill>
            <a:ln>
              <a:noFill/>
            </a:ln>
            <a:effectLst/>
          </c:spPr>
          <c:invertIfNegative val="0"/>
          <c:cat>
            <c:strRef>
              <c:f>燕郊!$A$42:$A$61</c:f>
              <c:strCache>
                <c:ptCount val="20"/>
                <c:pt idx="0">
                  <c:v>15/01</c:v>
                </c:pt>
                <c:pt idx="1">
                  <c:v>15/02</c:v>
                </c:pt>
                <c:pt idx="2">
                  <c:v>15/03</c:v>
                </c:pt>
                <c:pt idx="3">
                  <c:v>15/04</c:v>
                </c:pt>
                <c:pt idx="4">
                  <c:v>15/05</c:v>
                </c:pt>
                <c:pt idx="5">
                  <c:v>15/06</c:v>
                </c:pt>
                <c:pt idx="6">
                  <c:v>15/07</c:v>
                </c:pt>
                <c:pt idx="7">
                  <c:v>15/08</c:v>
                </c:pt>
                <c:pt idx="8">
                  <c:v>15/09</c:v>
                </c:pt>
                <c:pt idx="9">
                  <c:v>15/10</c:v>
                </c:pt>
                <c:pt idx="10">
                  <c:v>15/11</c:v>
                </c:pt>
                <c:pt idx="11">
                  <c:v>15/12</c:v>
                </c:pt>
                <c:pt idx="12">
                  <c:v>16/01</c:v>
                </c:pt>
                <c:pt idx="13">
                  <c:v>16/02</c:v>
                </c:pt>
                <c:pt idx="14">
                  <c:v>16/03</c:v>
                </c:pt>
                <c:pt idx="15">
                  <c:v>16/04</c:v>
                </c:pt>
                <c:pt idx="16">
                  <c:v>16/05</c:v>
                </c:pt>
                <c:pt idx="17">
                  <c:v>16/06</c:v>
                </c:pt>
                <c:pt idx="18">
                  <c:v>16/07</c:v>
                </c:pt>
                <c:pt idx="19">
                  <c:v>16/08</c:v>
                </c:pt>
              </c:strCache>
            </c:strRef>
          </c:cat>
          <c:val>
            <c:numRef>
              <c:f>燕郊!$B$42:$B$61</c:f>
              <c:numCache>
                <c:formatCode>General</c:formatCode>
                <c:ptCount val="20"/>
                <c:pt idx="0">
                  <c:v>2479</c:v>
                </c:pt>
                <c:pt idx="1">
                  <c:v>464</c:v>
                </c:pt>
                <c:pt idx="2">
                  <c:v>1835</c:v>
                </c:pt>
                <c:pt idx="3">
                  <c:v>1331</c:v>
                </c:pt>
                <c:pt idx="4">
                  <c:v>1942</c:v>
                </c:pt>
                <c:pt idx="5">
                  <c:v>2122</c:v>
                </c:pt>
                <c:pt idx="6">
                  <c:v>1747</c:v>
                </c:pt>
                <c:pt idx="7">
                  <c:v>1910</c:v>
                </c:pt>
                <c:pt idx="8">
                  <c:v>1767</c:v>
                </c:pt>
                <c:pt idx="9">
                  <c:v>1314</c:v>
                </c:pt>
                <c:pt idx="10">
                  <c:v>2066</c:v>
                </c:pt>
                <c:pt idx="11">
                  <c:v>2515</c:v>
                </c:pt>
                <c:pt idx="12">
                  <c:v>2053</c:v>
                </c:pt>
                <c:pt idx="13">
                  <c:v>763</c:v>
                </c:pt>
                <c:pt idx="14">
                  <c:v>3338</c:v>
                </c:pt>
                <c:pt idx="15">
                  <c:v>3330</c:v>
                </c:pt>
                <c:pt idx="16">
                  <c:v>723</c:v>
                </c:pt>
                <c:pt idx="17">
                  <c:v>920</c:v>
                </c:pt>
                <c:pt idx="18">
                  <c:v>1134</c:v>
                </c:pt>
                <c:pt idx="19">
                  <c:v>1323</c:v>
                </c:pt>
              </c:numCache>
            </c:numRef>
          </c:val>
          <c:extLst>
            <c:ext xmlns:c16="http://schemas.microsoft.com/office/drawing/2014/chart" uri="{C3380CC4-5D6E-409C-BE32-E72D297353CC}">
              <c16:uniqueId val="{00000000-036B-43E9-A8D7-C1858C582922}"/>
            </c:ext>
          </c:extLst>
        </c:ser>
        <c:ser>
          <c:idx val="1"/>
          <c:order val="1"/>
          <c:tx>
            <c:strRef>
              <c:f>燕郊!$C$41</c:f>
              <c:strCache>
                <c:ptCount val="1"/>
                <c:pt idx="0">
                  <c:v>商品房</c:v>
                </c:pt>
              </c:strCache>
            </c:strRef>
          </c:tx>
          <c:spPr>
            <a:solidFill>
              <a:srgbClr val="F79646">
                <a:lumMod val="75000"/>
              </a:srgbClr>
            </a:solidFill>
            <a:ln>
              <a:noFill/>
            </a:ln>
            <a:effectLst/>
          </c:spPr>
          <c:invertIfNegative val="0"/>
          <c:cat>
            <c:strRef>
              <c:f>燕郊!$A$42:$A$61</c:f>
              <c:strCache>
                <c:ptCount val="20"/>
                <c:pt idx="0">
                  <c:v>15/01</c:v>
                </c:pt>
                <c:pt idx="1">
                  <c:v>15/02</c:v>
                </c:pt>
                <c:pt idx="2">
                  <c:v>15/03</c:v>
                </c:pt>
                <c:pt idx="3">
                  <c:v>15/04</c:v>
                </c:pt>
                <c:pt idx="4">
                  <c:v>15/05</c:v>
                </c:pt>
                <c:pt idx="5">
                  <c:v>15/06</c:v>
                </c:pt>
                <c:pt idx="6">
                  <c:v>15/07</c:v>
                </c:pt>
                <c:pt idx="7">
                  <c:v>15/08</c:v>
                </c:pt>
                <c:pt idx="8">
                  <c:v>15/09</c:v>
                </c:pt>
                <c:pt idx="9">
                  <c:v>15/10</c:v>
                </c:pt>
                <c:pt idx="10">
                  <c:v>15/11</c:v>
                </c:pt>
                <c:pt idx="11">
                  <c:v>15/12</c:v>
                </c:pt>
                <c:pt idx="12">
                  <c:v>16/01</c:v>
                </c:pt>
                <c:pt idx="13">
                  <c:v>16/02</c:v>
                </c:pt>
                <c:pt idx="14">
                  <c:v>16/03</c:v>
                </c:pt>
                <c:pt idx="15">
                  <c:v>16/04</c:v>
                </c:pt>
                <c:pt idx="16">
                  <c:v>16/05</c:v>
                </c:pt>
                <c:pt idx="17">
                  <c:v>16/06</c:v>
                </c:pt>
                <c:pt idx="18">
                  <c:v>16/07</c:v>
                </c:pt>
                <c:pt idx="19">
                  <c:v>16/08</c:v>
                </c:pt>
              </c:strCache>
            </c:strRef>
          </c:cat>
          <c:val>
            <c:numRef>
              <c:f>燕郊!$C$42:$C$61</c:f>
              <c:numCache>
                <c:formatCode>General</c:formatCode>
                <c:ptCount val="20"/>
                <c:pt idx="0">
                  <c:v>2479</c:v>
                </c:pt>
                <c:pt idx="1">
                  <c:v>464</c:v>
                </c:pt>
                <c:pt idx="2">
                  <c:v>1835</c:v>
                </c:pt>
                <c:pt idx="3">
                  <c:v>1331</c:v>
                </c:pt>
                <c:pt idx="4">
                  <c:v>1942</c:v>
                </c:pt>
                <c:pt idx="5">
                  <c:v>2124</c:v>
                </c:pt>
                <c:pt idx="6">
                  <c:v>1753</c:v>
                </c:pt>
                <c:pt idx="7">
                  <c:v>1910</c:v>
                </c:pt>
                <c:pt idx="8">
                  <c:v>1767</c:v>
                </c:pt>
                <c:pt idx="9">
                  <c:v>1314</c:v>
                </c:pt>
                <c:pt idx="10">
                  <c:v>2066</c:v>
                </c:pt>
                <c:pt idx="11">
                  <c:v>2515</c:v>
                </c:pt>
                <c:pt idx="12">
                  <c:v>2053</c:v>
                </c:pt>
                <c:pt idx="13">
                  <c:v>763</c:v>
                </c:pt>
                <c:pt idx="14">
                  <c:v>3338</c:v>
                </c:pt>
                <c:pt idx="15">
                  <c:v>3331</c:v>
                </c:pt>
                <c:pt idx="16">
                  <c:v>726</c:v>
                </c:pt>
                <c:pt idx="17">
                  <c:v>922</c:v>
                </c:pt>
                <c:pt idx="18">
                  <c:v>1134</c:v>
                </c:pt>
                <c:pt idx="19">
                  <c:v>1323</c:v>
                </c:pt>
              </c:numCache>
            </c:numRef>
          </c:val>
          <c:extLst>
            <c:ext xmlns:c16="http://schemas.microsoft.com/office/drawing/2014/chart" uri="{C3380CC4-5D6E-409C-BE32-E72D297353CC}">
              <c16:uniqueId val="{00000001-036B-43E9-A8D7-C1858C582922}"/>
            </c:ext>
          </c:extLst>
        </c:ser>
        <c:dLbls>
          <c:showLegendKey val="0"/>
          <c:showVal val="0"/>
          <c:showCatName val="0"/>
          <c:showSerName val="0"/>
          <c:showPercent val="0"/>
          <c:showBubbleSize val="0"/>
        </c:dLbls>
        <c:gapWidth val="219"/>
        <c:axId val="243050368"/>
        <c:axId val="243051904"/>
      </c:barChart>
      <c:lineChart>
        <c:grouping val="standard"/>
        <c:varyColors val="0"/>
        <c:ser>
          <c:idx val="2"/>
          <c:order val="2"/>
          <c:tx>
            <c:strRef>
              <c:f>燕郊!$D$41</c:f>
              <c:strCache>
                <c:ptCount val="1"/>
                <c:pt idx="0">
                  <c:v>成交占比</c:v>
                </c:pt>
              </c:strCache>
            </c:strRef>
          </c:tx>
          <c:spPr>
            <a:ln w="31750">
              <a:solidFill>
                <a:srgbClr val="4BACC6">
                  <a:lumMod val="75000"/>
                </a:srgbClr>
              </a:solidFill>
            </a:ln>
          </c:spPr>
          <c:marker>
            <c:symbol val="square"/>
            <c:size val="5"/>
          </c:marker>
          <c:dLbls>
            <c:dLbl>
              <c:idx val="0"/>
              <c:delete val="1"/>
              <c:extLst>
                <c:ext xmlns:c15="http://schemas.microsoft.com/office/drawing/2012/chart" uri="{CE6537A1-D6FC-4f65-9D91-7224C49458BB}"/>
                <c:ext xmlns:c16="http://schemas.microsoft.com/office/drawing/2014/chart" uri="{C3380CC4-5D6E-409C-BE32-E72D297353CC}">
                  <c16:uniqueId val="{00000002-036B-43E9-A8D7-C1858C582922}"/>
                </c:ext>
              </c:extLst>
            </c:dLbl>
            <c:dLbl>
              <c:idx val="2"/>
              <c:delete val="1"/>
              <c:extLst>
                <c:ext xmlns:c15="http://schemas.microsoft.com/office/drawing/2012/chart" uri="{CE6537A1-D6FC-4f65-9D91-7224C49458BB}"/>
                <c:ext xmlns:c16="http://schemas.microsoft.com/office/drawing/2014/chart" uri="{C3380CC4-5D6E-409C-BE32-E72D297353CC}">
                  <c16:uniqueId val="{00000003-036B-43E9-A8D7-C1858C582922}"/>
                </c:ext>
              </c:extLst>
            </c:dLbl>
            <c:dLbl>
              <c:idx val="4"/>
              <c:delete val="1"/>
              <c:extLst>
                <c:ext xmlns:c15="http://schemas.microsoft.com/office/drawing/2012/chart" uri="{CE6537A1-D6FC-4f65-9D91-7224C49458BB}"/>
                <c:ext xmlns:c16="http://schemas.microsoft.com/office/drawing/2014/chart" uri="{C3380CC4-5D6E-409C-BE32-E72D297353CC}">
                  <c16:uniqueId val="{00000004-036B-43E9-A8D7-C1858C582922}"/>
                </c:ext>
              </c:extLst>
            </c:dLbl>
            <c:dLbl>
              <c:idx val="6"/>
              <c:delete val="1"/>
              <c:extLst>
                <c:ext xmlns:c15="http://schemas.microsoft.com/office/drawing/2012/chart" uri="{CE6537A1-D6FC-4f65-9D91-7224C49458BB}"/>
                <c:ext xmlns:c16="http://schemas.microsoft.com/office/drawing/2014/chart" uri="{C3380CC4-5D6E-409C-BE32-E72D297353CC}">
                  <c16:uniqueId val="{00000005-036B-43E9-A8D7-C1858C582922}"/>
                </c:ext>
              </c:extLst>
            </c:dLbl>
            <c:dLbl>
              <c:idx val="8"/>
              <c:delete val="1"/>
              <c:extLst>
                <c:ext xmlns:c15="http://schemas.microsoft.com/office/drawing/2012/chart" uri="{CE6537A1-D6FC-4f65-9D91-7224C49458BB}"/>
                <c:ext xmlns:c16="http://schemas.microsoft.com/office/drawing/2014/chart" uri="{C3380CC4-5D6E-409C-BE32-E72D297353CC}">
                  <c16:uniqueId val="{00000006-036B-43E9-A8D7-C1858C582922}"/>
                </c:ext>
              </c:extLst>
            </c:dLbl>
            <c:dLbl>
              <c:idx val="10"/>
              <c:delete val="1"/>
              <c:extLst>
                <c:ext xmlns:c15="http://schemas.microsoft.com/office/drawing/2012/chart" uri="{CE6537A1-D6FC-4f65-9D91-7224C49458BB}"/>
                <c:ext xmlns:c16="http://schemas.microsoft.com/office/drawing/2014/chart" uri="{C3380CC4-5D6E-409C-BE32-E72D297353CC}">
                  <c16:uniqueId val="{00000007-036B-43E9-A8D7-C1858C582922}"/>
                </c:ext>
              </c:extLst>
            </c:dLbl>
            <c:dLbl>
              <c:idx val="12"/>
              <c:delete val="1"/>
              <c:extLst>
                <c:ext xmlns:c15="http://schemas.microsoft.com/office/drawing/2012/chart" uri="{CE6537A1-D6FC-4f65-9D91-7224C49458BB}"/>
                <c:ext xmlns:c16="http://schemas.microsoft.com/office/drawing/2014/chart" uri="{C3380CC4-5D6E-409C-BE32-E72D297353CC}">
                  <c16:uniqueId val="{00000008-036B-43E9-A8D7-C1858C582922}"/>
                </c:ext>
              </c:extLst>
            </c:dLbl>
            <c:dLbl>
              <c:idx val="14"/>
              <c:delete val="1"/>
              <c:extLst>
                <c:ext xmlns:c15="http://schemas.microsoft.com/office/drawing/2012/chart" uri="{CE6537A1-D6FC-4f65-9D91-7224C49458BB}"/>
                <c:ext xmlns:c16="http://schemas.microsoft.com/office/drawing/2014/chart" uri="{C3380CC4-5D6E-409C-BE32-E72D297353CC}">
                  <c16:uniqueId val="{00000009-036B-43E9-A8D7-C1858C582922}"/>
                </c:ext>
              </c:extLst>
            </c:dLbl>
            <c:dLbl>
              <c:idx val="16"/>
              <c:delete val="1"/>
              <c:extLst>
                <c:ext xmlns:c15="http://schemas.microsoft.com/office/drawing/2012/chart" uri="{CE6537A1-D6FC-4f65-9D91-7224C49458BB}"/>
                <c:ext xmlns:c16="http://schemas.microsoft.com/office/drawing/2014/chart" uri="{C3380CC4-5D6E-409C-BE32-E72D297353CC}">
                  <c16:uniqueId val="{0000000A-036B-43E9-A8D7-C1858C582922}"/>
                </c:ext>
              </c:extLst>
            </c:dLbl>
            <c:dLbl>
              <c:idx val="18"/>
              <c:delete val="1"/>
              <c:extLst>
                <c:ext xmlns:c15="http://schemas.microsoft.com/office/drawing/2012/chart" uri="{CE6537A1-D6FC-4f65-9D91-7224C49458BB}"/>
                <c:ext xmlns:c16="http://schemas.microsoft.com/office/drawing/2014/chart" uri="{C3380CC4-5D6E-409C-BE32-E72D297353CC}">
                  <c16:uniqueId val="{0000000B-036B-43E9-A8D7-C1858C582922}"/>
                </c:ext>
              </c:extLst>
            </c:dLbl>
            <c:spPr>
              <a:noFill/>
              <a:ln>
                <a:noFill/>
              </a:ln>
              <a:effectLst/>
            </c:sp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燕郊!$A$42:$A$61</c:f>
              <c:strCache>
                <c:ptCount val="20"/>
                <c:pt idx="0">
                  <c:v>15/01</c:v>
                </c:pt>
                <c:pt idx="1">
                  <c:v>15/02</c:v>
                </c:pt>
                <c:pt idx="2">
                  <c:v>15/03</c:v>
                </c:pt>
                <c:pt idx="3">
                  <c:v>15/04</c:v>
                </c:pt>
                <c:pt idx="4">
                  <c:v>15/05</c:v>
                </c:pt>
                <c:pt idx="5">
                  <c:v>15/06</c:v>
                </c:pt>
                <c:pt idx="6">
                  <c:v>15/07</c:v>
                </c:pt>
                <c:pt idx="7">
                  <c:v>15/08</c:v>
                </c:pt>
                <c:pt idx="8">
                  <c:v>15/09</c:v>
                </c:pt>
                <c:pt idx="9">
                  <c:v>15/10</c:v>
                </c:pt>
                <c:pt idx="10">
                  <c:v>15/11</c:v>
                </c:pt>
                <c:pt idx="11">
                  <c:v>15/12</c:v>
                </c:pt>
                <c:pt idx="12">
                  <c:v>16/01</c:v>
                </c:pt>
                <c:pt idx="13">
                  <c:v>16/02</c:v>
                </c:pt>
                <c:pt idx="14">
                  <c:v>16/03</c:v>
                </c:pt>
                <c:pt idx="15">
                  <c:v>16/04</c:v>
                </c:pt>
                <c:pt idx="16">
                  <c:v>16/05</c:v>
                </c:pt>
                <c:pt idx="17">
                  <c:v>16/06</c:v>
                </c:pt>
                <c:pt idx="18">
                  <c:v>16/07</c:v>
                </c:pt>
                <c:pt idx="19">
                  <c:v>16/08</c:v>
                </c:pt>
              </c:strCache>
            </c:strRef>
          </c:cat>
          <c:val>
            <c:numRef>
              <c:f>燕郊!$D$42:$D$61</c:f>
              <c:numCache>
                <c:formatCode>0.0%</c:formatCode>
                <c:ptCount val="20"/>
                <c:pt idx="0">
                  <c:v>1</c:v>
                </c:pt>
                <c:pt idx="1">
                  <c:v>1</c:v>
                </c:pt>
                <c:pt idx="2">
                  <c:v>1</c:v>
                </c:pt>
                <c:pt idx="3">
                  <c:v>1</c:v>
                </c:pt>
                <c:pt idx="4">
                  <c:v>1</c:v>
                </c:pt>
                <c:pt idx="5">
                  <c:v>0.99905838041431261</c:v>
                </c:pt>
                <c:pt idx="6">
                  <c:v>0.99657729606389045</c:v>
                </c:pt>
                <c:pt idx="7">
                  <c:v>1</c:v>
                </c:pt>
                <c:pt idx="8">
                  <c:v>1</c:v>
                </c:pt>
                <c:pt idx="9">
                  <c:v>1</c:v>
                </c:pt>
                <c:pt idx="10">
                  <c:v>1</c:v>
                </c:pt>
                <c:pt idx="11">
                  <c:v>1</c:v>
                </c:pt>
                <c:pt idx="12">
                  <c:v>1</c:v>
                </c:pt>
                <c:pt idx="13">
                  <c:v>1</c:v>
                </c:pt>
                <c:pt idx="14">
                  <c:v>1</c:v>
                </c:pt>
                <c:pt idx="15">
                  <c:v>0.99969978985289698</c:v>
                </c:pt>
                <c:pt idx="16">
                  <c:v>0.99586776859504134</c:v>
                </c:pt>
                <c:pt idx="17">
                  <c:v>0.99783080260303691</c:v>
                </c:pt>
                <c:pt idx="18">
                  <c:v>1</c:v>
                </c:pt>
                <c:pt idx="19">
                  <c:v>1</c:v>
                </c:pt>
              </c:numCache>
            </c:numRef>
          </c:val>
          <c:smooth val="0"/>
          <c:extLst>
            <c:ext xmlns:c16="http://schemas.microsoft.com/office/drawing/2014/chart" uri="{C3380CC4-5D6E-409C-BE32-E72D297353CC}">
              <c16:uniqueId val="{0000000C-036B-43E9-A8D7-C1858C582922}"/>
            </c:ext>
          </c:extLst>
        </c:ser>
        <c:dLbls>
          <c:showLegendKey val="0"/>
          <c:showVal val="0"/>
          <c:showCatName val="0"/>
          <c:showSerName val="0"/>
          <c:showPercent val="0"/>
          <c:showBubbleSize val="0"/>
        </c:dLbls>
        <c:marker val="1"/>
        <c:smooth val="0"/>
        <c:axId val="243059712"/>
        <c:axId val="243058176"/>
      </c:lineChart>
      <c:catAx>
        <c:axId val="243050368"/>
        <c:scaling>
          <c:orientation val="minMax"/>
        </c:scaling>
        <c:delete val="0"/>
        <c:axPos val="b"/>
        <c:numFmt formatCode="General" sourceLinked="1"/>
        <c:majorTickMark val="none"/>
        <c:minorTickMark val="none"/>
        <c:tickLblPos val="nextTo"/>
        <c:spPr>
          <a:noFill/>
          <a:ln w="9525" cap="flat" cmpd="sng" algn="ctr">
            <a:solidFill>
              <a:sysClr val="window" lastClr="FFFFFF">
                <a:lumMod val="50000"/>
              </a:sysClr>
            </a:solidFill>
            <a:round/>
          </a:ln>
          <a:effectLst/>
        </c:spPr>
        <c:txPr>
          <a:bodyPr rot="-2940000" vert="horz"/>
          <a:lstStyle/>
          <a:p>
            <a:pPr>
              <a:defRPr/>
            </a:pPr>
            <a:endParaRPr lang="zh-CN"/>
          </a:p>
        </c:txPr>
        <c:crossAx val="243051904"/>
        <c:crosses val="autoZero"/>
        <c:auto val="1"/>
        <c:lblAlgn val="ctr"/>
        <c:lblOffset val="0"/>
        <c:tickLblSkip val="1"/>
        <c:noMultiLvlLbl val="0"/>
      </c:catAx>
      <c:valAx>
        <c:axId val="243051904"/>
        <c:scaling>
          <c:orientation val="minMax"/>
        </c:scaling>
        <c:delete val="0"/>
        <c:axPos val="l"/>
        <c:title>
          <c:tx>
            <c:rich>
              <a:bodyPr rot="0" vert="horz"/>
              <a:lstStyle/>
              <a:p>
                <a:pPr>
                  <a:defRPr/>
                </a:pPr>
                <a:r>
                  <a:rPr lang="zh-CN"/>
                  <a:t>套</a:t>
                </a:r>
              </a:p>
            </c:rich>
          </c:tx>
          <c:layout>
            <c:manualLayout>
              <c:xMode val="edge"/>
              <c:yMode val="edge"/>
              <c:x val="1.3667675452751479E-2"/>
              <c:y val="0.10099659764751627"/>
            </c:manualLayout>
          </c:layout>
          <c:overlay val="0"/>
        </c:title>
        <c:numFmt formatCode="0_ " sourceLinked="0"/>
        <c:majorTickMark val="out"/>
        <c:minorTickMark val="none"/>
        <c:tickLblPos val="nextTo"/>
        <c:crossAx val="243050368"/>
        <c:crosses val="autoZero"/>
        <c:crossBetween val="between"/>
      </c:valAx>
      <c:valAx>
        <c:axId val="243058176"/>
        <c:scaling>
          <c:orientation val="minMax"/>
          <c:max val="1.1000000000000001"/>
          <c:min val="0.8"/>
        </c:scaling>
        <c:delete val="0"/>
        <c:axPos val="r"/>
        <c:numFmt formatCode="0%" sourceLinked="0"/>
        <c:majorTickMark val="out"/>
        <c:minorTickMark val="none"/>
        <c:tickLblPos val="nextTo"/>
        <c:crossAx val="243059712"/>
        <c:crosses val="max"/>
        <c:crossBetween val="between"/>
        <c:majorUnit val="0.1"/>
      </c:valAx>
      <c:catAx>
        <c:axId val="243059712"/>
        <c:scaling>
          <c:orientation val="minMax"/>
        </c:scaling>
        <c:delete val="1"/>
        <c:axPos val="b"/>
        <c:numFmt formatCode="General" sourceLinked="1"/>
        <c:majorTickMark val="out"/>
        <c:minorTickMark val="none"/>
        <c:tickLblPos val="nextTo"/>
        <c:crossAx val="243058176"/>
        <c:crosses val="autoZero"/>
        <c:auto val="1"/>
        <c:lblAlgn val="ctr"/>
        <c:lblOffset val="100"/>
        <c:noMultiLvlLbl val="0"/>
      </c:catAx>
      <c:spPr>
        <a:noFill/>
        <a:ln>
          <a:noFill/>
        </a:ln>
        <a:effectLst/>
      </c:spPr>
    </c:plotArea>
    <c:legend>
      <c:legendPos val="b"/>
      <c:layout>
        <c:manualLayout>
          <c:xMode val="edge"/>
          <c:yMode val="edge"/>
          <c:x val="0.11124514335798173"/>
          <c:y val="0.16396228249246622"/>
          <c:w val="0.76884283246977547"/>
          <c:h val="8.9945631796025494E-2"/>
        </c:manualLayout>
      </c:layout>
      <c:overlay val="0"/>
      <c:spPr>
        <a:noFill/>
        <a:ln>
          <a:noFill/>
        </a:ln>
        <a:effectLst/>
      </c:spPr>
      <c:txPr>
        <a:bodyPr rot="0" vert="horz"/>
        <a:lstStyle/>
        <a:p>
          <a:pPr>
            <a:defRPr/>
          </a:pPr>
          <a:endParaRPr lang="zh-CN"/>
        </a:p>
      </c:txPr>
    </c:legend>
    <c:plotVisOnly val="1"/>
    <c:dispBlanksAs val="gap"/>
    <c:showDLblsOverMax val="0"/>
  </c:chart>
  <c:spPr>
    <a:noFill/>
    <a:ln w="9525" cap="flat" cmpd="sng" algn="ctr">
      <a:noFill/>
      <a:round/>
    </a:ln>
    <a:effectLst/>
  </c:spPr>
  <c:txPr>
    <a:bodyPr/>
    <a:lstStyle/>
    <a:p>
      <a:pPr>
        <a:defRPr sz="1100">
          <a:latin typeface="微软雅黑" pitchFamily="34" charset="-122"/>
          <a:ea typeface="微软雅黑" pitchFamily="34" charset="-122"/>
        </a:defRPr>
      </a:pPr>
      <a:endParaRPr lang="zh-CN"/>
    </a:p>
  </c:txPr>
  <c:externalData r:id="rId2">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sz="1600"/>
            </a:pPr>
            <a:r>
              <a:rPr lang="zh-CN" altLang="en-US" sz="1600" b="1" i="0" kern="1200" baseline="0">
                <a:solidFill>
                  <a:srgbClr val="000000"/>
                </a:solidFill>
                <a:effectLst/>
                <a:latin typeface="微软雅黑"/>
                <a:ea typeface="微软雅黑"/>
              </a:rPr>
              <a:t>固安</a:t>
            </a:r>
            <a:r>
              <a:rPr lang="en-US" altLang="zh-CN" sz="1600" b="1" i="0" kern="1200" baseline="0">
                <a:solidFill>
                  <a:srgbClr val="000000"/>
                </a:solidFill>
                <a:effectLst/>
                <a:latin typeface="微软雅黑"/>
                <a:ea typeface="微软雅黑"/>
              </a:rPr>
              <a:t>2015.01-2016.08</a:t>
            </a:r>
            <a:r>
              <a:rPr lang="zh-CN" altLang="en-US" sz="1600" b="1" i="0" kern="1200" baseline="0">
                <a:solidFill>
                  <a:srgbClr val="000000"/>
                </a:solidFill>
                <a:effectLst/>
                <a:latin typeface="微软雅黑"/>
                <a:ea typeface="微软雅黑"/>
              </a:rPr>
              <a:t>商品房</a:t>
            </a:r>
            <a:r>
              <a:rPr lang="zh-CN" altLang="zh-CN" sz="1600" b="1" i="0" kern="1200" baseline="0">
                <a:solidFill>
                  <a:srgbClr val="000000"/>
                </a:solidFill>
                <a:effectLst/>
                <a:latin typeface="微软雅黑"/>
                <a:ea typeface="微软雅黑"/>
              </a:rPr>
              <a:t>供销情况</a:t>
            </a:r>
            <a:endParaRPr lang="zh-CN" altLang="zh-CN" sz="1600">
              <a:effectLst/>
            </a:endParaRPr>
          </a:p>
        </c:rich>
      </c:tx>
      <c:layout>
        <c:manualLayout>
          <c:xMode val="edge"/>
          <c:yMode val="edge"/>
          <c:x val="0.27158746921181837"/>
          <c:y val="0"/>
        </c:manualLayout>
      </c:layout>
      <c:overlay val="0"/>
    </c:title>
    <c:autoTitleDeleted val="0"/>
    <c:plotArea>
      <c:layout>
        <c:manualLayout>
          <c:layoutTarget val="inner"/>
          <c:xMode val="edge"/>
          <c:yMode val="edge"/>
          <c:x val="4.9505339695746248E-2"/>
          <c:y val="0.26919200484554817"/>
          <c:w val="0.8785109928164756"/>
          <c:h val="0.54128528164748635"/>
        </c:manualLayout>
      </c:layout>
      <c:barChart>
        <c:barDir val="col"/>
        <c:grouping val="clustered"/>
        <c:varyColors val="0"/>
        <c:ser>
          <c:idx val="0"/>
          <c:order val="0"/>
          <c:tx>
            <c:strRef>
              <c:f>固安!$B$1</c:f>
              <c:strCache>
                <c:ptCount val="1"/>
                <c:pt idx="0">
                  <c:v>新增供应面积(万㎡)</c:v>
                </c:pt>
              </c:strCache>
            </c:strRef>
          </c:tx>
          <c:spPr>
            <a:pattFill prst="wdUpDiag">
              <a:fgClr>
                <a:srgbClr val="70B1DE"/>
              </a:fgClr>
              <a:bgClr>
                <a:srgbClr val="3B95D2"/>
              </a:bgClr>
            </a:pattFill>
            <a:ln>
              <a:solidFill>
                <a:schemeClr val="bg1"/>
              </a:solidFill>
            </a:ln>
            <a:effectLst>
              <a:outerShdw blurRad="50800" dist="12700" algn="l" rotWithShape="0">
                <a:prstClr val="black">
                  <a:alpha val="40000"/>
                </a:prstClr>
              </a:outerShdw>
            </a:effectLst>
          </c:spPr>
          <c:invertIfNegative val="0"/>
          <c:dLbls>
            <c:delete val="1"/>
          </c:dLbls>
          <c:cat>
            <c:strRef>
              <c:f>固安!$A$2:$A$21</c:f>
              <c:strCache>
                <c:ptCount val="20"/>
                <c:pt idx="0">
                  <c:v>15/01</c:v>
                </c:pt>
                <c:pt idx="1">
                  <c:v>15/02</c:v>
                </c:pt>
                <c:pt idx="2">
                  <c:v>15/03</c:v>
                </c:pt>
                <c:pt idx="3">
                  <c:v>15/04</c:v>
                </c:pt>
                <c:pt idx="4">
                  <c:v>15/05</c:v>
                </c:pt>
                <c:pt idx="5">
                  <c:v>15/06</c:v>
                </c:pt>
                <c:pt idx="6">
                  <c:v>15/07</c:v>
                </c:pt>
                <c:pt idx="7">
                  <c:v>15/08</c:v>
                </c:pt>
                <c:pt idx="8">
                  <c:v>15/09</c:v>
                </c:pt>
                <c:pt idx="9">
                  <c:v>15/10</c:v>
                </c:pt>
                <c:pt idx="10">
                  <c:v>15/11</c:v>
                </c:pt>
                <c:pt idx="11">
                  <c:v>15/12</c:v>
                </c:pt>
                <c:pt idx="12">
                  <c:v>16/01</c:v>
                </c:pt>
                <c:pt idx="13">
                  <c:v>16/02</c:v>
                </c:pt>
                <c:pt idx="14">
                  <c:v>16/03</c:v>
                </c:pt>
                <c:pt idx="15">
                  <c:v>16/04</c:v>
                </c:pt>
                <c:pt idx="16">
                  <c:v>16/05</c:v>
                </c:pt>
                <c:pt idx="17">
                  <c:v>16/06</c:v>
                </c:pt>
                <c:pt idx="18">
                  <c:v>16/07</c:v>
                </c:pt>
                <c:pt idx="19">
                  <c:v>16/08</c:v>
                </c:pt>
              </c:strCache>
            </c:strRef>
          </c:cat>
          <c:val>
            <c:numRef>
              <c:f>固安!$B$2:$B$21</c:f>
              <c:numCache>
                <c:formatCode>0.0_);[Red]\(0.0\)</c:formatCode>
                <c:ptCount val="20"/>
                <c:pt idx="0">
                  <c:v>17.196899999999999</c:v>
                </c:pt>
                <c:pt idx="1">
                  <c:v>5.9886999999999997</c:v>
                </c:pt>
                <c:pt idx="2">
                  <c:v>19.755600000000001</c:v>
                </c:pt>
                <c:pt idx="3">
                  <c:v>5.8590999999999998</c:v>
                </c:pt>
                <c:pt idx="4">
                  <c:v>9.3735999999999997</c:v>
                </c:pt>
                <c:pt idx="5">
                  <c:v>22.439900000000002</c:v>
                </c:pt>
                <c:pt idx="6">
                  <c:v>19.953499999999998</c:v>
                </c:pt>
                <c:pt idx="7">
                  <c:v>10.526199999999999</c:v>
                </c:pt>
                <c:pt idx="8">
                  <c:v>13.6656</c:v>
                </c:pt>
                <c:pt idx="9">
                  <c:v>20.551200000000001</c:v>
                </c:pt>
                <c:pt idx="10">
                  <c:v>5.3779000000000003</c:v>
                </c:pt>
                <c:pt idx="11">
                  <c:v>24.395499999999998</c:v>
                </c:pt>
                <c:pt idx="12">
                  <c:v>11.2813</c:v>
                </c:pt>
                <c:pt idx="13">
                  <c:v>1.8692</c:v>
                </c:pt>
                <c:pt idx="14">
                  <c:v>18.183399999999999</c:v>
                </c:pt>
                <c:pt idx="15">
                  <c:v>9.0086999999999993</c:v>
                </c:pt>
                <c:pt idx="16">
                  <c:v>11.037599999999999</c:v>
                </c:pt>
                <c:pt idx="17">
                  <c:v>11.037599999999999</c:v>
                </c:pt>
                <c:pt idx="18">
                  <c:v>5.4149000000000003</c:v>
                </c:pt>
                <c:pt idx="19">
                  <c:v>13.953099999999999</c:v>
                </c:pt>
              </c:numCache>
            </c:numRef>
          </c:val>
          <c:extLst>
            <c:ext xmlns:c16="http://schemas.microsoft.com/office/drawing/2014/chart" uri="{C3380CC4-5D6E-409C-BE32-E72D297353CC}">
              <c16:uniqueId val="{00000000-57ED-418B-9AA5-3606E616777C}"/>
            </c:ext>
          </c:extLst>
        </c:ser>
        <c:ser>
          <c:idx val="1"/>
          <c:order val="1"/>
          <c:tx>
            <c:strRef>
              <c:f>固安!$C$1</c:f>
              <c:strCache>
                <c:ptCount val="1"/>
                <c:pt idx="0">
                  <c:v>成交面积(万㎡)</c:v>
                </c:pt>
              </c:strCache>
            </c:strRef>
          </c:tx>
          <c:invertIfNegative val="0"/>
          <c:dLbls>
            <c:dLbl>
              <c:idx val="19"/>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7ED-418B-9AA5-3606E616777C}"/>
                </c:ext>
              </c:extLst>
            </c:dLbl>
            <c:spPr>
              <a:noFill/>
              <a:ln>
                <a:noFill/>
              </a:ln>
              <a:effectLst/>
            </c:spPr>
            <c:txPr>
              <a:bodyPr/>
              <a:lstStyle/>
              <a:p>
                <a:pPr>
                  <a:defRPr sz="1100" b="1">
                    <a:solidFill>
                      <a:srgbClr val="FF0000"/>
                    </a:solidFill>
                  </a:defRPr>
                </a:pPr>
                <a:endParaRPr lang="zh-CN"/>
              </a:p>
            </c:txPr>
            <c:dLblPos val="outEnd"/>
            <c:showLegendKey val="0"/>
            <c:showVal val="0"/>
            <c:showCatName val="0"/>
            <c:showSerName val="0"/>
            <c:showPercent val="0"/>
            <c:showBubbleSize val="0"/>
            <c:extLst>
              <c:ext xmlns:c15="http://schemas.microsoft.com/office/drawing/2012/chart" uri="{CE6537A1-D6FC-4f65-9D91-7224C49458BB}">
                <c15:showLeaderLines val="0"/>
              </c:ext>
            </c:extLst>
          </c:dLbls>
          <c:cat>
            <c:strRef>
              <c:f>固安!$A$2:$A$21</c:f>
              <c:strCache>
                <c:ptCount val="20"/>
                <c:pt idx="0">
                  <c:v>15/01</c:v>
                </c:pt>
                <c:pt idx="1">
                  <c:v>15/02</c:v>
                </c:pt>
                <c:pt idx="2">
                  <c:v>15/03</c:v>
                </c:pt>
                <c:pt idx="3">
                  <c:v>15/04</c:v>
                </c:pt>
                <c:pt idx="4">
                  <c:v>15/05</c:v>
                </c:pt>
                <c:pt idx="5">
                  <c:v>15/06</c:v>
                </c:pt>
                <c:pt idx="6">
                  <c:v>15/07</c:v>
                </c:pt>
                <c:pt idx="7">
                  <c:v>15/08</c:v>
                </c:pt>
                <c:pt idx="8">
                  <c:v>15/09</c:v>
                </c:pt>
                <c:pt idx="9">
                  <c:v>15/10</c:v>
                </c:pt>
                <c:pt idx="10">
                  <c:v>15/11</c:v>
                </c:pt>
                <c:pt idx="11">
                  <c:v>15/12</c:v>
                </c:pt>
                <c:pt idx="12">
                  <c:v>16/01</c:v>
                </c:pt>
                <c:pt idx="13">
                  <c:v>16/02</c:v>
                </c:pt>
                <c:pt idx="14">
                  <c:v>16/03</c:v>
                </c:pt>
                <c:pt idx="15">
                  <c:v>16/04</c:v>
                </c:pt>
                <c:pt idx="16">
                  <c:v>16/05</c:v>
                </c:pt>
                <c:pt idx="17">
                  <c:v>16/06</c:v>
                </c:pt>
                <c:pt idx="18">
                  <c:v>16/07</c:v>
                </c:pt>
                <c:pt idx="19">
                  <c:v>16/08</c:v>
                </c:pt>
              </c:strCache>
            </c:strRef>
          </c:cat>
          <c:val>
            <c:numRef>
              <c:f>固安!$C$2:$C$21</c:f>
              <c:numCache>
                <c:formatCode>0.0_);[Red]\(0.0\)</c:formatCode>
                <c:ptCount val="20"/>
                <c:pt idx="0">
                  <c:v>29.5337</c:v>
                </c:pt>
                <c:pt idx="1">
                  <c:v>8.2600999999999996</c:v>
                </c:pt>
                <c:pt idx="2">
                  <c:v>27.6526</c:v>
                </c:pt>
                <c:pt idx="3">
                  <c:v>28.8706</c:v>
                </c:pt>
                <c:pt idx="4">
                  <c:v>20.1343</c:v>
                </c:pt>
                <c:pt idx="5">
                  <c:v>29.691199999999998</c:v>
                </c:pt>
                <c:pt idx="6">
                  <c:v>35.724600000000002</c:v>
                </c:pt>
                <c:pt idx="7">
                  <c:v>16.0684</c:v>
                </c:pt>
                <c:pt idx="8">
                  <c:v>18.5871</c:v>
                </c:pt>
                <c:pt idx="9">
                  <c:v>33.391599999999997</c:v>
                </c:pt>
                <c:pt idx="10">
                  <c:v>25.459299999999999</c:v>
                </c:pt>
                <c:pt idx="11">
                  <c:v>34.752800000000001</c:v>
                </c:pt>
                <c:pt idx="12">
                  <c:v>23.842099999999999</c:v>
                </c:pt>
                <c:pt idx="13">
                  <c:v>9.8109000000000002</c:v>
                </c:pt>
                <c:pt idx="14">
                  <c:v>29.706</c:v>
                </c:pt>
                <c:pt idx="15">
                  <c:v>23.126100000000001</c:v>
                </c:pt>
                <c:pt idx="16">
                  <c:v>9.4898000000000007</c:v>
                </c:pt>
                <c:pt idx="17">
                  <c:v>77.196399999999997</c:v>
                </c:pt>
                <c:pt idx="18">
                  <c:v>20.4739</c:v>
                </c:pt>
                <c:pt idx="19">
                  <c:v>18.1036</c:v>
                </c:pt>
              </c:numCache>
            </c:numRef>
          </c:val>
          <c:extLst>
            <c:ext xmlns:c16="http://schemas.microsoft.com/office/drawing/2014/chart" uri="{C3380CC4-5D6E-409C-BE32-E72D297353CC}">
              <c16:uniqueId val="{00000002-57ED-418B-9AA5-3606E616777C}"/>
            </c:ext>
          </c:extLst>
        </c:ser>
        <c:dLbls>
          <c:dLblPos val="outEnd"/>
          <c:showLegendKey val="0"/>
          <c:showVal val="1"/>
          <c:showCatName val="0"/>
          <c:showSerName val="0"/>
          <c:showPercent val="0"/>
          <c:showBubbleSize val="0"/>
        </c:dLbls>
        <c:gapWidth val="101"/>
        <c:axId val="243147904"/>
        <c:axId val="243149824"/>
      </c:barChart>
      <c:lineChart>
        <c:grouping val="standard"/>
        <c:varyColors val="0"/>
        <c:ser>
          <c:idx val="2"/>
          <c:order val="2"/>
          <c:tx>
            <c:strRef>
              <c:f>固安!$D$1</c:f>
              <c:strCache>
                <c:ptCount val="1"/>
                <c:pt idx="0">
                  <c:v>成交均价(元/㎡)</c:v>
                </c:pt>
              </c:strCache>
            </c:strRef>
          </c:tx>
          <c:spPr>
            <a:ln>
              <a:solidFill>
                <a:srgbClr val="F79646">
                  <a:lumMod val="75000"/>
                </a:srgbClr>
              </a:solidFill>
            </a:ln>
          </c:spPr>
          <c:marker>
            <c:symbol val="diamond"/>
            <c:size val="7"/>
            <c:spPr>
              <a:solidFill>
                <a:srgbClr val="F79646">
                  <a:lumMod val="75000"/>
                </a:srgbClr>
              </a:solidFill>
              <a:ln>
                <a:solidFill>
                  <a:sysClr val="window" lastClr="FFFFFF"/>
                </a:solidFill>
              </a:ln>
            </c:spPr>
          </c:marker>
          <c:dLbls>
            <c:dLbl>
              <c:idx val="19"/>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57ED-418B-9AA5-3606E616777C}"/>
                </c:ext>
              </c:extLst>
            </c:dLbl>
            <c:spPr>
              <a:noFill/>
              <a:ln>
                <a:noFill/>
              </a:ln>
              <a:effectLst/>
            </c:spPr>
            <c:txPr>
              <a:bodyPr/>
              <a:lstStyle/>
              <a:p>
                <a:pPr>
                  <a:defRPr sz="1100" b="1">
                    <a:solidFill>
                      <a:srgbClr val="FF0000"/>
                    </a:solidFill>
                  </a:defRPr>
                </a:pPr>
                <a:endParaRPr lang="zh-CN"/>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固安!$A$2:$A$21</c:f>
              <c:strCache>
                <c:ptCount val="20"/>
                <c:pt idx="0">
                  <c:v>15/01</c:v>
                </c:pt>
                <c:pt idx="1">
                  <c:v>15/02</c:v>
                </c:pt>
                <c:pt idx="2">
                  <c:v>15/03</c:v>
                </c:pt>
                <c:pt idx="3">
                  <c:v>15/04</c:v>
                </c:pt>
                <c:pt idx="4">
                  <c:v>15/05</c:v>
                </c:pt>
                <c:pt idx="5">
                  <c:v>15/06</c:v>
                </c:pt>
                <c:pt idx="6">
                  <c:v>15/07</c:v>
                </c:pt>
                <c:pt idx="7">
                  <c:v>15/08</c:v>
                </c:pt>
                <c:pt idx="8">
                  <c:v>15/09</c:v>
                </c:pt>
                <c:pt idx="9">
                  <c:v>15/10</c:v>
                </c:pt>
                <c:pt idx="10">
                  <c:v>15/11</c:v>
                </c:pt>
                <c:pt idx="11">
                  <c:v>15/12</c:v>
                </c:pt>
                <c:pt idx="12">
                  <c:v>16/01</c:v>
                </c:pt>
                <c:pt idx="13">
                  <c:v>16/02</c:v>
                </c:pt>
                <c:pt idx="14">
                  <c:v>16/03</c:v>
                </c:pt>
                <c:pt idx="15">
                  <c:v>16/04</c:v>
                </c:pt>
                <c:pt idx="16">
                  <c:v>16/05</c:v>
                </c:pt>
                <c:pt idx="17">
                  <c:v>16/06</c:v>
                </c:pt>
                <c:pt idx="18">
                  <c:v>16/07</c:v>
                </c:pt>
                <c:pt idx="19">
                  <c:v>16/08</c:v>
                </c:pt>
              </c:strCache>
            </c:strRef>
          </c:cat>
          <c:val>
            <c:numRef>
              <c:f>固安!$D$2:$D$21</c:f>
              <c:numCache>
                <c:formatCode>General</c:formatCode>
                <c:ptCount val="20"/>
                <c:pt idx="0">
                  <c:v>6507</c:v>
                </c:pt>
                <c:pt idx="1">
                  <c:v>6531</c:v>
                </c:pt>
                <c:pt idx="2">
                  <c:v>6372</c:v>
                </c:pt>
                <c:pt idx="3">
                  <c:v>6450</c:v>
                </c:pt>
                <c:pt idx="4">
                  <c:v>6600</c:v>
                </c:pt>
                <c:pt idx="5">
                  <c:v>6580</c:v>
                </c:pt>
                <c:pt idx="6">
                  <c:v>6683</c:v>
                </c:pt>
                <c:pt idx="7">
                  <c:v>7089</c:v>
                </c:pt>
                <c:pt idx="8">
                  <c:v>7168</c:v>
                </c:pt>
                <c:pt idx="9">
                  <c:v>7171</c:v>
                </c:pt>
                <c:pt idx="10">
                  <c:v>7427</c:v>
                </c:pt>
                <c:pt idx="11">
                  <c:v>7289</c:v>
                </c:pt>
                <c:pt idx="12">
                  <c:v>7462</c:v>
                </c:pt>
                <c:pt idx="13">
                  <c:v>7271</c:v>
                </c:pt>
                <c:pt idx="14">
                  <c:v>7528</c:v>
                </c:pt>
                <c:pt idx="15">
                  <c:v>7458</c:v>
                </c:pt>
                <c:pt idx="16">
                  <c:v>8362</c:v>
                </c:pt>
                <c:pt idx="17">
                  <c:v>8619</c:v>
                </c:pt>
                <c:pt idx="18">
                  <c:v>9402</c:v>
                </c:pt>
                <c:pt idx="19">
                  <c:v>9971</c:v>
                </c:pt>
              </c:numCache>
            </c:numRef>
          </c:val>
          <c:smooth val="0"/>
          <c:extLst>
            <c:ext xmlns:c16="http://schemas.microsoft.com/office/drawing/2014/chart" uri="{C3380CC4-5D6E-409C-BE32-E72D297353CC}">
              <c16:uniqueId val="{00000004-57ED-418B-9AA5-3606E616777C}"/>
            </c:ext>
          </c:extLst>
        </c:ser>
        <c:dLbls>
          <c:showLegendKey val="0"/>
          <c:showVal val="0"/>
          <c:showCatName val="0"/>
          <c:showSerName val="0"/>
          <c:showPercent val="0"/>
          <c:showBubbleSize val="0"/>
        </c:dLbls>
        <c:marker val="1"/>
        <c:smooth val="0"/>
        <c:axId val="243182208"/>
        <c:axId val="243180288"/>
      </c:lineChart>
      <c:catAx>
        <c:axId val="243147904"/>
        <c:scaling>
          <c:orientation val="minMax"/>
        </c:scaling>
        <c:delete val="0"/>
        <c:axPos val="b"/>
        <c:title>
          <c:tx>
            <c:rich>
              <a:bodyPr/>
              <a:lstStyle/>
              <a:p>
                <a:pPr>
                  <a:defRPr/>
                </a:pPr>
                <a:r>
                  <a:rPr lang="zh-CN" altLang="en-US"/>
                  <a:t>万㎡</a:t>
                </a:r>
              </a:p>
            </c:rich>
          </c:tx>
          <c:layout>
            <c:manualLayout>
              <c:xMode val="edge"/>
              <c:yMode val="edge"/>
              <c:x val="3.8853298684937104E-3"/>
              <c:y val="0.15333292953765396"/>
            </c:manualLayout>
          </c:layout>
          <c:overlay val="0"/>
        </c:title>
        <c:numFmt formatCode="General" sourceLinked="1"/>
        <c:majorTickMark val="out"/>
        <c:minorTickMark val="none"/>
        <c:tickLblPos val="nextTo"/>
        <c:spPr>
          <a:noFill/>
          <a:ln w="9525" cap="flat" cmpd="sng" algn="ctr">
            <a:solidFill>
              <a:schemeClr val="bg1">
                <a:lumMod val="95000"/>
              </a:schemeClr>
            </a:solidFill>
            <a:round/>
          </a:ln>
          <a:effectLst/>
        </c:spPr>
        <c:txPr>
          <a:bodyPr rot="-2760000" spcFirstLastPara="1" vertOverflow="ellipsis" vert="horz" wrap="square" anchor="ctr" anchorCtr="1"/>
          <a:lstStyle/>
          <a:p>
            <a:pPr>
              <a:defRPr sz="1050" b="0" i="0" u="none" strike="noStrike" kern="1200" baseline="0">
                <a:solidFill>
                  <a:schemeClr val="tx1"/>
                </a:solidFill>
                <a:latin typeface="微软雅黑" pitchFamily="34" charset="-122"/>
                <a:ea typeface="微软雅黑" pitchFamily="34" charset="-122"/>
                <a:cs typeface="+mn-cs"/>
              </a:defRPr>
            </a:pPr>
            <a:endParaRPr lang="zh-CN"/>
          </a:p>
        </c:txPr>
        <c:crossAx val="243149824"/>
        <c:crosses val="autoZero"/>
        <c:auto val="1"/>
        <c:lblAlgn val="ctr"/>
        <c:lblOffset val="0"/>
        <c:tickLblSkip val="1"/>
        <c:noMultiLvlLbl val="0"/>
      </c:catAx>
      <c:valAx>
        <c:axId val="243149824"/>
        <c:scaling>
          <c:orientation val="minMax"/>
          <c:max val="80"/>
          <c:min val="0"/>
        </c:scaling>
        <c:delete val="0"/>
        <c:axPos val="l"/>
        <c:numFmt formatCode="0_ " sourceLinked="0"/>
        <c:majorTickMark val="out"/>
        <c:minorTickMark val="none"/>
        <c:tickLblPos val="nextTo"/>
        <c:txPr>
          <a:bodyPr/>
          <a:lstStyle/>
          <a:p>
            <a:pPr>
              <a:defRPr sz="1050">
                <a:solidFill>
                  <a:schemeClr val="tx1"/>
                </a:solidFill>
                <a:latin typeface="微软雅黑" pitchFamily="34" charset="-122"/>
                <a:ea typeface="微软雅黑" pitchFamily="34" charset="-122"/>
              </a:defRPr>
            </a:pPr>
            <a:endParaRPr lang="zh-CN"/>
          </a:p>
        </c:txPr>
        <c:crossAx val="243147904"/>
        <c:crosses val="autoZero"/>
        <c:crossBetween val="between"/>
      </c:valAx>
      <c:valAx>
        <c:axId val="243180288"/>
        <c:scaling>
          <c:orientation val="minMax"/>
          <c:max val="10000"/>
          <c:min val="4000"/>
        </c:scaling>
        <c:delete val="0"/>
        <c:axPos val="r"/>
        <c:title>
          <c:tx>
            <c:rich>
              <a:bodyPr rot="0" vert="horz"/>
              <a:lstStyle/>
              <a:p>
                <a:pPr>
                  <a:defRPr/>
                </a:pPr>
                <a:r>
                  <a:rPr lang="zh-CN" altLang="en-US"/>
                  <a:t>元</a:t>
                </a:r>
                <a:r>
                  <a:rPr lang="en-US" altLang="zh-CN"/>
                  <a:t>/㎡</a:t>
                </a:r>
                <a:endParaRPr lang="zh-CN" altLang="en-US"/>
              </a:p>
            </c:rich>
          </c:tx>
          <c:layout>
            <c:manualLayout>
              <c:xMode val="edge"/>
              <c:yMode val="edge"/>
              <c:x val="0.92151169769952501"/>
              <c:y val="0.15646153846153846"/>
            </c:manualLayout>
          </c:layout>
          <c:overlay val="0"/>
        </c:title>
        <c:numFmt formatCode="General" sourceLinked="1"/>
        <c:majorTickMark val="out"/>
        <c:minorTickMark val="none"/>
        <c:tickLblPos val="nextTo"/>
        <c:txPr>
          <a:bodyPr/>
          <a:lstStyle/>
          <a:p>
            <a:pPr>
              <a:defRPr sz="1050">
                <a:solidFill>
                  <a:schemeClr val="tx1"/>
                </a:solidFill>
                <a:latin typeface="微软雅黑" pitchFamily="34" charset="-122"/>
                <a:ea typeface="微软雅黑" pitchFamily="34" charset="-122"/>
              </a:defRPr>
            </a:pPr>
            <a:endParaRPr lang="zh-CN"/>
          </a:p>
        </c:txPr>
        <c:crossAx val="243182208"/>
        <c:crosses val="max"/>
        <c:crossBetween val="between"/>
      </c:valAx>
      <c:catAx>
        <c:axId val="243182208"/>
        <c:scaling>
          <c:orientation val="minMax"/>
        </c:scaling>
        <c:delete val="1"/>
        <c:axPos val="b"/>
        <c:numFmt formatCode="General" sourceLinked="1"/>
        <c:majorTickMark val="out"/>
        <c:minorTickMark val="none"/>
        <c:tickLblPos val="nextTo"/>
        <c:crossAx val="243180288"/>
        <c:crosses val="autoZero"/>
        <c:auto val="1"/>
        <c:lblAlgn val="ctr"/>
        <c:lblOffset val="100"/>
        <c:noMultiLvlLbl val="0"/>
      </c:catAx>
      <c:spPr>
        <a:noFill/>
        <a:ln>
          <a:noFill/>
        </a:ln>
        <a:effectLst/>
      </c:spPr>
    </c:plotArea>
    <c:legend>
      <c:legendPos val="b"/>
      <c:layout>
        <c:manualLayout>
          <c:xMode val="edge"/>
          <c:yMode val="edge"/>
          <c:x val="8.2750318860744812E-2"/>
          <c:y val="0.142040783363618"/>
          <c:w val="0.81716219207538821"/>
          <c:h val="0.12628709872804361"/>
        </c:manualLayout>
      </c:layout>
      <c:overlay val="0"/>
      <c:spPr>
        <a:noFill/>
        <a:ln>
          <a:noFill/>
        </a:ln>
        <a:effectLst/>
      </c:spPr>
      <c:txPr>
        <a:bodyPr rot="0" spcFirstLastPara="1" vertOverflow="ellipsis" vert="horz" wrap="square" anchor="ctr" anchorCtr="1"/>
        <a:lstStyle/>
        <a:p>
          <a:pPr>
            <a:defRPr sz="1050" b="1" i="0" u="none" strike="noStrike" kern="1200" baseline="0">
              <a:solidFill>
                <a:schemeClr val="tx1"/>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chart>
  <c:spPr>
    <a:noFill/>
    <a:ln w="9525" cap="flat" cmpd="sng" algn="ctr">
      <a:noFill/>
      <a:round/>
    </a:ln>
    <a:effectLst/>
  </c:spPr>
  <c:txPr>
    <a:bodyPr/>
    <a:lstStyle/>
    <a:p>
      <a:pPr>
        <a:defRPr/>
      </a:pPr>
      <a:endParaRPr lang="zh-CN"/>
    </a:p>
  </c:txPr>
  <c:externalData r:id="rId2">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600"/>
            </a:pPr>
            <a:r>
              <a:rPr lang="zh-CN" altLang="en-US" sz="1600"/>
              <a:t>固安</a:t>
            </a:r>
            <a:r>
              <a:rPr lang="en-US" altLang="zh-CN" sz="1600"/>
              <a:t>2015.01-2016.08</a:t>
            </a:r>
            <a:r>
              <a:rPr lang="zh-CN" altLang="en-US" sz="1600"/>
              <a:t>商品房去化情况</a:t>
            </a:r>
          </a:p>
        </c:rich>
      </c:tx>
      <c:layout>
        <c:manualLayout>
          <c:xMode val="edge"/>
          <c:yMode val="edge"/>
          <c:x val="0.27196923077353508"/>
          <c:y val="3.9541809527397862E-3"/>
        </c:manualLayout>
      </c:layout>
      <c:overlay val="0"/>
    </c:title>
    <c:autoTitleDeleted val="0"/>
    <c:plotArea>
      <c:layout>
        <c:manualLayout>
          <c:layoutTarget val="inner"/>
          <c:xMode val="edge"/>
          <c:yMode val="edge"/>
          <c:x val="6.8748136831513318E-2"/>
          <c:y val="0.19954857578840285"/>
          <c:w val="0.88137665261558429"/>
          <c:h val="0.59281080843474876"/>
        </c:manualLayout>
      </c:layout>
      <c:barChart>
        <c:barDir val="col"/>
        <c:grouping val="clustered"/>
        <c:varyColors val="0"/>
        <c:ser>
          <c:idx val="0"/>
          <c:order val="0"/>
          <c:tx>
            <c:strRef>
              <c:f>固安!$M$1</c:f>
              <c:strCache>
                <c:ptCount val="1"/>
                <c:pt idx="0">
                  <c:v>可售面积</c:v>
                </c:pt>
              </c:strCache>
            </c:strRef>
          </c:tx>
          <c:spPr>
            <a:solidFill>
              <a:srgbClr val="FFC000"/>
            </a:solidFill>
            <a:ln>
              <a:solidFill>
                <a:srgbClr val="FFC000"/>
              </a:solidFill>
            </a:ln>
          </c:spPr>
          <c:invertIfNegative val="0"/>
          <c:cat>
            <c:strRef>
              <c:f>固安!$L$2:$L$21</c:f>
              <c:strCache>
                <c:ptCount val="20"/>
                <c:pt idx="0">
                  <c:v>15/01</c:v>
                </c:pt>
                <c:pt idx="1">
                  <c:v>15/02</c:v>
                </c:pt>
                <c:pt idx="2">
                  <c:v>15/03</c:v>
                </c:pt>
                <c:pt idx="3">
                  <c:v>15/04</c:v>
                </c:pt>
                <c:pt idx="4">
                  <c:v>15/05</c:v>
                </c:pt>
                <c:pt idx="5">
                  <c:v>15/06</c:v>
                </c:pt>
                <c:pt idx="6">
                  <c:v>15/07</c:v>
                </c:pt>
                <c:pt idx="7">
                  <c:v>15/08</c:v>
                </c:pt>
                <c:pt idx="8">
                  <c:v>15/09</c:v>
                </c:pt>
                <c:pt idx="9">
                  <c:v>15/10</c:v>
                </c:pt>
                <c:pt idx="10">
                  <c:v>15/11</c:v>
                </c:pt>
                <c:pt idx="11">
                  <c:v>15/12</c:v>
                </c:pt>
                <c:pt idx="12">
                  <c:v>16/01</c:v>
                </c:pt>
                <c:pt idx="13">
                  <c:v>16/02</c:v>
                </c:pt>
                <c:pt idx="14">
                  <c:v>16/03</c:v>
                </c:pt>
                <c:pt idx="15">
                  <c:v>16/04</c:v>
                </c:pt>
                <c:pt idx="16">
                  <c:v>16/05</c:v>
                </c:pt>
                <c:pt idx="17">
                  <c:v>16/06</c:v>
                </c:pt>
                <c:pt idx="18">
                  <c:v>16/07</c:v>
                </c:pt>
                <c:pt idx="19">
                  <c:v>16/08</c:v>
                </c:pt>
              </c:strCache>
            </c:strRef>
          </c:cat>
          <c:val>
            <c:numRef>
              <c:f>固安!$M$2:$M$21</c:f>
              <c:numCache>
                <c:formatCode>0.0</c:formatCode>
                <c:ptCount val="20"/>
                <c:pt idx="0">
                  <c:v>277.01782782234659</c:v>
                </c:pt>
                <c:pt idx="1">
                  <c:v>274.74642782234662</c:v>
                </c:pt>
                <c:pt idx="2">
                  <c:v>266.84942782234663</c:v>
                </c:pt>
                <c:pt idx="3">
                  <c:v>243.83792782234661</c:v>
                </c:pt>
                <c:pt idx="4">
                  <c:v>233.0772278223466</c:v>
                </c:pt>
                <c:pt idx="5">
                  <c:v>225.82592782234661</c:v>
                </c:pt>
                <c:pt idx="6">
                  <c:v>210.05482782234662</c:v>
                </c:pt>
                <c:pt idx="7">
                  <c:v>204.51262782234662</c:v>
                </c:pt>
                <c:pt idx="8">
                  <c:v>199.59112782234661</c:v>
                </c:pt>
                <c:pt idx="9">
                  <c:v>186.75072782234665</c:v>
                </c:pt>
                <c:pt idx="10">
                  <c:v>166.66932782234665</c:v>
                </c:pt>
                <c:pt idx="11">
                  <c:v>156.31202782234664</c:v>
                </c:pt>
                <c:pt idx="12">
                  <c:v>143.75122782234664</c:v>
                </c:pt>
                <c:pt idx="13">
                  <c:v>135.80952782234664</c:v>
                </c:pt>
                <c:pt idx="14">
                  <c:v>124.28692782234664</c:v>
                </c:pt>
                <c:pt idx="15">
                  <c:v>110.16952782234701</c:v>
                </c:pt>
                <c:pt idx="16">
                  <c:v>111.717327822347</c:v>
                </c:pt>
                <c:pt idx="17">
                  <c:v>45.558527822346598</c:v>
                </c:pt>
                <c:pt idx="18">
                  <c:v>30.4995278223466</c:v>
                </c:pt>
                <c:pt idx="19">
                  <c:v>26.349027822346603</c:v>
                </c:pt>
              </c:numCache>
            </c:numRef>
          </c:val>
          <c:extLst>
            <c:ext xmlns:c16="http://schemas.microsoft.com/office/drawing/2014/chart" uri="{C3380CC4-5D6E-409C-BE32-E72D297353CC}">
              <c16:uniqueId val="{00000000-FD80-49FC-8398-912504B0EB07}"/>
            </c:ext>
          </c:extLst>
        </c:ser>
        <c:dLbls>
          <c:showLegendKey val="0"/>
          <c:showVal val="0"/>
          <c:showCatName val="0"/>
          <c:showSerName val="0"/>
          <c:showPercent val="0"/>
          <c:showBubbleSize val="0"/>
        </c:dLbls>
        <c:gapWidth val="150"/>
        <c:axId val="243668864"/>
        <c:axId val="243670400"/>
      </c:barChart>
      <c:lineChart>
        <c:grouping val="standard"/>
        <c:varyColors val="0"/>
        <c:ser>
          <c:idx val="1"/>
          <c:order val="1"/>
          <c:tx>
            <c:strRef>
              <c:f>固安!$N$1</c:f>
              <c:strCache>
                <c:ptCount val="1"/>
                <c:pt idx="0">
                  <c:v>去化周期</c:v>
                </c:pt>
              </c:strCache>
            </c:strRef>
          </c:tx>
          <c:spPr>
            <a:ln>
              <a:solidFill>
                <a:srgbClr val="0070C0"/>
              </a:solidFill>
            </a:ln>
          </c:spPr>
          <c:marker>
            <c:symbol val="none"/>
          </c:marker>
          <c:dLbls>
            <c:dLbl>
              <c:idx val="18"/>
              <c:layout>
                <c:manualLayout>
                  <c:x val="-5.12057752935621E-2"/>
                  <c:y val="-8.1943973475000847E-2"/>
                </c:manualLayout>
              </c:layout>
              <c:spPr/>
              <c:txPr>
                <a:bodyPr/>
                <a:lstStyle/>
                <a:p>
                  <a:pPr>
                    <a:defRPr sz="1100" b="1">
                      <a:solidFill>
                        <a:schemeClr val="tx1"/>
                      </a:solidFill>
                    </a:defRPr>
                  </a:pPr>
                  <a:endParaRPr lang="zh-CN"/>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FD80-49FC-8398-912504B0EB07}"/>
                </c:ext>
              </c:extLst>
            </c:dLbl>
            <c:dLbl>
              <c:idx val="19"/>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FD80-49FC-8398-912504B0EB07}"/>
                </c:ext>
              </c:extLst>
            </c:dLbl>
            <c:spPr>
              <a:noFill/>
              <a:ln>
                <a:noFill/>
              </a:ln>
              <a:effectLst/>
            </c:spPr>
            <c:txPr>
              <a:bodyPr/>
              <a:lstStyle/>
              <a:p>
                <a:pPr>
                  <a:defRPr sz="1100" b="1">
                    <a:solidFill>
                      <a:srgbClr val="FF0000"/>
                    </a:solidFill>
                  </a:defRPr>
                </a:pPr>
                <a:endParaRPr lang="zh-CN"/>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固安!$L$2:$L$21</c:f>
              <c:strCache>
                <c:ptCount val="20"/>
                <c:pt idx="0">
                  <c:v>15/01</c:v>
                </c:pt>
                <c:pt idx="1">
                  <c:v>15/02</c:v>
                </c:pt>
                <c:pt idx="2">
                  <c:v>15/03</c:v>
                </c:pt>
                <c:pt idx="3">
                  <c:v>15/04</c:v>
                </c:pt>
                <c:pt idx="4">
                  <c:v>15/05</c:v>
                </c:pt>
                <c:pt idx="5">
                  <c:v>15/06</c:v>
                </c:pt>
                <c:pt idx="6">
                  <c:v>15/07</c:v>
                </c:pt>
                <c:pt idx="7">
                  <c:v>15/08</c:v>
                </c:pt>
                <c:pt idx="8">
                  <c:v>15/09</c:v>
                </c:pt>
                <c:pt idx="9">
                  <c:v>15/10</c:v>
                </c:pt>
                <c:pt idx="10">
                  <c:v>15/11</c:v>
                </c:pt>
                <c:pt idx="11">
                  <c:v>15/12</c:v>
                </c:pt>
                <c:pt idx="12">
                  <c:v>16/01</c:v>
                </c:pt>
                <c:pt idx="13">
                  <c:v>16/02</c:v>
                </c:pt>
                <c:pt idx="14">
                  <c:v>16/03</c:v>
                </c:pt>
                <c:pt idx="15">
                  <c:v>16/04</c:v>
                </c:pt>
                <c:pt idx="16">
                  <c:v>16/05</c:v>
                </c:pt>
                <c:pt idx="17">
                  <c:v>16/06</c:v>
                </c:pt>
                <c:pt idx="18">
                  <c:v>16/07</c:v>
                </c:pt>
                <c:pt idx="19">
                  <c:v>16/08</c:v>
                </c:pt>
              </c:strCache>
            </c:strRef>
          </c:cat>
          <c:val>
            <c:numRef>
              <c:f>固安!$N$2:$N$21</c:f>
              <c:numCache>
                <c:formatCode>0.0</c:formatCode>
                <c:ptCount val="20"/>
                <c:pt idx="0">
                  <c:v>16.626706122716399</c:v>
                </c:pt>
                <c:pt idx="1">
                  <c:v>16.595970372853728</c:v>
                </c:pt>
                <c:pt idx="2">
                  <c:v>14.861564815711279</c:v>
                </c:pt>
                <c:pt idx="3">
                  <c:v>12.623150550745358</c:v>
                </c:pt>
                <c:pt idx="4">
                  <c:v>11.890269677989966</c:v>
                </c:pt>
                <c:pt idx="5">
                  <c:v>10.641115374160009</c:v>
                </c:pt>
                <c:pt idx="6">
                  <c:v>9.0371913640917736</c:v>
                </c:pt>
                <c:pt idx="7">
                  <c:v>8.6002488586911436</c:v>
                </c:pt>
                <c:pt idx="8">
                  <c:v>8.1126662527556057</c:v>
                </c:pt>
                <c:pt idx="9">
                  <c:v>7.3198764865257626</c:v>
                </c:pt>
                <c:pt idx="10">
                  <c:v>6.5719724108671072</c:v>
                </c:pt>
                <c:pt idx="11">
                  <c:v>6.0875827018601125</c:v>
                </c:pt>
                <c:pt idx="12">
                  <c:v>5.7037593036386358</c:v>
                </c:pt>
                <c:pt idx="13">
                  <c:v>5.3611581271743542</c:v>
                </c:pt>
                <c:pt idx="14">
                  <c:v>4.873377645352142</c:v>
                </c:pt>
                <c:pt idx="15">
                  <c:v>4.4024608313313855</c:v>
                </c:pt>
                <c:pt idx="16">
                  <c:v>4.6283735429156359</c:v>
                </c:pt>
                <c:pt idx="17">
                  <c:v>1.6215158360889681</c:v>
                </c:pt>
                <c:pt idx="18">
                  <c:v>1.1369659248775712</c:v>
                </c:pt>
                <c:pt idx="19">
                  <c:v>0.97607187842474219</c:v>
                </c:pt>
              </c:numCache>
            </c:numRef>
          </c:val>
          <c:smooth val="0"/>
          <c:extLst>
            <c:ext xmlns:c16="http://schemas.microsoft.com/office/drawing/2014/chart" uri="{C3380CC4-5D6E-409C-BE32-E72D297353CC}">
              <c16:uniqueId val="{00000003-FD80-49FC-8398-912504B0EB07}"/>
            </c:ext>
          </c:extLst>
        </c:ser>
        <c:dLbls>
          <c:showLegendKey val="0"/>
          <c:showVal val="0"/>
          <c:showCatName val="0"/>
          <c:showSerName val="0"/>
          <c:showPercent val="0"/>
          <c:showBubbleSize val="0"/>
        </c:dLbls>
        <c:marker val="1"/>
        <c:smooth val="0"/>
        <c:axId val="243690880"/>
        <c:axId val="243688960"/>
      </c:lineChart>
      <c:catAx>
        <c:axId val="243668864"/>
        <c:scaling>
          <c:orientation val="minMax"/>
        </c:scaling>
        <c:delete val="0"/>
        <c:axPos val="b"/>
        <c:numFmt formatCode="General" sourceLinked="1"/>
        <c:majorTickMark val="none"/>
        <c:minorTickMark val="none"/>
        <c:tickLblPos val="nextTo"/>
        <c:txPr>
          <a:bodyPr rot="-2760000"/>
          <a:lstStyle/>
          <a:p>
            <a:pPr>
              <a:defRPr sz="1050"/>
            </a:pPr>
            <a:endParaRPr lang="zh-CN"/>
          </a:p>
        </c:txPr>
        <c:crossAx val="243670400"/>
        <c:crosses val="autoZero"/>
        <c:auto val="1"/>
        <c:lblAlgn val="ctr"/>
        <c:lblOffset val="0"/>
        <c:tickLblSkip val="1"/>
        <c:noMultiLvlLbl val="0"/>
      </c:catAx>
      <c:valAx>
        <c:axId val="243670400"/>
        <c:scaling>
          <c:orientation val="minMax"/>
        </c:scaling>
        <c:delete val="0"/>
        <c:axPos val="l"/>
        <c:title>
          <c:tx>
            <c:rich>
              <a:bodyPr rot="0" vert="horz"/>
              <a:lstStyle/>
              <a:p>
                <a:pPr>
                  <a:defRPr/>
                </a:pPr>
                <a:r>
                  <a:rPr lang="zh-CN"/>
                  <a:t>万㎡</a:t>
                </a:r>
              </a:p>
            </c:rich>
          </c:tx>
          <c:layout>
            <c:manualLayout>
              <c:xMode val="edge"/>
              <c:yMode val="edge"/>
              <c:x val="0"/>
              <c:y val="8.4620516185476821E-2"/>
            </c:manualLayout>
          </c:layout>
          <c:overlay val="0"/>
        </c:title>
        <c:numFmt formatCode="#,##0_);[Red]\(#,##0\)" sourceLinked="0"/>
        <c:majorTickMark val="out"/>
        <c:minorTickMark val="none"/>
        <c:tickLblPos val="nextTo"/>
        <c:txPr>
          <a:bodyPr/>
          <a:lstStyle/>
          <a:p>
            <a:pPr>
              <a:defRPr sz="1100"/>
            </a:pPr>
            <a:endParaRPr lang="zh-CN"/>
          </a:p>
        </c:txPr>
        <c:crossAx val="243668864"/>
        <c:crosses val="autoZero"/>
        <c:crossBetween val="between"/>
      </c:valAx>
      <c:valAx>
        <c:axId val="243688960"/>
        <c:scaling>
          <c:orientation val="minMax"/>
        </c:scaling>
        <c:delete val="0"/>
        <c:axPos val="r"/>
        <c:title>
          <c:tx>
            <c:rich>
              <a:bodyPr rot="0" vert="horz"/>
              <a:lstStyle/>
              <a:p>
                <a:pPr>
                  <a:defRPr/>
                </a:pPr>
                <a:r>
                  <a:rPr lang="zh-CN"/>
                  <a:t>月</a:t>
                </a:r>
              </a:p>
            </c:rich>
          </c:tx>
          <c:layout>
            <c:manualLayout>
              <c:xMode val="edge"/>
              <c:yMode val="edge"/>
              <c:x val="0.93580733316446141"/>
              <c:y val="9.5219243221821612E-2"/>
            </c:manualLayout>
          </c:layout>
          <c:overlay val="0"/>
        </c:title>
        <c:numFmt formatCode="#,##0_);[Red]\(#,##0\)" sourceLinked="0"/>
        <c:majorTickMark val="out"/>
        <c:minorTickMark val="none"/>
        <c:tickLblPos val="nextTo"/>
        <c:txPr>
          <a:bodyPr/>
          <a:lstStyle/>
          <a:p>
            <a:pPr>
              <a:defRPr sz="1100"/>
            </a:pPr>
            <a:endParaRPr lang="zh-CN"/>
          </a:p>
        </c:txPr>
        <c:crossAx val="243690880"/>
        <c:crosses val="max"/>
        <c:crossBetween val="between"/>
      </c:valAx>
      <c:catAx>
        <c:axId val="243690880"/>
        <c:scaling>
          <c:orientation val="minMax"/>
        </c:scaling>
        <c:delete val="1"/>
        <c:axPos val="b"/>
        <c:numFmt formatCode="General" sourceLinked="1"/>
        <c:majorTickMark val="out"/>
        <c:minorTickMark val="none"/>
        <c:tickLblPos val="nextTo"/>
        <c:crossAx val="243688960"/>
        <c:crosses val="autoZero"/>
        <c:auto val="1"/>
        <c:lblAlgn val="ctr"/>
        <c:lblOffset val="100"/>
        <c:noMultiLvlLbl val="0"/>
      </c:catAx>
      <c:spPr>
        <a:noFill/>
      </c:spPr>
    </c:plotArea>
    <c:legend>
      <c:legendPos val="t"/>
      <c:layout>
        <c:manualLayout>
          <c:xMode val="edge"/>
          <c:yMode val="edge"/>
          <c:x val="0.30305067155067156"/>
          <c:y val="0.16645591085271319"/>
          <c:w val="0.51844118844118847"/>
          <c:h val="9.7747093023255807E-2"/>
        </c:manualLayout>
      </c:layout>
      <c:overlay val="0"/>
      <c:txPr>
        <a:bodyPr/>
        <a:lstStyle/>
        <a:p>
          <a:pPr>
            <a:defRPr sz="1100"/>
          </a:pPr>
          <a:endParaRPr lang="zh-CN"/>
        </a:p>
      </c:txPr>
    </c:legend>
    <c:plotVisOnly val="1"/>
    <c:dispBlanksAs val="gap"/>
    <c:showDLblsOverMax val="0"/>
  </c:chart>
  <c:spPr>
    <a:noFill/>
    <a:ln>
      <a:noFill/>
    </a:ln>
  </c:spPr>
  <c:txPr>
    <a:bodyPr/>
    <a:lstStyle/>
    <a:p>
      <a:pPr>
        <a:defRPr>
          <a:latin typeface="微软雅黑" pitchFamily="34" charset="-122"/>
          <a:ea typeface="微软雅黑" pitchFamily="34" charset="-122"/>
        </a:defRPr>
      </a:pPr>
      <a:endParaRPr lang="zh-CN"/>
    </a:p>
  </c:txPr>
  <c:externalData r:id="rId1">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sz="1400"/>
            </a:pPr>
            <a:r>
              <a:rPr lang="zh-CN" altLang="en-US" sz="1400"/>
              <a:t>固安</a:t>
            </a:r>
            <a:r>
              <a:rPr lang="en-US" altLang="zh-CN" sz="1400"/>
              <a:t>2015.01-2016.08</a:t>
            </a:r>
            <a:r>
              <a:rPr lang="zh-CN" altLang="en-US" sz="1400"/>
              <a:t>各物业成交情况</a:t>
            </a:r>
            <a:endParaRPr lang="zh-CN" sz="1400"/>
          </a:p>
        </c:rich>
      </c:tx>
      <c:layout>
        <c:manualLayout>
          <c:xMode val="edge"/>
          <c:yMode val="edge"/>
          <c:x val="0.29386934561818145"/>
          <c:y val="3.1229812661498712E-3"/>
        </c:manualLayout>
      </c:layout>
      <c:overlay val="0"/>
    </c:title>
    <c:autoTitleDeleted val="0"/>
    <c:plotArea>
      <c:layout>
        <c:manualLayout>
          <c:layoutTarget val="inner"/>
          <c:xMode val="edge"/>
          <c:yMode val="edge"/>
          <c:x val="8.4034853932443976E-2"/>
          <c:y val="0.19085311692506457"/>
          <c:w val="0.84583912278304252"/>
          <c:h val="0.60444202196382424"/>
        </c:manualLayout>
      </c:layout>
      <c:barChart>
        <c:barDir val="col"/>
        <c:grouping val="clustered"/>
        <c:varyColors val="0"/>
        <c:ser>
          <c:idx val="0"/>
          <c:order val="0"/>
          <c:tx>
            <c:strRef>
              <c:f>固安!$B$41</c:f>
              <c:strCache>
                <c:ptCount val="1"/>
                <c:pt idx="0">
                  <c:v>商品住宅</c:v>
                </c:pt>
              </c:strCache>
            </c:strRef>
          </c:tx>
          <c:spPr>
            <a:solidFill>
              <a:srgbClr val="0070C0"/>
            </a:solidFill>
            <a:ln>
              <a:noFill/>
            </a:ln>
            <a:effectLst/>
          </c:spPr>
          <c:invertIfNegative val="0"/>
          <c:cat>
            <c:strRef>
              <c:f>固安!$A$42:$A$61</c:f>
              <c:strCache>
                <c:ptCount val="20"/>
                <c:pt idx="0">
                  <c:v>15/01</c:v>
                </c:pt>
                <c:pt idx="1">
                  <c:v>15/02</c:v>
                </c:pt>
                <c:pt idx="2">
                  <c:v>15/03</c:v>
                </c:pt>
                <c:pt idx="3">
                  <c:v>15/04</c:v>
                </c:pt>
                <c:pt idx="4">
                  <c:v>15/05</c:v>
                </c:pt>
                <c:pt idx="5">
                  <c:v>15/06</c:v>
                </c:pt>
                <c:pt idx="6">
                  <c:v>15/07</c:v>
                </c:pt>
                <c:pt idx="7">
                  <c:v>15/08</c:v>
                </c:pt>
                <c:pt idx="8">
                  <c:v>15/09</c:v>
                </c:pt>
                <c:pt idx="9">
                  <c:v>15/10</c:v>
                </c:pt>
                <c:pt idx="10">
                  <c:v>15/11</c:v>
                </c:pt>
                <c:pt idx="11">
                  <c:v>15/12</c:v>
                </c:pt>
                <c:pt idx="12">
                  <c:v>16/01</c:v>
                </c:pt>
                <c:pt idx="13">
                  <c:v>16/02</c:v>
                </c:pt>
                <c:pt idx="14">
                  <c:v>16/03</c:v>
                </c:pt>
                <c:pt idx="15">
                  <c:v>16/04</c:v>
                </c:pt>
                <c:pt idx="16">
                  <c:v>16/05</c:v>
                </c:pt>
                <c:pt idx="17">
                  <c:v>16/06</c:v>
                </c:pt>
                <c:pt idx="18">
                  <c:v>16/07</c:v>
                </c:pt>
                <c:pt idx="19">
                  <c:v>16/08</c:v>
                </c:pt>
              </c:strCache>
            </c:strRef>
          </c:cat>
          <c:val>
            <c:numRef>
              <c:f>固安!$B$42:$B$61</c:f>
              <c:numCache>
                <c:formatCode>General</c:formatCode>
                <c:ptCount val="20"/>
                <c:pt idx="0">
                  <c:v>3212</c:v>
                </c:pt>
                <c:pt idx="1">
                  <c:v>855</c:v>
                </c:pt>
                <c:pt idx="2">
                  <c:v>2951</c:v>
                </c:pt>
                <c:pt idx="3">
                  <c:v>3033</c:v>
                </c:pt>
                <c:pt idx="4">
                  <c:v>2024</c:v>
                </c:pt>
                <c:pt idx="5">
                  <c:v>2994</c:v>
                </c:pt>
                <c:pt idx="6">
                  <c:v>3790</c:v>
                </c:pt>
                <c:pt idx="7">
                  <c:v>1530</c:v>
                </c:pt>
                <c:pt idx="8">
                  <c:v>1849</c:v>
                </c:pt>
                <c:pt idx="9">
                  <c:v>3491</c:v>
                </c:pt>
                <c:pt idx="10">
                  <c:v>2585</c:v>
                </c:pt>
                <c:pt idx="11">
                  <c:v>3846</c:v>
                </c:pt>
                <c:pt idx="12">
                  <c:v>2472</c:v>
                </c:pt>
                <c:pt idx="13">
                  <c:v>1011</c:v>
                </c:pt>
                <c:pt idx="14">
                  <c:v>3192</c:v>
                </c:pt>
                <c:pt idx="15">
                  <c:v>2424</c:v>
                </c:pt>
                <c:pt idx="16">
                  <c:v>801</c:v>
                </c:pt>
                <c:pt idx="17">
                  <c:v>7435</c:v>
                </c:pt>
                <c:pt idx="18">
                  <c:v>2035</c:v>
                </c:pt>
                <c:pt idx="19">
                  <c:v>1780</c:v>
                </c:pt>
              </c:numCache>
            </c:numRef>
          </c:val>
          <c:extLst>
            <c:ext xmlns:c16="http://schemas.microsoft.com/office/drawing/2014/chart" uri="{C3380CC4-5D6E-409C-BE32-E72D297353CC}">
              <c16:uniqueId val="{00000000-A242-49C3-BF1F-C45B40C0178B}"/>
            </c:ext>
          </c:extLst>
        </c:ser>
        <c:ser>
          <c:idx val="1"/>
          <c:order val="1"/>
          <c:tx>
            <c:strRef>
              <c:f>固安!$C$41</c:f>
              <c:strCache>
                <c:ptCount val="1"/>
                <c:pt idx="0">
                  <c:v>商品房</c:v>
                </c:pt>
              </c:strCache>
            </c:strRef>
          </c:tx>
          <c:spPr>
            <a:solidFill>
              <a:srgbClr val="F79646">
                <a:lumMod val="75000"/>
              </a:srgbClr>
            </a:solidFill>
            <a:ln>
              <a:noFill/>
            </a:ln>
            <a:effectLst/>
          </c:spPr>
          <c:invertIfNegative val="0"/>
          <c:cat>
            <c:strRef>
              <c:f>固安!$A$42:$A$61</c:f>
              <c:strCache>
                <c:ptCount val="20"/>
                <c:pt idx="0">
                  <c:v>15/01</c:v>
                </c:pt>
                <c:pt idx="1">
                  <c:v>15/02</c:v>
                </c:pt>
                <c:pt idx="2">
                  <c:v>15/03</c:v>
                </c:pt>
                <c:pt idx="3">
                  <c:v>15/04</c:v>
                </c:pt>
                <c:pt idx="4">
                  <c:v>15/05</c:v>
                </c:pt>
                <c:pt idx="5">
                  <c:v>15/06</c:v>
                </c:pt>
                <c:pt idx="6">
                  <c:v>15/07</c:v>
                </c:pt>
                <c:pt idx="7">
                  <c:v>15/08</c:v>
                </c:pt>
                <c:pt idx="8">
                  <c:v>15/09</c:v>
                </c:pt>
                <c:pt idx="9">
                  <c:v>15/10</c:v>
                </c:pt>
                <c:pt idx="10">
                  <c:v>15/11</c:v>
                </c:pt>
                <c:pt idx="11">
                  <c:v>15/12</c:v>
                </c:pt>
                <c:pt idx="12">
                  <c:v>16/01</c:v>
                </c:pt>
                <c:pt idx="13">
                  <c:v>16/02</c:v>
                </c:pt>
                <c:pt idx="14">
                  <c:v>16/03</c:v>
                </c:pt>
                <c:pt idx="15">
                  <c:v>16/04</c:v>
                </c:pt>
                <c:pt idx="16">
                  <c:v>16/05</c:v>
                </c:pt>
                <c:pt idx="17">
                  <c:v>16/06</c:v>
                </c:pt>
                <c:pt idx="18">
                  <c:v>16/07</c:v>
                </c:pt>
                <c:pt idx="19">
                  <c:v>16/08</c:v>
                </c:pt>
              </c:strCache>
            </c:strRef>
          </c:cat>
          <c:val>
            <c:numRef>
              <c:f>固安!$C$42:$C$61</c:f>
              <c:numCache>
                <c:formatCode>General</c:formatCode>
                <c:ptCount val="20"/>
                <c:pt idx="0">
                  <c:v>3262</c:v>
                </c:pt>
                <c:pt idx="1">
                  <c:v>871</c:v>
                </c:pt>
                <c:pt idx="2">
                  <c:v>2960</c:v>
                </c:pt>
                <c:pt idx="3">
                  <c:v>3059</c:v>
                </c:pt>
                <c:pt idx="4">
                  <c:v>2041</c:v>
                </c:pt>
                <c:pt idx="5">
                  <c:v>3015</c:v>
                </c:pt>
                <c:pt idx="6">
                  <c:v>3813</c:v>
                </c:pt>
                <c:pt idx="7">
                  <c:v>1551</c:v>
                </c:pt>
                <c:pt idx="8">
                  <c:v>1862</c:v>
                </c:pt>
                <c:pt idx="9">
                  <c:v>3500</c:v>
                </c:pt>
                <c:pt idx="10">
                  <c:v>2611</c:v>
                </c:pt>
                <c:pt idx="11">
                  <c:v>3874</c:v>
                </c:pt>
                <c:pt idx="12">
                  <c:v>2493</c:v>
                </c:pt>
                <c:pt idx="13">
                  <c:v>1029</c:v>
                </c:pt>
                <c:pt idx="14">
                  <c:v>3242</c:v>
                </c:pt>
                <c:pt idx="15">
                  <c:v>2466</c:v>
                </c:pt>
                <c:pt idx="16">
                  <c:v>973</c:v>
                </c:pt>
                <c:pt idx="17">
                  <c:v>7641</c:v>
                </c:pt>
                <c:pt idx="18">
                  <c:v>2106</c:v>
                </c:pt>
                <c:pt idx="19">
                  <c:v>1830</c:v>
                </c:pt>
              </c:numCache>
            </c:numRef>
          </c:val>
          <c:extLst>
            <c:ext xmlns:c16="http://schemas.microsoft.com/office/drawing/2014/chart" uri="{C3380CC4-5D6E-409C-BE32-E72D297353CC}">
              <c16:uniqueId val="{00000001-A242-49C3-BF1F-C45B40C0178B}"/>
            </c:ext>
          </c:extLst>
        </c:ser>
        <c:dLbls>
          <c:showLegendKey val="0"/>
          <c:showVal val="0"/>
          <c:showCatName val="0"/>
          <c:showSerName val="0"/>
          <c:showPercent val="0"/>
          <c:showBubbleSize val="0"/>
        </c:dLbls>
        <c:gapWidth val="219"/>
        <c:axId val="243749248"/>
        <c:axId val="243750784"/>
      </c:barChart>
      <c:lineChart>
        <c:grouping val="standard"/>
        <c:varyColors val="0"/>
        <c:ser>
          <c:idx val="2"/>
          <c:order val="2"/>
          <c:tx>
            <c:strRef>
              <c:f>固安!$D$41</c:f>
              <c:strCache>
                <c:ptCount val="1"/>
                <c:pt idx="0">
                  <c:v>成交占比</c:v>
                </c:pt>
              </c:strCache>
            </c:strRef>
          </c:tx>
          <c:spPr>
            <a:ln w="31750">
              <a:solidFill>
                <a:srgbClr val="4BACC6">
                  <a:lumMod val="75000"/>
                </a:srgbClr>
              </a:solidFill>
            </a:ln>
          </c:spPr>
          <c:marker>
            <c:symbol val="square"/>
            <c:size val="5"/>
          </c:marker>
          <c:dLbls>
            <c:dLbl>
              <c:idx val="0"/>
              <c:delete val="1"/>
              <c:extLst>
                <c:ext xmlns:c15="http://schemas.microsoft.com/office/drawing/2012/chart" uri="{CE6537A1-D6FC-4f65-9D91-7224C49458BB}"/>
                <c:ext xmlns:c16="http://schemas.microsoft.com/office/drawing/2014/chart" uri="{C3380CC4-5D6E-409C-BE32-E72D297353CC}">
                  <c16:uniqueId val="{00000002-A242-49C3-BF1F-C45B40C0178B}"/>
                </c:ext>
              </c:extLst>
            </c:dLbl>
            <c:dLbl>
              <c:idx val="2"/>
              <c:delete val="1"/>
              <c:extLst>
                <c:ext xmlns:c15="http://schemas.microsoft.com/office/drawing/2012/chart" uri="{CE6537A1-D6FC-4f65-9D91-7224C49458BB}"/>
                <c:ext xmlns:c16="http://schemas.microsoft.com/office/drawing/2014/chart" uri="{C3380CC4-5D6E-409C-BE32-E72D297353CC}">
                  <c16:uniqueId val="{00000003-A242-49C3-BF1F-C45B40C0178B}"/>
                </c:ext>
              </c:extLst>
            </c:dLbl>
            <c:dLbl>
              <c:idx val="4"/>
              <c:delete val="1"/>
              <c:extLst>
                <c:ext xmlns:c15="http://schemas.microsoft.com/office/drawing/2012/chart" uri="{CE6537A1-D6FC-4f65-9D91-7224C49458BB}"/>
                <c:ext xmlns:c16="http://schemas.microsoft.com/office/drawing/2014/chart" uri="{C3380CC4-5D6E-409C-BE32-E72D297353CC}">
                  <c16:uniqueId val="{00000004-A242-49C3-BF1F-C45B40C0178B}"/>
                </c:ext>
              </c:extLst>
            </c:dLbl>
            <c:dLbl>
              <c:idx val="6"/>
              <c:delete val="1"/>
              <c:extLst>
                <c:ext xmlns:c15="http://schemas.microsoft.com/office/drawing/2012/chart" uri="{CE6537A1-D6FC-4f65-9D91-7224C49458BB}"/>
                <c:ext xmlns:c16="http://schemas.microsoft.com/office/drawing/2014/chart" uri="{C3380CC4-5D6E-409C-BE32-E72D297353CC}">
                  <c16:uniqueId val="{00000005-A242-49C3-BF1F-C45B40C0178B}"/>
                </c:ext>
              </c:extLst>
            </c:dLbl>
            <c:dLbl>
              <c:idx val="8"/>
              <c:delete val="1"/>
              <c:extLst>
                <c:ext xmlns:c15="http://schemas.microsoft.com/office/drawing/2012/chart" uri="{CE6537A1-D6FC-4f65-9D91-7224C49458BB}"/>
                <c:ext xmlns:c16="http://schemas.microsoft.com/office/drawing/2014/chart" uri="{C3380CC4-5D6E-409C-BE32-E72D297353CC}">
                  <c16:uniqueId val="{00000006-A242-49C3-BF1F-C45B40C0178B}"/>
                </c:ext>
              </c:extLst>
            </c:dLbl>
            <c:dLbl>
              <c:idx val="10"/>
              <c:delete val="1"/>
              <c:extLst>
                <c:ext xmlns:c15="http://schemas.microsoft.com/office/drawing/2012/chart" uri="{CE6537A1-D6FC-4f65-9D91-7224C49458BB}"/>
                <c:ext xmlns:c16="http://schemas.microsoft.com/office/drawing/2014/chart" uri="{C3380CC4-5D6E-409C-BE32-E72D297353CC}">
                  <c16:uniqueId val="{00000007-A242-49C3-BF1F-C45B40C0178B}"/>
                </c:ext>
              </c:extLst>
            </c:dLbl>
            <c:dLbl>
              <c:idx val="12"/>
              <c:delete val="1"/>
              <c:extLst>
                <c:ext xmlns:c15="http://schemas.microsoft.com/office/drawing/2012/chart" uri="{CE6537A1-D6FC-4f65-9D91-7224C49458BB}"/>
                <c:ext xmlns:c16="http://schemas.microsoft.com/office/drawing/2014/chart" uri="{C3380CC4-5D6E-409C-BE32-E72D297353CC}">
                  <c16:uniqueId val="{00000008-A242-49C3-BF1F-C45B40C0178B}"/>
                </c:ext>
              </c:extLst>
            </c:dLbl>
            <c:dLbl>
              <c:idx val="14"/>
              <c:delete val="1"/>
              <c:extLst>
                <c:ext xmlns:c15="http://schemas.microsoft.com/office/drawing/2012/chart" uri="{CE6537A1-D6FC-4f65-9D91-7224C49458BB}"/>
                <c:ext xmlns:c16="http://schemas.microsoft.com/office/drawing/2014/chart" uri="{C3380CC4-5D6E-409C-BE32-E72D297353CC}">
                  <c16:uniqueId val="{00000009-A242-49C3-BF1F-C45B40C0178B}"/>
                </c:ext>
              </c:extLst>
            </c:dLbl>
            <c:dLbl>
              <c:idx val="18"/>
              <c:delete val="1"/>
              <c:extLst>
                <c:ext xmlns:c15="http://schemas.microsoft.com/office/drawing/2012/chart" uri="{CE6537A1-D6FC-4f65-9D91-7224C49458BB}"/>
                <c:ext xmlns:c16="http://schemas.microsoft.com/office/drawing/2014/chart" uri="{C3380CC4-5D6E-409C-BE32-E72D297353CC}">
                  <c16:uniqueId val="{0000000A-A242-49C3-BF1F-C45B40C0178B}"/>
                </c:ext>
              </c:extLst>
            </c:dLbl>
            <c:spPr>
              <a:noFill/>
              <a:ln>
                <a:noFill/>
              </a:ln>
              <a:effectLst/>
            </c:sp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固安!$A$42:$A$61</c:f>
              <c:strCache>
                <c:ptCount val="20"/>
                <c:pt idx="0">
                  <c:v>15/01</c:v>
                </c:pt>
                <c:pt idx="1">
                  <c:v>15/02</c:v>
                </c:pt>
                <c:pt idx="2">
                  <c:v>15/03</c:v>
                </c:pt>
                <c:pt idx="3">
                  <c:v>15/04</c:v>
                </c:pt>
                <c:pt idx="4">
                  <c:v>15/05</c:v>
                </c:pt>
                <c:pt idx="5">
                  <c:v>15/06</c:v>
                </c:pt>
                <c:pt idx="6">
                  <c:v>15/07</c:v>
                </c:pt>
                <c:pt idx="7">
                  <c:v>15/08</c:v>
                </c:pt>
                <c:pt idx="8">
                  <c:v>15/09</c:v>
                </c:pt>
                <c:pt idx="9">
                  <c:v>15/10</c:v>
                </c:pt>
                <c:pt idx="10">
                  <c:v>15/11</c:v>
                </c:pt>
                <c:pt idx="11">
                  <c:v>15/12</c:v>
                </c:pt>
                <c:pt idx="12">
                  <c:v>16/01</c:v>
                </c:pt>
                <c:pt idx="13">
                  <c:v>16/02</c:v>
                </c:pt>
                <c:pt idx="14">
                  <c:v>16/03</c:v>
                </c:pt>
                <c:pt idx="15">
                  <c:v>16/04</c:v>
                </c:pt>
                <c:pt idx="16">
                  <c:v>16/05</c:v>
                </c:pt>
                <c:pt idx="17">
                  <c:v>16/06</c:v>
                </c:pt>
                <c:pt idx="18">
                  <c:v>16/07</c:v>
                </c:pt>
                <c:pt idx="19">
                  <c:v>16/08</c:v>
                </c:pt>
              </c:strCache>
            </c:strRef>
          </c:cat>
          <c:val>
            <c:numRef>
              <c:f>固安!$D$42:$D$61</c:f>
              <c:numCache>
                <c:formatCode>0.0%</c:formatCode>
                <c:ptCount val="20"/>
                <c:pt idx="0">
                  <c:v>0.98467198038013493</c:v>
                </c:pt>
                <c:pt idx="1">
                  <c:v>0.98163030998851897</c:v>
                </c:pt>
                <c:pt idx="2">
                  <c:v>0.99695945945945941</c:v>
                </c:pt>
                <c:pt idx="3">
                  <c:v>0.99150049035632559</c:v>
                </c:pt>
                <c:pt idx="4">
                  <c:v>0.9916707496325331</c:v>
                </c:pt>
                <c:pt idx="5">
                  <c:v>0.99303482587064673</c:v>
                </c:pt>
                <c:pt idx="6">
                  <c:v>0.99396800419617104</c:v>
                </c:pt>
                <c:pt idx="7">
                  <c:v>0.98646034816247585</c:v>
                </c:pt>
                <c:pt idx="8">
                  <c:v>0.99301825993555315</c:v>
                </c:pt>
                <c:pt idx="9">
                  <c:v>0.99742857142857144</c:v>
                </c:pt>
                <c:pt idx="10">
                  <c:v>0.99004212945231707</c:v>
                </c:pt>
                <c:pt idx="11">
                  <c:v>0.99277232834279816</c:v>
                </c:pt>
                <c:pt idx="12">
                  <c:v>0.99157641395908547</c:v>
                </c:pt>
                <c:pt idx="13">
                  <c:v>0.98250728862973757</c:v>
                </c:pt>
                <c:pt idx="14">
                  <c:v>0.98457742134484882</c:v>
                </c:pt>
                <c:pt idx="15">
                  <c:v>0.98296836982968372</c:v>
                </c:pt>
                <c:pt idx="16">
                  <c:v>0.82322713257965052</c:v>
                </c:pt>
                <c:pt idx="17">
                  <c:v>0.97304017798717446</c:v>
                </c:pt>
                <c:pt idx="18">
                  <c:v>0.96628679962013297</c:v>
                </c:pt>
                <c:pt idx="19">
                  <c:v>0.97267759562841527</c:v>
                </c:pt>
              </c:numCache>
            </c:numRef>
          </c:val>
          <c:smooth val="0"/>
          <c:extLst>
            <c:ext xmlns:c16="http://schemas.microsoft.com/office/drawing/2014/chart" uri="{C3380CC4-5D6E-409C-BE32-E72D297353CC}">
              <c16:uniqueId val="{0000000B-A242-49C3-BF1F-C45B40C0178B}"/>
            </c:ext>
          </c:extLst>
        </c:ser>
        <c:dLbls>
          <c:showLegendKey val="0"/>
          <c:showVal val="0"/>
          <c:showCatName val="0"/>
          <c:showSerName val="0"/>
          <c:showPercent val="0"/>
          <c:showBubbleSize val="0"/>
        </c:dLbls>
        <c:marker val="1"/>
        <c:smooth val="0"/>
        <c:axId val="243758592"/>
        <c:axId val="243757056"/>
      </c:lineChart>
      <c:catAx>
        <c:axId val="243749248"/>
        <c:scaling>
          <c:orientation val="minMax"/>
        </c:scaling>
        <c:delete val="0"/>
        <c:axPos val="b"/>
        <c:numFmt formatCode="General" sourceLinked="1"/>
        <c:majorTickMark val="none"/>
        <c:minorTickMark val="none"/>
        <c:tickLblPos val="nextTo"/>
        <c:spPr>
          <a:noFill/>
          <a:ln w="9525" cap="flat" cmpd="sng" algn="ctr">
            <a:solidFill>
              <a:sysClr val="window" lastClr="FFFFFF">
                <a:lumMod val="50000"/>
              </a:sysClr>
            </a:solidFill>
            <a:round/>
          </a:ln>
          <a:effectLst/>
        </c:spPr>
        <c:txPr>
          <a:bodyPr rot="-2880000" vert="horz"/>
          <a:lstStyle/>
          <a:p>
            <a:pPr>
              <a:defRPr/>
            </a:pPr>
            <a:endParaRPr lang="zh-CN"/>
          </a:p>
        </c:txPr>
        <c:crossAx val="243750784"/>
        <c:crosses val="autoZero"/>
        <c:auto val="1"/>
        <c:lblAlgn val="ctr"/>
        <c:lblOffset val="0"/>
        <c:tickLblSkip val="1"/>
        <c:noMultiLvlLbl val="0"/>
      </c:catAx>
      <c:valAx>
        <c:axId val="243750784"/>
        <c:scaling>
          <c:orientation val="minMax"/>
        </c:scaling>
        <c:delete val="0"/>
        <c:axPos val="l"/>
        <c:title>
          <c:tx>
            <c:rich>
              <a:bodyPr rot="0" vert="horz"/>
              <a:lstStyle/>
              <a:p>
                <a:pPr>
                  <a:defRPr/>
                </a:pPr>
                <a:r>
                  <a:rPr lang="zh-CN" altLang="en-US"/>
                  <a:t>套</a:t>
                </a:r>
                <a:endParaRPr lang="zh-CN"/>
              </a:p>
            </c:rich>
          </c:tx>
          <c:layout>
            <c:manualLayout>
              <c:xMode val="edge"/>
              <c:yMode val="edge"/>
              <c:x val="4.014518068055916E-2"/>
              <c:y val="7.9350371447028417E-2"/>
            </c:manualLayout>
          </c:layout>
          <c:overlay val="0"/>
        </c:title>
        <c:numFmt formatCode="0_ " sourceLinked="0"/>
        <c:majorTickMark val="out"/>
        <c:minorTickMark val="none"/>
        <c:tickLblPos val="nextTo"/>
        <c:crossAx val="243749248"/>
        <c:crosses val="autoZero"/>
        <c:crossBetween val="between"/>
      </c:valAx>
      <c:valAx>
        <c:axId val="243757056"/>
        <c:scaling>
          <c:orientation val="minMax"/>
          <c:max val="1.2"/>
          <c:min val="0.60000000000000009"/>
        </c:scaling>
        <c:delete val="0"/>
        <c:axPos val="r"/>
        <c:numFmt formatCode="0%" sourceLinked="0"/>
        <c:majorTickMark val="out"/>
        <c:minorTickMark val="none"/>
        <c:tickLblPos val="nextTo"/>
        <c:crossAx val="243758592"/>
        <c:crosses val="max"/>
        <c:crossBetween val="between"/>
        <c:majorUnit val="0.2"/>
      </c:valAx>
      <c:catAx>
        <c:axId val="243758592"/>
        <c:scaling>
          <c:orientation val="minMax"/>
        </c:scaling>
        <c:delete val="1"/>
        <c:axPos val="b"/>
        <c:numFmt formatCode="General" sourceLinked="1"/>
        <c:majorTickMark val="out"/>
        <c:minorTickMark val="none"/>
        <c:tickLblPos val="nextTo"/>
        <c:crossAx val="243757056"/>
        <c:crosses val="autoZero"/>
        <c:auto val="1"/>
        <c:lblAlgn val="ctr"/>
        <c:lblOffset val="100"/>
        <c:noMultiLvlLbl val="0"/>
      </c:catAx>
      <c:spPr>
        <a:noFill/>
        <a:ln>
          <a:noFill/>
        </a:ln>
        <a:effectLst/>
      </c:spPr>
    </c:plotArea>
    <c:legend>
      <c:legendPos val="b"/>
      <c:layout>
        <c:manualLayout>
          <c:xMode val="edge"/>
          <c:yMode val="edge"/>
          <c:x val="0.10594970965416887"/>
          <c:y val="0.14420913104925401"/>
          <c:w val="0.76884283246977547"/>
          <c:h val="8.9945631796025494E-2"/>
        </c:manualLayout>
      </c:layout>
      <c:overlay val="0"/>
      <c:spPr>
        <a:noFill/>
        <a:ln>
          <a:noFill/>
        </a:ln>
        <a:effectLst/>
      </c:spPr>
      <c:txPr>
        <a:bodyPr rot="0" vert="horz"/>
        <a:lstStyle/>
        <a:p>
          <a:pPr>
            <a:defRPr/>
          </a:pPr>
          <a:endParaRPr lang="zh-CN"/>
        </a:p>
      </c:txPr>
    </c:legend>
    <c:plotVisOnly val="1"/>
    <c:dispBlanksAs val="gap"/>
    <c:showDLblsOverMax val="0"/>
  </c:chart>
  <c:spPr>
    <a:noFill/>
    <a:ln w="9525" cap="flat" cmpd="sng" algn="ctr">
      <a:noFill/>
      <a:round/>
    </a:ln>
    <a:effectLst/>
  </c:spPr>
  <c:txPr>
    <a:bodyPr/>
    <a:lstStyle/>
    <a:p>
      <a:pPr>
        <a:defRPr sz="1000">
          <a:latin typeface="微软雅黑" pitchFamily="34" charset="-122"/>
          <a:ea typeface="微软雅黑" pitchFamily="34" charset="-122"/>
        </a:defRPr>
      </a:pPr>
      <a:endParaRPr lang="zh-CN"/>
    </a:p>
  </c:txPr>
  <c:externalData r:id="rId2">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sz="1400"/>
            </a:pPr>
            <a:r>
              <a:rPr lang="zh-CN" sz="1400"/>
              <a:t>香河</a:t>
            </a:r>
            <a:r>
              <a:rPr lang="en-US" sz="1400"/>
              <a:t>2015.01-2016.08</a:t>
            </a:r>
            <a:r>
              <a:rPr lang="zh-CN" sz="1400"/>
              <a:t>商品房供销情况</a:t>
            </a:r>
          </a:p>
        </c:rich>
      </c:tx>
      <c:layout>
        <c:manualLayout>
          <c:xMode val="edge"/>
          <c:yMode val="edge"/>
          <c:x val="0.29994438616156238"/>
          <c:y val="0"/>
        </c:manualLayout>
      </c:layout>
      <c:overlay val="0"/>
    </c:title>
    <c:autoTitleDeleted val="0"/>
    <c:plotArea>
      <c:layout>
        <c:manualLayout>
          <c:layoutTarget val="inner"/>
          <c:xMode val="edge"/>
          <c:yMode val="edge"/>
          <c:x val="4.791084862319564E-2"/>
          <c:y val="0.29483303048657378"/>
          <c:w val="0.8799417474268858"/>
          <c:h val="0.52077246113466591"/>
        </c:manualLayout>
      </c:layout>
      <c:barChart>
        <c:barDir val="col"/>
        <c:grouping val="clustered"/>
        <c:varyColors val="0"/>
        <c:ser>
          <c:idx val="0"/>
          <c:order val="0"/>
          <c:tx>
            <c:strRef>
              <c:f>香河!$B$1</c:f>
              <c:strCache>
                <c:ptCount val="1"/>
                <c:pt idx="0">
                  <c:v>新增供应面积(万㎡)</c:v>
                </c:pt>
              </c:strCache>
            </c:strRef>
          </c:tx>
          <c:spPr>
            <a:pattFill prst="wdUpDiag">
              <a:fgClr>
                <a:srgbClr val="70B1DE"/>
              </a:fgClr>
              <a:bgClr>
                <a:srgbClr val="3B95D2"/>
              </a:bgClr>
            </a:pattFill>
            <a:ln>
              <a:solidFill>
                <a:schemeClr val="bg1"/>
              </a:solidFill>
            </a:ln>
            <a:effectLst>
              <a:outerShdw blurRad="50800" dist="38100" algn="l" rotWithShape="0">
                <a:prstClr val="black">
                  <a:alpha val="40000"/>
                </a:prstClr>
              </a:outerShdw>
            </a:effectLst>
          </c:spPr>
          <c:invertIfNegative val="0"/>
          <c:dLbls>
            <c:delete val="1"/>
          </c:dLbls>
          <c:cat>
            <c:strRef>
              <c:f>香河!$A$14:$A$33</c:f>
              <c:strCache>
                <c:ptCount val="20"/>
                <c:pt idx="0">
                  <c:v>15/01</c:v>
                </c:pt>
                <c:pt idx="1">
                  <c:v>15/02</c:v>
                </c:pt>
                <c:pt idx="2">
                  <c:v>15/03</c:v>
                </c:pt>
                <c:pt idx="3">
                  <c:v>15/04</c:v>
                </c:pt>
                <c:pt idx="4">
                  <c:v>15/05</c:v>
                </c:pt>
                <c:pt idx="5">
                  <c:v>15/06</c:v>
                </c:pt>
                <c:pt idx="6">
                  <c:v>15/07</c:v>
                </c:pt>
                <c:pt idx="7">
                  <c:v>15/08</c:v>
                </c:pt>
                <c:pt idx="8">
                  <c:v>15/09</c:v>
                </c:pt>
                <c:pt idx="9">
                  <c:v>15/10</c:v>
                </c:pt>
                <c:pt idx="10">
                  <c:v>15/11</c:v>
                </c:pt>
                <c:pt idx="11">
                  <c:v>15/12</c:v>
                </c:pt>
                <c:pt idx="12">
                  <c:v>16/01</c:v>
                </c:pt>
                <c:pt idx="13">
                  <c:v>16/02</c:v>
                </c:pt>
                <c:pt idx="14">
                  <c:v>16/03</c:v>
                </c:pt>
                <c:pt idx="15">
                  <c:v>16/04</c:v>
                </c:pt>
                <c:pt idx="16">
                  <c:v>16/05</c:v>
                </c:pt>
                <c:pt idx="17">
                  <c:v>16/06</c:v>
                </c:pt>
                <c:pt idx="18">
                  <c:v>16/07</c:v>
                </c:pt>
                <c:pt idx="19">
                  <c:v>16/08</c:v>
                </c:pt>
              </c:strCache>
            </c:strRef>
          </c:cat>
          <c:val>
            <c:numRef>
              <c:f>香河!$B$14:$B$33</c:f>
              <c:numCache>
                <c:formatCode>0.0_);[Red]\(0.0\)</c:formatCode>
                <c:ptCount val="20"/>
                <c:pt idx="0">
                  <c:v>7.2594000000000003</c:v>
                </c:pt>
                <c:pt idx="1">
                  <c:v>0</c:v>
                </c:pt>
                <c:pt idx="2">
                  <c:v>8.1433999999999997</c:v>
                </c:pt>
                <c:pt idx="3">
                  <c:v>1.5875999999999999</c:v>
                </c:pt>
                <c:pt idx="4">
                  <c:v>13.8926</c:v>
                </c:pt>
                <c:pt idx="5">
                  <c:v>5.7319000000000004</c:v>
                </c:pt>
                <c:pt idx="6">
                  <c:v>0.62019999999999997</c:v>
                </c:pt>
                <c:pt idx="7">
                  <c:v>6.6707999999999998</c:v>
                </c:pt>
                <c:pt idx="8">
                  <c:v>0.85619999999999996</c:v>
                </c:pt>
                <c:pt idx="9">
                  <c:v>3.6274999999999999</c:v>
                </c:pt>
                <c:pt idx="10">
                  <c:v>23.929400000000001</c:v>
                </c:pt>
                <c:pt idx="11">
                  <c:v>2.5621</c:v>
                </c:pt>
                <c:pt idx="12">
                  <c:v>0</c:v>
                </c:pt>
                <c:pt idx="13">
                  <c:v>1.6443000000000001</c:v>
                </c:pt>
                <c:pt idx="14">
                  <c:v>1.6754</c:v>
                </c:pt>
                <c:pt idx="15">
                  <c:v>5.8064999999999998</c:v>
                </c:pt>
                <c:pt idx="16">
                  <c:v>9.8468</c:v>
                </c:pt>
                <c:pt idx="17">
                  <c:v>10.938599999999999</c:v>
                </c:pt>
                <c:pt idx="18">
                  <c:v>27.0015</c:v>
                </c:pt>
                <c:pt idx="19">
                  <c:v>15.138199999999999</c:v>
                </c:pt>
              </c:numCache>
            </c:numRef>
          </c:val>
          <c:extLst>
            <c:ext xmlns:c16="http://schemas.microsoft.com/office/drawing/2014/chart" uri="{C3380CC4-5D6E-409C-BE32-E72D297353CC}">
              <c16:uniqueId val="{00000000-3E5F-4602-8D00-A0EAE1EDCBC7}"/>
            </c:ext>
          </c:extLst>
        </c:ser>
        <c:ser>
          <c:idx val="1"/>
          <c:order val="1"/>
          <c:tx>
            <c:strRef>
              <c:f>香河!$C$1</c:f>
              <c:strCache>
                <c:ptCount val="1"/>
                <c:pt idx="0">
                  <c:v>成交面积(万㎡)</c:v>
                </c:pt>
              </c:strCache>
            </c:strRef>
          </c:tx>
          <c:spPr>
            <a:effectLst>
              <a:outerShdw blurRad="50800" dist="38100" algn="l" rotWithShape="0">
                <a:prstClr val="black">
                  <a:alpha val="40000"/>
                </a:prstClr>
              </a:outerShdw>
            </a:effectLst>
          </c:spPr>
          <c:invertIfNegative val="0"/>
          <c:dLbls>
            <c:dLbl>
              <c:idx val="19"/>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E5F-4602-8D00-A0EAE1EDCBC7}"/>
                </c:ext>
              </c:extLst>
            </c:dLbl>
            <c:spPr>
              <a:noFill/>
              <a:ln>
                <a:noFill/>
              </a:ln>
              <a:effectLst/>
            </c:spPr>
            <c:txPr>
              <a:bodyPr/>
              <a:lstStyle/>
              <a:p>
                <a:pPr>
                  <a:defRPr b="1">
                    <a:solidFill>
                      <a:srgbClr val="FF0000"/>
                    </a:solidFill>
                  </a:defRPr>
                </a:pPr>
                <a:endParaRPr lang="zh-CN"/>
              </a:p>
            </c:txPr>
            <c:dLblPos val="outEnd"/>
            <c:showLegendKey val="0"/>
            <c:showVal val="0"/>
            <c:showCatName val="0"/>
            <c:showSerName val="0"/>
            <c:showPercent val="0"/>
            <c:showBubbleSize val="0"/>
            <c:extLst>
              <c:ext xmlns:c15="http://schemas.microsoft.com/office/drawing/2012/chart" uri="{CE6537A1-D6FC-4f65-9D91-7224C49458BB}">
                <c15:showLeaderLines val="0"/>
              </c:ext>
            </c:extLst>
          </c:dLbls>
          <c:cat>
            <c:strRef>
              <c:f>香河!$A$14:$A$33</c:f>
              <c:strCache>
                <c:ptCount val="20"/>
                <c:pt idx="0">
                  <c:v>15/01</c:v>
                </c:pt>
                <c:pt idx="1">
                  <c:v>15/02</c:v>
                </c:pt>
                <c:pt idx="2">
                  <c:v>15/03</c:v>
                </c:pt>
                <c:pt idx="3">
                  <c:v>15/04</c:v>
                </c:pt>
                <c:pt idx="4">
                  <c:v>15/05</c:v>
                </c:pt>
                <c:pt idx="5">
                  <c:v>15/06</c:v>
                </c:pt>
                <c:pt idx="6">
                  <c:v>15/07</c:v>
                </c:pt>
                <c:pt idx="7">
                  <c:v>15/08</c:v>
                </c:pt>
                <c:pt idx="8">
                  <c:v>15/09</c:v>
                </c:pt>
                <c:pt idx="9">
                  <c:v>15/10</c:v>
                </c:pt>
                <c:pt idx="10">
                  <c:v>15/11</c:v>
                </c:pt>
                <c:pt idx="11">
                  <c:v>15/12</c:v>
                </c:pt>
                <c:pt idx="12">
                  <c:v>16/01</c:v>
                </c:pt>
                <c:pt idx="13">
                  <c:v>16/02</c:v>
                </c:pt>
                <c:pt idx="14">
                  <c:v>16/03</c:v>
                </c:pt>
                <c:pt idx="15">
                  <c:v>16/04</c:v>
                </c:pt>
                <c:pt idx="16">
                  <c:v>16/05</c:v>
                </c:pt>
                <c:pt idx="17">
                  <c:v>16/06</c:v>
                </c:pt>
                <c:pt idx="18">
                  <c:v>16/07</c:v>
                </c:pt>
                <c:pt idx="19">
                  <c:v>16/08</c:v>
                </c:pt>
              </c:strCache>
            </c:strRef>
          </c:cat>
          <c:val>
            <c:numRef>
              <c:f>香河!$C$14:$C$33</c:f>
              <c:numCache>
                <c:formatCode>0.0_);[Red]\(0.0\)</c:formatCode>
                <c:ptCount val="20"/>
                <c:pt idx="0">
                  <c:v>18.9587</c:v>
                </c:pt>
                <c:pt idx="1">
                  <c:v>5.4402999999999997</c:v>
                </c:pt>
                <c:pt idx="2">
                  <c:v>11.8855</c:v>
                </c:pt>
                <c:pt idx="3">
                  <c:v>11.132400000000001</c:v>
                </c:pt>
                <c:pt idx="4">
                  <c:v>18.428699999999999</c:v>
                </c:pt>
                <c:pt idx="5">
                  <c:v>22.269600000000001</c:v>
                </c:pt>
                <c:pt idx="6">
                  <c:v>21.271799999999999</c:v>
                </c:pt>
                <c:pt idx="7">
                  <c:v>16.401700000000002</c:v>
                </c:pt>
                <c:pt idx="8">
                  <c:v>20.298100000000002</c:v>
                </c:pt>
                <c:pt idx="9">
                  <c:v>23.101099999999999</c:v>
                </c:pt>
                <c:pt idx="10">
                  <c:v>31.0807</c:v>
                </c:pt>
                <c:pt idx="11">
                  <c:v>42.629600000000003</c:v>
                </c:pt>
                <c:pt idx="12">
                  <c:v>9.6652000000000005</c:v>
                </c:pt>
                <c:pt idx="13">
                  <c:v>4.2610000000000001</c:v>
                </c:pt>
                <c:pt idx="14">
                  <c:v>21.526900000000001</c:v>
                </c:pt>
                <c:pt idx="15">
                  <c:v>13.299200000000001</c:v>
                </c:pt>
                <c:pt idx="16">
                  <c:v>7.3463000000000003</c:v>
                </c:pt>
                <c:pt idx="17">
                  <c:v>29.137</c:v>
                </c:pt>
                <c:pt idx="18">
                  <c:v>18.1431</c:v>
                </c:pt>
                <c:pt idx="19">
                  <c:v>22.782499999999999</c:v>
                </c:pt>
              </c:numCache>
            </c:numRef>
          </c:val>
          <c:extLst>
            <c:ext xmlns:c16="http://schemas.microsoft.com/office/drawing/2014/chart" uri="{C3380CC4-5D6E-409C-BE32-E72D297353CC}">
              <c16:uniqueId val="{00000002-3E5F-4602-8D00-A0EAE1EDCBC7}"/>
            </c:ext>
          </c:extLst>
        </c:ser>
        <c:dLbls>
          <c:dLblPos val="outEnd"/>
          <c:showLegendKey val="0"/>
          <c:showVal val="1"/>
          <c:showCatName val="0"/>
          <c:showSerName val="0"/>
          <c:showPercent val="0"/>
          <c:showBubbleSize val="0"/>
        </c:dLbls>
        <c:gapWidth val="101"/>
        <c:axId val="243371392"/>
        <c:axId val="243385856"/>
      </c:barChart>
      <c:lineChart>
        <c:grouping val="standard"/>
        <c:varyColors val="0"/>
        <c:ser>
          <c:idx val="2"/>
          <c:order val="2"/>
          <c:tx>
            <c:strRef>
              <c:f>香河!$D$1</c:f>
              <c:strCache>
                <c:ptCount val="1"/>
                <c:pt idx="0">
                  <c:v>成交均价(元/㎡)</c:v>
                </c:pt>
              </c:strCache>
            </c:strRef>
          </c:tx>
          <c:spPr>
            <a:ln>
              <a:solidFill>
                <a:srgbClr val="F79646">
                  <a:lumMod val="75000"/>
                </a:srgbClr>
              </a:solidFill>
            </a:ln>
          </c:spPr>
          <c:marker>
            <c:symbol val="diamond"/>
            <c:size val="7"/>
            <c:spPr>
              <a:solidFill>
                <a:srgbClr val="F79646">
                  <a:lumMod val="75000"/>
                </a:srgbClr>
              </a:solidFill>
              <a:ln>
                <a:solidFill>
                  <a:sysClr val="window" lastClr="FFFFFF"/>
                </a:solidFill>
              </a:ln>
            </c:spPr>
          </c:marker>
          <c:dLbls>
            <c:dLbl>
              <c:idx val="19"/>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3E5F-4602-8D00-A0EAE1EDCBC7}"/>
                </c:ext>
              </c:extLst>
            </c:dLbl>
            <c:spPr>
              <a:noFill/>
              <a:ln>
                <a:noFill/>
              </a:ln>
              <a:effectLst/>
            </c:spPr>
            <c:txPr>
              <a:bodyPr/>
              <a:lstStyle/>
              <a:p>
                <a:pPr>
                  <a:defRPr b="1">
                    <a:solidFill>
                      <a:srgbClr val="FF0000"/>
                    </a:solidFill>
                  </a:defRPr>
                </a:pPr>
                <a:endParaRPr lang="zh-CN"/>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香河!$A$14:$A$33</c:f>
              <c:strCache>
                <c:ptCount val="20"/>
                <c:pt idx="0">
                  <c:v>15/01</c:v>
                </c:pt>
                <c:pt idx="1">
                  <c:v>15/02</c:v>
                </c:pt>
                <c:pt idx="2">
                  <c:v>15/03</c:v>
                </c:pt>
                <c:pt idx="3">
                  <c:v>15/04</c:v>
                </c:pt>
                <c:pt idx="4">
                  <c:v>15/05</c:v>
                </c:pt>
                <c:pt idx="5">
                  <c:v>15/06</c:v>
                </c:pt>
                <c:pt idx="6">
                  <c:v>15/07</c:v>
                </c:pt>
                <c:pt idx="7">
                  <c:v>15/08</c:v>
                </c:pt>
                <c:pt idx="8">
                  <c:v>15/09</c:v>
                </c:pt>
                <c:pt idx="9">
                  <c:v>15/10</c:v>
                </c:pt>
                <c:pt idx="10">
                  <c:v>15/11</c:v>
                </c:pt>
                <c:pt idx="11">
                  <c:v>15/12</c:v>
                </c:pt>
                <c:pt idx="12">
                  <c:v>16/01</c:v>
                </c:pt>
                <c:pt idx="13">
                  <c:v>16/02</c:v>
                </c:pt>
                <c:pt idx="14">
                  <c:v>16/03</c:v>
                </c:pt>
                <c:pt idx="15">
                  <c:v>16/04</c:v>
                </c:pt>
                <c:pt idx="16">
                  <c:v>16/05</c:v>
                </c:pt>
                <c:pt idx="17">
                  <c:v>16/06</c:v>
                </c:pt>
                <c:pt idx="18">
                  <c:v>16/07</c:v>
                </c:pt>
                <c:pt idx="19">
                  <c:v>16/08</c:v>
                </c:pt>
              </c:strCache>
            </c:strRef>
          </c:cat>
          <c:val>
            <c:numRef>
              <c:f>香河!$D$14:$D$33</c:f>
              <c:numCache>
                <c:formatCode>General</c:formatCode>
                <c:ptCount val="20"/>
                <c:pt idx="0">
                  <c:v>5990</c:v>
                </c:pt>
                <c:pt idx="1">
                  <c:v>5533</c:v>
                </c:pt>
                <c:pt idx="2">
                  <c:v>5598</c:v>
                </c:pt>
                <c:pt idx="3">
                  <c:v>5745</c:v>
                </c:pt>
                <c:pt idx="4">
                  <c:v>5846</c:v>
                </c:pt>
                <c:pt idx="5">
                  <c:v>5959</c:v>
                </c:pt>
                <c:pt idx="6">
                  <c:v>6127</c:v>
                </c:pt>
                <c:pt idx="7">
                  <c:v>6902</c:v>
                </c:pt>
                <c:pt idx="8">
                  <c:v>6511</c:v>
                </c:pt>
                <c:pt idx="9">
                  <c:v>6659</c:v>
                </c:pt>
                <c:pt idx="10">
                  <c:v>6510</c:v>
                </c:pt>
                <c:pt idx="11">
                  <c:v>6105</c:v>
                </c:pt>
                <c:pt idx="12">
                  <c:v>7394</c:v>
                </c:pt>
                <c:pt idx="13">
                  <c:v>6819</c:v>
                </c:pt>
                <c:pt idx="14">
                  <c:v>6516</c:v>
                </c:pt>
                <c:pt idx="15">
                  <c:v>7985</c:v>
                </c:pt>
                <c:pt idx="16">
                  <c:v>8800</c:v>
                </c:pt>
                <c:pt idx="17">
                  <c:v>8035</c:v>
                </c:pt>
                <c:pt idx="18">
                  <c:v>9141</c:v>
                </c:pt>
                <c:pt idx="19">
                  <c:v>9973</c:v>
                </c:pt>
              </c:numCache>
            </c:numRef>
          </c:val>
          <c:smooth val="0"/>
          <c:extLst>
            <c:ext xmlns:c16="http://schemas.microsoft.com/office/drawing/2014/chart" uri="{C3380CC4-5D6E-409C-BE32-E72D297353CC}">
              <c16:uniqueId val="{00000004-3E5F-4602-8D00-A0EAE1EDCBC7}"/>
            </c:ext>
          </c:extLst>
        </c:ser>
        <c:dLbls>
          <c:showLegendKey val="0"/>
          <c:showVal val="0"/>
          <c:showCatName val="0"/>
          <c:showSerName val="0"/>
          <c:showPercent val="0"/>
          <c:showBubbleSize val="0"/>
        </c:dLbls>
        <c:marker val="1"/>
        <c:smooth val="0"/>
        <c:axId val="243405952"/>
        <c:axId val="243387392"/>
      </c:lineChart>
      <c:catAx>
        <c:axId val="243371392"/>
        <c:scaling>
          <c:orientation val="minMax"/>
        </c:scaling>
        <c:delete val="0"/>
        <c:axPos val="b"/>
        <c:title>
          <c:tx>
            <c:rich>
              <a:bodyPr/>
              <a:lstStyle/>
              <a:p>
                <a:pPr>
                  <a:defRPr/>
                </a:pPr>
                <a:r>
                  <a:rPr lang="zh-CN"/>
                  <a:t>万㎡</a:t>
                </a:r>
              </a:p>
            </c:rich>
          </c:tx>
          <c:layout>
            <c:manualLayout>
              <c:xMode val="edge"/>
              <c:yMode val="edge"/>
              <c:x val="3.5043955251736142E-4"/>
              <c:y val="0.15333292953765396"/>
            </c:manualLayout>
          </c:layout>
          <c:overlay val="0"/>
        </c:title>
        <c:numFmt formatCode="General" sourceLinked="1"/>
        <c:majorTickMark val="out"/>
        <c:minorTickMark val="none"/>
        <c:tickLblPos val="nextTo"/>
        <c:spPr>
          <a:noFill/>
          <a:ln w="9525" cap="flat" cmpd="sng" algn="ctr">
            <a:solidFill>
              <a:schemeClr val="bg1">
                <a:lumMod val="95000"/>
              </a:schemeClr>
            </a:solidFill>
            <a:round/>
          </a:ln>
          <a:effectLst/>
        </c:spPr>
        <c:txPr>
          <a:bodyPr rot="-2100000" vert="horz"/>
          <a:lstStyle/>
          <a:p>
            <a:pPr>
              <a:defRPr/>
            </a:pPr>
            <a:endParaRPr lang="zh-CN"/>
          </a:p>
        </c:txPr>
        <c:crossAx val="243385856"/>
        <c:crosses val="autoZero"/>
        <c:auto val="1"/>
        <c:lblAlgn val="ctr"/>
        <c:lblOffset val="0"/>
        <c:tickLblSkip val="1"/>
        <c:noMultiLvlLbl val="0"/>
      </c:catAx>
      <c:valAx>
        <c:axId val="243385856"/>
        <c:scaling>
          <c:orientation val="minMax"/>
          <c:max val="40"/>
        </c:scaling>
        <c:delete val="0"/>
        <c:axPos val="l"/>
        <c:numFmt formatCode="0_ " sourceLinked="0"/>
        <c:majorTickMark val="out"/>
        <c:minorTickMark val="none"/>
        <c:tickLblPos val="nextTo"/>
        <c:crossAx val="243371392"/>
        <c:crosses val="autoZero"/>
        <c:crossBetween val="between"/>
      </c:valAx>
      <c:valAx>
        <c:axId val="243387392"/>
        <c:scaling>
          <c:orientation val="minMax"/>
        </c:scaling>
        <c:delete val="0"/>
        <c:axPos val="r"/>
        <c:title>
          <c:tx>
            <c:rich>
              <a:bodyPr rot="0" vert="horz"/>
              <a:lstStyle/>
              <a:p>
                <a:pPr>
                  <a:defRPr/>
                </a:pPr>
                <a:r>
                  <a:rPr lang="zh-CN"/>
                  <a:t>元</a:t>
                </a:r>
                <a:r>
                  <a:rPr lang="en-US"/>
                  <a:t>/㎡</a:t>
                </a:r>
                <a:endParaRPr lang="zh-CN"/>
              </a:p>
            </c:rich>
          </c:tx>
          <c:layout>
            <c:manualLayout>
              <c:xMode val="edge"/>
              <c:yMode val="edge"/>
              <c:x val="0.94160686137819327"/>
              <c:y val="0.14107692307692307"/>
            </c:manualLayout>
          </c:layout>
          <c:overlay val="0"/>
        </c:title>
        <c:numFmt formatCode="General" sourceLinked="1"/>
        <c:majorTickMark val="out"/>
        <c:minorTickMark val="none"/>
        <c:tickLblPos val="nextTo"/>
        <c:crossAx val="243405952"/>
        <c:crosses val="max"/>
        <c:crossBetween val="between"/>
      </c:valAx>
      <c:catAx>
        <c:axId val="243405952"/>
        <c:scaling>
          <c:orientation val="minMax"/>
        </c:scaling>
        <c:delete val="1"/>
        <c:axPos val="b"/>
        <c:numFmt formatCode="General" sourceLinked="1"/>
        <c:majorTickMark val="out"/>
        <c:minorTickMark val="none"/>
        <c:tickLblPos val="nextTo"/>
        <c:crossAx val="243387392"/>
        <c:crosses val="autoZero"/>
        <c:auto val="1"/>
        <c:lblAlgn val="ctr"/>
        <c:lblOffset val="100"/>
        <c:noMultiLvlLbl val="0"/>
      </c:catAx>
      <c:spPr>
        <a:noFill/>
        <a:ln>
          <a:noFill/>
        </a:ln>
        <a:effectLst/>
      </c:spPr>
    </c:plotArea>
    <c:legend>
      <c:legendPos val="b"/>
      <c:layout>
        <c:manualLayout>
          <c:xMode val="edge"/>
          <c:yMode val="edge"/>
          <c:x val="7.9054908136482943E-2"/>
          <c:y val="0.14716898849182314"/>
          <c:w val="0.81389354330708663"/>
          <c:h val="0.141671714112659"/>
        </c:manualLayout>
      </c:layout>
      <c:overlay val="0"/>
      <c:spPr>
        <a:noFill/>
        <a:ln>
          <a:noFill/>
        </a:ln>
        <a:effectLst/>
      </c:spPr>
      <c:txPr>
        <a:bodyPr rot="0" vert="horz"/>
        <a:lstStyle/>
        <a:p>
          <a:pPr>
            <a:defRPr/>
          </a:pPr>
          <a:endParaRPr lang="zh-CN"/>
        </a:p>
      </c:txPr>
    </c:legend>
    <c:plotVisOnly val="1"/>
    <c:dispBlanksAs val="gap"/>
    <c:showDLblsOverMax val="0"/>
  </c:chart>
  <c:spPr>
    <a:noFill/>
    <a:ln w="9525" cap="flat" cmpd="sng" algn="ctr">
      <a:noFill/>
      <a:round/>
    </a:ln>
    <a:effectLst/>
  </c:spPr>
  <c:txPr>
    <a:bodyPr/>
    <a:lstStyle/>
    <a:p>
      <a:pPr>
        <a:defRPr sz="1100">
          <a:latin typeface="微软雅黑" panose="020B0503020204020204" pitchFamily="34" charset="-122"/>
          <a:ea typeface="微软雅黑" panose="020B0503020204020204" pitchFamily="34" charset="-122"/>
        </a:defRPr>
      </a:pPr>
      <a:endParaRPr lang="zh-CN"/>
    </a:p>
  </c:txPr>
  <c:externalData r:id="rId2">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400"/>
            </a:pPr>
            <a:r>
              <a:rPr lang="zh-CN" sz="1400" dirty="0"/>
              <a:t>香河</a:t>
            </a:r>
            <a:r>
              <a:rPr lang="en-US" sz="1400" dirty="0"/>
              <a:t>2015.01-2016.08</a:t>
            </a:r>
            <a:r>
              <a:rPr lang="zh-CN" sz="1400" dirty="0"/>
              <a:t>商品房去化情况</a:t>
            </a:r>
          </a:p>
        </c:rich>
      </c:tx>
      <c:layout>
        <c:manualLayout>
          <c:xMode val="edge"/>
          <c:yMode val="edge"/>
          <c:x val="0.27645227132984157"/>
          <c:y val="3.9842995169082126E-3"/>
        </c:manualLayout>
      </c:layout>
      <c:overlay val="0"/>
    </c:title>
    <c:autoTitleDeleted val="0"/>
    <c:plotArea>
      <c:layout>
        <c:manualLayout>
          <c:layoutTarget val="inner"/>
          <c:xMode val="edge"/>
          <c:yMode val="edge"/>
          <c:x val="6.0447204291228351E-2"/>
          <c:y val="0.21488687600644121"/>
          <c:w val="0.86522328622115663"/>
          <c:h val="0.54530515297906601"/>
        </c:manualLayout>
      </c:layout>
      <c:barChart>
        <c:barDir val="col"/>
        <c:grouping val="clustered"/>
        <c:varyColors val="0"/>
        <c:ser>
          <c:idx val="0"/>
          <c:order val="0"/>
          <c:tx>
            <c:strRef>
              <c:f>香河!$F$1</c:f>
              <c:strCache>
                <c:ptCount val="1"/>
                <c:pt idx="0">
                  <c:v>可售面积</c:v>
                </c:pt>
              </c:strCache>
            </c:strRef>
          </c:tx>
          <c:spPr>
            <a:solidFill>
              <a:srgbClr val="FFC000"/>
            </a:solidFill>
            <a:ln>
              <a:solidFill>
                <a:srgbClr val="FFC000"/>
              </a:solidFill>
            </a:ln>
          </c:spPr>
          <c:invertIfNegative val="0"/>
          <c:cat>
            <c:strRef>
              <c:f>香河!$A$14:$A$33</c:f>
              <c:strCache>
                <c:ptCount val="20"/>
                <c:pt idx="0">
                  <c:v>15/01</c:v>
                </c:pt>
                <c:pt idx="1">
                  <c:v>15/02</c:v>
                </c:pt>
                <c:pt idx="2">
                  <c:v>15/03</c:v>
                </c:pt>
                <c:pt idx="3">
                  <c:v>15/04</c:v>
                </c:pt>
                <c:pt idx="4">
                  <c:v>15/05</c:v>
                </c:pt>
                <c:pt idx="5">
                  <c:v>15/06</c:v>
                </c:pt>
                <c:pt idx="6">
                  <c:v>15/07</c:v>
                </c:pt>
                <c:pt idx="7">
                  <c:v>15/08</c:v>
                </c:pt>
                <c:pt idx="8">
                  <c:v>15/09</c:v>
                </c:pt>
                <c:pt idx="9">
                  <c:v>15/10</c:v>
                </c:pt>
                <c:pt idx="10">
                  <c:v>15/11</c:v>
                </c:pt>
                <c:pt idx="11">
                  <c:v>15/12</c:v>
                </c:pt>
                <c:pt idx="12">
                  <c:v>16/01</c:v>
                </c:pt>
                <c:pt idx="13">
                  <c:v>16/02</c:v>
                </c:pt>
                <c:pt idx="14">
                  <c:v>16/03</c:v>
                </c:pt>
                <c:pt idx="15">
                  <c:v>16/04</c:v>
                </c:pt>
                <c:pt idx="16">
                  <c:v>16/05</c:v>
                </c:pt>
                <c:pt idx="17">
                  <c:v>16/06</c:v>
                </c:pt>
                <c:pt idx="18">
                  <c:v>16/07</c:v>
                </c:pt>
                <c:pt idx="19">
                  <c:v>16/08</c:v>
                </c:pt>
              </c:strCache>
            </c:strRef>
          </c:cat>
          <c:val>
            <c:numRef>
              <c:f>香河!$F$14:$F$33</c:f>
              <c:numCache>
                <c:formatCode>General</c:formatCode>
                <c:ptCount val="20"/>
                <c:pt idx="0">
                  <c:v>293.82689999999997</c:v>
                </c:pt>
                <c:pt idx="1">
                  <c:v>288.38659999999999</c:v>
                </c:pt>
                <c:pt idx="2">
                  <c:v>276.50110000000001</c:v>
                </c:pt>
                <c:pt idx="3">
                  <c:v>266.9563</c:v>
                </c:pt>
                <c:pt idx="4">
                  <c:v>262.42020000000002</c:v>
                </c:pt>
                <c:pt idx="5">
                  <c:v>245.88249999999999</c:v>
                </c:pt>
                <c:pt idx="6">
                  <c:v>225.23090000000002</c:v>
                </c:pt>
                <c:pt idx="7">
                  <c:v>215.5</c:v>
                </c:pt>
                <c:pt idx="8">
                  <c:v>196.0581</c:v>
                </c:pt>
                <c:pt idx="9">
                  <c:v>176.58449999999999</c:v>
                </c:pt>
                <c:pt idx="10">
                  <c:v>169.43319999999997</c:v>
                </c:pt>
                <c:pt idx="11">
                  <c:v>129.36569999999995</c:v>
                </c:pt>
                <c:pt idx="12">
                  <c:v>119.70049999999995</c:v>
                </c:pt>
                <c:pt idx="13">
                  <c:v>117.08379999999995</c:v>
                </c:pt>
                <c:pt idx="14">
                  <c:v>97.232299999999952</c:v>
                </c:pt>
                <c:pt idx="15">
                  <c:v>89.739599999999953</c:v>
                </c:pt>
                <c:pt idx="16">
                  <c:v>92.240099999999956</c:v>
                </c:pt>
                <c:pt idx="17">
                  <c:v>74.041699999999949</c:v>
                </c:pt>
                <c:pt idx="18">
                  <c:v>82.900099999999952</c:v>
                </c:pt>
                <c:pt idx="19">
                  <c:v>75.255799999999951</c:v>
                </c:pt>
              </c:numCache>
            </c:numRef>
          </c:val>
          <c:extLst>
            <c:ext xmlns:c16="http://schemas.microsoft.com/office/drawing/2014/chart" uri="{C3380CC4-5D6E-409C-BE32-E72D297353CC}">
              <c16:uniqueId val="{00000000-1CAD-4F15-8E88-5E92F3F7A14A}"/>
            </c:ext>
          </c:extLst>
        </c:ser>
        <c:dLbls>
          <c:showLegendKey val="0"/>
          <c:showVal val="0"/>
          <c:showCatName val="0"/>
          <c:showSerName val="0"/>
          <c:showPercent val="0"/>
          <c:showBubbleSize val="0"/>
        </c:dLbls>
        <c:gapWidth val="150"/>
        <c:axId val="243446144"/>
        <c:axId val="243447680"/>
      </c:barChart>
      <c:lineChart>
        <c:grouping val="standard"/>
        <c:varyColors val="0"/>
        <c:ser>
          <c:idx val="1"/>
          <c:order val="1"/>
          <c:tx>
            <c:strRef>
              <c:f>香河!$G$1</c:f>
              <c:strCache>
                <c:ptCount val="1"/>
                <c:pt idx="0">
                  <c:v>去化周期</c:v>
                </c:pt>
              </c:strCache>
            </c:strRef>
          </c:tx>
          <c:spPr>
            <a:ln>
              <a:solidFill>
                <a:srgbClr val="0070C0"/>
              </a:solidFill>
            </a:ln>
          </c:spPr>
          <c:marker>
            <c:symbol val="none"/>
          </c:marker>
          <c:dLbls>
            <c:dLbl>
              <c:idx val="18"/>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1CAD-4F15-8E88-5E92F3F7A14A}"/>
                </c:ext>
              </c:extLst>
            </c:dLbl>
            <c:dLbl>
              <c:idx val="19"/>
              <c:spPr/>
              <c:txPr>
                <a:bodyPr/>
                <a:lstStyle/>
                <a:p>
                  <a:pPr>
                    <a:defRPr sz="1200" b="1">
                      <a:solidFill>
                        <a:srgbClr val="FF0000"/>
                      </a:solidFill>
                    </a:defRPr>
                  </a:pPr>
                  <a:endParaRPr lang="zh-CN"/>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1CAD-4F15-8E88-5E92F3F7A14A}"/>
                </c:ext>
              </c:extLst>
            </c:dLbl>
            <c:spPr>
              <a:noFill/>
              <a:ln>
                <a:noFill/>
              </a:ln>
              <a:effectLst/>
            </c:spPr>
            <c:txPr>
              <a:bodyPr/>
              <a:lstStyle/>
              <a:p>
                <a:pPr>
                  <a:defRPr sz="1200" b="1"/>
                </a:pPr>
                <a:endParaRPr lang="zh-CN"/>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香河!$A$14:$A$33</c:f>
              <c:strCache>
                <c:ptCount val="20"/>
                <c:pt idx="0">
                  <c:v>15/01</c:v>
                </c:pt>
                <c:pt idx="1">
                  <c:v>15/02</c:v>
                </c:pt>
                <c:pt idx="2">
                  <c:v>15/03</c:v>
                </c:pt>
                <c:pt idx="3">
                  <c:v>15/04</c:v>
                </c:pt>
                <c:pt idx="4">
                  <c:v>15/05</c:v>
                </c:pt>
                <c:pt idx="5">
                  <c:v>15/06</c:v>
                </c:pt>
                <c:pt idx="6">
                  <c:v>15/07</c:v>
                </c:pt>
                <c:pt idx="7">
                  <c:v>15/08</c:v>
                </c:pt>
                <c:pt idx="8">
                  <c:v>15/09</c:v>
                </c:pt>
                <c:pt idx="9">
                  <c:v>15/10</c:v>
                </c:pt>
                <c:pt idx="10">
                  <c:v>15/11</c:v>
                </c:pt>
                <c:pt idx="11">
                  <c:v>15/12</c:v>
                </c:pt>
                <c:pt idx="12">
                  <c:v>16/01</c:v>
                </c:pt>
                <c:pt idx="13">
                  <c:v>16/02</c:v>
                </c:pt>
                <c:pt idx="14">
                  <c:v>16/03</c:v>
                </c:pt>
                <c:pt idx="15">
                  <c:v>16/04</c:v>
                </c:pt>
                <c:pt idx="16">
                  <c:v>16/05</c:v>
                </c:pt>
                <c:pt idx="17">
                  <c:v>16/06</c:v>
                </c:pt>
                <c:pt idx="18">
                  <c:v>16/07</c:v>
                </c:pt>
                <c:pt idx="19">
                  <c:v>16/08</c:v>
                </c:pt>
              </c:strCache>
            </c:strRef>
          </c:cat>
          <c:val>
            <c:numRef>
              <c:f>香河!$G$14:$G$33</c:f>
              <c:numCache>
                <c:formatCode>0.0_);[Red]\(0.0\)</c:formatCode>
                <c:ptCount val="20"/>
                <c:pt idx="0">
                  <c:v>17.662997064451812</c:v>
                </c:pt>
                <c:pt idx="1">
                  <c:v>17.850703863550898</c:v>
                </c:pt>
                <c:pt idx="2">
                  <c:v>17.632977256313275</c:v>
                </c:pt>
                <c:pt idx="3">
                  <c:v>17.407279651014935</c:v>
                </c:pt>
                <c:pt idx="4">
                  <c:v>18.535412520682097</c:v>
                </c:pt>
                <c:pt idx="5">
                  <c:v>16.722823336312615</c:v>
                </c:pt>
                <c:pt idx="6">
                  <c:v>14.556640798566509</c:v>
                </c:pt>
                <c:pt idx="7">
                  <c:v>13.818029482737618</c:v>
                </c:pt>
                <c:pt idx="8">
                  <c:v>12.162865863493677</c:v>
                </c:pt>
                <c:pt idx="9">
                  <c:v>10.431144563189475</c:v>
                </c:pt>
                <c:pt idx="10">
                  <c:v>9.2822308050510856</c:v>
                </c:pt>
                <c:pt idx="11">
                  <c:v>6.3911070563717614</c:v>
                </c:pt>
                <c:pt idx="12">
                  <c:v>6.1488745731571299</c:v>
                </c:pt>
                <c:pt idx="13">
                  <c:v>6.0449744305054409</c:v>
                </c:pt>
                <c:pt idx="14">
                  <c:v>4.8201058550780171</c:v>
                </c:pt>
                <c:pt idx="15">
                  <c:v>4.4092016823238049</c:v>
                </c:pt>
                <c:pt idx="16">
                  <c:v>4.7474823204855872</c:v>
                </c:pt>
                <c:pt idx="17">
                  <c:v>3.7017981106464215</c:v>
                </c:pt>
                <c:pt idx="18">
                  <c:v>4.1994242895117067</c:v>
                </c:pt>
                <c:pt idx="19">
                  <c:v>3.7122004417301357</c:v>
                </c:pt>
              </c:numCache>
            </c:numRef>
          </c:val>
          <c:smooth val="0"/>
          <c:extLst>
            <c:ext xmlns:c16="http://schemas.microsoft.com/office/drawing/2014/chart" uri="{C3380CC4-5D6E-409C-BE32-E72D297353CC}">
              <c16:uniqueId val="{00000003-1CAD-4F15-8E88-5E92F3F7A14A}"/>
            </c:ext>
          </c:extLst>
        </c:ser>
        <c:dLbls>
          <c:showLegendKey val="0"/>
          <c:showVal val="0"/>
          <c:showCatName val="0"/>
          <c:showSerName val="0"/>
          <c:showPercent val="0"/>
          <c:showBubbleSize val="0"/>
        </c:dLbls>
        <c:marker val="1"/>
        <c:smooth val="0"/>
        <c:axId val="243468160"/>
        <c:axId val="243466240"/>
      </c:lineChart>
      <c:catAx>
        <c:axId val="243446144"/>
        <c:scaling>
          <c:orientation val="minMax"/>
        </c:scaling>
        <c:delete val="0"/>
        <c:axPos val="b"/>
        <c:numFmt formatCode="General" sourceLinked="0"/>
        <c:majorTickMark val="out"/>
        <c:minorTickMark val="none"/>
        <c:tickLblPos val="nextTo"/>
        <c:txPr>
          <a:bodyPr rot="-3180000"/>
          <a:lstStyle/>
          <a:p>
            <a:pPr>
              <a:defRPr/>
            </a:pPr>
            <a:endParaRPr lang="zh-CN"/>
          </a:p>
        </c:txPr>
        <c:crossAx val="243447680"/>
        <c:crosses val="autoZero"/>
        <c:auto val="1"/>
        <c:lblAlgn val="ctr"/>
        <c:lblOffset val="0"/>
        <c:noMultiLvlLbl val="0"/>
      </c:catAx>
      <c:valAx>
        <c:axId val="243447680"/>
        <c:scaling>
          <c:orientation val="minMax"/>
        </c:scaling>
        <c:delete val="0"/>
        <c:axPos val="l"/>
        <c:title>
          <c:tx>
            <c:rich>
              <a:bodyPr rot="0" vert="horz"/>
              <a:lstStyle/>
              <a:p>
                <a:pPr>
                  <a:defRPr/>
                </a:pPr>
                <a:r>
                  <a:rPr lang="zh-CN"/>
                  <a:t>万㎡</a:t>
                </a:r>
              </a:p>
            </c:rich>
          </c:tx>
          <c:layout>
            <c:manualLayout>
              <c:xMode val="edge"/>
              <c:yMode val="edge"/>
              <c:x val="0"/>
              <c:y val="8.4620516185476821E-2"/>
            </c:manualLayout>
          </c:layout>
          <c:overlay val="0"/>
        </c:title>
        <c:numFmt formatCode="General" sourceLinked="1"/>
        <c:majorTickMark val="out"/>
        <c:minorTickMark val="none"/>
        <c:tickLblPos val="nextTo"/>
        <c:crossAx val="243446144"/>
        <c:crosses val="autoZero"/>
        <c:crossBetween val="between"/>
      </c:valAx>
      <c:valAx>
        <c:axId val="243466240"/>
        <c:scaling>
          <c:orientation val="minMax"/>
        </c:scaling>
        <c:delete val="0"/>
        <c:axPos val="r"/>
        <c:title>
          <c:tx>
            <c:rich>
              <a:bodyPr rot="0" vert="horz"/>
              <a:lstStyle/>
              <a:p>
                <a:pPr>
                  <a:defRPr/>
                </a:pPr>
                <a:r>
                  <a:rPr lang="zh-CN"/>
                  <a:t>月</a:t>
                </a:r>
              </a:p>
            </c:rich>
          </c:tx>
          <c:layout>
            <c:manualLayout>
              <c:xMode val="edge"/>
              <c:yMode val="edge"/>
              <c:x val="0.93580733316446141"/>
              <c:y val="9.5219243221821612E-2"/>
            </c:manualLayout>
          </c:layout>
          <c:overlay val="0"/>
        </c:title>
        <c:numFmt formatCode="0.0_);[Red]\(0.0\)" sourceLinked="1"/>
        <c:majorTickMark val="out"/>
        <c:minorTickMark val="none"/>
        <c:tickLblPos val="nextTo"/>
        <c:crossAx val="243468160"/>
        <c:crosses val="max"/>
        <c:crossBetween val="between"/>
      </c:valAx>
      <c:catAx>
        <c:axId val="243468160"/>
        <c:scaling>
          <c:orientation val="minMax"/>
        </c:scaling>
        <c:delete val="1"/>
        <c:axPos val="b"/>
        <c:numFmt formatCode="General" sourceLinked="1"/>
        <c:majorTickMark val="out"/>
        <c:minorTickMark val="none"/>
        <c:tickLblPos val="nextTo"/>
        <c:crossAx val="243466240"/>
        <c:crosses val="autoZero"/>
        <c:auto val="1"/>
        <c:lblAlgn val="ctr"/>
        <c:lblOffset val="100"/>
        <c:noMultiLvlLbl val="0"/>
      </c:catAx>
      <c:spPr>
        <a:noFill/>
      </c:spPr>
    </c:plotArea>
    <c:legend>
      <c:legendPos val="t"/>
      <c:layout>
        <c:manualLayout>
          <c:xMode val="edge"/>
          <c:yMode val="edge"/>
          <c:x val="0.33406403922450761"/>
          <c:y val="0.1818384909330821"/>
          <c:w val="0.38424007440869551"/>
          <c:h val="9.0292493974906074E-2"/>
        </c:manualLayout>
      </c:layout>
      <c:overlay val="0"/>
    </c:legend>
    <c:plotVisOnly val="1"/>
    <c:dispBlanksAs val="gap"/>
    <c:showDLblsOverMax val="0"/>
  </c:chart>
  <c:spPr>
    <a:noFill/>
    <a:ln>
      <a:noFill/>
    </a:ln>
  </c:spPr>
  <c:txPr>
    <a:bodyPr/>
    <a:lstStyle/>
    <a:p>
      <a:pPr>
        <a:defRPr sz="1100">
          <a:latin typeface="微软雅黑" pitchFamily="34" charset="-122"/>
          <a:ea typeface="微软雅黑" pitchFamily="34" charset="-122"/>
        </a:defRPr>
      </a:pPr>
      <a:endParaRPr lang="zh-CN"/>
    </a:p>
  </c:txPr>
  <c:externalData r:id="rId1">
    <c:autoUpdate val="0"/>
  </c:externalData>
</c:chartSpace>
</file>

<file path=ppt/drawings/drawing1.xml><?xml version="1.0" encoding="utf-8"?>
<c:userShapes xmlns:c="http://schemas.openxmlformats.org/drawingml/2006/chart">
  <cdr:relSizeAnchor xmlns:cdr="http://schemas.openxmlformats.org/drawingml/2006/chartDrawing">
    <cdr:from>
      <cdr:x>0.75335</cdr:x>
      <cdr:y>0.4626</cdr:y>
    </cdr:from>
    <cdr:to>
      <cdr:x>0.83934</cdr:x>
      <cdr:y>0.57435</cdr:y>
    </cdr:to>
    <cdr:cxnSp macro="">
      <cdr:nvCxnSpPr>
        <cdr:cNvPr id="2" name="直接箭头连接符 1"/>
        <cdr:cNvCxnSpPr/>
      </cdr:nvCxnSpPr>
      <cdr:spPr>
        <a:xfrm xmlns:a="http://schemas.openxmlformats.org/drawingml/2006/main" flipV="1">
          <a:off x="4965205" y="1193470"/>
          <a:ext cx="566716" cy="288306"/>
        </a:xfrm>
        <a:prstGeom xmlns:a="http://schemas.openxmlformats.org/drawingml/2006/main" prst="straightConnector1">
          <a:avLst/>
        </a:prstGeom>
        <a:ln xmlns:a="http://schemas.openxmlformats.org/drawingml/2006/main">
          <a:tailEnd type="arrow"/>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userShapes>
</file>

<file path=ppt/drawings/drawing2.xml><?xml version="1.0" encoding="utf-8"?>
<c:userShapes xmlns:c="http://schemas.openxmlformats.org/drawingml/2006/chart">
  <cdr:relSizeAnchor xmlns:cdr="http://schemas.openxmlformats.org/drawingml/2006/chartDrawing">
    <cdr:from>
      <cdr:x>0.02175</cdr:x>
      <cdr:y>0.07292</cdr:y>
    </cdr:from>
    <cdr:to>
      <cdr:x>0.10374</cdr:x>
      <cdr:y>0.1875</cdr:y>
    </cdr:to>
    <cdr:sp macro="" textlink="">
      <cdr:nvSpPr>
        <cdr:cNvPr id="2" name="TextBox 1"/>
        <cdr:cNvSpPr txBox="1"/>
      </cdr:nvSpPr>
      <cdr:spPr>
        <a:xfrm xmlns:a="http://schemas.openxmlformats.org/drawingml/2006/main">
          <a:off x="143805" y="200034"/>
          <a:ext cx="541982" cy="314316"/>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zh-CN" altLang="en-US" sz="1050" b="1">
              <a:latin typeface="微软雅黑" pitchFamily="34" charset="-122"/>
              <a:ea typeface="微软雅黑" pitchFamily="34" charset="-122"/>
            </a:rPr>
            <a:t>元</a:t>
          </a:r>
          <a:r>
            <a:rPr lang="en-US" altLang="zh-CN" sz="1050" b="1">
              <a:latin typeface="微软雅黑" pitchFamily="34" charset="-122"/>
              <a:ea typeface="微软雅黑" pitchFamily="34" charset="-122"/>
            </a:rPr>
            <a:t>/㎡</a:t>
          </a:r>
          <a:endParaRPr lang="zh-CN" altLang="en-US" sz="1050" b="1">
            <a:latin typeface="微软雅黑" pitchFamily="34" charset="-122"/>
            <a:ea typeface="微软雅黑" pitchFamily="34" charset="-122"/>
          </a:endParaRPr>
        </a:p>
      </cdr:txBody>
    </cdr:sp>
  </cdr:relSizeAnchor>
</c:userShapes>
</file>

<file path=ppt/drawings/drawing3.xml><?xml version="1.0" encoding="utf-8"?>
<c:userShapes xmlns:c="http://schemas.openxmlformats.org/drawingml/2006/chart">
  <cdr:relSizeAnchor xmlns:cdr="http://schemas.openxmlformats.org/drawingml/2006/chartDrawing">
    <cdr:from>
      <cdr:x>0.03196</cdr:x>
      <cdr:y>0.06738</cdr:y>
    </cdr:from>
    <cdr:to>
      <cdr:x>0.11395</cdr:x>
      <cdr:y>0.18196</cdr:y>
    </cdr:to>
    <cdr:sp macro="" textlink="">
      <cdr:nvSpPr>
        <cdr:cNvPr id="2" name="TextBox 1"/>
        <cdr:cNvSpPr txBox="1"/>
      </cdr:nvSpPr>
      <cdr:spPr>
        <a:xfrm xmlns:a="http://schemas.openxmlformats.org/drawingml/2006/main">
          <a:off x="194843" y="191899"/>
          <a:ext cx="499812" cy="326321"/>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zh-CN" altLang="en-US" sz="1050" b="1">
              <a:latin typeface="微软雅黑" pitchFamily="34" charset="-122"/>
              <a:ea typeface="微软雅黑" pitchFamily="34" charset="-122"/>
            </a:rPr>
            <a:t>套</a:t>
          </a:r>
        </a:p>
      </cdr:txBody>
    </cdr:sp>
  </cdr:relSizeAnchor>
  <cdr:relSizeAnchor xmlns:cdr="http://schemas.openxmlformats.org/drawingml/2006/chartDrawing">
    <cdr:from>
      <cdr:x>0.03196</cdr:x>
      <cdr:y>0.06738</cdr:y>
    </cdr:from>
    <cdr:to>
      <cdr:x>0.11395</cdr:x>
      <cdr:y>0.18196</cdr:y>
    </cdr:to>
    <cdr:sp macro="" textlink="">
      <cdr:nvSpPr>
        <cdr:cNvPr id="3" name="TextBox 1"/>
        <cdr:cNvSpPr txBox="1"/>
      </cdr:nvSpPr>
      <cdr:spPr>
        <a:xfrm xmlns:a="http://schemas.openxmlformats.org/drawingml/2006/main">
          <a:off x="194843" y="191899"/>
          <a:ext cx="499812" cy="326321"/>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zh-CN" altLang="en-US" sz="1050" b="1">
              <a:latin typeface="微软雅黑" pitchFamily="34" charset="-122"/>
              <a:ea typeface="微软雅黑" pitchFamily="34" charset="-122"/>
            </a:rPr>
            <a:t>套</a:t>
          </a:r>
        </a:p>
      </cdr:txBody>
    </cdr:sp>
  </cdr:relSizeAnchor>
</c:userShapes>
</file>

<file path=ppt/drawings/drawing4.xml><?xml version="1.0" encoding="utf-8"?>
<c:userShapes xmlns:c="http://schemas.openxmlformats.org/drawingml/2006/chart">
  <cdr:relSizeAnchor xmlns:cdr="http://schemas.openxmlformats.org/drawingml/2006/chartDrawing">
    <cdr:from>
      <cdr:x>0.85021</cdr:x>
      <cdr:y>0.37228</cdr:y>
    </cdr:from>
    <cdr:to>
      <cdr:x>0.9193</cdr:x>
      <cdr:y>0.62934</cdr:y>
    </cdr:to>
    <cdr:cxnSp macro="">
      <cdr:nvCxnSpPr>
        <cdr:cNvPr id="2" name="直接箭头连接符 1"/>
        <cdr:cNvCxnSpPr/>
      </cdr:nvCxnSpPr>
      <cdr:spPr>
        <a:xfrm xmlns:a="http://schemas.openxmlformats.org/drawingml/2006/main" flipV="1">
          <a:off x="6332847" y="1135084"/>
          <a:ext cx="514638" cy="783772"/>
        </a:xfrm>
        <a:prstGeom xmlns:a="http://schemas.openxmlformats.org/drawingml/2006/main" prst="straightConnector1">
          <a:avLst/>
        </a:prstGeom>
        <a:ln xmlns:a="http://schemas.openxmlformats.org/drawingml/2006/main">
          <a:solidFill>
            <a:srgbClr val="C00000"/>
          </a:solidFill>
          <a:tailEnd type="arrow"/>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E19C172-6827-544A-9310-75AF8E4310E4}" type="datetime1">
              <a:rPr kumimoji="1" lang="zh-CN" altLang="en-US" smtClean="0"/>
              <a:t>2016/10/11</a:t>
            </a:fld>
            <a:endParaRPr kumimoji="1"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E884F92-C5C8-EC42-99DF-3AE35A9CA4AC}" type="slidenum">
              <a:rPr kumimoji="1" lang="zh-CN" altLang="en-US" smtClean="0"/>
              <a:t>‹#›</a:t>
            </a:fld>
            <a:endParaRPr kumimoji="1" lang="zh-CN" altLang="en-US"/>
          </a:p>
        </p:txBody>
      </p:sp>
    </p:spTree>
    <p:extLst>
      <p:ext uri="{BB962C8B-B14F-4D97-AF65-F5344CB8AC3E}">
        <p14:creationId xmlns:p14="http://schemas.microsoft.com/office/powerpoint/2010/main" val="13874038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752548E-2FF8-A441-BA89-6FB5B4469D67}" type="datetime1">
              <a:rPr kumimoji="1" lang="zh-CN" altLang="en-US" smtClean="0"/>
              <a:t>2016/10/11</a:t>
            </a:fld>
            <a:endParaRPr kumimoji="1"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65E2FA9-AE7D-C543-9B99-1EF512C5BA75}" type="slidenum">
              <a:rPr kumimoji="1" lang="zh-CN" altLang="en-US" smtClean="0"/>
              <a:t>‹#›</a:t>
            </a:fld>
            <a:endParaRPr kumimoji="1" lang="zh-CN" altLang="en-US"/>
          </a:p>
        </p:txBody>
      </p:sp>
    </p:spTree>
    <p:extLst>
      <p:ext uri="{BB962C8B-B14F-4D97-AF65-F5344CB8AC3E}">
        <p14:creationId xmlns:p14="http://schemas.microsoft.com/office/powerpoint/2010/main" val="939351105"/>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sp>
        <p:nvSpPr>
          <p:cNvPr id="8" name="标题 7"/>
          <p:cNvSpPr>
            <a:spLocks noGrp="1"/>
          </p:cNvSpPr>
          <p:nvPr>
            <p:ph type="title" hasCustomPrompt="1"/>
          </p:nvPr>
        </p:nvSpPr>
        <p:spPr>
          <a:xfrm>
            <a:off x="2236744" y="2155615"/>
            <a:ext cx="4670513" cy="584626"/>
          </a:xfrm>
          <a:prstGeom prst="rect">
            <a:avLst/>
          </a:prstGeom>
        </p:spPr>
        <p:txBody>
          <a:bodyPr vert="horz"/>
          <a:lstStyle>
            <a:lvl1pPr algn="ctr">
              <a:defRPr sz="3200" b="1" i="0">
                <a:solidFill>
                  <a:schemeClr val="tx1">
                    <a:lumMod val="75000"/>
                    <a:lumOff val="25000"/>
                  </a:schemeClr>
                </a:solidFill>
                <a:effectLst/>
                <a:latin typeface="+mj-ea"/>
                <a:ea typeface="+mj-ea"/>
                <a:cs typeface="黑体"/>
              </a:defRPr>
            </a:lvl1pPr>
          </a:lstStyle>
          <a:p>
            <a:r>
              <a:rPr kumimoji="1" lang="zh-CN" altLang="en-US" dirty="0"/>
              <a:t>单击此处编辑大标题样式</a:t>
            </a:r>
          </a:p>
        </p:txBody>
      </p:sp>
      <p:sp>
        <p:nvSpPr>
          <p:cNvPr id="27" name="文本占位符 26"/>
          <p:cNvSpPr>
            <a:spLocks noGrp="1"/>
          </p:cNvSpPr>
          <p:nvPr>
            <p:ph type="body" sz="quarter" idx="11" hasCustomPrompt="1"/>
          </p:nvPr>
        </p:nvSpPr>
        <p:spPr>
          <a:xfrm>
            <a:off x="2236744" y="2873306"/>
            <a:ext cx="4670513" cy="387184"/>
          </a:xfrm>
          <a:prstGeom prst="rect">
            <a:avLst/>
          </a:prstGeom>
        </p:spPr>
        <p:txBody>
          <a:bodyPr vert="horz"/>
          <a:lstStyle>
            <a:lvl1pPr marL="0" indent="0" algn="ctr">
              <a:buNone/>
              <a:defRPr sz="1800" b="1" i="0" baseline="0">
                <a:solidFill>
                  <a:schemeClr val="tx1">
                    <a:lumMod val="75000"/>
                    <a:lumOff val="25000"/>
                  </a:schemeClr>
                </a:solidFill>
                <a:effectLst/>
                <a:latin typeface="+mj-ea"/>
                <a:ea typeface="+mj-ea"/>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单击此处编辑小标题样式</a:t>
            </a:r>
          </a:p>
        </p:txBody>
      </p:sp>
      <p:sp>
        <p:nvSpPr>
          <p:cNvPr id="35" name="文本占位符 34"/>
          <p:cNvSpPr>
            <a:spLocks noGrp="1"/>
          </p:cNvSpPr>
          <p:nvPr>
            <p:ph type="body" sz="quarter" idx="12" hasCustomPrompt="1"/>
          </p:nvPr>
        </p:nvSpPr>
        <p:spPr>
          <a:xfrm>
            <a:off x="3057760" y="3365332"/>
            <a:ext cx="3035737" cy="321630"/>
          </a:xfrm>
          <a:prstGeom prst="rect">
            <a:avLst/>
          </a:prstGeom>
        </p:spPr>
        <p:txBody>
          <a:bodyPr vert="horz" anchor="t"/>
          <a:lstStyle>
            <a:lvl1pPr marL="0" indent="0" algn="ctr">
              <a:lnSpc>
                <a:spcPct val="100000"/>
              </a:lnSpc>
              <a:buNone/>
              <a:defRPr sz="1600" b="1" i="0">
                <a:solidFill>
                  <a:schemeClr val="tx1">
                    <a:lumMod val="75000"/>
                    <a:lumOff val="25000"/>
                  </a:schemeClr>
                </a:solidFill>
                <a:effectLst/>
                <a:latin typeface="+mj-ea"/>
                <a:ea typeface="+mj-ea"/>
              </a:defRPr>
            </a:lvl1pPr>
          </a:lstStyle>
          <a:p>
            <a:pPr lvl="0"/>
            <a:r>
              <a:rPr kumimoji="1" lang="zh-CN" altLang="en-US" dirty="0"/>
              <a:t>部门名称</a:t>
            </a:r>
          </a:p>
        </p:txBody>
      </p:sp>
      <p:sp>
        <p:nvSpPr>
          <p:cNvPr id="37" name="文本占位符 36"/>
          <p:cNvSpPr>
            <a:spLocks noGrp="1"/>
          </p:cNvSpPr>
          <p:nvPr>
            <p:ph type="body" sz="quarter" idx="13" hasCustomPrompt="1"/>
          </p:nvPr>
        </p:nvSpPr>
        <p:spPr>
          <a:xfrm>
            <a:off x="3057760" y="3717966"/>
            <a:ext cx="3035737" cy="333414"/>
          </a:xfrm>
          <a:prstGeom prst="rect">
            <a:avLst/>
          </a:prstGeom>
        </p:spPr>
        <p:txBody>
          <a:bodyPr vert="horz"/>
          <a:lstStyle>
            <a:lvl1pPr marL="0" indent="0" algn="ctr">
              <a:buNone/>
              <a:defRPr b="1" i="0">
                <a:solidFill>
                  <a:schemeClr val="tx1">
                    <a:lumMod val="75000"/>
                    <a:lumOff val="25000"/>
                  </a:schemeClr>
                </a:solidFill>
                <a:effectLst/>
                <a:latin typeface="+mj-ea"/>
                <a:ea typeface="+mj-ea"/>
              </a:defRPr>
            </a:lvl1pPr>
          </a:lstStyle>
          <a:p>
            <a:pPr lvl="0"/>
            <a:r>
              <a:rPr kumimoji="1" lang="zh-CN" altLang="en-US" dirty="0"/>
              <a:t>年</a:t>
            </a:r>
            <a:r>
              <a:rPr kumimoji="1" lang="en-US" altLang="zh-CN" dirty="0"/>
              <a:t>.</a:t>
            </a:r>
            <a:r>
              <a:rPr kumimoji="1" lang="zh-CN" altLang="en-US" dirty="0"/>
              <a:t>月</a:t>
            </a:r>
            <a:r>
              <a:rPr kumimoji="1" lang="en-US" altLang="zh-CN" dirty="0"/>
              <a:t>.</a:t>
            </a:r>
            <a:r>
              <a:rPr kumimoji="1" lang="zh-CN" altLang="en-US" dirty="0"/>
              <a:t>日</a:t>
            </a:r>
          </a:p>
        </p:txBody>
      </p:sp>
      <p:pic>
        <p:nvPicPr>
          <p:cNvPr id="3" name="图片 2"/>
          <p:cNvPicPr>
            <a:picLocks noChangeAspect="1"/>
          </p:cNvPicPr>
          <p:nvPr userDrawn="1"/>
        </p:nvPicPr>
        <p:blipFill>
          <a:blip r:embed="rId2"/>
          <a:stretch>
            <a:fillRect/>
          </a:stretch>
        </p:blipFill>
        <p:spPr>
          <a:xfrm>
            <a:off x="6907257" y="104503"/>
            <a:ext cx="1994523" cy="809897"/>
          </a:xfrm>
          <a:prstGeom prst="rect">
            <a:avLst/>
          </a:prstGeom>
        </p:spPr>
      </p:pic>
    </p:spTree>
    <p:extLst>
      <p:ext uri="{BB962C8B-B14F-4D97-AF65-F5344CB8AC3E}">
        <p14:creationId xmlns:p14="http://schemas.microsoft.com/office/powerpoint/2010/main" val="11850915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stretch>
            <a:fillRect/>
          </a:stretch>
        </p:blipFill>
        <p:spPr>
          <a:xfrm>
            <a:off x="6907257" y="104503"/>
            <a:ext cx="1994523" cy="809897"/>
          </a:xfrm>
          <a:prstGeom prst="rect">
            <a:avLst/>
          </a:prstGeom>
        </p:spPr>
      </p:pic>
    </p:spTree>
    <p:extLst>
      <p:ext uri="{BB962C8B-B14F-4D97-AF65-F5344CB8AC3E}">
        <p14:creationId xmlns:p14="http://schemas.microsoft.com/office/powerpoint/2010/main" val="1220928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内页 空白">
    <p:spTree>
      <p:nvGrpSpPr>
        <p:cNvPr id="1" name=""/>
        <p:cNvGrpSpPr/>
        <p:nvPr/>
      </p:nvGrpSpPr>
      <p:grpSpPr>
        <a:xfrm>
          <a:off x="0" y="0"/>
          <a:ext cx="0" cy="0"/>
          <a:chOff x="0" y="0"/>
          <a:chExt cx="0" cy="0"/>
        </a:xfrm>
      </p:grpSpPr>
      <p:sp>
        <p:nvSpPr>
          <p:cNvPr id="8" name="标题占位符 1"/>
          <p:cNvSpPr>
            <a:spLocks noGrp="1"/>
          </p:cNvSpPr>
          <p:nvPr>
            <p:ph type="title"/>
          </p:nvPr>
        </p:nvSpPr>
        <p:spPr>
          <a:xfrm>
            <a:off x="162371" y="33484"/>
            <a:ext cx="5462090" cy="474662"/>
          </a:xfrm>
          <a:prstGeom prst="rect">
            <a:avLst/>
          </a:prstGeom>
        </p:spPr>
        <p:txBody>
          <a:bodyPr vert="horz" lIns="91440" tIns="45720" rIns="91440" bIns="45720" rtlCol="0" anchor="ctr">
            <a:normAutofit/>
          </a:bodyPr>
          <a:lstStyle>
            <a:lvl1pPr>
              <a:defRPr b="1" i="0">
                <a:solidFill>
                  <a:srgbClr val="404040"/>
                </a:solidFill>
                <a:latin typeface="Microsoft YaHei"/>
                <a:cs typeface="Microsoft YaHei"/>
              </a:defRPr>
            </a:lvl1pPr>
          </a:lstStyle>
          <a:p>
            <a:r>
              <a:rPr kumimoji="1" lang="zh-CN" altLang="en-US" dirty="0"/>
              <a:t>单击此处编辑母版标题样式</a:t>
            </a:r>
          </a:p>
        </p:txBody>
      </p:sp>
      <p:sp>
        <p:nvSpPr>
          <p:cNvPr id="16" name="文本占位符 15"/>
          <p:cNvSpPr>
            <a:spLocks noGrp="1"/>
          </p:cNvSpPr>
          <p:nvPr>
            <p:ph type="body" sz="quarter" idx="13"/>
          </p:nvPr>
        </p:nvSpPr>
        <p:spPr>
          <a:xfrm>
            <a:off x="457200" y="933450"/>
            <a:ext cx="8229600" cy="4908550"/>
          </a:xfrm>
          <a:prstGeom prst="rect">
            <a:avLst/>
          </a:prstGeom>
        </p:spPr>
        <p:txBody>
          <a:bodyPr vert="horz"/>
          <a:lstStyle>
            <a:lvl1pPr marL="0" indent="0">
              <a:buNone/>
              <a:defRPr>
                <a:solidFill>
                  <a:srgbClr val="404040"/>
                </a:solidFill>
                <a:latin typeface="Microsoft YaHei"/>
                <a:cs typeface="Microsoft YaHei"/>
              </a:defRPr>
            </a:lvl1pPr>
          </a:lstStyle>
          <a:p>
            <a:pPr lvl="0"/>
            <a:r>
              <a:rPr kumimoji="1" lang="zh-CN" altLang="en-US" dirty="0"/>
              <a:t>单击此处编辑母版文本样式</a:t>
            </a:r>
          </a:p>
          <a:p>
            <a:pPr lvl="0"/>
            <a:r>
              <a:rPr kumimoji="1" lang="zh-CN" altLang="en-US" dirty="0"/>
              <a:t>二级</a:t>
            </a:r>
          </a:p>
          <a:p>
            <a:pPr lvl="0"/>
            <a:r>
              <a:rPr kumimoji="1" lang="zh-CN" altLang="en-US" dirty="0"/>
              <a:t>三级</a:t>
            </a:r>
          </a:p>
          <a:p>
            <a:pPr lvl="0"/>
            <a:r>
              <a:rPr kumimoji="1" lang="zh-CN" altLang="en-US" dirty="0"/>
              <a:t>四级</a:t>
            </a:r>
          </a:p>
          <a:p>
            <a:pPr lvl="0"/>
            <a:r>
              <a:rPr kumimoji="1" lang="zh-CN" altLang="en-US" dirty="0"/>
              <a:t>五级</a:t>
            </a:r>
          </a:p>
        </p:txBody>
      </p:sp>
      <p:sp>
        <p:nvSpPr>
          <p:cNvPr id="10"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kumimoji="1" sz="1200" b="0" i="0">
                <a:solidFill>
                  <a:srgbClr val="7F7F7F"/>
                </a:solidFill>
                <a:latin typeface="+mj-ea"/>
                <a:ea typeface="+mj-ea"/>
                <a:cs typeface="Hei"/>
              </a:defRPr>
            </a:lvl1pPr>
          </a:lstStyle>
          <a:p>
            <a:pPr>
              <a:defRPr/>
            </a:pPr>
            <a:endParaRPr lang="zh-CN" altLang="en-US" dirty="0"/>
          </a:p>
        </p:txBody>
      </p:sp>
      <p:sp>
        <p:nvSpPr>
          <p:cNvPr id="11"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kumimoji="1" sz="1200" b="0" i="0">
                <a:solidFill>
                  <a:srgbClr val="7F7F7F"/>
                </a:solidFill>
                <a:latin typeface="+mj-ea"/>
                <a:ea typeface="+mj-ea"/>
                <a:cs typeface="Hei"/>
              </a:defRPr>
            </a:lvl1pPr>
          </a:lstStyle>
          <a:p>
            <a:pPr>
              <a:defRPr/>
            </a:pPr>
            <a:endParaRPr lang="zh-CN" altLang="en-US" dirty="0"/>
          </a:p>
        </p:txBody>
      </p:sp>
      <p:sp>
        <p:nvSpPr>
          <p:cNvPr id="12" name="幻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kumimoji="1" sz="1400" b="1" i="0">
                <a:solidFill>
                  <a:srgbClr val="7F7F7F"/>
                </a:solidFill>
                <a:latin typeface="+mj-ea"/>
                <a:ea typeface="+mj-ea"/>
                <a:cs typeface="Arial"/>
              </a:defRPr>
            </a:lvl1pPr>
          </a:lstStyle>
          <a:p>
            <a:pPr>
              <a:defRPr/>
            </a:pPr>
            <a:fld id="{3E8B6F27-EC4F-B34E-9F32-10CC92E9AB18}" type="slidenum">
              <a:rPr lang="zh-CN" altLang="en-US" smtClean="0"/>
              <a:pPr>
                <a:defRPr/>
              </a:pPr>
              <a:t>‹#›</a:t>
            </a:fld>
            <a:endParaRPr lang="zh-CN" altLang="en-US" dirty="0"/>
          </a:p>
        </p:txBody>
      </p:sp>
      <p:pic>
        <p:nvPicPr>
          <p:cNvPr id="9" name="图片 8"/>
          <p:cNvPicPr>
            <a:picLocks noChangeAspect="1"/>
          </p:cNvPicPr>
          <p:nvPr userDrawn="1"/>
        </p:nvPicPr>
        <p:blipFill>
          <a:blip r:embed="rId2"/>
          <a:stretch>
            <a:fillRect/>
          </a:stretch>
        </p:blipFill>
        <p:spPr>
          <a:xfrm>
            <a:off x="6907257" y="104503"/>
            <a:ext cx="1994523" cy="809897"/>
          </a:xfrm>
          <a:prstGeom prst="rect">
            <a:avLst/>
          </a:prstGeom>
        </p:spPr>
      </p:pic>
    </p:spTree>
    <p:extLst>
      <p:ext uri="{BB962C8B-B14F-4D97-AF65-F5344CB8AC3E}">
        <p14:creationId xmlns:p14="http://schemas.microsoft.com/office/powerpoint/2010/main" val="32658078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封底 感谢">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stretch>
            <a:fillRect/>
          </a:stretch>
        </p:blipFill>
        <p:spPr>
          <a:xfrm>
            <a:off x="6907257" y="104503"/>
            <a:ext cx="1994523" cy="809897"/>
          </a:xfrm>
          <a:prstGeom prst="rect">
            <a:avLst/>
          </a:prstGeom>
        </p:spPr>
      </p:pic>
    </p:spTree>
    <p:extLst>
      <p:ext uri="{BB962C8B-B14F-4D97-AF65-F5344CB8AC3E}">
        <p14:creationId xmlns:p14="http://schemas.microsoft.com/office/powerpoint/2010/main" val="136584312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kumimoji="1" sz="1200" b="0" i="0">
                <a:solidFill>
                  <a:srgbClr val="7F7F7F"/>
                </a:solidFill>
                <a:latin typeface="+mj-ea"/>
                <a:ea typeface="+mj-ea"/>
                <a:cs typeface="Microsoft YaHei"/>
              </a:defRPr>
            </a:lvl1pPr>
          </a:lstStyle>
          <a:p>
            <a:pPr>
              <a:defRPr/>
            </a:pPr>
            <a:endParaRPr lang="zh-CN" altLang="en-US" dirty="0"/>
          </a:p>
        </p:txBody>
      </p:sp>
      <p:sp>
        <p:nvSpPr>
          <p:cNvPr id="9"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kumimoji="1" sz="1200" b="0" i="0" baseline="0">
                <a:solidFill>
                  <a:schemeClr val="tx1">
                    <a:lumMod val="50000"/>
                    <a:lumOff val="50000"/>
                  </a:schemeClr>
                </a:solidFill>
                <a:latin typeface="+mj-ea"/>
                <a:ea typeface="+mj-ea"/>
                <a:cs typeface="Microsoft YaHei"/>
              </a:defRPr>
            </a:lvl1pPr>
          </a:lstStyle>
          <a:p>
            <a:pPr>
              <a:defRPr/>
            </a:pPr>
            <a:endParaRPr lang="zh-CN" altLang="en-US" dirty="0"/>
          </a:p>
        </p:txBody>
      </p:sp>
      <p:sp>
        <p:nvSpPr>
          <p:cNvPr id="10" name="幻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kumimoji="1" sz="1400" b="1" i="0">
                <a:solidFill>
                  <a:srgbClr val="7F7F7F"/>
                </a:solidFill>
                <a:latin typeface="+mj-ea"/>
                <a:ea typeface="+mj-ea"/>
                <a:cs typeface="Microsoft YaHei"/>
              </a:defRPr>
            </a:lvl1pPr>
          </a:lstStyle>
          <a:p>
            <a:pPr>
              <a:defRPr/>
            </a:pPr>
            <a:fld id="{3E8B6F27-EC4F-B34E-9F32-10CC92E9AB18}" type="slidenum">
              <a:rPr lang="zh-CN" altLang="en-US" smtClean="0"/>
              <a:pPr>
                <a:defRPr/>
              </a:pPr>
              <a:t>‹#›</a:t>
            </a:fld>
            <a:endParaRPr lang="zh-CN" altLang="en-US" dirty="0"/>
          </a:p>
        </p:txBody>
      </p:sp>
      <p:pic>
        <p:nvPicPr>
          <p:cNvPr id="5" name="图片 4"/>
          <p:cNvPicPr>
            <a:picLocks noChangeAspect="1"/>
          </p:cNvPicPr>
          <p:nvPr userDrawn="1"/>
        </p:nvPicPr>
        <p:blipFill>
          <a:blip r:embed="rId6"/>
          <a:stretch>
            <a:fillRect/>
          </a:stretch>
        </p:blipFill>
        <p:spPr>
          <a:xfrm>
            <a:off x="6907257" y="104503"/>
            <a:ext cx="1994523" cy="809897"/>
          </a:xfrm>
          <a:prstGeom prst="rect">
            <a:avLst/>
          </a:prstGeom>
        </p:spPr>
      </p:pic>
    </p:spTree>
    <p:extLst>
      <p:ext uri="{BB962C8B-B14F-4D97-AF65-F5344CB8AC3E}">
        <p14:creationId xmlns:p14="http://schemas.microsoft.com/office/powerpoint/2010/main" val="4005976875"/>
      </p:ext>
    </p:extLst>
  </p:cSld>
  <p:clrMap bg1="lt1" tx1="dk1" bg2="lt2" tx2="dk2" accent1="accent1" accent2="accent2" accent3="accent3" accent4="accent4" accent5="accent5" accent6="accent6" hlink="hlink" folHlink="folHlink"/>
  <p:sldLayoutIdLst>
    <p:sldLayoutId id="2147483649" r:id="rId1"/>
    <p:sldLayoutId id="2147483656" r:id="rId2"/>
    <p:sldLayoutId id="2147483654" r:id="rId3"/>
    <p:sldLayoutId id="2147483655" r:id="rId4"/>
  </p:sldLayoutIdLst>
  <p:hf hdr="0" ftr="0" dt="0"/>
  <p:txStyles>
    <p:titleStyle>
      <a:lvl1pPr algn="l" defTabSz="457200" rtl="0" eaLnBrk="1" latinLnBrk="0" hangingPunct="1">
        <a:spcBef>
          <a:spcPct val="0"/>
        </a:spcBef>
        <a:buNone/>
        <a:defRPr sz="2400" kern="1200">
          <a:solidFill>
            <a:srgbClr val="1331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1600" kern="1200">
          <a:solidFill>
            <a:schemeClr val="tx1">
              <a:lumMod val="75000"/>
              <a:lumOff val="25000"/>
            </a:schemeClr>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chart" Target="../charts/chart11.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chart" Target="../charts/chart13.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chart" Target="../charts/chart15.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chart" Target="../charts/chart18.xml"/><Relationship Id="rId2" Type="http://schemas.openxmlformats.org/officeDocument/2006/relationships/chart" Target="../charts/chart17.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chart" Target="../charts/chart20.xml"/><Relationship Id="rId2" Type="http://schemas.openxmlformats.org/officeDocument/2006/relationships/chart" Target="../charts/chart19.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chart" Target="../charts/chart22.xml"/><Relationship Id="rId2" Type="http://schemas.openxmlformats.org/officeDocument/2006/relationships/chart" Target="../charts/chart21.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chart" Target="../charts/chart24.xml"/><Relationship Id="rId2" Type="http://schemas.openxmlformats.org/officeDocument/2006/relationships/chart" Target="../charts/chart2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chart" Target="../charts/chart26.xml"/><Relationship Id="rId2" Type="http://schemas.openxmlformats.org/officeDocument/2006/relationships/chart" Target="../charts/chart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chart" Target="../charts/chart28.xml"/><Relationship Id="rId2" Type="http://schemas.openxmlformats.org/officeDocument/2006/relationships/chart" Target="../charts/chart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chart" Target="../charts/chart29.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chart" Target="../charts/chart31.xml"/><Relationship Id="rId2" Type="http://schemas.openxmlformats.org/officeDocument/2006/relationships/chart" Target="../charts/chart30.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chart" Target="../charts/chart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chart" Target="../charts/chart34.xml"/><Relationship Id="rId2" Type="http://schemas.openxmlformats.org/officeDocument/2006/relationships/chart" Target="../charts/chart33.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4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4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45.xml.rels><?xml version="1.0" encoding="UTF-8" standalone="yes"?>
<Relationships xmlns="http://schemas.openxmlformats.org/package/2006/relationships"><Relationship Id="rId3" Type="http://schemas.openxmlformats.org/officeDocument/2006/relationships/chart" Target="../charts/chart36.xml"/><Relationship Id="rId2" Type="http://schemas.openxmlformats.org/officeDocument/2006/relationships/chart" Target="../charts/chart3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chart" Target="../charts/chart38.xml"/><Relationship Id="rId2" Type="http://schemas.openxmlformats.org/officeDocument/2006/relationships/chart" Target="../charts/chart37.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chart" Target="../charts/chart39.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chart" Target="../charts/chart41.xml"/><Relationship Id="rId2" Type="http://schemas.openxmlformats.org/officeDocument/2006/relationships/chart" Target="../charts/chart40.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chart" Target="../charts/chart42.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chart" Target="../charts/chart44.xml"/><Relationship Id="rId2" Type="http://schemas.openxmlformats.org/officeDocument/2006/relationships/chart" Target="../charts/chart43.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a:xfrm>
            <a:off x="1201479" y="2059809"/>
            <a:ext cx="6974957" cy="643089"/>
          </a:xfrm>
        </p:spPr>
        <p:txBody>
          <a:bodyPr/>
          <a:lstStyle/>
          <a:p>
            <a:r>
              <a:rPr kumimoji="1" lang="en-US" altLang="zh-CN" sz="2800" dirty="0"/>
              <a:t>2016</a:t>
            </a:r>
            <a:r>
              <a:rPr kumimoji="1" lang="zh-CN" altLang="en-US" sz="2800" dirty="0"/>
              <a:t>年</a:t>
            </a:r>
            <a:r>
              <a:rPr kumimoji="1" lang="en-US" altLang="zh-CN" sz="2800" dirty="0"/>
              <a:t>9</a:t>
            </a:r>
            <a:r>
              <a:rPr kumimoji="1" lang="zh-CN" altLang="en-US" sz="2800" dirty="0"/>
              <a:t>月北京房地产市场分析</a:t>
            </a:r>
          </a:p>
        </p:txBody>
      </p:sp>
      <p:sp>
        <p:nvSpPr>
          <p:cNvPr id="6" name="文本占位符 8"/>
          <p:cNvSpPr>
            <a:spLocks noGrp="1"/>
          </p:cNvSpPr>
          <p:nvPr>
            <p:ph type="body" sz="quarter" idx="12"/>
          </p:nvPr>
        </p:nvSpPr>
        <p:spPr>
          <a:xfrm>
            <a:off x="3082420" y="3227992"/>
            <a:ext cx="2998748" cy="321630"/>
          </a:xfrm>
        </p:spPr>
        <p:txBody>
          <a:bodyPr/>
          <a:lstStyle/>
          <a:p>
            <a:r>
              <a:rPr kumimoji="1" lang="zh-CN" altLang="en-US" dirty="0"/>
              <a:t>云房数据研究中心</a:t>
            </a:r>
          </a:p>
        </p:txBody>
      </p:sp>
      <p:sp>
        <p:nvSpPr>
          <p:cNvPr id="11" name="文本占位符 9"/>
          <p:cNvSpPr>
            <a:spLocks noGrp="1"/>
          </p:cNvSpPr>
          <p:nvPr>
            <p:ph type="body" sz="quarter" idx="13"/>
          </p:nvPr>
        </p:nvSpPr>
        <p:spPr>
          <a:xfrm>
            <a:off x="3082420" y="3592955"/>
            <a:ext cx="2998748" cy="333414"/>
          </a:xfrm>
        </p:spPr>
        <p:txBody>
          <a:bodyPr/>
          <a:lstStyle/>
          <a:p>
            <a:r>
              <a:rPr kumimoji="1" lang="en-US" altLang="zh-CN" dirty="0"/>
              <a:t>2016</a:t>
            </a:r>
            <a:r>
              <a:rPr kumimoji="1" lang="zh-CN" altLang="en-US" dirty="0"/>
              <a:t>年</a:t>
            </a:r>
            <a:r>
              <a:rPr kumimoji="1" lang="en-US" altLang="zh-CN" dirty="0"/>
              <a:t>10</a:t>
            </a:r>
            <a:r>
              <a:rPr kumimoji="1" lang="zh-CN" altLang="en-US" dirty="0"/>
              <a:t>月</a:t>
            </a:r>
          </a:p>
        </p:txBody>
      </p:sp>
    </p:spTree>
    <p:extLst>
      <p:ext uri="{BB962C8B-B14F-4D97-AF65-F5344CB8AC3E}">
        <p14:creationId xmlns:p14="http://schemas.microsoft.com/office/powerpoint/2010/main" val="2479689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3209983" y="2036375"/>
            <a:ext cx="4929221" cy="500066"/>
          </a:xfrm>
          <a:prstGeom prst="rect">
            <a:avLst/>
          </a:prstGeom>
          <a:solidFill>
            <a:srgbClr val="F4A73C"/>
          </a:solidFill>
          <a:ln w="6350">
            <a:noFill/>
            <a:miter lim="800000"/>
            <a:headEnd/>
            <a:tailEnd/>
          </a:ln>
        </p:spPr>
        <p:txBody>
          <a:bodyPr lIns="0" tIns="0" rIns="0" bIns="0" anchor="ctr"/>
          <a:lstStyle/>
          <a:p>
            <a:pPr>
              <a:lnSpc>
                <a:spcPts val="2000"/>
              </a:lnSpc>
            </a:pPr>
            <a:r>
              <a:rPr kumimoji="1" lang="zh-CN" altLang="en-US" sz="1600" b="1" dirty="0">
                <a:latin typeface="微软雅黑" pitchFamily="34" charset="-122"/>
                <a:ea typeface="微软雅黑" pitchFamily="34" charset="-122"/>
                <a:cs typeface="宋体" charset="0"/>
              </a:rPr>
              <a:t>   </a:t>
            </a:r>
            <a:r>
              <a:rPr kumimoji="1" lang="zh-CN" altLang="en-US" sz="1600" b="1" dirty="0">
                <a:solidFill>
                  <a:schemeClr val="bg1"/>
                </a:solidFill>
                <a:latin typeface="微软雅黑" pitchFamily="34" charset="-122"/>
                <a:ea typeface="微软雅黑" pitchFamily="34" charset="-122"/>
                <a:cs typeface="宋体" charset="0"/>
              </a:rPr>
              <a:t>政策篇</a:t>
            </a:r>
          </a:p>
        </p:txBody>
      </p:sp>
      <p:sp>
        <p:nvSpPr>
          <p:cNvPr id="4" name="等腰三角形 3"/>
          <p:cNvSpPr/>
          <p:nvPr/>
        </p:nvSpPr>
        <p:spPr bwMode="auto">
          <a:xfrm rot="5400000">
            <a:off x="2817074" y="2214970"/>
            <a:ext cx="500066" cy="142876"/>
          </a:xfrm>
          <a:prstGeom prst="triangle">
            <a:avLst/>
          </a:prstGeom>
          <a:solidFill>
            <a:srgbClr val="F4A73C"/>
          </a:solidFill>
          <a:ln w="6350">
            <a:noFill/>
            <a:miter lim="800000"/>
            <a:headEnd/>
            <a:tailEnd/>
          </a:ln>
        </p:spPr>
        <p:txBody>
          <a:bodyPr wrap="none" lIns="0" tIns="0" rIns="0" bIns="0" anchor="ctr"/>
          <a:lstStyle>
            <a:defPPr>
              <a:defRPr lang="zh-CN"/>
            </a:defPPr>
            <a:lvl1pPr algn="l" rtl="0" fontAlgn="base">
              <a:spcBef>
                <a:spcPct val="0"/>
              </a:spcBef>
              <a:spcAft>
                <a:spcPct val="0"/>
              </a:spcAft>
              <a:defRPr kumimoji="1" kern="1200">
                <a:solidFill>
                  <a:schemeClr val="tx1"/>
                </a:solidFill>
                <a:latin typeface="Calibri" charset="0"/>
                <a:ea typeface="宋体" charset="0"/>
                <a:cs typeface="宋体" charset="0"/>
              </a:defRPr>
            </a:lvl1pPr>
            <a:lvl2pPr marL="457200" algn="l" rtl="0" fontAlgn="base">
              <a:spcBef>
                <a:spcPct val="0"/>
              </a:spcBef>
              <a:spcAft>
                <a:spcPct val="0"/>
              </a:spcAft>
              <a:defRPr kumimoji="1" kern="1200">
                <a:solidFill>
                  <a:schemeClr val="tx1"/>
                </a:solidFill>
                <a:latin typeface="Calibri" charset="0"/>
                <a:ea typeface="宋体" charset="0"/>
                <a:cs typeface="宋体" charset="0"/>
              </a:defRPr>
            </a:lvl2pPr>
            <a:lvl3pPr marL="914400" algn="l" rtl="0" fontAlgn="base">
              <a:spcBef>
                <a:spcPct val="0"/>
              </a:spcBef>
              <a:spcAft>
                <a:spcPct val="0"/>
              </a:spcAft>
              <a:defRPr kumimoji="1" kern="1200">
                <a:solidFill>
                  <a:schemeClr val="tx1"/>
                </a:solidFill>
                <a:latin typeface="Calibri" charset="0"/>
                <a:ea typeface="宋体" charset="0"/>
                <a:cs typeface="宋体" charset="0"/>
              </a:defRPr>
            </a:lvl3pPr>
            <a:lvl4pPr marL="1371600" algn="l" rtl="0" fontAlgn="base">
              <a:spcBef>
                <a:spcPct val="0"/>
              </a:spcBef>
              <a:spcAft>
                <a:spcPct val="0"/>
              </a:spcAft>
              <a:defRPr kumimoji="1" kern="1200">
                <a:solidFill>
                  <a:schemeClr val="tx1"/>
                </a:solidFill>
                <a:latin typeface="Calibri" charset="0"/>
                <a:ea typeface="宋体" charset="0"/>
                <a:cs typeface="宋体" charset="0"/>
              </a:defRPr>
            </a:lvl4pPr>
            <a:lvl5pPr marL="1828800" algn="l" rtl="0" fontAlgn="base">
              <a:spcBef>
                <a:spcPct val="0"/>
              </a:spcBef>
              <a:spcAft>
                <a:spcPct val="0"/>
              </a:spcAft>
              <a:defRPr kumimoji="1" kern="1200">
                <a:solidFill>
                  <a:schemeClr val="tx1"/>
                </a:solidFill>
                <a:latin typeface="Calibri" charset="0"/>
                <a:ea typeface="宋体" charset="0"/>
                <a:cs typeface="宋体" charset="0"/>
              </a:defRPr>
            </a:lvl5pPr>
            <a:lvl6pPr marL="2286000" algn="l" defTabSz="457200" rtl="0" eaLnBrk="1" latinLnBrk="0" hangingPunct="1">
              <a:defRPr kumimoji="1" kern="1200">
                <a:solidFill>
                  <a:schemeClr val="tx1"/>
                </a:solidFill>
                <a:latin typeface="Calibri" charset="0"/>
                <a:ea typeface="宋体" charset="0"/>
                <a:cs typeface="宋体" charset="0"/>
              </a:defRPr>
            </a:lvl6pPr>
            <a:lvl7pPr marL="2743200" algn="l" defTabSz="457200" rtl="0" eaLnBrk="1" latinLnBrk="0" hangingPunct="1">
              <a:defRPr kumimoji="1" kern="1200">
                <a:solidFill>
                  <a:schemeClr val="tx1"/>
                </a:solidFill>
                <a:latin typeface="Calibri" charset="0"/>
                <a:ea typeface="宋体" charset="0"/>
                <a:cs typeface="宋体" charset="0"/>
              </a:defRPr>
            </a:lvl7pPr>
            <a:lvl8pPr marL="3200400" algn="l" defTabSz="457200" rtl="0" eaLnBrk="1" latinLnBrk="0" hangingPunct="1">
              <a:defRPr kumimoji="1" kern="1200">
                <a:solidFill>
                  <a:schemeClr val="tx1"/>
                </a:solidFill>
                <a:latin typeface="Calibri" charset="0"/>
                <a:ea typeface="宋体" charset="0"/>
                <a:cs typeface="宋体" charset="0"/>
              </a:defRPr>
            </a:lvl8pPr>
            <a:lvl9pPr marL="3657600" algn="l" defTabSz="457200" rtl="0" eaLnBrk="1" latinLnBrk="0" hangingPunct="1">
              <a:defRPr kumimoji="1" kern="1200">
                <a:solidFill>
                  <a:schemeClr val="tx1"/>
                </a:solidFill>
                <a:latin typeface="Calibri" charset="0"/>
                <a:ea typeface="宋体" charset="0"/>
                <a:cs typeface="宋体" charset="0"/>
              </a:defRPr>
            </a:lvl9pPr>
          </a:lstStyle>
          <a:p>
            <a:pPr algn="ctr" fontAlgn="auto">
              <a:spcBef>
                <a:spcPts val="0"/>
              </a:spcBef>
              <a:spcAft>
                <a:spcPts val="0"/>
              </a:spcAft>
              <a:defRPr/>
            </a:pPr>
            <a:endParaRPr lang="zh-CN" altLang="en-US" sz="1600" b="1" dirty="0">
              <a:latin typeface="微软雅黑" pitchFamily="34" charset="-122"/>
              <a:ea typeface="微软雅黑" pitchFamily="34" charset="-122"/>
            </a:endParaRPr>
          </a:p>
        </p:txBody>
      </p:sp>
      <p:sp>
        <p:nvSpPr>
          <p:cNvPr id="5" name="矩形 4"/>
          <p:cNvSpPr/>
          <p:nvPr/>
        </p:nvSpPr>
        <p:spPr bwMode="auto">
          <a:xfrm>
            <a:off x="3209983" y="3765483"/>
            <a:ext cx="4929221" cy="500066"/>
          </a:xfrm>
          <a:prstGeom prst="rect">
            <a:avLst/>
          </a:prstGeom>
          <a:solidFill>
            <a:srgbClr val="0070C0"/>
          </a:solidFill>
          <a:ln w="6350">
            <a:noFill/>
            <a:miter lim="800000"/>
            <a:headEnd/>
            <a:tailEnd/>
          </a:ln>
        </p:spPr>
        <p:txBody>
          <a:bodyPr lIns="0" tIns="0" rIns="0" bIns="0" anchor="ctr"/>
          <a:lstStyle>
            <a:defPPr>
              <a:defRPr lang="zh-CN"/>
            </a:defPPr>
            <a:lvl1pPr algn="l" rtl="0" fontAlgn="base">
              <a:spcBef>
                <a:spcPct val="0"/>
              </a:spcBef>
              <a:spcAft>
                <a:spcPct val="0"/>
              </a:spcAft>
              <a:defRPr kumimoji="1" kern="1200">
                <a:solidFill>
                  <a:schemeClr val="tx1"/>
                </a:solidFill>
                <a:latin typeface="Calibri" charset="0"/>
                <a:ea typeface="宋体" charset="0"/>
                <a:cs typeface="宋体" charset="0"/>
              </a:defRPr>
            </a:lvl1pPr>
            <a:lvl2pPr marL="457200" algn="l" rtl="0" fontAlgn="base">
              <a:spcBef>
                <a:spcPct val="0"/>
              </a:spcBef>
              <a:spcAft>
                <a:spcPct val="0"/>
              </a:spcAft>
              <a:defRPr kumimoji="1" kern="1200">
                <a:solidFill>
                  <a:schemeClr val="tx1"/>
                </a:solidFill>
                <a:latin typeface="Calibri" charset="0"/>
                <a:ea typeface="宋体" charset="0"/>
                <a:cs typeface="宋体" charset="0"/>
              </a:defRPr>
            </a:lvl2pPr>
            <a:lvl3pPr marL="914400" algn="l" rtl="0" fontAlgn="base">
              <a:spcBef>
                <a:spcPct val="0"/>
              </a:spcBef>
              <a:spcAft>
                <a:spcPct val="0"/>
              </a:spcAft>
              <a:defRPr kumimoji="1" kern="1200">
                <a:solidFill>
                  <a:schemeClr val="tx1"/>
                </a:solidFill>
                <a:latin typeface="Calibri" charset="0"/>
                <a:ea typeface="宋体" charset="0"/>
                <a:cs typeface="宋体" charset="0"/>
              </a:defRPr>
            </a:lvl3pPr>
            <a:lvl4pPr marL="1371600" algn="l" rtl="0" fontAlgn="base">
              <a:spcBef>
                <a:spcPct val="0"/>
              </a:spcBef>
              <a:spcAft>
                <a:spcPct val="0"/>
              </a:spcAft>
              <a:defRPr kumimoji="1" kern="1200">
                <a:solidFill>
                  <a:schemeClr val="tx1"/>
                </a:solidFill>
                <a:latin typeface="Calibri" charset="0"/>
                <a:ea typeface="宋体" charset="0"/>
                <a:cs typeface="宋体" charset="0"/>
              </a:defRPr>
            </a:lvl4pPr>
            <a:lvl5pPr marL="1828800" algn="l" rtl="0" fontAlgn="base">
              <a:spcBef>
                <a:spcPct val="0"/>
              </a:spcBef>
              <a:spcAft>
                <a:spcPct val="0"/>
              </a:spcAft>
              <a:defRPr kumimoji="1" kern="1200">
                <a:solidFill>
                  <a:schemeClr val="tx1"/>
                </a:solidFill>
                <a:latin typeface="Calibri" charset="0"/>
                <a:ea typeface="宋体" charset="0"/>
                <a:cs typeface="宋体" charset="0"/>
              </a:defRPr>
            </a:lvl5pPr>
            <a:lvl6pPr marL="2286000" algn="l" defTabSz="457200" rtl="0" eaLnBrk="1" latinLnBrk="0" hangingPunct="1">
              <a:defRPr kumimoji="1" kern="1200">
                <a:solidFill>
                  <a:schemeClr val="tx1"/>
                </a:solidFill>
                <a:latin typeface="Calibri" charset="0"/>
                <a:ea typeface="宋体" charset="0"/>
                <a:cs typeface="宋体" charset="0"/>
              </a:defRPr>
            </a:lvl6pPr>
            <a:lvl7pPr marL="2743200" algn="l" defTabSz="457200" rtl="0" eaLnBrk="1" latinLnBrk="0" hangingPunct="1">
              <a:defRPr kumimoji="1" kern="1200">
                <a:solidFill>
                  <a:schemeClr val="tx1"/>
                </a:solidFill>
                <a:latin typeface="Calibri" charset="0"/>
                <a:ea typeface="宋体" charset="0"/>
                <a:cs typeface="宋体" charset="0"/>
              </a:defRPr>
            </a:lvl7pPr>
            <a:lvl8pPr marL="3200400" algn="l" defTabSz="457200" rtl="0" eaLnBrk="1" latinLnBrk="0" hangingPunct="1">
              <a:defRPr kumimoji="1" kern="1200">
                <a:solidFill>
                  <a:schemeClr val="tx1"/>
                </a:solidFill>
                <a:latin typeface="Calibri" charset="0"/>
                <a:ea typeface="宋体" charset="0"/>
                <a:cs typeface="宋体" charset="0"/>
              </a:defRPr>
            </a:lvl8pPr>
            <a:lvl9pPr marL="3657600" algn="l" defTabSz="457200" rtl="0" eaLnBrk="1" latinLnBrk="0" hangingPunct="1">
              <a:defRPr kumimoji="1" kern="1200">
                <a:solidFill>
                  <a:schemeClr val="tx1"/>
                </a:solidFill>
                <a:latin typeface="Calibri" charset="0"/>
                <a:ea typeface="宋体" charset="0"/>
                <a:cs typeface="宋体" charset="0"/>
              </a:defRPr>
            </a:lvl9pPr>
          </a:lstStyle>
          <a:p>
            <a:pPr fontAlgn="auto">
              <a:lnSpc>
                <a:spcPts val="2000"/>
              </a:lnSpc>
              <a:spcBef>
                <a:spcPts val="0"/>
              </a:spcBef>
              <a:spcAft>
                <a:spcPts val="0"/>
              </a:spcAft>
              <a:defRPr/>
            </a:pPr>
            <a:r>
              <a:rPr lang="zh-CN" altLang="en-US" sz="1600" b="1" dirty="0">
                <a:solidFill>
                  <a:schemeClr val="bg1"/>
                </a:solidFill>
                <a:latin typeface="微软雅黑" pitchFamily="34" charset="-122"/>
                <a:ea typeface="微软雅黑" pitchFamily="34" charset="-122"/>
              </a:rPr>
              <a:t>   市场篇</a:t>
            </a:r>
          </a:p>
        </p:txBody>
      </p:sp>
      <p:sp>
        <p:nvSpPr>
          <p:cNvPr id="6" name="等腰三角形 5"/>
          <p:cNvSpPr/>
          <p:nvPr/>
        </p:nvSpPr>
        <p:spPr bwMode="auto">
          <a:xfrm rot="5400000">
            <a:off x="2817074" y="3944078"/>
            <a:ext cx="500066" cy="142876"/>
          </a:xfrm>
          <a:prstGeom prst="triangle">
            <a:avLst/>
          </a:prstGeom>
          <a:solidFill>
            <a:srgbClr val="0070C0"/>
          </a:solidFill>
          <a:ln w="6350">
            <a:noFill/>
            <a:miter lim="800000"/>
            <a:headEnd/>
            <a:tailEnd/>
          </a:ln>
        </p:spPr>
        <p:txBody>
          <a:bodyPr wrap="none" lIns="0" tIns="0" rIns="0" bIns="0" anchor="ctr"/>
          <a:lstStyle>
            <a:defPPr>
              <a:defRPr lang="zh-CN"/>
            </a:defPPr>
            <a:lvl1pPr algn="l" rtl="0" fontAlgn="base">
              <a:spcBef>
                <a:spcPct val="0"/>
              </a:spcBef>
              <a:spcAft>
                <a:spcPct val="0"/>
              </a:spcAft>
              <a:defRPr kumimoji="1" kern="1200">
                <a:solidFill>
                  <a:schemeClr val="tx1"/>
                </a:solidFill>
                <a:latin typeface="Calibri" charset="0"/>
                <a:ea typeface="宋体" charset="0"/>
                <a:cs typeface="宋体" charset="0"/>
              </a:defRPr>
            </a:lvl1pPr>
            <a:lvl2pPr marL="457200" algn="l" rtl="0" fontAlgn="base">
              <a:spcBef>
                <a:spcPct val="0"/>
              </a:spcBef>
              <a:spcAft>
                <a:spcPct val="0"/>
              </a:spcAft>
              <a:defRPr kumimoji="1" kern="1200">
                <a:solidFill>
                  <a:schemeClr val="tx1"/>
                </a:solidFill>
                <a:latin typeface="Calibri" charset="0"/>
                <a:ea typeface="宋体" charset="0"/>
                <a:cs typeface="宋体" charset="0"/>
              </a:defRPr>
            </a:lvl2pPr>
            <a:lvl3pPr marL="914400" algn="l" rtl="0" fontAlgn="base">
              <a:spcBef>
                <a:spcPct val="0"/>
              </a:spcBef>
              <a:spcAft>
                <a:spcPct val="0"/>
              </a:spcAft>
              <a:defRPr kumimoji="1" kern="1200">
                <a:solidFill>
                  <a:schemeClr val="tx1"/>
                </a:solidFill>
                <a:latin typeface="Calibri" charset="0"/>
                <a:ea typeface="宋体" charset="0"/>
                <a:cs typeface="宋体" charset="0"/>
              </a:defRPr>
            </a:lvl3pPr>
            <a:lvl4pPr marL="1371600" algn="l" rtl="0" fontAlgn="base">
              <a:spcBef>
                <a:spcPct val="0"/>
              </a:spcBef>
              <a:spcAft>
                <a:spcPct val="0"/>
              </a:spcAft>
              <a:defRPr kumimoji="1" kern="1200">
                <a:solidFill>
                  <a:schemeClr val="tx1"/>
                </a:solidFill>
                <a:latin typeface="Calibri" charset="0"/>
                <a:ea typeface="宋体" charset="0"/>
                <a:cs typeface="宋体" charset="0"/>
              </a:defRPr>
            </a:lvl4pPr>
            <a:lvl5pPr marL="1828800" algn="l" rtl="0" fontAlgn="base">
              <a:spcBef>
                <a:spcPct val="0"/>
              </a:spcBef>
              <a:spcAft>
                <a:spcPct val="0"/>
              </a:spcAft>
              <a:defRPr kumimoji="1" kern="1200">
                <a:solidFill>
                  <a:schemeClr val="tx1"/>
                </a:solidFill>
                <a:latin typeface="Calibri" charset="0"/>
                <a:ea typeface="宋体" charset="0"/>
                <a:cs typeface="宋体" charset="0"/>
              </a:defRPr>
            </a:lvl5pPr>
            <a:lvl6pPr marL="2286000" algn="l" defTabSz="457200" rtl="0" eaLnBrk="1" latinLnBrk="0" hangingPunct="1">
              <a:defRPr kumimoji="1" kern="1200">
                <a:solidFill>
                  <a:schemeClr val="tx1"/>
                </a:solidFill>
                <a:latin typeface="Calibri" charset="0"/>
                <a:ea typeface="宋体" charset="0"/>
                <a:cs typeface="宋体" charset="0"/>
              </a:defRPr>
            </a:lvl6pPr>
            <a:lvl7pPr marL="2743200" algn="l" defTabSz="457200" rtl="0" eaLnBrk="1" latinLnBrk="0" hangingPunct="1">
              <a:defRPr kumimoji="1" kern="1200">
                <a:solidFill>
                  <a:schemeClr val="tx1"/>
                </a:solidFill>
                <a:latin typeface="Calibri" charset="0"/>
                <a:ea typeface="宋体" charset="0"/>
                <a:cs typeface="宋体" charset="0"/>
              </a:defRPr>
            </a:lvl7pPr>
            <a:lvl8pPr marL="3200400" algn="l" defTabSz="457200" rtl="0" eaLnBrk="1" latinLnBrk="0" hangingPunct="1">
              <a:defRPr kumimoji="1" kern="1200">
                <a:solidFill>
                  <a:schemeClr val="tx1"/>
                </a:solidFill>
                <a:latin typeface="Calibri" charset="0"/>
                <a:ea typeface="宋体" charset="0"/>
                <a:cs typeface="宋体" charset="0"/>
              </a:defRPr>
            </a:lvl8pPr>
            <a:lvl9pPr marL="3657600" algn="l" defTabSz="457200" rtl="0" eaLnBrk="1" latinLnBrk="0" hangingPunct="1">
              <a:defRPr kumimoji="1" kern="1200">
                <a:solidFill>
                  <a:schemeClr val="tx1"/>
                </a:solidFill>
                <a:latin typeface="Calibri" charset="0"/>
                <a:ea typeface="宋体" charset="0"/>
                <a:cs typeface="宋体" charset="0"/>
              </a:defRPr>
            </a:lvl9pPr>
          </a:lstStyle>
          <a:p>
            <a:pPr algn="ctr" fontAlgn="auto">
              <a:spcBef>
                <a:spcPts val="0"/>
              </a:spcBef>
              <a:spcAft>
                <a:spcPts val="0"/>
              </a:spcAft>
              <a:defRPr/>
            </a:pPr>
            <a:endParaRPr lang="zh-CN" altLang="en-US" sz="1600" b="1" dirty="0">
              <a:latin typeface="微软雅黑" pitchFamily="34" charset="-122"/>
              <a:ea typeface="微软雅黑" pitchFamily="34" charset="-122"/>
            </a:endParaRPr>
          </a:p>
        </p:txBody>
      </p:sp>
      <p:sp>
        <p:nvSpPr>
          <p:cNvPr id="12" name="标题占位符 1"/>
          <p:cNvSpPr txBox="1">
            <a:spLocks/>
          </p:cNvSpPr>
          <p:nvPr/>
        </p:nvSpPr>
        <p:spPr>
          <a:xfrm>
            <a:off x="161948" y="73935"/>
            <a:ext cx="5462090" cy="474662"/>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2400" b="1" i="0" kern="1200">
                <a:solidFill>
                  <a:srgbClr val="133176"/>
                </a:solidFill>
                <a:latin typeface="Microsoft YaHei"/>
                <a:ea typeface="+mj-ea"/>
                <a:cs typeface="Microsoft YaHei"/>
              </a:defRPr>
            </a:lvl1pPr>
          </a:lstStyle>
          <a:p>
            <a:r>
              <a:rPr kumimoji="1" lang="zh-CN" altLang="en-US" dirty="0">
                <a:solidFill>
                  <a:srgbClr val="404040"/>
                </a:solidFill>
              </a:rPr>
              <a:t>目</a:t>
            </a:r>
            <a:r>
              <a:rPr kumimoji="1" lang="en-US" altLang="zh-CN" dirty="0">
                <a:solidFill>
                  <a:srgbClr val="404040"/>
                </a:solidFill>
              </a:rPr>
              <a:t>  </a:t>
            </a:r>
            <a:r>
              <a:rPr kumimoji="1" lang="zh-CN" altLang="en-US" dirty="0">
                <a:solidFill>
                  <a:srgbClr val="404040"/>
                </a:solidFill>
              </a:rPr>
              <a:t>录</a:t>
            </a:r>
          </a:p>
        </p:txBody>
      </p:sp>
      <p:sp>
        <p:nvSpPr>
          <p:cNvPr id="13" name="矩形 12"/>
          <p:cNvSpPr/>
          <p:nvPr/>
        </p:nvSpPr>
        <p:spPr bwMode="auto">
          <a:xfrm>
            <a:off x="1004797" y="2036376"/>
            <a:ext cx="1888196" cy="500067"/>
          </a:xfrm>
          <a:prstGeom prst="rect">
            <a:avLst/>
          </a:prstGeom>
          <a:solidFill>
            <a:srgbClr val="F4A73C"/>
          </a:solidFill>
          <a:ln w="6350">
            <a:noFill/>
            <a:miter lim="800000"/>
            <a:headEnd/>
            <a:tailEnd/>
          </a:ln>
        </p:spPr>
        <p:txBody>
          <a:bodyPr lIns="0" tIns="0" rIns="0" bIns="0" anchor="ctr"/>
          <a:lstStyle/>
          <a:p>
            <a:pPr algn="ctr">
              <a:lnSpc>
                <a:spcPts val="2000"/>
              </a:lnSpc>
            </a:pPr>
            <a:r>
              <a:rPr kumimoji="1" lang="zh-CN" altLang="en-US" sz="1600" b="1" dirty="0">
                <a:solidFill>
                  <a:schemeClr val="bg1"/>
                </a:solidFill>
                <a:latin typeface="微软雅黑" pitchFamily="34" charset="-122"/>
                <a:ea typeface="微软雅黑" pitchFamily="34" charset="-122"/>
                <a:cs typeface="宋体" charset="0"/>
              </a:rPr>
              <a:t>目录一</a:t>
            </a:r>
          </a:p>
        </p:txBody>
      </p:sp>
      <p:sp>
        <p:nvSpPr>
          <p:cNvPr id="14" name="矩形 13"/>
          <p:cNvSpPr/>
          <p:nvPr/>
        </p:nvSpPr>
        <p:spPr bwMode="auto">
          <a:xfrm>
            <a:off x="1004797" y="3765484"/>
            <a:ext cx="1888196" cy="500067"/>
          </a:xfrm>
          <a:prstGeom prst="rect">
            <a:avLst/>
          </a:prstGeom>
          <a:solidFill>
            <a:srgbClr val="006EC7"/>
          </a:solidFill>
          <a:ln w="6350">
            <a:noFill/>
            <a:miter lim="800000"/>
            <a:headEnd/>
            <a:tailEnd/>
          </a:ln>
        </p:spPr>
        <p:txBody>
          <a:bodyPr lIns="0" tIns="0" rIns="0" bIns="0" anchor="ctr"/>
          <a:lstStyle>
            <a:defPPr>
              <a:defRPr lang="zh-CN"/>
            </a:defPPr>
            <a:lvl1pPr algn="l" rtl="0" fontAlgn="base">
              <a:spcBef>
                <a:spcPct val="0"/>
              </a:spcBef>
              <a:spcAft>
                <a:spcPct val="0"/>
              </a:spcAft>
              <a:defRPr kumimoji="1" kern="1200">
                <a:solidFill>
                  <a:schemeClr val="tx1"/>
                </a:solidFill>
                <a:latin typeface="Calibri" charset="0"/>
                <a:ea typeface="宋体" charset="0"/>
                <a:cs typeface="宋体" charset="0"/>
              </a:defRPr>
            </a:lvl1pPr>
            <a:lvl2pPr marL="457200" algn="l" rtl="0" fontAlgn="base">
              <a:spcBef>
                <a:spcPct val="0"/>
              </a:spcBef>
              <a:spcAft>
                <a:spcPct val="0"/>
              </a:spcAft>
              <a:defRPr kumimoji="1" kern="1200">
                <a:solidFill>
                  <a:schemeClr val="tx1"/>
                </a:solidFill>
                <a:latin typeface="Calibri" charset="0"/>
                <a:ea typeface="宋体" charset="0"/>
                <a:cs typeface="宋体" charset="0"/>
              </a:defRPr>
            </a:lvl2pPr>
            <a:lvl3pPr marL="914400" algn="l" rtl="0" fontAlgn="base">
              <a:spcBef>
                <a:spcPct val="0"/>
              </a:spcBef>
              <a:spcAft>
                <a:spcPct val="0"/>
              </a:spcAft>
              <a:defRPr kumimoji="1" kern="1200">
                <a:solidFill>
                  <a:schemeClr val="tx1"/>
                </a:solidFill>
                <a:latin typeface="Calibri" charset="0"/>
                <a:ea typeface="宋体" charset="0"/>
                <a:cs typeface="宋体" charset="0"/>
              </a:defRPr>
            </a:lvl3pPr>
            <a:lvl4pPr marL="1371600" algn="l" rtl="0" fontAlgn="base">
              <a:spcBef>
                <a:spcPct val="0"/>
              </a:spcBef>
              <a:spcAft>
                <a:spcPct val="0"/>
              </a:spcAft>
              <a:defRPr kumimoji="1" kern="1200">
                <a:solidFill>
                  <a:schemeClr val="tx1"/>
                </a:solidFill>
                <a:latin typeface="Calibri" charset="0"/>
                <a:ea typeface="宋体" charset="0"/>
                <a:cs typeface="宋体" charset="0"/>
              </a:defRPr>
            </a:lvl4pPr>
            <a:lvl5pPr marL="1828800" algn="l" rtl="0" fontAlgn="base">
              <a:spcBef>
                <a:spcPct val="0"/>
              </a:spcBef>
              <a:spcAft>
                <a:spcPct val="0"/>
              </a:spcAft>
              <a:defRPr kumimoji="1" kern="1200">
                <a:solidFill>
                  <a:schemeClr val="tx1"/>
                </a:solidFill>
                <a:latin typeface="Calibri" charset="0"/>
                <a:ea typeface="宋体" charset="0"/>
                <a:cs typeface="宋体" charset="0"/>
              </a:defRPr>
            </a:lvl5pPr>
            <a:lvl6pPr marL="2286000" algn="l" defTabSz="457200" rtl="0" eaLnBrk="1" latinLnBrk="0" hangingPunct="1">
              <a:defRPr kumimoji="1" kern="1200">
                <a:solidFill>
                  <a:schemeClr val="tx1"/>
                </a:solidFill>
                <a:latin typeface="Calibri" charset="0"/>
                <a:ea typeface="宋体" charset="0"/>
                <a:cs typeface="宋体" charset="0"/>
              </a:defRPr>
            </a:lvl6pPr>
            <a:lvl7pPr marL="2743200" algn="l" defTabSz="457200" rtl="0" eaLnBrk="1" latinLnBrk="0" hangingPunct="1">
              <a:defRPr kumimoji="1" kern="1200">
                <a:solidFill>
                  <a:schemeClr val="tx1"/>
                </a:solidFill>
                <a:latin typeface="Calibri" charset="0"/>
                <a:ea typeface="宋体" charset="0"/>
                <a:cs typeface="宋体" charset="0"/>
              </a:defRPr>
            </a:lvl7pPr>
            <a:lvl8pPr marL="3200400" algn="l" defTabSz="457200" rtl="0" eaLnBrk="1" latinLnBrk="0" hangingPunct="1">
              <a:defRPr kumimoji="1" kern="1200">
                <a:solidFill>
                  <a:schemeClr val="tx1"/>
                </a:solidFill>
                <a:latin typeface="Calibri" charset="0"/>
                <a:ea typeface="宋体" charset="0"/>
                <a:cs typeface="宋体" charset="0"/>
              </a:defRPr>
            </a:lvl8pPr>
            <a:lvl9pPr marL="3657600" algn="l" defTabSz="457200" rtl="0" eaLnBrk="1" latinLnBrk="0" hangingPunct="1">
              <a:defRPr kumimoji="1" kern="1200">
                <a:solidFill>
                  <a:schemeClr val="tx1"/>
                </a:solidFill>
                <a:latin typeface="Calibri" charset="0"/>
                <a:ea typeface="宋体" charset="0"/>
                <a:cs typeface="宋体" charset="0"/>
              </a:defRPr>
            </a:lvl9pPr>
          </a:lstStyle>
          <a:p>
            <a:pPr algn="ctr" fontAlgn="auto">
              <a:lnSpc>
                <a:spcPts val="2000"/>
              </a:lnSpc>
              <a:spcBef>
                <a:spcPts val="0"/>
              </a:spcBef>
              <a:spcAft>
                <a:spcPts val="0"/>
              </a:spcAft>
              <a:defRPr/>
            </a:pPr>
            <a:r>
              <a:rPr lang="zh-CN" altLang="en-US" sz="1600" b="1" dirty="0">
                <a:solidFill>
                  <a:schemeClr val="bg1"/>
                </a:solidFill>
                <a:latin typeface="微软雅黑" pitchFamily="34" charset="-122"/>
                <a:ea typeface="微软雅黑" pitchFamily="34" charset="-122"/>
              </a:rPr>
              <a:t>目录二</a:t>
            </a:r>
          </a:p>
        </p:txBody>
      </p:sp>
      <p:sp>
        <p:nvSpPr>
          <p:cNvPr id="16" name="TextBox 15"/>
          <p:cNvSpPr txBox="1"/>
          <p:nvPr/>
        </p:nvSpPr>
        <p:spPr>
          <a:xfrm>
            <a:off x="3223938" y="2647042"/>
            <a:ext cx="5590885" cy="992579"/>
          </a:xfrm>
          <a:prstGeom prst="rect">
            <a:avLst/>
          </a:prstGeom>
          <a:noFill/>
        </p:spPr>
        <p:txBody>
          <a:bodyPr wrap="square" rtlCol="0">
            <a:spAutoFit/>
          </a:bodyPr>
          <a:lstStyle/>
          <a:p>
            <a:pPr marL="285750" indent="-285750">
              <a:lnSpc>
                <a:spcPct val="150000"/>
              </a:lnSpc>
              <a:buFont typeface="Wingdings" pitchFamily="2" charset="2"/>
              <a:buChar char="Ø"/>
            </a:pPr>
            <a:r>
              <a:rPr lang="zh-CN" altLang="en-US" sz="1300" b="1" dirty="0">
                <a:latin typeface="微软雅黑" pitchFamily="34" charset="-122"/>
                <a:ea typeface="微软雅黑" pitchFamily="34" charset="-122"/>
              </a:rPr>
              <a:t>政策面：调控政策密集出台，或将抑制房价上涨</a:t>
            </a:r>
            <a:endParaRPr lang="en-US" altLang="zh-CN" sz="1300" b="1" dirty="0">
              <a:latin typeface="微软雅黑" pitchFamily="34" charset="-122"/>
              <a:ea typeface="微软雅黑" pitchFamily="34" charset="-122"/>
            </a:endParaRPr>
          </a:p>
          <a:p>
            <a:pPr marL="285750" indent="-285750">
              <a:lnSpc>
                <a:spcPct val="150000"/>
              </a:lnSpc>
              <a:buFont typeface="Wingdings" pitchFamily="2" charset="2"/>
              <a:buChar char="Ø"/>
            </a:pPr>
            <a:r>
              <a:rPr lang="zh-CN" altLang="en-US" sz="1300" b="1" dirty="0">
                <a:latin typeface="微软雅黑" pitchFamily="34" charset="-122"/>
                <a:ea typeface="微软雅黑" pitchFamily="34" charset="-122"/>
              </a:rPr>
              <a:t>市场面：全国市场面向好，价格上涨城市明显增多</a:t>
            </a:r>
            <a:endParaRPr lang="en-US" altLang="zh-CN" sz="1300" b="1" dirty="0">
              <a:latin typeface="微软雅黑" pitchFamily="34" charset="-122"/>
              <a:ea typeface="微软雅黑" pitchFamily="34" charset="-122"/>
            </a:endParaRPr>
          </a:p>
          <a:p>
            <a:pPr marL="285750" indent="-285750">
              <a:lnSpc>
                <a:spcPct val="150000"/>
              </a:lnSpc>
              <a:buFont typeface="Wingdings" pitchFamily="2" charset="2"/>
              <a:buChar char="Ø"/>
            </a:pPr>
            <a:r>
              <a:rPr lang="zh-CN" altLang="en-US" sz="1300" b="1" dirty="0">
                <a:latin typeface="微软雅黑" pitchFamily="34" charset="-122"/>
                <a:ea typeface="微软雅黑" pitchFamily="34" charset="-122"/>
              </a:rPr>
              <a:t>资金面：利率继续维持低位，银行收紧态势趋显</a:t>
            </a:r>
            <a:endParaRPr lang="en-US" altLang="zh-CN" sz="1300" b="1" dirty="0">
              <a:latin typeface="微软雅黑" pitchFamily="34" charset="-122"/>
              <a:ea typeface="微软雅黑" pitchFamily="34" charset="-122"/>
            </a:endParaRPr>
          </a:p>
        </p:txBody>
      </p:sp>
      <p:sp>
        <p:nvSpPr>
          <p:cNvPr id="10" name="矩形 9"/>
          <p:cNvSpPr/>
          <p:nvPr/>
        </p:nvSpPr>
        <p:spPr>
          <a:xfrm>
            <a:off x="3297041" y="4386383"/>
            <a:ext cx="1011815" cy="738664"/>
          </a:xfrm>
          <a:prstGeom prst="rect">
            <a:avLst/>
          </a:prstGeom>
        </p:spPr>
        <p:txBody>
          <a:bodyPr wrap="none">
            <a:spAutoFit/>
          </a:bodyPr>
          <a:lstStyle/>
          <a:p>
            <a:pPr marL="285750" indent="-285750">
              <a:lnSpc>
                <a:spcPct val="150000"/>
              </a:lnSpc>
              <a:buFont typeface="Wingdings" panose="05000000000000000000" pitchFamily="2" charset="2"/>
              <a:buChar char="Ø"/>
            </a:pPr>
            <a:r>
              <a:rPr lang="zh-CN" altLang="en-US" sz="1400" b="1" dirty="0">
                <a:latin typeface="微软雅黑" pitchFamily="34" charset="-122"/>
                <a:ea typeface="微软雅黑" pitchFamily="34" charset="-122"/>
              </a:rPr>
              <a:t>北京</a:t>
            </a:r>
            <a:endParaRPr lang="en-US" altLang="zh-CN" sz="1400" b="1" dirty="0">
              <a:latin typeface="微软雅黑" pitchFamily="34" charset="-122"/>
              <a:ea typeface="微软雅黑" pitchFamily="34" charset="-122"/>
            </a:endParaRPr>
          </a:p>
          <a:p>
            <a:pPr marL="285750" indent="-285750">
              <a:lnSpc>
                <a:spcPct val="150000"/>
              </a:lnSpc>
              <a:buFont typeface="Wingdings" panose="05000000000000000000" pitchFamily="2" charset="2"/>
              <a:buChar char="Ø"/>
            </a:pPr>
            <a:r>
              <a:rPr lang="zh-CN" altLang="en-US" sz="1400" b="1" dirty="0">
                <a:latin typeface="微软雅黑" pitchFamily="34" charset="-122"/>
                <a:ea typeface="微软雅黑" pitchFamily="34" charset="-122"/>
              </a:rPr>
              <a:t>环北京</a:t>
            </a:r>
            <a:endParaRPr lang="en-US" altLang="zh-CN" sz="1400" b="1" dirty="0">
              <a:latin typeface="微软雅黑" pitchFamily="34" charset="-122"/>
              <a:ea typeface="微软雅黑" pitchFamily="34" charset="-122"/>
            </a:endParaRPr>
          </a:p>
        </p:txBody>
      </p:sp>
    </p:spTree>
    <p:extLst>
      <p:ext uri="{BB962C8B-B14F-4D97-AF65-F5344CB8AC3E}">
        <p14:creationId xmlns:p14="http://schemas.microsoft.com/office/powerpoint/2010/main" val="31643210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3"/>
          <p:cNvSpPr>
            <a:spLocks noGrp="1"/>
          </p:cNvSpPr>
          <p:nvPr>
            <p:ph type="title"/>
          </p:nvPr>
        </p:nvSpPr>
        <p:spPr>
          <a:xfrm>
            <a:off x="91119" y="40862"/>
            <a:ext cx="5894045" cy="474662"/>
          </a:xfrm>
        </p:spPr>
        <p:txBody>
          <a:bodyPr>
            <a:normAutofit/>
          </a:bodyPr>
          <a:lstStyle/>
          <a:p>
            <a:r>
              <a:rPr lang="zh-CN" altLang="en-US" dirty="0"/>
              <a:t>政策面</a:t>
            </a:r>
            <a:r>
              <a:rPr lang="en-US" altLang="zh-CN" dirty="0"/>
              <a:t>|</a:t>
            </a:r>
            <a:r>
              <a:rPr lang="zh-CN" altLang="en-US" sz="1800" dirty="0"/>
              <a:t>调控政策密集出台，或将抑制房价上涨</a:t>
            </a:r>
            <a:endParaRPr lang="zh-CN" altLang="en-US" sz="1400" dirty="0"/>
          </a:p>
        </p:txBody>
      </p:sp>
      <p:sp>
        <p:nvSpPr>
          <p:cNvPr id="26" name="幻灯片编号占位符 1"/>
          <p:cNvSpPr txBox="1">
            <a:spLocks/>
          </p:cNvSpPr>
          <p:nvPr/>
        </p:nvSpPr>
        <p:spPr>
          <a:xfrm>
            <a:off x="6553200" y="6546886"/>
            <a:ext cx="2133600" cy="365125"/>
          </a:xfrm>
          <a:prstGeom prst="rect">
            <a:avLst/>
          </a:prstGeom>
        </p:spPr>
        <p:txBody>
          <a:bodyPr vert="horz" lIns="91440" tIns="45720" rIns="91440" bIns="45720" rtlCol="0" anchor="ctr"/>
          <a:lstStyle>
            <a:defPPr>
              <a:defRPr lang="zh-CN"/>
            </a:defPPr>
            <a:lvl1pPr marL="0" algn="r" defTabSz="457200" rtl="0" eaLnBrk="1" latinLnBrk="0" hangingPunct="1">
              <a:defRPr kumimoji="1" sz="1400" b="1" i="0" kern="1200">
                <a:solidFill>
                  <a:srgbClr val="133176"/>
                </a:solidFill>
                <a:latin typeface="+mj-ea"/>
                <a:ea typeface="+mj-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3E8B6F27-EC4F-B34E-9F32-10CC92E9AB18}" type="slidenum">
              <a:rPr lang="zh-CN" altLang="en-US" smtClean="0"/>
              <a:pPr>
                <a:defRPr/>
              </a:pPr>
              <a:t>3</a:t>
            </a:fld>
            <a:endParaRPr lang="zh-CN" altLang="en-US" dirty="0"/>
          </a:p>
        </p:txBody>
      </p:sp>
      <p:sp>
        <p:nvSpPr>
          <p:cNvPr id="2" name="矩形 1"/>
          <p:cNvSpPr/>
          <p:nvPr/>
        </p:nvSpPr>
        <p:spPr>
          <a:xfrm>
            <a:off x="423859" y="1265283"/>
            <a:ext cx="8138250" cy="4154984"/>
          </a:xfrm>
          <a:prstGeom prst="rect">
            <a:avLst/>
          </a:prstGeom>
        </p:spPr>
        <p:txBody>
          <a:bodyPr wrap="square">
            <a:spAutoFit/>
          </a:bodyPr>
          <a:lstStyle/>
          <a:p>
            <a:pPr algn="just">
              <a:lnSpc>
                <a:spcPct val="150000"/>
              </a:lnSpc>
            </a:pPr>
            <a:r>
              <a:rPr lang="zh-CN" altLang="en-US" sz="1600" dirty="0">
                <a:latin typeface="微软雅黑" pitchFamily="34" charset="-122"/>
                <a:ea typeface="微软雅黑" pitchFamily="34" charset="-122"/>
              </a:rPr>
              <a:t>        今年以来，随着楼市的房价的暴涨，热点城市相继升级或重新出台了房地产调控措施。从调控手段来看，包括</a:t>
            </a:r>
            <a:r>
              <a:rPr lang="zh-CN" altLang="en-US" sz="1600" b="1" dirty="0">
                <a:solidFill>
                  <a:srgbClr val="FF0000"/>
                </a:solidFill>
                <a:latin typeface="微软雅黑" pitchFamily="34" charset="-122"/>
                <a:ea typeface="微软雅黑" pitchFamily="34" charset="-122"/>
              </a:rPr>
              <a:t>限购、限贷政策，控制房价涨幅、限地价竞房价、熔断摇号、缩短土地款缴清时限、现房销售、规范市场交易等</a:t>
            </a:r>
            <a:r>
              <a:rPr lang="zh-CN" altLang="en-US" sz="1600" dirty="0">
                <a:solidFill>
                  <a:srgbClr val="FF0000"/>
                </a:solidFill>
                <a:latin typeface="微软雅黑" pitchFamily="34" charset="-122"/>
                <a:ea typeface="微软雅黑" pitchFamily="34" charset="-122"/>
              </a:rPr>
              <a:t>。</a:t>
            </a:r>
            <a:endParaRPr lang="en-US" altLang="zh-CN" sz="1600" dirty="0">
              <a:solidFill>
                <a:srgbClr val="FF0000"/>
              </a:solidFill>
              <a:latin typeface="微软雅黑" pitchFamily="34" charset="-122"/>
              <a:ea typeface="微软雅黑" pitchFamily="34" charset="-122"/>
            </a:endParaRPr>
          </a:p>
          <a:p>
            <a:pPr algn="just">
              <a:lnSpc>
                <a:spcPct val="150000"/>
              </a:lnSpc>
            </a:pPr>
            <a:endParaRPr lang="en-US" altLang="zh-CN" sz="1600" dirty="0">
              <a:solidFill>
                <a:srgbClr val="FF0000"/>
              </a:solidFill>
              <a:latin typeface="微软雅黑" pitchFamily="34" charset="-122"/>
              <a:ea typeface="微软雅黑" pitchFamily="34" charset="-122"/>
            </a:endParaRPr>
          </a:p>
          <a:p>
            <a:pPr algn="just">
              <a:lnSpc>
                <a:spcPct val="150000"/>
              </a:lnSpc>
            </a:pPr>
            <a:r>
              <a:rPr lang="zh-CN" altLang="en-US" sz="1600" dirty="0">
                <a:latin typeface="微软雅黑" pitchFamily="34" charset="-122"/>
                <a:ea typeface="微软雅黑" pitchFamily="34" charset="-122"/>
              </a:rPr>
              <a:t>         国庆期间，面对疯涨的房价和潜在的资产泡沫风险，在“因城施策”的政策背景下，房地产限购政策相继在重点城市出台。从</a:t>
            </a:r>
            <a:r>
              <a:rPr lang="en-US" altLang="zh-CN" sz="1600" dirty="0">
                <a:latin typeface="微软雅黑" pitchFamily="34" charset="-122"/>
                <a:ea typeface="微软雅黑" pitchFamily="34" charset="-122"/>
              </a:rPr>
              <a:t>9</a:t>
            </a:r>
            <a:r>
              <a:rPr lang="zh-CN" altLang="en-US" sz="1600" dirty="0">
                <a:latin typeface="微软雅黑" pitchFamily="34" charset="-122"/>
                <a:ea typeface="微软雅黑" pitchFamily="34" charset="-122"/>
              </a:rPr>
              <a:t>月</a:t>
            </a:r>
            <a:r>
              <a:rPr lang="en-US" altLang="zh-CN" sz="1600" dirty="0">
                <a:latin typeface="微软雅黑" pitchFamily="34" charset="-122"/>
                <a:ea typeface="微软雅黑" pitchFamily="34" charset="-122"/>
              </a:rPr>
              <a:t>30</a:t>
            </a:r>
            <a:r>
              <a:rPr lang="zh-CN" altLang="en-US" sz="1600" dirty="0">
                <a:latin typeface="微软雅黑" pitchFamily="34" charset="-122"/>
                <a:ea typeface="微软雅黑" pitchFamily="34" charset="-122"/>
              </a:rPr>
              <a:t>日晚间到</a:t>
            </a:r>
            <a:r>
              <a:rPr lang="en-US" altLang="zh-CN" sz="1600" dirty="0">
                <a:latin typeface="微软雅黑" pitchFamily="34" charset="-122"/>
                <a:ea typeface="微软雅黑" pitchFamily="34" charset="-122"/>
              </a:rPr>
              <a:t>10</a:t>
            </a:r>
            <a:r>
              <a:rPr lang="zh-CN" altLang="en-US" sz="1600" dirty="0">
                <a:latin typeface="微软雅黑" pitchFamily="34" charset="-122"/>
                <a:ea typeface="微软雅黑" pitchFamily="34" charset="-122"/>
              </a:rPr>
              <a:t>月</a:t>
            </a:r>
            <a:r>
              <a:rPr lang="en-US" altLang="zh-CN" sz="1600" dirty="0">
                <a:latin typeface="微软雅黑" pitchFamily="34" charset="-122"/>
                <a:ea typeface="微软雅黑" pitchFamily="34" charset="-122"/>
              </a:rPr>
              <a:t>6</a:t>
            </a:r>
            <a:r>
              <a:rPr lang="zh-CN" altLang="en-US" sz="1600" dirty="0">
                <a:latin typeface="微软雅黑" pitchFamily="34" charset="-122"/>
                <a:ea typeface="微软雅黑" pitchFamily="34" charset="-122"/>
              </a:rPr>
              <a:t>日的假期时间内，限购新政就相继在北京、天津、郑州、无锡、济南、合肥、武汉、苏州、深圳、广州、珠海、东莞等二十个城市落地。因此，</a:t>
            </a:r>
            <a:r>
              <a:rPr lang="en-US" altLang="zh-CN" sz="1600" dirty="0">
                <a:latin typeface="微软雅黑" pitchFamily="34" charset="-122"/>
                <a:ea typeface="微软雅黑" pitchFamily="34" charset="-122"/>
              </a:rPr>
              <a:t>2016</a:t>
            </a:r>
            <a:r>
              <a:rPr lang="zh-CN" altLang="en-US" sz="1600" dirty="0">
                <a:latin typeface="微软雅黑" pitchFamily="34" charset="-122"/>
                <a:ea typeface="微软雅黑" pitchFamily="34" charset="-122"/>
              </a:rPr>
              <a:t>年“国庆”成为史上房地产调控政策最为密集的假期。</a:t>
            </a:r>
            <a:r>
              <a:rPr lang="zh-CN" altLang="en-US" sz="1600" b="1" dirty="0">
                <a:solidFill>
                  <a:srgbClr val="FF0000"/>
                </a:solidFill>
                <a:latin typeface="微软雅黑" pitchFamily="34" charset="-122"/>
                <a:ea typeface="微软雅黑" pitchFamily="34" charset="-122"/>
              </a:rPr>
              <a:t>在新政的作用下，会使楼市成交快速下调，市场进入观望期，原本恐慌入市的购房者回归理性，房价或将在今年四季度开始调整</a:t>
            </a:r>
            <a:r>
              <a:rPr lang="zh-CN" altLang="en-US" sz="1600" dirty="0">
                <a:solidFill>
                  <a:srgbClr val="FF0000"/>
                </a:solidFill>
                <a:latin typeface="微软雅黑" pitchFamily="34" charset="-122"/>
                <a:ea typeface="微软雅黑" pitchFamily="34" charset="-122"/>
              </a:rPr>
              <a:t>。</a:t>
            </a:r>
          </a:p>
          <a:p>
            <a:pPr algn="just">
              <a:lnSpc>
                <a:spcPct val="150000"/>
              </a:lnSpc>
            </a:pPr>
            <a:endParaRPr lang="en-US" altLang="zh-CN" sz="1600" dirty="0">
              <a:latin typeface="微软雅黑" pitchFamily="34" charset="-122"/>
              <a:ea typeface="微软雅黑" pitchFamily="34" charset="-122"/>
            </a:endParaRPr>
          </a:p>
        </p:txBody>
      </p:sp>
    </p:spTree>
    <p:extLst>
      <p:ext uri="{BB962C8B-B14F-4D97-AF65-F5344CB8AC3E}">
        <p14:creationId xmlns:p14="http://schemas.microsoft.com/office/powerpoint/2010/main" val="2073895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3"/>
          <p:cNvSpPr>
            <a:spLocks noGrp="1"/>
          </p:cNvSpPr>
          <p:nvPr>
            <p:ph type="title"/>
          </p:nvPr>
        </p:nvSpPr>
        <p:spPr>
          <a:xfrm>
            <a:off x="91119" y="40862"/>
            <a:ext cx="5894045" cy="474662"/>
          </a:xfrm>
        </p:spPr>
        <p:txBody>
          <a:bodyPr>
            <a:normAutofit/>
          </a:bodyPr>
          <a:lstStyle/>
          <a:p>
            <a:r>
              <a:rPr lang="zh-CN" altLang="en-US" dirty="0"/>
              <a:t>政策面</a:t>
            </a:r>
            <a:r>
              <a:rPr lang="en-US" altLang="zh-CN" dirty="0"/>
              <a:t>|</a:t>
            </a:r>
            <a:r>
              <a:rPr lang="zh-CN" altLang="en-US" sz="1800" dirty="0"/>
              <a:t>收紧楼市政策成趋势，南京频出调控政策</a:t>
            </a:r>
            <a:endParaRPr lang="zh-CN" altLang="en-US" sz="1400" dirty="0"/>
          </a:p>
        </p:txBody>
      </p:sp>
      <p:sp>
        <p:nvSpPr>
          <p:cNvPr id="26" name="幻灯片编号占位符 1"/>
          <p:cNvSpPr txBox="1">
            <a:spLocks/>
          </p:cNvSpPr>
          <p:nvPr/>
        </p:nvSpPr>
        <p:spPr>
          <a:xfrm>
            <a:off x="6553200" y="6546886"/>
            <a:ext cx="2133600" cy="365125"/>
          </a:xfrm>
          <a:prstGeom prst="rect">
            <a:avLst/>
          </a:prstGeom>
        </p:spPr>
        <p:txBody>
          <a:bodyPr vert="horz" lIns="91440" tIns="45720" rIns="91440" bIns="45720" rtlCol="0" anchor="ctr"/>
          <a:lstStyle>
            <a:defPPr>
              <a:defRPr lang="zh-CN"/>
            </a:defPPr>
            <a:lvl1pPr marL="0" algn="r" defTabSz="457200" rtl="0" eaLnBrk="1" latinLnBrk="0" hangingPunct="1">
              <a:defRPr kumimoji="1" sz="1400" b="1" i="0" kern="1200">
                <a:solidFill>
                  <a:srgbClr val="133176"/>
                </a:solidFill>
                <a:latin typeface="+mj-ea"/>
                <a:ea typeface="+mj-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3E8B6F27-EC4F-B34E-9F32-10CC92E9AB18}" type="slidenum">
              <a:rPr lang="zh-CN" altLang="en-US" smtClean="0"/>
              <a:pPr>
                <a:defRPr/>
              </a:pPr>
              <a:t>4</a:t>
            </a:fld>
            <a:endParaRPr lang="zh-CN" altLang="en-US" dirty="0"/>
          </a:p>
        </p:txBody>
      </p:sp>
      <p:graphicFrame>
        <p:nvGraphicFramePr>
          <p:cNvPr id="3" name="表格 2"/>
          <p:cNvGraphicFramePr>
            <a:graphicFrameLocks noGrp="1"/>
          </p:cNvGraphicFramePr>
          <p:nvPr>
            <p:extLst>
              <p:ext uri="{D42A27DB-BD31-4B8C-83A1-F6EECF244321}">
                <p14:modId xmlns:p14="http://schemas.microsoft.com/office/powerpoint/2010/main" val="463177592"/>
              </p:ext>
            </p:extLst>
          </p:nvPr>
        </p:nvGraphicFramePr>
        <p:xfrm>
          <a:off x="190006" y="1470802"/>
          <a:ext cx="8858991" cy="4530746"/>
        </p:xfrm>
        <a:graphic>
          <a:graphicData uri="http://schemas.openxmlformats.org/drawingml/2006/table">
            <a:tbl>
              <a:tblPr>
                <a:tableStyleId>{5C22544A-7EE6-4342-B048-85BDC9FD1C3A}</a:tableStyleId>
              </a:tblPr>
              <a:tblGrid>
                <a:gridCol w="807521">
                  <a:extLst>
                    <a:ext uri="{9D8B030D-6E8A-4147-A177-3AD203B41FA5}">
                      <a16:colId xmlns:a16="http://schemas.microsoft.com/office/drawing/2014/main" val="20000"/>
                    </a:ext>
                  </a:extLst>
                </a:gridCol>
                <a:gridCol w="700644">
                  <a:extLst>
                    <a:ext uri="{9D8B030D-6E8A-4147-A177-3AD203B41FA5}">
                      <a16:colId xmlns:a16="http://schemas.microsoft.com/office/drawing/2014/main" val="20001"/>
                    </a:ext>
                  </a:extLst>
                </a:gridCol>
                <a:gridCol w="7350826">
                  <a:extLst>
                    <a:ext uri="{9D8B030D-6E8A-4147-A177-3AD203B41FA5}">
                      <a16:colId xmlns:a16="http://schemas.microsoft.com/office/drawing/2014/main" val="20002"/>
                    </a:ext>
                  </a:extLst>
                </a:gridCol>
              </a:tblGrid>
              <a:tr h="324000">
                <a:tc>
                  <a:txBody>
                    <a:bodyPr/>
                    <a:lstStyle/>
                    <a:p>
                      <a:pPr algn="ctr" fontAlgn="b"/>
                      <a:r>
                        <a:rPr lang="zh-CN" altLang="en-US" sz="1400" b="1" u="none" strike="noStrike" dirty="0">
                          <a:solidFill>
                            <a:schemeClr val="bg1"/>
                          </a:solidFill>
                          <a:effectLst/>
                          <a:latin typeface="+mj-ea"/>
                          <a:ea typeface="+mj-ea"/>
                        </a:rPr>
                        <a:t>时间</a:t>
                      </a:r>
                      <a:endParaRPr lang="zh-CN" altLang="en-US" sz="1400" b="1" i="0" u="none" strike="noStrike" dirty="0">
                        <a:solidFill>
                          <a:schemeClr val="bg1"/>
                        </a:solidFill>
                        <a:effectLst/>
                        <a:latin typeface="+mj-ea"/>
                        <a:ea typeface="+mj-ea"/>
                      </a:endParaRPr>
                    </a:p>
                  </a:txBody>
                  <a:tcPr marL="7841" marR="7841" marT="7841" marB="0" anchor="ctr">
                    <a:solidFill>
                      <a:srgbClr val="0070C0"/>
                    </a:solidFill>
                  </a:tcPr>
                </a:tc>
                <a:tc>
                  <a:txBody>
                    <a:bodyPr/>
                    <a:lstStyle/>
                    <a:p>
                      <a:pPr algn="ctr" fontAlgn="b"/>
                      <a:r>
                        <a:rPr lang="zh-CN" altLang="en-US" sz="1400" b="1" u="none" strike="noStrike" dirty="0">
                          <a:solidFill>
                            <a:schemeClr val="bg1"/>
                          </a:solidFill>
                          <a:effectLst/>
                          <a:latin typeface="+mj-ea"/>
                          <a:ea typeface="+mj-ea"/>
                        </a:rPr>
                        <a:t>城市</a:t>
                      </a:r>
                      <a:endParaRPr lang="zh-CN" altLang="en-US" sz="1400" b="1" i="0" u="none" strike="noStrike" dirty="0">
                        <a:solidFill>
                          <a:schemeClr val="bg1"/>
                        </a:solidFill>
                        <a:effectLst/>
                        <a:latin typeface="+mj-ea"/>
                        <a:ea typeface="+mj-ea"/>
                      </a:endParaRPr>
                    </a:p>
                  </a:txBody>
                  <a:tcPr marL="7841" marR="7841" marT="7841" marB="0" anchor="ctr">
                    <a:solidFill>
                      <a:srgbClr val="0070C0"/>
                    </a:solidFill>
                  </a:tcPr>
                </a:tc>
                <a:tc>
                  <a:txBody>
                    <a:bodyPr/>
                    <a:lstStyle/>
                    <a:p>
                      <a:pPr algn="ctr" fontAlgn="b"/>
                      <a:r>
                        <a:rPr lang="zh-CN" altLang="en-US" sz="1400" b="1" u="none" strike="noStrike" dirty="0">
                          <a:solidFill>
                            <a:schemeClr val="bg1"/>
                          </a:solidFill>
                          <a:effectLst/>
                          <a:latin typeface="+mj-ea"/>
                          <a:ea typeface="+mj-ea"/>
                        </a:rPr>
                        <a:t>内容</a:t>
                      </a:r>
                      <a:endParaRPr lang="zh-CN" altLang="en-US" sz="1400" b="1" i="0" u="none" strike="noStrike" dirty="0">
                        <a:solidFill>
                          <a:schemeClr val="bg1"/>
                        </a:solidFill>
                        <a:effectLst/>
                        <a:latin typeface="+mj-ea"/>
                        <a:ea typeface="+mj-ea"/>
                      </a:endParaRPr>
                    </a:p>
                  </a:txBody>
                  <a:tcPr marL="7841" marR="7841" marT="7841" marB="0" anchor="ctr">
                    <a:solidFill>
                      <a:srgbClr val="0070C0"/>
                    </a:solidFill>
                  </a:tcPr>
                </a:tc>
                <a:extLst>
                  <a:ext uri="{0D108BD9-81ED-4DB2-BD59-A6C34878D82A}">
                    <a16:rowId xmlns:a16="http://schemas.microsoft.com/office/drawing/2014/main" val="10000"/>
                  </a:ext>
                </a:extLst>
              </a:tr>
              <a:tr h="287607">
                <a:tc>
                  <a:txBody>
                    <a:bodyPr/>
                    <a:lstStyle/>
                    <a:p>
                      <a:pPr algn="ctr" fontAlgn="b"/>
                      <a:r>
                        <a:rPr lang="en-US" altLang="zh-CN" sz="1200" u="none" strike="noStrike" dirty="0">
                          <a:effectLst/>
                          <a:latin typeface="+mj-ea"/>
                          <a:ea typeface="+mj-ea"/>
                        </a:rPr>
                        <a:t>3</a:t>
                      </a:r>
                      <a:r>
                        <a:rPr lang="zh-CN" altLang="en-US" sz="1200" u="none" strike="noStrike" dirty="0">
                          <a:effectLst/>
                          <a:latin typeface="+mj-ea"/>
                          <a:ea typeface="+mj-ea"/>
                        </a:rPr>
                        <a:t>月</a:t>
                      </a:r>
                      <a:r>
                        <a:rPr lang="en-US" altLang="zh-CN" sz="1200" u="none" strike="noStrike" dirty="0">
                          <a:effectLst/>
                          <a:latin typeface="+mj-ea"/>
                          <a:ea typeface="+mj-ea"/>
                        </a:rPr>
                        <a:t>25</a:t>
                      </a:r>
                      <a:r>
                        <a:rPr lang="zh-CN" altLang="en-US" sz="1200" u="none" strike="noStrike" dirty="0">
                          <a:effectLst/>
                          <a:latin typeface="+mj-ea"/>
                          <a:ea typeface="+mj-ea"/>
                        </a:rPr>
                        <a:t>日</a:t>
                      </a:r>
                      <a:endParaRPr lang="zh-CN" altLang="en-US" sz="1200" b="0" i="0" u="none" strike="noStrike" dirty="0">
                        <a:solidFill>
                          <a:srgbClr val="000000"/>
                        </a:solidFill>
                        <a:effectLst/>
                        <a:latin typeface="+mj-ea"/>
                        <a:ea typeface="+mj-ea"/>
                      </a:endParaRPr>
                    </a:p>
                  </a:txBody>
                  <a:tcPr marL="7841" marR="7841" marT="7841" marB="0" anchor="ctr"/>
                </a:tc>
                <a:tc>
                  <a:txBody>
                    <a:bodyPr/>
                    <a:lstStyle/>
                    <a:p>
                      <a:pPr algn="ctr" fontAlgn="b"/>
                      <a:r>
                        <a:rPr lang="zh-CN" altLang="en-US" sz="1200" u="none" strike="noStrike" dirty="0">
                          <a:effectLst/>
                          <a:latin typeface="+mj-ea"/>
                          <a:ea typeface="+mj-ea"/>
                        </a:rPr>
                        <a:t>上海</a:t>
                      </a:r>
                      <a:endParaRPr lang="zh-CN" altLang="en-US" sz="1200" b="0" i="0" u="none" strike="noStrike" dirty="0">
                        <a:solidFill>
                          <a:srgbClr val="000000"/>
                        </a:solidFill>
                        <a:effectLst/>
                        <a:latin typeface="+mj-ea"/>
                        <a:ea typeface="+mj-ea"/>
                      </a:endParaRPr>
                    </a:p>
                  </a:txBody>
                  <a:tcPr marL="7841" marR="7841" marT="7841" marB="0" anchor="ctr"/>
                </a:tc>
                <a:tc>
                  <a:txBody>
                    <a:bodyPr/>
                    <a:lstStyle/>
                    <a:p>
                      <a:pPr algn="ctr" fontAlgn="b"/>
                      <a:r>
                        <a:rPr lang="zh-CN" altLang="en-US" sz="1200" u="none" strike="noStrike" dirty="0">
                          <a:effectLst/>
                          <a:latin typeface="+mj-ea"/>
                          <a:ea typeface="+mj-ea"/>
                        </a:rPr>
                        <a:t>社保年限两年改五年，提高首付比例</a:t>
                      </a:r>
                      <a:endParaRPr lang="zh-CN" altLang="en-US" sz="1200" b="0" i="0" u="none" strike="noStrike" dirty="0">
                        <a:solidFill>
                          <a:srgbClr val="000000"/>
                        </a:solidFill>
                        <a:effectLst/>
                        <a:latin typeface="+mj-ea"/>
                        <a:ea typeface="+mj-ea"/>
                      </a:endParaRPr>
                    </a:p>
                  </a:txBody>
                  <a:tcPr marL="7841" marR="7841" marT="7841" marB="0" anchor="ctr"/>
                </a:tc>
                <a:extLst>
                  <a:ext uri="{0D108BD9-81ED-4DB2-BD59-A6C34878D82A}">
                    <a16:rowId xmlns:a16="http://schemas.microsoft.com/office/drawing/2014/main" val="10001"/>
                  </a:ext>
                </a:extLst>
              </a:tr>
              <a:tr h="287607">
                <a:tc>
                  <a:txBody>
                    <a:bodyPr/>
                    <a:lstStyle/>
                    <a:p>
                      <a:pPr algn="ctr" fontAlgn="b"/>
                      <a:r>
                        <a:rPr lang="en-US" altLang="zh-CN" sz="1200" u="none" strike="noStrike" dirty="0">
                          <a:effectLst/>
                          <a:latin typeface="+mj-ea"/>
                          <a:ea typeface="+mj-ea"/>
                        </a:rPr>
                        <a:t>3</a:t>
                      </a:r>
                      <a:r>
                        <a:rPr lang="zh-CN" altLang="en-US" sz="1200" u="none" strike="noStrike" dirty="0">
                          <a:effectLst/>
                          <a:latin typeface="+mj-ea"/>
                          <a:ea typeface="+mj-ea"/>
                        </a:rPr>
                        <a:t>月</a:t>
                      </a:r>
                      <a:r>
                        <a:rPr lang="en-US" altLang="zh-CN" sz="1200" u="none" strike="noStrike" dirty="0">
                          <a:effectLst/>
                          <a:latin typeface="+mj-ea"/>
                          <a:ea typeface="+mj-ea"/>
                        </a:rPr>
                        <a:t>25</a:t>
                      </a:r>
                      <a:r>
                        <a:rPr lang="zh-CN" altLang="en-US" sz="1200" u="none" strike="noStrike" dirty="0">
                          <a:effectLst/>
                          <a:latin typeface="+mj-ea"/>
                          <a:ea typeface="+mj-ea"/>
                        </a:rPr>
                        <a:t>日</a:t>
                      </a:r>
                      <a:endParaRPr lang="zh-CN" altLang="en-US" sz="1200" b="0" i="0" u="none" strike="noStrike" dirty="0">
                        <a:solidFill>
                          <a:srgbClr val="000000"/>
                        </a:solidFill>
                        <a:effectLst/>
                        <a:latin typeface="+mj-ea"/>
                        <a:ea typeface="+mj-ea"/>
                      </a:endParaRPr>
                    </a:p>
                  </a:txBody>
                  <a:tcPr marL="7841" marR="7841" marT="7841" marB="0" anchor="ctr"/>
                </a:tc>
                <a:tc>
                  <a:txBody>
                    <a:bodyPr/>
                    <a:lstStyle/>
                    <a:p>
                      <a:pPr algn="ctr" fontAlgn="b"/>
                      <a:r>
                        <a:rPr lang="zh-CN" altLang="en-US" sz="1200" u="none" strike="noStrike" dirty="0">
                          <a:effectLst/>
                          <a:latin typeface="+mj-ea"/>
                          <a:ea typeface="+mj-ea"/>
                        </a:rPr>
                        <a:t>深圳</a:t>
                      </a:r>
                      <a:endParaRPr lang="zh-CN" altLang="en-US" sz="1200" b="0" i="0" u="none" strike="noStrike" dirty="0">
                        <a:solidFill>
                          <a:srgbClr val="000000"/>
                        </a:solidFill>
                        <a:effectLst/>
                        <a:latin typeface="+mj-ea"/>
                        <a:ea typeface="+mj-ea"/>
                      </a:endParaRPr>
                    </a:p>
                  </a:txBody>
                  <a:tcPr marL="7841" marR="7841" marT="7841" marB="0" anchor="ctr"/>
                </a:tc>
                <a:tc>
                  <a:txBody>
                    <a:bodyPr/>
                    <a:lstStyle/>
                    <a:p>
                      <a:pPr algn="ctr" fontAlgn="b"/>
                      <a:r>
                        <a:rPr lang="zh-CN" altLang="en-US" sz="1200" u="none" strike="noStrike" dirty="0">
                          <a:effectLst/>
                          <a:latin typeface="+mj-ea"/>
                          <a:ea typeface="+mj-ea"/>
                        </a:rPr>
                        <a:t>差别化信贷，社保年限“</a:t>
                      </a:r>
                      <a:r>
                        <a:rPr lang="en-US" altLang="zh-CN" sz="1200" u="none" strike="noStrike" dirty="0">
                          <a:effectLst/>
                          <a:latin typeface="+mj-ea"/>
                          <a:ea typeface="+mj-ea"/>
                        </a:rPr>
                        <a:t>1</a:t>
                      </a:r>
                      <a:r>
                        <a:rPr lang="zh-CN" altLang="en-US" sz="1200" u="none" strike="noStrike" dirty="0">
                          <a:effectLst/>
                          <a:latin typeface="+mj-ea"/>
                          <a:ea typeface="+mj-ea"/>
                        </a:rPr>
                        <a:t>改</a:t>
                      </a:r>
                      <a:r>
                        <a:rPr lang="en-US" altLang="zh-CN" sz="1200" u="none" strike="noStrike" dirty="0">
                          <a:effectLst/>
                          <a:latin typeface="+mj-ea"/>
                          <a:ea typeface="+mj-ea"/>
                        </a:rPr>
                        <a:t>3”</a:t>
                      </a:r>
                      <a:endParaRPr lang="en-US" altLang="zh-CN" sz="1200" b="0" i="0" u="none" strike="noStrike" dirty="0">
                        <a:solidFill>
                          <a:srgbClr val="000000"/>
                        </a:solidFill>
                        <a:effectLst/>
                        <a:latin typeface="+mj-ea"/>
                        <a:ea typeface="+mj-ea"/>
                      </a:endParaRPr>
                    </a:p>
                  </a:txBody>
                  <a:tcPr marL="7841" marR="7841" marT="7841" marB="0" anchor="ctr"/>
                </a:tc>
                <a:extLst>
                  <a:ext uri="{0D108BD9-81ED-4DB2-BD59-A6C34878D82A}">
                    <a16:rowId xmlns:a16="http://schemas.microsoft.com/office/drawing/2014/main" val="10002"/>
                  </a:ext>
                </a:extLst>
              </a:tr>
              <a:tr h="219195">
                <a:tc>
                  <a:txBody>
                    <a:bodyPr/>
                    <a:lstStyle/>
                    <a:p>
                      <a:pPr algn="ctr" fontAlgn="b"/>
                      <a:r>
                        <a:rPr lang="en-US" altLang="zh-CN" sz="1200" u="none" strike="noStrike">
                          <a:effectLst/>
                          <a:latin typeface="+mj-ea"/>
                          <a:ea typeface="+mj-ea"/>
                        </a:rPr>
                        <a:t>4</a:t>
                      </a:r>
                      <a:r>
                        <a:rPr lang="zh-CN" altLang="en-US" sz="1200" u="none" strike="noStrike">
                          <a:effectLst/>
                          <a:latin typeface="+mj-ea"/>
                          <a:ea typeface="+mj-ea"/>
                        </a:rPr>
                        <a:t>月</a:t>
                      </a:r>
                      <a:r>
                        <a:rPr lang="en-US" altLang="zh-CN" sz="1200" u="none" strike="noStrike">
                          <a:effectLst/>
                          <a:latin typeface="+mj-ea"/>
                          <a:ea typeface="+mj-ea"/>
                        </a:rPr>
                        <a:t>1</a:t>
                      </a:r>
                      <a:r>
                        <a:rPr lang="zh-CN" altLang="en-US" sz="1200" u="none" strike="noStrike">
                          <a:effectLst/>
                          <a:latin typeface="+mj-ea"/>
                          <a:ea typeface="+mj-ea"/>
                        </a:rPr>
                        <a:t>日</a:t>
                      </a:r>
                      <a:endParaRPr lang="zh-CN" altLang="en-US" sz="1200" b="0" i="0" u="none" strike="noStrike">
                        <a:solidFill>
                          <a:srgbClr val="000000"/>
                        </a:solidFill>
                        <a:effectLst/>
                        <a:latin typeface="+mj-ea"/>
                        <a:ea typeface="+mj-ea"/>
                      </a:endParaRPr>
                    </a:p>
                  </a:txBody>
                  <a:tcPr marL="7841" marR="7841" marT="7841" marB="0" anchor="ctr"/>
                </a:tc>
                <a:tc>
                  <a:txBody>
                    <a:bodyPr/>
                    <a:lstStyle/>
                    <a:p>
                      <a:pPr algn="ctr" fontAlgn="b"/>
                      <a:r>
                        <a:rPr lang="zh-CN" altLang="en-US" sz="1200" u="none" strike="noStrike" dirty="0">
                          <a:effectLst/>
                          <a:latin typeface="+mj-ea"/>
                          <a:ea typeface="+mj-ea"/>
                        </a:rPr>
                        <a:t>廊坊</a:t>
                      </a:r>
                      <a:endParaRPr lang="zh-CN" altLang="en-US" sz="1200" b="0" i="0" u="none" strike="noStrike" dirty="0">
                        <a:solidFill>
                          <a:srgbClr val="000000"/>
                        </a:solidFill>
                        <a:effectLst/>
                        <a:latin typeface="+mj-ea"/>
                        <a:ea typeface="+mj-ea"/>
                      </a:endParaRPr>
                    </a:p>
                  </a:txBody>
                  <a:tcPr marL="7841" marR="7841" marT="7841" marB="0" anchor="ctr"/>
                </a:tc>
                <a:tc>
                  <a:txBody>
                    <a:bodyPr/>
                    <a:lstStyle/>
                    <a:p>
                      <a:pPr algn="ctr" fontAlgn="b"/>
                      <a:r>
                        <a:rPr lang="zh-CN" altLang="en-US" sz="1200" u="none" strike="noStrike" dirty="0">
                          <a:effectLst/>
                          <a:latin typeface="+mj-ea"/>
                          <a:ea typeface="+mj-ea"/>
                        </a:rPr>
                        <a:t>廊九条，非本地户籍居民家庭限购一套住房，且购房首付款不得低于</a:t>
                      </a:r>
                      <a:r>
                        <a:rPr lang="en-US" altLang="zh-CN" sz="1200" u="none" strike="noStrike" dirty="0">
                          <a:effectLst/>
                          <a:latin typeface="+mj-ea"/>
                          <a:ea typeface="+mj-ea"/>
                        </a:rPr>
                        <a:t>30%</a:t>
                      </a:r>
                      <a:endParaRPr lang="en-US" altLang="zh-CN" sz="1200" b="0" i="0" u="none" strike="noStrike" dirty="0">
                        <a:solidFill>
                          <a:srgbClr val="000000"/>
                        </a:solidFill>
                        <a:effectLst/>
                        <a:latin typeface="+mj-ea"/>
                        <a:ea typeface="+mj-ea"/>
                      </a:endParaRPr>
                    </a:p>
                  </a:txBody>
                  <a:tcPr marL="7841" marR="7841" marT="7841" marB="0" anchor="ctr"/>
                </a:tc>
                <a:extLst>
                  <a:ext uri="{0D108BD9-81ED-4DB2-BD59-A6C34878D82A}">
                    <a16:rowId xmlns:a16="http://schemas.microsoft.com/office/drawing/2014/main" val="10003"/>
                  </a:ext>
                </a:extLst>
              </a:tr>
              <a:tr h="241355">
                <a:tc>
                  <a:txBody>
                    <a:bodyPr/>
                    <a:lstStyle/>
                    <a:p>
                      <a:pPr algn="ctr" fontAlgn="b"/>
                      <a:r>
                        <a:rPr lang="en-US" altLang="zh-CN" sz="1200" u="none" strike="noStrike">
                          <a:effectLst/>
                          <a:latin typeface="+mj-ea"/>
                          <a:ea typeface="+mj-ea"/>
                        </a:rPr>
                        <a:t>5</a:t>
                      </a:r>
                      <a:r>
                        <a:rPr lang="zh-CN" altLang="en-US" sz="1200" u="none" strike="noStrike">
                          <a:effectLst/>
                          <a:latin typeface="+mj-ea"/>
                          <a:ea typeface="+mj-ea"/>
                        </a:rPr>
                        <a:t>月</a:t>
                      </a:r>
                      <a:r>
                        <a:rPr lang="en-US" altLang="zh-CN" sz="1200" u="none" strike="noStrike">
                          <a:effectLst/>
                          <a:latin typeface="+mj-ea"/>
                          <a:ea typeface="+mj-ea"/>
                        </a:rPr>
                        <a:t>5</a:t>
                      </a:r>
                      <a:r>
                        <a:rPr lang="zh-CN" altLang="en-US" sz="1200" u="none" strike="noStrike">
                          <a:effectLst/>
                          <a:latin typeface="+mj-ea"/>
                          <a:ea typeface="+mj-ea"/>
                        </a:rPr>
                        <a:t>日</a:t>
                      </a:r>
                      <a:endParaRPr lang="zh-CN" altLang="en-US" sz="1200" b="0" i="0" u="none" strike="noStrike">
                        <a:solidFill>
                          <a:srgbClr val="000000"/>
                        </a:solidFill>
                        <a:effectLst/>
                        <a:latin typeface="+mj-ea"/>
                        <a:ea typeface="+mj-ea"/>
                      </a:endParaRPr>
                    </a:p>
                  </a:txBody>
                  <a:tcPr marL="7841" marR="7841" marT="7841" marB="0" anchor="ctr"/>
                </a:tc>
                <a:tc>
                  <a:txBody>
                    <a:bodyPr/>
                    <a:lstStyle/>
                    <a:p>
                      <a:pPr algn="ctr" fontAlgn="b"/>
                      <a:r>
                        <a:rPr lang="zh-CN" altLang="en-US" sz="1200" u="none" strike="noStrike" dirty="0">
                          <a:effectLst/>
                          <a:latin typeface="+mj-ea"/>
                          <a:ea typeface="+mj-ea"/>
                        </a:rPr>
                        <a:t>北京</a:t>
                      </a:r>
                      <a:r>
                        <a:rPr lang="zh-CN" altLang="en-US" sz="1200" u="none" strike="noStrike" kern="1200" dirty="0">
                          <a:solidFill>
                            <a:schemeClr val="dk1"/>
                          </a:solidFill>
                          <a:effectLst/>
                          <a:latin typeface="+mj-ea"/>
                          <a:ea typeface="+mj-ea"/>
                          <a:cs typeface="+mn-cs"/>
                        </a:rPr>
                        <a:t>通州</a:t>
                      </a:r>
                    </a:p>
                  </a:txBody>
                  <a:tcPr marL="7841" marR="7841" marT="7841" marB="0" anchor="ctr"/>
                </a:tc>
                <a:tc>
                  <a:txBody>
                    <a:bodyPr/>
                    <a:lstStyle/>
                    <a:p>
                      <a:pPr algn="ctr" fontAlgn="b"/>
                      <a:r>
                        <a:rPr lang="zh-CN" altLang="en-US" sz="1200" u="none" strike="noStrike" dirty="0">
                          <a:effectLst/>
                          <a:latin typeface="+mj-ea"/>
                          <a:ea typeface="+mj-ea"/>
                        </a:rPr>
                        <a:t>公寓限购</a:t>
                      </a:r>
                      <a:endParaRPr lang="zh-CN" altLang="en-US" sz="1200" b="0" i="0" u="none" strike="noStrike" dirty="0">
                        <a:solidFill>
                          <a:srgbClr val="000000"/>
                        </a:solidFill>
                        <a:effectLst/>
                        <a:latin typeface="+mj-ea"/>
                        <a:ea typeface="+mj-ea"/>
                      </a:endParaRPr>
                    </a:p>
                  </a:txBody>
                  <a:tcPr marL="7841" marR="7841" marT="7841" marB="0" anchor="ctr"/>
                </a:tc>
                <a:extLst>
                  <a:ext uri="{0D108BD9-81ED-4DB2-BD59-A6C34878D82A}">
                    <a16:rowId xmlns:a16="http://schemas.microsoft.com/office/drawing/2014/main" val="10004"/>
                  </a:ext>
                </a:extLst>
              </a:tr>
              <a:tr h="250848">
                <a:tc>
                  <a:txBody>
                    <a:bodyPr/>
                    <a:lstStyle/>
                    <a:p>
                      <a:pPr algn="ctr" fontAlgn="b"/>
                      <a:r>
                        <a:rPr lang="en-US" altLang="zh-CN" sz="1200" u="none" strike="noStrike">
                          <a:effectLst/>
                          <a:latin typeface="+mj-ea"/>
                          <a:ea typeface="+mj-ea"/>
                        </a:rPr>
                        <a:t>7</a:t>
                      </a:r>
                      <a:r>
                        <a:rPr lang="zh-CN" altLang="en-US" sz="1200" u="none" strike="noStrike">
                          <a:effectLst/>
                          <a:latin typeface="+mj-ea"/>
                          <a:ea typeface="+mj-ea"/>
                        </a:rPr>
                        <a:t>月</a:t>
                      </a:r>
                      <a:r>
                        <a:rPr lang="en-US" altLang="zh-CN" sz="1200" u="none" strike="noStrike">
                          <a:effectLst/>
                          <a:latin typeface="+mj-ea"/>
                          <a:ea typeface="+mj-ea"/>
                        </a:rPr>
                        <a:t>1</a:t>
                      </a:r>
                      <a:r>
                        <a:rPr lang="zh-CN" altLang="en-US" sz="1200" u="none" strike="noStrike">
                          <a:effectLst/>
                          <a:latin typeface="+mj-ea"/>
                          <a:ea typeface="+mj-ea"/>
                        </a:rPr>
                        <a:t>日</a:t>
                      </a:r>
                      <a:endParaRPr lang="zh-CN" altLang="en-US" sz="1200" b="0" i="0" u="none" strike="noStrike">
                        <a:solidFill>
                          <a:srgbClr val="000000"/>
                        </a:solidFill>
                        <a:effectLst/>
                        <a:latin typeface="+mj-ea"/>
                        <a:ea typeface="+mj-ea"/>
                      </a:endParaRPr>
                    </a:p>
                  </a:txBody>
                  <a:tcPr marL="7841" marR="7841" marT="7841" marB="0" anchor="ctr"/>
                </a:tc>
                <a:tc>
                  <a:txBody>
                    <a:bodyPr/>
                    <a:lstStyle/>
                    <a:p>
                      <a:pPr algn="ctr" fontAlgn="b"/>
                      <a:r>
                        <a:rPr lang="zh-CN" altLang="en-US" sz="1200" u="none" strike="noStrike" dirty="0">
                          <a:effectLst/>
                          <a:latin typeface="+mj-ea"/>
                          <a:ea typeface="+mj-ea"/>
                        </a:rPr>
                        <a:t>合肥</a:t>
                      </a:r>
                      <a:endParaRPr lang="zh-CN" altLang="en-US" sz="1200" b="0" i="0" u="none" strike="noStrike" dirty="0">
                        <a:solidFill>
                          <a:srgbClr val="000000"/>
                        </a:solidFill>
                        <a:effectLst/>
                        <a:latin typeface="+mj-ea"/>
                        <a:ea typeface="+mj-ea"/>
                      </a:endParaRPr>
                    </a:p>
                  </a:txBody>
                  <a:tcPr marL="7841" marR="7841" marT="7841" marB="0" anchor="ctr"/>
                </a:tc>
                <a:tc>
                  <a:txBody>
                    <a:bodyPr/>
                    <a:lstStyle/>
                    <a:p>
                      <a:pPr algn="ctr" fontAlgn="b"/>
                      <a:r>
                        <a:rPr lang="zh-CN" altLang="en-US" sz="1200" u="none" strike="noStrike" dirty="0">
                          <a:effectLst/>
                          <a:latin typeface="+mj-ea"/>
                          <a:ea typeface="+mj-ea"/>
                        </a:rPr>
                        <a:t>差别化信贷</a:t>
                      </a:r>
                      <a:endParaRPr lang="zh-CN" altLang="en-US" sz="1200" b="0" i="0" u="none" strike="noStrike" dirty="0">
                        <a:solidFill>
                          <a:srgbClr val="000000"/>
                        </a:solidFill>
                        <a:effectLst/>
                        <a:latin typeface="+mj-ea"/>
                        <a:ea typeface="+mj-ea"/>
                      </a:endParaRPr>
                    </a:p>
                  </a:txBody>
                  <a:tcPr marL="7841" marR="7841" marT="7841" marB="0" anchor="ctr"/>
                </a:tc>
                <a:extLst>
                  <a:ext uri="{0D108BD9-81ED-4DB2-BD59-A6C34878D82A}">
                    <a16:rowId xmlns:a16="http://schemas.microsoft.com/office/drawing/2014/main" val="10005"/>
                  </a:ext>
                </a:extLst>
              </a:tr>
              <a:tr h="289306">
                <a:tc>
                  <a:txBody>
                    <a:bodyPr/>
                    <a:lstStyle/>
                    <a:p>
                      <a:pPr algn="ctr" fontAlgn="b"/>
                      <a:r>
                        <a:rPr lang="en-US" altLang="zh-CN" sz="1200" u="none" strike="noStrike">
                          <a:effectLst/>
                          <a:latin typeface="+mj-ea"/>
                          <a:ea typeface="+mj-ea"/>
                        </a:rPr>
                        <a:t>8</a:t>
                      </a:r>
                      <a:r>
                        <a:rPr lang="zh-CN" altLang="en-US" sz="1200" u="none" strike="noStrike">
                          <a:effectLst/>
                          <a:latin typeface="+mj-ea"/>
                          <a:ea typeface="+mj-ea"/>
                        </a:rPr>
                        <a:t>月</a:t>
                      </a:r>
                      <a:r>
                        <a:rPr lang="en-US" altLang="zh-CN" sz="1200" u="none" strike="noStrike">
                          <a:effectLst/>
                          <a:latin typeface="+mj-ea"/>
                          <a:ea typeface="+mj-ea"/>
                        </a:rPr>
                        <a:t>12</a:t>
                      </a:r>
                      <a:r>
                        <a:rPr lang="zh-CN" altLang="en-US" sz="1200" u="none" strike="noStrike">
                          <a:effectLst/>
                          <a:latin typeface="+mj-ea"/>
                          <a:ea typeface="+mj-ea"/>
                        </a:rPr>
                        <a:t>日</a:t>
                      </a:r>
                      <a:endParaRPr lang="zh-CN" altLang="en-US" sz="1200" b="0" i="0" u="none" strike="noStrike">
                        <a:solidFill>
                          <a:srgbClr val="000000"/>
                        </a:solidFill>
                        <a:effectLst/>
                        <a:latin typeface="+mj-ea"/>
                        <a:ea typeface="+mj-ea"/>
                      </a:endParaRPr>
                    </a:p>
                  </a:txBody>
                  <a:tcPr marL="7841" marR="7841" marT="7841" marB="0" anchor="ctr"/>
                </a:tc>
                <a:tc>
                  <a:txBody>
                    <a:bodyPr/>
                    <a:lstStyle/>
                    <a:p>
                      <a:pPr algn="ctr" fontAlgn="b"/>
                      <a:r>
                        <a:rPr lang="zh-CN" altLang="en-US" sz="1200" u="none" strike="noStrike" dirty="0">
                          <a:effectLst/>
                          <a:latin typeface="+mj-ea"/>
                          <a:ea typeface="+mj-ea"/>
                        </a:rPr>
                        <a:t>苏州</a:t>
                      </a:r>
                      <a:endParaRPr lang="zh-CN" altLang="en-US" sz="1200" b="0" i="0" u="none" strike="noStrike" dirty="0">
                        <a:solidFill>
                          <a:srgbClr val="000000"/>
                        </a:solidFill>
                        <a:effectLst/>
                        <a:latin typeface="+mj-ea"/>
                        <a:ea typeface="+mj-ea"/>
                      </a:endParaRPr>
                    </a:p>
                  </a:txBody>
                  <a:tcPr marL="7841" marR="7841" marT="7841" marB="0" anchor="ctr"/>
                </a:tc>
                <a:tc>
                  <a:txBody>
                    <a:bodyPr/>
                    <a:lstStyle/>
                    <a:p>
                      <a:pPr algn="ctr" fontAlgn="b"/>
                      <a:r>
                        <a:rPr lang="zh-CN" altLang="en-US" sz="1200" u="none" strike="noStrike" dirty="0">
                          <a:effectLst/>
                          <a:latin typeface="+mj-ea"/>
                          <a:ea typeface="+mj-ea"/>
                        </a:rPr>
                        <a:t>重启限购限贷</a:t>
                      </a:r>
                      <a:endParaRPr lang="zh-CN" altLang="en-US" sz="1200" b="0" i="0" u="none" strike="noStrike" dirty="0">
                        <a:solidFill>
                          <a:srgbClr val="000000"/>
                        </a:solidFill>
                        <a:effectLst/>
                        <a:latin typeface="+mj-ea"/>
                        <a:ea typeface="+mj-ea"/>
                      </a:endParaRPr>
                    </a:p>
                  </a:txBody>
                  <a:tcPr marL="7841" marR="7841" marT="7841" marB="0" anchor="ctr"/>
                </a:tc>
                <a:extLst>
                  <a:ext uri="{0D108BD9-81ED-4DB2-BD59-A6C34878D82A}">
                    <a16:rowId xmlns:a16="http://schemas.microsoft.com/office/drawing/2014/main" val="10006"/>
                  </a:ext>
                </a:extLst>
              </a:tr>
              <a:tr h="240870">
                <a:tc>
                  <a:txBody>
                    <a:bodyPr/>
                    <a:lstStyle/>
                    <a:p>
                      <a:pPr algn="ctr" fontAlgn="b"/>
                      <a:r>
                        <a:rPr lang="en-US" altLang="zh-CN" sz="1200" b="1" u="none" strike="noStrike">
                          <a:solidFill>
                            <a:srgbClr val="FF0000"/>
                          </a:solidFill>
                          <a:effectLst/>
                          <a:latin typeface="+mj-ea"/>
                          <a:ea typeface="+mj-ea"/>
                        </a:rPr>
                        <a:t>8</a:t>
                      </a:r>
                      <a:r>
                        <a:rPr lang="zh-CN" altLang="en-US" sz="1200" b="1" u="none" strike="noStrike">
                          <a:solidFill>
                            <a:srgbClr val="FF0000"/>
                          </a:solidFill>
                          <a:effectLst/>
                          <a:latin typeface="+mj-ea"/>
                          <a:ea typeface="+mj-ea"/>
                        </a:rPr>
                        <a:t>月</a:t>
                      </a:r>
                      <a:r>
                        <a:rPr lang="en-US" altLang="zh-CN" sz="1200" b="1" u="none" strike="noStrike">
                          <a:solidFill>
                            <a:srgbClr val="FF0000"/>
                          </a:solidFill>
                          <a:effectLst/>
                          <a:latin typeface="+mj-ea"/>
                          <a:ea typeface="+mj-ea"/>
                        </a:rPr>
                        <a:t>12</a:t>
                      </a:r>
                      <a:r>
                        <a:rPr lang="zh-CN" altLang="en-US" sz="1200" b="1" u="none" strike="noStrike">
                          <a:solidFill>
                            <a:srgbClr val="FF0000"/>
                          </a:solidFill>
                          <a:effectLst/>
                          <a:latin typeface="+mj-ea"/>
                          <a:ea typeface="+mj-ea"/>
                        </a:rPr>
                        <a:t>日</a:t>
                      </a:r>
                      <a:endParaRPr lang="zh-CN" altLang="en-US" sz="1200" b="1" i="0" u="none" strike="noStrike">
                        <a:solidFill>
                          <a:srgbClr val="FF0000"/>
                        </a:solidFill>
                        <a:effectLst/>
                        <a:latin typeface="+mj-ea"/>
                        <a:ea typeface="+mj-ea"/>
                      </a:endParaRPr>
                    </a:p>
                  </a:txBody>
                  <a:tcPr marL="7841" marR="7841" marT="7841" marB="0" anchor="ctr"/>
                </a:tc>
                <a:tc>
                  <a:txBody>
                    <a:bodyPr/>
                    <a:lstStyle/>
                    <a:p>
                      <a:pPr algn="ctr" fontAlgn="b"/>
                      <a:r>
                        <a:rPr lang="zh-CN" altLang="en-US" sz="1200" b="1" u="none" strike="noStrike" dirty="0">
                          <a:solidFill>
                            <a:srgbClr val="FF0000"/>
                          </a:solidFill>
                          <a:effectLst/>
                          <a:latin typeface="+mj-ea"/>
                          <a:ea typeface="+mj-ea"/>
                        </a:rPr>
                        <a:t>南京</a:t>
                      </a:r>
                      <a:endParaRPr lang="zh-CN" altLang="en-US" sz="1200" b="1" i="0" u="none" strike="noStrike" dirty="0">
                        <a:solidFill>
                          <a:srgbClr val="FF0000"/>
                        </a:solidFill>
                        <a:effectLst/>
                        <a:latin typeface="+mj-ea"/>
                        <a:ea typeface="+mj-ea"/>
                      </a:endParaRPr>
                    </a:p>
                  </a:txBody>
                  <a:tcPr marL="7841" marR="7841" marT="7841" marB="0" anchor="ctr"/>
                </a:tc>
                <a:tc>
                  <a:txBody>
                    <a:bodyPr/>
                    <a:lstStyle/>
                    <a:p>
                      <a:pPr algn="ctr" fontAlgn="b"/>
                      <a:r>
                        <a:rPr lang="zh-CN" altLang="en-US" sz="1200" b="1" u="none" strike="noStrike" dirty="0">
                          <a:solidFill>
                            <a:srgbClr val="FF0000"/>
                          </a:solidFill>
                          <a:effectLst/>
                          <a:latin typeface="+mj-ea"/>
                          <a:ea typeface="+mj-ea"/>
                        </a:rPr>
                        <a:t>提高二套房首付比例</a:t>
                      </a:r>
                      <a:endParaRPr lang="zh-CN" altLang="en-US" sz="1200" b="1" i="0" u="none" strike="noStrike" dirty="0">
                        <a:solidFill>
                          <a:srgbClr val="FF0000"/>
                        </a:solidFill>
                        <a:effectLst/>
                        <a:latin typeface="+mj-ea"/>
                        <a:ea typeface="+mj-ea"/>
                      </a:endParaRPr>
                    </a:p>
                  </a:txBody>
                  <a:tcPr marL="7841" marR="7841" marT="7841" marB="0" anchor="ctr"/>
                </a:tc>
                <a:extLst>
                  <a:ext uri="{0D108BD9-81ED-4DB2-BD59-A6C34878D82A}">
                    <a16:rowId xmlns:a16="http://schemas.microsoft.com/office/drawing/2014/main" val="10007"/>
                  </a:ext>
                </a:extLst>
              </a:tr>
              <a:tr h="287607">
                <a:tc>
                  <a:txBody>
                    <a:bodyPr/>
                    <a:lstStyle/>
                    <a:p>
                      <a:pPr algn="ctr" fontAlgn="b"/>
                      <a:r>
                        <a:rPr lang="en-US" altLang="zh-CN" sz="1200" u="none" strike="noStrike">
                          <a:effectLst/>
                          <a:latin typeface="+mj-ea"/>
                          <a:ea typeface="+mj-ea"/>
                        </a:rPr>
                        <a:t>8</a:t>
                      </a:r>
                      <a:r>
                        <a:rPr lang="zh-CN" altLang="en-US" sz="1200" u="none" strike="noStrike">
                          <a:effectLst/>
                          <a:latin typeface="+mj-ea"/>
                          <a:ea typeface="+mj-ea"/>
                        </a:rPr>
                        <a:t>月</a:t>
                      </a:r>
                      <a:r>
                        <a:rPr lang="en-US" altLang="zh-CN" sz="1200" u="none" strike="noStrike">
                          <a:effectLst/>
                          <a:latin typeface="+mj-ea"/>
                          <a:ea typeface="+mj-ea"/>
                        </a:rPr>
                        <a:t>31</a:t>
                      </a:r>
                      <a:r>
                        <a:rPr lang="zh-CN" altLang="en-US" sz="1200" u="none" strike="noStrike">
                          <a:effectLst/>
                          <a:latin typeface="+mj-ea"/>
                          <a:ea typeface="+mj-ea"/>
                        </a:rPr>
                        <a:t>日</a:t>
                      </a:r>
                      <a:endParaRPr lang="zh-CN" altLang="en-US" sz="1200" b="0" i="0" u="none" strike="noStrike">
                        <a:solidFill>
                          <a:srgbClr val="000000"/>
                        </a:solidFill>
                        <a:effectLst/>
                        <a:latin typeface="+mj-ea"/>
                        <a:ea typeface="+mj-ea"/>
                      </a:endParaRPr>
                    </a:p>
                  </a:txBody>
                  <a:tcPr marL="7841" marR="7841" marT="7841" marB="0" anchor="ctr"/>
                </a:tc>
                <a:tc>
                  <a:txBody>
                    <a:bodyPr/>
                    <a:lstStyle/>
                    <a:p>
                      <a:pPr algn="ctr" fontAlgn="b"/>
                      <a:r>
                        <a:rPr lang="zh-CN" altLang="en-US" sz="1200" u="none" strike="noStrike" dirty="0">
                          <a:effectLst/>
                          <a:latin typeface="+mj-ea"/>
                          <a:ea typeface="+mj-ea"/>
                        </a:rPr>
                        <a:t>厦门</a:t>
                      </a:r>
                      <a:endParaRPr lang="zh-CN" altLang="en-US" sz="1200" b="0" i="0" u="none" strike="noStrike" dirty="0">
                        <a:solidFill>
                          <a:srgbClr val="000000"/>
                        </a:solidFill>
                        <a:effectLst/>
                        <a:latin typeface="+mj-ea"/>
                        <a:ea typeface="+mj-ea"/>
                      </a:endParaRPr>
                    </a:p>
                  </a:txBody>
                  <a:tcPr marL="7841" marR="7841" marT="7841" marB="0" anchor="ctr"/>
                </a:tc>
                <a:tc>
                  <a:txBody>
                    <a:bodyPr/>
                    <a:lstStyle/>
                    <a:p>
                      <a:pPr algn="ctr" fontAlgn="b"/>
                      <a:r>
                        <a:rPr lang="zh-CN" altLang="en-US" sz="1200" u="none" strike="noStrike" dirty="0">
                          <a:effectLst/>
                          <a:latin typeface="+mj-ea"/>
                          <a:ea typeface="+mj-ea"/>
                        </a:rPr>
                        <a:t>对</a:t>
                      </a:r>
                      <a:r>
                        <a:rPr lang="en-US" altLang="zh-CN" sz="1200" u="none" strike="noStrike" dirty="0">
                          <a:effectLst/>
                          <a:latin typeface="+mj-ea"/>
                          <a:ea typeface="+mj-ea"/>
                        </a:rPr>
                        <a:t>144㎡</a:t>
                      </a:r>
                      <a:r>
                        <a:rPr lang="zh-CN" altLang="en-US" sz="1200" u="none" strike="noStrike" dirty="0">
                          <a:effectLst/>
                          <a:latin typeface="+mj-ea"/>
                          <a:ea typeface="+mj-ea"/>
                        </a:rPr>
                        <a:t>及以下的普通商品住房限购</a:t>
                      </a:r>
                      <a:endParaRPr lang="zh-CN" altLang="en-US" sz="1200" b="0" i="0" u="none" strike="noStrike" dirty="0">
                        <a:solidFill>
                          <a:srgbClr val="000000"/>
                        </a:solidFill>
                        <a:effectLst/>
                        <a:latin typeface="+mj-ea"/>
                        <a:ea typeface="+mj-ea"/>
                      </a:endParaRPr>
                    </a:p>
                  </a:txBody>
                  <a:tcPr marL="7841" marR="7841" marT="7841" marB="0" anchor="ctr"/>
                </a:tc>
                <a:extLst>
                  <a:ext uri="{0D108BD9-81ED-4DB2-BD59-A6C34878D82A}">
                    <a16:rowId xmlns:a16="http://schemas.microsoft.com/office/drawing/2014/main" val="10008"/>
                  </a:ext>
                </a:extLst>
              </a:tr>
              <a:tr h="311437">
                <a:tc>
                  <a:txBody>
                    <a:bodyPr/>
                    <a:lstStyle/>
                    <a:p>
                      <a:pPr algn="ctr" fontAlgn="b"/>
                      <a:r>
                        <a:rPr lang="en-US" altLang="zh-CN" sz="1200" u="none" strike="noStrike">
                          <a:effectLst/>
                          <a:latin typeface="+mj-ea"/>
                          <a:ea typeface="+mj-ea"/>
                        </a:rPr>
                        <a:t>8</a:t>
                      </a:r>
                      <a:r>
                        <a:rPr lang="zh-CN" altLang="en-US" sz="1200" u="none" strike="noStrike">
                          <a:effectLst/>
                          <a:latin typeface="+mj-ea"/>
                          <a:ea typeface="+mj-ea"/>
                        </a:rPr>
                        <a:t>月</a:t>
                      </a:r>
                      <a:r>
                        <a:rPr lang="en-US" altLang="zh-CN" sz="1200" u="none" strike="noStrike">
                          <a:effectLst/>
                          <a:latin typeface="+mj-ea"/>
                          <a:ea typeface="+mj-ea"/>
                        </a:rPr>
                        <a:t>31</a:t>
                      </a:r>
                      <a:r>
                        <a:rPr lang="zh-CN" altLang="en-US" sz="1200" u="none" strike="noStrike">
                          <a:effectLst/>
                          <a:latin typeface="+mj-ea"/>
                          <a:ea typeface="+mj-ea"/>
                        </a:rPr>
                        <a:t>日</a:t>
                      </a:r>
                      <a:endParaRPr lang="zh-CN" altLang="en-US" sz="1200" b="0" i="0" u="none" strike="noStrike">
                        <a:solidFill>
                          <a:srgbClr val="000000"/>
                        </a:solidFill>
                        <a:effectLst/>
                        <a:latin typeface="+mj-ea"/>
                        <a:ea typeface="+mj-ea"/>
                      </a:endParaRPr>
                    </a:p>
                  </a:txBody>
                  <a:tcPr marL="7841" marR="7841" marT="7841" marB="0" anchor="ctr"/>
                </a:tc>
                <a:tc>
                  <a:txBody>
                    <a:bodyPr/>
                    <a:lstStyle/>
                    <a:p>
                      <a:pPr algn="ctr" fontAlgn="b"/>
                      <a:r>
                        <a:rPr lang="zh-CN" altLang="en-US" sz="1200" u="none" strike="noStrike" dirty="0">
                          <a:effectLst/>
                          <a:latin typeface="+mj-ea"/>
                          <a:ea typeface="+mj-ea"/>
                        </a:rPr>
                        <a:t>武汉</a:t>
                      </a:r>
                      <a:endParaRPr lang="zh-CN" altLang="en-US" sz="1200" b="0" i="0" u="none" strike="noStrike" dirty="0">
                        <a:solidFill>
                          <a:srgbClr val="000000"/>
                        </a:solidFill>
                        <a:effectLst/>
                        <a:latin typeface="+mj-ea"/>
                        <a:ea typeface="+mj-ea"/>
                      </a:endParaRPr>
                    </a:p>
                  </a:txBody>
                  <a:tcPr marL="7841" marR="7841" marT="7841" marB="0" anchor="ctr"/>
                </a:tc>
                <a:tc>
                  <a:txBody>
                    <a:bodyPr/>
                    <a:lstStyle/>
                    <a:p>
                      <a:pPr algn="ctr" fontAlgn="b"/>
                      <a:r>
                        <a:rPr lang="zh-CN" altLang="en-US" sz="1200" u="none" strike="noStrike" dirty="0">
                          <a:effectLst/>
                          <a:latin typeface="+mj-ea"/>
                          <a:ea typeface="+mj-ea"/>
                        </a:rPr>
                        <a:t>非本地户籍第二套房限购，本地户口的第二套房首付比例提高到</a:t>
                      </a:r>
                      <a:r>
                        <a:rPr lang="en-US" altLang="zh-CN" sz="1200" u="none" strike="noStrike" dirty="0">
                          <a:effectLst/>
                          <a:latin typeface="+mj-ea"/>
                          <a:ea typeface="+mj-ea"/>
                        </a:rPr>
                        <a:t>40%</a:t>
                      </a:r>
                      <a:endParaRPr lang="en-US" altLang="zh-CN" sz="1200" b="0" i="0" u="none" strike="noStrike" dirty="0">
                        <a:solidFill>
                          <a:srgbClr val="000000"/>
                        </a:solidFill>
                        <a:effectLst/>
                        <a:latin typeface="+mj-ea"/>
                        <a:ea typeface="+mj-ea"/>
                      </a:endParaRPr>
                    </a:p>
                  </a:txBody>
                  <a:tcPr marL="7841" marR="7841" marT="7841" marB="0" anchor="ctr"/>
                </a:tc>
                <a:extLst>
                  <a:ext uri="{0D108BD9-81ED-4DB2-BD59-A6C34878D82A}">
                    <a16:rowId xmlns:a16="http://schemas.microsoft.com/office/drawing/2014/main" val="10009"/>
                  </a:ext>
                </a:extLst>
              </a:tr>
              <a:tr h="336904">
                <a:tc>
                  <a:txBody>
                    <a:bodyPr/>
                    <a:lstStyle/>
                    <a:p>
                      <a:pPr algn="ctr" fontAlgn="b"/>
                      <a:r>
                        <a:rPr lang="en-US" altLang="zh-CN" sz="1200" u="none" strike="noStrike" dirty="0">
                          <a:effectLst/>
                          <a:latin typeface="+mj-ea"/>
                          <a:ea typeface="+mj-ea"/>
                        </a:rPr>
                        <a:t>9</a:t>
                      </a:r>
                      <a:r>
                        <a:rPr lang="zh-CN" altLang="en-US" sz="1200" u="none" strike="noStrike" dirty="0">
                          <a:effectLst/>
                          <a:latin typeface="+mj-ea"/>
                          <a:ea typeface="+mj-ea"/>
                        </a:rPr>
                        <a:t>月</a:t>
                      </a:r>
                      <a:r>
                        <a:rPr lang="en-US" altLang="zh-CN" sz="1200" u="none" strike="noStrike" dirty="0">
                          <a:effectLst/>
                          <a:latin typeface="+mj-ea"/>
                          <a:ea typeface="+mj-ea"/>
                        </a:rPr>
                        <a:t>14</a:t>
                      </a:r>
                      <a:r>
                        <a:rPr lang="zh-CN" altLang="en-US" sz="1200" u="none" strike="noStrike" dirty="0">
                          <a:effectLst/>
                          <a:latin typeface="+mj-ea"/>
                          <a:ea typeface="+mj-ea"/>
                        </a:rPr>
                        <a:t>日</a:t>
                      </a:r>
                      <a:endParaRPr lang="zh-CN" altLang="en-US" sz="1200" b="0" i="0" u="none" strike="noStrike" dirty="0">
                        <a:solidFill>
                          <a:srgbClr val="000000"/>
                        </a:solidFill>
                        <a:effectLst/>
                        <a:latin typeface="+mj-ea"/>
                        <a:ea typeface="+mj-ea"/>
                      </a:endParaRPr>
                    </a:p>
                  </a:txBody>
                  <a:tcPr marL="7841" marR="7841" marT="7841" marB="0" anchor="ctr"/>
                </a:tc>
                <a:tc>
                  <a:txBody>
                    <a:bodyPr/>
                    <a:lstStyle/>
                    <a:p>
                      <a:pPr algn="ctr" fontAlgn="b"/>
                      <a:r>
                        <a:rPr lang="zh-CN" altLang="en-US" sz="1200" u="none" strike="noStrike" dirty="0">
                          <a:effectLst/>
                          <a:latin typeface="+mj-ea"/>
                          <a:ea typeface="+mj-ea"/>
                        </a:rPr>
                        <a:t>郑州</a:t>
                      </a:r>
                      <a:endParaRPr lang="zh-CN" altLang="en-US" sz="1200" b="0" i="0" u="none" strike="noStrike" dirty="0">
                        <a:solidFill>
                          <a:srgbClr val="000000"/>
                        </a:solidFill>
                        <a:effectLst/>
                        <a:latin typeface="+mj-ea"/>
                        <a:ea typeface="+mj-ea"/>
                      </a:endParaRPr>
                    </a:p>
                  </a:txBody>
                  <a:tcPr marL="7841" marR="7841" marT="7841" marB="0" anchor="ctr"/>
                </a:tc>
                <a:tc>
                  <a:txBody>
                    <a:bodyPr/>
                    <a:lstStyle/>
                    <a:p>
                      <a:pPr algn="ctr" fontAlgn="b"/>
                      <a:r>
                        <a:rPr lang="zh-CN" altLang="en-US" sz="1200" u="none" strike="noStrike" dirty="0">
                          <a:effectLst/>
                          <a:latin typeface="+mj-ea"/>
                          <a:ea typeface="+mj-ea"/>
                        </a:rPr>
                        <a:t>扩大居住用地供应规模、严控土地竞拍溢价率、公积金住房贷款金额等调控新政</a:t>
                      </a:r>
                      <a:endParaRPr lang="zh-CN" altLang="en-US" sz="1200" b="0" i="0" u="none" strike="noStrike" dirty="0">
                        <a:solidFill>
                          <a:srgbClr val="000000"/>
                        </a:solidFill>
                        <a:effectLst/>
                        <a:latin typeface="+mj-ea"/>
                        <a:ea typeface="+mj-ea"/>
                      </a:endParaRPr>
                    </a:p>
                  </a:txBody>
                  <a:tcPr marL="7841" marR="7841" marT="7841" marB="0" anchor="ctr"/>
                </a:tc>
                <a:extLst>
                  <a:ext uri="{0D108BD9-81ED-4DB2-BD59-A6C34878D82A}">
                    <a16:rowId xmlns:a16="http://schemas.microsoft.com/office/drawing/2014/main" val="10010"/>
                  </a:ext>
                </a:extLst>
              </a:tr>
              <a:tr h="409104">
                <a:tc>
                  <a:txBody>
                    <a:bodyPr/>
                    <a:lstStyle/>
                    <a:p>
                      <a:pPr algn="ctr" fontAlgn="b"/>
                      <a:r>
                        <a:rPr lang="en-US" altLang="zh-CN" sz="1200" u="none" strike="noStrike">
                          <a:effectLst/>
                          <a:latin typeface="+mj-ea"/>
                          <a:ea typeface="+mj-ea"/>
                        </a:rPr>
                        <a:t>9</a:t>
                      </a:r>
                      <a:r>
                        <a:rPr lang="zh-CN" altLang="en-US" sz="1200" u="none" strike="noStrike">
                          <a:effectLst/>
                          <a:latin typeface="+mj-ea"/>
                          <a:ea typeface="+mj-ea"/>
                        </a:rPr>
                        <a:t>月</a:t>
                      </a:r>
                      <a:r>
                        <a:rPr lang="en-US" altLang="zh-CN" sz="1200" u="none" strike="noStrike">
                          <a:effectLst/>
                          <a:latin typeface="+mj-ea"/>
                          <a:ea typeface="+mj-ea"/>
                        </a:rPr>
                        <a:t>18</a:t>
                      </a:r>
                      <a:r>
                        <a:rPr lang="zh-CN" altLang="en-US" sz="1200" u="none" strike="noStrike">
                          <a:effectLst/>
                          <a:latin typeface="+mj-ea"/>
                          <a:ea typeface="+mj-ea"/>
                        </a:rPr>
                        <a:t>日</a:t>
                      </a:r>
                      <a:endParaRPr lang="zh-CN" altLang="en-US" sz="1200" b="0" i="0" u="none" strike="noStrike">
                        <a:solidFill>
                          <a:srgbClr val="000000"/>
                        </a:solidFill>
                        <a:effectLst/>
                        <a:latin typeface="+mj-ea"/>
                        <a:ea typeface="+mj-ea"/>
                      </a:endParaRPr>
                    </a:p>
                  </a:txBody>
                  <a:tcPr marL="7841" marR="7841" marT="7841" marB="0" anchor="ctr"/>
                </a:tc>
                <a:tc>
                  <a:txBody>
                    <a:bodyPr/>
                    <a:lstStyle/>
                    <a:p>
                      <a:pPr algn="l" fontAlgn="b"/>
                      <a:r>
                        <a:rPr lang="zh-CN" altLang="en-US" sz="1200" u="none" strike="noStrike" dirty="0">
                          <a:effectLst/>
                          <a:latin typeface="+mj-ea"/>
                          <a:ea typeface="+mj-ea"/>
                        </a:rPr>
                        <a:t>     杭州</a:t>
                      </a:r>
                      <a:endParaRPr lang="zh-CN" altLang="en-US" sz="1200" b="0" i="0" u="none" strike="noStrike" dirty="0">
                        <a:solidFill>
                          <a:srgbClr val="000000"/>
                        </a:solidFill>
                        <a:effectLst/>
                        <a:latin typeface="+mj-ea"/>
                        <a:ea typeface="+mj-ea"/>
                      </a:endParaRPr>
                    </a:p>
                  </a:txBody>
                  <a:tcPr marL="7841" marR="7841" marT="7841" marB="0" anchor="ctr"/>
                </a:tc>
                <a:tc>
                  <a:txBody>
                    <a:bodyPr/>
                    <a:lstStyle/>
                    <a:p>
                      <a:pPr algn="l" fontAlgn="b"/>
                      <a:r>
                        <a:rPr lang="zh-CN" altLang="en-US" sz="1200" u="none" strike="noStrike" dirty="0">
                          <a:effectLst/>
                          <a:latin typeface="+mj-ea"/>
                          <a:ea typeface="+mj-ea"/>
                        </a:rPr>
                        <a:t>在市区限购范围内，暂停向拥有一套及以上住房的非本市户籍居民家庭出售住房，包括新建商品房和二手房</a:t>
                      </a:r>
                      <a:endParaRPr lang="zh-CN" altLang="en-US" sz="1200" b="0" i="0" u="none" strike="noStrike" dirty="0">
                        <a:solidFill>
                          <a:srgbClr val="000000"/>
                        </a:solidFill>
                        <a:effectLst/>
                        <a:latin typeface="+mj-ea"/>
                        <a:ea typeface="+mj-ea"/>
                      </a:endParaRPr>
                    </a:p>
                  </a:txBody>
                  <a:tcPr marL="7841" marR="7841" marT="7841" marB="0" anchor="ctr"/>
                </a:tc>
                <a:extLst>
                  <a:ext uri="{0D108BD9-81ED-4DB2-BD59-A6C34878D82A}">
                    <a16:rowId xmlns:a16="http://schemas.microsoft.com/office/drawing/2014/main" val="10011"/>
                  </a:ext>
                </a:extLst>
              </a:tr>
              <a:tr h="287607">
                <a:tc>
                  <a:txBody>
                    <a:bodyPr/>
                    <a:lstStyle/>
                    <a:p>
                      <a:pPr algn="ctr" fontAlgn="b"/>
                      <a:r>
                        <a:rPr lang="en-US" altLang="zh-CN" sz="1200" b="1" u="none" strike="noStrike">
                          <a:solidFill>
                            <a:srgbClr val="FF0000"/>
                          </a:solidFill>
                          <a:effectLst/>
                          <a:latin typeface="+mj-ea"/>
                          <a:ea typeface="+mj-ea"/>
                        </a:rPr>
                        <a:t>9</a:t>
                      </a:r>
                      <a:r>
                        <a:rPr lang="zh-CN" altLang="en-US" sz="1200" b="1" u="none" strike="noStrike">
                          <a:solidFill>
                            <a:srgbClr val="FF0000"/>
                          </a:solidFill>
                          <a:effectLst/>
                          <a:latin typeface="+mj-ea"/>
                          <a:ea typeface="+mj-ea"/>
                        </a:rPr>
                        <a:t>月</a:t>
                      </a:r>
                      <a:r>
                        <a:rPr lang="en-US" altLang="zh-CN" sz="1200" b="1" u="none" strike="noStrike">
                          <a:solidFill>
                            <a:srgbClr val="FF0000"/>
                          </a:solidFill>
                          <a:effectLst/>
                          <a:latin typeface="+mj-ea"/>
                          <a:ea typeface="+mj-ea"/>
                        </a:rPr>
                        <a:t>25</a:t>
                      </a:r>
                      <a:r>
                        <a:rPr lang="zh-CN" altLang="en-US" sz="1200" b="1" u="none" strike="noStrike">
                          <a:solidFill>
                            <a:srgbClr val="FF0000"/>
                          </a:solidFill>
                          <a:effectLst/>
                          <a:latin typeface="+mj-ea"/>
                          <a:ea typeface="+mj-ea"/>
                        </a:rPr>
                        <a:t>日</a:t>
                      </a:r>
                      <a:endParaRPr lang="zh-CN" altLang="en-US" sz="1200" b="1" i="0" u="none" strike="noStrike">
                        <a:solidFill>
                          <a:srgbClr val="FF0000"/>
                        </a:solidFill>
                        <a:effectLst/>
                        <a:latin typeface="+mj-ea"/>
                        <a:ea typeface="+mj-ea"/>
                      </a:endParaRPr>
                    </a:p>
                  </a:txBody>
                  <a:tcPr marL="7841" marR="7841" marT="7841" marB="0" anchor="ctr"/>
                </a:tc>
                <a:tc>
                  <a:txBody>
                    <a:bodyPr/>
                    <a:lstStyle/>
                    <a:p>
                      <a:pPr algn="ctr" fontAlgn="b"/>
                      <a:r>
                        <a:rPr lang="zh-CN" altLang="en-US" sz="1200" b="1" u="none" strike="noStrike" dirty="0">
                          <a:solidFill>
                            <a:srgbClr val="FF0000"/>
                          </a:solidFill>
                          <a:effectLst/>
                          <a:latin typeface="+mj-ea"/>
                          <a:ea typeface="+mj-ea"/>
                        </a:rPr>
                        <a:t>南京</a:t>
                      </a:r>
                      <a:endParaRPr lang="zh-CN" altLang="en-US" sz="1200" b="1" i="0" u="none" strike="noStrike" dirty="0">
                        <a:solidFill>
                          <a:srgbClr val="FF0000"/>
                        </a:solidFill>
                        <a:effectLst/>
                        <a:latin typeface="+mj-ea"/>
                        <a:ea typeface="+mj-ea"/>
                      </a:endParaRPr>
                    </a:p>
                  </a:txBody>
                  <a:tcPr marL="7841" marR="7841" marT="7841" marB="0" anchor="ctr"/>
                </a:tc>
                <a:tc>
                  <a:txBody>
                    <a:bodyPr/>
                    <a:lstStyle/>
                    <a:p>
                      <a:pPr algn="ctr" fontAlgn="b"/>
                      <a:r>
                        <a:rPr lang="zh-CN" altLang="en-US" sz="1200" b="1" u="none" strike="noStrike" dirty="0">
                          <a:solidFill>
                            <a:srgbClr val="FF0000"/>
                          </a:solidFill>
                          <a:effectLst/>
                          <a:latin typeface="+mj-ea"/>
                          <a:ea typeface="+mj-ea"/>
                        </a:rPr>
                        <a:t>政府出台了主城区住房限购政策</a:t>
                      </a:r>
                      <a:endParaRPr lang="zh-CN" altLang="en-US" sz="1200" b="1" i="0" u="none" strike="noStrike" dirty="0">
                        <a:solidFill>
                          <a:srgbClr val="FF0000"/>
                        </a:solidFill>
                        <a:effectLst/>
                        <a:latin typeface="+mj-ea"/>
                        <a:ea typeface="+mj-ea"/>
                      </a:endParaRPr>
                    </a:p>
                  </a:txBody>
                  <a:tcPr marL="7841" marR="7841" marT="7841" marB="0" anchor="ctr"/>
                </a:tc>
                <a:extLst>
                  <a:ext uri="{0D108BD9-81ED-4DB2-BD59-A6C34878D82A}">
                    <a16:rowId xmlns:a16="http://schemas.microsoft.com/office/drawing/2014/main" val="10012"/>
                  </a:ext>
                </a:extLst>
              </a:tr>
              <a:tr h="252433">
                <a:tc>
                  <a:txBody>
                    <a:bodyPr/>
                    <a:lstStyle/>
                    <a:p>
                      <a:pPr algn="ctr" fontAlgn="b"/>
                      <a:r>
                        <a:rPr lang="en-US" altLang="zh-CN" sz="1200" b="1" u="none" strike="noStrike" dirty="0">
                          <a:solidFill>
                            <a:srgbClr val="FF0000"/>
                          </a:solidFill>
                          <a:effectLst/>
                          <a:latin typeface="+mj-ea"/>
                          <a:ea typeface="+mj-ea"/>
                        </a:rPr>
                        <a:t>9</a:t>
                      </a:r>
                      <a:r>
                        <a:rPr lang="zh-CN" altLang="en-US" sz="1200" b="1" u="none" strike="noStrike" dirty="0">
                          <a:solidFill>
                            <a:srgbClr val="FF0000"/>
                          </a:solidFill>
                          <a:effectLst/>
                          <a:latin typeface="+mj-ea"/>
                          <a:ea typeface="+mj-ea"/>
                        </a:rPr>
                        <a:t>月</a:t>
                      </a:r>
                      <a:r>
                        <a:rPr lang="en-US" altLang="zh-CN" sz="1200" b="1" u="none" strike="noStrike" dirty="0">
                          <a:solidFill>
                            <a:srgbClr val="FF0000"/>
                          </a:solidFill>
                          <a:effectLst/>
                          <a:latin typeface="+mj-ea"/>
                          <a:ea typeface="+mj-ea"/>
                        </a:rPr>
                        <a:t>26</a:t>
                      </a:r>
                      <a:r>
                        <a:rPr lang="zh-CN" altLang="en-US" sz="1200" b="1" u="none" strike="noStrike" dirty="0">
                          <a:solidFill>
                            <a:srgbClr val="FF0000"/>
                          </a:solidFill>
                          <a:effectLst/>
                          <a:latin typeface="+mj-ea"/>
                          <a:ea typeface="+mj-ea"/>
                        </a:rPr>
                        <a:t>日</a:t>
                      </a:r>
                      <a:endParaRPr lang="zh-CN" altLang="en-US" sz="1200" b="1" i="0" u="none" strike="noStrike" dirty="0">
                        <a:solidFill>
                          <a:srgbClr val="FF0000"/>
                        </a:solidFill>
                        <a:effectLst/>
                        <a:latin typeface="+mj-ea"/>
                        <a:ea typeface="+mj-ea"/>
                      </a:endParaRPr>
                    </a:p>
                  </a:txBody>
                  <a:tcPr marL="7841" marR="7841" marT="7841" marB="0" anchor="ctr"/>
                </a:tc>
                <a:tc>
                  <a:txBody>
                    <a:bodyPr/>
                    <a:lstStyle/>
                    <a:p>
                      <a:pPr algn="ctr" fontAlgn="b"/>
                      <a:r>
                        <a:rPr lang="zh-CN" altLang="en-US" sz="1200" b="1" u="none" strike="noStrike" dirty="0">
                          <a:solidFill>
                            <a:srgbClr val="FF0000"/>
                          </a:solidFill>
                          <a:effectLst/>
                          <a:latin typeface="+mj-ea"/>
                          <a:ea typeface="+mj-ea"/>
                        </a:rPr>
                        <a:t>南京</a:t>
                      </a:r>
                      <a:endParaRPr lang="zh-CN" altLang="en-US" sz="1200" b="1" i="0" u="none" strike="noStrike" dirty="0">
                        <a:solidFill>
                          <a:srgbClr val="FF0000"/>
                        </a:solidFill>
                        <a:effectLst/>
                        <a:latin typeface="+mj-ea"/>
                        <a:ea typeface="+mj-ea"/>
                      </a:endParaRPr>
                    </a:p>
                  </a:txBody>
                  <a:tcPr marL="7841" marR="7841" marT="7841" marB="0" anchor="ctr"/>
                </a:tc>
                <a:tc>
                  <a:txBody>
                    <a:bodyPr/>
                    <a:lstStyle/>
                    <a:p>
                      <a:pPr algn="ctr" fontAlgn="b"/>
                      <a:r>
                        <a:rPr lang="zh-CN" altLang="en-US" sz="1200" b="1" u="none" strike="noStrike" dirty="0">
                          <a:solidFill>
                            <a:srgbClr val="FF0000"/>
                          </a:solidFill>
                          <a:effectLst/>
                          <a:latin typeface="+mj-ea"/>
                          <a:ea typeface="+mj-ea"/>
                        </a:rPr>
                        <a:t>“宁十三条”稳楼市，控房价</a:t>
                      </a:r>
                      <a:endParaRPr lang="zh-CN" altLang="en-US" sz="1200" b="1" i="0" u="none" strike="noStrike" dirty="0">
                        <a:solidFill>
                          <a:srgbClr val="FF0000"/>
                        </a:solidFill>
                        <a:effectLst/>
                        <a:latin typeface="+mj-ea"/>
                        <a:ea typeface="+mj-ea"/>
                      </a:endParaRPr>
                    </a:p>
                  </a:txBody>
                  <a:tcPr marL="7841" marR="7841" marT="7841" marB="0" anchor="ctr"/>
                </a:tc>
                <a:extLst>
                  <a:ext uri="{0D108BD9-81ED-4DB2-BD59-A6C34878D82A}">
                    <a16:rowId xmlns:a16="http://schemas.microsoft.com/office/drawing/2014/main" val="10013"/>
                  </a:ext>
                </a:extLst>
              </a:tr>
              <a:tr h="252433">
                <a:tc>
                  <a:txBody>
                    <a:bodyPr/>
                    <a:lstStyle/>
                    <a:p>
                      <a:pPr algn="ctr" fontAlgn="b"/>
                      <a:r>
                        <a:rPr lang="en-US" altLang="zh-CN" sz="1200" b="0" i="0" u="none" strike="noStrike" dirty="0">
                          <a:solidFill>
                            <a:schemeClr val="tx1"/>
                          </a:solidFill>
                          <a:effectLst/>
                          <a:latin typeface="+mj-ea"/>
                          <a:ea typeface="+mj-ea"/>
                        </a:rPr>
                        <a:t>9</a:t>
                      </a:r>
                      <a:r>
                        <a:rPr lang="zh-CN" altLang="en-US" sz="1200" b="0" i="0" u="none" strike="noStrike" dirty="0">
                          <a:solidFill>
                            <a:schemeClr val="tx1"/>
                          </a:solidFill>
                          <a:effectLst/>
                          <a:latin typeface="+mj-ea"/>
                          <a:ea typeface="+mj-ea"/>
                        </a:rPr>
                        <a:t>月</a:t>
                      </a:r>
                      <a:r>
                        <a:rPr lang="en-US" altLang="zh-CN" sz="1200" b="0" i="0" u="none" strike="noStrike" dirty="0">
                          <a:solidFill>
                            <a:schemeClr val="tx1"/>
                          </a:solidFill>
                          <a:effectLst/>
                          <a:latin typeface="+mj-ea"/>
                          <a:ea typeface="+mj-ea"/>
                        </a:rPr>
                        <a:t>29</a:t>
                      </a:r>
                      <a:r>
                        <a:rPr lang="zh-CN" altLang="en-US" sz="1200" b="0" i="0" u="none" strike="noStrike" dirty="0">
                          <a:solidFill>
                            <a:schemeClr val="tx1"/>
                          </a:solidFill>
                          <a:effectLst/>
                          <a:latin typeface="+mj-ea"/>
                          <a:ea typeface="+mj-ea"/>
                        </a:rPr>
                        <a:t>日</a:t>
                      </a:r>
                    </a:p>
                  </a:txBody>
                  <a:tcPr marL="7841" marR="7841" marT="7841" marB="0" anchor="ctr"/>
                </a:tc>
                <a:tc>
                  <a:txBody>
                    <a:bodyPr/>
                    <a:lstStyle/>
                    <a:p>
                      <a:pPr algn="ctr" fontAlgn="b"/>
                      <a:r>
                        <a:rPr lang="zh-CN" altLang="en-US" sz="1200" b="0" i="0" u="none" strike="noStrike" dirty="0">
                          <a:solidFill>
                            <a:schemeClr val="tx1"/>
                          </a:solidFill>
                          <a:effectLst/>
                          <a:latin typeface="+mj-ea"/>
                          <a:ea typeface="+mj-ea"/>
                        </a:rPr>
                        <a:t>昆山</a:t>
                      </a:r>
                    </a:p>
                  </a:txBody>
                  <a:tcPr marL="7841" marR="7841" marT="7841" marB="0" anchor="ctr"/>
                </a:tc>
                <a:tc>
                  <a:txBody>
                    <a:bodyPr/>
                    <a:lstStyle/>
                    <a:p>
                      <a:pPr algn="ctr" fontAlgn="b"/>
                      <a:r>
                        <a:rPr lang="zh-CN" altLang="en-US" sz="1200" b="0" i="0" u="none" strike="noStrike" dirty="0">
                          <a:solidFill>
                            <a:schemeClr val="tx1"/>
                          </a:solidFill>
                          <a:effectLst/>
                          <a:latin typeface="+mj-ea"/>
                          <a:ea typeface="+mj-ea"/>
                        </a:rPr>
                        <a:t>非苏州市户籍居民家庭购买第</a:t>
                      </a:r>
                      <a:r>
                        <a:rPr lang="en-US" altLang="zh-CN" sz="1200" b="0" i="0" u="none" strike="noStrike" dirty="0">
                          <a:solidFill>
                            <a:schemeClr val="tx1"/>
                          </a:solidFill>
                          <a:effectLst/>
                          <a:latin typeface="+mj-ea"/>
                          <a:ea typeface="+mj-ea"/>
                        </a:rPr>
                        <a:t>2</a:t>
                      </a:r>
                      <a:r>
                        <a:rPr lang="zh-CN" altLang="en-US" sz="1200" b="0" i="0" u="none" strike="noStrike" dirty="0">
                          <a:solidFill>
                            <a:schemeClr val="tx1"/>
                          </a:solidFill>
                          <a:effectLst/>
                          <a:latin typeface="+mj-ea"/>
                          <a:ea typeface="+mj-ea"/>
                        </a:rPr>
                        <a:t>套住房，需提交</a:t>
                      </a:r>
                      <a:r>
                        <a:rPr lang="en-US" altLang="zh-CN" sz="1200" b="0" i="0" u="none" strike="noStrike" dirty="0">
                          <a:solidFill>
                            <a:schemeClr val="tx1"/>
                          </a:solidFill>
                          <a:effectLst/>
                          <a:latin typeface="+mj-ea"/>
                          <a:ea typeface="+mj-ea"/>
                        </a:rPr>
                        <a:t>1</a:t>
                      </a:r>
                      <a:r>
                        <a:rPr lang="zh-CN" altLang="en-US" sz="1200" b="0" i="0" u="none" strike="noStrike" dirty="0">
                          <a:solidFill>
                            <a:schemeClr val="tx1"/>
                          </a:solidFill>
                          <a:effectLst/>
                          <a:latin typeface="+mj-ea"/>
                          <a:ea typeface="+mj-ea"/>
                        </a:rPr>
                        <a:t>年社保证明</a:t>
                      </a:r>
                    </a:p>
                  </a:txBody>
                  <a:tcPr marL="7841" marR="7841" marT="7841" marB="0" anchor="ctr"/>
                </a:tc>
                <a:extLst>
                  <a:ext uri="{0D108BD9-81ED-4DB2-BD59-A6C34878D82A}">
                    <a16:rowId xmlns:a16="http://schemas.microsoft.com/office/drawing/2014/main" val="10014"/>
                  </a:ext>
                </a:extLst>
              </a:tr>
              <a:tr h="252433">
                <a:tc>
                  <a:txBody>
                    <a:bodyPr/>
                    <a:lstStyle/>
                    <a:p>
                      <a:pPr algn="ctr" fontAlgn="b"/>
                      <a:r>
                        <a:rPr lang="en-US" altLang="zh-CN" sz="1200" b="0" i="0" u="none" strike="noStrike" dirty="0">
                          <a:solidFill>
                            <a:schemeClr val="tx1"/>
                          </a:solidFill>
                          <a:effectLst/>
                          <a:latin typeface="+mj-ea"/>
                          <a:ea typeface="+mj-ea"/>
                        </a:rPr>
                        <a:t>9</a:t>
                      </a:r>
                      <a:r>
                        <a:rPr lang="zh-CN" altLang="en-US" sz="1200" b="0" i="0" u="none" strike="noStrike" dirty="0">
                          <a:solidFill>
                            <a:schemeClr val="tx1"/>
                          </a:solidFill>
                          <a:effectLst/>
                          <a:latin typeface="+mj-ea"/>
                          <a:ea typeface="+mj-ea"/>
                        </a:rPr>
                        <a:t>月</a:t>
                      </a:r>
                      <a:r>
                        <a:rPr lang="en-US" altLang="zh-CN" sz="1200" b="0" i="0" u="none" strike="noStrike" dirty="0">
                          <a:solidFill>
                            <a:schemeClr val="tx1"/>
                          </a:solidFill>
                          <a:effectLst/>
                          <a:latin typeface="+mj-ea"/>
                          <a:ea typeface="+mj-ea"/>
                        </a:rPr>
                        <a:t>29</a:t>
                      </a:r>
                      <a:r>
                        <a:rPr lang="zh-CN" altLang="en-US" sz="1200" b="0" i="0" u="none" strike="noStrike" dirty="0">
                          <a:solidFill>
                            <a:schemeClr val="tx1"/>
                          </a:solidFill>
                          <a:effectLst/>
                          <a:latin typeface="+mj-ea"/>
                          <a:ea typeface="+mj-ea"/>
                        </a:rPr>
                        <a:t>日</a:t>
                      </a:r>
                    </a:p>
                  </a:txBody>
                  <a:tcPr marL="7841" marR="7841" marT="7841" marB="0" anchor="ctr"/>
                </a:tc>
                <a:tc>
                  <a:txBody>
                    <a:bodyPr/>
                    <a:lstStyle/>
                    <a:p>
                      <a:pPr algn="ctr" fontAlgn="b"/>
                      <a:r>
                        <a:rPr lang="zh-CN" altLang="en-US" sz="1200" b="0" i="0" u="none" strike="noStrike" dirty="0">
                          <a:solidFill>
                            <a:schemeClr val="tx1"/>
                          </a:solidFill>
                          <a:effectLst/>
                          <a:latin typeface="+mj-ea"/>
                          <a:ea typeface="+mj-ea"/>
                        </a:rPr>
                        <a:t>福州</a:t>
                      </a:r>
                    </a:p>
                  </a:txBody>
                  <a:tcPr marL="7841" marR="7841" marT="7841" marB="0" anchor="ctr"/>
                </a:tc>
                <a:tc>
                  <a:txBody>
                    <a:bodyPr/>
                    <a:lstStyle/>
                    <a:p>
                      <a:pPr algn="ctr" fontAlgn="b"/>
                      <a:r>
                        <a:rPr lang="zh-CN" altLang="en-US" sz="1200" b="0" i="0" u="none" strike="noStrike" dirty="0">
                          <a:solidFill>
                            <a:schemeClr val="tx1"/>
                          </a:solidFill>
                          <a:effectLst/>
                          <a:latin typeface="+mj-ea"/>
                          <a:ea typeface="+mj-ea"/>
                        </a:rPr>
                        <a:t>提高土地竞买条件，加强商品房价格管理</a:t>
                      </a:r>
                    </a:p>
                  </a:txBody>
                  <a:tcPr marL="7841" marR="7841" marT="7841" marB="0" anchor="ctr"/>
                </a:tc>
                <a:extLst>
                  <a:ext uri="{0D108BD9-81ED-4DB2-BD59-A6C34878D82A}">
                    <a16:rowId xmlns:a16="http://schemas.microsoft.com/office/drawing/2014/main" val="10015"/>
                  </a:ext>
                </a:extLst>
              </a:tr>
            </a:tbl>
          </a:graphicData>
        </a:graphic>
      </p:graphicFrame>
      <p:sp>
        <p:nvSpPr>
          <p:cNvPr id="16" name="TextBox 15"/>
          <p:cNvSpPr txBox="1"/>
          <p:nvPr/>
        </p:nvSpPr>
        <p:spPr>
          <a:xfrm>
            <a:off x="2577953" y="934674"/>
            <a:ext cx="3738590" cy="338554"/>
          </a:xfrm>
          <a:prstGeom prst="rect">
            <a:avLst/>
          </a:prstGeom>
          <a:noFill/>
        </p:spPr>
        <p:txBody>
          <a:bodyPr wrap="square" rtlCol="0">
            <a:spAutoFit/>
          </a:bodyPr>
          <a:lstStyle/>
          <a:p>
            <a:r>
              <a:rPr lang="en-US" altLang="zh-CN" sz="1600" b="1" dirty="0">
                <a:latin typeface="微软雅黑" pitchFamily="34" charset="-122"/>
                <a:ea typeface="微软雅黑" pitchFamily="34" charset="-122"/>
              </a:rPr>
              <a:t>2016</a:t>
            </a:r>
            <a:r>
              <a:rPr lang="zh-CN" altLang="en-US" sz="1600" b="1" dirty="0">
                <a:latin typeface="微软雅黑" pitchFamily="34" charset="-122"/>
                <a:ea typeface="微软雅黑" pitchFamily="34" charset="-122"/>
              </a:rPr>
              <a:t>年以来热点城市收紧政策一览表</a:t>
            </a:r>
          </a:p>
        </p:txBody>
      </p:sp>
      <p:sp>
        <p:nvSpPr>
          <p:cNvPr id="6" name="TextBox 5"/>
          <p:cNvSpPr txBox="1"/>
          <p:nvPr/>
        </p:nvSpPr>
        <p:spPr>
          <a:xfrm>
            <a:off x="190006" y="6131386"/>
            <a:ext cx="4541244" cy="276999"/>
          </a:xfrm>
          <a:prstGeom prst="rect">
            <a:avLst/>
          </a:prstGeom>
          <a:noFill/>
        </p:spPr>
        <p:txBody>
          <a:bodyPr wrap="square" rtlCol="0">
            <a:spAutoFit/>
          </a:bodyPr>
          <a:lstStyle/>
          <a:p>
            <a:r>
              <a:rPr lang="zh-CN" altLang="en-US" sz="1200" b="1" dirty="0">
                <a:latin typeface="微软雅黑" pitchFamily="34" charset="-122"/>
                <a:ea typeface="微软雅黑" pitchFamily="34" charset="-122"/>
              </a:rPr>
              <a:t>统计时间：</a:t>
            </a:r>
            <a:r>
              <a:rPr lang="en-US" altLang="zh-CN" sz="1200" b="1" dirty="0">
                <a:latin typeface="微软雅黑" pitchFamily="34" charset="-122"/>
                <a:ea typeface="微软雅黑" pitchFamily="34" charset="-122"/>
              </a:rPr>
              <a:t>2016.01.01-2016.09.29</a:t>
            </a:r>
            <a:endParaRPr lang="zh-CN" altLang="en-US" sz="1200" b="1" dirty="0">
              <a:latin typeface="微软雅黑" pitchFamily="34" charset="-122"/>
              <a:ea typeface="微软雅黑" pitchFamily="34" charset="-122"/>
            </a:endParaRPr>
          </a:p>
        </p:txBody>
      </p:sp>
    </p:spTree>
    <p:extLst>
      <p:ext uri="{BB962C8B-B14F-4D97-AF65-F5344CB8AC3E}">
        <p14:creationId xmlns:p14="http://schemas.microsoft.com/office/powerpoint/2010/main" val="42845967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3"/>
          <p:cNvSpPr>
            <a:spLocks noGrp="1"/>
          </p:cNvSpPr>
          <p:nvPr>
            <p:ph type="title"/>
          </p:nvPr>
        </p:nvSpPr>
        <p:spPr>
          <a:xfrm>
            <a:off x="91119" y="40862"/>
            <a:ext cx="5894045" cy="474662"/>
          </a:xfrm>
        </p:spPr>
        <p:txBody>
          <a:bodyPr>
            <a:normAutofit/>
          </a:bodyPr>
          <a:lstStyle/>
          <a:p>
            <a:r>
              <a:rPr lang="zh-CN" altLang="en-US" dirty="0"/>
              <a:t>政策面</a:t>
            </a:r>
            <a:r>
              <a:rPr lang="en-US" altLang="zh-CN" dirty="0"/>
              <a:t>|</a:t>
            </a:r>
            <a:r>
              <a:rPr lang="zh-CN" altLang="en-US" sz="1800" dirty="0">
                <a:latin typeface="微软雅黑" pitchFamily="34" charset="-122"/>
                <a:ea typeface="微软雅黑" pitchFamily="34" charset="-122"/>
              </a:rPr>
              <a:t>国庆节“</a:t>
            </a:r>
            <a:r>
              <a:rPr lang="en-US" altLang="zh-CN" sz="1800" dirty="0">
                <a:latin typeface="微软雅黑" pitchFamily="34" charset="-122"/>
                <a:ea typeface="微软雅黑" pitchFamily="34" charset="-122"/>
              </a:rPr>
              <a:t>20</a:t>
            </a:r>
            <a:r>
              <a:rPr lang="zh-CN" altLang="en-US" sz="1800" dirty="0">
                <a:latin typeface="微软雅黑" pitchFamily="34" charset="-122"/>
                <a:ea typeface="微软雅黑" pitchFamily="34" charset="-122"/>
              </a:rPr>
              <a:t>城”调控政策纷纷出台</a:t>
            </a:r>
            <a:endParaRPr lang="zh-CN" altLang="en-US" sz="1050" dirty="0">
              <a:latin typeface="微软雅黑" pitchFamily="34" charset="-122"/>
              <a:ea typeface="微软雅黑" pitchFamily="34" charset="-122"/>
            </a:endParaRPr>
          </a:p>
        </p:txBody>
      </p:sp>
      <p:sp>
        <p:nvSpPr>
          <p:cNvPr id="26" name="幻灯片编号占位符 1"/>
          <p:cNvSpPr txBox="1">
            <a:spLocks/>
          </p:cNvSpPr>
          <p:nvPr/>
        </p:nvSpPr>
        <p:spPr>
          <a:xfrm>
            <a:off x="6553200" y="6546886"/>
            <a:ext cx="2133600" cy="365125"/>
          </a:xfrm>
          <a:prstGeom prst="rect">
            <a:avLst/>
          </a:prstGeom>
        </p:spPr>
        <p:txBody>
          <a:bodyPr vert="horz" lIns="91440" tIns="45720" rIns="91440" bIns="45720" rtlCol="0" anchor="ctr"/>
          <a:lstStyle>
            <a:defPPr>
              <a:defRPr lang="zh-CN"/>
            </a:defPPr>
            <a:lvl1pPr marL="0" algn="r" defTabSz="457200" rtl="0" eaLnBrk="1" latinLnBrk="0" hangingPunct="1">
              <a:defRPr kumimoji="1" sz="1400" b="1" i="0" kern="1200">
                <a:solidFill>
                  <a:srgbClr val="133176"/>
                </a:solidFill>
                <a:latin typeface="+mj-ea"/>
                <a:ea typeface="+mj-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3E8B6F27-EC4F-B34E-9F32-10CC92E9AB18}" type="slidenum">
              <a:rPr lang="zh-CN" altLang="en-US" smtClean="0"/>
              <a:pPr>
                <a:defRPr/>
              </a:pPr>
              <a:t>5</a:t>
            </a:fld>
            <a:endParaRPr lang="zh-CN" altLang="en-US" dirty="0"/>
          </a:p>
        </p:txBody>
      </p:sp>
      <p:graphicFrame>
        <p:nvGraphicFramePr>
          <p:cNvPr id="5" name="表格 4"/>
          <p:cNvGraphicFramePr>
            <a:graphicFrameLocks noGrp="1"/>
          </p:cNvGraphicFramePr>
          <p:nvPr>
            <p:extLst>
              <p:ext uri="{D42A27DB-BD31-4B8C-83A1-F6EECF244321}">
                <p14:modId xmlns:p14="http://schemas.microsoft.com/office/powerpoint/2010/main" val="248776697"/>
              </p:ext>
            </p:extLst>
          </p:nvPr>
        </p:nvGraphicFramePr>
        <p:xfrm>
          <a:off x="475109" y="1049572"/>
          <a:ext cx="8250333" cy="5461689"/>
        </p:xfrm>
        <a:graphic>
          <a:graphicData uri="http://schemas.openxmlformats.org/drawingml/2006/table">
            <a:tbl>
              <a:tblPr firstRow="1" firstCol="1">
                <a:tableStyleId>{5C22544A-7EE6-4342-B048-85BDC9FD1C3A}</a:tableStyleId>
              </a:tblPr>
              <a:tblGrid>
                <a:gridCol w="519928">
                  <a:extLst>
                    <a:ext uri="{9D8B030D-6E8A-4147-A177-3AD203B41FA5}">
                      <a16:colId xmlns:a16="http://schemas.microsoft.com/office/drawing/2014/main" val="20000"/>
                    </a:ext>
                  </a:extLst>
                </a:gridCol>
                <a:gridCol w="753443">
                  <a:extLst>
                    <a:ext uri="{9D8B030D-6E8A-4147-A177-3AD203B41FA5}">
                      <a16:colId xmlns:a16="http://schemas.microsoft.com/office/drawing/2014/main" val="20001"/>
                    </a:ext>
                  </a:extLst>
                </a:gridCol>
                <a:gridCol w="6976962">
                  <a:extLst>
                    <a:ext uri="{9D8B030D-6E8A-4147-A177-3AD203B41FA5}">
                      <a16:colId xmlns:a16="http://schemas.microsoft.com/office/drawing/2014/main" val="20002"/>
                    </a:ext>
                  </a:extLst>
                </a:gridCol>
              </a:tblGrid>
              <a:tr h="324000">
                <a:tc>
                  <a:txBody>
                    <a:bodyPr/>
                    <a:lstStyle/>
                    <a:p>
                      <a:pPr algn="ctr" fontAlgn="ctr"/>
                      <a:endParaRPr lang="zh-CN" altLang="en-US" sz="1400" b="0" i="0" u="none" strike="noStrike" dirty="0">
                        <a:solidFill>
                          <a:srgbClr val="000000"/>
                        </a:solidFill>
                        <a:effectLst/>
                        <a:latin typeface="+mj-ea"/>
                        <a:ea typeface="+mj-ea"/>
                      </a:endParaRPr>
                    </a:p>
                  </a:txBody>
                  <a:tcPr marL="0" marR="0" marT="0" marB="0" anchor="ctr">
                    <a:solidFill>
                      <a:srgbClr val="0070C0"/>
                    </a:solidFill>
                  </a:tcPr>
                </a:tc>
                <a:tc>
                  <a:txBody>
                    <a:bodyPr/>
                    <a:lstStyle/>
                    <a:p>
                      <a:pPr algn="ctr" fontAlgn="ctr"/>
                      <a:r>
                        <a:rPr lang="zh-CN" altLang="en-US" sz="1400" u="none" strike="noStrike" dirty="0">
                          <a:effectLst/>
                          <a:latin typeface="+mj-ea"/>
                          <a:ea typeface="+mj-ea"/>
                        </a:rPr>
                        <a:t>城市</a:t>
                      </a:r>
                      <a:endParaRPr lang="zh-CN" altLang="en-US" sz="1400" b="0" i="0" u="none" strike="noStrike" dirty="0">
                        <a:solidFill>
                          <a:srgbClr val="000000"/>
                        </a:solidFill>
                        <a:effectLst/>
                        <a:latin typeface="+mj-ea"/>
                        <a:ea typeface="+mj-ea"/>
                      </a:endParaRPr>
                    </a:p>
                  </a:txBody>
                  <a:tcPr marL="0" marR="0" marT="0" marB="0" anchor="ctr">
                    <a:solidFill>
                      <a:srgbClr val="0070C0"/>
                    </a:solidFill>
                  </a:tcPr>
                </a:tc>
                <a:tc>
                  <a:txBody>
                    <a:bodyPr/>
                    <a:lstStyle/>
                    <a:p>
                      <a:pPr algn="ctr" fontAlgn="b"/>
                      <a:r>
                        <a:rPr lang="zh-CN" altLang="en-US" sz="1400" u="none" strike="noStrike" dirty="0">
                          <a:effectLst/>
                          <a:latin typeface="+mj-ea"/>
                          <a:ea typeface="+mj-ea"/>
                        </a:rPr>
                        <a:t>内容</a:t>
                      </a:r>
                      <a:endParaRPr lang="zh-CN" altLang="en-US" sz="1400" b="0" i="0" u="none" strike="noStrike" dirty="0">
                        <a:solidFill>
                          <a:srgbClr val="000000"/>
                        </a:solidFill>
                        <a:effectLst/>
                        <a:latin typeface="+mj-ea"/>
                        <a:ea typeface="+mj-ea"/>
                      </a:endParaRPr>
                    </a:p>
                  </a:txBody>
                  <a:tcPr marL="0" marR="0" marT="0" marB="0" anchor="ctr">
                    <a:solidFill>
                      <a:srgbClr val="0070C0"/>
                    </a:solidFill>
                  </a:tcPr>
                </a:tc>
                <a:extLst>
                  <a:ext uri="{0D108BD9-81ED-4DB2-BD59-A6C34878D82A}">
                    <a16:rowId xmlns:a16="http://schemas.microsoft.com/office/drawing/2014/main" val="10000"/>
                  </a:ext>
                </a:extLst>
              </a:tr>
              <a:tr h="269143">
                <a:tc rowSpan="12">
                  <a:txBody>
                    <a:bodyPr/>
                    <a:lstStyle/>
                    <a:p>
                      <a:pPr algn="ctr" fontAlgn="ctr"/>
                      <a:r>
                        <a:rPr lang="zh-CN" altLang="en-US" sz="1400" u="none" strike="noStrike" dirty="0">
                          <a:effectLst/>
                          <a:latin typeface="+mj-ea"/>
                          <a:ea typeface="+mj-ea"/>
                        </a:rPr>
                        <a:t>限购限贷</a:t>
                      </a:r>
                      <a:endParaRPr lang="zh-CN" altLang="en-US" sz="1400" b="0" i="0" u="none" strike="noStrike" dirty="0">
                        <a:solidFill>
                          <a:srgbClr val="000000"/>
                        </a:solidFill>
                        <a:effectLst/>
                        <a:latin typeface="+mj-ea"/>
                        <a:ea typeface="+mj-ea"/>
                      </a:endParaRPr>
                    </a:p>
                  </a:txBody>
                  <a:tcPr marL="0" marR="0" marT="0" marB="0" anchor="ctr">
                    <a:lnB w="12700" cap="flat" cmpd="sng" algn="ctr">
                      <a:solidFill>
                        <a:schemeClr val="tx1"/>
                      </a:solidFill>
                      <a:prstDash val="solid"/>
                      <a:round/>
                      <a:headEnd type="none" w="med" len="med"/>
                      <a:tailEnd type="none" w="med" len="med"/>
                    </a:lnB>
                    <a:solidFill>
                      <a:srgbClr val="0070C0"/>
                    </a:solidFill>
                  </a:tcPr>
                </a:tc>
                <a:tc>
                  <a:txBody>
                    <a:bodyPr/>
                    <a:lstStyle/>
                    <a:p>
                      <a:pPr algn="ctr" fontAlgn="ctr"/>
                      <a:r>
                        <a:rPr lang="zh-CN" altLang="en-US" sz="1200" u="none" strike="noStrike" dirty="0">
                          <a:effectLst/>
                          <a:latin typeface="+mj-ea"/>
                          <a:ea typeface="+mj-ea"/>
                        </a:rPr>
                        <a:t>北京</a:t>
                      </a:r>
                      <a:endParaRPr lang="zh-CN" altLang="en-US" sz="1200" b="0" i="0" u="none" strike="noStrike" dirty="0">
                        <a:solidFill>
                          <a:srgbClr val="000000"/>
                        </a:solidFill>
                        <a:effectLst/>
                        <a:latin typeface="+mj-ea"/>
                        <a:ea typeface="+mj-ea"/>
                      </a:endParaRPr>
                    </a:p>
                  </a:txBody>
                  <a:tcPr marL="0" marR="0" marT="0" marB="0" anchor="ctr"/>
                </a:tc>
                <a:tc>
                  <a:txBody>
                    <a:bodyPr/>
                    <a:lstStyle/>
                    <a:p>
                      <a:pPr algn="ctr" fontAlgn="b"/>
                      <a:r>
                        <a:rPr lang="zh-CN" altLang="en-US" sz="1200" u="none" strike="noStrike" dirty="0">
                          <a:effectLst/>
                          <a:latin typeface="+mj-ea"/>
                          <a:ea typeface="+mj-ea"/>
                        </a:rPr>
                        <a:t>明确重启“</a:t>
                      </a:r>
                      <a:r>
                        <a:rPr lang="en-US" altLang="zh-CN" sz="1200" u="none" strike="noStrike" dirty="0">
                          <a:effectLst/>
                          <a:latin typeface="+mj-ea"/>
                          <a:ea typeface="+mj-ea"/>
                        </a:rPr>
                        <a:t>90/70”</a:t>
                      </a:r>
                      <a:r>
                        <a:rPr lang="zh-CN" altLang="en-US" sz="1200" u="none" strike="noStrike" dirty="0">
                          <a:effectLst/>
                          <a:latin typeface="+mj-ea"/>
                          <a:ea typeface="+mj-ea"/>
                        </a:rPr>
                        <a:t>政策；</a:t>
                      </a:r>
                      <a:r>
                        <a:rPr lang="en-US" altLang="zh-CN" sz="1200" u="none" strike="noStrike" dirty="0">
                          <a:effectLst/>
                          <a:latin typeface="+mj-ea"/>
                          <a:ea typeface="+mj-ea"/>
                        </a:rPr>
                        <a:t>2</a:t>
                      </a:r>
                      <a:r>
                        <a:rPr lang="zh-CN" altLang="en-US" sz="1200" u="none" strike="noStrike" dirty="0">
                          <a:effectLst/>
                          <a:latin typeface="+mj-ea"/>
                          <a:ea typeface="+mj-ea"/>
                        </a:rPr>
                        <a:t>套房为非普通自住房首付至少七成</a:t>
                      </a:r>
                      <a:endParaRPr lang="zh-CN" altLang="en-US" sz="1200" b="0" i="0" u="none" strike="noStrike" dirty="0">
                        <a:solidFill>
                          <a:srgbClr val="000000"/>
                        </a:solidFill>
                        <a:effectLst/>
                        <a:latin typeface="+mj-ea"/>
                        <a:ea typeface="+mj-ea"/>
                      </a:endParaRPr>
                    </a:p>
                  </a:txBody>
                  <a:tcPr marL="0" marR="0" marT="0" marB="0" anchor="ctr"/>
                </a:tc>
                <a:extLst>
                  <a:ext uri="{0D108BD9-81ED-4DB2-BD59-A6C34878D82A}">
                    <a16:rowId xmlns:a16="http://schemas.microsoft.com/office/drawing/2014/main" val="10001"/>
                  </a:ext>
                </a:extLst>
              </a:tr>
              <a:tr h="269143">
                <a:tc vMerge="1">
                  <a:txBody>
                    <a:bodyPr/>
                    <a:lstStyle/>
                    <a:p>
                      <a:endParaRPr lang="zh-CN" altLang="en-US"/>
                    </a:p>
                  </a:txBody>
                  <a:tcPr/>
                </a:tc>
                <a:tc>
                  <a:txBody>
                    <a:bodyPr/>
                    <a:lstStyle/>
                    <a:p>
                      <a:pPr algn="ctr" fontAlgn="ctr"/>
                      <a:r>
                        <a:rPr lang="zh-CN" altLang="en-US" sz="1200" u="none" strike="noStrike" dirty="0">
                          <a:effectLst/>
                          <a:latin typeface="+mj-ea"/>
                          <a:ea typeface="+mj-ea"/>
                        </a:rPr>
                        <a:t>深圳</a:t>
                      </a:r>
                      <a:endParaRPr lang="zh-CN" altLang="en-US" sz="1200" b="0" i="0" u="none" strike="noStrike" dirty="0">
                        <a:solidFill>
                          <a:srgbClr val="000000"/>
                        </a:solidFill>
                        <a:effectLst/>
                        <a:latin typeface="+mj-ea"/>
                        <a:ea typeface="+mj-ea"/>
                      </a:endParaRPr>
                    </a:p>
                  </a:txBody>
                  <a:tcPr marL="0" marR="0" marT="0" marB="0" anchor="ctr"/>
                </a:tc>
                <a:tc>
                  <a:txBody>
                    <a:bodyPr/>
                    <a:lstStyle/>
                    <a:p>
                      <a:pPr algn="ctr" fontAlgn="b"/>
                      <a:r>
                        <a:rPr lang="zh-CN" altLang="en-US" sz="1200" u="none" strike="noStrike" dirty="0">
                          <a:effectLst/>
                          <a:latin typeface="+mj-ea"/>
                          <a:ea typeface="+mj-ea"/>
                        </a:rPr>
                        <a:t>明确重启“</a:t>
                      </a:r>
                      <a:r>
                        <a:rPr lang="en-US" altLang="zh-CN" sz="1200" u="none" strike="noStrike" dirty="0">
                          <a:effectLst/>
                          <a:latin typeface="+mj-ea"/>
                          <a:ea typeface="+mj-ea"/>
                        </a:rPr>
                        <a:t>90/70”</a:t>
                      </a:r>
                      <a:r>
                        <a:rPr lang="zh-CN" altLang="en-US" sz="1200" u="none" strike="noStrike" dirty="0">
                          <a:effectLst/>
                          <a:latin typeface="+mj-ea"/>
                          <a:ea typeface="+mj-ea"/>
                        </a:rPr>
                        <a:t>政策；市户籍成年单身人士（含离异）限购</a:t>
                      </a:r>
                      <a:r>
                        <a:rPr lang="en-US" altLang="zh-CN" sz="1200" u="none" strike="noStrike" dirty="0">
                          <a:effectLst/>
                          <a:latin typeface="+mj-ea"/>
                          <a:ea typeface="+mj-ea"/>
                        </a:rPr>
                        <a:t>1</a:t>
                      </a:r>
                      <a:r>
                        <a:rPr lang="zh-CN" altLang="en-US" sz="1200" u="none" strike="noStrike" dirty="0">
                          <a:effectLst/>
                          <a:latin typeface="+mj-ea"/>
                          <a:ea typeface="+mj-ea"/>
                        </a:rPr>
                        <a:t>套住房</a:t>
                      </a:r>
                      <a:endParaRPr lang="zh-CN" altLang="en-US" sz="1200" b="0" i="0" u="none" strike="noStrike" dirty="0">
                        <a:solidFill>
                          <a:srgbClr val="000000"/>
                        </a:solidFill>
                        <a:effectLst/>
                        <a:latin typeface="+mj-ea"/>
                        <a:ea typeface="+mj-ea"/>
                      </a:endParaRPr>
                    </a:p>
                  </a:txBody>
                  <a:tcPr marL="0" marR="0" marT="0" marB="0" anchor="ctr"/>
                </a:tc>
                <a:extLst>
                  <a:ext uri="{0D108BD9-81ED-4DB2-BD59-A6C34878D82A}">
                    <a16:rowId xmlns:a16="http://schemas.microsoft.com/office/drawing/2014/main" val="10002"/>
                  </a:ext>
                </a:extLst>
              </a:tr>
              <a:tr h="269143">
                <a:tc vMerge="1">
                  <a:txBody>
                    <a:bodyPr/>
                    <a:lstStyle/>
                    <a:p>
                      <a:endParaRPr lang="zh-CN" altLang="en-US"/>
                    </a:p>
                  </a:txBody>
                  <a:tcPr/>
                </a:tc>
                <a:tc>
                  <a:txBody>
                    <a:bodyPr/>
                    <a:lstStyle/>
                    <a:p>
                      <a:pPr algn="ctr" fontAlgn="ctr"/>
                      <a:r>
                        <a:rPr lang="zh-CN" altLang="en-US" sz="1200" u="none" strike="noStrike" dirty="0">
                          <a:effectLst/>
                          <a:latin typeface="+mj-ea"/>
                          <a:ea typeface="+mj-ea"/>
                        </a:rPr>
                        <a:t>苏州</a:t>
                      </a:r>
                      <a:endParaRPr lang="zh-CN" altLang="en-US" sz="1200" b="0" i="0" u="none" strike="noStrike" dirty="0">
                        <a:solidFill>
                          <a:srgbClr val="000000"/>
                        </a:solidFill>
                        <a:effectLst/>
                        <a:latin typeface="+mj-ea"/>
                        <a:ea typeface="+mj-ea"/>
                      </a:endParaRPr>
                    </a:p>
                  </a:txBody>
                  <a:tcPr marL="0" marR="0" marT="0" marB="0" anchor="ctr"/>
                </a:tc>
                <a:tc>
                  <a:txBody>
                    <a:bodyPr/>
                    <a:lstStyle/>
                    <a:p>
                      <a:pPr algn="ctr" fontAlgn="b"/>
                      <a:r>
                        <a:rPr lang="zh-CN" altLang="en-US" sz="1200" u="none" strike="noStrike" dirty="0">
                          <a:effectLst/>
                          <a:latin typeface="+mj-ea"/>
                          <a:ea typeface="+mj-ea"/>
                        </a:rPr>
                        <a:t>户籍居民有三套房者，不得再买房；房企价格过高将被约谈</a:t>
                      </a:r>
                      <a:endParaRPr lang="zh-CN" altLang="en-US" sz="1200" b="0" i="0" u="none" strike="noStrike" dirty="0">
                        <a:solidFill>
                          <a:srgbClr val="000000"/>
                        </a:solidFill>
                        <a:effectLst/>
                        <a:latin typeface="+mj-ea"/>
                        <a:ea typeface="+mj-ea"/>
                      </a:endParaRPr>
                    </a:p>
                  </a:txBody>
                  <a:tcPr marL="0" marR="0" marT="0" marB="0" anchor="ctr"/>
                </a:tc>
                <a:extLst>
                  <a:ext uri="{0D108BD9-81ED-4DB2-BD59-A6C34878D82A}">
                    <a16:rowId xmlns:a16="http://schemas.microsoft.com/office/drawing/2014/main" val="10003"/>
                  </a:ext>
                </a:extLst>
              </a:tr>
              <a:tr h="269143">
                <a:tc vMerge="1">
                  <a:txBody>
                    <a:bodyPr/>
                    <a:lstStyle/>
                    <a:p>
                      <a:endParaRPr lang="zh-CN" altLang="en-US"/>
                    </a:p>
                  </a:txBody>
                  <a:tcPr/>
                </a:tc>
                <a:tc>
                  <a:txBody>
                    <a:bodyPr/>
                    <a:lstStyle/>
                    <a:p>
                      <a:pPr algn="ctr" fontAlgn="ctr"/>
                      <a:r>
                        <a:rPr lang="zh-CN" altLang="en-US" sz="1200" u="none" strike="noStrike" dirty="0">
                          <a:effectLst/>
                          <a:latin typeface="+mj-ea"/>
                          <a:ea typeface="+mj-ea"/>
                        </a:rPr>
                        <a:t>南京</a:t>
                      </a:r>
                      <a:endParaRPr lang="zh-CN" altLang="en-US" sz="1200" b="0" i="0" u="none" strike="noStrike" dirty="0">
                        <a:solidFill>
                          <a:srgbClr val="000000"/>
                        </a:solidFill>
                        <a:effectLst/>
                        <a:latin typeface="+mj-ea"/>
                        <a:ea typeface="+mj-ea"/>
                      </a:endParaRPr>
                    </a:p>
                  </a:txBody>
                  <a:tcPr marL="0" marR="0" marT="0" marB="0" anchor="ctr"/>
                </a:tc>
                <a:tc>
                  <a:txBody>
                    <a:bodyPr/>
                    <a:lstStyle/>
                    <a:p>
                      <a:pPr algn="ctr" fontAlgn="b"/>
                      <a:r>
                        <a:rPr lang="zh-CN" altLang="en-US" sz="1200" u="none" strike="noStrike" dirty="0">
                          <a:effectLst/>
                          <a:latin typeface="+mj-ea"/>
                          <a:ea typeface="+mj-ea"/>
                        </a:rPr>
                        <a:t>市户籍成年单身人士（含离异）限购</a:t>
                      </a:r>
                      <a:r>
                        <a:rPr lang="en-US" altLang="zh-CN" sz="1200" u="none" strike="noStrike" dirty="0">
                          <a:effectLst/>
                          <a:latin typeface="+mj-ea"/>
                          <a:ea typeface="+mj-ea"/>
                        </a:rPr>
                        <a:t>1</a:t>
                      </a:r>
                      <a:r>
                        <a:rPr lang="zh-CN" altLang="en-US" sz="1200" u="none" strike="noStrike" dirty="0">
                          <a:effectLst/>
                          <a:latin typeface="+mj-ea"/>
                          <a:ea typeface="+mj-ea"/>
                        </a:rPr>
                        <a:t>套住房；</a:t>
                      </a:r>
                      <a:r>
                        <a:rPr lang="en-US" altLang="zh-CN" sz="1200" u="none" strike="noStrike" dirty="0">
                          <a:effectLst/>
                          <a:latin typeface="+mj-ea"/>
                          <a:ea typeface="+mj-ea"/>
                        </a:rPr>
                        <a:t>2</a:t>
                      </a:r>
                      <a:r>
                        <a:rPr lang="zh-CN" altLang="en-US" sz="1200" u="none" strike="noStrike" dirty="0">
                          <a:effectLst/>
                          <a:latin typeface="+mj-ea"/>
                          <a:ea typeface="+mj-ea"/>
                        </a:rPr>
                        <a:t>套房首付提至</a:t>
                      </a:r>
                      <a:r>
                        <a:rPr lang="en-US" altLang="zh-CN" sz="1200" u="none" strike="noStrike" dirty="0">
                          <a:effectLst/>
                          <a:latin typeface="+mj-ea"/>
                          <a:ea typeface="+mj-ea"/>
                        </a:rPr>
                        <a:t>8</a:t>
                      </a:r>
                      <a:r>
                        <a:rPr lang="zh-CN" altLang="en-US" sz="1200" u="none" strike="noStrike" dirty="0">
                          <a:effectLst/>
                          <a:latin typeface="+mj-ea"/>
                          <a:ea typeface="+mj-ea"/>
                        </a:rPr>
                        <a:t>成</a:t>
                      </a:r>
                      <a:endParaRPr lang="zh-CN" altLang="en-US" sz="1200" b="0" i="0" u="none" strike="noStrike" dirty="0">
                        <a:solidFill>
                          <a:srgbClr val="000000"/>
                        </a:solidFill>
                        <a:effectLst/>
                        <a:latin typeface="+mj-ea"/>
                        <a:ea typeface="+mj-ea"/>
                      </a:endParaRPr>
                    </a:p>
                  </a:txBody>
                  <a:tcPr marL="0" marR="0" marT="0" marB="0" anchor="ctr"/>
                </a:tc>
                <a:extLst>
                  <a:ext uri="{0D108BD9-81ED-4DB2-BD59-A6C34878D82A}">
                    <a16:rowId xmlns:a16="http://schemas.microsoft.com/office/drawing/2014/main" val="10004"/>
                  </a:ext>
                </a:extLst>
              </a:tr>
              <a:tr h="269143">
                <a:tc vMerge="1">
                  <a:txBody>
                    <a:bodyPr/>
                    <a:lstStyle/>
                    <a:p>
                      <a:endParaRPr lang="zh-CN" altLang="en-US"/>
                    </a:p>
                  </a:txBody>
                  <a:tcPr/>
                </a:tc>
                <a:tc>
                  <a:txBody>
                    <a:bodyPr/>
                    <a:lstStyle/>
                    <a:p>
                      <a:pPr algn="ctr" fontAlgn="ctr"/>
                      <a:r>
                        <a:rPr lang="zh-CN" altLang="en-US" sz="1200" u="none" strike="noStrike" dirty="0">
                          <a:effectLst/>
                          <a:latin typeface="+mj-ea"/>
                          <a:ea typeface="+mj-ea"/>
                        </a:rPr>
                        <a:t>厦门</a:t>
                      </a:r>
                      <a:endParaRPr lang="zh-CN" altLang="en-US" sz="1200" b="0" i="0" u="none" strike="noStrike" dirty="0">
                        <a:solidFill>
                          <a:srgbClr val="000000"/>
                        </a:solidFill>
                        <a:effectLst/>
                        <a:latin typeface="+mj-ea"/>
                        <a:ea typeface="+mj-ea"/>
                      </a:endParaRPr>
                    </a:p>
                  </a:txBody>
                  <a:tcPr marL="0" marR="0" marT="0" marB="0" anchor="ctr"/>
                </a:tc>
                <a:tc>
                  <a:txBody>
                    <a:bodyPr/>
                    <a:lstStyle/>
                    <a:p>
                      <a:pPr algn="ctr" fontAlgn="b"/>
                      <a:r>
                        <a:rPr lang="zh-CN" altLang="en-US" sz="1200" u="none" strike="noStrike" dirty="0">
                          <a:effectLst/>
                          <a:latin typeface="+mj-ea"/>
                          <a:ea typeface="+mj-ea"/>
                        </a:rPr>
                        <a:t>限购面积从</a:t>
                      </a:r>
                      <a:r>
                        <a:rPr lang="en-US" altLang="zh-CN" sz="1200" u="none" strike="noStrike" dirty="0">
                          <a:effectLst/>
                          <a:latin typeface="+mj-ea"/>
                          <a:ea typeface="+mj-ea"/>
                        </a:rPr>
                        <a:t>144</a:t>
                      </a:r>
                      <a:r>
                        <a:rPr lang="zh-CN" altLang="en-US" sz="1200" u="none" strike="noStrike" dirty="0">
                          <a:effectLst/>
                          <a:latin typeface="+mj-ea"/>
                          <a:ea typeface="+mj-ea"/>
                        </a:rPr>
                        <a:t>提高到</a:t>
                      </a:r>
                      <a:r>
                        <a:rPr lang="en-US" altLang="zh-CN" sz="1200" u="none" strike="noStrike" dirty="0">
                          <a:effectLst/>
                          <a:latin typeface="+mj-ea"/>
                          <a:ea typeface="+mj-ea"/>
                        </a:rPr>
                        <a:t>180</a:t>
                      </a:r>
                      <a:r>
                        <a:rPr lang="zh-CN" altLang="en-US" sz="1200" u="none" strike="noStrike" dirty="0">
                          <a:effectLst/>
                          <a:latin typeface="+mj-ea"/>
                          <a:ea typeface="+mj-ea"/>
                        </a:rPr>
                        <a:t>平，外地户籍购房门槛提高</a:t>
                      </a:r>
                      <a:endParaRPr lang="zh-CN" altLang="en-US" sz="1200" b="0" i="0" u="none" strike="noStrike" dirty="0">
                        <a:solidFill>
                          <a:srgbClr val="000000"/>
                        </a:solidFill>
                        <a:effectLst/>
                        <a:latin typeface="+mj-ea"/>
                        <a:ea typeface="+mj-ea"/>
                      </a:endParaRPr>
                    </a:p>
                  </a:txBody>
                  <a:tcPr marL="0" marR="0" marT="0" marB="0" anchor="ctr"/>
                </a:tc>
                <a:extLst>
                  <a:ext uri="{0D108BD9-81ED-4DB2-BD59-A6C34878D82A}">
                    <a16:rowId xmlns:a16="http://schemas.microsoft.com/office/drawing/2014/main" val="10005"/>
                  </a:ext>
                </a:extLst>
              </a:tr>
              <a:tr h="269143">
                <a:tc vMerge="1">
                  <a:txBody>
                    <a:bodyPr/>
                    <a:lstStyle/>
                    <a:p>
                      <a:endParaRPr lang="zh-CN" altLang="en-US"/>
                    </a:p>
                  </a:txBody>
                  <a:tcPr/>
                </a:tc>
                <a:tc>
                  <a:txBody>
                    <a:bodyPr/>
                    <a:lstStyle/>
                    <a:p>
                      <a:pPr algn="ctr" fontAlgn="ctr"/>
                      <a:r>
                        <a:rPr lang="zh-CN" altLang="en-US" sz="1200" u="none" strike="noStrike" dirty="0">
                          <a:effectLst/>
                          <a:latin typeface="+mj-ea"/>
                          <a:ea typeface="+mj-ea"/>
                        </a:rPr>
                        <a:t>合肥</a:t>
                      </a:r>
                      <a:endParaRPr lang="zh-CN" altLang="en-US" sz="1200" b="0" i="0" u="none" strike="noStrike" dirty="0">
                        <a:solidFill>
                          <a:srgbClr val="000000"/>
                        </a:solidFill>
                        <a:effectLst/>
                        <a:latin typeface="+mj-ea"/>
                        <a:ea typeface="+mj-ea"/>
                      </a:endParaRPr>
                    </a:p>
                  </a:txBody>
                  <a:tcPr marL="0" marR="0" marT="0" marB="0" anchor="ctr"/>
                </a:tc>
                <a:tc>
                  <a:txBody>
                    <a:bodyPr/>
                    <a:lstStyle/>
                    <a:p>
                      <a:pPr algn="ctr" fontAlgn="b"/>
                      <a:r>
                        <a:rPr lang="zh-CN" altLang="en-US" sz="1200" u="none" strike="noStrike" dirty="0">
                          <a:effectLst/>
                          <a:latin typeface="+mj-ea"/>
                          <a:ea typeface="+mj-ea"/>
                        </a:rPr>
                        <a:t>在市区范围内，第三套禁购，首套房首付比例调整为</a:t>
                      </a:r>
                      <a:r>
                        <a:rPr lang="en-US" altLang="zh-CN" sz="1200" u="none" strike="noStrike" dirty="0">
                          <a:effectLst/>
                          <a:latin typeface="+mj-ea"/>
                          <a:ea typeface="+mj-ea"/>
                        </a:rPr>
                        <a:t>30%</a:t>
                      </a:r>
                      <a:endParaRPr lang="en-US" altLang="zh-CN" sz="1200" b="0" i="0" u="none" strike="noStrike" dirty="0">
                        <a:solidFill>
                          <a:srgbClr val="000000"/>
                        </a:solidFill>
                        <a:effectLst/>
                        <a:latin typeface="+mj-ea"/>
                        <a:ea typeface="+mj-ea"/>
                      </a:endParaRPr>
                    </a:p>
                  </a:txBody>
                  <a:tcPr marL="0" marR="0" marT="0" marB="0" anchor="ctr"/>
                </a:tc>
                <a:extLst>
                  <a:ext uri="{0D108BD9-81ED-4DB2-BD59-A6C34878D82A}">
                    <a16:rowId xmlns:a16="http://schemas.microsoft.com/office/drawing/2014/main" val="10006"/>
                  </a:ext>
                </a:extLst>
              </a:tr>
              <a:tr h="269143">
                <a:tc vMerge="1">
                  <a:txBody>
                    <a:bodyPr/>
                    <a:lstStyle/>
                    <a:p>
                      <a:endParaRPr lang="zh-CN" altLang="en-US"/>
                    </a:p>
                  </a:txBody>
                  <a:tcPr/>
                </a:tc>
                <a:tc>
                  <a:txBody>
                    <a:bodyPr/>
                    <a:lstStyle/>
                    <a:p>
                      <a:pPr algn="ctr" fontAlgn="ctr"/>
                      <a:r>
                        <a:rPr lang="zh-CN" altLang="en-US" sz="1200" u="none" strike="noStrike" dirty="0">
                          <a:effectLst/>
                          <a:latin typeface="+mj-ea"/>
                          <a:ea typeface="+mj-ea"/>
                        </a:rPr>
                        <a:t>广州</a:t>
                      </a:r>
                      <a:endParaRPr lang="zh-CN" altLang="en-US" sz="1200" b="0" i="0" u="none" strike="noStrike" dirty="0">
                        <a:solidFill>
                          <a:srgbClr val="000000"/>
                        </a:solidFill>
                        <a:effectLst/>
                        <a:latin typeface="+mj-ea"/>
                        <a:ea typeface="+mj-ea"/>
                      </a:endParaRPr>
                    </a:p>
                  </a:txBody>
                  <a:tcPr marL="0" marR="0" marT="0" marB="0" anchor="ctr"/>
                </a:tc>
                <a:tc>
                  <a:txBody>
                    <a:bodyPr/>
                    <a:lstStyle/>
                    <a:p>
                      <a:pPr algn="ctr" fontAlgn="b"/>
                      <a:r>
                        <a:rPr lang="en-US" altLang="zh-CN" sz="1200" u="none" strike="noStrike" dirty="0">
                          <a:effectLst/>
                          <a:latin typeface="+mj-ea"/>
                          <a:ea typeface="+mj-ea"/>
                        </a:rPr>
                        <a:t>2</a:t>
                      </a:r>
                      <a:r>
                        <a:rPr lang="zh-CN" altLang="en-US" sz="1200" u="none" strike="noStrike" dirty="0">
                          <a:effectLst/>
                          <a:latin typeface="+mj-ea"/>
                          <a:ea typeface="+mj-ea"/>
                        </a:rPr>
                        <a:t>套房首付不低于</a:t>
                      </a:r>
                      <a:r>
                        <a:rPr lang="en-US" altLang="zh-CN" sz="1200" u="none" strike="noStrike" dirty="0">
                          <a:effectLst/>
                          <a:latin typeface="+mj-ea"/>
                          <a:ea typeface="+mj-ea"/>
                        </a:rPr>
                        <a:t>70%</a:t>
                      </a:r>
                      <a:r>
                        <a:rPr lang="zh-CN" altLang="en-US" sz="1200" u="none" strike="noStrike" dirty="0">
                          <a:effectLst/>
                          <a:latin typeface="+mj-ea"/>
                          <a:ea typeface="+mj-ea"/>
                        </a:rPr>
                        <a:t>，继续暂停发放家庭购买第三套及以上住房贷款</a:t>
                      </a:r>
                      <a:endParaRPr lang="zh-CN" altLang="en-US" sz="1200" b="0" i="0" u="none" strike="noStrike" dirty="0">
                        <a:solidFill>
                          <a:srgbClr val="000000"/>
                        </a:solidFill>
                        <a:effectLst/>
                        <a:latin typeface="+mj-ea"/>
                        <a:ea typeface="+mj-ea"/>
                      </a:endParaRPr>
                    </a:p>
                  </a:txBody>
                  <a:tcPr marL="0" marR="0" marT="0" marB="0" anchor="ctr"/>
                </a:tc>
                <a:extLst>
                  <a:ext uri="{0D108BD9-81ED-4DB2-BD59-A6C34878D82A}">
                    <a16:rowId xmlns:a16="http://schemas.microsoft.com/office/drawing/2014/main" val="10007"/>
                  </a:ext>
                </a:extLst>
              </a:tr>
              <a:tr h="269143">
                <a:tc vMerge="1">
                  <a:txBody>
                    <a:bodyPr/>
                    <a:lstStyle/>
                    <a:p>
                      <a:endParaRPr lang="zh-CN" altLang="en-US"/>
                    </a:p>
                  </a:txBody>
                  <a:tcPr/>
                </a:tc>
                <a:tc>
                  <a:txBody>
                    <a:bodyPr/>
                    <a:lstStyle/>
                    <a:p>
                      <a:pPr algn="ctr" fontAlgn="ctr"/>
                      <a:r>
                        <a:rPr lang="zh-CN" altLang="en-US" sz="1200" u="none" strike="noStrike" dirty="0">
                          <a:effectLst/>
                          <a:latin typeface="+mj-ea"/>
                          <a:ea typeface="+mj-ea"/>
                        </a:rPr>
                        <a:t>郑州</a:t>
                      </a:r>
                      <a:endParaRPr lang="zh-CN" altLang="en-US" sz="1200" b="0" i="0" u="none" strike="noStrike" dirty="0">
                        <a:solidFill>
                          <a:srgbClr val="000000"/>
                        </a:solidFill>
                        <a:effectLst/>
                        <a:latin typeface="+mj-ea"/>
                        <a:ea typeface="+mj-ea"/>
                      </a:endParaRPr>
                    </a:p>
                  </a:txBody>
                  <a:tcPr marL="0" marR="0" marT="0" marB="0" anchor="ctr"/>
                </a:tc>
                <a:tc>
                  <a:txBody>
                    <a:bodyPr/>
                    <a:lstStyle/>
                    <a:p>
                      <a:pPr algn="ctr" fontAlgn="b"/>
                      <a:r>
                        <a:rPr lang="zh-CN" altLang="en-US" sz="1200" u="none" strike="noStrike" dirty="0">
                          <a:effectLst/>
                          <a:latin typeface="+mj-ea"/>
                          <a:ea typeface="+mj-ea"/>
                        </a:rPr>
                        <a:t>拥有两套房者限购</a:t>
                      </a:r>
                      <a:r>
                        <a:rPr lang="en-US" altLang="zh-CN" sz="1200" u="none" strike="noStrike" dirty="0">
                          <a:effectLst/>
                          <a:latin typeface="+mj-ea"/>
                          <a:ea typeface="+mj-ea"/>
                        </a:rPr>
                        <a:t>180</a:t>
                      </a:r>
                      <a:r>
                        <a:rPr lang="zh-CN" altLang="en-US" sz="1200" u="none" strike="noStrike" dirty="0">
                          <a:effectLst/>
                          <a:latin typeface="+mj-ea"/>
                          <a:ea typeface="+mj-ea"/>
                        </a:rPr>
                        <a:t>平米以下住房，二套房首付</a:t>
                      </a:r>
                      <a:r>
                        <a:rPr lang="en-US" altLang="zh-CN" sz="1200" u="none" strike="noStrike" dirty="0">
                          <a:effectLst/>
                          <a:latin typeface="+mj-ea"/>
                          <a:ea typeface="+mj-ea"/>
                        </a:rPr>
                        <a:t>40%</a:t>
                      </a:r>
                      <a:r>
                        <a:rPr lang="zh-CN" altLang="en-US" sz="1200" u="none" strike="noStrike" dirty="0">
                          <a:effectLst/>
                          <a:latin typeface="+mj-ea"/>
                          <a:ea typeface="+mj-ea"/>
                        </a:rPr>
                        <a:t>，首套房首付</a:t>
                      </a:r>
                      <a:r>
                        <a:rPr lang="en-US" altLang="zh-CN" sz="1200" u="none" strike="noStrike" dirty="0">
                          <a:effectLst/>
                          <a:latin typeface="+mj-ea"/>
                          <a:ea typeface="+mj-ea"/>
                        </a:rPr>
                        <a:t>30%</a:t>
                      </a:r>
                      <a:endParaRPr lang="en-US" altLang="zh-CN" sz="1200" b="0" i="0" u="none" strike="noStrike" dirty="0">
                        <a:solidFill>
                          <a:srgbClr val="000000"/>
                        </a:solidFill>
                        <a:effectLst/>
                        <a:latin typeface="+mj-ea"/>
                        <a:ea typeface="+mj-ea"/>
                      </a:endParaRPr>
                    </a:p>
                  </a:txBody>
                  <a:tcPr marL="0" marR="0" marT="0" marB="0" anchor="ctr"/>
                </a:tc>
                <a:extLst>
                  <a:ext uri="{0D108BD9-81ED-4DB2-BD59-A6C34878D82A}">
                    <a16:rowId xmlns:a16="http://schemas.microsoft.com/office/drawing/2014/main" val="10008"/>
                  </a:ext>
                </a:extLst>
              </a:tr>
              <a:tr h="269143">
                <a:tc vMerge="1">
                  <a:txBody>
                    <a:bodyPr/>
                    <a:lstStyle/>
                    <a:p>
                      <a:endParaRPr lang="zh-CN" altLang="en-US"/>
                    </a:p>
                  </a:txBody>
                  <a:tcPr/>
                </a:tc>
                <a:tc>
                  <a:txBody>
                    <a:bodyPr/>
                    <a:lstStyle/>
                    <a:p>
                      <a:pPr algn="ctr" fontAlgn="ctr"/>
                      <a:r>
                        <a:rPr lang="zh-CN" altLang="en-US" sz="1200" u="none" strike="noStrike" dirty="0">
                          <a:effectLst/>
                          <a:latin typeface="+mj-ea"/>
                          <a:ea typeface="+mj-ea"/>
                        </a:rPr>
                        <a:t>珠海</a:t>
                      </a:r>
                      <a:endParaRPr lang="zh-CN" altLang="en-US" sz="1200" b="0" i="0" u="none" strike="noStrike" dirty="0">
                        <a:solidFill>
                          <a:srgbClr val="000000"/>
                        </a:solidFill>
                        <a:effectLst/>
                        <a:latin typeface="+mj-ea"/>
                        <a:ea typeface="+mj-ea"/>
                      </a:endParaRPr>
                    </a:p>
                  </a:txBody>
                  <a:tcPr marL="0" marR="0" marT="0" marB="0" anchor="ctr"/>
                </a:tc>
                <a:tc>
                  <a:txBody>
                    <a:bodyPr/>
                    <a:lstStyle/>
                    <a:p>
                      <a:pPr algn="ctr" fontAlgn="b"/>
                      <a:r>
                        <a:rPr lang="zh-CN" altLang="en-US" sz="1200" u="none" strike="noStrike" dirty="0">
                          <a:effectLst/>
                          <a:latin typeface="+mj-ea"/>
                          <a:ea typeface="+mj-ea"/>
                        </a:rPr>
                        <a:t>本地限购</a:t>
                      </a:r>
                      <a:r>
                        <a:rPr lang="en-US" altLang="zh-CN" sz="1200" u="none" strike="noStrike" dirty="0">
                          <a:effectLst/>
                          <a:latin typeface="+mj-ea"/>
                          <a:ea typeface="+mj-ea"/>
                        </a:rPr>
                        <a:t>3</a:t>
                      </a:r>
                      <a:r>
                        <a:rPr lang="zh-CN" altLang="en-US" sz="1200" u="none" strike="noStrike" dirty="0">
                          <a:effectLst/>
                          <a:latin typeface="+mj-ea"/>
                          <a:ea typeface="+mj-ea"/>
                        </a:rPr>
                        <a:t>套外地限购</a:t>
                      </a:r>
                      <a:r>
                        <a:rPr lang="en-US" altLang="zh-CN" sz="1200" u="none" strike="noStrike" dirty="0">
                          <a:effectLst/>
                          <a:latin typeface="+mj-ea"/>
                          <a:ea typeface="+mj-ea"/>
                        </a:rPr>
                        <a:t>1</a:t>
                      </a:r>
                      <a:r>
                        <a:rPr lang="zh-CN" altLang="en-US" sz="1200" u="none" strike="noStrike" dirty="0">
                          <a:effectLst/>
                          <a:latin typeface="+mj-ea"/>
                          <a:ea typeface="+mj-ea"/>
                        </a:rPr>
                        <a:t>套</a:t>
                      </a:r>
                      <a:r>
                        <a:rPr lang="en-US" altLang="zh-CN" sz="1200" u="none" strike="noStrike" dirty="0">
                          <a:effectLst/>
                          <a:latin typeface="+mj-ea"/>
                          <a:ea typeface="+mj-ea"/>
                        </a:rPr>
                        <a:t>144</a:t>
                      </a:r>
                      <a:r>
                        <a:rPr lang="zh-CN" altLang="en-US" sz="1200" u="none" strike="noStrike" dirty="0">
                          <a:effectLst/>
                          <a:latin typeface="+mj-ea"/>
                          <a:ea typeface="+mj-ea"/>
                        </a:rPr>
                        <a:t>平方米及以下住房，而二套房首付不低于</a:t>
                      </a:r>
                      <a:r>
                        <a:rPr lang="en-US" altLang="zh-CN" sz="1200" u="none" strike="noStrike" dirty="0">
                          <a:effectLst/>
                          <a:latin typeface="+mj-ea"/>
                          <a:ea typeface="+mj-ea"/>
                        </a:rPr>
                        <a:t>40%</a:t>
                      </a:r>
                      <a:endParaRPr lang="en-US" altLang="zh-CN" sz="1200" b="0" i="0" u="none" strike="noStrike" dirty="0">
                        <a:solidFill>
                          <a:srgbClr val="000000"/>
                        </a:solidFill>
                        <a:effectLst/>
                        <a:latin typeface="+mj-ea"/>
                        <a:ea typeface="+mj-ea"/>
                      </a:endParaRPr>
                    </a:p>
                  </a:txBody>
                  <a:tcPr marL="0" marR="0" marT="0" marB="0" anchor="ctr"/>
                </a:tc>
                <a:extLst>
                  <a:ext uri="{0D108BD9-81ED-4DB2-BD59-A6C34878D82A}">
                    <a16:rowId xmlns:a16="http://schemas.microsoft.com/office/drawing/2014/main" val="10009"/>
                  </a:ext>
                </a:extLst>
              </a:tr>
              <a:tr h="269143">
                <a:tc vMerge="1">
                  <a:txBody>
                    <a:bodyPr/>
                    <a:lstStyle/>
                    <a:p>
                      <a:endParaRPr lang="zh-CN" altLang="en-US"/>
                    </a:p>
                  </a:txBody>
                  <a:tcPr/>
                </a:tc>
                <a:tc>
                  <a:txBody>
                    <a:bodyPr/>
                    <a:lstStyle/>
                    <a:p>
                      <a:pPr algn="ctr" fontAlgn="ctr"/>
                      <a:r>
                        <a:rPr lang="zh-CN" altLang="en-US" sz="1200" u="none" strike="noStrike" dirty="0">
                          <a:effectLst/>
                          <a:latin typeface="+mj-ea"/>
                          <a:ea typeface="+mj-ea"/>
                        </a:rPr>
                        <a:t>济南</a:t>
                      </a:r>
                      <a:endParaRPr lang="zh-CN" altLang="en-US" sz="1200" b="0" i="0" u="none" strike="noStrike" dirty="0">
                        <a:solidFill>
                          <a:srgbClr val="000000"/>
                        </a:solidFill>
                        <a:effectLst/>
                        <a:latin typeface="+mj-ea"/>
                        <a:ea typeface="+mj-ea"/>
                      </a:endParaRPr>
                    </a:p>
                  </a:txBody>
                  <a:tcPr marL="0" marR="0" marT="0" marB="0" anchor="ctr"/>
                </a:tc>
                <a:tc>
                  <a:txBody>
                    <a:bodyPr/>
                    <a:lstStyle/>
                    <a:p>
                      <a:pPr algn="ctr" fontAlgn="b"/>
                      <a:r>
                        <a:rPr lang="zh-CN" altLang="en-US" sz="1200" u="none" strike="noStrike" dirty="0">
                          <a:effectLst/>
                          <a:latin typeface="+mj-ea"/>
                          <a:ea typeface="+mj-ea"/>
                        </a:rPr>
                        <a:t>购买首套和二套住房的首付款提至</a:t>
                      </a:r>
                      <a:r>
                        <a:rPr lang="en-US" altLang="zh-CN" sz="1200" u="none" strike="noStrike" dirty="0">
                          <a:effectLst/>
                          <a:latin typeface="+mj-ea"/>
                          <a:ea typeface="+mj-ea"/>
                        </a:rPr>
                        <a:t>30%</a:t>
                      </a:r>
                      <a:r>
                        <a:rPr lang="zh-CN" altLang="en-US" sz="1200" u="none" strike="noStrike" dirty="0">
                          <a:effectLst/>
                          <a:latin typeface="+mj-ea"/>
                          <a:ea typeface="+mj-ea"/>
                        </a:rPr>
                        <a:t>、</a:t>
                      </a:r>
                      <a:r>
                        <a:rPr lang="en-US" altLang="zh-CN" sz="1200" u="none" strike="noStrike" dirty="0">
                          <a:effectLst/>
                          <a:latin typeface="+mj-ea"/>
                          <a:ea typeface="+mj-ea"/>
                        </a:rPr>
                        <a:t>40%</a:t>
                      </a:r>
                      <a:r>
                        <a:rPr lang="zh-CN" altLang="en-US" sz="1200" u="none" strike="noStrike" dirty="0">
                          <a:effectLst/>
                          <a:latin typeface="+mj-ea"/>
                          <a:ea typeface="+mj-ea"/>
                        </a:rPr>
                        <a:t>，已有三套住房的暂不得再购房</a:t>
                      </a:r>
                      <a:endParaRPr lang="zh-CN" altLang="en-US" sz="1200" b="0" i="0" u="none" strike="noStrike" dirty="0">
                        <a:solidFill>
                          <a:srgbClr val="000000"/>
                        </a:solidFill>
                        <a:effectLst/>
                        <a:latin typeface="+mj-ea"/>
                        <a:ea typeface="+mj-ea"/>
                      </a:endParaRPr>
                    </a:p>
                  </a:txBody>
                  <a:tcPr marL="0" marR="0" marT="0" marB="0" anchor="ctr"/>
                </a:tc>
                <a:extLst>
                  <a:ext uri="{0D108BD9-81ED-4DB2-BD59-A6C34878D82A}">
                    <a16:rowId xmlns:a16="http://schemas.microsoft.com/office/drawing/2014/main" val="10010"/>
                  </a:ext>
                </a:extLst>
              </a:tr>
              <a:tr h="269143">
                <a:tc vMerge="1">
                  <a:txBody>
                    <a:bodyPr/>
                    <a:lstStyle/>
                    <a:p>
                      <a:endParaRPr lang="zh-CN" altLang="en-US"/>
                    </a:p>
                  </a:txBody>
                  <a:tcPr/>
                </a:tc>
                <a:tc>
                  <a:txBody>
                    <a:bodyPr/>
                    <a:lstStyle/>
                    <a:p>
                      <a:pPr algn="ctr" fontAlgn="ctr"/>
                      <a:r>
                        <a:rPr lang="zh-CN" altLang="en-US" sz="1200" u="none" strike="noStrike" dirty="0">
                          <a:effectLst/>
                          <a:latin typeface="+mj-ea"/>
                          <a:ea typeface="+mj-ea"/>
                        </a:rPr>
                        <a:t>福州</a:t>
                      </a:r>
                      <a:endParaRPr lang="zh-CN" altLang="en-US" sz="1200" b="0" i="0" u="none" strike="noStrike" dirty="0">
                        <a:solidFill>
                          <a:srgbClr val="000000"/>
                        </a:solidFill>
                        <a:effectLst/>
                        <a:latin typeface="+mj-ea"/>
                        <a:ea typeface="+mj-ea"/>
                      </a:endParaRPr>
                    </a:p>
                  </a:txBody>
                  <a:tcPr marL="0" marR="0" marT="0" marB="0" anchor="ctr"/>
                </a:tc>
                <a:tc>
                  <a:txBody>
                    <a:bodyPr/>
                    <a:lstStyle/>
                    <a:p>
                      <a:pPr algn="ctr" fontAlgn="b"/>
                      <a:r>
                        <a:rPr lang="en-US" altLang="zh-CN" sz="1200" u="none" strike="noStrike" dirty="0">
                          <a:effectLst/>
                          <a:latin typeface="+mj-ea"/>
                          <a:ea typeface="+mj-ea"/>
                        </a:rPr>
                        <a:t>1</a:t>
                      </a:r>
                      <a:r>
                        <a:rPr lang="zh-CN" altLang="en-US" sz="1200" u="none" strike="noStrike" dirty="0">
                          <a:effectLst/>
                          <a:latin typeface="+mj-ea"/>
                          <a:ea typeface="+mj-ea"/>
                        </a:rPr>
                        <a:t>套房首付比例不低于</a:t>
                      </a:r>
                      <a:r>
                        <a:rPr lang="en-US" altLang="zh-CN" sz="1200" u="none" strike="noStrike" dirty="0">
                          <a:effectLst/>
                          <a:latin typeface="+mj-ea"/>
                          <a:ea typeface="+mj-ea"/>
                        </a:rPr>
                        <a:t>30%</a:t>
                      </a:r>
                      <a:r>
                        <a:rPr lang="zh-CN" altLang="en-US" sz="1200" u="none" strike="noStrike" dirty="0">
                          <a:effectLst/>
                          <a:latin typeface="+mj-ea"/>
                          <a:ea typeface="+mj-ea"/>
                        </a:rPr>
                        <a:t>，</a:t>
                      </a:r>
                      <a:r>
                        <a:rPr lang="en-US" altLang="zh-CN" sz="1200" u="none" strike="noStrike" dirty="0">
                          <a:effectLst/>
                          <a:latin typeface="+mj-ea"/>
                          <a:ea typeface="+mj-ea"/>
                        </a:rPr>
                        <a:t>2</a:t>
                      </a:r>
                      <a:r>
                        <a:rPr lang="zh-CN" altLang="en-US" sz="1200" u="none" strike="noStrike" dirty="0">
                          <a:effectLst/>
                          <a:latin typeface="+mj-ea"/>
                          <a:ea typeface="+mj-ea"/>
                        </a:rPr>
                        <a:t>套房首付比例不低于</a:t>
                      </a:r>
                      <a:r>
                        <a:rPr lang="en-US" altLang="zh-CN" sz="1200" u="none" strike="noStrike" dirty="0">
                          <a:effectLst/>
                          <a:latin typeface="+mj-ea"/>
                          <a:ea typeface="+mj-ea"/>
                        </a:rPr>
                        <a:t>40%</a:t>
                      </a:r>
                      <a:r>
                        <a:rPr lang="zh-CN" altLang="en-US" sz="1200" u="none" strike="noStrike" dirty="0">
                          <a:effectLst/>
                          <a:latin typeface="+mj-ea"/>
                          <a:ea typeface="+mj-ea"/>
                        </a:rPr>
                        <a:t>，三种类型居民家庭购房将受限制</a:t>
                      </a:r>
                      <a:endParaRPr lang="zh-CN" altLang="en-US" sz="1200" b="0" i="0" u="none" strike="noStrike" dirty="0">
                        <a:solidFill>
                          <a:srgbClr val="000000"/>
                        </a:solidFill>
                        <a:effectLst/>
                        <a:latin typeface="+mj-ea"/>
                        <a:ea typeface="+mj-ea"/>
                      </a:endParaRPr>
                    </a:p>
                  </a:txBody>
                  <a:tcPr marL="0" marR="0" marT="0" marB="0" anchor="ctr"/>
                </a:tc>
                <a:extLst>
                  <a:ext uri="{0D108BD9-81ED-4DB2-BD59-A6C34878D82A}">
                    <a16:rowId xmlns:a16="http://schemas.microsoft.com/office/drawing/2014/main" val="10011"/>
                  </a:ext>
                </a:extLst>
              </a:tr>
              <a:tr h="269143">
                <a:tc vMerge="1">
                  <a:txBody>
                    <a:bodyPr/>
                    <a:lstStyle/>
                    <a:p>
                      <a:endParaRPr lang="zh-CN" altLang="en-US"/>
                    </a:p>
                  </a:txBody>
                  <a:tcPr/>
                </a:tc>
                <a:tc>
                  <a:txBody>
                    <a:bodyPr/>
                    <a:lstStyle/>
                    <a:p>
                      <a:pPr algn="ctr" fontAlgn="ctr"/>
                      <a:r>
                        <a:rPr lang="zh-CN" altLang="en-US" sz="1200" u="none" strike="noStrike" dirty="0">
                          <a:effectLst/>
                          <a:latin typeface="+mj-ea"/>
                          <a:ea typeface="+mj-ea"/>
                        </a:rPr>
                        <a:t>无锡</a:t>
                      </a:r>
                      <a:endParaRPr lang="zh-CN" altLang="en-US" sz="1200" b="0" i="0" u="none" strike="noStrike" dirty="0">
                        <a:solidFill>
                          <a:srgbClr val="000000"/>
                        </a:solidFill>
                        <a:effectLst/>
                        <a:latin typeface="+mj-ea"/>
                        <a:ea typeface="+mj-ea"/>
                      </a:endParaRPr>
                    </a:p>
                  </a:txBody>
                  <a:tcPr marL="0" marR="0" marT="0" marB="0" anchor="ctr">
                    <a:lnB w="12700" cap="flat" cmpd="sng" algn="ctr">
                      <a:solidFill>
                        <a:schemeClr val="tx1"/>
                      </a:solidFill>
                      <a:prstDash val="solid"/>
                      <a:round/>
                      <a:headEnd type="none" w="med" len="med"/>
                      <a:tailEnd type="none" w="med" len="med"/>
                    </a:lnB>
                  </a:tcPr>
                </a:tc>
                <a:tc>
                  <a:txBody>
                    <a:bodyPr/>
                    <a:lstStyle/>
                    <a:p>
                      <a:pPr algn="ctr" fontAlgn="b"/>
                      <a:r>
                        <a:rPr lang="zh-CN" altLang="en-US" sz="1200" u="none" strike="noStrike" dirty="0">
                          <a:effectLst/>
                          <a:latin typeface="+mj-ea"/>
                          <a:ea typeface="+mj-ea"/>
                        </a:rPr>
                        <a:t>二套房首付比例提至</a:t>
                      </a:r>
                      <a:r>
                        <a:rPr lang="en-US" altLang="zh-CN" sz="1200" u="none" strike="noStrike" dirty="0">
                          <a:effectLst/>
                          <a:latin typeface="+mj-ea"/>
                          <a:ea typeface="+mj-ea"/>
                        </a:rPr>
                        <a:t>40%</a:t>
                      </a:r>
                      <a:r>
                        <a:rPr lang="zh-CN" altLang="en-US" sz="1200" u="none" strike="noStrike" dirty="0">
                          <a:effectLst/>
                          <a:latin typeface="+mj-ea"/>
                          <a:ea typeface="+mj-ea"/>
                        </a:rPr>
                        <a:t>，非本市户籍限购二套房，对土地出让设置最高限价</a:t>
                      </a:r>
                      <a:endParaRPr lang="zh-CN" altLang="en-US" sz="1200" b="0" i="0" u="none" strike="noStrike" dirty="0">
                        <a:solidFill>
                          <a:srgbClr val="000000"/>
                        </a:solidFill>
                        <a:effectLst/>
                        <a:latin typeface="+mj-ea"/>
                        <a:ea typeface="+mj-ea"/>
                      </a:endParaRPr>
                    </a:p>
                  </a:txBody>
                  <a:tcPr marL="0" marR="0" marT="0"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69143">
                <a:tc rowSpan="3">
                  <a:txBody>
                    <a:bodyPr/>
                    <a:lstStyle/>
                    <a:p>
                      <a:pPr algn="ctr" fontAlgn="ctr"/>
                      <a:r>
                        <a:rPr lang="zh-CN" altLang="en-US" sz="1400" u="none" strike="noStrike" dirty="0">
                          <a:effectLst/>
                          <a:latin typeface="+mj-ea"/>
                          <a:ea typeface="+mj-ea"/>
                        </a:rPr>
                        <a:t>分区限制</a:t>
                      </a:r>
                      <a:endParaRPr lang="zh-CN" altLang="en-US" sz="1400" b="0" i="0" u="none" strike="noStrike" dirty="0">
                        <a:solidFill>
                          <a:srgbClr val="000000"/>
                        </a:solidFill>
                        <a:effectLst/>
                        <a:latin typeface="+mj-ea"/>
                        <a:ea typeface="+mj-ea"/>
                      </a:endParaRPr>
                    </a:p>
                  </a:txBody>
                  <a:tcPr marL="0" marR="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fontAlgn="ctr"/>
                      <a:r>
                        <a:rPr lang="zh-CN" altLang="en-US" sz="1200" u="none" strike="noStrike" dirty="0">
                          <a:effectLst/>
                          <a:latin typeface="+mj-ea"/>
                          <a:ea typeface="+mj-ea"/>
                        </a:rPr>
                        <a:t>天津</a:t>
                      </a:r>
                      <a:endParaRPr lang="zh-CN" altLang="en-US" sz="1200" b="0" i="0" u="none" strike="noStrike" dirty="0">
                        <a:solidFill>
                          <a:srgbClr val="000000"/>
                        </a:solidFill>
                        <a:effectLst/>
                        <a:latin typeface="+mj-ea"/>
                        <a:ea typeface="+mj-ea"/>
                      </a:endParaRPr>
                    </a:p>
                  </a:txBody>
                  <a:tcPr marL="0" marR="0" marT="0" marB="0" anchor="ctr">
                    <a:lnT w="12700" cap="flat" cmpd="sng" algn="ctr">
                      <a:solidFill>
                        <a:schemeClr val="tx1"/>
                      </a:solidFill>
                      <a:prstDash val="solid"/>
                      <a:round/>
                      <a:headEnd type="none" w="med" len="med"/>
                      <a:tailEnd type="none" w="med" len="med"/>
                    </a:lnT>
                  </a:tcPr>
                </a:tc>
                <a:tc>
                  <a:txBody>
                    <a:bodyPr/>
                    <a:lstStyle/>
                    <a:p>
                      <a:pPr algn="ctr" fontAlgn="b"/>
                      <a:r>
                        <a:rPr lang="zh-CN" altLang="en-US" sz="1200" u="none" strike="noStrike" dirty="0">
                          <a:effectLst/>
                          <a:latin typeface="+mj-ea"/>
                          <a:ea typeface="+mj-ea"/>
                        </a:rPr>
                        <a:t>拥有</a:t>
                      </a:r>
                      <a:r>
                        <a:rPr lang="en-US" altLang="zh-CN" sz="1200" u="none" strike="noStrike" dirty="0">
                          <a:effectLst/>
                          <a:latin typeface="+mj-ea"/>
                          <a:ea typeface="+mj-ea"/>
                        </a:rPr>
                        <a:t>1</a:t>
                      </a:r>
                      <a:r>
                        <a:rPr lang="zh-CN" altLang="en-US" sz="1200" u="none" strike="noStrike" dirty="0">
                          <a:effectLst/>
                          <a:latin typeface="+mj-ea"/>
                          <a:ea typeface="+mj-ea"/>
                        </a:rPr>
                        <a:t>套及以上的外地人暂停在部分区域购房，其商业贷款首付比例也提高至</a:t>
                      </a:r>
                      <a:r>
                        <a:rPr lang="en-US" altLang="zh-CN" sz="1200" u="none" strike="noStrike" dirty="0">
                          <a:effectLst/>
                          <a:latin typeface="+mj-ea"/>
                          <a:ea typeface="+mj-ea"/>
                        </a:rPr>
                        <a:t>40%</a:t>
                      </a:r>
                      <a:endParaRPr lang="en-US" altLang="zh-CN" sz="1200" b="0" i="0" u="none" strike="noStrike" dirty="0">
                        <a:solidFill>
                          <a:srgbClr val="000000"/>
                        </a:solidFill>
                        <a:effectLst/>
                        <a:latin typeface="+mj-ea"/>
                        <a:ea typeface="+mj-ea"/>
                      </a:endParaRPr>
                    </a:p>
                  </a:txBody>
                  <a:tcPr marL="0" marR="0" marT="0" marB="0"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13"/>
                  </a:ext>
                </a:extLst>
              </a:tr>
              <a:tr h="269143">
                <a:tc vMerge="1">
                  <a:txBody>
                    <a:bodyPr/>
                    <a:lstStyle/>
                    <a:p>
                      <a:endParaRPr lang="zh-CN" altLang="en-US"/>
                    </a:p>
                  </a:txBody>
                  <a:tcPr/>
                </a:tc>
                <a:tc>
                  <a:txBody>
                    <a:bodyPr/>
                    <a:lstStyle/>
                    <a:p>
                      <a:pPr algn="ctr" fontAlgn="ctr"/>
                      <a:r>
                        <a:rPr lang="zh-CN" altLang="en-US" sz="1200" u="none" strike="noStrike" dirty="0">
                          <a:effectLst/>
                          <a:latin typeface="+mj-ea"/>
                          <a:ea typeface="+mj-ea"/>
                        </a:rPr>
                        <a:t>成都</a:t>
                      </a:r>
                      <a:endParaRPr lang="zh-CN" altLang="en-US" sz="1200" b="0" i="0" u="none" strike="noStrike" dirty="0">
                        <a:solidFill>
                          <a:srgbClr val="000000"/>
                        </a:solidFill>
                        <a:effectLst/>
                        <a:latin typeface="+mj-ea"/>
                        <a:ea typeface="+mj-ea"/>
                      </a:endParaRPr>
                    </a:p>
                  </a:txBody>
                  <a:tcPr marL="0" marR="0" marT="0" marB="0" anchor="ctr"/>
                </a:tc>
                <a:tc>
                  <a:txBody>
                    <a:bodyPr/>
                    <a:lstStyle/>
                    <a:p>
                      <a:pPr algn="ctr" fontAlgn="b"/>
                      <a:r>
                        <a:rPr lang="zh-CN" altLang="en-US" sz="1200" u="none" strike="noStrike" dirty="0">
                          <a:effectLst/>
                          <a:latin typeface="+mj-ea"/>
                          <a:ea typeface="+mj-ea"/>
                        </a:rPr>
                        <a:t>分区域限购，二套房首付比例不低于</a:t>
                      </a:r>
                      <a:r>
                        <a:rPr lang="en-US" altLang="zh-CN" sz="1200" u="none" strike="noStrike" dirty="0">
                          <a:effectLst/>
                          <a:latin typeface="+mj-ea"/>
                          <a:ea typeface="+mj-ea"/>
                        </a:rPr>
                        <a:t>40%</a:t>
                      </a:r>
                      <a:r>
                        <a:rPr lang="zh-CN" altLang="en-US" sz="1200" u="none" strike="noStrike" dirty="0">
                          <a:effectLst/>
                          <a:latin typeface="+mj-ea"/>
                          <a:ea typeface="+mj-ea"/>
                        </a:rPr>
                        <a:t>；部分区域单人只能新购一套房</a:t>
                      </a:r>
                      <a:endParaRPr lang="zh-CN" altLang="en-US" sz="1200" b="0" i="0" u="none" strike="noStrike" dirty="0">
                        <a:solidFill>
                          <a:srgbClr val="000000"/>
                        </a:solidFill>
                        <a:effectLst/>
                        <a:latin typeface="+mj-ea"/>
                        <a:ea typeface="+mj-ea"/>
                      </a:endParaRPr>
                    </a:p>
                  </a:txBody>
                  <a:tcPr marL="0" marR="0" marT="0" marB="0" anchor="ctr"/>
                </a:tc>
                <a:extLst>
                  <a:ext uri="{0D108BD9-81ED-4DB2-BD59-A6C34878D82A}">
                    <a16:rowId xmlns:a16="http://schemas.microsoft.com/office/drawing/2014/main" val="10014"/>
                  </a:ext>
                </a:extLst>
              </a:tr>
              <a:tr h="293115">
                <a:tc vMerge="1">
                  <a:txBody>
                    <a:bodyPr/>
                    <a:lstStyle/>
                    <a:p>
                      <a:endParaRPr lang="zh-CN" altLang="en-US"/>
                    </a:p>
                  </a:txBody>
                  <a:tcPr/>
                </a:tc>
                <a:tc>
                  <a:txBody>
                    <a:bodyPr/>
                    <a:lstStyle/>
                    <a:p>
                      <a:pPr algn="ctr" fontAlgn="ctr"/>
                      <a:r>
                        <a:rPr lang="zh-CN" altLang="en-US" sz="1200" u="none" strike="noStrike" dirty="0">
                          <a:effectLst/>
                          <a:latin typeface="+mj-ea"/>
                          <a:ea typeface="+mj-ea"/>
                        </a:rPr>
                        <a:t>武汉</a:t>
                      </a:r>
                      <a:endParaRPr lang="zh-CN" altLang="en-US" sz="1200" b="0" i="0" u="none" strike="noStrike" dirty="0">
                        <a:solidFill>
                          <a:srgbClr val="000000"/>
                        </a:solidFill>
                        <a:effectLst/>
                        <a:latin typeface="+mj-ea"/>
                        <a:ea typeface="+mj-ea"/>
                      </a:endParaRPr>
                    </a:p>
                  </a:txBody>
                  <a:tcPr marL="0" marR="0" marT="0" marB="0" anchor="ctr">
                    <a:lnB w="12700" cap="flat" cmpd="sng" algn="ctr">
                      <a:solidFill>
                        <a:schemeClr val="tx1"/>
                      </a:solidFill>
                      <a:prstDash val="solid"/>
                      <a:round/>
                      <a:headEnd type="none" w="med" len="med"/>
                      <a:tailEnd type="none" w="med" len="med"/>
                    </a:lnB>
                  </a:tcPr>
                </a:tc>
                <a:tc>
                  <a:txBody>
                    <a:bodyPr/>
                    <a:lstStyle/>
                    <a:p>
                      <a:pPr algn="ctr" fontAlgn="b"/>
                      <a:r>
                        <a:rPr lang="zh-CN" altLang="en-US" sz="1200" u="none" strike="noStrike" dirty="0">
                          <a:effectLst/>
                          <a:latin typeface="+mj-ea"/>
                          <a:ea typeface="+mj-ea"/>
                        </a:rPr>
                        <a:t>汉阳等区实行住房限购限贷，本地户口居民购房首套房首付最低</a:t>
                      </a:r>
                      <a:r>
                        <a:rPr lang="en-US" altLang="zh-CN" sz="1200" u="none" strike="noStrike" dirty="0">
                          <a:effectLst/>
                          <a:latin typeface="+mj-ea"/>
                          <a:ea typeface="+mj-ea"/>
                        </a:rPr>
                        <a:t>25%</a:t>
                      </a:r>
                      <a:r>
                        <a:rPr lang="zh-CN" altLang="en-US" sz="1200" u="none" strike="noStrike" dirty="0">
                          <a:effectLst/>
                          <a:latin typeface="+mj-ea"/>
                          <a:ea typeface="+mj-ea"/>
                        </a:rPr>
                        <a:t>，二套首付最低</a:t>
                      </a:r>
                      <a:r>
                        <a:rPr lang="en-US" altLang="zh-CN" sz="1200" u="none" strike="noStrike" dirty="0">
                          <a:effectLst/>
                          <a:latin typeface="+mj-ea"/>
                          <a:ea typeface="+mj-ea"/>
                        </a:rPr>
                        <a:t>50%</a:t>
                      </a:r>
                      <a:r>
                        <a:rPr lang="zh-CN" altLang="en-US" sz="1200" u="none" strike="noStrike" dirty="0">
                          <a:effectLst/>
                          <a:latin typeface="+mj-ea"/>
                          <a:ea typeface="+mj-ea"/>
                        </a:rPr>
                        <a:t>，第三套禁贷</a:t>
                      </a:r>
                      <a:endParaRPr lang="zh-CN" altLang="en-US" sz="1200" b="0" i="0" u="none" strike="noStrike" dirty="0">
                        <a:solidFill>
                          <a:srgbClr val="000000"/>
                        </a:solidFill>
                        <a:effectLst/>
                        <a:latin typeface="+mj-ea"/>
                        <a:ea typeface="+mj-ea"/>
                      </a:endParaRPr>
                    </a:p>
                  </a:txBody>
                  <a:tcPr marL="0" marR="0" marT="0"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5"/>
                  </a:ext>
                </a:extLst>
              </a:tr>
              <a:tr h="269143">
                <a:tc rowSpan="4">
                  <a:txBody>
                    <a:bodyPr/>
                    <a:lstStyle/>
                    <a:p>
                      <a:pPr algn="ctr" fontAlgn="ctr"/>
                      <a:r>
                        <a:rPr lang="zh-CN" altLang="en-US" sz="1400" u="none" strike="noStrike" dirty="0">
                          <a:effectLst/>
                          <a:latin typeface="+mj-ea"/>
                          <a:ea typeface="+mj-ea"/>
                        </a:rPr>
                        <a:t>稳定市场</a:t>
                      </a:r>
                      <a:endParaRPr lang="zh-CN" altLang="en-US" sz="1400" b="0" i="0" u="none" strike="noStrike" dirty="0">
                        <a:solidFill>
                          <a:srgbClr val="000000"/>
                        </a:solidFill>
                        <a:effectLst/>
                        <a:latin typeface="+mj-ea"/>
                        <a:ea typeface="+mj-ea"/>
                      </a:endParaRPr>
                    </a:p>
                  </a:txBody>
                  <a:tcPr marL="0" marR="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fontAlgn="ctr"/>
                      <a:r>
                        <a:rPr lang="zh-CN" altLang="en-US" sz="1200" u="none" strike="noStrike" dirty="0">
                          <a:effectLst/>
                          <a:latin typeface="+mj-ea"/>
                          <a:ea typeface="+mj-ea"/>
                        </a:rPr>
                        <a:t>南宁</a:t>
                      </a:r>
                      <a:endParaRPr lang="zh-CN" altLang="en-US" sz="1200" b="0" i="0" u="none" strike="noStrike" dirty="0">
                        <a:solidFill>
                          <a:srgbClr val="000000"/>
                        </a:solidFill>
                        <a:effectLst/>
                        <a:latin typeface="+mj-ea"/>
                        <a:ea typeface="+mj-ea"/>
                      </a:endParaRPr>
                    </a:p>
                  </a:txBody>
                  <a:tcPr marL="0" marR="0" marT="0" marB="0" anchor="ctr">
                    <a:lnT w="12700" cap="flat" cmpd="sng" algn="ctr">
                      <a:solidFill>
                        <a:schemeClr val="tx1"/>
                      </a:solidFill>
                      <a:prstDash val="solid"/>
                      <a:round/>
                      <a:headEnd type="none" w="med" len="med"/>
                      <a:tailEnd type="none" w="med" len="med"/>
                    </a:lnT>
                  </a:tcPr>
                </a:tc>
                <a:tc>
                  <a:txBody>
                    <a:bodyPr/>
                    <a:lstStyle/>
                    <a:p>
                      <a:pPr algn="ctr" fontAlgn="b"/>
                      <a:r>
                        <a:rPr lang="zh-CN" altLang="en-US" sz="1200" u="none" strike="noStrike" dirty="0">
                          <a:effectLst/>
                          <a:latin typeface="+mj-ea"/>
                          <a:ea typeface="+mj-ea"/>
                        </a:rPr>
                        <a:t>商品房实售价格不得高于预售申报价</a:t>
                      </a:r>
                      <a:endParaRPr lang="zh-CN" altLang="en-US" sz="1200" b="0" i="0" u="none" strike="noStrike" dirty="0">
                        <a:solidFill>
                          <a:srgbClr val="000000"/>
                        </a:solidFill>
                        <a:effectLst/>
                        <a:latin typeface="+mj-ea"/>
                        <a:ea typeface="+mj-ea"/>
                      </a:endParaRPr>
                    </a:p>
                  </a:txBody>
                  <a:tcPr marL="0" marR="0" marT="0" marB="0"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16"/>
                  </a:ext>
                </a:extLst>
              </a:tr>
              <a:tr h="269143">
                <a:tc vMerge="1">
                  <a:txBody>
                    <a:bodyPr/>
                    <a:lstStyle/>
                    <a:p>
                      <a:endParaRPr lang="zh-CN" altLang="en-US"/>
                    </a:p>
                  </a:txBody>
                  <a:tcPr/>
                </a:tc>
                <a:tc>
                  <a:txBody>
                    <a:bodyPr/>
                    <a:lstStyle/>
                    <a:p>
                      <a:pPr algn="ctr" fontAlgn="ctr"/>
                      <a:r>
                        <a:rPr lang="zh-CN" altLang="en-US" sz="1200" u="none" strike="noStrike" dirty="0">
                          <a:effectLst/>
                          <a:latin typeface="+mj-ea"/>
                          <a:ea typeface="+mj-ea"/>
                        </a:rPr>
                        <a:t>惠州</a:t>
                      </a:r>
                      <a:endParaRPr lang="zh-CN" altLang="en-US" sz="1200" b="0" i="0" u="none" strike="noStrike" dirty="0">
                        <a:solidFill>
                          <a:srgbClr val="000000"/>
                        </a:solidFill>
                        <a:effectLst/>
                        <a:latin typeface="+mj-ea"/>
                        <a:ea typeface="+mj-ea"/>
                      </a:endParaRPr>
                    </a:p>
                  </a:txBody>
                  <a:tcPr marL="0" marR="0" marT="0" marB="0" anchor="ctr"/>
                </a:tc>
                <a:tc>
                  <a:txBody>
                    <a:bodyPr/>
                    <a:lstStyle/>
                    <a:p>
                      <a:pPr algn="ctr" fontAlgn="b"/>
                      <a:r>
                        <a:rPr lang="zh-CN" altLang="en-US" sz="1200" u="none" strike="noStrike" dirty="0">
                          <a:effectLst/>
                          <a:latin typeface="+mj-ea"/>
                          <a:ea typeface="+mj-ea"/>
                        </a:rPr>
                        <a:t>预售商品房时，应当取得商品房预售许可证</a:t>
                      </a:r>
                      <a:endParaRPr lang="zh-CN" altLang="en-US" sz="1200" b="0" i="0" u="none" strike="noStrike" dirty="0">
                        <a:solidFill>
                          <a:srgbClr val="000000"/>
                        </a:solidFill>
                        <a:effectLst/>
                        <a:latin typeface="+mj-ea"/>
                        <a:ea typeface="+mj-ea"/>
                      </a:endParaRPr>
                    </a:p>
                  </a:txBody>
                  <a:tcPr marL="0" marR="0" marT="0" marB="0" anchor="ctr"/>
                </a:tc>
                <a:extLst>
                  <a:ext uri="{0D108BD9-81ED-4DB2-BD59-A6C34878D82A}">
                    <a16:rowId xmlns:a16="http://schemas.microsoft.com/office/drawing/2014/main" val="10017"/>
                  </a:ext>
                </a:extLst>
              </a:tr>
              <a:tr h="269143">
                <a:tc vMerge="1">
                  <a:txBody>
                    <a:bodyPr/>
                    <a:lstStyle/>
                    <a:p>
                      <a:endParaRPr lang="zh-CN" altLang="en-US"/>
                    </a:p>
                  </a:txBody>
                  <a:tcPr/>
                </a:tc>
                <a:tc>
                  <a:txBody>
                    <a:bodyPr/>
                    <a:lstStyle/>
                    <a:p>
                      <a:pPr algn="ctr" fontAlgn="ctr"/>
                      <a:r>
                        <a:rPr lang="zh-CN" altLang="en-US" sz="1200" u="none" strike="noStrike" dirty="0">
                          <a:effectLst/>
                          <a:latin typeface="+mj-ea"/>
                          <a:ea typeface="+mj-ea"/>
                        </a:rPr>
                        <a:t>佛山</a:t>
                      </a:r>
                      <a:endParaRPr lang="zh-CN" altLang="en-US" sz="1200" b="0" i="0" u="none" strike="noStrike" dirty="0">
                        <a:solidFill>
                          <a:srgbClr val="000000"/>
                        </a:solidFill>
                        <a:effectLst/>
                        <a:latin typeface="+mj-ea"/>
                        <a:ea typeface="+mj-ea"/>
                      </a:endParaRPr>
                    </a:p>
                  </a:txBody>
                  <a:tcPr marL="0" marR="0" marT="0" marB="0" anchor="ctr"/>
                </a:tc>
                <a:tc>
                  <a:txBody>
                    <a:bodyPr/>
                    <a:lstStyle/>
                    <a:p>
                      <a:pPr algn="ctr" fontAlgn="b"/>
                      <a:r>
                        <a:rPr lang="zh-CN" altLang="en-US" sz="1200" u="none" strike="noStrike" dirty="0">
                          <a:effectLst/>
                          <a:latin typeface="+mj-ea"/>
                          <a:ea typeface="+mj-ea"/>
                        </a:rPr>
                        <a:t>预售商品房时，应当取得商品房预售许可证</a:t>
                      </a:r>
                      <a:endParaRPr lang="zh-CN" altLang="en-US" sz="1200" b="0" i="0" u="none" strike="noStrike" dirty="0">
                        <a:solidFill>
                          <a:srgbClr val="000000"/>
                        </a:solidFill>
                        <a:effectLst/>
                        <a:latin typeface="+mj-ea"/>
                        <a:ea typeface="+mj-ea"/>
                      </a:endParaRPr>
                    </a:p>
                  </a:txBody>
                  <a:tcPr marL="0" marR="0" marT="0" marB="0" anchor="ctr"/>
                </a:tc>
                <a:extLst>
                  <a:ext uri="{0D108BD9-81ED-4DB2-BD59-A6C34878D82A}">
                    <a16:rowId xmlns:a16="http://schemas.microsoft.com/office/drawing/2014/main" val="10018"/>
                  </a:ext>
                </a:extLst>
              </a:tr>
              <a:tr h="269143">
                <a:tc vMerge="1">
                  <a:txBody>
                    <a:bodyPr/>
                    <a:lstStyle/>
                    <a:p>
                      <a:endParaRPr lang="zh-CN" altLang="en-US"/>
                    </a:p>
                  </a:txBody>
                  <a:tcPr/>
                </a:tc>
                <a:tc>
                  <a:txBody>
                    <a:bodyPr/>
                    <a:lstStyle/>
                    <a:p>
                      <a:pPr algn="ctr" fontAlgn="ctr"/>
                      <a:r>
                        <a:rPr lang="zh-CN" altLang="en-US" sz="1200" u="none" strike="noStrike" dirty="0">
                          <a:effectLst/>
                          <a:latin typeface="+mj-ea"/>
                          <a:ea typeface="+mj-ea"/>
                        </a:rPr>
                        <a:t>东莞</a:t>
                      </a:r>
                      <a:endParaRPr lang="zh-CN" altLang="en-US" sz="1200" b="0" i="0" u="none" strike="noStrike" dirty="0">
                        <a:solidFill>
                          <a:srgbClr val="000000"/>
                        </a:solidFill>
                        <a:effectLst/>
                        <a:latin typeface="+mj-ea"/>
                        <a:ea typeface="+mj-ea"/>
                      </a:endParaRPr>
                    </a:p>
                  </a:txBody>
                  <a:tcPr marL="0" marR="0" marT="0" marB="0" anchor="ctr">
                    <a:lnB w="12700" cap="flat" cmpd="sng" algn="ctr">
                      <a:solidFill>
                        <a:schemeClr val="tx1"/>
                      </a:solidFill>
                      <a:prstDash val="solid"/>
                      <a:round/>
                      <a:headEnd type="none" w="med" len="med"/>
                      <a:tailEnd type="none" w="med" len="med"/>
                    </a:lnB>
                  </a:tcPr>
                </a:tc>
                <a:tc>
                  <a:txBody>
                    <a:bodyPr/>
                    <a:lstStyle/>
                    <a:p>
                      <a:pPr algn="ctr" fontAlgn="b"/>
                      <a:r>
                        <a:rPr lang="zh-CN" altLang="en-US" sz="1200" u="none" strike="noStrike" dirty="0">
                          <a:effectLst/>
                          <a:latin typeface="+mj-ea"/>
                          <a:ea typeface="+mj-ea"/>
                        </a:rPr>
                        <a:t>申请商业性个人住房贷款最低首付款比例不低于</a:t>
                      </a:r>
                      <a:r>
                        <a:rPr lang="en-US" altLang="zh-CN" sz="1200" u="none" strike="noStrike" dirty="0">
                          <a:effectLst/>
                          <a:latin typeface="+mj-ea"/>
                          <a:ea typeface="+mj-ea"/>
                        </a:rPr>
                        <a:t>30%</a:t>
                      </a:r>
                      <a:r>
                        <a:rPr lang="zh-CN" altLang="en-US" sz="1200" u="none" strike="noStrike" dirty="0">
                          <a:effectLst/>
                          <a:latin typeface="+mj-ea"/>
                          <a:ea typeface="+mj-ea"/>
                        </a:rPr>
                        <a:t>，</a:t>
                      </a:r>
                      <a:r>
                        <a:rPr lang="en-US" altLang="zh-CN" sz="1200" u="none" strike="noStrike" dirty="0">
                          <a:effectLst/>
                          <a:latin typeface="+mj-ea"/>
                          <a:ea typeface="+mj-ea"/>
                        </a:rPr>
                        <a:t>2</a:t>
                      </a:r>
                      <a:r>
                        <a:rPr lang="zh-CN" altLang="en-US" sz="1200" u="none" strike="noStrike" dirty="0">
                          <a:effectLst/>
                          <a:latin typeface="+mj-ea"/>
                          <a:ea typeface="+mj-ea"/>
                        </a:rPr>
                        <a:t>套房最低首付款比例不低于</a:t>
                      </a:r>
                      <a:r>
                        <a:rPr lang="en-US" altLang="zh-CN" sz="1200" u="none" strike="noStrike" dirty="0">
                          <a:effectLst/>
                          <a:latin typeface="+mj-ea"/>
                          <a:ea typeface="+mj-ea"/>
                        </a:rPr>
                        <a:t>40%</a:t>
                      </a:r>
                      <a:endParaRPr lang="zh-CN" altLang="en-US" sz="1200" b="0" i="0" u="none" strike="noStrike" dirty="0">
                        <a:solidFill>
                          <a:srgbClr val="000000"/>
                        </a:solidFill>
                        <a:effectLst/>
                        <a:latin typeface="+mj-ea"/>
                        <a:ea typeface="+mj-ea"/>
                      </a:endParaRPr>
                    </a:p>
                  </a:txBody>
                  <a:tcPr marL="0" marR="0" marT="0"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9"/>
                  </a:ext>
                </a:extLst>
              </a:tr>
            </a:tbl>
          </a:graphicData>
        </a:graphic>
      </p:graphicFrame>
      <p:sp>
        <p:nvSpPr>
          <p:cNvPr id="3" name="矩形 2"/>
          <p:cNvSpPr/>
          <p:nvPr/>
        </p:nvSpPr>
        <p:spPr>
          <a:xfrm>
            <a:off x="3332090" y="714282"/>
            <a:ext cx="2852063" cy="338554"/>
          </a:xfrm>
          <a:prstGeom prst="rect">
            <a:avLst/>
          </a:prstGeom>
        </p:spPr>
        <p:txBody>
          <a:bodyPr wrap="none">
            <a:spAutoFit/>
          </a:bodyPr>
          <a:lstStyle/>
          <a:p>
            <a:r>
              <a:rPr lang="zh-CN" altLang="en-US" sz="1600" b="1" dirty="0">
                <a:latin typeface="+mj-ea"/>
                <a:ea typeface="+mj-ea"/>
              </a:rPr>
              <a:t>国庆节前后各地调控政策一览</a:t>
            </a:r>
          </a:p>
        </p:txBody>
      </p:sp>
    </p:spTree>
    <p:extLst>
      <p:ext uri="{BB962C8B-B14F-4D97-AF65-F5344CB8AC3E}">
        <p14:creationId xmlns:p14="http://schemas.microsoft.com/office/powerpoint/2010/main" val="21161597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3"/>
          <p:cNvSpPr>
            <a:spLocks noGrp="1"/>
          </p:cNvSpPr>
          <p:nvPr>
            <p:ph type="title"/>
          </p:nvPr>
        </p:nvSpPr>
        <p:spPr>
          <a:xfrm>
            <a:off x="91119" y="40862"/>
            <a:ext cx="8595681" cy="474662"/>
          </a:xfrm>
        </p:spPr>
        <p:txBody>
          <a:bodyPr>
            <a:normAutofit/>
          </a:bodyPr>
          <a:lstStyle/>
          <a:p>
            <a:r>
              <a:rPr lang="zh-CN" altLang="en-US" dirty="0"/>
              <a:t>政策面</a:t>
            </a:r>
            <a:r>
              <a:rPr lang="en-US" altLang="zh-CN" dirty="0"/>
              <a:t>| </a:t>
            </a:r>
            <a:r>
              <a:rPr lang="zh-CN" altLang="en-US" sz="2000" dirty="0"/>
              <a:t>京“</a:t>
            </a:r>
            <a:r>
              <a:rPr lang="en-US" altLang="zh-CN" sz="2000" dirty="0"/>
              <a:t>930</a:t>
            </a:r>
            <a:r>
              <a:rPr lang="zh-CN" altLang="en-US" sz="2000" dirty="0"/>
              <a:t>”新政出台</a:t>
            </a:r>
            <a:endParaRPr lang="zh-CN" altLang="en-US" sz="1000" dirty="0">
              <a:latin typeface="微软雅黑" pitchFamily="34" charset="-122"/>
              <a:ea typeface="微软雅黑" pitchFamily="34" charset="-122"/>
            </a:endParaRPr>
          </a:p>
        </p:txBody>
      </p:sp>
      <p:sp>
        <p:nvSpPr>
          <p:cNvPr id="26" name="幻灯片编号占位符 1"/>
          <p:cNvSpPr txBox="1">
            <a:spLocks/>
          </p:cNvSpPr>
          <p:nvPr/>
        </p:nvSpPr>
        <p:spPr>
          <a:xfrm>
            <a:off x="6553200" y="6546886"/>
            <a:ext cx="2133600" cy="365125"/>
          </a:xfrm>
          <a:prstGeom prst="rect">
            <a:avLst/>
          </a:prstGeom>
        </p:spPr>
        <p:txBody>
          <a:bodyPr vert="horz" lIns="91440" tIns="45720" rIns="91440" bIns="45720" rtlCol="0" anchor="ctr"/>
          <a:lstStyle>
            <a:defPPr>
              <a:defRPr lang="zh-CN"/>
            </a:defPPr>
            <a:lvl1pPr marL="0" algn="r" defTabSz="457200" rtl="0" eaLnBrk="1" latinLnBrk="0" hangingPunct="1">
              <a:defRPr kumimoji="1" sz="1400" b="1" i="0" kern="1200">
                <a:solidFill>
                  <a:srgbClr val="133176"/>
                </a:solidFill>
                <a:latin typeface="+mj-ea"/>
                <a:ea typeface="+mj-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3E8B6F27-EC4F-B34E-9F32-10CC92E9AB18}" type="slidenum">
              <a:rPr lang="zh-CN" altLang="en-US" smtClean="0"/>
              <a:pPr>
                <a:defRPr/>
              </a:pPr>
              <a:t>6</a:t>
            </a:fld>
            <a:endParaRPr lang="zh-CN" altLang="en-US" dirty="0"/>
          </a:p>
        </p:txBody>
      </p:sp>
      <p:sp>
        <p:nvSpPr>
          <p:cNvPr id="6" name="矩形 5"/>
          <p:cNvSpPr/>
          <p:nvPr/>
        </p:nvSpPr>
        <p:spPr>
          <a:xfrm>
            <a:off x="463182" y="1143421"/>
            <a:ext cx="7996811" cy="5170646"/>
          </a:xfrm>
          <a:prstGeom prst="rect">
            <a:avLst/>
          </a:prstGeom>
        </p:spPr>
        <p:txBody>
          <a:bodyPr wrap="square">
            <a:spAutoFit/>
          </a:bodyPr>
          <a:lstStyle/>
          <a:p>
            <a:pPr algn="just">
              <a:lnSpc>
                <a:spcPct val="150000"/>
              </a:lnSpc>
            </a:pPr>
            <a:r>
              <a:rPr lang="zh-CN" altLang="en-US" sz="1600" b="1" dirty="0">
                <a:latin typeface="微软雅黑" pitchFamily="34" charset="-122"/>
                <a:ea typeface="微软雅黑" pitchFamily="34" charset="-122"/>
              </a:rPr>
              <a:t> 一、优化供应结构</a:t>
            </a:r>
            <a:endParaRPr lang="en-US" altLang="zh-CN" sz="1600" b="1" dirty="0">
              <a:latin typeface="微软雅黑" pitchFamily="34" charset="-122"/>
              <a:ea typeface="微软雅黑" pitchFamily="34" charset="-122"/>
            </a:endParaRPr>
          </a:p>
          <a:p>
            <a:pPr algn="just">
              <a:lnSpc>
                <a:spcPct val="150000"/>
              </a:lnSpc>
            </a:pPr>
            <a:r>
              <a:rPr lang="zh-CN" altLang="en-US" sz="16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加大</a:t>
            </a:r>
            <a:r>
              <a:rPr lang="zh-CN" altLang="en-US" sz="1400" b="1" dirty="0">
                <a:solidFill>
                  <a:srgbClr val="FF0000"/>
                </a:solidFill>
                <a:latin typeface="微软雅黑" pitchFamily="34" charset="-122"/>
                <a:ea typeface="微软雅黑" pitchFamily="34" charset="-122"/>
              </a:rPr>
              <a:t>中低价位、中小套型普通商品住房</a:t>
            </a:r>
            <a:r>
              <a:rPr lang="zh-CN" altLang="en-US" sz="1400" dirty="0">
                <a:latin typeface="微软雅黑" pitchFamily="34" charset="-122"/>
                <a:ea typeface="微软雅黑" pitchFamily="34" charset="-122"/>
              </a:rPr>
              <a:t>的供应比例，保证套型建筑面积</a:t>
            </a:r>
            <a:r>
              <a:rPr lang="en-US" altLang="zh-CN" sz="1400" dirty="0">
                <a:latin typeface="微软雅黑" pitchFamily="34" charset="-122"/>
                <a:ea typeface="微软雅黑" pitchFamily="34" charset="-122"/>
              </a:rPr>
              <a:t>90</a:t>
            </a:r>
            <a:r>
              <a:rPr lang="zh-CN" altLang="en-US" sz="1400" dirty="0">
                <a:latin typeface="微软雅黑" pitchFamily="34" charset="-122"/>
                <a:ea typeface="微软雅黑" pitchFamily="34" charset="-122"/>
              </a:rPr>
              <a:t>平方米以下住房面积所占比重不低于</a:t>
            </a:r>
            <a:r>
              <a:rPr lang="en-US" altLang="zh-CN" sz="1400" dirty="0">
                <a:latin typeface="微软雅黑" pitchFamily="34" charset="-122"/>
                <a:ea typeface="微软雅黑" pitchFamily="34" charset="-122"/>
              </a:rPr>
              <a:t>70%</a:t>
            </a:r>
            <a:r>
              <a:rPr lang="zh-CN" altLang="en-US" sz="1400" dirty="0">
                <a:latin typeface="微软雅黑" pitchFamily="34" charset="-122"/>
                <a:ea typeface="微软雅黑" pitchFamily="34" charset="-122"/>
              </a:rPr>
              <a:t>；进一步</a:t>
            </a:r>
            <a:r>
              <a:rPr lang="zh-CN" altLang="en-US" sz="1400" b="1" dirty="0">
                <a:solidFill>
                  <a:srgbClr val="FF0000"/>
                </a:solidFill>
                <a:latin typeface="微软雅黑" pitchFamily="34" charset="-122"/>
                <a:ea typeface="微软雅黑" pitchFamily="34" charset="-122"/>
              </a:rPr>
              <a:t>加大自住型商品住房用地供应</a:t>
            </a:r>
            <a:r>
              <a:rPr lang="zh-CN" altLang="en-US" sz="1400" dirty="0">
                <a:latin typeface="微软雅黑" pitchFamily="34" charset="-122"/>
                <a:ea typeface="微软雅黑" pitchFamily="34" charset="-122"/>
              </a:rPr>
              <a:t>。</a:t>
            </a:r>
            <a:endParaRPr lang="en-US" altLang="zh-CN" sz="1400" dirty="0">
              <a:latin typeface="微软雅黑" pitchFamily="34" charset="-122"/>
              <a:ea typeface="微软雅黑" pitchFamily="34" charset="-122"/>
            </a:endParaRPr>
          </a:p>
          <a:p>
            <a:pPr algn="just">
              <a:lnSpc>
                <a:spcPct val="150000"/>
              </a:lnSpc>
            </a:pPr>
            <a:r>
              <a:rPr lang="zh-CN" altLang="en-US" sz="1600" b="1" dirty="0">
                <a:latin typeface="微软雅黑" pitchFamily="34" charset="-122"/>
                <a:ea typeface="微软雅黑" pitchFamily="34" charset="-122"/>
              </a:rPr>
              <a:t> 二、完善差别化住房信贷</a:t>
            </a:r>
            <a:endParaRPr lang="en-US" altLang="zh-CN" sz="1600" b="1" dirty="0">
              <a:latin typeface="微软雅黑" pitchFamily="34" charset="-122"/>
              <a:ea typeface="微软雅黑" pitchFamily="34" charset="-122"/>
            </a:endParaRPr>
          </a:p>
          <a:p>
            <a:pPr algn="just">
              <a:lnSpc>
                <a:spcPct val="150000"/>
              </a:lnSpc>
            </a:pPr>
            <a:r>
              <a:rPr lang="zh-CN" altLang="en-US" sz="1600" dirty="0">
                <a:latin typeface="微软雅黑" pitchFamily="34" charset="-122"/>
                <a:ea typeface="微软雅黑" pitchFamily="34" charset="-122"/>
              </a:rPr>
              <a:t>        </a:t>
            </a:r>
            <a:r>
              <a:rPr lang="zh-CN" altLang="en-US" sz="1400" b="1" dirty="0">
                <a:solidFill>
                  <a:srgbClr val="FF0000"/>
                </a:solidFill>
                <a:latin typeface="微软雅黑" pitchFamily="34" charset="-122"/>
                <a:ea typeface="微软雅黑" pitchFamily="34" charset="-122"/>
              </a:rPr>
              <a:t>提高首付比例： </a:t>
            </a:r>
            <a:r>
              <a:rPr lang="zh-CN" altLang="en-US" sz="1400" dirty="0">
                <a:latin typeface="微软雅黑" pitchFamily="34" charset="-122"/>
                <a:ea typeface="微软雅黑" pitchFamily="34" charset="-122"/>
              </a:rPr>
              <a:t>首套普通自住房的首付款比例不低于</a:t>
            </a:r>
            <a:r>
              <a:rPr lang="en-US" altLang="zh-CN" sz="1400" dirty="0">
                <a:latin typeface="微软雅黑" pitchFamily="34" charset="-122"/>
                <a:ea typeface="微软雅黑" pitchFamily="34" charset="-122"/>
              </a:rPr>
              <a:t>35%</a:t>
            </a:r>
            <a:r>
              <a:rPr lang="zh-CN" altLang="en-US" sz="1400" dirty="0">
                <a:latin typeface="微软雅黑" pitchFamily="34" charset="-122"/>
                <a:ea typeface="微软雅黑" pitchFamily="34" charset="-122"/>
              </a:rPr>
              <a:t>，首套非普通自住房的首付款比例不低于</a:t>
            </a:r>
            <a:r>
              <a:rPr lang="en-US" altLang="zh-CN" sz="1400" dirty="0">
                <a:latin typeface="微软雅黑" pitchFamily="34" charset="-122"/>
                <a:ea typeface="微软雅黑" pitchFamily="34" charset="-122"/>
              </a:rPr>
              <a:t>40%</a:t>
            </a:r>
            <a:r>
              <a:rPr lang="zh-CN" altLang="en-US" sz="1400" dirty="0">
                <a:latin typeface="微软雅黑" pitchFamily="34" charset="-122"/>
                <a:ea typeface="微软雅黑" pitchFamily="34" charset="-122"/>
              </a:rPr>
              <a:t>。</a:t>
            </a:r>
            <a:r>
              <a:rPr lang="zh-CN" altLang="en-US" sz="1400" b="1" dirty="0">
                <a:solidFill>
                  <a:srgbClr val="FF0000"/>
                </a:solidFill>
                <a:latin typeface="微软雅黑" pitchFamily="34" charset="-122"/>
                <a:ea typeface="微软雅黑" pitchFamily="34" charset="-122"/>
              </a:rPr>
              <a:t>认房又认贷：</a:t>
            </a:r>
            <a:r>
              <a:rPr lang="zh-CN" altLang="en-US" sz="1400" dirty="0">
                <a:latin typeface="微软雅黑" pitchFamily="34" charset="-122"/>
                <a:ea typeface="微软雅黑" pitchFamily="34" charset="-122"/>
              </a:rPr>
              <a:t>对拥有</a:t>
            </a:r>
            <a:r>
              <a:rPr lang="en-US" altLang="zh-CN" sz="1400" dirty="0">
                <a:latin typeface="微软雅黑" pitchFamily="34" charset="-122"/>
                <a:ea typeface="微软雅黑" pitchFamily="34" charset="-122"/>
              </a:rPr>
              <a:t>1</a:t>
            </a:r>
            <a:r>
              <a:rPr lang="zh-CN" altLang="en-US" sz="1400" dirty="0">
                <a:latin typeface="微软雅黑" pitchFamily="34" charset="-122"/>
                <a:ea typeface="微软雅黑" pitchFamily="34" charset="-122"/>
              </a:rPr>
              <a:t>套住房的居民家庭，为改善居住条件再次申请商业性个人住房贷款购买普通自住房的，无论有无贷款记录，首付款比例均不低于</a:t>
            </a:r>
            <a:r>
              <a:rPr lang="en-US" altLang="zh-CN" sz="1400" dirty="0">
                <a:latin typeface="微软雅黑" pitchFamily="34" charset="-122"/>
                <a:ea typeface="微软雅黑" pitchFamily="34" charset="-122"/>
              </a:rPr>
              <a:t>50%</a:t>
            </a:r>
            <a:r>
              <a:rPr lang="zh-CN" altLang="en-US" sz="1400" dirty="0">
                <a:latin typeface="微软雅黑" pitchFamily="34" charset="-122"/>
                <a:ea typeface="微软雅黑" pitchFamily="34" charset="-122"/>
              </a:rPr>
              <a:t>；购买非普通自住房的，首付款比例不低于</a:t>
            </a:r>
            <a:r>
              <a:rPr lang="en-US" altLang="zh-CN" sz="1400" dirty="0">
                <a:latin typeface="微软雅黑" pitchFamily="34" charset="-122"/>
                <a:ea typeface="微软雅黑" pitchFamily="34" charset="-122"/>
              </a:rPr>
              <a:t>70%</a:t>
            </a:r>
            <a:r>
              <a:rPr lang="zh-CN" altLang="en-US" sz="1400" dirty="0">
                <a:latin typeface="微软雅黑" pitchFamily="34" charset="-122"/>
                <a:ea typeface="微软雅黑" pitchFamily="34" charset="-122"/>
              </a:rPr>
              <a:t>。</a:t>
            </a:r>
            <a:endParaRPr lang="en-US" altLang="zh-CN" sz="1400" dirty="0">
              <a:latin typeface="微软雅黑" pitchFamily="34" charset="-122"/>
              <a:ea typeface="微软雅黑" pitchFamily="34" charset="-122"/>
            </a:endParaRPr>
          </a:p>
          <a:p>
            <a:pPr algn="just">
              <a:lnSpc>
                <a:spcPct val="150000"/>
              </a:lnSpc>
            </a:pPr>
            <a:r>
              <a:rPr lang="zh-CN" altLang="en-US" sz="1600" dirty="0">
                <a:latin typeface="微软雅黑" pitchFamily="34" charset="-122"/>
                <a:ea typeface="微软雅黑" pitchFamily="34" charset="-122"/>
              </a:rPr>
              <a:t>  三</a:t>
            </a:r>
            <a:r>
              <a:rPr lang="zh-CN" altLang="en-US" sz="1600" b="1" dirty="0">
                <a:latin typeface="微软雅黑" pitchFamily="34" charset="-122"/>
                <a:ea typeface="微软雅黑" pitchFamily="34" charset="-122"/>
              </a:rPr>
              <a:t>、强化交易管理</a:t>
            </a:r>
            <a:endParaRPr lang="en-US" altLang="zh-CN" sz="1600" b="1" dirty="0">
              <a:latin typeface="微软雅黑" pitchFamily="34" charset="-122"/>
              <a:ea typeface="微软雅黑" pitchFamily="34" charset="-122"/>
            </a:endParaRPr>
          </a:p>
          <a:p>
            <a:pPr algn="just">
              <a:lnSpc>
                <a:spcPct val="150000"/>
              </a:lnSpc>
            </a:pPr>
            <a:r>
              <a:rPr lang="zh-CN" altLang="en-US" sz="1400" dirty="0">
                <a:latin typeface="+mj-ea"/>
                <a:ea typeface="+mj-ea"/>
              </a:rPr>
              <a:t>        </a:t>
            </a:r>
            <a:r>
              <a:rPr lang="zh-CN" altLang="en-US" sz="1400" b="1" dirty="0">
                <a:solidFill>
                  <a:srgbClr val="FF0000"/>
                </a:solidFill>
                <a:latin typeface="+mj-ea"/>
                <a:ea typeface="+mj-ea"/>
              </a:rPr>
              <a:t>强化“控地价、限房价”的交易方式</a:t>
            </a:r>
            <a:r>
              <a:rPr lang="zh-CN" altLang="en-US" sz="1400" dirty="0">
                <a:latin typeface="+mj-ea"/>
                <a:ea typeface="+mj-ea"/>
              </a:rPr>
              <a:t>，试点采取限定销售价格并将其作为土地招拍挂条件的措施，有效控制房地产价格快速上涨；</a:t>
            </a:r>
            <a:r>
              <a:rPr lang="zh-CN" altLang="en-US" sz="1400" b="1" dirty="0">
                <a:solidFill>
                  <a:srgbClr val="FF0000"/>
                </a:solidFill>
                <a:latin typeface="+mj-ea"/>
                <a:ea typeface="+mj-ea"/>
              </a:rPr>
              <a:t> 加强对房地产开发企业及其销售行为的管理，</a:t>
            </a:r>
            <a:r>
              <a:rPr lang="zh-CN" altLang="en-US" sz="1400" dirty="0">
                <a:latin typeface="+mj-ea"/>
                <a:ea typeface="+mj-ea"/>
              </a:rPr>
              <a:t>对报价明显高于周边在售项目价格和本项目前期成交价格且不接受指导的商品住房项目，期房预售的暂不核发预售许可证书、现房销售的暂不办理现房销售备案；</a:t>
            </a:r>
            <a:r>
              <a:rPr lang="zh-CN" altLang="en-US" sz="1400" b="1" dirty="0">
                <a:solidFill>
                  <a:srgbClr val="FF0000"/>
                </a:solidFill>
                <a:latin typeface="+mj-ea"/>
                <a:ea typeface="+mj-ea"/>
              </a:rPr>
              <a:t>加强对房地产经纪机构及其经纪活动的管理，</a:t>
            </a:r>
            <a:r>
              <a:rPr lang="zh-CN" altLang="en-US" sz="1400" dirty="0">
                <a:latin typeface="+mj-ea"/>
                <a:ea typeface="+mj-ea"/>
              </a:rPr>
              <a:t>全面实施存量房交易资金监管；</a:t>
            </a:r>
            <a:r>
              <a:rPr lang="zh-CN" altLang="en-US" sz="1400" b="1" dirty="0">
                <a:solidFill>
                  <a:srgbClr val="FF0000"/>
                </a:solidFill>
                <a:latin typeface="+mj-ea"/>
                <a:ea typeface="+mj-ea"/>
              </a:rPr>
              <a:t>严肃查处房地产市场违法违规行为，</a:t>
            </a:r>
            <a:r>
              <a:rPr lang="zh-CN" altLang="en-US" sz="1400" dirty="0">
                <a:latin typeface="+mj-ea"/>
                <a:ea typeface="+mj-ea"/>
              </a:rPr>
              <a:t>加大市场监管执法力度；</a:t>
            </a:r>
            <a:r>
              <a:rPr lang="zh-CN" altLang="en-US" sz="1400" b="1" dirty="0">
                <a:solidFill>
                  <a:srgbClr val="FF0000"/>
                </a:solidFill>
                <a:latin typeface="+mj-ea"/>
                <a:ea typeface="+mj-ea"/>
              </a:rPr>
              <a:t>切实加强组织领导</a:t>
            </a:r>
            <a:r>
              <a:rPr lang="zh-CN" altLang="en-US" sz="1400" b="1" dirty="0">
                <a:latin typeface="+mj-ea"/>
                <a:ea typeface="+mj-ea"/>
              </a:rPr>
              <a:t>，</a:t>
            </a:r>
            <a:r>
              <a:rPr lang="zh-CN" altLang="en-US" sz="1400" dirty="0">
                <a:latin typeface="+mj-ea"/>
                <a:ea typeface="+mj-ea"/>
              </a:rPr>
              <a:t>建立本市加强房地产市场监管工作联席会议制度。</a:t>
            </a:r>
            <a:endParaRPr lang="en-US" altLang="zh-CN" sz="1400" b="1" dirty="0">
              <a:solidFill>
                <a:srgbClr val="FF0000"/>
              </a:solidFill>
              <a:latin typeface="+mj-ea"/>
              <a:ea typeface="+mj-ea"/>
            </a:endParaRPr>
          </a:p>
        </p:txBody>
      </p:sp>
      <p:sp>
        <p:nvSpPr>
          <p:cNvPr id="2" name="矩形 1"/>
          <p:cNvSpPr/>
          <p:nvPr/>
        </p:nvSpPr>
        <p:spPr>
          <a:xfrm>
            <a:off x="463181" y="674721"/>
            <a:ext cx="5724644" cy="369332"/>
          </a:xfrm>
          <a:prstGeom prst="rect">
            <a:avLst/>
          </a:prstGeom>
        </p:spPr>
        <p:txBody>
          <a:bodyPr wrap="none">
            <a:spAutoFit/>
          </a:bodyPr>
          <a:lstStyle/>
          <a:p>
            <a:r>
              <a:rPr lang="zh-CN" altLang="en-US" b="1" dirty="0">
                <a:latin typeface="+mj-ea"/>
                <a:ea typeface="+mj-ea"/>
              </a:rPr>
              <a:t>政策内容：优化供应结构及交易管理，实行差别化信贷</a:t>
            </a:r>
          </a:p>
        </p:txBody>
      </p:sp>
    </p:spTree>
    <p:extLst>
      <p:ext uri="{BB962C8B-B14F-4D97-AF65-F5344CB8AC3E}">
        <p14:creationId xmlns:p14="http://schemas.microsoft.com/office/powerpoint/2010/main" val="16335231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3"/>
          <p:cNvSpPr>
            <a:spLocks noGrp="1"/>
          </p:cNvSpPr>
          <p:nvPr>
            <p:ph type="title"/>
          </p:nvPr>
        </p:nvSpPr>
        <p:spPr>
          <a:xfrm>
            <a:off x="91119" y="40862"/>
            <a:ext cx="8595681" cy="474662"/>
          </a:xfrm>
        </p:spPr>
        <p:txBody>
          <a:bodyPr>
            <a:normAutofit fontScale="90000"/>
          </a:bodyPr>
          <a:lstStyle/>
          <a:p>
            <a:r>
              <a:rPr lang="zh-CN" altLang="en-US" dirty="0"/>
              <a:t>政策面</a:t>
            </a:r>
            <a:r>
              <a:rPr lang="en-US" altLang="zh-CN" dirty="0"/>
              <a:t>|</a:t>
            </a:r>
            <a:r>
              <a:rPr lang="zh-CN" altLang="en-US" sz="2200" dirty="0"/>
              <a:t>供求双向调节，促进市场平稳发展</a:t>
            </a:r>
            <a:br>
              <a:rPr lang="zh-CN" altLang="en-US" sz="2000" dirty="0"/>
            </a:br>
            <a:endParaRPr lang="zh-CN" altLang="en-US" sz="900" dirty="0">
              <a:latin typeface="微软雅黑" pitchFamily="34" charset="-122"/>
              <a:ea typeface="微软雅黑" pitchFamily="34" charset="-122"/>
            </a:endParaRPr>
          </a:p>
        </p:txBody>
      </p:sp>
      <p:sp>
        <p:nvSpPr>
          <p:cNvPr id="26" name="幻灯片编号占位符 1"/>
          <p:cNvSpPr txBox="1">
            <a:spLocks/>
          </p:cNvSpPr>
          <p:nvPr/>
        </p:nvSpPr>
        <p:spPr>
          <a:xfrm>
            <a:off x="6553200" y="6546886"/>
            <a:ext cx="2133600" cy="365125"/>
          </a:xfrm>
          <a:prstGeom prst="rect">
            <a:avLst/>
          </a:prstGeom>
        </p:spPr>
        <p:txBody>
          <a:bodyPr vert="horz" lIns="91440" tIns="45720" rIns="91440" bIns="45720" rtlCol="0" anchor="ctr"/>
          <a:lstStyle>
            <a:defPPr>
              <a:defRPr lang="zh-CN"/>
            </a:defPPr>
            <a:lvl1pPr marL="0" algn="r" defTabSz="457200" rtl="0" eaLnBrk="1" latinLnBrk="0" hangingPunct="1">
              <a:defRPr kumimoji="1" sz="1400" b="1" i="0" kern="1200">
                <a:solidFill>
                  <a:srgbClr val="133176"/>
                </a:solidFill>
                <a:latin typeface="+mj-ea"/>
                <a:ea typeface="+mj-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3E8B6F27-EC4F-B34E-9F32-10CC92E9AB18}" type="slidenum">
              <a:rPr lang="zh-CN" altLang="en-US" smtClean="0"/>
              <a:pPr>
                <a:defRPr/>
              </a:pPr>
              <a:t>7</a:t>
            </a:fld>
            <a:endParaRPr lang="zh-CN" altLang="en-US" dirty="0"/>
          </a:p>
        </p:txBody>
      </p:sp>
      <p:sp>
        <p:nvSpPr>
          <p:cNvPr id="6" name="矩形 5"/>
          <p:cNvSpPr/>
          <p:nvPr/>
        </p:nvSpPr>
        <p:spPr>
          <a:xfrm>
            <a:off x="423858" y="692074"/>
            <a:ext cx="7996811" cy="418191"/>
          </a:xfrm>
          <a:prstGeom prst="rect">
            <a:avLst/>
          </a:prstGeom>
        </p:spPr>
        <p:txBody>
          <a:bodyPr wrap="square">
            <a:spAutoFit/>
          </a:bodyPr>
          <a:lstStyle/>
          <a:p>
            <a:pPr algn="just">
              <a:lnSpc>
                <a:spcPct val="150000"/>
              </a:lnSpc>
            </a:pPr>
            <a:r>
              <a:rPr lang="zh-CN" altLang="en-US" sz="1600" b="1" dirty="0">
                <a:latin typeface="微软雅黑" pitchFamily="34" charset="-122"/>
                <a:ea typeface="微软雅黑" pitchFamily="34" charset="-122"/>
              </a:rPr>
              <a:t> </a:t>
            </a:r>
            <a:endParaRPr lang="en-US" altLang="zh-CN" sz="1600" b="1" dirty="0">
              <a:solidFill>
                <a:srgbClr val="FF0000"/>
              </a:solidFill>
              <a:latin typeface="+mj-ea"/>
              <a:ea typeface="+mj-ea"/>
            </a:endParaRPr>
          </a:p>
        </p:txBody>
      </p:sp>
      <p:sp>
        <p:nvSpPr>
          <p:cNvPr id="2" name="矩形 1"/>
          <p:cNvSpPr/>
          <p:nvPr/>
        </p:nvSpPr>
        <p:spPr>
          <a:xfrm>
            <a:off x="730154" y="1325560"/>
            <a:ext cx="7690515" cy="3231654"/>
          </a:xfrm>
          <a:prstGeom prst="rect">
            <a:avLst/>
          </a:prstGeom>
        </p:spPr>
        <p:txBody>
          <a:bodyPr wrap="square">
            <a:spAutoFit/>
          </a:bodyPr>
          <a:lstStyle/>
          <a:p>
            <a:pPr marL="285750" indent="-285750">
              <a:lnSpc>
                <a:spcPct val="150000"/>
              </a:lnSpc>
              <a:buClr>
                <a:srgbClr val="FF0000"/>
              </a:buClr>
              <a:buFont typeface="Wingdings" pitchFamily="2" charset="2"/>
              <a:buChar char="n"/>
            </a:pPr>
            <a:r>
              <a:rPr lang="zh-CN" altLang="en-US" sz="1600" b="1" dirty="0">
                <a:solidFill>
                  <a:srgbClr val="FF0000"/>
                </a:solidFill>
                <a:latin typeface="微软雅黑" pitchFamily="34" charset="-122"/>
                <a:ea typeface="微软雅黑" pitchFamily="34" charset="-122"/>
              </a:rPr>
              <a:t>确定重启“</a:t>
            </a:r>
            <a:r>
              <a:rPr lang="en-US" altLang="zh-CN" sz="1600" b="1" dirty="0">
                <a:solidFill>
                  <a:srgbClr val="FF0000"/>
                </a:solidFill>
                <a:latin typeface="微软雅黑" pitchFamily="34" charset="-122"/>
                <a:ea typeface="微软雅黑" pitchFamily="34" charset="-122"/>
              </a:rPr>
              <a:t>70/90</a:t>
            </a:r>
            <a:r>
              <a:rPr lang="zh-CN" altLang="en-US" sz="1600" b="1" dirty="0">
                <a:solidFill>
                  <a:srgbClr val="FF0000"/>
                </a:solidFill>
                <a:latin typeface="微软雅黑" pitchFamily="34" charset="-122"/>
                <a:ea typeface="微软雅黑" pitchFamily="34" charset="-122"/>
              </a:rPr>
              <a:t>政策”，加大自住房房供应，</a:t>
            </a:r>
            <a:r>
              <a:rPr lang="zh-CN" altLang="en-US" sz="1400" dirty="0">
                <a:latin typeface="微软雅黑" pitchFamily="34" charset="-122"/>
                <a:ea typeface="微软雅黑" pitchFamily="34" charset="-122"/>
              </a:rPr>
              <a:t>新政通过加大住宅用地，调整土地供应结构，从源头上保证了增加住房供给，</a:t>
            </a:r>
            <a:r>
              <a:rPr lang="zh-CN" altLang="en-US" sz="1400" b="1" dirty="0">
                <a:latin typeface="微软雅黑" pitchFamily="34" charset="-122"/>
                <a:ea typeface="微软雅黑" pitchFamily="34" charset="-122"/>
              </a:rPr>
              <a:t>既满足了百姓的刚性住房需求，又能对稳定房价起到一定作用。</a:t>
            </a:r>
            <a:endParaRPr lang="en-US" altLang="zh-CN" sz="1400" b="1" dirty="0">
              <a:latin typeface="微软雅黑" pitchFamily="34" charset="-122"/>
              <a:ea typeface="微软雅黑" pitchFamily="34" charset="-122"/>
            </a:endParaRPr>
          </a:p>
          <a:p>
            <a:pPr marL="285750" indent="-285750">
              <a:lnSpc>
                <a:spcPct val="150000"/>
              </a:lnSpc>
              <a:buClr>
                <a:srgbClr val="FF0000"/>
              </a:buClr>
              <a:buFont typeface="Wingdings" pitchFamily="2" charset="2"/>
              <a:buChar char="n"/>
            </a:pPr>
            <a:r>
              <a:rPr lang="zh-CN" altLang="en-US" sz="1600" b="1" dirty="0">
                <a:solidFill>
                  <a:srgbClr val="FF0000"/>
                </a:solidFill>
                <a:latin typeface="微软雅黑" pitchFamily="34" charset="-122"/>
                <a:ea typeface="微软雅黑" pitchFamily="34" charset="-122"/>
              </a:rPr>
              <a:t>提高首付比例，认房又认贷，</a:t>
            </a:r>
            <a:r>
              <a:rPr lang="zh-CN" altLang="en-US" sz="1400" dirty="0">
                <a:latin typeface="微软雅黑" pitchFamily="34" charset="-122"/>
                <a:ea typeface="微软雅黑" pitchFamily="34" charset="-122"/>
              </a:rPr>
              <a:t>其目的在于打击投资性需求的释放，让住房回归居住功能，抑制投机、保证刚需、稳定市场和房价、支持资金流向实体经济。</a:t>
            </a:r>
            <a:r>
              <a:rPr lang="zh-CN" altLang="en-US" sz="1400" b="1" dirty="0">
                <a:latin typeface="微软雅黑" pitchFamily="34" charset="-122"/>
                <a:ea typeface="微软雅黑" pitchFamily="34" charset="-122"/>
              </a:rPr>
              <a:t>政策收紧，四季度或将量降价稳：政策对投资需求打击最为明显，改善性需求也是限贷限购的主要对象，预计四季度成交量将有明显下滑。此外，政策收紧改变市场预期，加重买卖双方观望情绪，价格涨幅将放缓，年内将总体维持平稳。</a:t>
            </a:r>
            <a:endParaRPr lang="en-US" altLang="zh-CN" sz="1400" b="1" dirty="0">
              <a:latin typeface="微软雅黑" pitchFamily="34" charset="-122"/>
              <a:ea typeface="微软雅黑" pitchFamily="34" charset="-122"/>
            </a:endParaRPr>
          </a:p>
          <a:p>
            <a:pPr>
              <a:lnSpc>
                <a:spcPct val="150000"/>
              </a:lnSpc>
              <a:buClr>
                <a:srgbClr val="FF0000"/>
              </a:buClr>
            </a:pPr>
            <a:endParaRPr lang="zh-CN" altLang="en-US" sz="1600" b="1" dirty="0">
              <a:latin typeface="微软雅黑" pitchFamily="34" charset="-122"/>
              <a:ea typeface="微软雅黑" pitchFamily="34" charset="-122"/>
            </a:endParaRPr>
          </a:p>
        </p:txBody>
      </p:sp>
      <p:sp>
        <p:nvSpPr>
          <p:cNvPr id="4" name="矩形 3"/>
          <p:cNvSpPr/>
          <p:nvPr/>
        </p:nvSpPr>
        <p:spPr>
          <a:xfrm>
            <a:off x="423856" y="787610"/>
            <a:ext cx="6591091" cy="707886"/>
          </a:xfrm>
          <a:prstGeom prst="rect">
            <a:avLst/>
          </a:prstGeom>
        </p:spPr>
        <p:txBody>
          <a:bodyPr wrap="square">
            <a:spAutoFit/>
          </a:bodyPr>
          <a:lstStyle/>
          <a:p>
            <a:r>
              <a:rPr lang="zh-CN" altLang="en-US" sz="2000" b="1" dirty="0">
                <a:latin typeface="+mj-ea"/>
                <a:ea typeface="+mj-ea"/>
              </a:rPr>
              <a:t>政策解析：政策收紧改变市场预期，价格涨幅趋缓</a:t>
            </a:r>
          </a:p>
          <a:p>
            <a:endParaRPr lang="zh-CN" altLang="en-US" sz="2000" dirty="0">
              <a:latin typeface="+mj-ea"/>
              <a:ea typeface="+mj-ea"/>
            </a:endParaRPr>
          </a:p>
        </p:txBody>
      </p:sp>
      <p:sp>
        <p:nvSpPr>
          <p:cNvPr id="5" name="矩形 4"/>
          <p:cNvSpPr/>
          <p:nvPr/>
        </p:nvSpPr>
        <p:spPr>
          <a:xfrm>
            <a:off x="915178" y="4741879"/>
            <a:ext cx="7996811" cy="787523"/>
          </a:xfrm>
          <a:prstGeom prst="rect">
            <a:avLst/>
          </a:prstGeom>
        </p:spPr>
        <p:txBody>
          <a:bodyPr wrap="square">
            <a:spAutoFit/>
          </a:bodyPr>
          <a:lstStyle/>
          <a:p>
            <a:pPr>
              <a:lnSpc>
                <a:spcPct val="150000"/>
              </a:lnSpc>
            </a:pPr>
            <a:r>
              <a:rPr lang="zh-CN" altLang="en-US" sz="1600" dirty="0">
                <a:latin typeface="+mj-ea"/>
                <a:ea typeface="+mj-ea"/>
              </a:rPr>
              <a:t>京八条的出台，短期内</a:t>
            </a:r>
            <a:r>
              <a:rPr lang="zh-CN" altLang="en-US" sz="1600" b="1" dirty="0">
                <a:solidFill>
                  <a:srgbClr val="FF0000"/>
                </a:solidFill>
                <a:latin typeface="+mj-ea"/>
                <a:ea typeface="+mj-ea"/>
              </a:rPr>
              <a:t>公寓</a:t>
            </a:r>
            <a:r>
              <a:rPr lang="zh-CN" altLang="en-US" sz="1600" dirty="0">
                <a:latin typeface="+mj-ea"/>
                <a:ea typeface="+mj-ea"/>
              </a:rPr>
              <a:t>或将获利，但公寓相关的政策预计也会很快出台，</a:t>
            </a:r>
            <a:endParaRPr lang="en-US" altLang="zh-CN" sz="1600" dirty="0">
              <a:latin typeface="+mj-ea"/>
              <a:ea typeface="+mj-ea"/>
            </a:endParaRPr>
          </a:p>
          <a:p>
            <a:pPr>
              <a:lnSpc>
                <a:spcPct val="150000"/>
              </a:lnSpc>
            </a:pPr>
            <a:r>
              <a:rPr lang="zh-CN" altLang="en-US" sz="1600" dirty="0">
                <a:latin typeface="+mj-ea"/>
                <a:ea typeface="+mj-ea"/>
              </a:rPr>
              <a:t>长期看，</a:t>
            </a:r>
            <a:r>
              <a:rPr lang="zh-CN" altLang="en-US" sz="1600" b="1" dirty="0">
                <a:solidFill>
                  <a:srgbClr val="FF0000"/>
                </a:solidFill>
                <a:latin typeface="+mj-ea"/>
                <a:ea typeface="+mj-ea"/>
              </a:rPr>
              <a:t>小户型低总价的公寓作为刚需住宅的替代，仍然有比较稳定的需求</a:t>
            </a:r>
            <a:r>
              <a:rPr lang="zh-CN" altLang="en-US" sz="1600" dirty="0">
                <a:latin typeface="+mj-ea"/>
                <a:ea typeface="+mj-ea"/>
              </a:rPr>
              <a:t>。</a:t>
            </a:r>
          </a:p>
        </p:txBody>
      </p:sp>
    </p:spTree>
    <p:extLst>
      <p:ext uri="{BB962C8B-B14F-4D97-AF65-F5344CB8AC3E}">
        <p14:creationId xmlns:p14="http://schemas.microsoft.com/office/powerpoint/2010/main" val="24216894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编号占位符 1"/>
          <p:cNvSpPr>
            <a:spLocks noGrp="1"/>
          </p:cNvSpPr>
          <p:nvPr>
            <p:ph type="sldNum" sz="quarter" idx="4"/>
          </p:nvPr>
        </p:nvSpPr>
        <p:spPr/>
        <p:txBody>
          <a:bodyPr/>
          <a:lstStyle/>
          <a:p>
            <a:pPr>
              <a:defRPr/>
            </a:pPr>
            <a:fld id="{3E8B6F27-EC4F-B34E-9F32-10CC92E9AB18}" type="slidenum">
              <a:rPr lang="zh-CN" altLang="en-US" smtClean="0"/>
              <a:t>8</a:t>
            </a:fld>
            <a:endParaRPr lang="zh-CN" altLang="en-US" dirty="0"/>
          </a:p>
        </p:txBody>
      </p:sp>
      <p:sp>
        <p:nvSpPr>
          <p:cNvPr id="13" name="标题 3"/>
          <p:cNvSpPr>
            <a:spLocks noGrp="1"/>
          </p:cNvSpPr>
          <p:nvPr>
            <p:ph type="title"/>
          </p:nvPr>
        </p:nvSpPr>
        <p:spPr>
          <a:xfrm>
            <a:off x="86171" y="45236"/>
            <a:ext cx="5462090" cy="474662"/>
          </a:xfrm>
        </p:spPr>
        <p:txBody>
          <a:bodyPr>
            <a:normAutofit/>
          </a:bodyPr>
          <a:lstStyle/>
          <a:p>
            <a:r>
              <a:rPr lang="zh-CN" altLang="en-US" dirty="0"/>
              <a:t>市场面</a:t>
            </a:r>
            <a:r>
              <a:rPr lang="en-US" altLang="zh-CN" dirty="0"/>
              <a:t>|</a:t>
            </a:r>
            <a:r>
              <a:rPr lang="zh-CN" altLang="en-US" sz="1800" dirty="0"/>
              <a:t>全国市场面向好，价格上涨城市明显增多</a:t>
            </a:r>
          </a:p>
        </p:txBody>
      </p:sp>
      <p:graphicFrame>
        <p:nvGraphicFramePr>
          <p:cNvPr id="6" name="图表 5"/>
          <p:cNvGraphicFramePr>
            <a:graphicFrameLocks/>
          </p:cNvGraphicFramePr>
          <p:nvPr>
            <p:extLst>
              <p:ext uri="{D42A27DB-BD31-4B8C-83A1-F6EECF244321}">
                <p14:modId xmlns:p14="http://schemas.microsoft.com/office/powerpoint/2010/main" val="2318245025"/>
              </p:ext>
            </p:extLst>
          </p:nvPr>
        </p:nvGraphicFramePr>
        <p:xfrm>
          <a:off x="752661" y="3942607"/>
          <a:ext cx="7738196" cy="257100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图表 6"/>
          <p:cNvGraphicFramePr>
            <a:graphicFrameLocks/>
          </p:cNvGraphicFramePr>
          <p:nvPr>
            <p:extLst>
              <p:ext uri="{D42A27DB-BD31-4B8C-83A1-F6EECF244321}">
                <p14:modId xmlns:p14="http://schemas.microsoft.com/office/powerpoint/2010/main" val="3186993390"/>
              </p:ext>
            </p:extLst>
          </p:nvPr>
        </p:nvGraphicFramePr>
        <p:xfrm>
          <a:off x="930790" y="1190500"/>
          <a:ext cx="7405689" cy="2835234"/>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p:cNvSpPr txBox="1"/>
          <p:nvPr/>
        </p:nvSpPr>
        <p:spPr>
          <a:xfrm>
            <a:off x="503335" y="738041"/>
            <a:ext cx="4541244" cy="369332"/>
          </a:xfrm>
          <a:prstGeom prst="rect">
            <a:avLst/>
          </a:prstGeom>
          <a:noFill/>
        </p:spPr>
        <p:txBody>
          <a:bodyPr wrap="square" rtlCol="0">
            <a:spAutoFit/>
          </a:bodyPr>
          <a:lstStyle/>
          <a:p>
            <a:r>
              <a:rPr lang="zh-CN" altLang="en-US" b="1" dirty="0">
                <a:solidFill>
                  <a:srgbClr val="FF0000"/>
                </a:solidFill>
                <a:latin typeface="微软雅黑" pitchFamily="34" charset="-122"/>
                <a:ea typeface="微软雅黑" pitchFamily="34" charset="-122"/>
              </a:rPr>
              <a:t>全国价格呈上涨趋势</a:t>
            </a:r>
          </a:p>
        </p:txBody>
      </p:sp>
    </p:spTree>
    <p:extLst>
      <p:ext uri="{BB962C8B-B14F-4D97-AF65-F5344CB8AC3E}">
        <p14:creationId xmlns:p14="http://schemas.microsoft.com/office/powerpoint/2010/main" val="12302545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编号占位符 1"/>
          <p:cNvSpPr>
            <a:spLocks noGrp="1"/>
          </p:cNvSpPr>
          <p:nvPr>
            <p:ph type="sldNum" sz="quarter" idx="4"/>
          </p:nvPr>
        </p:nvSpPr>
        <p:spPr/>
        <p:txBody>
          <a:bodyPr/>
          <a:lstStyle/>
          <a:p>
            <a:pPr>
              <a:defRPr/>
            </a:pPr>
            <a:fld id="{3E8B6F27-EC4F-B34E-9F32-10CC92E9AB18}" type="slidenum">
              <a:rPr lang="zh-CN" altLang="en-US" smtClean="0"/>
              <a:t>9</a:t>
            </a:fld>
            <a:endParaRPr lang="zh-CN" altLang="en-US" dirty="0"/>
          </a:p>
        </p:txBody>
      </p:sp>
      <p:sp>
        <p:nvSpPr>
          <p:cNvPr id="13" name="标题 3"/>
          <p:cNvSpPr>
            <a:spLocks noGrp="1"/>
          </p:cNvSpPr>
          <p:nvPr>
            <p:ph type="title"/>
          </p:nvPr>
        </p:nvSpPr>
        <p:spPr>
          <a:xfrm>
            <a:off x="86171" y="45236"/>
            <a:ext cx="5462090" cy="474662"/>
          </a:xfrm>
        </p:spPr>
        <p:txBody>
          <a:bodyPr>
            <a:normAutofit fontScale="90000"/>
          </a:bodyPr>
          <a:lstStyle/>
          <a:p>
            <a:r>
              <a:rPr lang="zh-CN" altLang="en-US" dirty="0"/>
              <a:t>资金面</a:t>
            </a:r>
            <a:r>
              <a:rPr lang="en-US" altLang="zh-CN" dirty="0"/>
              <a:t>|</a:t>
            </a:r>
            <a:r>
              <a:rPr lang="zh-CN" altLang="en-US" sz="2000" dirty="0"/>
              <a:t>全国利率继续维持低位，银行收紧态势趋显</a:t>
            </a:r>
            <a:endParaRPr lang="zh-CN" altLang="en-US" sz="1200" dirty="0"/>
          </a:p>
        </p:txBody>
      </p:sp>
      <p:graphicFrame>
        <p:nvGraphicFramePr>
          <p:cNvPr id="3" name="表格 2"/>
          <p:cNvGraphicFramePr>
            <a:graphicFrameLocks noGrp="1"/>
          </p:cNvGraphicFramePr>
          <p:nvPr>
            <p:extLst>
              <p:ext uri="{D42A27DB-BD31-4B8C-83A1-F6EECF244321}">
                <p14:modId xmlns:p14="http://schemas.microsoft.com/office/powerpoint/2010/main" val="1286333949"/>
              </p:ext>
            </p:extLst>
          </p:nvPr>
        </p:nvGraphicFramePr>
        <p:xfrm>
          <a:off x="1199408" y="4065043"/>
          <a:ext cx="6863939" cy="2447995"/>
        </p:xfrm>
        <a:graphic>
          <a:graphicData uri="http://schemas.openxmlformats.org/drawingml/2006/table">
            <a:tbl>
              <a:tblPr>
                <a:tableStyleId>{5C22544A-7EE6-4342-B048-85BDC9FD1C3A}</a:tableStyleId>
              </a:tblPr>
              <a:tblGrid>
                <a:gridCol w="784866">
                  <a:extLst>
                    <a:ext uri="{9D8B030D-6E8A-4147-A177-3AD203B41FA5}">
                      <a16:colId xmlns:a16="http://schemas.microsoft.com/office/drawing/2014/main" val="20000"/>
                    </a:ext>
                  </a:extLst>
                </a:gridCol>
                <a:gridCol w="898258">
                  <a:extLst>
                    <a:ext uri="{9D8B030D-6E8A-4147-A177-3AD203B41FA5}">
                      <a16:colId xmlns:a16="http://schemas.microsoft.com/office/drawing/2014/main" val="20001"/>
                    </a:ext>
                  </a:extLst>
                </a:gridCol>
                <a:gridCol w="938257">
                  <a:extLst>
                    <a:ext uri="{9D8B030D-6E8A-4147-A177-3AD203B41FA5}">
                      <a16:colId xmlns:a16="http://schemas.microsoft.com/office/drawing/2014/main" val="20002"/>
                    </a:ext>
                  </a:extLst>
                </a:gridCol>
                <a:gridCol w="750633">
                  <a:extLst>
                    <a:ext uri="{9D8B030D-6E8A-4147-A177-3AD203B41FA5}">
                      <a16:colId xmlns:a16="http://schemas.microsoft.com/office/drawing/2014/main" val="20003"/>
                    </a:ext>
                  </a:extLst>
                </a:gridCol>
                <a:gridCol w="784866">
                  <a:extLst>
                    <a:ext uri="{9D8B030D-6E8A-4147-A177-3AD203B41FA5}">
                      <a16:colId xmlns:a16="http://schemas.microsoft.com/office/drawing/2014/main" val="20004"/>
                    </a:ext>
                  </a:extLst>
                </a:gridCol>
                <a:gridCol w="1017418">
                  <a:extLst>
                    <a:ext uri="{9D8B030D-6E8A-4147-A177-3AD203B41FA5}">
                      <a16:colId xmlns:a16="http://schemas.microsoft.com/office/drawing/2014/main" val="20005"/>
                    </a:ext>
                  </a:extLst>
                </a:gridCol>
                <a:gridCol w="904775">
                  <a:extLst>
                    <a:ext uri="{9D8B030D-6E8A-4147-A177-3AD203B41FA5}">
                      <a16:colId xmlns:a16="http://schemas.microsoft.com/office/drawing/2014/main" val="20006"/>
                    </a:ext>
                  </a:extLst>
                </a:gridCol>
                <a:gridCol w="784866">
                  <a:extLst>
                    <a:ext uri="{9D8B030D-6E8A-4147-A177-3AD203B41FA5}">
                      <a16:colId xmlns:a16="http://schemas.microsoft.com/office/drawing/2014/main" val="20007"/>
                    </a:ext>
                  </a:extLst>
                </a:gridCol>
              </a:tblGrid>
              <a:tr h="222545">
                <a:tc>
                  <a:txBody>
                    <a:bodyPr/>
                    <a:lstStyle/>
                    <a:p>
                      <a:pPr algn="ctr" fontAlgn="b"/>
                      <a:r>
                        <a:rPr lang="zh-CN" altLang="en-US" sz="1200" b="1" u="none" strike="noStrike" dirty="0">
                          <a:solidFill>
                            <a:schemeClr val="bg1"/>
                          </a:solidFill>
                          <a:effectLst/>
                          <a:latin typeface="+mj-ea"/>
                          <a:ea typeface="+mj-ea"/>
                        </a:rPr>
                        <a:t>城市</a:t>
                      </a:r>
                      <a:endParaRPr lang="zh-CN" altLang="en-US" sz="1200" b="1" i="0" u="none" strike="noStrike" dirty="0">
                        <a:solidFill>
                          <a:schemeClr val="bg1"/>
                        </a:solidFill>
                        <a:effectLst/>
                        <a:latin typeface="+mj-ea"/>
                        <a:ea typeface="+mj-ea"/>
                      </a:endParaRPr>
                    </a:p>
                  </a:txBody>
                  <a:tcPr marL="9525" marR="9525" marT="9525" marB="0" anchor="b">
                    <a:solidFill>
                      <a:srgbClr val="006EC7"/>
                    </a:solidFill>
                  </a:tcPr>
                </a:tc>
                <a:tc>
                  <a:txBody>
                    <a:bodyPr/>
                    <a:lstStyle/>
                    <a:p>
                      <a:pPr algn="ctr" fontAlgn="b"/>
                      <a:r>
                        <a:rPr lang="en-US" altLang="zh-CN" sz="1200" b="1" u="none" strike="noStrike" dirty="0">
                          <a:solidFill>
                            <a:schemeClr val="bg1"/>
                          </a:solidFill>
                          <a:effectLst/>
                          <a:latin typeface="+mj-ea"/>
                          <a:ea typeface="+mj-ea"/>
                        </a:rPr>
                        <a:t>2016</a:t>
                      </a:r>
                      <a:r>
                        <a:rPr lang="zh-CN" altLang="en-US" sz="1200" b="1" u="none" strike="noStrike" dirty="0">
                          <a:solidFill>
                            <a:schemeClr val="bg1"/>
                          </a:solidFill>
                          <a:effectLst/>
                          <a:latin typeface="+mj-ea"/>
                          <a:ea typeface="+mj-ea"/>
                        </a:rPr>
                        <a:t>年</a:t>
                      </a:r>
                      <a:r>
                        <a:rPr lang="en-US" altLang="zh-CN" sz="1200" b="1" u="none" strike="noStrike" dirty="0">
                          <a:solidFill>
                            <a:schemeClr val="bg1"/>
                          </a:solidFill>
                          <a:effectLst/>
                          <a:latin typeface="+mj-ea"/>
                          <a:ea typeface="+mj-ea"/>
                        </a:rPr>
                        <a:t>8</a:t>
                      </a:r>
                      <a:r>
                        <a:rPr lang="zh-CN" altLang="en-US" sz="1200" b="1" u="none" strike="noStrike" dirty="0">
                          <a:solidFill>
                            <a:schemeClr val="bg1"/>
                          </a:solidFill>
                          <a:effectLst/>
                          <a:latin typeface="+mj-ea"/>
                          <a:ea typeface="+mj-ea"/>
                        </a:rPr>
                        <a:t>月</a:t>
                      </a:r>
                      <a:endParaRPr lang="zh-CN" altLang="en-US" sz="1200" b="1" i="0" u="none" strike="noStrike" dirty="0">
                        <a:solidFill>
                          <a:schemeClr val="bg1"/>
                        </a:solidFill>
                        <a:effectLst/>
                        <a:latin typeface="+mj-ea"/>
                        <a:ea typeface="+mj-ea"/>
                      </a:endParaRPr>
                    </a:p>
                  </a:txBody>
                  <a:tcPr marL="9525" marR="9525" marT="9525" marB="0" anchor="b">
                    <a:solidFill>
                      <a:srgbClr val="006EC7"/>
                    </a:solidFill>
                  </a:tcPr>
                </a:tc>
                <a:tc>
                  <a:txBody>
                    <a:bodyPr/>
                    <a:lstStyle/>
                    <a:p>
                      <a:pPr algn="ctr" fontAlgn="b"/>
                      <a:r>
                        <a:rPr lang="en-US" altLang="zh-CN" sz="1200" b="1" u="none" strike="noStrike" dirty="0">
                          <a:solidFill>
                            <a:schemeClr val="bg1"/>
                          </a:solidFill>
                          <a:effectLst/>
                          <a:latin typeface="+mj-ea"/>
                          <a:ea typeface="+mj-ea"/>
                        </a:rPr>
                        <a:t>2016</a:t>
                      </a:r>
                      <a:r>
                        <a:rPr lang="zh-CN" altLang="en-US" sz="1200" b="1" u="none" strike="noStrike" dirty="0">
                          <a:solidFill>
                            <a:schemeClr val="bg1"/>
                          </a:solidFill>
                          <a:effectLst/>
                          <a:latin typeface="+mj-ea"/>
                          <a:ea typeface="+mj-ea"/>
                        </a:rPr>
                        <a:t>年</a:t>
                      </a:r>
                      <a:r>
                        <a:rPr lang="en-US" altLang="zh-CN" sz="1200" b="1" u="none" strike="noStrike" dirty="0">
                          <a:solidFill>
                            <a:schemeClr val="bg1"/>
                          </a:solidFill>
                          <a:effectLst/>
                          <a:latin typeface="+mj-ea"/>
                          <a:ea typeface="+mj-ea"/>
                        </a:rPr>
                        <a:t>9</a:t>
                      </a:r>
                      <a:r>
                        <a:rPr lang="zh-CN" altLang="en-US" sz="1200" b="1" u="none" strike="noStrike" dirty="0">
                          <a:solidFill>
                            <a:schemeClr val="bg1"/>
                          </a:solidFill>
                          <a:effectLst/>
                          <a:latin typeface="+mj-ea"/>
                          <a:ea typeface="+mj-ea"/>
                        </a:rPr>
                        <a:t>月</a:t>
                      </a:r>
                      <a:endParaRPr lang="zh-CN" altLang="en-US" sz="1200" b="1" i="0" u="none" strike="noStrike" dirty="0">
                        <a:solidFill>
                          <a:schemeClr val="bg1"/>
                        </a:solidFill>
                        <a:effectLst/>
                        <a:latin typeface="+mj-ea"/>
                        <a:ea typeface="+mj-ea"/>
                      </a:endParaRPr>
                    </a:p>
                  </a:txBody>
                  <a:tcPr marL="9525" marR="9525" marT="9525" marB="0" anchor="b">
                    <a:solidFill>
                      <a:srgbClr val="006EC7"/>
                    </a:solidFill>
                  </a:tcPr>
                </a:tc>
                <a:tc>
                  <a:txBody>
                    <a:bodyPr/>
                    <a:lstStyle/>
                    <a:p>
                      <a:pPr algn="ctr" fontAlgn="b"/>
                      <a:r>
                        <a:rPr lang="zh-CN" altLang="en-US" sz="1200" b="1" u="none" strike="noStrike" dirty="0">
                          <a:solidFill>
                            <a:schemeClr val="bg1"/>
                          </a:solidFill>
                          <a:effectLst/>
                          <a:latin typeface="+mj-ea"/>
                          <a:ea typeface="+mj-ea"/>
                        </a:rPr>
                        <a:t>变化情况</a:t>
                      </a:r>
                      <a:endParaRPr lang="zh-CN" altLang="en-US" sz="1200" b="1" i="0" u="none" strike="noStrike" dirty="0">
                        <a:solidFill>
                          <a:schemeClr val="bg1"/>
                        </a:solidFill>
                        <a:effectLst/>
                        <a:latin typeface="+mj-ea"/>
                        <a:ea typeface="+mj-ea"/>
                      </a:endParaRPr>
                    </a:p>
                  </a:txBody>
                  <a:tcPr marL="9525" marR="9525" marT="9525" marB="0" anchor="b">
                    <a:solidFill>
                      <a:srgbClr val="006EC7"/>
                    </a:solidFill>
                  </a:tcPr>
                </a:tc>
                <a:tc>
                  <a:txBody>
                    <a:bodyPr/>
                    <a:lstStyle/>
                    <a:p>
                      <a:pPr algn="ctr" fontAlgn="b"/>
                      <a:r>
                        <a:rPr lang="zh-CN" altLang="en-US" sz="1200" b="1" u="none" strike="noStrike" dirty="0">
                          <a:solidFill>
                            <a:schemeClr val="bg1"/>
                          </a:solidFill>
                          <a:effectLst/>
                          <a:latin typeface="+mj-ea"/>
                          <a:ea typeface="+mj-ea"/>
                        </a:rPr>
                        <a:t>城市</a:t>
                      </a:r>
                      <a:endParaRPr lang="zh-CN" altLang="en-US" sz="1200" b="1" i="0" u="none" strike="noStrike" dirty="0">
                        <a:solidFill>
                          <a:schemeClr val="bg1"/>
                        </a:solidFill>
                        <a:effectLst/>
                        <a:latin typeface="+mj-ea"/>
                        <a:ea typeface="+mj-ea"/>
                      </a:endParaRPr>
                    </a:p>
                  </a:txBody>
                  <a:tcPr marL="9525" marR="9525" marT="9525" marB="0" anchor="b">
                    <a:solidFill>
                      <a:srgbClr val="006EC7"/>
                    </a:solidFill>
                  </a:tcPr>
                </a:tc>
                <a:tc>
                  <a:txBody>
                    <a:bodyPr/>
                    <a:lstStyle/>
                    <a:p>
                      <a:pPr algn="ctr" fontAlgn="b"/>
                      <a:r>
                        <a:rPr lang="en-US" altLang="zh-CN" sz="1200" b="1" u="none" strike="noStrike" dirty="0">
                          <a:solidFill>
                            <a:schemeClr val="bg1"/>
                          </a:solidFill>
                          <a:effectLst/>
                          <a:latin typeface="+mj-ea"/>
                          <a:ea typeface="+mj-ea"/>
                        </a:rPr>
                        <a:t>2016</a:t>
                      </a:r>
                      <a:r>
                        <a:rPr lang="zh-CN" altLang="en-US" sz="1200" b="1" u="none" strike="noStrike" dirty="0">
                          <a:solidFill>
                            <a:schemeClr val="bg1"/>
                          </a:solidFill>
                          <a:effectLst/>
                          <a:latin typeface="+mj-ea"/>
                          <a:ea typeface="+mj-ea"/>
                        </a:rPr>
                        <a:t>年</a:t>
                      </a:r>
                      <a:r>
                        <a:rPr lang="en-US" altLang="zh-CN" sz="1200" b="1" u="none" strike="noStrike" dirty="0">
                          <a:solidFill>
                            <a:schemeClr val="bg1"/>
                          </a:solidFill>
                          <a:effectLst/>
                          <a:latin typeface="+mj-ea"/>
                          <a:ea typeface="+mj-ea"/>
                        </a:rPr>
                        <a:t>8</a:t>
                      </a:r>
                      <a:r>
                        <a:rPr lang="zh-CN" altLang="en-US" sz="1200" b="1" u="none" strike="noStrike" dirty="0">
                          <a:solidFill>
                            <a:schemeClr val="bg1"/>
                          </a:solidFill>
                          <a:effectLst/>
                          <a:latin typeface="+mj-ea"/>
                          <a:ea typeface="+mj-ea"/>
                        </a:rPr>
                        <a:t>月</a:t>
                      </a:r>
                      <a:endParaRPr lang="zh-CN" altLang="en-US" sz="1200" b="1" i="0" u="none" strike="noStrike" dirty="0">
                        <a:solidFill>
                          <a:schemeClr val="bg1"/>
                        </a:solidFill>
                        <a:effectLst/>
                        <a:latin typeface="+mj-ea"/>
                        <a:ea typeface="+mj-ea"/>
                      </a:endParaRPr>
                    </a:p>
                  </a:txBody>
                  <a:tcPr marL="9525" marR="9525" marT="9525" marB="0" anchor="b">
                    <a:solidFill>
                      <a:srgbClr val="006EC7"/>
                    </a:solidFill>
                  </a:tcPr>
                </a:tc>
                <a:tc>
                  <a:txBody>
                    <a:bodyPr/>
                    <a:lstStyle/>
                    <a:p>
                      <a:pPr algn="ctr" fontAlgn="b"/>
                      <a:r>
                        <a:rPr lang="en-US" altLang="zh-CN" sz="1200" b="1" u="none" strike="noStrike" dirty="0">
                          <a:solidFill>
                            <a:schemeClr val="bg1"/>
                          </a:solidFill>
                          <a:effectLst/>
                          <a:latin typeface="+mj-ea"/>
                          <a:ea typeface="+mj-ea"/>
                        </a:rPr>
                        <a:t>2016</a:t>
                      </a:r>
                      <a:r>
                        <a:rPr lang="zh-CN" altLang="en-US" sz="1200" b="1" u="none" strike="noStrike" dirty="0">
                          <a:solidFill>
                            <a:schemeClr val="bg1"/>
                          </a:solidFill>
                          <a:effectLst/>
                          <a:latin typeface="+mj-ea"/>
                          <a:ea typeface="+mj-ea"/>
                        </a:rPr>
                        <a:t>年</a:t>
                      </a:r>
                      <a:r>
                        <a:rPr lang="en-US" altLang="zh-CN" sz="1200" b="1" u="none" strike="noStrike" dirty="0">
                          <a:solidFill>
                            <a:schemeClr val="bg1"/>
                          </a:solidFill>
                          <a:effectLst/>
                          <a:latin typeface="+mj-ea"/>
                          <a:ea typeface="+mj-ea"/>
                        </a:rPr>
                        <a:t>9</a:t>
                      </a:r>
                      <a:r>
                        <a:rPr lang="zh-CN" altLang="en-US" sz="1200" b="1" u="none" strike="noStrike" dirty="0">
                          <a:solidFill>
                            <a:schemeClr val="bg1"/>
                          </a:solidFill>
                          <a:effectLst/>
                          <a:latin typeface="+mj-ea"/>
                          <a:ea typeface="+mj-ea"/>
                        </a:rPr>
                        <a:t>月</a:t>
                      </a:r>
                      <a:endParaRPr lang="zh-CN" altLang="en-US" sz="1200" b="1" i="0" u="none" strike="noStrike" dirty="0">
                        <a:solidFill>
                          <a:schemeClr val="bg1"/>
                        </a:solidFill>
                        <a:effectLst/>
                        <a:latin typeface="+mj-ea"/>
                        <a:ea typeface="+mj-ea"/>
                      </a:endParaRPr>
                    </a:p>
                  </a:txBody>
                  <a:tcPr marL="9525" marR="9525" marT="9525" marB="0" anchor="b">
                    <a:solidFill>
                      <a:srgbClr val="006EC7"/>
                    </a:solidFill>
                  </a:tcPr>
                </a:tc>
                <a:tc>
                  <a:txBody>
                    <a:bodyPr/>
                    <a:lstStyle/>
                    <a:p>
                      <a:pPr algn="ctr" fontAlgn="b"/>
                      <a:r>
                        <a:rPr lang="zh-CN" altLang="en-US" sz="1200" b="1" u="none" strike="noStrike" dirty="0">
                          <a:solidFill>
                            <a:schemeClr val="bg1"/>
                          </a:solidFill>
                          <a:effectLst/>
                          <a:latin typeface="+mj-ea"/>
                          <a:ea typeface="+mj-ea"/>
                        </a:rPr>
                        <a:t>变化情况</a:t>
                      </a:r>
                      <a:endParaRPr lang="zh-CN" altLang="en-US" sz="1200" b="1" i="0" u="none" strike="noStrike" dirty="0">
                        <a:solidFill>
                          <a:schemeClr val="bg1"/>
                        </a:solidFill>
                        <a:effectLst/>
                        <a:latin typeface="+mj-ea"/>
                        <a:ea typeface="+mj-ea"/>
                      </a:endParaRPr>
                    </a:p>
                  </a:txBody>
                  <a:tcPr marL="9525" marR="9525" marT="9525" marB="0" anchor="b">
                    <a:solidFill>
                      <a:srgbClr val="006EC7"/>
                    </a:solidFill>
                  </a:tcPr>
                </a:tc>
                <a:extLst>
                  <a:ext uri="{0D108BD9-81ED-4DB2-BD59-A6C34878D82A}">
                    <a16:rowId xmlns:a16="http://schemas.microsoft.com/office/drawing/2014/main" val="10000"/>
                  </a:ext>
                </a:extLst>
              </a:tr>
              <a:tr h="222545">
                <a:tc>
                  <a:txBody>
                    <a:bodyPr/>
                    <a:lstStyle/>
                    <a:p>
                      <a:pPr algn="ctr" fontAlgn="b"/>
                      <a:r>
                        <a:rPr lang="zh-CN" altLang="en-US" sz="1200" u="none" strike="noStrike" dirty="0">
                          <a:effectLst/>
                          <a:latin typeface="+mj-ea"/>
                          <a:ea typeface="+mj-ea"/>
                        </a:rPr>
                        <a:t>天津</a:t>
                      </a:r>
                      <a:endParaRPr lang="zh-CN" altLang="en-US" sz="1200" b="0" i="0" u="none" strike="noStrike" dirty="0">
                        <a:solidFill>
                          <a:srgbClr val="000000"/>
                        </a:solidFill>
                        <a:effectLst/>
                        <a:latin typeface="+mj-ea"/>
                        <a:ea typeface="+mj-ea"/>
                      </a:endParaRPr>
                    </a:p>
                  </a:txBody>
                  <a:tcPr marL="9525" marR="9525" marT="9525" marB="0" anchor="b"/>
                </a:tc>
                <a:tc>
                  <a:txBody>
                    <a:bodyPr/>
                    <a:lstStyle/>
                    <a:p>
                      <a:pPr algn="ctr" fontAlgn="b"/>
                      <a:r>
                        <a:rPr lang="en-US" altLang="zh-CN" sz="1200" u="none" strike="noStrike">
                          <a:effectLst/>
                          <a:latin typeface="+mj-ea"/>
                          <a:ea typeface="+mj-ea"/>
                        </a:rPr>
                        <a:t>4.11%</a:t>
                      </a:r>
                      <a:endParaRPr lang="en-US" altLang="zh-CN" sz="1200" b="0" i="0" u="none" strike="noStrike">
                        <a:solidFill>
                          <a:srgbClr val="000000"/>
                        </a:solidFill>
                        <a:effectLst/>
                        <a:latin typeface="+mj-ea"/>
                        <a:ea typeface="+mj-ea"/>
                      </a:endParaRPr>
                    </a:p>
                  </a:txBody>
                  <a:tcPr marL="9525" marR="9525" marT="9525" marB="0" anchor="b"/>
                </a:tc>
                <a:tc>
                  <a:txBody>
                    <a:bodyPr/>
                    <a:lstStyle/>
                    <a:p>
                      <a:pPr algn="ctr" fontAlgn="b"/>
                      <a:r>
                        <a:rPr lang="en-US" altLang="zh-CN" sz="1200" u="none" strike="noStrike" dirty="0">
                          <a:effectLst/>
                          <a:latin typeface="+mj-ea"/>
                          <a:ea typeface="+mj-ea"/>
                        </a:rPr>
                        <a:t>4.12%</a:t>
                      </a:r>
                      <a:endParaRPr lang="en-US" altLang="zh-CN" sz="1200" b="0" i="0" u="none" strike="noStrike" dirty="0">
                        <a:solidFill>
                          <a:srgbClr val="000000"/>
                        </a:solidFill>
                        <a:effectLst/>
                        <a:latin typeface="+mj-ea"/>
                        <a:ea typeface="+mj-ea"/>
                      </a:endParaRPr>
                    </a:p>
                  </a:txBody>
                  <a:tcPr marL="9525" marR="9525" marT="9525" marB="0" anchor="b"/>
                </a:tc>
                <a:tc>
                  <a:txBody>
                    <a:bodyPr/>
                    <a:lstStyle/>
                    <a:p>
                      <a:pPr algn="ctr" fontAlgn="b"/>
                      <a:r>
                        <a:rPr lang="en-US" altLang="zh-CN" sz="1200" u="none" strike="noStrike" dirty="0">
                          <a:effectLst/>
                          <a:latin typeface="+mj-ea"/>
                          <a:ea typeface="+mj-ea"/>
                        </a:rPr>
                        <a:t>0.01%</a:t>
                      </a:r>
                      <a:endParaRPr lang="en-US" altLang="zh-CN" sz="1200" b="0" i="0" u="none" strike="noStrike" dirty="0">
                        <a:solidFill>
                          <a:srgbClr val="000000"/>
                        </a:solidFill>
                        <a:effectLst/>
                        <a:latin typeface="+mj-ea"/>
                        <a:ea typeface="+mj-ea"/>
                      </a:endParaRPr>
                    </a:p>
                  </a:txBody>
                  <a:tcPr marL="9525" marR="9525" marT="9525" marB="0" anchor="b"/>
                </a:tc>
                <a:tc>
                  <a:txBody>
                    <a:bodyPr/>
                    <a:lstStyle/>
                    <a:p>
                      <a:pPr algn="ctr" fontAlgn="b"/>
                      <a:r>
                        <a:rPr lang="zh-CN" altLang="en-US" sz="1200" u="none" strike="noStrike" dirty="0">
                          <a:effectLst/>
                          <a:latin typeface="+mj-ea"/>
                          <a:ea typeface="+mj-ea"/>
                        </a:rPr>
                        <a:t>郑州</a:t>
                      </a:r>
                      <a:endParaRPr lang="zh-CN" altLang="en-US" sz="1200" b="0" i="0" u="none" strike="noStrike" dirty="0">
                        <a:solidFill>
                          <a:srgbClr val="000000"/>
                        </a:solidFill>
                        <a:effectLst/>
                        <a:latin typeface="+mj-ea"/>
                        <a:ea typeface="+mj-ea"/>
                      </a:endParaRPr>
                    </a:p>
                  </a:txBody>
                  <a:tcPr marL="9525" marR="9525" marT="9525" marB="0" anchor="b"/>
                </a:tc>
                <a:tc>
                  <a:txBody>
                    <a:bodyPr/>
                    <a:lstStyle/>
                    <a:p>
                      <a:pPr algn="ctr" fontAlgn="b"/>
                      <a:r>
                        <a:rPr lang="en-US" altLang="zh-CN" sz="1200" u="none" strike="noStrike">
                          <a:effectLst/>
                          <a:latin typeface="+mj-ea"/>
                          <a:ea typeface="+mj-ea"/>
                        </a:rPr>
                        <a:t>4.39%</a:t>
                      </a:r>
                      <a:endParaRPr lang="en-US" altLang="zh-CN" sz="1200" b="0" i="0" u="none" strike="noStrike">
                        <a:solidFill>
                          <a:srgbClr val="000000"/>
                        </a:solidFill>
                        <a:effectLst/>
                        <a:latin typeface="+mj-ea"/>
                        <a:ea typeface="+mj-ea"/>
                      </a:endParaRPr>
                    </a:p>
                  </a:txBody>
                  <a:tcPr marL="9525" marR="9525" marT="9525" marB="0" anchor="b"/>
                </a:tc>
                <a:tc>
                  <a:txBody>
                    <a:bodyPr/>
                    <a:lstStyle/>
                    <a:p>
                      <a:pPr algn="ctr" fontAlgn="b"/>
                      <a:r>
                        <a:rPr lang="en-US" altLang="zh-CN" sz="1200" u="none" strike="noStrike">
                          <a:effectLst/>
                          <a:latin typeface="+mj-ea"/>
                          <a:ea typeface="+mj-ea"/>
                        </a:rPr>
                        <a:t>4.39%</a:t>
                      </a:r>
                      <a:endParaRPr lang="en-US" altLang="zh-CN" sz="1200" b="0" i="0" u="none" strike="noStrike">
                        <a:solidFill>
                          <a:srgbClr val="000000"/>
                        </a:solidFill>
                        <a:effectLst/>
                        <a:latin typeface="+mj-ea"/>
                        <a:ea typeface="+mj-ea"/>
                      </a:endParaRPr>
                    </a:p>
                  </a:txBody>
                  <a:tcPr marL="9525" marR="9525" marT="9525" marB="0" anchor="b"/>
                </a:tc>
                <a:tc>
                  <a:txBody>
                    <a:bodyPr/>
                    <a:lstStyle/>
                    <a:p>
                      <a:pPr algn="ctr" fontAlgn="b"/>
                      <a:r>
                        <a:rPr lang="en-US" altLang="zh-CN" sz="1200" u="none" strike="noStrike">
                          <a:effectLst/>
                          <a:latin typeface="+mj-ea"/>
                          <a:ea typeface="+mj-ea"/>
                        </a:rPr>
                        <a:t>0.00%</a:t>
                      </a:r>
                      <a:endParaRPr lang="en-US" altLang="zh-CN" sz="1200" b="0" i="0" u="none" strike="noStrike">
                        <a:solidFill>
                          <a:srgbClr val="000000"/>
                        </a:solidFill>
                        <a:effectLst/>
                        <a:latin typeface="+mj-ea"/>
                        <a:ea typeface="+mj-ea"/>
                      </a:endParaRPr>
                    </a:p>
                  </a:txBody>
                  <a:tcPr marL="9525" marR="9525" marT="9525" marB="0" anchor="b"/>
                </a:tc>
                <a:extLst>
                  <a:ext uri="{0D108BD9-81ED-4DB2-BD59-A6C34878D82A}">
                    <a16:rowId xmlns:a16="http://schemas.microsoft.com/office/drawing/2014/main" val="10001"/>
                  </a:ext>
                </a:extLst>
              </a:tr>
              <a:tr h="222545">
                <a:tc>
                  <a:txBody>
                    <a:bodyPr/>
                    <a:lstStyle/>
                    <a:p>
                      <a:pPr algn="ctr" fontAlgn="b"/>
                      <a:r>
                        <a:rPr lang="zh-CN" altLang="en-US" sz="1200" u="none" strike="noStrike" dirty="0">
                          <a:effectLst/>
                          <a:latin typeface="+mj-ea"/>
                          <a:ea typeface="+mj-ea"/>
                        </a:rPr>
                        <a:t>佛山</a:t>
                      </a:r>
                      <a:endParaRPr lang="zh-CN" altLang="en-US" sz="1200" b="0" i="0" u="none" strike="noStrike" dirty="0">
                        <a:solidFill>
                          <a:srgbClr val="000000"/>
                        </a:solidFill>
                        <a:effectLst/>
                        <a:latin typeface="+mj-ea"/>
                        <a:ea typeface="+mj-ea"/>
                      </a:endParaRPr>
                    </a:p>
                  </a:txBody>
                  <a:tcPr marL="9525" marR="9525" marT="9525" marB="0" anchor="b"/>
                </a:tc>
                <a:tc>
                  <a:txBody>
                    <a:bodyPr/>
                    <a:lstStyle/>
                    <a:p>
                      <a:pPr algn="ctr" fontAlgn="b"/>
                      <a:r>
                        <a:rPr lang="en-US" altLang="zh-CN" sz="1200" u="none" strike="noStrike" dirty="0">
                          <a:effectLst/>
                          <a:latin typeface="+mj-ea"/>
                          <a:ea typeface="+mj-ea"/>
                        </a:rPr>
                        <a:t>4.17%</a:t>
                      </a:r>
                      <a:endParaRPr lang="en-US" altLang="zh-CN" sz="1200" b="0" i="0" u="none" strike="noStrike" dirty="0">
                        <a:solidFill>
                          <a:srgbClr val="000000"/>
                        </a:solidFill>
                        <a:effectLst/>
                        <a:latin typeface="+mj-ea"/>
                        <a:ea typeface="+mj-ea"/>
                      </a:endParaRPr>
                    </a:p>
                  </a:txBody>
                  <a:tcPr marL="9525" marR="9525" marT="9525" marB="0" anchor="b"/>
                </a:tc>
                <a:tc>
                  <a:txBody>
                    <a:bodyPr/>
                    <a:lstStyle/>
                    <a:p>
                      <a:pPr algn="ctr" fontAlgn="b"/>
                      <a:r>
                        <a:rPr lang="en-US" altLang="zh-CN" sz="1200" u="none" strike="noStrike">
                          <a:effectLst/>
                          <a:latin typeface="+mj-ea"/>
                          <a:ea typeface="+mj-ea"/>
                        </a:rPr>
                        <a:t>4.17%</a:t>
                      </a:r>
                      <a:endParaRPr lang="en-US" altLang="zh-CN" sz="1200" b="0" i="0" u="none" strike="noStrike">
                        <a:solidFill>
                          <a:srgbClr val="000000"/>
                        </a:solidFill>
                        <a:effectLst/>
                        <a:latin typeface="+mj-ea"/>
                        <a:ea typeface="+mj-ea"/>
                      </a:endParaRPr>
                    </a:p>
                  </a:txBody>
                  <a:tcPr marL="9525" marR="9525" marT="9525" marB="0" anchor="b"/>
                </a:tc>
                <a:tc>
                  <a:txBody>
                    <a:bodyPr/>
                    <a:lstStyle/>
                    <a:p>
                      <a:pPr algn="ctr" fontAlgn="b"/>
                      <a:r>
                        <a:rPr lang="en-US" altLang="zh-CN" sz="1200" u="none" strike="noStrike">
                          <a:effectLst/>
                          <a:latin typeface="+mj-ea"/>
                          <a:ea typeface="+mj-ea"/>
                        </a:rPr>
                        <a:t>0.00%</a:t>
                      </a:r>
                      <a:endParaRPr lang="en-US" altLang="zh-CN" sz="1200" b="0" i="0" u="none" strike="noStrike">
                        <a:solidFill>
                          <a:srgbClr val="000000"/>
                        </a:solidFill>
                        <a:effectLst/>
                        <a:latin typeface="+mj-ea"/>
                        <a:ea typeface="+mj-ea"/>
                      </a:endParaRPr>
                    </a:p>
                  </a:txBody>
                  <a:tcPr marL="9525" marR="9525" marT="9525" marB="0" anchor="b"/>
                </a:tc>
                <a:tc>
                  <a:txBody>
                    <a:bodyPr/>
                    <a:lstStyle/>
                    <a:p>
                      <a:pPr algn="ctr" fontAlgn="b"/>
                      <a:r>
                        <a:rPr lang="zh-CN" altLang="en-US" sz="1200" u="none" strike="noStrike">
                          <a:effectLst/>
                          <a:latin typeface="+mj-ea"/>
                          <a:ea typeface="+mj-ea"/>
                        </a:rPr>
                        <a:t>大连</a:t>
                      </a:r>
                      <a:endParaRPr lang="zh-CN" altLang="en-US" sz="1200" b="0" i="0" u="none" strike="noStrike">
                        <a:solidFill>
                          <a:srgbClr val="000000"/>
                        </a:solidFill>
                        <a:effectLst/>
                        <a:latin typeface="+mj-ea"/>
                        <a:ea typeface="+mj-ea"/>
                      </a:endParaRPr>
                    </a:p>
                  </a:txBody>
                  <a:tcPr marL="9525" marR="9525" marT="9525" marB="0" anchor="b"/>
                </a:tc>
                <a:tc>
                  <a:txBody>
                    <a:bodyPr/>
                    <a:lstStyle/>
                    <a:p>
                      <a:pPr algn="ctr" fontAlgn="b"/>
                      <a:r>
                        <a:rPr lang="en-US" altLang="zh-CN" sz="1200" u="none" strike="noStrike">
                          <a:effectLst/>
                          <a:latin typeface="+mj-ea"/>
                          <a:ea typeface="+mj-ea"/>
                        </a:rPr>
                        <a:t>4.40%</a:t>
                      </a:r>
                      <a:endParaRPr lang="en-US" altLang="zh-CN" sz="1200" b="0" i="0" u="none" strike="noStrike">
                        <a:solidFill>
                          <a:srgbClr val="000000"/>
                        </a:solidFill>
                        <a:effectLst/>
                        <a:latin typeface="+mj-ea"/>
                        <a:ea typeface="+mj-ea"/>
                      </a:endParaRPr>
                    </a:p>
                  </a:txBody>
                  <a:tcPr marL="9525" marR="9525" marT="9525" marB="0" anchor="b"/>
                </a:tc>
                <a:tc>
                  <a:txBody>
                    <a:bodyPr/>
                    <a:lstStyle/>
                    <a:p>
                      <a:pPr algn="ctr" fontAlgn="b"/>
                      <a:r>
                        <a:rPr lang="en-US" altLang="zh-CN" sz="1200" u="none" strike="noStrike">
                          <a:effectLst/>
                          <a:latin typeface="+mj-ea"/>
                          <a:ea typeface="+mj-ea"/>
                        </a:rPr>
                        <a:t>4.40%</a:t>
                      </a:r>
                      <a:endParaRPr lang="en-US" altLang="zh-CN" sz="1200" b="0" i="0" u="none" strike="noStrike">
                        <a:solidFill>
                          <a:srgbClr val="000000"/>
                        </a:solidFill>
                        <a:effectLst/>
                        <a:latin typeface="+mj-ea"/>
                        <a:ea typeface="+mj-ea"/>
                      </a:endParaRPr>
                    </a:p>
                  </a:txBody>
                  <a:tcPr marL="9525" marR="9525" marT="9525" marB="0" anchor="b"/>
                </a:tc>
                <a:tc>
                  <a:txBody>
                    <a:bodyPr/>
                    <a:lstStyle/>
                    <a:p>
                      <a:pPr algn="ctr" fontAlgn="b"/>
                      <a:r>
                        <a:rPr lang="en-US" altLang="zh-CN" sz="1200" u="none" strike="noStrike">
                          <a:effectLst/>
                          <a:latin typeface="+mj-ea"/>
                          <a:ea typeface="+mj-ea"/>
                        </a:rPr>
                        <a:t>0.00%</a:t>
                      </a:r>
                      <a:endParaRPr lang="en-US" altLang="zh-CN" sz="1200" b="0" i="0" u="none" strike="noStrike">
                        <a:solidFill>
                          <a:srgbClr val="000000"/>
                        </a:solidFill>
                        <a:effectLst/>
                        <a:latin typeface="+mj-ea"/>
                        <a:ea typeface="+mj-ea"/>
                      </a:endParaRPr>
                    </a:p>
                  </a:txBody>
                  <a:tcPr marL="9525" marR="9525" marT="9525" marB="0" anchor="b"/>
                </a:tc>
                <a:extLst>
                  <a:ext uri="{0D108BD9-81ED-4DB2-BD59-A6C34878D82A}">
                    <a16:rowId xmlns:a16="http://schemas.microsoft.com/office/drawing/2014/main" val="10002"/>
                  </a:ext>
                </a:extLst>
              </a:tr>
              <a:tr h="222545">
                <a:tc>
                  <a:txBody>
                    <a:bodyPr/>
                    <a:lstStyle/>
                    <a:p>
                      <a:pPr algn="ctr" fontAlgn="b"/>
                      <a:r>
                        <a:rPr lang="zh-CN" altLang="en-US" sz="1200" b="1" u="none" strike="noStrike">
                          <a:solidFill>
                            <a:srgbClr val="FF0000"/>
                          </a:solidFill>
                          <a:effectLst/>
                          <a:latin typeface="+mj-ea"/>
                          <a:ea typeface="+mj-ea"/>
                        </a:rPr>
                        <a:t>珠海</a:t>
                      </a:r>
                      <a:endParaRPr lang="zh-CN" altLang="en-US" sz="1200" b="1" i="0" u="none" strike="noStrike">
                        <a:solidFill>
                          <a:srgbClr val="FF0000"/>
                        </a:solidFill>
                        <a:effectLst/>
                        <a:latin typeface="+mj-ea"/>
                        <a:ea typeface="+mj-ea"/>
                      </a:endParaRPr>
                    </a:p>
                  </a:txBody>
                  <a:tcPr marL="9525" marR="9525" marT="9525" marB="0" anchor="b"/>
                </a:tc>
                <a:tc>
                  <a:txBody>
                    <a:bodyPr/>
                    <a:lstStyle/>
                    <a:p>
                      <a:pPr algn="ctr" fontAlgn="b"/>
                      <a:r>
                        <a:rPr lang="en-US" altLang="zh-CN" sz="1200" b="1" u="none" strike="noStrike" dirty="0">
                          <a:solidFill>
                            <a:srgbClr val="FF0000"/>
                          </a:solidFill>
                          <a:effectLst/>
                          <a:latin typeface="+mj-ea"/>
                          <a:ea typeface="+mj-ea"/>
                        </a:rPr>
                        <a:t>4.17%</a:t>
                      </a:r>
                      <a:endParaRPr lang="en-US" altLang="zh-CN" sz="1200" b="1" i="0" u="none" strike="noStrike" dirty="0">
                        <a:solidFill>
                          <a:srgbClr val="FF0000"/>
                        </a:solidFill>
                        <a:effectLst/>
                        <a:latin typeface="+mj-ea"/>
                        <a:ea typeface="+mj-ea"/>
                      </a:endParaRPr>
                    </a:p>
                  </a:txBody>
                  <a:tcPr marL="9525" marR="9525" marT="9525" marB="0" anchor="b"/>
                </a:tc>
                <a:tc>
                  <a:txBody>
                    <a:bodyPr/>
                    <a:lstStyle/>
                    <a:p>
                      <a:pPr algn="ctr" fontAlgn="b"/>
                      <a:r>
                        <a:rPr lang="en-US" altLang="zh-CN" sz="1200" b="1" u="none" strike="noStrike">
                          <a:solidFill>
                            <a:srgbClr val="FF0000"/>
                          </a:solidFill>
                          <a:effectLst/>
                          <a:latin typeface="+mj-ea"/>
                          <a:ea typeface="+mj-ea"/>
                        </a:rPr>
                        <a:t>4.18%</a:t>
                      </a:r>
                      <a:endParaRPr lang="en-US" altLang="zh-CN" sz="1200" b="1" i="0" u="none" strike="noStrike">
                        <a:solidFill>
                          <a:srgbClr val="FF0000"/>
                        </a:solidFill>
                        <a:effectLst/>
                        <a:latin typeface="+mj-ea"/>
                        <a:ea typeface="+mj-ea"/>
                      </a:endParaRPr>
                    </a:p>
                  </a:txBody>
                  <a:tcPr marL="9525" marR="9525" marT="9525" marB="0" anchor="b"/>
                </a:tc>
                <a:tc>
                  <a:txBody>
                    <a:bodyPr/>
                    <a:lstStyle/>
                    <a:p>
                      <a:pPr algn="ctr" fontAlgn="b"/>
                      <a:r>
                        <a:rPr lang="en-US" altLang="zh-CN" sz="1200" b="1" u="none" strike="noStrike" dirty="0">
                          <a:solidFill>
                            <a:srgbClr val="FF0000"/>
                          </a:solidFill>
                          <a:effectLst/>
                          <a:latin typeface="+mj-ea"/>
                          <a:ea typeface="+mj-ea"/>
                        </a:rPr>
                        <a:t>0.01%</a:t>
                      </a:r>
                      <a:endParaRPr lang="en-US" altLang="zh-CN" sz="1200" b="1" i="0" u="none" strike="noStrike" dirty="0">
                        <a:solidFill>
                          <a:srgbClr val="FF0000"/>
                        </a:solidFill>
                        <a:effectLst/>
                        <a:latin typeface="+mj-ea"/>
                        <a:ea typeface="+mj-ea"/>
                      </a:endParaRPr>
                    </a:p>
                  </a:txBody>
                  <a:tcPr marL="9525" marR="9525" marT="9525" marB="0" anchor="b"/>
                </a:tc>
                <a:tc>
                  <a:txBody>
                    <a:bodyPr/>
                    <a:lstStyle/>
                    <a:p>
                      <a:pPr algn="ctr" fontAlgn="b"/>
                      <a:r>
                        <a:rPr lang="zh-CN" altLang="en-US" sz="1200" u="none" strike="noStrike">
                          <a:effectLst/>
                          <a:latin typeface="+mj-ea"/>
                          <a:ea typeface="+mj-ea"/>
                        </a:rPr>
                        <a:t>杭州</a:t>
                      </a:r>
                      <a:endParaRPr lang="zh-CN" altLang="en-US" sz="1200" b="0" i="0" u="none" strike="noStrike">
                        <a:solidFill>
                          <a:srgbClr val="000000"/>
                        </a:solidFill>
                        <a:effectLst/>
                        <a:latin typeface="+mj-ea"/>
                        <a:ea typeface="+mj-ea"/>
                      </a:endParaRPr>
                    </a:p>
                  </a:txBody>
                  <a:tcPr marL="9525" marR="9525" marT="9525" marB="0" anchor="b"/>
                </a:tc>
                <a:tc>
                  <a:txBody>
                    <a:bodyPr/>
                    <a:lstStyle/>
                    <a:p>
                      <a:pPr algn="ctr" fontAlgn="b"/>
                      <a:r>
                        <a:rPr lang="en-US" altLang="zh-CN" sz="1200" u="none" strike="noStrike">
                          <a:effectLst/>
                          <a:latin typeface="+mj-ea"/>
                          <a:ea typeface="+mj-ea"/>
                        </a:rPr>
                        <a:t>4.40%</a:t>
                      </a:r>
                      <a:endParaRPr lang="en-US" altLang="zh-CN" sz="1200" b="0" i="0" u="none" strike="noStrike">
                        <a:solidFill>
                          <a:srgbClr val="000000"/>
                        </a:solidFill>
                        <a:effectLst/>
                        <a:latin typeface="+mj-ea"/>
                        <a:ea typeface="+mj-ea"/>
                      </a:endParaRPr>
                    </a:p>
                  </a:txBody>
                  <a:tcPr marL="9525" marR="9525" marT="9525" marB="0" anchor="b"/>
                </a:tc>
                <a:tc>
                  <a:txBody>
                    <a:bodyPr/>
                    <a:lstStyle/>
                    <a:p>
                      <a:pPr algn="ctr" fontAlgn="b"/>
                      <a:r>
                        <a:rPr lang="en-US" altLang="zh-CN" sz="1200" u="none" strike="noStrike">
                          <a:effectLst/>
                          <a:latin typeface="+mj-ea"/>
                          <a:ea typeface="+mj-ea"/>
                        </a:rPr>
                        <a:t>4.40%</a:t>
                      </a:r>
                      <a:endParaRPr lang="en-US" altLang="zh-CN" sz="1200" b="0" i="0" u="none" strike="noStrike">
                        <a:solidFill>
                          <a:srgbClr val="000000"/>
                        </a:solidFill>
                        <a:effectLst/>
                        <a:latin typeface="+mj-ea"/>
                        <a:ea typeface="+mj-ea"/>
                      </a:endParaRPr>
                    </a:p>
                  </a:txBody>
                  <a:tcPr marL="9525" marR="9525" marT="9525" marB="0" anchor="b"/>
                </a:tc>
                <a:tc>
                  <a:txBody>
                    <a:bodyPr/>
                    <a:lstStyle/>
                    <a:p>
                      <a:pPr algn="ctr" fontAlgn="b"/>
                      <a:r>
                        <a:rPr lang="en-US" altLang="zh-CN" sz="1200" u="none" strike="noStrike">
                          <a:effectLst/>
                          <a:latin typeface="+mj-ea"/>
                          <a:ea typeface="+mj-ea"/>
                        </a:rPr>
                        <a:t>0.00%</a:t>
                      </a:r>
                      <a:endParaRPr lang="en-US" altLang="zh-CN" sz="1200" b="0" i="0" u="none" strike="noStrike">
                        <a:solidFill>
                          <a:srgbClr val="000000"/>
                        </a:solidFill>
                        <a:effectLst/>
                        <a:latin typeface="+mj-ea"/>
                        <a:ea typeface="+mj-ea"/>
                      </a:endParaRPr>
                    </a:p>
                  </a:txBody>
                  <a:tcPr marL="9525" marR="9525" marT="9525" marB="0" anchor="b"/>
                </a:tc>
                <a:extLst>
                  <a:ext uri="{0D108BD9-81ED-4DB2-BD59-A6C34878D82A}">
                    <a16:rowId xmlns:a16="http://schemas.microsoft.com/office/drawing/2014/main" val="10003"/>
                  </a:ext>
                </a:extLst>
              </a:tr>
              <a:tr h="222545">
                <a:tc>
                  <a:txBody>
                    <a:bodyPr/>
                    <a:lstStyle/>
                    <a:p>
                      <a:pPr algn="ctr" fontAlgn="b"/>
                      <a:r>
                        <a:rPr lang="zh-CN" altLang="en-US" sz="1200" u="none" strike="noStrike">
                          <a:effectLst/>
                          <a:latin typeface="+mj-ea"/>
                          <a:ea typeface="+mj-ea"/>
                        </a:rPr>
                        <a:t>广州</a:t>
                      </a:r>
                      <a:endParaRPr lang="zh-CN" altLang="en-US" sz="1200" b="0" i="0" u="none" strike="noStrike">
                        <a:solidFill>
                          <a:srgbClr val="000000"/>
                        </a:solidFill>
                        <a:effectLst/>
                        <a:latin typeface="+mj-ea"/>
                        <a:ea typeface="+mj-ea"/>
                      </a:endParaRPr>
                    </a:p>
                  </a:txBody>
                  <a:tcPr marL="9525" marR="9525" marT="9525" marB="0" anchor="b"/>
                </a:tc>
                <a:tc>
                  <a:txBody>
                    <a:bodyPr/>
                    <a:lstStyle/>
                    <a:p>
                      <a:pPr algn="ctr" fontAlgn="b"/>
                      <a:r>
                        <a:rPr lang="en-US" altLang="zh-CN" sz="1200" u="none" strike="noStrike" dirty="0">
                          <a:effectLst/>
                          <a:latin typeface="+mj-ea"/>
                          <a:ea typeface="+mj-ea"/>
                        </a:rPr>
                        <a:t>4.20%</a:t>
                      </a:r>
                      <a:endParaRPr lang="en-US" altLang="zh-CN" sz="1200" b="0" i="0" u="none" strike="noStrike" dirty="0">
                        <a:solidFill>
                          <a:srgbClr val="000000"/>
                        </a:solidFill>
                        <a:effectLst/>
                        <a:latin typeface="+mj-ea"/>
                        <a:ea typeface="+mj-ea"/>
                      </a:endParaRPr>
                    </a:p>
                  </a:txBody>
                  <a:tcPr marL="9525" marR="9525" marT="9525" marB="0" anchor="b"/>
                </a:tc>
                <a:tc>
                  <a:txBody>
                    <a:bodyPr/>
                    <a:lstStyle/>
                    <a:p>
                      <a:pPr algn="ctr" fontAlgn="b"/>
                      <a:r>
                        <a:rPr lang="en-US" altLang="zh-CN" sz="1200" u="none" strike="noStrike" dirty="0">
                          <a:effectLst/>
                          <a:latin typeface="+mj-ea"/>
                          <a:ea typeface="+mj-ea"/>
                        </a:rPr>
                        <a:t>4.19%</a:t>
                      </a:r>
                      <a:endParaRPr lang="en-US" altLang="zh-CN" sz="1200" b="0" i="0" u="none" strike="noStrike" dirty="0">
                        <a:solidFill>
                          <a:srgbClr val="000000"/>
                        </a:solidFill>
                        <a:effectLst/>
                        <a:latin typeface="+mj-ea"/>
                        <a:ea typeface="+mj-ea"/>
                      </a:endParaRPr>
                    </a:p>
                  </a:txBody>
                  <a:tcPr marL="9525" marR="9525" marT="9525" marB="0" anchor="b"/>
                </a:tc>
                <a:tc>
                  <a:txBody>
                    <a:bodyPr/>
                    <a:lstStyle/>
                    <a:p>
                      <a:pPr algn="ctr" fontAlgn="b"/>
                      <a:r>
                        <a:rPr lang="en-US" altLang="zh-CN" sz="1200" u="none" strike="noStrike">
                          <a:effectLst/>
                          <a:latin typeface="+mj-ea"/>
                          <a:ea typeface="+mj-ea"/>
                        </a:rPr>
                        <a:t>-0.01%</a:t>
                      </a:r>
                      <a:endParaRPr lang="en-US" altLang="zh-CN" sz="1200" b="0" i="0" u="none" strike="noStrike">
                        <a:solidFill>
                          <a:srgbClr val="000000"/>
                        </a:solidFill>
                        <a:effectLst/>
                        <a:latin typeface="+mj-ea"/>
                        <a:ea typeface="+mj-ea"/>
                      </a:endParaRPr>
                    </a:p>
                  </a:txBody>
                  <a:tcPr marL="9525" marR="9525" marT="9525" marB="0" anchor="b"/>
                </a:tc>
                <a:tc>
                  <a:txBody>
                    <a:bodyPr/>
                    <a:lstStyle/>
                    <a:p>
                      <a:pPr algn="ctr" fontAlgn="b"/>
                      <a:r>
                        <a:rPr lang="zh-CN" altLang="en-US" sz="1200" u="none" strike="noStrike">
                          <a:effectLst/>
                          <a:latin typeface="+mj-ea"/>
                          <a:ea typeface="+mj-ea"/>
                        </a:rPr>
                        <a:t>苏州</a:t>
                      </a:r>
                      <a:endParaRPr lang="zh-CN" altLang="en-US" sz="1200" b="0" i="0" u="none" strike="noStrike">
                        <a:solidFill>
                          <a:srgbClr val="000000"/>
                        </a:solidFill>
                        <a:effectLst/>
                        <a:latin typeface="+mj-ea"/>
                        <a:ea typeface="+mj-ea"/>
                      </a:endParaRPr>
                    </a:p>
                  </a:txBody>
                  <a:tcPr marL="9525" marR="9525" marT="9525" marB="0" anchor="b"/>
                </a:tc>
                <a:tc>
                  <a:txBody>
                    <a:bodyPr/>
                    <a:lstStyle/>
                    <a:p>
                      <a:pPr algn="ctr" fontAlgn="b"/>
                      <a:r>
                        <a:rPr lang="en-US" altLang="zh-CN" sz="1200" u="none" strike="noStrike">
                          <a:effectLst/>
                          <a:latin typeface="+mj-ea"/>
                          <a:ea typeface="+mj-ea"/>
                        </a:rPr>
                        <a:t>4.41%</a:t>
                      </a:r>
                      <a:endParaRPr lang="en-US" altLang="zh-CN" sz="1200" b="0" i="0" u="none" strike="noStrike">
                        <a:solidFill>
                          <a:srgbClr val="000000"/>
                        </a:solidFill>
                        <a:effectLst/>
                        <a:latin typeface="+mj-ea"/>
                        <a:ea typeface="+mj-ea"/>
                      </a:endParaRPr>
                    </a:p>
                  </a:txBody>
                  <a:tcPr marL="9525" marR="9525" marT="9525" marB="0" anchor="b"/>
                </a:tc>
                <a:tc>
                  <a:txBody>
                    <a:bodyPr/>
                    <a:lstStyle/>
                    <a:p>
                      <a:pPr algn="ctr" fontAlgn="b"/>
                      <a:r>
                        <a:rPr lang="en-US" altLang="zh-CN" sz="1200" u="none" strike="noStrike">
                          <a:effectLst/>
                          <a:latin typeface="+mj-ea"/>
                          <a:ea typeface="+mj-ea"/>
                        </a:rPr>
                        <a:t>4.40%</a:t>
                      </a:r>
                      <a:endParaRPr lang="en-US" altLang="zh-CN" sz="1200" b="0" i="0" u="none" strike="noStrike">
                        <a:solidFill>
                          <a:srgbClr val="000000"/>
                        </a:solidFill>
                        <a:effectLst/>
                        <a:latin typeface="+mj-ea"/>
                        <a:ea typeface="+mj-ea"/>
                      </a:endParaRPr>
                    </a:p>
                  </a:txBody>
                  <a:tcPr marL="9525" marR="9525" marT="9525" marB="0" anchor="b"/>
                </a:tc>
                <a:tc>
                  <a:txBody>
                    <a:bodyPr/>
                    <a:lstStyle/>
                    <a:p>
                      <a:pPr algn="ctr" fontAlgn="b"/>
                      <a:r>
                        <a:rPr lang="en-US" altLang="zh-CN" sz="1200" u="none" strike="noStrike">
                          <a:effectLst/>
                          <a:latin typeface="+mj-ea"/>
                          <a:ea typeface="+mj-ea"/>
                        </a:rPr>
                        <a:t>-0.01%</a:t>
                      </a:r>
                      <a:endParaRPr lang="en-US" altLang="zh-CN" sz="1200" b="0" i="0" u="none" strike="noStrike">
                        <a:solidFill>
                          <a:srgbClr val="000000"/>
                        </a:solidFill>
                        <a:effectLst/>
                        <a:latin typeface="+mj-ea"/>
                        <a:ea typeface="+mj-ea"/>
                      </a:endParaRPr>
                    </a:p>
                  </a:txBody>
                  <a:tcPr marL="9525" marR="9525" marT="9525" marB="0" anchor="b"/>
                </a:tc>
                <a:extLst>
                  <a:ext uri="{0D108BD9-81ED-4DB2-BD59-A6C34878D82A}">
                    <a16:rowId xmlns:a16="http://schemas.microsoft.com/office/drawing/2014/main" val="10004"/>
                  </a:ext>
                </a:extLst>
              </a:tr>
              <a:tr h="222545">
                <a:tc>
                  <a:txBody>
                    <a:bodyPr/>
                    <a:lstStyle/>
                    <a:p>
                      <a:pPr algn="ctr" fontAlgn="b"/>
                      <a:r>
                        <a:rPr lang="zh-CN" altLang="en-US" sz="1200" u="none" strike="noStrike">
                          <a:effectLst/>
                          <a:latin typeface="+mj-ea"/>
                          <a:ea typeface="+mj-ea"/>
                        </a:rPr>
                        <a:t>青岛</a:t>
                      </a:r>
                      <a:endParaRPr lang="zh-CN" altLang="en-US" sz="1200" b="0" i="0" u="none" strike="noStrike">
                        <a:solidFill>
                          <a:srgbClr val="000000"/>
                        </a:solidFill>
                        <a:effectLst/>
                        <a:latin typeface="+mj-ea"/>
                        <a:ea typeface="+mj-ea"/>
                      </a:endParaRPr>
                    </a:p>
                  </a:txBody>
                  <a:tcPr marL="9525" marR="9525" marT="9525" marB="0" anchor="b"/>
                </a:tc>
                <a:tc>
                  <a:txBody>
                    <a:bodyPr/>
                    <a:lstStyle/>
                    <a:p>
                      <a:pPr algn="ctr" fontAlgn="b"/>
                      <a:r>
                        <a:rPr lang="en-US" altLang="zh-CN" sz="1200" u="none" strike="noStrike" dirty="0">
                          <a:effectLst/>
                          <a:latin typeface="+mj-ea"/>
                          <a:ea typeface="+mj-ea"/>
                        </a:rPr>
                        <a:t>4.20%</a:t>
                      </a:r>
                      <a:endParaRPr lang="en-US" altLang="zh-CN" sz="1200" b="0" i="0" u="none" strike="noStrike" dirty="0">
                        <a:solidFill>
                          <a:srgbClr val="000000"/>
                        </a:solidFill>
                        <a:effectLst/>
                        <a:latin typeface="+mj-ea"/>
                        <a:ea typeface="+mj-ea"/>
                      </a:endParaRPr>
                    </a:p>
                  </a:txBody>
                  <a:tcPr marL="9525" marR="9525" marT="9525" marB="0" anchor="b"/>
                </a:tc>
                <a:tc>
                  <a:txBody>
                    <a:bodyPr/>
                    <a:lstStyle/>
                    <a:p>
                      <a:pPr algn="ctr" fontAlgn="b"/>
                      <a:r>
                        <a:rPr lang="en-US" altLang="zh-CN" sz="1200" u="none" strike="noStrike" dirty="0">
                          <a:effectLst/>
                          <a:latin typeface="+mj-ea"/>
                          <a:ea typeface="+mj-ea"/>
                        </a:rPr>
                        <a:t>4.20%</a:t>
                      </a:r>
                      <a:endParaRPr lang="en-US" altLang="zh-CN" sz="1200" b="0" i="0" u="none" strike="noStrike" dirty="0">
                        <a:solidFill>
                          <a:srgbClr val="000000"/>
                        </a:solidFill>
                        <a:effectLst/>
                        <a:latin typeface="+mj-ea"/>
                        <a:ea typeface="+mj-ea"/>
                      </a:endParaRPr>
                    </a:p>
                  </a:txBody>
                  <a:tcPr marL="9525" marR="9525" marT="9525" marB="0" anchor="b"/>
                </a:tc>
                <a:tc>
                  <a:txBody>
                    <a:bodyPr/>
                    <a:lstStyle/>
                    <a:p>
                      <a:pPr algn="ctr" fontAlgn="b"/>
                      <a:r>
                        <a:rPr lang="en-US" altLang="zh-CN" sz="1200" u="none" strike="noStrike">
                          <a:effectLst/>
                          <a:latin typeface="+mj-ea"/>
                          <a:ea typeface="+mj-ea"/>
                        </a:rPr>
                        <a:t>0.00%</a:t>
                      </a:r>
                      <a:endParaRPr lang="en-US" altLang="zh-CN" sz="1200" b="0" i="0" u="none" strike="noStrike">
                        <a:solidFill>
                          <a:srgbClr val="000000"/>
                        </a:solidFill>
                        <a:effectLst/>
                        <a:latin typeface="+mj-ea"/>
                        <a:ea typeface="+mj-ea"/>
                      </a:endParaRPr>
                    </a:p>
                  </a:txBody>
                  <a:tcPr marL="9525" marR="9525" marT="9525" marB="0" anchor="b"/>
                </a:tc>
                <a:tc>
                  <a:txBody>
                    <a:bodyPr/>
                    <a:lstStyle/>
                    <a:p>
                      <a:pPr algn="ctr" fontAlgn="b"/>
                      <a:r>
                        <a:rPr lang="zh-CN" altLang="en-US" sz="1200" u="none" strike="noStrike">
                          <a:effectLst/>
                          <a:latin typeface="+mj-ea"/>
                          <a:ea typeface="+mj-ea"/>
                        </a:rPr>
                        <a:t>上海</a:t>
                      </a:r>
                      <a:endParaRPr lang="zh-CN" altLang="en-US" sz="1200" b="0" i="0" u="none" strike="noStrike">
                        <a:solidFill>
                          <a:srgbClr val="000000"/>
                        </a:solidFill>
                        <a:effectLst/>
                        <a:latin typeface="+mj-ea"/>
                        <a:ea typeface="+mj-ea"/>
                      </a:endParaRPr>
                    </a:p>
                  </a:txBody>
                  <a:tcPr marL="9525" marR="9525" marT="9525" marB="0" anchor="b"/>
                </a:tc>
                <a:tc>
                  <a:txBody>
                    <a:bodyPr/>
                    <a:lstStyle/>
                    <a:p>
                      <a:pPr algn="ctr" fontAlgn="b"/>
                      <a:r>
                        <a:rPr lang="en-US" altLang="zh-CN" sz="1200" u="none" strike="noStrike">
                          <a:effectLst/>
                          <a:latin typeface="+mj-ea"/>
                          <a:ea typeface="+mj-ea"/>
                        </a:rPr>
                        <a:t>4.41%</a:t>
                      </a:r>
                      <a:endParaRPr lang="en-US" altLang="zh-CN" sz="1200" b="0" i="0" u="none" strike="noStrike">
                        <a:solidFill>
                          <a:srgbClr val="000000"/>
                        </a:solidFill>
                        <a:effectLst/>
                        <a:latin typeface="+mj-ea"/>
                        <a:ea typeface="+mj-ea"/>
                      </a:endParaRPr>
                    </a:p>
                  </a:txBody>
                  <a:tcPr marL="9525" marR="9525" marT="9525" marB="0" anchor="b"/>
                </a:tc>
                <a:tc>
                  <a:txBody>
                    <a:bodyPr/>
                    <a:lstStyle/>
                    <a:p>
                      <a:pPr algn="ctr" fontAlgn="b"/>
                      <a:r>
                        <a:rPr lang="en-US" altLang="zh-CN" sz="1200" u="none" strike="noStrike">
                          <a:effectLst/>
                          <a:latin typeface="+mj-ea"/>
                          <a:ea typeface="+mj-ea"/>
                        </a:rPr>
                        <a:t>4.41%</a:t>
                      </a:r>
                      <a:endParaRPr lang="en-US" altLang="zh-CN" sz="1200" b="0" i="0" u="none" strike="noStrike">
                        <a:solidFill>
                          <a:srgbClr val="000000"/>
                        </a:solidFill>
                        <a:effectLst/>
                        <a:latin typeface="+mj-ea"/>
                        <a:ea typeface="+mj-ea"/>
                      </a:endParaRPr>
                    </a:p>
                  </a:txBody>
                  <a:tcPr marL="9525" marR="9525" marT="9525" marB="0" anchor="b"/>
                </a:tc>
                <a:tc>
                  <a:txBody>
                    <a:bodyPr/>
                    <a:lstStyle/>
                    <a:p>
                      <a:pPr algn="ctr" fontAlgn="b"/>
                      <a:r>
                        <a:rPr lang="en-US" altLang="zh-CN" sz="1200" u="none" strike="noStrike">
                          <a:effectLst/>
                          <a:latin typeface="+mj-ea"/>
                          <a:ea typeface="+mj-ea"/>
                        </a:rPr>
                        <a:t>0.00%</a:t>
                      </a:r>
                      <a:endParaRPr lang="en-US" altLang="zh-CN" sz="1200" b="0" i="0" u="none" strike="noStrike">
                        <a:solidFill>
                          <a:srgbClr val="000000"/>
                        </a:solidFill>
                        <a:effectLst/>
                        <a:latin typeface="+mj-ea"/>
                        <a:ea typeface="+mj-ea"/>
                      </a:endParaRPr>
                    </a:p>
                  </a:txBody>
                  <a:tcPr marL="9525" marR="9525" marT="9525" marB="0" anchor="b"/>
                </a:tc>
                <a:extLst>
                  <a:ext uri="{0D108BD9-81ED-4DB2-BD59-A6C34878D82A}">
                    <a16:rowId xmlns:a16="http://schemas.microsoft.com/office/drawing/2014/main" val="10005"/>
                  </a:ext>
                </a:extLst>
              </a:tr>
              <a:tr h="222545">
                <a:tc>
                  <a:txBody>
                    <a:bodyPr/>
                    <a:lstStyle/>
                    <a:p>
                      <a:pPr algn="ctr" fontAlgn="b"/>
                      <a:r>
                        <a:rPr lang="zh-CN" altLang="en-US" sz="1200" b="1" u="none" strike="noStrike">
                          <a:solidFill>
                            <a:srgbClr val="FF0000"/>
                          </a:solidFill>
                          <a:effectLst/>
                          <a:latin typeface="+mj-ea"/>
                          <a:ea typeface="+mj-ea"/>
                        </a:rPr>
                        <a:t>北京</a:t>
                      </a:r>
                      <a:endParaRPr lang="zh-CN" altLang="en-US" sz="1200" b="1" i="0" u="none" strike="noStrike">
                        <a:solidFill>
                          <a:srgbClr val="FF0000"/>
                        </a:solidFill>
                        <a:effectLst/>
                        <a:latin typeface="+mj-ea"/>
                        <a:ea typeface="+mj-ea"/>
                      </a:endParaRPr>
                    </a:p>
                  </a:txBody>
                  <a:tcPr marL="9525" marR="9525" marT="9525" marB="0" anchor="b"/>
                </a:tc>
                <a:tc>
                  <a:txBody>
                    <a:bodyPr/>
                    <a:lstStyle/>
                    <a:p>
                      <a:pPr algn="ctr" fontAlgn="b"/>
                      <a:r>
                        <a:rPr lang="en-US" altLang="zh-CN" sz="1200" b="1" u="none" strike="noStrike">
                          <a:solidFill>
                            <a:srgbClr val="FF0000"/>
                          </a:solidFill>
                          <a:effectLst/>
                          <a:latin typeface="+mj-ea"/>
                          <a:ea typeface="+mj-ea"/>
                        </a:rPr>
                        <a:t>4.21%</a:t>
                      </a:r>
                      <a:endParaRPr lang="en-US" altLang="zh-CN" sz="1200" b="1" i="0" u="none" strike="noStrike">
                        <a:solidFill>
                          <a:srgbClr val="FF0000"/>
                        </a:solidFill>
                        <a:effectLst/>
                        <a:latin typeface="+mj-ea"/>
                        <a:ea typeface="+mj-ea"/>
                      </a:endParaRPr>
                    </a:p>
                  </a:txBody>
                  <a:tcPr marL="9525" marR="9525" marT="9525" marB="0" anchor="b"/>
                </a:tc>
                <a:tc>
                  <a:txBody>
                    <a:bodyPr/>
                    <a:lstStyle/>
                    <a:p>
                      <a:pPr algn="ctr" fontAlgn="b"/>
                      <a:r>
                        <a:rPr lang="en-US" altLang="zh-CN" sz="1200" b="1" u="none" strike="noStrike" dirty="0">
                          <a:solidFill>
                            <a:srgbClr val="FF0000"/>
                          </a:solidFill>
                          <a:effectLst/>
                          <a:latin typeface="+mj-ea"/>
                          <a:ea typeface="+mj-ea"/>
                        </a:rPr>
                        <a:t>4.23%</a:t>
                      </a:r>
                      <a:endParaRPr lang="en-US" altLang="zh-CN" sz="1200" b="1" i="0" u="none" strike="noStrike" dirty="0">
                        <a:solidFill>
                          <a:srgbClr val="FF0000"/>
                        </a:solidFill>
                        <a:effectLst/>
                        <a:latin typeface="+mj-ea"/>
                        <a:ea typeface="+mj-ea"/>
                      </a:endParaRPr>
                    </a:p>
                  </a:txBody>
                  <a:tcPr marL="9525" marR="9525" marT="9525" marB="0" anchor="b"/>
                </a:tc>
                <a:tc>
                  <a:txBody>
                    <a:bodyPr/>
                    <a:lstStyle/>
                    <a:p>
                      <a:pPr algn="ctr" fontAlgn="b"/>
                      <a:r>
                        <a:rPr lang="en-US" altLang="zh-CN" sz="1200" b="1" u="none" strike="noStrike" dirty="0">
                          <a:solidFill>
                            <a:srgbClr val="FF0000"/>
                          </a:solidFill>
                          <a:effectLst/>
                          <a:latin typeface="+mj-ea"/>
                          <a:ea typeface="+mj-ea"/>
                        </a:rPr>
                        <a:t>0.02%</a:t>
                      </a:r>
                      <a:endParaRPr lang="en-US" altLang="zh-CN" sz="1200" b="1" i="0" u="none" strike="noStrike" dirty="0">
                        <a:solidFill>
                          <a:srgbClr val="FF0000"/>
                        </a:solidFill>
                        <a:effectLst/>
                        <a:latin typeface="+mj-ea"/>
                        <a:ea typeface="+mj-ea"/>
                      </a:endParaRPr>
                    </a:p>
                  </a:txBody>
                  <a:tcPr marL="9525" marR="9525" marT="9525" marB="0" anchor="b"/>
                </a:tc>
                <a:tc>
                  <a:txBody>
                    <a:bodyPr/>
                    <a:lstStyle/>
                    <a:p>
                      <a:pPr algn="ctr" fontAlgn="b"/>
                      <a:r>
                        <a:rPr lang="zh-CN" altLang="en-US" sz="1200" u="none" strike="noStrike">
                          <a:effectLst/>
                          <a:latin typeface="+mj-ea"/>
                          <a:ea typeface="+mj-ea"/>
                        </a:rPr>
                        <a:t>福州</a:t>
                      </a:r>
                      <a:endParaRPr lang="zh-CN" altLang="en-US" sz="1200" b="0" i="0" u="none" strike="noStrike">
                        <a:solidFill>
                          <a:srgbClr val="000000"/>
                        </a:solidFill>
                        <a:effectLst/>
                        <a:latin typeface="+mj-ea"/>
                        <a:ea typeface="+mj-ea"/>
                      </a:endParaRPr>
                    </a:p>
                  </a:txBody>
                  <a:tcPr marL="9525" marR="9525" marT="9525" marB="0" anchor="b"/>
                </a:tc>
                <a:tc>
                  <a:txBody>
                    <a:bodyPr/>
                    <a:lstStyle/>
                    <a:p>
                      <a:pPr algn="ctr" fontAlgn="b"/>
                      <a:r>
                        <a:rPr lang="en-US" altLang="zh-CN" sz="1200" u="none" strike="noStrike">
                          <a:effectLst/>
                          <a:latin typeface="+mj-ea"/>
                          <a:ea typeface="+mj-ea"/>
                        </a:rPr>
                        <a:t>4.42%</a:t>
                      </a:r>
                      <a:endParaRPr lang="en-US" altLang="zh-CN" sz="1200" b="0" i="0" u="none" strike="noStrike">
                        <a:solidFill>
                          <a:srgbClr val="000000"/>
                        </a:solidFill>
                        <a:effectLst/>
                        <a:latin typeface="+mj-ea"/>
                        <a:ea typeface="+mj-ea"/>
                      </a:endParaRPr>
                    </a:p>
                  </a:txBody>
                  <a:tcPr marL="9525" marR="9525" marT="9525" marB="0" anchor="b"/>
                </a:tc>
                <a:tc>
                  <a:txBody>
                    <a:bodyPr/>
                    <a:lstStyle/>
                    <a:p>
                      <a:pPr algn="ctr" fontAlgn="b"/>
                      <a:r>
                        <a:rPr lang="en-US" altLang="zh-CN" sz="1200" u="none" strike="noStrike">
                          <a:effectLst/>
                          <a:latin typeface="+mj-ea"/>
                          <a:ea typeface="+mj-ea"/>
                        </a:rPr>
                        <a:t>4.41%</a:t>
                      </a:r>
                      <a:endParaRPr lang="en-US" altLang="zh-CN" sz="1200" b="0" i="0" u="none" strike="noStrike">
                        <a:solidFill>
                          <a:srgbClr val="000000"/>
                        </a:solidFill>
                        <a:effectLst/>
                        <a:latin typeface="+mj-ea"/>
                        <a:ea typeface="+mj-ea"/>
                      </a:endParaRPr>
                    </a:p>
                  </a:txBody>
                  <a:tcPr marL="9525" marR="9525" marT="9525" marB="0" anchor="b"/>
                </a:tc>
                <a:tc>
                  <a:txBody>
                    <a:bodyPr/>
                    <a:lstStyle/>
                    <a:p>
                      <a:pPr algn="ctr" fontAlgn="b"/>
                      <a:r>
                        <a:rPr lang="en-US" altLang="zh-CN" sz="1200" u="none" strike="noStrike">
                          <a:effectLst/>
                          <a:latin typeface="+mj-ea"/>
                          <a:ea typeface="+mj-ea"/>
                        </a:rPr>
                        <a:t>-0.01%</a:t>
                      </a:r>
                      <a:endParaRPr lang="en-US" altLang="zh-CN" sz="1200" b="0" i="0" u="none" strike="noStrike">
                        <a:solidFill>
                          <a:srgbClr val="000000"/>
                        </a:solidFill>
                        <a:effectLst/>
                        <a:latin typeface="+mj-ea"/>
                        <a:ea typeface="+mj-ea"/>
                      </a:endParaRPr>
                    </a:p>
                  </a:txBody>
                  <a:tcPr marL="9525" marR="9525" marT="9525" marB="0" anchor="b"/>
                </a:tc>
                <a:extLst>
                  <a:ext uri="{0D108BD9-81ED-4DB2-BD59-A6C34878D82A}">
                    <a16:rowId xmlns:a16="http://schemas.microsoft.com/office/drawing/2014/main" val="10006"/>
                  </a:ext>
                </a:extLst>
              </a:tr>
              <a:tr h="222545">
                <a:tc>
                  <a:txBody>
                    <a:bodyPr/>
                    <a:lstStyle/>
                    <a:p>
                      <a:pPr algn="ctr" fontAlgn="b"/>
                      <a:r>
                        <a:rPr lang="zh-CN" altLang="en-US" sz="1200" u="none" strike="noStrike">
                          <a:effectLst/>
                          <a:latin typeface="+mj-ea"/>
                          <a:ea typeface="+mj-ea"/>
                        </a:rPr>
                        <a:t>成都</a:t>
                      </a:r>
                      <a:endParaRPr lang="zh-CN" altLang="en-US" sz="1200" b="0" i="0" u="none" strike="noStrike">
                        <a:solidFill>
                          <a:srgbClr val="000000"/>
                        </a:solidFill>
                        <a:effectLst/>
                        <a:latin typeface="+mj-ea"/>
                        <a:ea typeface="+mj-ea"/>
                      </a:endParaRPr>
                    </a:p>
                  </a:txBody>
                  <a:tcPr marL="9525" marR="9525" marT="9525" marB="0" anchor="b"/>
                </a:tc>
                <a:tc>
                  <a:txBody>
                    <a:bodyPr/>
                    <a:lstStyle/>
                    <a:p>
                      <a:pPr algn="ctr" fontAlgn="b"/>
                      <a:r>
                        <a:rPr lang="en-US" altLang="zh-CN" sz="1200" u="none" strike="noStrike">
                          <a:effectLst/>
                          <a:latin typeface="+mj-ea"/>
                          <a:ea typeface="+mj-ea"/>
                        </a:rPr>
                        <a:t>4.25%</a:t>
                      </a:r>
                      <a:endParaRPr lang="en-US" altLang="zh-CN" sz="1200" b="0" i="0" u="none" strike="noStrike">
                        <a:solidFill>
                          <a:srgbClr val="000000"/>
                        </a:solidFill>
                        <a:effectLst/>
                        <a:latin typeface="+mj-ea"/>
                        <a:ea typeface="+mj-ea"/>
                      </a:endParaRPr>
                    </a:p>
                  </a:txBody>
                  <a:tcPr marL="9525" marR="9525" marT="9525" marB="0" anchor="b"/>
                </a:tc>
                <a:tc>
                  <a:txBody>
                    <a:bodyPr/>
                    <a:lstStyle/>
                    <a:p>
                      <a:pPr algn="ctr" fontAlgn="b"/>
                      <a:r>
                        <a:rPr lang="en-US" altLang="zh-CN" sz="1200" u="none" strike="noStrike">
                          <a:effectLst/>
                          <a:latin typeface="+mj-ea"/>
                          <a:ea typeface="+mj-ea"/>
                        </a:rPr>
                        <a:t>4.25%</a:t>
                      </a:r>
                      <a:endParaRPr lang="en-US" altLang="zh-CN" sz="1200" b="0" i="0" u="none" strike="noStrike">
                        <a:solidFill>
                          <a:srgbClr val="000000"/>
                        </a:solidFill>
                        <a:effectLst/>
                        <a:latin typeface="+mj-ea"/>
                        <a:ea typeface="+mj-ea"/>
                      </a:endParaRPr>
                    </a:p>
                  </a:txBody>
                  <a:tcPr marL="9525" marR="9525" marT="9525" marB="0" anchor="b"/>
                </a:tc>
                <a:tc>
                  <a:txBody>
                    <a:bodyPr/>
                    <a:lstStyle/>
                    <a:p>
                      <a:pPr algn="ctr" fontAlgn="b"/>
                      <a:r>
                        <a:rPr lang="en-US" altLang="zh-CN" sz="1200" u="none" strike="noStrike" dirty="0">
                          <a:effectLst/>
                          <a:latin typeface="+mj-ea"/>
                          <a:ea typeface="+mj-ea"/>
                        </a:rPr>
                        <a:t>0.00%</a:t>
                      </a:r>
                      <a:endParaRPr lang="en-US" altLang="zh-CN" sz="1200" b="0" i="0" u="none" strike="noStrike" dirty="0">
                        <a:solidFill>
                          <a:srgbClr val="000000"/>
                        </a:solidFill>
                        <a:effectLst/>
                        <a:latin typeface="+mj-ea"/>
                        <a:ea typeface="+mj-ea"/>
                      </a:endParaRPr>
                    </a:p>
                  </a:txBody>
                  <a:tcPr marL="9525" marR="9525" marT="9525" marB="0" anchor="b"/>
                </a:tc>
                <a:tc>
                  <a:txBody>
                    <a:bodyPr/>
                    <a:lstStyle/>
                    <a:p>
                      <a:pPr algn="ctr" fontAlgn="b"/>
                      <a:r>
                        <a:rPr lang="zh-CN" altLang="en-US" sz="1200" u="none" strike="noStrike">
                          <a:effectLst/>
                          <a:latin typeface="+mj-ea"/>
                          <a:ea typeface="+mj-ea"/>
                        </a:rPr>
                        <a:t>南京</a:t>
                      </a:r>
                      <a:endParaRPr lang="zh-CN" altLang="en-US" sz="1200" b="0" i="0" u="none" strike="noStrike">
                        <a:solidFill>
                          <a:srgbClr val="000000"/>
                        </a:solidFill>
                        <a:effectLst/>
                        <a:latin typeface="+mj-ea"/>
                        <a:ea typeface="+mj-ea"/>
                      </a:endParaRPr>
                    </a:p>
                  </a:txBody>
                  <a:tcPr marL="9525" marR="9525" marT="9525" marB="0" anchor="b"/>
                </a:tc>
                <a:tc>
                  <a:txBody>
                    <a:bodyPr/>
                    <a:lstStyle/>
                    <a:p>
                      <a:pPr algn="ctr" fontAlgn="b"/>
                      <a:r>
                        <a:rPr lang="en-US" altLang="zh-CN" sz="1200" u="none" strike="noStrike">
                          <a:effectLst/>
                          <a:latin typeface="+mj-ea"/>
                          <a:ea typeface="+mj-ea"/>
                        </a:rPr>
                        <a:t>4.42%</a:t>
                      </a:r>
                      <a:endParaRPr lang="en-US" altLang="zh-CN" sz="1200" b="0" i="0" u="none" strike="noStrike">
                        <a:solidFill>
                          <a:srgbClr val="000000"/>
                        </a:solidFill>
                        <a:effectLst/>
                        <a:latin typeface="+mj-ea"/>
                        <a:ea typeface="+mj-ea"/>
                      </a:endParaRPr>
                    </a:p>
                  </a:txBody>
                  <a:tcPr marL="9525" marR="9525" marT="9525" marB="0" anchor="b"/>
                </a:tc>
                <a:tc>
                  <a:txBody>
                    <a:bodyPr/>
                    <a:lstStyle/>
                    <a:p>
                      <a:pPr algn="ctr" fontAlgn="b"/>
                      <a:r>
                        <a:rPr lang="en-US" altLang="zh-CN" sz="1200" u="none" strike="noStrike">
                          <a:effectLst/>
                          <a:latin typeface="+mj-ea"/>
                          <a:ea typeface="+mj-ea"/>
                        </a:rPr>
                        <a:t>4.42%</a:t>
                      </a:r>
                      <a:endParaRPr lang="en-US" altLang="zh-CN" sz="1200" b="0" i="0" u="none" strike="noStrike">
                        <a:solidFill>
                          <a:srgbClr val="000000"/>
                        </a:solidFill>
                        <a:effectLst/>
                        <a:latin typeface="+mj-ea"/>
                        <a:ea typeface="+mj-ea"/>
                      </a:endParaRPr>
                    </a:p>
                  </a:txBody>
                  <a:tcPr marL="9525" marR="9525" marT="9525" marB="0" anchor="b"/>
                </a:tc>
                <a:tc>
                  <a:txBody>
                    <a:bodyPr/>
                    <a:lstStyle/>
                    <a:p>
                      <a:pPr algn="ctr" fontAlgn="b"/>
                      <a:r>
                        <a:rPr lang="en-US" altLang="zh-CN" sz="1200" u="none" strike="noStrike">
                          <a:effectLst/>
                          <a:latin typeface="+mj-ea"/>
                          <a:ea typeface="+mj-ea"/>
                        </a:rPr>
                        <a:t>0.00%</a:t>
                      </a:r>
                      <a:endParaRPr lang="en-US" altLang="zh-CN" sz="1200" b="0" i="0" u="none" strike="noStrike">
                        <a:solidFill>
                          <a:srgbClr val="000000"/>
                        </a:solidFill>
                        <a:effectLst/>
                        <a:latin typeface="+mj-ea"/>
                        <a:ea typeface="+mj-ea"/>
                      </a:endParaRPr>
                    </a:p>
                  </a:txBody>
                  <a:tcPr marL="9525" marR="9525" marT="9525" marB="0" anchor="b"/>
                </a:tc>
                <a:extLst>
                  <a:ext uri="{0D108BD9-81ED-4DB2-BD59-A6C34878D82A}">
                    <a16:rowId xmlns:a16="http://schemas.microsoft.com/office/drawing/2014/main" val="10007"/>
                  </a:ext>
                </a:extLst>
              </a:tr>
              <a:tr h="222545">
                <a:tc>
                  <a:txBody>
                    <a:bodyPr/>
                    <a:lstStyle/>
                    <a:p>
                      <a:pPr algn="ctr" fontAlgn="b"/>
                      <a:r>
                        <a:rPr lang="zh-CN" altLang="en-US" sz="1200" u="none" strike="noStrike">
                          <a:effectLst/>
                          <a:latin typeface="+mj-ea"/>
                          <a:ea typeface="+mj-ea"/>
                        </a:rPr>
                        <a:t>重庆</a:t>
                      </a:r>
                      <a:endParaRPr lang="zh-CN" altLang="en-US" sz="1200" b="0" i="0" u="none" strike="noStrike">
                        <a:solidFill>
                          <a:srgbClr val="000000"/>
                        </a:solidFill>
                        <a:effectLst/>
                        <a:latin typeface="+mj-ea"/>
                        <a:ea typeface="+mj-ea"/>
                      </a:endParaRPr>
                    </a:p>
                  </a:txBody>
                  <a:tcPr marL="9525" marR="9525" marT="9525" marB="0" anchor="b"/>
                </a:tc>
                <a:tc>
                  <a:txBody>
                    <a:bodyPr/>
                    <a:lstStyle/>
                    <a:p>
                      <a:pPr algn="ctr" fontAlgn="b"/>
                      <a:r>
                        <a:rPr lang="en-US" altLang="zh-CN" sz="1200" u="none" strike="noStrike">
                          <a:effectLst/>
                          <a:latin typeface="+mj-ea"/>
                          <a:ea typeface="+mj-ea"/>
                        </a:rPr>
                        <a:t>4.31%</a:t>
                      </a:r>
                      <a:endParaRPr lang="en-US" altLang="zh-CN" sz="1200" b="0" i="0" u="none" strike="noStrike">
                        <a:solidFill>
                          <a:srgbClr val="000000"/>
                        </a:solidFill>
                        <a:effectLst/>
                        <a:latin typeface="+mj-ea"/>
                        <a:ea typeface="+mj-ea"/>
                      </a:endParaRPr>
                    </a:p>
                  </a:txBody>
                  <a:tcPr marL="9525" marR="9525" marT="9525" marB="0" anchor="b"/>
                </a:tc>
                <a:tc>
                  <a:txBody>
                    <a:bodyPr/>
                    <a:lstStyle/>
                    <a:p>
                      <a:pPr algn="ctr" fontAlgn="b"/>
                      <a:r>
                        <a:rPr lang="en-US" altLang="zh-CN" sz="1200" u="none" strike="noStrike">
                          <a:effectLst/>
                          <a:latin typeface="+mj-ea"/>
                          <a:ea typeface="+mj-ea"/>
                        </a:rPr>
                        <a:t>4.29%</a:t>
                      </a:r>
                      <a:endParaRPr lang="en-US" altLang="zh-CN" sz="1200" b="0" i="0" u="none" strike="noStrike">
                        <a:solidFill>
                          <a:srgbClr val="000000"/>
                        </a:solidFill>
                        <a:effectLst/>
                        <a:latin typeface="+mj-ea"/>
                        <a:ea typeface="+mj-ea"/>
                      </a:endParaRPr>
                    </a:p>
                  </a:txBody>
                  <a:tcPr marL="9525" marR="9525" marT="9525" marB="0" anchor="b"/>
                </a:tc>
                <a:tc>
                  <a:txBody>
                    <a:bodyPr/>
                    <a:lstStyle/>
                    <a:p>
                      <a:pPr algn="ctr" fontAlgn="b"/>
                      <a:r>
                        <a:rPr lang="en-US" altLang="zh-CN" sz="1200" u="none" strike="noStrike" dirty="0">
                          <a:effectLst/>
                          <a:latin typeface="+mj-ea"/>
                          <a:ea typeface="+mj-ea"/>
                        </a:rPr>
                        <a:t>-0.02%</a:t>
                      </a:r>
                      <a:endParaRPr lang="en-US" altLang="zh-CN" sz="1200" b="0" i="0" u="none" strike="noStrike" dirty="0">
                        <a:solidFill>
                          <a:srgbClr val="000000"/>
                        </a:solidFill>
                        <a:effectLst/>
                        <a:latin typeface="+mj-ea"/>
                        <a:ea typeface="+mj-ea"/>
                      </a:endParaRPr>
                    </a:p>
                  </a:txBody>
                  <a:tcPr marL="9525" marR="9525" marT="9525" marB="0" anchor="b"/>
                </a:tc>
                <a:tc>
                  <a:txBody>
                    <a:bodyPr/>
                    <a:lstStyle/>
                    <a:p>
                      <a:pPr algn="ctr" fontAlgn="b"/>
                      <a:r>
                        <a:rPr lang="zh-CN" altLang="en-US" sz="1200" b="1" u="none" strike="noStrike" dirty="0">
                          <a:solidFill>
                            <a:srgbClr val="FF0000"/>
                          </a:solidFill>
                          <a:effectLst/>
                          <a:latin typeface="+mj-ea"/>
                          <a:ea typeface="+mj-ea"/>
                        </a:rPr>
                        <a:t>深圳</a:t>
                      </a:r>
                      <a:endParaRPr lang="zh-CN" altLang="en-US" sz="1200" b="1" i="0" u="none" strike="noStrike" dirty="0">
                        <a:solidFill>
                          <a:srgbClr val="FF0000"/>
                        </a:solidFill>
                        <a:effectLst/>
                        <a:latin typeface="+mj-ea"/>
                        <a:ea typeface="+mj-ea"/>
                      </a:endParaRPr>
                    </a:p>
                  </a:txBody>
                  <a:tcPr marL="9525" marR="9525" marT="9525" marB="0" anchor="b"/>
                </a:tc>
                <a:tc>
                  <a:txBody>
                    <a:bodyPr/>
                    <a:lstStyle/>
                    <a:p>
                      <a:pPr algn="ctr" fontAlgn="b"/>
                      <a:r>
                        <a:rPr lang="en-US" altLang="zh-CN" sz="1200" b="1" u="none" strike="noStrike">
                          <a:solidFill>
                            <a:srgbClr val="FF0000"/>
                          </a:solidFill>
                          <a:effectLst/>
                          <a:latin typeface="+mj-ea"/>
                          <a:ea typeface="+mj-ea"/>
                        </a:rPr>
                        <a:t>4.42%</a:t>
                      </a:r>
                      <a:endParaRPr lang="en-US" altLang="zh-CN" sz="1200" b="1" i="0" u="none" strike="noStrike">
                        <a:solidFill>
                          <a:srgbClr val="FF0000"/>
                        </a:solidFill>
                        <a:effectLst/>
                        <a:latin typeface="+mj-ea"/>
                        <a:ea typeface="+mj-ea"/>
                      </a:endParaRPr>
                    </a:p>
                  </a:txBody>
                  <a:tcPr marL="9525" marR="9525" marT="9525" marB="0" anchor="b"/>
                </a:tc>
                <a:tc>
                  <a:txBody>
                    <a:bodyPr/>
                    <a:lstStyle/>
                    <a:p>
                      <a:pPr algn="ctr" fontAlgn="b"/>
                      <a:r>
                        <a:rPr lang="en-US" altLang="zh-CN" sz="1200" b="1" u="none" strike="noStrike">
                          <a:solidFill>
                            <a:srgbClr val="FF0000"/>
                          </a:solidFill>
                          <a:effectLst/>
                          <a:latin typeface="+mj-ea"/>
                          <a:ea typeface="+mj-ea"/>
                        </a:rPr>
                        <a:t>4.43%</a:t>
                      </a:r>
                      <a:endParaRPr lang="en-US" altLang="zh-CN" sz="1200" b="1" i="0" u="none" strike="noStrike">
                        <a:solidFill>
                          <a:srgbClr val="FF0000"/>
                        </a:solidFill>
                        <a:effectLst/>
                        <a:latin typeface="+mj-ea"/>
                        <a:ea typeface="+mj-ea"/>
                      </a:endParaRPr>
                    </a:p>
                  </a:txBody>
                  <a:tcPr marL="9525" marR="9525" marT="9525" marB="0" anchor="b"/>
                </a:tc>
                <a:tc>
                  <a:txBody>
                    <a:bodyPr/>
                    <a:lstStyle/>
                    <a:p>
                      <a:pPr algn="ctr" fontAlgn="b"/>
                      <a:r>
                        <a:rPr lang="en-US" altLang="zh-CN" sz="1200" b="1" u="none" strike="noStrike" dirty="0">
                          <a:solidFill>
                            <a:srgbClr val="FF0000"/>
                          </a:solidFill>
                          <a:effectLst/>
                          <a:latin typeface="+mj-ea"/>
                          <a:ea typeface="+mj-ea"/>
                        </a:rPr>
                        <a:t>0.01%</a:t>
                      </a:r>
                      <a:endParaRPr lang="en-US" altLang="zh-CN" sz="1200" b="1" i="0" u="none" strike="noStrike" dirty="0">
                        <a:solidFill>
                          <a:srgbClr val="FF0000"/>
                        </a:solidFill>
                        <a:effectLst/>
                        <a:latin typeface="+mj-ea"/>
                        <a:ea typeface="+mj-ea"/>
                      </a:endParaRPr>
                    </a:p>
                  </a:txBody>
                  <a:tcPr marL="9525" marR="9525" marT="9525" marB="0" anchor="b"/>
                </a:tc>
                <a:extLst>
                  <a:ext uri="{0D108BD9-81ED-4DB2-BD59-A6C34878D82A}">
                    <a16:rowId xmlns:a16="http://schemas.microsoft.com/office/drawing/2014/main" val="10008"/>
                  </a:ext>
                </a:extLst>
              </a:tr>
              <a:tr h="222545">
                <a:tc>
                  <a:txBody>
                    <a:bodyPr/>
                    <a:lstStyle/>
                    <a:p>
                      <a:pPr algn="ctr" fontAlgn="b"/>
                      <a:r>
                        <a:rPr lang="zh-CN" altLang="en-US" sz="1200" u="none" strike="noStrike">
                          <a:effectLst/>
                          <a:latin typeface="+mj-ea"/>
                          <a:ea typeface="+mj-ea"/>
                        </a:rPr>
                        <a:t>宁波</a:t>
                      </a:r>
                      <a:endParaRPr lang="zh-CN" altLang="en-US" sz="1200" b="0" i="0" u="none" strike="noStrike">
                        <a:solidFill>
                          <a:srgbClr val="000000"/>
                        </a:solidFill>
                        <a:effectLst/>
                        <a:latin typeface="+mj-ea"/>
                        <a:ea typeface="+mj-ea"/>
                      </a:endParaRPr>
                    </a:p>
                  </a:txBody>
                  <a:tcPr marL="9525" marR="9525" marT="9525" marB="0" anchor="b"/>
                </a:tc>
                <a:tc>
                  <a:txBody>
                    <a:bodyPr/>
                    <a:lstStyle/>
                    <a:p>
                      <a:pPr algn="ctr" fontAlgn="b"/>
                      <a:r>
                        <a:rPr lang="en-US" altLang="zh-CN" sz="1200" u="none" strike="noStrike">
                          <a:effectLst/>
                          <a:latin typeface="+mj-ea"/>
                          <a:ea typeface="+mj-ea"/>
                        </a:rPr>
                        <a:t>4.30%</a:t>
                      </a:r>
                      <a:endParaRPr lang="en-US" altLang="zh-CN" sz="1200" b="0" i="0" u="none" strike="noStrike">
                        <a:solidFill>
                          <a:srgbClr val="000000"/>
                        </a:solidFill>
                        <a:effectLst/>
                        <a:latin typeface="+mj-ea"/>
                        <a:ea typeface="+mj-ea"/>
                      </a:endParaRPr>
                    </a:p>
                  </a:txBody>
                  <a:tcPr marL="9525" marR="9525" marT="9525" marB="0" anchor="b"/>
                </a:tc>
                <a:tc>
                  <a:txBody>
                    <a:bodyPr/>
                    <a:lstStyle/>
                    <a:p>
                      <a:pPr algn="ctr" fontAlgn="b"/>
                      <a:r>
                        <a:rPr lang="en-US" altLang="zh-CN" sz="1200" u="none" strike="noStrike">
                          <a:effectLst/>
                          <a:latin typeface="+mj-ea"/>
                          <a:ea typeface="+mj-ea"/>
                        </a:rPr>
                        <a:t>4.30%</a:t>
                      </a:r>
                      <a:endParaRPr lang="en-US" altLang="zh-CN" sz="1200" b="0" i="0" u="none" strike="noStrike">
                        <a:solidFill>
                          <a:srgbClr val="000000"/>
                        </a:solidFill>
                        <a:effectLst/>
                        <a:latin typeface="+mj-ea"/>
                        <a:ea typeface="+mj-ea"/>
                      </a:endParaRPr>
                    </a:p>
                  </a:txBody>
                  <a:tcPr marL="9525" marR="9525" marT="9525" marB="0" anchor="b"/>
                </a:tc>
                <a:tc>
                  <a:txBody>
                    <a:bodyPr/>
                    <a:lstStyle/>
                    <a:p>
                      <a:pPr algn="ctr" fontAlgn="b"/>
                      <a:r>
                        <a:rPr lang="en-US" altLang="zh-CN" sz="1200" u="none" strike="noStrike">
                          <a:effectLst/>
                          <a:latin typeface="+mj-ea"/>
                          <a:ea typeface="+mj-ea"/>
                        </a:rPr>
                        <a:t>0.00%</a:t>
                      </a:r>
                      <a:endParaRPr lang="en-US" altLang="zh-CN" sz="1200" b="0" i="0" u="none" strike="noStrike">
                        <a:solidFill>
                          <a:srgbClr val="000000"/>
                        </a:solidFill>
                        <a:effectLst/>
                        <a:latin typeface="+mj-ea"/>
                        <a:ea typeface="+mj-ea"/>
                      </a:endParaRPr>
                    </a:p>
                  </a:txBody>
                  <a:tcPr marL="9525" marR="9525" marT="9525" marB="0" anchor="b"/>
                </a:tc>
                <a:tc>
                  <a:txBody>
                    <a:bodyPr/>
                    <a:lstStyle/>
                    <a:p>
                      <a:pPr algn="ctr" fontAlgn="b"/>
                      <a:r>
                        <a:rPr lang="zh-CN" altLang="en-US" sz="1200" b="1" u="none" strike="noStrike" dirty="0">
                          <a:solidFill>
                            <a:srgbClr val="FF0000"/>
                          </a:solidFill>
                          <a:effectLst/>
                          <a:latin typeface="+mj-ea"/>
                          <a:ea typeface="+mj-ea"/>
                        </a:rPr>
                        <a:t>厦门</a:t>
                      </a:r>
                      <a:endParaRPr lang="zh-CN" altLang="en-US" sz="1200" b="1" i="0" u="none" strike="noStrike" dirty="0">
                        <a:solidFill>
                          <a:srgbClr val="FF0000"/>
                        </a:solidFill>
                        <a:effectLst/>
                        <a:latin typeface="+mj-ea"/>
                        <a:ea typeface="+mj-ea"/>
                      </a:endParaRPr>
                    </a:p>
                  </a:txBody>
                  <a:tcPr marL="9525" marR="9525" marT="9525" marB="0" anchor="b"/>
                </a:tc>
                <a:tc>
                  <a:txBody>
                    <a:bodyPr/>
                    <a:lstStyle/>
                    <a:p>
                      <a:pPr algn="ctr" fontAlgn="b"/>
                      <a:r>
                        <a:rPr lang="en-US" altLang="zh-CN" sz="1200" b="1" u="none" strike="noStrike" dirty="0">
                          <a:solidFill>
                            <a:srgbClr val="FF0000"/>
                          </a:solidFill>
                          <a:effectLst/>
                          <a:latin typeface="+mj-ea"/>
                          <a:ea typeface="+mj-ea"/>
                        </a:rPr>
                        <a:t>4.42%</a:t>
                      </a:r>
                      <a:endParaRPr lang="en-US" altLang="zh-CN" sz="1200" b="1" i="0" u="none" strike="noStrike" dirty="0">
                        <a:solidFill>
                          <a:srgbClr val="FF0000"/>
                        </a:solidFill>
                        <a:effectLst/>
                        <a:latin typeface="+mj-ea"/>
                        <a:ea typeface="+mj-ea"/>
                      </a:endParaRPr>
                    </a:p>
                  </a:txBody>
                  <a:tcPr marL="9525" marR="9525" marT="9525" marB="0" anchor="b"/>
                </a:tc>
                <a:tc>
                  <a:txBody>
                    <a:bodyPr/>
                    <a:lstStyle/>
                    <a:p>
                      <a:pPr algn="ctr" fontAlgn="b"/>
                      <a:r>
                        <a:rPr lang="en-US" altLang="zh-CN" sz="1200" b="1" u="none" strike="noStrike">
                          <a:solidFill>
                            <a:srgbClr val="FF0000"/>
                          </a:solidFill>
                          <a:effectLst/>
                          <a:latin typeface="+mj-ea"/>
                          <a:ea typeface="+mj-ea"/>
                        </a:rPr>
                        <a:t>4.43%</a:t>
                      </a:r>
                      <a:endParaRPr lang="en-US" altLang="zh-CN" sz="1200" b="1" i="0" u="none" strike="noStrike">
                        <a:solidFill>
                          <a:srgbClr val="FF0000"/>
                        </a:solidFill>
                        <a:effectLst/>
                        <a:latin typeface="+mj-ea"/>
                        <a:ea typeface="+mj-ea"/>
                      </a:endParaRPr>
                    </a:p>
                  </a:txBody>
                  <a:tcPr marL="9525" marR="9525" marT="9525" marB="0" anchor="b"/>
                </a:tc>
                <a:tc>
                  <a:txBody>
                    <a:bodyPr/>
                    <a:lstStyle/>
                    <a:p>
                      <a:pPr algn="ctr" fontAlgn="b"/>
                      <a:r>
                        <a:rPr lang="en-US" altLang="zh-CN" sz="1200" b="1" u="none" strike="noStrike" dirty="0">
                          <a:solidFill>
                            <a:srgbClr val="FF0000"/>
                          </a:solidFill>
                          <a:effectLst/>
                          <a:latin typeface="+mj-ea"/>
                          <a:ea typeface="+mj-ea"/>
                        </a:rPr>
                        <a:t>0.01%</a:t>
                      </a:r>
                      <a:endParaRPr lang="en-US" altLang="zh-CN" sz="1200" b="1" i="0" u="none" strike="noStrike" dirty="0">
                        <a:solidFill>
                          <a:srgbClr val="FF0000"/>
                        </a:solidFill>
                        <a:effectLst/>
                        <a:latin typeface="+mj-ea"/>
                        <a:ea typeface="+mj-ea"/>
                      </a:endParaRPr>
                    </a:p>
                  </a:txBody>
                  <a:tcPr marL="9525" marR="9525" marT="9525" marB="0" anchor="b"/>
                </a:tc>
                <a:extLst>
                  <a:ext uri="{0D108BD9-81ED-4DB2-BD59-A6C34878D82A}">
                    <a16:rowId xmlns:a16="http://schemas.microsoft.com/office/drawing/2014/main" val="10009"/>
                  </a:ext>
                </a:extLst>
              </a:tr>
              <a:tr h="222545">
                <a:tc>
                  <a:txBody>
                    <a:bodyPr/>
                    <a:lstStyle/>
                    <a:p>
                      <a:pPr algn="ctr" fontAlgn="b"/>
                      <a:r>
                        <a:rPr lang="zh-CN" altLang="en-US" sz="1200" u="none" strike="noStrike">
                          <a:effectLst/>
                          <a:latin typeface="+mj-ea"/>
                          <a:ea typeface="+mj-ea"/>
                        </a:rPr>
                        <a:t>无锡</a:t>
                      </a:r>
                      <a:endParaRPr lang="zh-CN" altLang="en-US" sz="1200" b="0" i="0" u="none" strike="noStrike">
                        <a:solidFill>
                          <a:srgbClr val="000000"/>
                        </a:solidFill>
                        <a:effectLst/>
                        <a:latin typeface="+mj-ea"/>
                        <a:ea typeface="+mj-ea"/>
                      </a:endParaRPr>
                    </a:p>
                  </a:txBody>
                  <a:tcPr marL="9525" marR="9525" marT="9525" marB="0" anchor="b"/>
                </a:tc>
                <a:tc>
                  <a:txBody>
                    <a:bodyPr/>
                    <a:lstStyle/>
                    <a:p>
                      <a:pPr algn="ctr" fontAlgn="b"/>
                      <a:r>
                        <a:rPr lang="en-US" altLang="zh-CN" sz="1200" u="none" strike="noStrike">
                          <a:effectLst/>
                          <a:latin typeface="+mj-ea"/>
                          <a:ea typeface="+mj-ea"/>
                        </a:rPr>
                        <a:t>4.32%</a:t>
                      </a:r>
                      <a:endParaRPr lang="en-US" altLang="zh-CN" sz="1200" b="0" i="0" u="none" strike="noStrike">
                        <a:solidFill>
                          <a:srgbClr val="000000"/>
                        </a:solidFill>
                        <a:effectLst/>
                        <a:latin typeface="+mj-ea"/>
                        <a:ea typeface="+mj-ea"/>
                      </a:endParaRPr>
                    </a:p>
                  </a:txBody>
                  <a:tcPr marL="9525" marR="9525" marT="9525" marB="0" anchor="b"/>
                </a:tc>
                <a:tc>
                  <a:txBody>
                    <a:bodyPr/>
                    <a:lstStyle/>
                    <a:p>
                      <a:pPr algn="ctr" fontAlgn="b"/>
                      <a:r>
                        <a:rPr lang="en-US" altLang="zh-CN" sz="1200" u="none" strike="noStrike">
                          <a:effectLst/>
                          <a:latin typeface="+mj-ea"/>
                          <a:ea typeface="+mj-ea"/>
                        </a:rPr>
                        <a:t>4.30%</a:t>
                      </a:r>
                      <a:endParaRPr lang="en-US" altLang="zh-CN" sz="1200" b="0" i="0" u="none" strike="noStrike">
                        <a:solidFill>
                          <a:srgbClr val="000000"/>
                        </a:solidFill>
                        <a:effectLst/>
                        <a:latin typeface="+mj-ea"/>
                        <a:ea typeface="+mj-ea"/>
                      </a:endParaRPr>
                    </a:p>
                  </a:txBody>
                  <a:tcPr marL="9525" marR="9525" marT="9525" marB="0" anchor="b"/>
                </a:tc>
                <a:tc>
                  <a:txBody>
                    <a:bodyPr/>
                    <a:lstStyle/>
                    <a:p>
                      <a:pPr algn="ctr" fontAlgn="b"/>
                      <a:r>
                        <a:rPr lang="en-US" altLang="zh-CN" sz="1200" u="none" strike="noStrike">
                          <a:effectLst/>
                          <a:latin typeface="+mj-ea"/>
                          <a:ea typeface="+mj-ea"/>
                        </a:rPr>
                        <a:t>-0.02%</a:t>
                      </a:r>
                      <a:endParaRPr lang="en-US" altLang="zh-CN" sz="1200" b="0" i="0" u="none" strike="noStrike">
                        <a:solidFill>
                          <a:srgbClr val="000000"/>
                        </a:solidFill>
                        <a:effectLst/>
                        <a:latin typeface="+mj-ea"/>
                        <a:ea typeface="+mj-ea"/>
                      </a:endParaRPr>
                    </a:p>
                  </a:txBody>
                  <a:tcPr marL="9525" marR="9525" marT="9525" marB="0" anchor="b"/>
                </a:tc>
                <a:tc>
                  <a:txBody>
                    <a:bodyPr/>
                    <a:lstStyle/>
                    <a:p>
                      <a:pPr algn="ctr" fontAlgn="b"/>
                      <a:r>
                        <a:rPr lang="zh-CN" altLang="en-US" sz="1200" u="none" strike="noStrike">
                          <a:effectLst/>
                          <a:latin typeface="+mj-ea"/>
                          <a:ea typeface="+mj-ea"/>
                        </a:rPr>
                        <a:t>石家庄</a:t>
                      </a:r>
                      <a:endParaRPr lang="zh-CN" altLang="en-US" sz="1200" b="0" i="0" u="none" strike="noStrike">
                        <a:solidFill>
                          <a:srgbClr val="000000"/>
                        </a:solidFill>
                        <a:effectLst/>
                        <a:latin typeface="+mj-ea"/>
                        <a:ea typeface="+mj-ea"/>
                      </a:endParaRPr>
                    </a:p>
                  </a:txBody>
                  <a:tcPr marL="9525" marR="9525" marT="9525" marB="0" anchor="b"/>
                </a:tc>
                <a:tc>
                  <a:txBody>
                    <a:bodyPr/>
                    <a:lstStyle/>
                    <a:p>
                      <a:pPr algn="ctr" fontAlgn="b"/>
                      <a:r>
                        <a:rPr lang="en-US" altLang="zh-CN" sz="1200" u="none" strike="noStrike" dirty="0">
                          <a:effectLst/>
                          <a:latin typeface="+mj-ea"/>
                          <a:ea typeface="+mj-ea"/>
                        </a:rPr>
                        <a:t>4.43%</a:t>
                      </a:r>
                      <a:endParaRPr lang="en-US" altLang="zh-CN" sz="1200" b="0" i="0" u="none" strike="noStrike" dirty="0">
                        <a:solidFill>
                          <a:srgbClr val="000000"/>
                        </a:solidFill>
                        <a:effectLst/>
                        <a:latin typeface="+mj-ea"/>
                        <a:ea typeface="+mj-ea"/>
                      </a:endParaRPr>
                    </a:p>
                  </a:txBody>
                  <a:tcPr marL="9525" marR="9525" marT="9525" marB="0" anchor="b"/>
                </a:tc>
                <a:tc>
                  <a:txBody>
                    <a:bodyPr/>
                    <a:lstStyle/>
                    <a:p>
                      <a:pPr algn="ctr" fontAlgn="b"/>
                      <a:r>
                        <a:rPr lang="en-US" altLang="zh-CN" sz="1200" u="none" strike="noStrike" dirty="0">
                          <a:effectLst/>
                          <a:latin typeface="+mj-ea"/>
                          <a:ea typeface="+mj-ea"/>
                        </a:rPr>
                        <a:t>4.43%</a:t>
                      </a:r>
                      <a:endParaRPr lang="en-US" altLang="zh-CN" sz="1200" b="0" i="0" u="none" strike="noStrike" dirty="0">
                        <a:solidFill>
                          <a:srgbClr val="000000"/>
                        </a:solidFill>
                        <a:effectLst/>
                        <a:latin typeface="+mj-ea"/>
                        <a:ea typeface="+mj-ea"/>
                      </a:endParaRPr>
                    </a:p>
                  </a:txBody>
                  <a:tcPr marL="9525" marR="9525" marT="9525" marB="0" anchor="b"/>
                </a:tc>
                <a:tc>
                  <a:txBody>
                    <a:bodyPr/>
                    <a:lstStyle/>
                    <a:p>
                      <a:pPr algn="ctr" fontAlgn="b"/>
                      <a:r>
                        <a:rPr lang="en-US" altLang="zh-CN" sz="1200" u="none" strike="noStrike" dirty="0">
                          <a:effectLst/>
                          <a:latin typeface="+mj-ea"/>
                          <a:ea typeface="+mj-ea"/>
                        </a:rPr>
                        <a:t>0.00%</a:t>
                      </a:r>
                      <a:endParaRPr lang="en-US" altLang="zh-CN" sz="1200" b="0" i="0" u="none" strike="noStrike" dirty="0">
                        <a:solidFill>
                          <a:srgbClr val="000000"/>
                        </a:solidFill>
                        <a:effectLst/>
                        <a:latin typeface="+mj-ea"/>
                        <a:ea typeface="+mj-ea"/>
                      </a:endParaRPr>
                    </a:p>
                  </a:txBody>
                  <a:tcPr marL="9525" marR="9525" marT="9525" marB="0" anchor="b"/>
                </a:tc>
                <a:extLst>
                  <a:ext uri="{0D108BD9-81ED-4DB2-BD59-A6C34878D82A}">
                    <a16:rowId xmlns:a16="http://schemas.microsoft.com/office/drawing/2014/main" val="10010"/>
                  </a:ext>
                </a:extLst>
              </a:tr>
            </a:tbl>
          </a:graphicData>
        </a:graphic>
      </p:graphicFrame>
      <p:sp>
        <p:nvSpPr>
          <p:cNvPr id="10" name="TextBox 9"/>
          <p:cNvSpPr txBox="1"/>
          <p:nvPr/>
        </p:nvSpPr>
        <p:spPr>
          <a:xfrm>
            <a:off x="2246583" y="3750054"/>
            <a:ext cx="5139880" cy="307777"/>
          </a:xfrm>
          <a:prstGeom prst="rect">
            <a:avLst/>
          </a:prstGeom>
          <a:noFill/>
        </p:spPr>
        <p:txBody>
          <a:bodyPr wrap="square" rtlCol="0">
            <a:spAutoFit/>
          </a:bodyPr>
          <a:lstStyle/>
          <a:p>
            <a:r>
              <a:rPr lang="en-US" altLang="zh-CN" sz="1400" b="1" dirty="0">
                <a:latin typeface="微软雅黑" pitchFamily="34" charset="-122"/>
                <a:ea typeface="微软雅黑" pitchFamily="34" charset="-122"/>
              </a:rPr>
              <a:t>2016</a:t>
            </a:r>
            <a:r>
              <a:rPr lang="zh-CN" altLang="en-US" sz="1400" b="1" dirty="0">
                <a:latin typeface="微软雅黑" pitchFamily="34" charset="-122"/>
                <a:ea typeface="微软雅黑" pitchFamily="34" charset="-122"/>
              </a:rPr>
              <a:t>年</a:t>
            </a:r>
            <a:r>
              <a:rPr lang="en-US" altLang="zh-CN" sz="1400" b="1" dirty="0">
                <a:latin typeface="微软雅黑" pitchFamily="34" charset="-122"/>
                <a:ea typeface="微软雅黑" pitchFamily="34" charset="-122"/>
              </a:rPr>
              <a:t>9</a:t>
            </a:r>
            <a:r>
              <a:rPr lang="zh-CN" altLang="en-US" sz="1400" b="1" dirty="0">
                <a:latin typeface="微软雅黑" pitchFamily="34" charset="-122"/>
                <a:ea typeface="微软雅黑" pitchFamily="34" charset="-122"/>
              </a:rPr>
              <a:t>月</a:t>
            </a:r>
            <a:r>
              <a:rPr lang="en-US" altLang="zh-CN" sz="1400" b="1" dirty="0">
                <a:latin typeface="微软雅黑" pitchFamily="34" charset="-122"/>
                <a:ea typeface="微软雅黑" pitchFamily="34" charset="-122"/>
              </a:rPr>
              <a:t>20</a:t>
            </a:r>
            <a:r>
              <a:rPr lang="zh-CN" altLang="en-US" sz="1400" b="1" dirty="0">
                <a:latin typeface="微软雅黑" pitchFamily="34" charset="-122"/>
                <a:ea typeface="微软雅黑" pitchFamily="34" charset="-122"/>
              </a:rPr>
              <a:t>城市首套房贷利率</a:t>
            </a:r>
            <a:r>
              <a:rPr lang="en-US" altLang="zh-CN" sz="1400" b="1" dirty="0">
                <a:latin typeface="微软雅黑" pitchFamily="34" charset="-122"/>
                <a:ea typeface="微软雅黑" pitchFamily="34" charset="-122"/>
              </a:rPr>
              <a:t>TOP20</a:t>
            </a:r>
            <a:r>
              <a:rPr lang="zh-CN" altLang="en-US" sz="1400" b="1" dirty="0">
                <a:latin typeface="微软雅黑" pitchFamily="34" charset="-122"/>
                <a:ea typeface="微软雅黑" pitchFamily="34" charset="-122"/>
              </a:rPr>
              <a:t>排行榜及变化情况</a:t>
            </a:r>
          </a:p>
        </p:txBody>
      </p:sp>
      <p:sp>
        <p:nvSpPr>
          <p:cNvPr id="11" name="TextBox 10"/>
          <p:cNvSpPr txBox="1"/>
          <p:nvPr/>
        </p:nvSpPr>
        <p:spPr>
          <a:xfrm>
            <a:off x="1007017" y="6582975"/>
            <a:ext cx="4541244" cy="276999"/>
          </a:xfrm>
          <a:prstGeom prst="rect">
            <a:avLst/>
          </a:prstGeom>
          <a:noFill/>
        </p:spPr>
        <p:txBody>
          <a:bodyPr wrap="square" rtlCol="0">
            <a:spAutoFit/>
          </a:bodyPr>
          <a:lstStyle/>
          <a:p>
            <a:r>
              <a:rPr lang="zh-CN" altLang="en-US" sz="1200" b="1" dirty="0">
                <a:latin typeface="微软雅黑" pitchFamily="34" charset="-122"/>
                <a:ea typeface="微软雅黑" pitchFamily="34" charset="-122"/>
              </a:rPr>
              <a:t>数据来源：融</a:t>
            </a:r>
            <a:r>
              <a:rPr lang="en-US" altLang="zh-CN" sz="1200" b="1" dirty="0">
                <a:latin typeface="微软雅黑" pitchFamily="34" charset="-122"/>
                <a:ea typeface="微软雅黑" pitchFamily="34" charset="-122"/>
              </a:rPr>
              <a:t>360</a:t>
            </a:r>
            <a:endParaRPr lang="zh-CN" altLang="en-US" sz="1200" b="1" dirty="0">
              <a:latin typeface="微软雅黑" pitchFamily="34" charset="-122"/>
              <a:ea typeface="微软雅黑" pitchFamily="34" charset="-122"/>
            </a:endParaRPr>
          </a:p>
        </p:txBody>
      </p:sp>
      <p:graphicFrame>
        <p:nvGraphicFramePr>
          <p:cNvPr id="12" name="图表 11"/>
          <p:cNvGraphicFramePr>
            <a:graphicFrameLocks/>
          </p:cNvGraphicFramePr>
          <p:nvPr>
            <p:extLst>
              <p:ext uri="{D42A27DB-BD31-4B8C-83A1-F6EECF244321}">
                <p14:modId xmlns:p14="http://schemas.microsoft.com/office/powerpoint/2010/main" val="1266784028"/>
              </p:ext>
            </p:extLst>
          </p:nvPr>
        </p:nvGraphicFramePr>
        <p:xfrm>
          <a:off x="1199408" y="1087012"/>
          <a:ext cx="6590804" cy="2579914"/>
        </p:xfrm>
        <a:graphic>
          <a:graphicData uri="http://schemas.openxmlformats.org/drawingml/2006/chart">
            <c:chart xmlns:c="http://schemas.openxmlformats.org/drawingml/2006/chart" xmlns:r="http://schemas.openxmlformats.org/officeDocument/2006/relationships" r:id="rId2"/>
          </a:graphicData>
        </a:graphic>
      </p:graphicFrame>
      <p:sp>
        <p:nvSpPr>
          <p:cNvPr id="7" name="矩形 6"/>
          <p:cNvSpPr/>
          <p:nvPr/>
        </p:nvSpPr>
        <p:spPr>
          <a:xfrm>
            <a:off x="302107" y="800808"/>
            <a:ext cx="5032147" cy="369332"/>
          </a:xfrm>
          <a:prstGeom prst="rect">
            <a:avLst/>
          </a:prstGeom>
        </p:spPr>
        <p:txBody>
          <a:bodyPr wrap="none">
            <a:spAutoFit/>
          </a:bodyPr>
          <a:lstStyle/>
          <a:p>
            <a:r>
              <a:rPr lang="zh-CN" altLang="en-US" b="1" dirty="0">
                <a:solidFill>
                  <a:srgbClr val="FF0000"/>
                </a:solidFill>
                <a:latin typeface="+mj-ea"/>
                <a:ea typeface="+mj-ea"/>
              </a:rPr>
              <a:t>从城市角度看，银行的收紧态势表现的较为明显</a:t>
            </a:r>
          </a:p>
        </p:txBody>
      </p:sp>
      <p:cxnSp>
        <p:nvCxnSpPr>
          <p:cNvPr id="15" name="直接箭头连接符 14"/>
          <p:cNvCxnSpPr/>
          <p:nvPr/>
        </p:nvCxnSpPr>
        <p:spPr>
          <a:xfrm>
            <a:off x="2410691" y="2018805"/>
            <a:ext cx="522905" cy="24938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524352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3209983" y="1727625"/>
            <a:ext cx="4929221" cy="500066"/>
          </a:xfrm>
          <a:prstGeom prst="rect">
            <a:avLst/>
          </a:prstGeom>
          <a:solidFill>
            <a:srgbClr val="006EC7"/>
          </a:solidFill>
          <a:ln w="6350">
            <a:noFill/>
            <a:miter lim="800000"/>
            <a:headEnd/>
            <a:tailEnd/>
          </a:ln>
        </p:spPr>
        <p:txBody>
          <a:bodyPr lIns="0" tIns="0" rIns="0" bIns="0" anchor="ctr"/>
          <a:lstStyle/>
          <a:p>
            <a:pPr>
              <a:lnSpc>
                <a:spcPts val="2000"/>
              </a:lnSpc>
            </a:pPr>
            <a:r>
              <a:rPr kumimoji="1" lang="zh-CN" altLang="en-US" sz="1600" b="1" dirty="0">
                <a:solidFill>
                  <a:schemeClr val="bg1"/>
                </a:solidFill>
                <a:latin typeface="微软雅黑" pitchFamily="34" charset="-122"/>
                <a:ea typeface="微软雅黑" pitchFamily="34" charset="-122"/>
                <a:cs typeface="宋体" charset="0"/>
              </a:rPr>
              <a:t>  政策篇</a:t>
            </a:r>
          </a:p>
        </p:txBody>
      </p:sp>
      <p:sp>
        <p:nvSpPr>
          <p:cNvPr id="4" name="等腰三角形 3"/>
          <p:cNvSpPr/>
          <p:nvPr/>
        </p:nvSpPr>
        <p:spPr bwMode="auto">
          <a:xfrm rot="5400000">
            <a:off x="2817074" y="1906220"/>
            <a:ext cx="500066" cy="142876"/>
          </a:xfrm>
          <a:prstGeom prst="triangle">
            <a:avLst/>
          </a:prstGeom>
          <a:solidFill>
            <a:srgbClr val="006EC7"/>
          </a:solidFill>
          <a:ln w="6350">
            <a:noFill/>
            <a:miter lim="800000"/>
            <a:headEnd/>
            <a:tailEnd/>
          </a:ln>
        </p:spPr>
        <p:txBody>
          <a:bodyPr wrap="none" lIns="0" tIns="0" rIns="0" bIns="0" anchor="ctr"/>
          <a:lstStyle>
            <a:defPPr>
              <a:defRPr lang="zh-CN"/>
            </a:defPPr>
            <a:lvl1pPr algn="l" rtl="0" fontAlgn="base">
              <a:spcBef>
                <a:spcPct val="0"/>
              </a:spcBef>
              <a:spcAft>
                <a:spcPct val="0"/>
              </a:spcAft>
              <a:defRPr kumimoji="1" kern="1200">
                <a:solidFill>
                  <a:schemeClr val="tx1"/>
                </a:solidFill>
                <a:latin typeface="Calibri" charset="0"/>
                <a:ea typeface="宋体" charset="0"/>
                <a:cs typeface="宋体" charset="0"/>
              </a:defRPr>
            </a:lvl1pPr>
            <a:lvl2pPr marL="457200" algn="l" rtl="0" fontAlgn="base">
              <a:spcBef>
                <a:spcPct val="0"/>
              </a:spcBef>
              <a:spcAft>
                <a:spcPct val="0"/>
              </a:spcAft>
              <a:defRPr kumimoji="1" kern="1200">
                <a:solidFill>
                  <a:schemeClr val="tx1"/>
                </a:solidFill>
                <a:latin typeface="Calibri" charset="0"/>
                <a:ea typeface="宋体" charset="0"/>
                <a:cs typeface="宋体" charset="0"/>
              </a:defRPr>
            </a:lvl2pPr>
            <a:lvl3pPr marL="914400" algn="l" rtl="0" fontAlgn="base">
              <a:spcBef>
                <a:spcPct val="0"/>
              </a:spcBef>
              <a:spcAft>
                <a:spcPct val="0"/>
              </a:spcAft>
              <a:defRPr kumimoji="1" kern="1200">
                <a:solidFill>
                  <a:schemeClr val="tx1"/>
                </a:solidFill>
                <a:latin typeface="Calibri" charset="0"/>
                <a:ea typeface="宋体" charset="0"/>
                <a:cs typeface="宋体" charset="0"/>
              </a:defRPr>
            </a:lvl3pPr>
            <a:lvl4pPr marL="1371600" algn="l" rtl="0" fontAlgn="base">
              <a:spcBef>
                <a:spcPct val="0"/>
              </a:spcBef>
              <a:spcAft>
                <a:spcPct val="0"/>
              </a:spcAft>
              <a:defRPr kumimoji="1" kern="1200">
                <a:solidFill>
                  <a:schemeClr val="tx1"/>
                </a:solidFill>
                <a:latin typeface="Calibri" charset="0"/>
                <a:ea typeface="宋体" charset="0"/>
                <a:cs typeface="宋体" charset="0"/>
              </a:defRPr>
            </a:lvl4pPr>
            <a:lvl5pPr marL="1828800" algn="l" rtl="0" fontAlgn="base">
              <a:spcBef>
                <a:spcPct val="0"/>
              </a:spcBef>
              <a:spcAft>
                <a:spcPct val="0"/>
              </a:spcAft>
              <a:defRPr kumimoji="1" kern="1200">
                <a:solidFill>
                  <a:schemeClr val="tx1"/>
                </a:solidFill>
                <a:latin typeface="Calibri" charset="0"/>
                <a:ea typeface="宋体" charset="0"/>
                <a:cs typeface="宋体" charset="0"/>
              </a:defRPr>
            </a:lvl5pPr>
            <a:lvl6pPr marL="2286000" algn="l" defTabSz="457200" rtl="0" eaLnBrk="1" latinLnBrk="0" hangingPunct="1">
              <a:defRPr kumimoji="1" kern="1200">
                <a:solidFill>
                  <a:schemeClr val="tx1"/>
                </a:solidFill>
                <a:latin typeface="Calibri" charset="0"/>
                <a:ea typeface="宋体" charset="0"/>
                <a:cs typeface="宋体" charset="0"/>
              </a:defRPr>
            </a:lvl6pPr>
            <a:lvl7pPr marL="2743200" algn="l" defTabSz="457200" rtl="0" eaLnBrk="1" latinLnBrk="0" hangingPunct="1">
              <a:defRPr kumimoji="1" kern="1200">
                <a:solidFill>
                  <a:schemeClr val="tx1"/>
                </a:solidFill>
                <a:latin typeface="Calibri" charset="0"/>
                <a:ea typeface="宋体" charset="0"/>
                <a:cs typeface="宋体" charset="0"/>
              </a:defRPr>
            </a:lvl7pPr>
            <a:lvl8pPr marL="3200400" algn="l" defTabSz="457200" rtl="0" eaLnBrk="1" latinLnBrk="0" hangingPunct="1">
              <a:defRPr kumimoji="1" kern="1200">
                <a:solidFill>
                  <a:schemeClr val="tx1"/>
                </a:solidFill>
                <a:latin typeface="Calibri" charset="0"/>
                <a:ea typeface="宋体" charset="0"/>
                <a:cs typeface="宋体" charset="0"/>
              </a:defRPr>
            </a:lvl8pPr>
            <a:lvl9pPr marL="3657600" algn="l" defTabSz="457200" rtl="0" eaLnBrk="1" latinLnBrk="0" hangingPunct="1">
              <a:defRPr kumimoji="1" kern="1200">
                <a:solidFill>
                  <a:schemeClr val="tx1"/>
                </a:solidFill>
                <a:latin typeface="Calibri" charset="0"/>
                <a:ea typeface="宋体" charset="0"/>
                <a:cs typeface="宋体" charset="0"/>
              </a:defRPr>
            </a:lvl9pPr>
          </a:lstStyle>
          <a:p>
            <a:pPr algn="ctr" fontAlgn="auto">
              <a:spcBef>
                <a:spcPts val="0"/>
              </a:spcBef>
              <a:spcAft>
                <a:spcPts val="0"/>
              </a:spcAft>
              <a:defRPr/>
            </a:pPr>
            <a:endParaRPr lang="zh-CN" altLang="en-US" sz="1600" b="1" dirty="0">
              <a:latin typeface="微软雅黑" pitchFamily="34" charset="-122"/>
              <a:ea typeface="微软雅黑" pitchFamily="34" charset="-122"/>
            </a:endParaRPr>
          </a:p>
        </p:txBody>
      </p:sp>
      <p:sp>
        <p:nvSpPr>
          <p:cNvPr id="5" name="矩形 4"/>
          <p:cNvSpPr/>
          <p:nvPr/>
        </p:nvSpPr>
        <p:spPr bwMode="auto">
          <a:xfrm>
            <a:off x="3209983" y="2518608"/>
            <a:ext cx="4929221" cy="500066"/>
          </a:xfrm>
          <a:prstGeom prst="rect">
            <a:avLst/>
          </a:prstGeom>
          <a:solidFill>
            <a:srgbClr val="F4A73C"/>
          </a:solidFill>
          <a:ln w="6350">
            <a:noFill/>
            <a:miter lim="800000"/>
            <a:headEnd/>
            <a:tailEnd/>
          </a:ln>
        </p:spPr>
        <p:txBody>
          <a:bodyPr lIns="0" tIns="0" rIns="0" bIns="0" anchor="ctr"/>
          <a:lstStyle>
            <a:defPPr>
              <a:defRPr lang="zh-CN"/>
            </a:defPPr>
            <a:lvl1pPr algn="l" rtl="0" fontAlgn="base">
              <a:spcBef>
                <a:spcPct val="0"/>
              </a:spcBef>
              <a:spcAft>
                <a:spcPct val="0"/>
              </a:spcAft>
              <a:defRPr kumimoji="1" kern="1200">
                <a:solidFill>
                  <a:schemeClr val="tx1"/>
                </a:solidFill>
                <a:latin typeface="Calibri" charset="0"/>
                <a:ea typeface="宋体" charset="0"/>
                <a:cs typeface="宋体" charset="0"/>
              </a:defRPr>
            </a:lvl1pPr>
            <a:lvl2pPr marL="457200" algn="l" rtl="0" fontAlgn="base">
              <a:spcBef>
                <a:spcPct val="0"/>
              </a:spcBef>
              <a:spcAft>
                <a:spcPct val="0"/>
              </a:spcAft>
              <a:defRPr kumimoji="1" kern="1200">
                <a:solidFill>
                  <a:schemeClr val="tx1"/>
                </a:solidFill>
                <a:latin typeface="Calibri" charset="0"/>
                <a:ea typeface="宋体" charset="0"/>
                <a:cs typeface="宋体" charset="0"/>
              </a:defRPr>
            </a:lvl2pPr>
            <a:lvl3pPr marL="914400" algn="l" rtl="0" fontAlgn="base">
              <a:spcBef>
                <a:spcPct val="0"/>
              </a:spcBef>
              <a:spcAft>
                <a:spcPct val="0"/>
              </a:spcAft>
              <a:defRPr kumimoji="1" kern="1200">
                <a:solidFill>
                  <a:schemeClr val="tx1"/>
                </a:solidFill>
                <a:latin typeface="Calibri" charset="0"/>
                <a:ea typeface="宋体" charset="0"/>
                <a:cs typeface="宋体" charset="0"/>
              </a:defRPr>
            </a:lvl3pPr>
            <a:lvl4pPr marL="1371600" algn="l" rtl="0" fontAlgn="base">
              <a:spcBef>
                <a:spcPct val="0"/>
              </a:spcBef>
              <a:spcAft>
                <a:spcPct val="0"/>
              </a:spcAft>
              <a:defRPr kumimoji="1" kern="1200">
                <a:solidFill>
                  <a:schemeClr val="tx1"/>
                </a:solidFill>
                <a:latin typeface="Calibri" charset="0"/>
                <a:ea typeface="宋体" charset="0"/>
                <a:cs typeface="宋体" charset="0"/>
              </a:defRPr>
            </a:lvl4pPr>
            <a:lvl5pPr marL="1828800" algn="l" rtl="0" fontAlgn="base">
              <a:spcBef>
                <a:spcPct val="0"/>
              </a:spcBef>
              <a:spcAft>
                <a:spcPct val="0"/>
              </a:spcAft>
              <a:defRPr kumimoji="1" kern="1200">
                <a:solidFill>
                  <a:schemeClr val="tx1"/>
                </a:solidFill>
                <a:latin typeface="Calibri" charset="0"/>
                <a:ea typeface="宋体" charset="0"/>
                <a:cs typeface="宋体" charset="0"/>
              </a:defRPr>
            </a:lvl5pPr>
            <a:lvl6pPr marL="2286000" algn="l" defTabSz="457200" rtl="0" eaLnBrk="1" latinLnBrk="0" hangingPunct="1">
              <a:defRPr kumimoji="1" kern="1200">
                <a:solidFill>
                  <a:schemeClr val="tx1"/>
                </a:solidFill>
                <a:latin typeface="Calibri" charset="0"/>
                <a:ea typeface="宋体" charset="0"/>
                <a:cs typeface="宋体" charset="0"/>
              </a:defRPr>
            </a:lvl6pPr>
            <a:lvl7pPr marL="2743200" algn="l" defTabSz="457200" rtl="0" eaLnBrk="1" latinLnBrk="0" hangingPunct="1">
              <a:defRPr kumimoji="1" kern="1200">
                <a:solidFill>
                  <a:schemeClr val="tx1"/>
                </a:solidFill>
                <a:latin typeface="Calibri" charset="0"/>
                <a:ea typeface="宋体" charset="0"/>
                <a:cs typeface="宋体" charset="0"/>
              </a:defRPr>
            </a:lvl7pPr>
            <a:lvl8pPr marL="3200400" algn="l" defTabSz="457200" rtl="0" eaLnBrk="1" latinLnBrk="0" hangingPunct="1">
              <a:defRPr kumimoji="1" kern="1200">
                <a:solidFill>
                  <a:schemeClr val="tx1"/>
                </a:solidFill>
                <a:latin typeface="Calibri" charset="0"/>
                <a:ea typeface="宋体" charset="0"/>
                <a:cs typeface="宋体" charset="0"/>
              </a:defRPr>
            </a:lvl8pPr>
            <a:lvl9pPr marL="3657600" algn="l" defTabSz="457200" rtl="0" eaLnBrk="1" latinLnBrk="0" hangingPunct="1">
              <a:defRPr kumimoji="1" kern="1200">
                <a:solidFill>
                  <a:schemeClr val="tx1"/>
                </a:solidFill>
                <a:latin typeface="Calibri" charset="0"/>
                <a:ea typeface="宋体" charset="0"/>
                <a:cs typeface="宋体" charset="0"/>
              </a:defRPr>
            </a:lvl9pPr>
          </a:lstStyle>
          <a:p>
            <a:pPr fontAlgn="auto">
              <a:lnSpc>
                <a:spcPts val="2000"/>
              </a:lnSpc>
              <a:spcBef>
                <a:spcPts val="0"/>
              </a:spcBef>
              <a:spcAft>
                <a:spcPts val="0"/>
              </a:spcAft>
              <a:defRPr/>
            </a:pPr>
            <a:r>
              <a:rPr lang="zh-CN" altLang="en-US" sz="1600" b="1" dirty="0">
                <a:solidFill>
                  <a:schemeClr val="bg1"/>
                </a:solidFill>
                <a:latin typeface="微软雅黑" pitchFamily="34" charset="-122"/>
                <a:ea typeface="微软雅黑" pitchFamily="34" charset="-122"/>
              </a:rPr>
              <a:t>   市场篇</a:t>
            </a:r>
          </a:p>
        </p:txBody>
      </p:sp>
      <p:sp>
        <p:nvSpPr>
          <p:cNvPr id="6" name="等腰三角形 5"/>
          <p:cNvSpPr/>
          <p:nvPr/>
        </p:nvSpPr>
        <p:spPr bwMode="auto">
          <a:xfrm rot="5400000">
            <a:off x="2817074" y="2661578"/>
            <a:ext cx="500066" cy="142876"/>
          </a:xfrm>
          <a:prstGeom prst="triangle">
            <a:avLst/>
          </a:prstGeom>
          <a:solidFill>
            <a:srgbClr val="F4A73C"/>
          </a:solidFill>
          <a:ln w="6350">
            <a:noFill/>
            <a:miter lim="800000"/>
            <a:headEnd/>
            <a:tailEnd/>
          </a:ln>
        </p:spPr>
        <p:txBody>
          <a:bodyPr wrap="none" lIns="0" tIns="0" rIns="0" bIns="0" anchor="ctr"/>
          <a:lstStyle>
            <a:defPPr>
              <a:defRPr lang="zh-CN"/>
            </a:defPPr>
            <a:lvl1pPr algn="l" rtl="0" fontAlgn="base">
              <a:spcBef>
                <a:spcPct val="0"/>
              </a:spcBef>
              <a:spcAft>
                <a:spcPct val="0"/>
              </a:spcAft>
              <a:defRPr kumimoji="1" kern="1200">
                <a:solidFill>
                  <a:schemeClr val="tx1"/>
                </a:solidFill>
                <a:latin typeface="Calibri" charset="0"/>
                <a:ea typeface="宋体" charset="0"/>
                <a:cs typeface="宋体" charset="0"/>
              </a:defRPr>
            </a:lvl1pPr>
            <a:lvl2pPr marL="457200" algn="l" rtl="0" fontAlgn="base">
              <a:spcBef>
                <a:spcPct val="0"/>
              </a:spcBef>
              <a:spcAft>
                <a:spcPct val="0"/>
              </a:spcAft>
              <a:defRPr kumimoji="1" kern="1200">
                <a:solidFill>
                  <a:schemeClr val="tx1"/>
                </a:solidFill>
                <a:latin typeface="Calibri" charset="0"/>
                <a:ea typeface="宋体" charset="0"/>
                <a:cs typeface="宋体" charset="0"/>
              </a:defRPr>
            </a:lvl2pPr>
            <a:lvl3pPr marL="914400" algn="l" rtl="0" fontAlgn="base">
              <a:spcBef>
                <a:spcPct val="0"/>
              </a:spcBef>
              <a:spcAft>
                <a:spcPct val="0"/>
              </a:spcAft>
              <a:defRPr kumimoji="1" kern="1200">
                <a:solidFill>
                  <a:schemeClr val="tx1"/>
                </a:solidFill>
                <a:latin typeface="Calibri" charset="0"/>
                <a:ea typeface="宋体" charset="0"/>
                <a:cs typeface="宋体" charset="0"/>
              </a:defRPr>
            </a:lvl3pPr>
            <a:lvl4pPr marL="1371600" algn="l" rtl="0" fontAlgn="base">
              <a:spcBef>
                <a:spcPct val="0"/>
              </a:spcBef>
              <a:spcAft>
                <a:spcPct val="0"/>
              </a:spcAft>
              <a:defRPr kumimoji="1" kern="1200">
                <a:solidFill>
                  <a:schemeClr val="tx1"/>
                </a:solidFill>
                <a:latin typeface="Calibri" charset="0"/>
                <a:ea typeface="宋体" charset="0"/>
                <a:cs typeface="宋体" charset="0"/>
              </a:defRPr>
            </a:lvl4pPr>
            <a:lvl5pPr marL="1828800" algn="l" rtl="0" fontAlgn="base">
              <a:spcBef>
                <a:spcPct val="0"/>
              </a:spcBef>
              <a:spcAft>
                <a:spcPct val="0"/>
              </a:spcAft>
              <a:defRPr kumimoji="1" kern="1200">
                <a:solidFill>
                  <a:schemeClr val="tx1"/>
                </a:solidFill>
                <a:latin typeface="Calibri" charset="0"/>
                <a:ea typeface="宋体" charset="0"/>
                <a:cs typeface="宋体" charset="0"/>
              </a:defRPr>
            </a:lvl5pPr>
            <a:lvl6pPr marL="2286000" algn="l" defTabSz="457200" rtl="0" eaLnBrk="1" latinLnBrk="0" hangingPunct="1">
              <a:defRPr kumimoji="1" kern="1200">
                <a:solidFill>
                  <a:schemeClr val="tx1"/>
                </a:solidFill>
                <a:latin typeface="Calibri" charset="0"/>
                <a:ea typeface="宋体" charset="0"/>
                <a:cs typeface="宋体" charset="0"/>
              </a:defRPr>
            </a:lvl6pPr>
            <a:lvl7pPr marL="2743200" algn="l" defTabSz="457200" rtl="0" eaLnBrk="1" latinLnBrk="0" hangingPunct="1">
              <a:defRPr kumimoji="1" kern="1200">
                <a:solidFill>
                  <a:schemeClr val="tx1"/>
                </a:solidFill>
                <a:latin typeface="Calibri" charset="0"/>
                <a:ea typeface="宋体" charset="0"/>
                <a:cs typeface="宋体" charset="0"/>
              </a:defRPr>
            </a:lvl7pPr>
            <a:lvl8pPr marL="3200400" algn="l" defTabSz="457200" rtl="0" eaLnBrk="1" latinLnBrk="0" hangingPunct="1">
              <a:defRPr kumimoji="1" kern="1200">
                <a:solidFill>
                  <a:schemeClr val="tx1"/>
                </a:solidFill>
                <a:latin typeface="Calibri" charset="0"/>
                <a:ea typeface="宋体" charset="0"/>
                <a:cs typeface="宋体" charset="0"/>
              </a:defRPr>
            </a:lvl8pPr>
            <a:lvl9pPr marL="3657600" algn="l" defTabSz="457200" rtl="0" eaLnBrk="1" latinLnBrk="0" hangingPunct="1">
              <a:defRPr kumimoji="1" kern="1200">
                <a:solidFill>
                  <a:schemeClr val="tx1"/>
                </a:solidFill>
                <a:latin typeface="Calibri" charset="0"/>
                <a:ea typeface="宋体" charset="0"/>
                <a:cs typeface="宋体" charset="0"/>
              </a:defRPr>
            </a:lvl9pPr>
          </a:lstStyle>
          <a:p>
            <a:pPr algn="ctr" fontAlgn="auto">
              <a:spcBef>
                <a:spcPts val="0"/>
              </a:spcBef>
              <a:spcAft>
                <a:spcPts val="0"/>
              </a:spcAft>
              <a:defRPr/>
            </a:pPr>
            <a:endParaRPr lang="zh-CN" altLang="en-US" sz="1600" b="1" dirty="0">
              <a:latin typeface="微软雅黑" pitchFamily="34" charset="-122"/>
              <a:ea typeface="微软雅黑" pitchFamily="34" charset="-122"/>
            </a:endParaRPr>
          </a:p>
        </p:txBody>
      </p:sp>
      <p:sp>
        <p:nvSpPr>
          <p:cNvPr id="12" name="标题占位符 1"/>
          <p:cNvSpPr txBox="1">
            <a:spLocks/>
          </p:cNvSpPr>
          <p:nvPr/>
        </p:nvSpPr>
        <p:spPr>
          <a:xfrm>
            <a:off x="31319" y="0"/>
            <a:ext cx="5462090" cy="474662"/>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2400" b="1" i="0" kern="1200">
                <a:solidFill>
                  <a:srgbClr val="133176"/>
                </a:solidFill>
                <a:latin typeface="Microsoft YaHei"/>
                <a:ea typeface="+mj-ea"/>
                <a:cs typeface="Microsoft YaHei"/>
              </a:defRPr>
            </a:lvl1pPr>
          </a:lstStyle>
          <a:p>
            <a:r>
              <a:rPr kumimoji="1" lang="zh-CN" altLang="en-US" dirty="0">
                <a:solidFill>
                  <a:srgbClr val="404040"/>
                </a:solidFill>
              </a:rPr>
              <a:t>目</a:t>
            </a:r>
            <a:r>
              <a:rPr kumimoji="1" lang="en-US" altLang="zh-CN" dirty="0">
                <a:solidFill>
                  <a:srgbClr val="404040"/>
                </a:solidFill>
              </a:rPr>
              <a:t>  </a:t>
            </a:r>
            <a:r>
              <a:rPr kumimoji="1" lang="zh-CN" altLang="en-US" dirty="0">
                <a:solidFill>
                  <a:srgbClr val="404040"/>
                </a:solidFill>
              </a:rPr>
              <a:t>录</a:t>
            </a:r>
          </a:p>
        </p:txBody>
      </p:sp>
      <p:sp>
        <p:nvSpPr>
          <p:cNvPr id="13" name="矩形 12"/>
          <p:cNvSpPr/>
          <p:nvPr/>
        </p:nvSpPr>
        <p:spPr bwMode="auto">
          <a:xfrm>
            <a:off x="1004797" y="1727626"/>
            <a:ext cx="1888196" cy="500067"/>
          </a:xfrm>
          <a:prstGeom prst="rect">
            <a:avLst/>
          </a:prstGeom>
          <a:solidFill>
            <a:srgbClr val="006EC7"/>
          </a:solidFill>
          <a:ln w="6350">
            <a:noFill/>
            <a:miter lim="800000"/>
            <a:headEnd/>
            <a:tailEnd/>
          </a:ln>
        </p:spPr>
        <p:txBody>
          <a:bodyPr lIns="0" tIns="0" rIns="0" bIns="0" anchor="ctr"/>
          <a:lstStyle/>
          <a:p>
            <a:pPr algn="ctr">
              <a:lnSpc>
                <a:spcPts val="2000"/>
              </a:lnSpc>
            </a:pPr>
            <a:r>
              <a:rPr kumimoji="1" lang="zh-CN" altLang="en-US" sz="1600" b="1" dirty="0">
                <a:solidFill>
                  <a:schemeClr val="bg1"/>
                </a:solidFill>
                <a:latin typeface="微软雅黑" pitchFamily="34" charset="-122"/>
                <a:ea typeface="微软雅黑" pitchFamily="34" charset="-122"/>
                <a:cs typeface="宋体" charset="0"/>
              </a:rPr>
              <a:t>目录一</a:t>
            </a:r>
          </a:p>
        </p:txBody>
      </p:sp>
      <p:sp>
        <p:nvSpPr>
          <p:cNvPr id="14" name="矩形 13"/>
          <p:cNvSpPr/>
          <p:nvPr/>
        </p:nvSpPr>
        <p:spPr bwMode="auto">
          <a:xfrm>
            <a:off x="1004797" y="2482984"/>
            <a:ext cx="1888196" cy="500067"/>
          </a:xfrm>
          <a:prstGeom prst="rect">
            <a:avLst/>
          </a:prstGeom>
          <a:solidFill>
            <a:srgbClr val="F4A73C"/>
          </a:solidFill>
          <a:ln w="6350">
            <a:noFill/>
            <a:miter lim="800000"/>
            <a:headEnd/>
            <a:tailEnd/>
          </a:ln>
        </p:spPr>
        <p:txBody>
          <a:bodyPr lIns="0" tIns="0" rIns="0" bIns="0" anchor="ctr"/>
          <a:lstStyle>
            <a:defPPr>
              <a:defRPr lang="zh-CN"/>
            </a:defPPr>
            <a:lvl1pPr algn="l" rtl="0" fontAlgn="base">
              <a:spcBef>
                <a:spcPct val="0"/>
              </a:spcBef>
              <a:spcAft>
                <a:spcPct val="0"/>
              </a:spcAft>
              <a:defRPr kumimoji="1" kern="1200">
                <a:solidFill>
                  <a:schemeClr val="tx1"/>
                </a:solidFill>
                <a:latin typeface="Calibri" charset="0"/>
                <a:ea typeface="宋体" charset="0"/>
                <a:cs typeface="宋体" charset="0"/>
              </a:defRPr>
            </a:lvl1pPr>
            <a:lvl2pPr marL="457200" algn="l" rtl="0" fontAlgn="base">
              <a:spcBef>
                <a:spcPct val="0"/>
              </a:spcBef>
              <a:spcAft>
                <a:spcPct val="0"/>
              </a:spcAft>
              <a:defRPr kumimoji="1" kern="1200">
                <a:solidFill>
                  <a:schemeClr val="tx1"/>
                </a:solidFill>
                <a:latin typeface="Calibri" charset="0"/>
                <a:ea typeface="宋体" charset="0"/>
                <a:cs typeface="宋体" charset="0"/>
              </a:defRPr>
            </a:lvl2pPr>
            <a:lvl3pPr marL="914400" algn="l" rtl="0" fontAlgn="base">
              <a:spcBef>
                <a:spcPct val="0"/>
              </a:spcBef>
              <a:spcAft>
                <a:spcPct val="0"/>
              </a:spcAft>
              <a:defRPr kumimoji="1" kern="1200">
                <a:solidFill>
                  <a:schemeClr val="tx1"/>
                </a:solidFill>
                <a:latin typeface="Calibri" charset="0"/>
                <a:ea typeface="宋体" charset="0"/>
                <a:cs typeface="宋体" charset="0"/>
              </a:defRPr>
            </a:lvl3pPr>
            <a:lvl4pPr marL="1371600" algn="l" rtl="0" fontAlgn="base">
              <a:spcBef>
                <a:spcPct val="0"/>
              </a:spcBef>
              <a:spcAft>
                <a:spcPct val="0"/>
              </a:spcAft>
              <a:defRPr kumimoji="1" kern="1200">
                <a:solidFill>
                  <a:schemeClr val="tx1"/>
                </a:solidFill>
                <a:latin typeface="Calibri" charset="0"/>
                <a:ea typeface="宋体" charset="0"/>
                <a:cs typeface="宋体" charset="0"/>
              </a:defRPr>
            </a:lvl4pPr>
            <a:lvl5pPr marL="1828800" algn="l" rtl="0" fontAlgn="base">
              <a:spcBef>
                <a:spcPct val="0"/>
              </a:spcBef>
              <a:spcAft>
                <a:spcPct val="0"/>
              </a:spcAft>
              <a:defRPr kumimoji="1" kern="1200">
                <a:solidFill>
                  <a:schemeClr val="tx1"/>
                </a:solidFill>
                <a:latin typeface="Calibri" charset="0"/>
                <a:ea typeface="宋体" charset="0"/>
                <a:cs typeface="宋体" charset="0"/>
              </a:defRPr>
            </a:lvl5pPr>
            <a:lvl6pPr marL="2286000" algn="l" defTabSz="457200" rtl="0" eaLnBrk="1" latinLnBrk="0" hangingPunct="1">
              <a:defRPr kumimoji="1" kern="1200">
                <a:solidFill>
                  <a:schemeClr val="tx1"/>
                </a:solidFill>
                <a:latin typeface="Calibri" charset="0"/>
                <a:ea typeface="宋体" charset="0"/>
                <a:cs typeface="宋体" charset="0"/>
              </a:defRPr>
            </a:lvl6pPr>
            <a:lvl7pPr marL="2743200" algn="l" defTabSz="457200" rtl="0" eaLnBrk="1" latinLnBrk="0" hangingPunct="1">
              <a:defRPr kumimoji="1" kern="1200">
                <a:solidFill>
                  <a:schemeClr val="tx1"/>
                </a:solidFill>
                <a:latin typeface="Calibri" charset="0"/>
                <a:ea typeface="宋体" charset="0"/>
                <a:cs typeface="宋体" charset="0"/>
              </a:defRPr>
            </a:lvl7pPr>
            <a:lvl8pPr marL="3200400" algn="l" defTabSz="457200" rtl="0" eaLnBrk="1" latinLnBrk="0" hangingPunct="1">
              <a:defRPr kumimoji="1" kern="1200">
                <a:solidFill>
                  <a:schemeClr val="tx1"/>
                </a:solidFill>
                <a:latin typeface="Calibri" charset="0"/>
                <a:ea typeface="宋体" charset="0"/>
                <a:cs typeface="宋体" charset="0"/>
              </a:defRPr>
            </a:lvl8pPr>
            <a:lvl9pPr marL="3657600" algn="l" defTabSz="457200" rtl="0" eaLnBrk="1" latinLnBrk="0" hangingPunct="1">
              <a:defRPr kumimoji="1" kern="1200">
                <a:solidFill>
                  <a:schemeClr val="tx1"/>
                </a:solidFill>
                <a:latin typeface="Calibri" charset="0"/>
                <a:ea typeface="宋体" charset="0"/>
                <a:cs typeface="宋体" charset="0"/>
              </a:defRPr>
            </a:lvl9pPr>
          </a:lstStyle>
          <a:p>
            <a:pPr algn="ctr" fontAlgn="auto">
              <a:lnSpc>
                <a:spcPts val="2000"/>
              </a:lnSpc>
              <a:spcBef>
                <a:spcPts val="0"/>
              </a:spcBef>
              <a:spcAft>
                <a:spcPts val="0"/>
              </a:spcAft>
              <a:defRPr/>
            </a:pPr>
            <a:r>
              <a:rPr lang="zh-CN" altLang="en-US" sz="1600" b="1" dirty="0">
                <a:solidFill>
                  <a:schemeClr val="bg1"/>
                </a:solidFill>
                <a:latin typeface="微软雅黑" pitchFamily="34" charset="-122"/>
                <a:ea typeface="微软雅黑" pitchFamily="34" charset="-122"/>
              </a:rPr>
              <a:t>目录二</a:t>
            </a:r>
          </a:p>
        </p:txBody>
      </p:sp>
      <p:sp>
        <p:nvSpPr>
          <p:cNvPr id="16" name="TextBox 15"/>
          <p:cNvSpPr txBox="1"/>
          <p:nvPr/>
        </p:nvSpPr>
        <p:spPr>
          <a:xfrm>
            <a:off x="3297042" y="3350620"/>
            <a:ext cx="5590885" cy="1292662"/>
          </a:xfrm>
          <a:prstGeom prst="rect">
            <a:avLst/>
          </a:prstGeom>
          <a:noFill/>
        </p:spPr>
        <p:txBody>
          <a:bodyPr wrap="square" rtlCol="0">
            <a:spAutoFit/>
          </a:bodyPr>
          <a:lstStyle/>
          <a:p>
            <a:pPr marL="285750" indent="-285750">
              <a:lnSpc>
                <a:spcPct val="150000"/>
              </a:lnSpc>
              <a:buFont typeface="Wingdings" pitchFamily="2" charset="2"/>
              <a:buChar char="n"/>
            </a:pPr>
            <a:r>
              <a:rPr lang="zh-CN" altLang="en-US" sz="1300" b="1" dirty="0">
                <a:latin typeface="微软雅黑" pitchFamily="34" charset="-122"/>
                <a:ea typeface="微软雅黑" pitchFamily="34" charset="-122"/>
              </a:rPr>
              <a:t>一手房市场：金九楼市供需两旺，房山成为新房楼市主力军</a:t>
            </a:r>
            <a:endParaRPr lang="en-US" altLang="zh-CN" sz="1300" b="1" dirty="0">
              <a:latin typeface="微软雅黑" pitchFamily="34" charset="-122"/>
              <a:ea typeface="微软雅黑" pitchFamily="34" charset="-122"/>
            </a:endParaRPr>
          </a:p>
          <a:p>
            <a:pPr marL="285750" indent="-285750">
              <a:lnSpc>
                <a:spcPct val="150000"/>
              </a:lnSpc>
              <a:buFont typeface="Wingdings" pitchFamily="2" charset="2"/>
              <a:buChar char="n"/>
            </a:pPr>
            <a:r>
              <a:rPr lang="zh-CN" altLang="en-US" sz="1300" b="1" dirty="0">
                <a:latin typeface="微软雅黑" pitchFamily="34" charset="-122"/>
                <a:ea typeface="微软雅黑" pitchFamily="34" charset="-122"/>
              </a:rPr>
              <a:t>二手房市场：价格涨幅再次扩大</a:t>
            </a:r>
            <a:endParaRPr lang="en-US" altLang="zh-CN" sz="1300" b="1" dirty="0">
              <a:latin typeface="微软雅黑" pitchFamily="34" charset="-122"/>
              <a:ea typeface="微软雅黑" pitchFamily="34" charset="-122"/>
            </a:endParaRPr>
          </a:p>
          <a:p>
            <a:pPr marL="285750" indent="-285750">
              <a:lnSpc>
                <a:spcPct val="150000"/>
              </a:lnSpc>
              <a:buFont typeface="Wingdings" pitchFamily="2" charset="2"/>
              <a:buChar char="n"/>
            </a:pPr>
            <a:r>
              <a:rPr lang="zh-CN" altLang="en-US" sz="1300" b="1" dirty="0">
                <a:latin typeface="微软雅黑" pitchFamily="34" charset="-122"/>
                <a:ea typeface="微软雅黑" pitchFamily="34" charset="-122"/>
              </a:rPr>
              <a:t>土地市场：</a:t>
            </a:r>
            <a:r>
              <a:rPr lang="en-US" altLang="zh-CN" sz="1300" b="1" dirty="0">
                <a:latin typeface="微软雅黑" pitchFamily="34" charset="-122"/>
                <a:ea typeface="微软雅黑" pitchFamily="34" charset="-122"/>
              </a:rPr>
              <a:t>9</a:t>
            </a:r>
            <a:r>
              <a:rPr lang="zh-CN" altLang="en-US" sz="1300" b="1" dirty="0">
                <a:latin typeface="微软雅黑" pitchFamily="34" charset="-122"/>
                <a:ea typeface="微软雅黑" pitchFamily="34" charset="-122"/>
              </a:rPr>
              <a:t>月土地市场成交遇冷，多宗经营性地块入市</a:t>
            </a:r>
            <a:endParaRPr lang="en-US" altLang="zh-CN" sz="1300" b="1" dirty="0">
              <a:latin typeface="微软雅黑" pitchFamily="34" charset="-122"/>
              <a:ea typeface="微软雅黑" pitchFamily="34" charset="-122"/>
            </a:endParaRPr>
          </a:p>
          <a:p>
            <a:pPr marL="285750" indent="-285750">
              <a:lnSpc>
                <a:spcPct val="150000"/>
              </a:lnSpc>
              <a:buFont typeface="Wingdings" pitchFamily="2" charset="2"/>
              <a:buChar char="n"/>
            </a:pPr>
            <a:r>
              <a:rPr lang="zh-CN" altLang="en-US" sz="1300" b="1" dirty="0">
                <a:latin typeface="微软雅黑" pitchFamily="34" charset="-122"/>
                <a:ea typeface="微软雅黑" pitchFamily="34" charset="-122"/>
              </a:rPr>
              <a:t>市场预测：短期回归理性，中期看货币政策</a:t>
            </a:r>
            <a:endParaRPr lang="en-US" altLang="zh-CN" sz="1300" b="1" dirty="0">
              <a:latin typeface="微软雅黑" pitchFamily="34" charset="-122"/>
              <a:ea typeface="微软雅黑" pitchFamily="34" charset="-122"/>
            </a:endParaRPr>
          </a:p>
        </p:txBody>
      </p:sp>
      <p:sp>
        <p:nvSpPr>
          <p:cNvPr id="2" name="矩形 1"/>
          <p:cNvSpPr/>
          <p:nvPr/>
        </p:nvSpPr>
        <p:spPr>
          <a:xfrm>
            <a:off x="3297042" y="3068209"/>
            <a:ext cx="832279" cy="377411"/>
          </a:xfrm>
          <a:prstGeom prst="rect">
            <a:avLst/>
          </a:prstGeom>
        </p:spPr>
        <p:txBody>
          <a:bodyPr wrap="none">
            <a:spAutoFit/>
          </a:bodyPr>
          <a:lstStyle/>
          <a:p>
            <a:pPr marL="285750" indent="-285750">
              <a:lnSpc>
                <a:spcPct val="150000"/>
              </a:lnSpc>
              <a:buFont typeface="Wingdings" panose="05000000000000000000" pitchFamily="2" charset="2"/>
              <a:buChar char="Ø"/>
            </a:pPr>
            <a:r>
              <a:rPr lang="zh-CN" altLang="en-US" sz="1400" b="1" dirty="0">
                <a:solidFill>
                  <a:srgbClr val="FF0000"/>
                </a:solidFill>
                <a:latin typeface="微软雅黑" pitchFamily="34" charset="-122"/>
                <a:ea typeface="微软雅黑" pitchFamily="34" charset="-122"/>
              </a:rPr>
              <a:t>北京</a:t>
            </a:r>
            <a:endParaRPr lang="en-US" altLang="zh-CN" sz="1400" b="1" dirty="0">
              <a:solidFill>
                <a:srgbClr val="FF0000"/>
              </a:solidFill>
              <a:latin typeface="微软雅黑" pitchFamily="34" charset="-122"/>
              <a:ea typeface="微软雅黑" pitchFamily="34" charset="-122"/>
            </a:endParaRPr>
          </a:p>
        </p:txBody>
      </p:sp>
      <p:sp>
        <p:nvSpPr>
          <p:cNvPr id="11" name="矩形 10"/>
          <p:cNvSpPr/>
          <p:nvPr/>
        </p:nvSpPr>
        <p:spPr>
          <a:xfrm>
            <a:off x="3297042" y="4575102"/>
            <a:ext cx="1011815" cy="377411"/>
          </a:xfrm>
          <a:prstGeom prst="rect">
            <a:avLst/>
          </a:prstGeom>
        </p:spPr>
        <p:txBody>
          <a:bodyPr wrap="none">
            <a:spAutoFit/>
          </a:bodyPr>
          <a:lstStyle/>
          <a:p>
            <a:pPr marL="285750" indent="-285750">
              <a:lnSpc>
                <a:spcPct val="150000"/>
              </a:lnSpc>
              <a:buFont typeface="Wingdings" panose="05000000000000000000" pitchFamily="2" charset="2"/>
              <a:buChar char="Ø"/>
            </a:pPr>
            <a:r>
              <a:rPr lang="zh-CN" altLang="en-US" sz="1400" b="1" dirty="0">
                <a:latin typeface="微软雅黑" pitchFamily="34" charset="-122"/>
                <a:ea typeface="微软雅黑" pitchFamily="34" charset="-122"/>
              </a:rPr>
              <a:t>环北京</a:t>
            </a:r>
            <a:endParaRPr lang="en-US" altLang="zh-CN" sz="1400" b="1" dirty="0">
              <a:latin typeface="微软雅黑" pitchFamily="34" charset="-122"/>
              <a:ea typeface="微软雅黑" pitchFamily="34" charset="-122"/>
            </a:endParaRPr>
          </a:p>
        </p:txBody>
      </p:sp>
    </p:spTree>
    <p:extLst>
      <p:ext uri="{BB962C8B-B14F-4D97-AF65-F5344CB8AC3E}">
        <p14:creationId xmlns:p14="http://schemas.microsoft.com/office/powerpoint/2010/main" val="27213934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编号占位符 1"/>
          <p:cNvSpPr>
            <a:spLocks noGrp="1"/>
          </p:cNvSpPr>
          <p:nvPr>
            <p:ph type="sldNum" sz="quarter" idx="4"/>
          </p:nvPr>
        </p:nvSpPr>
        <p:spPr>
          <a:xfrm>
            <a:off x="6553200" y="6460121"/>
            <a:ext cx="2133600" cy="365125"/>
          </a:xfrm>
        </p:spPr>
        <p:txBody>
          <a:bodyPr/>
          <a:lstStyle/>
          <a:p>
            <a:pPr>
              <a:defRPr/>
            </a:pPr>
            <a:fld id="{3E8B6F27-EC4F-B34E-9F32-10CC92E9AB18}" type="slidenum">
              <a:rPr lang="zh-CN" altLang="en-US" smtClean="0"/>
              <a:t>11</a:t>
            </a:fld>
            <a:endParaRPr lang="zh-CN" altLang="en-US" dirty="0"/>
          </a:p>
        </p:txBody>
      </p:sp>
      <p:sp>
        <p:nvSpPr>
          <p:cNvPr id="5" name="标题 4"/>
          <p:cNvSpPr>
            <a:spLocks noGrp="1"/>
          </p:cNvSpPr>
          <p:nvPr>
            <p:ph type="title"/>
          </p:nvPr>
        </p:nvSpPr>
        <p:spPr>
          <a:xfrm>
            <a:off x="162371" y="80984"/>
            <a:ext cx="5799042" cy="474662"/>
          </a:xfrm>
        </p:spPr>
        <p:txBody>
          <a:bodyPr>
            <a:normAutofit/>
          </a:bodyPr>
          <a:lstStyle/>
          <a:p>
            <a:r>
              <a:rPr lang="zh-CN" altLang="en-US" dirty="0"/>
              <a:t>一手房</a:t>
            </a:r>
            <a:r>
              <a:rPr lang="en-US" altLang="zh-CN" dirty="0"/>
              <a:t>|</a:t>
            </a:r>
            <a:r>
              <a:rPr lang="zh-CN" altLang="en-US" sz="1800" dirty="0">
                <a:solidFill>
                  <a:schemeClr val="tx1">
                    <a:lumMod val="50000"/>
                  </a:schemeClr>
                </a:solidFill>
                <a:latin typeface="微软雅黑" pitchFamily="34" charset="-122"/>
                <a:ea typeface="微软雅黑" pitchFamily="34" charset="-122"/>
              </a:rPr>
              <a:t>“金九”供应激增，年内中小户型集中供应</a:t>
            </a:r>
            <a:endParaRPr lang="zh-CN" altLang="en-US" sz="1800" dirty="0"/>
          </a:p>
        </p:txBody>
      </p:sp>
      <p:sp>
        <p:nvSpPr>
          <p:cNvPr id="8" name="TextBox 7"/>
          <p:cNvSpPr txBox="1"/>
          <p:nvPr/>
        </p:nvSpPr>
        <p:spPr>
          <a:xfrm>
            <a:off x="705114" y="842579"/>
            <a:ext cx="7500729" cy="1107996"/>
          </a:xfrm>
          <a:prstGeom prst="rect">
            <a:avLst/>
          </a:prstGeom>
          <a:noFill/>
        </p:spPr>
        <p:txBody>
          <a:bodyPr wrap="square" rtlCol="0">
            <a:spAutoFit/>
          </a:bodyPr>
          <a:lstStyle/>
          <a:p>
            <a:pPr marL="285750" indent="-285750" algn="just">
              <a:lnSpc>
                <a:spcPct val="150000"/>
              </a:lnSpc>
              <a:buClr>
                <a:srgbClr val="C00000"/>
              </a:buClr>
              <a:buSzPct val="60000"/>
              <a:buFont typeface="Wingdings" pitchFamily="2" charset="2"/>
              <a:buChar char="p"/>
            </a:pPr>
            <a:r>
              <a:rPr lang="en-US" altLang="zh-CN" sz="1400" dirty="0">
                <a:latin typeface="微软雅黑" pitchFamily="34" charset="-122"/>
                <a:ea typeface="微软雅黑" pitchFamily="34" charset="-122"/>
              </a:rPr>
              <a:t>2016</a:t>
            </a:r>
            <a:r>
              <a:rPr lang="zh-CN" altLang="en-US" sz="1400" dirty="0">
                <a:latin typeface="微软雅黑" pitchFamily="34" charset="-122"/>
                <a:ea typeface="微软雅黑" pitchFamily="34" charset="-122"/>
              </a:rPr>
              <a:t>年</a:t>
            </a:r>
            <a:r>
              <a:rPr lang="en-US" altLang="zh-CN" sz="1400" dirty="0">
                <a:latin typeface="微软雅黑" pitchFamily="34" charset="-122"/>
                <a:ea typeface="微软雅黑" pitchFamily="34" charset="-122"/>
              </a:rPr>
              <a:t>9</a:t>
            </a:r>
            <a:r>
              <a:rPr lang="zh-CN" altLang="en-US" sz="1400" dirty="0">
                <a:latin typeface="微软雅黑" pitchFamily="34" charset="-122"/>
                <a:ea typeface="微软雅黑" pitchFamily="34" charset="-122"/>
              </a:rPr>
              <a:t>月，一手商品房共供应</a:t>
            </a:r>
            <a:r>
              <a:rPr lang="en-US" altLang="zh-CN" sz="1400" b="1" dirty="0">
                <a:solidFill>
                  <a:srgbClr val="FF0000"/>
                </a:solidFill>
                <a:latin typeface="微软雅黑" pitchFamily="34" charset="-122"/>
                <a:ea typeface="微软雅黑" pitchFamily="34" charset="-122"/>
              </a:rPr>
              <a:t>90.7</a:t>
            </a:r>
            <a:r>
              <a:rPr lang="zh-CN" altLang="en-US" sz="1400" dirty="0">
                <a:latin typeface="微软雅黑" pitchFamily="34" charset="-122"/>
                <a:ea typeface="微软雅黑" pitchFamily="34" charset="-122"/>
              </a:rPr>
              <a:t>万㎡，环比上升</a:t>
            </a:r>
            <a:r>
              <a:rPr lang="en-US" altLang="zh-CN" sz="1400" b="1" dirty="0">
                <a:solidFill>
                  <a:srgbClr val="FF0000"/>
                </a:solidFill>
                <a:latin typeface="微软雅黑" pitchFamily="34" charset="-122"/>
                <a:ea typeface="微软雅黑" pitchFamily="34" charset="-122"/>
              </a:rPr>
              <a:t>55.8%</a:t>
            </a:r>
            <a:r>
              <a:rPr lang="zh-CN" altLang="en-US" sz="1400" dirty="0">
                <a:latin typeface="微软雅黑" pitchFamily="34" charset="-122"/>
                <a:ea typeface="微软雅黑" pitchFamily="34" charset="-122"/>
              </a:rPr>
              <a:t>，同比下降</a:t>
            </a:r>
            <a:r>
              <a:rPr lang="en-US" altLang="zh-CN" sz="1400" b="1" dirty="0">
                <a:solidFill>
                  <a:srgbClr val="FF0000"/>
                </a:solidFill>
                <a:latin typeface="微软雅黑" pitchFamily="34" charset="-122"/>
                <a:ea typeface="微软雅黑" pitchFamily="34" charset="-122"/>
              </a:rPr>
              <a:t>31.9%</a:t>
            </a:r>
            <a:r>
              <a:rPr lang="zh-CN" altLang="en-US" sz="1600" dirty="0">
                <a:latin typeface="微软雅黑" pitchFamily="34" charset="-122"/>
                <a:ea typeface="微软雅黑" pitchFamily="34" charset="-122"/>
              </a:rPr>
              <a:t>；</a:t>
            </a:r>
            <a:r>
              <a:rPr lang="en-US" altLang="zh-CN" sz="1400" dirty="0">
                <a:latin typeface="微软雅黑" pitchFamily="34" charset="-122"/>
                <a:ea typeface="微软雅黑" pitchFamily="34" charset="-122"/>
              </a:rPr>
              <a:t>2016</a:t>
            </a:r>
            <a:r>
              <a:rPr lang="zh-CN" altLang="en-US" sz="1400" dirty="0">
                <a:latin typeface="微软雅黑" pitchFamily="34" charset="-122"/>
                <a:ea typeface="微软雅黑" pitchFamily="34" charset="-122"/>
              </a:rPr>
              <a:t>年</a:t>
            </a:r>
            <a:r>
              <a:rPr lang="en-US" altLang="zh-CN" sz="1400" dirty="0">
                <a:latin typeface="微软雅黑" pitchFamily="34" charset="-122"/>
                <a:ea typeface="微软雅黑" pitchFamily="34" charset="-122"/>
              </a:rPr>
              <a:t>1-9</a:t>
            </a:r>
            <a:r>
              <a:rPr lang="zh-CN" altLang="en-US" sz="1400" dirty="0">
                <a:latin typeface="微软雅黑" pitchFamily="34" charset="-122"/>
                <a:ea typeface="微软雅黑" pitchFamily="34" charset="-122"/>
              </a:rPr>
              <a:t>月，一手商品房累计供应</a:t>
            </a:r>
            <a:r>
              <a:rPr lang="en-US" altLang="zh-CN" sz="1400" b="1" dirty="0">
                <a:solidFill>
                  <a:srgbClr val="FF0000"/>
                </a:solidFill>
                <a:latin typeface="微软雅黑" pitchFamily="34" charset="-122"/>
                <a:ea typeface="微软雅黑" pitchFamily="34" charset="-122"/>
              </a:rPr>
              <a:t>958</a:t>
            </a:r>
            <a:r>
              <a:rPr lang="zh-CN" altLang="en-US" sz="1400" dirty="0">
                <a:latin typeface="微软雅黑" pitchFamily="34" charset="-122"/>
                <a:ea typeface="微软雅黑" pitchFamily="34" charset="-122"/>
              </a:rPr>
              <a:t>万㎡，与去年同期相比下降</a:t>
            </a:r>
            <a:r>
              <a:rPr lang="en-US" altLang="zh-CN" sz="1400" b="1" dirty="0">
                <a:solidFill>
                  <a:srgbClr val="FF0000"/>
                </a:solidFill>
                <a:latin typeface="微软雅黑" pitchFamily="34" charset="-122"/>
                <a:ea typeface="微软雅黑" pitchFamily="34" charset="-122"/>
              </a:rPr>
              <a:t>16%</a:t>
            </a:r>
            <a:r>
              <a:rPr lang="zh-CN" altLang="en-US" sz="1400" dirty="0">
                <a:latin typeface="微软雅黑" pitchFamily="34" charset="-122"/>
                <a:ea typeface="微软雅黑" pitchFamily="34" charset="-122"/>
              </a:rPr>
              <a:t>。</a:t>
            </a:r>
            <a:endParaRPr lang="en-US" altLang="zh-CN" sz="1400" dirty="0">
              <a:latin typeface="微软雅黑" pitchFamily="34" charset="-122"/>
              <a:ea typeface="微软雅黑" pitchFamily="34" charset="-122"/>
            </a:endParaRPr>
          </a:p>
          <a:p>
            <a:pPr marL="285750" indent="-285750" algn="just">
              <a:lnSpc>
                <a:spcPct val="150000"/>
              </a:lnSpc>
              <a:buClr>
                <a:srgbClr val="C00000"/>
              </a:buClr>
              <a:buSzPct val="60000"/>
              <a:buFont typeface="Wingdings" pitchFamily="2" charset="2"/>
              <a:buChar char="p"/>
            </a:pPr>
            <a:r>
              <a:rPr lang="zh-CN" altLang="en-US" sz="1400" dirty="0">
                <a:latin typeface="微软雅黑" pitchFamily="34" charset="-122"/>
                <a:ea typeface="微软雅黑" pitchFamily="34" charset="-122"/>
              </a:rPr>
              <a:t>从今年的供应特征来看，年内新增供应小户型居多。</a:t>
            </a:r>
            <a:endParaRPr lang="en-US" altLang="zh-CN" sz="1400" dirty="0">
              <a:latin typeface="微软雅黑" pitchFamily="34" charset="-122"/>
              <a:ea typeface="微软雅黑" pitchFamily="34" charset="-122"/>
            </a:endParaRPr>
          </a:p>
        </p:txBody>
      </p:sp>
      <p:sp>
        <p:nvSpPr>
          <p:cNvPr id="9" name="TextBox 8"/>
          <p:cNvSpPr txBox="1"/>
          <p:nvPr/>
        </p:nvSpPr>
        <p:spPr>
          <a:xfrm>
            <a:off x="311832" y="6350504"/>
            <a:ext cx="6646154" cy="307777"/>
          </a:xfrm>
          <a:prstGeom prst="rect">
            <a:avLst/>
          </a:prstGeom>
          <a:noFill/>
        </p:spPr>
        <p:txBody>
          <a:bodyPr wrap="square" rtlCol="0">
            <a:spAutoFit/>
          </a:bodyPr>
          <a:lstStyle/>
          <a:p>
            <a:r>
              <a:rPr lang="zh-CN" altLang="en-US" sz="1400" b="1" dirty="0">
                <a:latin typeface="+mj-ea"/>
                <a:ea typeface="+mj-ea"/>
              </a:rPr>
              <a:t>备注：一手房数据统计包含期房和现房，含自住房，剔除保障房、车位及其它</a:t>
            </a:r>
          </a:p>
        </p:txBody>
      </p:sp>
      <p:graphicFrame>
        <p:nvGraphicFramePr>
          <p:cNvPr id="13" name="图表 12"/>
          <p:cNvGraphicFramePr>
            <a:graphicFrameLocks/>
          </p:cNvGraphicFramePr>
          <p:nvPr>
            <p:extLst>
              <p:ext uri="{D42A27DB-BD31-4B8C-83A1-F6EECF244321}">
                <p14:modId xmlns:p14="http://schemas.microsoft.com/office/powerpoint/2010/main" val="2454703738"/>
              </p:ext>
            </p:extLst>
          </p:nvPr>
        </p:nvGraphicFramePr>
        <p:xfrm>
          <a:off x="749748" y="1950575"/>
          <a:ext cx="7564581" cy="2905125"/>
        </p:xfrm>
        <a:graphic>
          <a:graphicData uri="http://schemas.openxmlformats.org/drawingml/2006/chart">
            <c:chart xmlns:c="http://schemas.openxmlformats.org/drawingml/2006/chart" xmlns:r="http://schemas.openxmlformats.org/officeDocument/2006/relationships" r:id="rId2"/>
          </a:graphicData>
        </a:graphic>
      </p:graphicFrame>
      <p:cxnSp>
        <p:nvCxnSpPr>
          <p:cNvPr id="4" name="直接箭头连接符 3"/>
          <p:cNvCxnSpPr/>
          <p:nvPr/>
        </p:nvCxnSpPr>
        <p:spPr>
          <a:xfrm flipV="1">
            <a:off x="7255823" y="3924779"/>
            <a:ext cx="427512" cy="320634"/>
          </a:xfrm>
          <a:prstGeom prst="straightConnector1">
            <a:avLst/>
          </a:prstGeom>
          <a:ln w="31750">
            <a:solidFill>
              <a:srgbClr val="FF0000"/>
            </a:solidFill>
            <a:tailEnd type="arrow"/>
          </a:ln>
        </p:spPr>
        <p:style>
          <a:lnRef idx="2">
            <a:schemeClr val="accent1"/>
          </a:lnRef>
          <a:fillRef idx="0">
            <a:schemeClr val="accent1"/>
          </a:fillRef>
          <a:effectRef idx="1">
            <a:schemeClr val="accent1"/>
          </a:effectRef>
          <a:fontRef idx="minor">
            <a:schemeClr val="tx1"/>
          </a:fontRef>
        </p:style>
      </p:cxnSp>
      <p:graphicFrame>
        <p:nvGraphicFramePr>
          <p:cNvPr id="6" name="表格 5"/>
          <p:cNvGraphicFramePr>
            <a:graphicFrameLocks noGrp="1"/>
          </p:cNvGraphicFramePr>
          <p:nvPr>
            <p:extLst>
              <p:ext uri="{D42A27DB-BD31-4B8C-83A1-F6EECF244321}">
                <p14:modId xmlns:p14="http://schemas.microsoft.com/office/powerpoint/2010/main" val="3224587646"/>
              </p:ext>
            </p:extLst>
          </p:nvPr>
        </p:nvGraphicFramePr>
        <p:xfrm>
          <a:off x="1219200" y="5300431"/>
          <a:ext cx="6603556" cy="900000"/>
        </p:xfrm>
        <a:graphic>
          <a:graphicData uri="http://schemas.openxmlformats.org/drawingml/2006/table">
            <a:tbl>
              <a:tblPr>
                <a:tableStyleId>{5C22544A-7EE6-4342-B048-85BDC9FD1C3A}</a:tableStyleId>
              </a:tblPr>
              <a:tblGrid>
                <a:gridCol w="1892135">
                  <a:extLst>
                    <a:ext uri="{9D8B030D-6E8A-4147-A177-3AD203B41FA5}">
                      <a16:colId xmlns:a16="http://schemas.microsoft.com/office/drawing/2014/main" val="20000"/>
                    </a:ext>
                  </a:extLst>
                </a:gridCol>
                <a:gridCol w="1626920">
                  <a:extLst>
                    <a:ext uri="{9D8B030D-6E8A-4147-A177-3AD203B41FA5}">
                      <a16:colId xmlns:a16="http://schemas.microsoft.com/office/drawing/2014/main" val="20001"/>
                    </a:ext>
                  </a:extLst>
                </a:gridCol>
                <a:gridCol w="1733774">
                  <a:extLst>
                    <a:ext uri="{9D8B030D-6E8A-4147-A177-3AD203B41FA5}">
                      <a16:colId xmlns:a16="http://schemas.microsoft.com/office/drawing/2014/main" val="20002"/>
                    </a:ext>
                  </a:extLst>
                </a:gridCol>
                <a:gridCol w="1350727">
                  <a:extLst>
                    <a:ext uri="{9D8B030D-6E8A-4147-A177-3AD203B41FA5}">
                      <a16:colId xmlns:a16="http://schemas.microsoft.com/office/drawing/2014/main" val="20003"/>
                    </a:ext>
                  </a:extLst>
                </a:gridCol>
              </a:tblGrid>
              <a:tr h="300000">
                <a:tc>
                  <a:txBody>
                    <a:bodyPr/>
                    <a:lstStyle/>
                    <a:p>
                      <a:pPr algn="ctr" fontAlgn="b"/>
                      <a:endParaRPr lang="zh-CN" altLang="en-US" sz="1400" b="0" i="0" u="none" strike="noStrike" dirty="0">
                        <a:solidFill>
                          <a:srgbClr val="000000"/>
                        </a:solidFill>
                        <a:effectLst/>
                        <a:latin typeface="+mj-ea"/>
                        <a:ea typeface="+mj-ea"/>
                      </a:endParaRPr>
                    </a:p>
                  </a:txBody>
                  <a:tcPr marL="9525" marR="9525" marT="9525" marB="0" anchor="b">
                    <a:solidFill>
                      <a:srgbClr val="006EC7">
                        <a:alpha val="60000"/>
                      </a:srgbClr>
                    </a:solidFill>
                  </a:tcPr>
                </a:tc>
                <a:tc>
                  <a:txBody>
                    <a:bodyPr/>
                    <a:lstStyle/>
                    <a:p>
                      <a:pPr algn="ctr" fontAlgn="b"/>
                      <a:r>
                        <a:rPr lang="en-US" altLang="zh-CN" sz="1400" b="1" u="none" strike="noStrike" dirty="0">
                          <a:solidFill>
                            <a:schemeClr val="bg1"/>
                          </a:solidFill>
                          <a:effectLst/>
                          <a:latin typeface="+mj-ea"/>
                          <a:ea typeface="+mj-ea"/>
                        </a:rPr>
                        <a:t>2015</a:t>
                      </a:r>
                      <a:r>
                        <a:rPr lang="zh-CN" altLang="en-US" sz="1400" b="1" u="none" strike="noStrike" dirty="0">
                          <a:solidFill>
                            <a:schemeClr val="bg1"/>
                          </a:solidFill>
                          <a:effectLst/>
                          <a:latin typeface="+mj-ea"/>
                          <a:ea typeface="+mj-ea"/>
                        </a:rPr>
                        <a:t>年</a:t>
                      </a:r>
                      <a:r>
                        <a:rPr lang="en-US" altLang="zh-CN" sz="1400" b="1" u="none" strike="noStrike" dirty="0">
                          <a:solidFill>
                            <a:schemeClr val="bg1"/>
                          </a:solidFill>
                          <a:effectLst/>
                          <a:latin typeface="+mj-ea"/>
                          <a:ea typeface="+mj-ea"/>
                        </a:rPr>
                        <a:t>1-9</a:t>
                      </a:r>
                      <a:r>
                        <a:rPr lang="zh-CN" altLang="en-US" sz="1400" b="1" u="none" strike="noStrike" dirty="0">
                          <a:solidFill>
                            <a:schemeClr val="bg1"/>
                          </a:solidFill>
                          <a:effectLst/>
                          <a:latin typeface="+mj-ea"/>
                          <a:ea typeface="+mj-ea"/>
                        </a:rPr>
                        <a:t>月</a:t>
                      </a:r>
                      <a:endParaRPr lang="zh-CN" altLang="en-US" sz="1400" b="1" i="0" u="none" strike="noStrike" dirty="0">
                        <a:solidFill>
                          <a:schemeClr val="bg1"/>
                        </a:solidFill>
                        <a:effectLst/>
                        <a:latin typeface="+mj-ea"/>
                        <a:ea typeface="+mj-ea"/>
                      </a:endParaRPr>
                    </a:p>
                  </a:txBody>
                  <a:tcPr marL="9525" marR="9525" marT="9525" marB="0" anchor="b">
                    <a:solidFill>
                      <a:srgbClr val="006EC7">
                        <a:alpha val="60000"/>
                      </a:srgbClr>
                    </a:solidFill>
                  </a:tcPr>
                </a:tc>
                <a:tc>
                  <a:txBody>
                    <a:bodyPr/>
                    <a:lstStyle/>
                    <a:p>
                      <a:pPr algn="ctr" fontAlgn="b"/>
                      <a:r>
                        <a:rPr lang="en-US" altLang="zh-CN" sz="1400" b="1" u="none" strike="noStrike" dirty="0">
                          <a:solidFill>
                            <a:schemeClr val="bg1"/>
                          </a:solidFill>
                          <a:effectLst/>
                          <a:latin typeface="+mj-ea"/>
                          <a:ea typeface="+mj-ea"/>
                        </a:rPr>
                        <a:t>2016</a:t>
                      </a:r>
                      <a:r>
                        <a:rPr lang="zh-CN" altLang="en-US" sz="1400" b="1" u="none" strike="noStrike" dirty="0">
                          <a:solidFill>
                            <a:schemeClr val="bg1"/>
                          </a:solidFill>
                          <a:effectLst/>
                          <a:latin typeface="+mj-ea"/>
                          <a:ea typeface="+mj-ea"/>
                        </a:rPr>
                        <a:t>年</a:t>
                      </a:r>
                      <a:r>
                        <a:rPr lang="en-US" altLang="zh-CN" sz="1400" b="1" u="none" strike="noStrike" dirty="0">
                          <a:solidFill>
                            <a:schemeClr val="bg1"/>
                          </a:solidFill>
                          <a:effectLst/>
                          <a:latin typeface="+mj-ea"/>
                          <a:ea typeface="+mj-ea"/>
                        </a:rPr>
                        <a:t>1-9</a:t>
                      </a:r>
                      <a:r>
                        <a:rPr lang="zh-CN" altLang="en-US" sz="1400" b="1" u="none" strike="noStrike" dirty="0">
                          <a:solidFill>
                            <a:schemeClr val="bg1"/>
                          </a:solidFill>
                          <a:effectLst/>
                          <a:latin typeface="+mj-ea"/>
                          <a:ea typeface="+mj-ea"/>
                        </a:rPr>
                        <a:t>月</a:t>
                      </a:r>
                      <a:endParaRPr lang="zh-CN" altLang="en-US" sz="1400" b="1" i="0" u="none" strike="noStrike" dirty="0">
                        <a:solidFill>
                          <a:schemeClr val="bg1"/>
                        </a:solidFill>
                        <a:effectLst/>
                        <a:latin typeface="+mj-ea"/>
                        <a:ea typeface="+mj-ea"/>
                      </a:endParaRPr>
                    </a:p>
                  </a:txBody>
                  <a:tcPr marL="9525" marR="9525" marT="9525" marB="0" anchor="b">
                    <a:solidFill>
                      <a:srgbClr val="006EC7">
                        <a:alpha val="60000"/>
                      </a:srgbClr>
                    </a:solidFill>
                  </a:tcPr>
                </a:tc>
                <a:tc>
                  <a:txBody>
                    <a:bodyPr/>
                    <a:lstStyle/>
                    <a:p>
                      <a:pPr algn="ctr" fontAlgn="b"/>
                      <a:r>
                        <a:rPr lang="zh-CN" altLang="en-US" sz="1400" b="1" u="none" strike="noStrike" dirty="0">
                          <a:solidFill>
                            <a:schemeClr val="bg1"/>
                          </a:solidFill>
                          <a:effectLst/>
                          <a:latin typeface="+mj-ea"/>
                          <a:ea typeface="+mj-ea"/>
                        </a:rPr>
                        <a:t>同比</a:t>
                      </a:r>
                      <a:endParaRPr lang="zh-CN" altLang="en-US" sz="1400" b="1" i="0" u="none" strike="noStrike" dirty="0">
                        <a:solidFill>
                          <a:schemeClr val="bg1"/>
                        </a:solidFill>
                        <a:effectLst/>
                        <a:latin typeface="+mj-ea"/>
                        <a:ea typeface="+mj-ea"/>
                      </a:endParaRPr>
                    </a:p>
                  </a:txBody>
                  <a:tcPr marL="9525" marR="9525" marT="9525" marB="0" anchor="b">
                    <a:solidFill>
                      <a:srgbClr val="006EC7">
                        <a:alpha val="60000"/>
                      </a:srgbClr>
                    </a:solidFill>
                  </a:tcPr>
                </a:tc>
                <a:extLst>
                  <a:ext uri="{0D108BD9-81ED-4DB2-BD59-A6C34878D82A}">
                    <a16:rowId xmlns:a16="http://schemas.microsoft.com/office/drawing/2014/main" val="10000"/>
                  </a:ext>
                </a:extLst>
              </a:tr>
              <a:tr h="300000">
                <a:tc>
                  <a:txBody>
                    <a:bodyPr/>
                    <a:lstStyle/>
                    <a:p>
                      <a:pPr algn="ctr" fontAlgn="b"/>
                      <a:r>
                        <a:rPr lang="zh-CN" altLang="en-US" sz="1400" u="none" strike="noStrike" dirty="0">
                          <a:effectLst/>
                          <a:latin typeface="+mj-ea"/>
                          <a:ea typeface="+mj-ea"/>
                        </a:rPr>
                        <a:t>新增供应面积（万㎡）</a:t>
                      </a:r>
                      <a:endParaRPr lang="zh-CN" altLang="en-US" sz="1400" b="0" i="0" u="none" strike="noStrike" dirty="0">
                        <a:solidFill>
                          <a:srgbClr val="000000"/>
                        </a:solidFill>
                        <a:effectLst/>
                        <a:latin typeface="+mj-ea"/>
                        <a:ea typeface="+mj-ea"/>
                      </a:endParaRPr>
                    </a:p>
                  </a:txBody>
                  <a:tcPr marL="9525" marR="9525" marT="9525" marB="0" anchor="b"/>
                </a:tc>
                <a:tc>
                  <a:txBody>
                    <a:bodyPr/>
                    <a:lstStyle/>
                    <a:p>
                      <a:pPr algn="ctr" fontAlgn="b"/>
                      <a:r>
                        <a:rPr lang="en-US" altLang="zh-CN" sz="1400" u="none" strike="noStrike" dirty="0">
                          <a:effectLst/>
                          <a:latin typeface="+mj-ea"/>
                          <a:ea typeface="+mj-ea"/>
                        </a:rPr>
                        <a:t>958.0 </a:t>
                      </a:r>
                      <a:endParaRPr lang="en-US" altLang="zh-CN" sz="1400" b="0" i="0" u="none" strike="noStrike" dirty="0">
                        <a:solidFill>
                          <a:srgbClr val="000000"/>
                        </a:solidFill>
                        <a:effectLst/>
                        <a:latin typeface="+mj-ea"/>
                        <a:ea typeface="+mj-ea"/>
                      </a:endParaRPr>
                    </a:p>
                  </a:txBody>
                  <a:tcPr marL="9525" marR="9525" marT="9525" marB="0" anchor="b"/>
                </a:tc>
                <a:tc>
                  <a:txBody>
                    <a:bodyPr/>
                    <a:lstStyle/>
                    <a:p>
                      <a:pPr algn="ctr" fontAlgn="b"/>
                      <a:r>
                        <a:rPr lang="en-US" altLang="zh-CN" sz="1400" u="none" strike="noStrike" dirty="0">
                          <a:effectLst/>
                          <a:latin typeface="+mj-ea"/>
                          <a:ea typeface="+mj-ea"/>
                        </a:rPr>
                        <a:t>804.8 </a:t>
                      </a:r>
                      <a:endParaRPr lang="en-US" altLang="zh-CN" sz="1400" b="0" i="0" u="none" strike="noStrike" dirty="0">
                        <a:solidFill>
                          <a:srgbClr val="000000"/>
                        </a:solidFill>
                        <a:effectLst/>
                        <a:latin typeface="+mj-ea"/>
                        <a:ea typeface="+mj-ea"/>
                      </a:endParaRPr>
                    </a:p>
                  </a:txBody>
                  <a:tcPr marL="9525" marR="9525" marT="9525" marB="0" anchor="b"/>
                </a:tc>
                <a:tc>
                  <a:txBody>
                    <a:bodyPr/>
                    <a:lstStyle/>
                    <a:p>
                      <a:pPr algn="ctr" fontAlgn="b"/>
                      <a:r>
                        <a:rPr lang="en-US" altLang="zh-CN" sz="1400" b="1" u="none" strike="noStrike">
                          <a:effectLst/>
                          <a:latin typeface="+mj-ea"/>
                          <a:ea typeface="+mj-ea"/>
                        </a:rPr>
                        <a:t>-16.0%</a:t>
                      </a:r>
                      <a:endParaRPr lang="en-US" altLang="zh-CN" sz="1400" b="1" i="0" u="none" strike="noStrike">
                        <a:solidFill>
                          <a:srgbClr val="000000"/>
                        </a:solidFill>
                        <a:effectLst/>
                        <a:latin typeface="+mj-ea"/>
                        <a:ea typeface="+mj-ea"/>
                      </a:endParaRPr>
                    </a:p>
                  </a:txBody>
                  <a:tcPr marL="9525" marR="9525" marT="9525" marB="0" anchor="b"/>
                </a:tc>
                <a:extLst>
                  <a:ext uri="{0D108BD9-81ED-4DB2-BD59-A6C34878D82A}">
                    <a16:rowId xmlns:a16="http://schemas.microsoft.com/office/drawing/2014/main" val="10001"/>
                  </a:ext>
                </a:extLst>
              </a:tr>
              <a:tr h="300000">
                <a:tc>
                  <a:txBody>
                    <a:bodyPr/>
                    <a:lstStyle/>
                    <a:p>
                      <a:pPr algn="ctr" fontAlgn="b"/>
                      <a:r>
                        <a:rPr lang="zh-CN" altLang="en-US" sz="1400" u="none" strike="noStrike" dirty="0">
                          <a:effectLst/>
                          <a:latin typeface="+mj-ea"/>
                          <a:ea typeface="+mj-ea"/>
                        </a:rPr>
                        <a:t>新增供应套数（套）</a:t>
                      </a:r>
                      <a:endParaRPr lang="zh-CN" altLang="en-US" sz="1400" b="0" i="0" u="none" strike="noStrike" dirty="0">
                        <a:solidFill>
                          <a:srgbClr val="000000"/>
                        </a:solidFill>
                        <a:effectLst/>
                        <a:latin typeface="+mj-ea"/>
                        <a:ea typeface="+mj-ea"/>
                      </a:endParaRPr>
                    </a:p>
                  </a:txBody>
                  <a:tcPr marL="9525" marR="9525" marT="9525" marB="0" anchor="b"/>
                </a:tc>
                <a:tc>
                  <a:txBody>
                    <a:bodyPr/>
                    <a:lstStyle/>
                    <a:p>
                      <a:pPr algn="ctr" fontAlgn="b"/>
                      <a:r>
                        <a:rPr lang="en-US" altLang="zh-CN" sz="1400" u="none" strike="noStrike" dirty="0">
                          <a:effectLst/>
                          <a:latin typeface="+mj-ea"/>
                          <a:ea typeface="+mj-ea"/>
                        </a:rPr>
                        <a:t>77006</a:t>
                      </a:r>
                      <a:endParaRPr lang="en-US" altLang="zh-CN" sz="1400" b="0" i="0" u="none" strike="noStrike" dirty="0">
                        <a:solidFill>
                          <a:srgbClr val="000000"/>
                        </a:solidFill>
                        <a:effectLst/>
                        <a:latin typeface="+mj-ea"/>
                        <a:ea typeface="+mj-ea"/>
                      </a:endParaRPr>
                    </a:p>
                  </a:txBody>
                  <a:tcPr marL="9525" marR="9525" marT="9525" marB="0" anchor="b"/>
                </a:tc>
                <a:tc>
                  <a:txBody>
                    <a:bodyPr/>
                    <a:lstStyle/>
                    <a:p>
                      <a:pPr algn="ctr" fontAlgn="b"/>
                      <a:r>
                        <a:rPr lang="en-US" altLang="zh-CN" sz="1400" u="none" strike="noStrike" dirty="0">
                          <a:effectLst/>
                          <a:latin typeface="+mj-ea"/>
                          <a:ea typeface="+mj-ea"/>
                        </a:rPr>
                        <a:t>112989 </a:t>
                      </a:r>
                      <a:endParaRPr lang="en-US" altLang="zh-CN" sz="1400" b="0" i="0" u="none" strike="noStrike" dirty="0">
                        <a:solidFill>
                          <a:srgbClr val="000000"/>
                        </a:solidFill>
                        <a:effectLst/>
                        <a:latin typeface="+mj-ea"/>
                        <a:ea typeface="+mj-ea"/>
                      </a:endParaRPr>
                    </a:p>
                  </a:txBody>
                  <a:tcPr marL="9525" marR="9525" marT="9525" marB="0" anchor="b"/>
                </a:tc>
                <a:tc>
                  <a:txBody>
                    <a:bodyPr/>
                    <a:lstStyle/>
                    <a:p>
                      <a:pPr algn="ctr" fontAlgn="b"/>
                      <a:r>
                        <a:rPr lang="en-US" altLang="zh-CN" sz="1400" b="1" u="none" strike="noStrike" dirty="0">
                          <a:effectLst/>
                          <a:latin typeface="+mj-ea"/>
                          <a:ea typeface="+mj-ea"/>
                        </a:rPr>
                        <a:t>46.7%</a:t>
                      </a:r>
                      <a:endParaRPr lang="en-US" altLang="zh-CN" sz="1400" b="1" i="0" u="none" strike="noStrike" dirty="0">
                        <a:solidFill>
                          <a:srgbClr val="000000"/>
                        </a:solidFill>
                        <a:effectLst/>
                        <a:latin typeface="+mj-ea"/>
                        <a:ea typeface="+mj-ea"/>
                      </a:endParaRPr>
                    </a:p>
                  </a:txBody>
                  <a:tcPr marL="9525" marR="9525" marT="9525" marB="0" anchor="b"/>
                </a:tc>
                <a:extLst>
                  <a:ext uri="{0D108BD9-81ED-4DB2-BD59-A6C34878D82A}">
                    <a16:rowId xmlns:a16="http://schemas.microsoft.com/office/drawing/2014/main" val="10002"/>
                  </a:ext>
                </a:extLst>
              </a:tr>
            </a:tbl>
          </a:graphicData>
        </a:graphic>
      </p:graphicFrame>
      <p:sp>
        <p:nvSpPr>
          <p:cNvPr id="14" name="矩形 13"/>
          <p:cNvSpPr/>
          <p:nvPr/>
        </p:nvSpPr>
        <p:spPr>
          <a:xfrm>
            <a:off x="3311192" y="4943097"/>
            <a:ext cx="2441694" cy="338554"/>
          </a:xfrm>
          <a:prstGeom prst="rect">
            <a:avLst/>
          </a:prstGeom>
        </p:spPr>
        <p:txBody>
          <a:bodyPr wrap="none">
            <a:spAutoFit/>
          </a:bodyPr>
          <a:lstStyle/>
          <a:p>
            <a:pPr algn="ctr"/>
            <a:r>
              <a:rPr lang="zh-CN" altLang="en-US" sz="1600" b="1" dirty="0">
                <a:latin typeface="微软雅黑" pitchFamily="34" charset="-122"/>
                <a:ea typeface="微软雅黑" pitchFamily="34" charset="-122"/>
              </a:rPr>
              <a:t>北京一手房供应变化情况</a:t>
            </a:r>
          </a:p>
        </p:txBody>
      </p:sp>
      <p:cxnSp>
        <p:nvCxnSpPr>
          <p:cNvPr id="16" name="直接箭头连接符 15"/>
          <p:cNvCxnSpPr/>
          <p:nvPr/>
        </p:nvCxnSpPr>
        <p:spPr>
          <a:xfrm>
            <a:off x="4485352" y="6063788"/>
            <a:ext cx="452887" cy="0"/>
          </a:xfrm>
          <a:prstGeom prst="straightConnector1">
            <a:avLst/>
          </a:prstGeom>
          <a:ln w="31750">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19" name="直接箭头连接符 18"/>
          <p:cNvCxnSpPr/>
          <p:nvPr/>
        </p:nvCxnSpPr>
        <p:spPr>
          <a:xfrm flipH="1">
            <a:off x="4485352" y="5767438"/>
            <a:ext cx="499574" cy="0"/>
          </a:xfrm>
          <a:prstGeom prst="straightConnector1">
            <a:avLst/>
          </a:prstGeom>
          <a:ln w="31750">
            <a:solidFill>
              <a:srgbClr val="00B050"/>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768608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编号占位符 1"/>
          <p:cNvSpPr>
            <a:spLocks noGrp="1"/>
          </p:cNvSpPr>
          <p:nvPr>
            <p:ph type="sldNum" sz="quarter" idx="4"/>
          </p:nvPr>
        </p:nvSpPr>
        <p:spPr>
          <a:xfrm>
            <a:off x="6553200" y="6460121"/>
            <a:ext cx="2133600" cy="365125"/>
          </a:xfrm>
        </p:spPr>
        <p:txBody>
          <a:bodyPr/>
          <a:lstStyle/>
          <a:p>
            <a:pPr>
              <a:defRPr/>
            </a:pPr>
            <a:fld id="{3E8B6F27-EC4F-B34E-9F32-10CC92E9AB18}" type="slidenum">
              <a:rPr lang="zh-CN" altLang="en-US" smtClean="0"/>
              <a:t>12</a:t>
            </a:fld>
            <a:endParaRPr lang="zh-CN" altLang="en-US" dirty="0"/>
          </a:p>
        </p:txBody>
      </p:sp>
      <p:sp>
        <p:nvSpPr>
          <p:cNvPr id="5" name="标题 4"/>
          <p:cNvSpPr>
            <a:spLocks noGrp="1"/>
          </p:cNvSpPr>
          <p:nvPr>
            <p:ph type="title"/>
          </p:nvPr>
        </p:nvSpPr>
        <p:spPr>
          <a:xfrm>
            <a:off x="162371" y="80984"/>
            <a:ext cx="5799042" cy="474662"/>
          </a:xfrm>
        </p:spPr>
        <p:txBody>
          <a:bodyPr>
            <a:normAutofit/>
          </a:bodyPr>
          <a:lstStyle/>
          <a:p>
            <a:r>
              <a:rPr lang="zh-CN" altLang="en-US" dirty="0"/>
              <a:t>一手房</a:t>
            </a:r>
            <a:r>
              <a:rPr lang="en-US" altLang="zh-CN" dirty="0"/>
              <a:t>|</a:t>
            </a:r>
            <a:r>
              <a:rPr lang="zh-CN" altLang="en-US" sz="1800" dirty="0">
                <a:solidFill>
                  <a:schemeClr val="tx1">
                    <a:lumMod val="50000"/>
                  </a:schemeClr>
                </a:solidFill>
                <a:latin typeface="微软雅黑" pitchFamily="34" charset="-122"/>
                <a:ea typeface="微软雅黑" pitchFamily="34" charset="-122"/>
              </a:rPr>
              <a:t>房山成新房供应主力区域</a:t>
            </a:r>
            <a:endParaRPr lang="zh-CN" altLang="en-US" sz="1800" dirty="0"/>
          </a:p>
        </p:txBody>
      </p:sp>
      <p:sp>
        <p:nvSpPr>
          <p:cNvPr id="8" name="TextBox 7"/>
          <p:cNvSpPr txBox="1"/>
          <p:nvPr/>
        </p:nvSpPr>
        <p:spPr>
          <a:xfrm>
            <a:off x="705114" y="795079"/>
            <a:ext cx="7500729" cy="738664"/>
          </a:xfrm>
          <a:prstGeom prst="rect">
            <a:avLst/>
          </a:prstGeom>
          <a:noFill/>
        </p:spPr>
        <p:txBody>
          <a:bodyPr wrap="square" rtlCol="0">
            <a:spAutoFit/>
          </a:bodyPr>
          <a:lstStyle/>
          <a:p>
            <a:pPr marL="285750" indent="-285750" algn="just">
              <a:lnSpc>
                <a:spcPct val="150000"/>
              </a:lnSpc>
              <a:buClr>
                <a:srgbClr val="C00000"/>
              </a:buClr>
              <a:buSzPct val="60000"/>
              <a:buFont typeface="Wingdings" pitchFamily="2" charset="2"/>
              <a:buChar char="p"/>
            </a:pPr>
            <a:r>
              <a:rPr lang="en-US" altLang="zh-CN" sz="1400" dirty="0">
                <a:latin typeface="微软雅黑" pitchFamily="34" charset="-122"/>
                <a:ea typeface="微软雅黑" pitchFamily="34" charset="-122"/>
              </a:rPr>
              <a:t>2016</a:t>
            </a:r>
            <a:r>
              <a:rPr lang="zh-CN" altLang="en-US" sz="1400" dirty="0">
                <a:latin typeface="微软雅黑" pitchFamily="34" charset="-122"/>
                <a:ea typeface="微软雅黑" pitchFamily="34" charset="-122"/>
              </a:rPr>
              <a:t>年</a:t>
            </a:r>
            <a:r>
              <a:rPr lang="en-US" altLang="zh-CN" sz="1400" dirty="0">
                <a:latin typeface="微软雅黑" pitchFamily="34" charset="-122"/>
                <a:ea typeface="微软雅黑" pitchFamily="34" charset="-122"/>
              </a:rPr>
              <a:t>9</a:t>
            </a:r>
            <a:r>
              <a:rPr lang="zh-CN" altLang="en-US" sz="1400" dirty="0">
                <a:latin typeface="微软雅黑" pitchFamily="34" charset="-122"/>
                <a:ea typeface="微软雅黑" pitchFamily="34" charset="-122"/>
              </a:rPr>
              <a:t>月，房山新增供应套数为</a:t>
            </a:r>
            <a:r>
              <a:rPr lang="en-US" altLang="zh-CN" sz="1400" b="1" dirty="0">
                <a:solidFill>
                  <a:srgbClr val="FF0000"/>
                </a:solidFill>
                <a:latin typeface="微软雅黑" pitchFamily="34" charset="-122"/>
                <a:ea typeface="微软雅黑" pitchFamily="34" charset="-122"/>
              </a:rPr>
              <a:t>2170</a:t>
            </a:r>
            <a:r>
              <a:rPr lang="zh-CN" altLang="en-US" sz="1400" dirty="0">
                <a:latin typeface="微软雅黑" pitchFamily="34" charset="-122"/>
                <a:ea typeface="微软雅黑" pitchFamily="34" charset="-122"/>
              </a:rPr>
              <a:t>套，占总成交套数的</a:t>
            </a:r>
            <a:r>
              <a:rPr lang="en-US" altLang="zh-CN" sz="1400" b="1" dirty="0">
                <a:solidFill>
                  <a:srgbClr val="FF0000"/>
                </a:solidFill>
                <a:latin typeface="微软雅黑" pitchFamily="34" charset="-122"/>
                <a:ea typeface="微软雅黑" pitchFamily="34" charset="-122"/>
              </a:rPr>
              <a:t>27.3%</a:t>
            </a:r>
            <a:r>
              <a:rPr lang="zh-CN" altLang="en-US" sz="1400" dirty="0">
                <a:latin typeface="微软雅黑" pitchFamily="34" charset="-122"/>
                <a:ea typeface="微软雅黑" pitchFamily="34" charset="-122"/>
              </a:rPr>
              <a:t>；</a:t>
            </a:r>
            <a:endParaRPr lang="en-US" altLang="zh-CN" sz="1400" dirty="0">
              <a:latin typeface="微软雅黑" pitchFamily="34" charset="-122"/>
              <a:ea typeface="微软雅黑" pitchFamily="34" charset="-122"/>
            </a:endParaRPr>
          </a:p>
          <a:p>
            <a:pPr marL="285750" indent="-285750" algn="just">
              <a:lnSpc>
                <a:spcPct val="150000"/>
              </a:lnSpc>
              <a:buClr>
                <a:srgbClr val="C00000"/>
              </a:buClr>
              <a:buSzPct val="60000"/>
              <a:buFont typeface="Wingdings" pitchFamily="2" charset="2"/>
              <a:buChar char="p"/>
            </a:pPr>
            <a:r>
              <a:rPr lang="en-US" altLang="zh-CN" sz="1400" dirty="0">
                <a:latin typeface="微软雅黑" pitchFamily="34" charset="-122"/>
                <a:ea typeface="微软雅黑" pitchFamily="34" charset="-122"/>
              </a:rPr>
              <a:t>2016</a:t>
            </a:r>
            <a:r>
              <a:rPr lang="zh-CN" altLang="en-US" sz="1400" dirty="0">
                <a:latin typeface="微软雅黑" pitchFamily="34" charset="-122"/>
                <a:ea typeface="微软雅黑" pitchFamily="34" charset="-122"/>
              </a:rPr>
              <a:t>年</a:t>
            </a:r>
            <a:r>
              <a:rPr lang="en-US" altLang="zh-CN" sz="1400" dirty="0">
                <a:latin typeface="微软雅黑" pitchFamily="34" charset="-122"/>
                <a:ea typeface="微软雅黑" pitchFamily="34" charset="-122"/>
              </a:rPr>
              <a:t>1-9</a:t>
            </a:r>
            <a:r>
              <a:rPr lang="zh-CN" altLang="en-US" sz="1400" dirty="0">
                <a:latin typeface="微软雅黑" pitchFamily="34" charset="-122"/>
                <a:ea typeface="微软雅黑" pitchFamily="34" charset="-122"/>
              </a:rPr>
              <a:t>月，房山新增供应占全市总供应套数的</a:t>
            </a:r>
            <a:r>
              <a:rPr lang="en-US" altLang="zh-CN" sz="1400" b="1" dirty="0">
                <a:solidFill>
                  <a:srgbClr val="FF0000"/>
                </a:solidFill>
                <a:latin typeface="微软雅黑" pitchFamily="34" charset="-122"/>
                <a:ea typeface="微软雅黑" pitchFamily="34" charset="-122"/>
              </a:rPr>
              <a:t>18.6%</a:t>
            </a:r>
            <a:r>
              <a:rPr lang="zh-CN" altLang="en-US" sz="1400" dirty="0">
                <a:latin typeface="微软雅黑" pitchFamily="34" charset="-122"/>
                <a:ea typeface="微软雅黑" pitchFamily="34" charset="-122"/>
              </a:rPr>
              <a:t>，新增套数为</a:t>
            </a:r>
            <a:r>
              <a:rPr lang="en-US" altLang="zh-CN" sz="1400" b="1" dirty="0">
                <a:solidFill>
                  <a:srgbClr val="FF0000"/>
                </a:solidFill>
                <a:latin typeface="微软雅黑" pitchFamily="34" charset="-122"/>
                <a:ea typeface="微软雅黑" pitchFamily="34" charset="-122"/>
              </a:rPr>
              <a:t>14154</a:t>
            </a:r>
            <a:r>
              <a:rPr lang="zh-CN" altLang="en-US" sz="1400" dirty="0">
                <a:latin typeface="微软雅黑" pitchFamily="34" charset="-122"/>
                <a:ea typeface="微软雅黑" pitchFamily="34" charset="-122"/>
              </a:rPr>
              <a:t>套。</a:t>
            </a:r>
            <a:endParaRPr lang="en-US" altLang="zh-CN" sz="1400" dirty="0">
              <a:latin typeface="微软雅黑" pitchFamily="34" charset="-122"/>
              <a:ea typeface="微软雅黑" pitchFamily="34" charset="-122"/>
            </a:endParaRPr>
          </a:p>
        </p:txBody>
      </p:sp>
      <p:graphicFrame>
        <p:nvGraphicFramePr>
          <p:cNvPr id="12" name="图表 11"/>
          <p:cNvGraphicFramePr>
            <a:graphicFrameLocks/>
          </p:cNvGraphicFramePr>
          <p:nvPr>
            <p:extLst>
              <p:ext uri="{D42A27DB-BD31-4B8C-83A1-F6EECF244321}">
                <p14:modId xmlns:p14="http://schemas.microsoft.com/office/powerpoint/2010/main" val="4158443712"/>
              </p:ext>
            </p:extLst>
          </p:nvPr>
        </p:nvGraphicFramePr>
        <p:xfrm>
          <a:off x="904756" y="1533743"/>
          <a:ext cx="7101444" cy="244334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5" name="图表 14"/>
          <p:cNvGraphicFramePr>
            <a:graphicFrameLocks/>
          </p:cNvGraphicFramePr>
          <p:nvPr>
            <p:extLst>
              <p:ext uri="{D42A27DB-BD31-4B8C-83A1-F6EECF244321}">
                <p14:modId xmlns:p14="http://schemas.microsoft.com/office/powerpoint/2010/main" val="2297085884"/>
              </p:ext>
            </p:extLst>
          </p:nvPr>
        </p:nvGraphicFramePr>
        <p:xfrm>
          <a:off x="904756" y="3862391"/>
          <a:ext cx="7550475"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7309804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编号占位符 1"/>
          <p:cNvSpPr>
            <a:spLocks noGrp="1"/>
          </p:cNvSpPr>
          <p:nvPr>
            <p:ph type="sldNum" sz="quarter" idx="4"/>
          </p:nvPr>
        </p:nvSpPr>
        <p:spPr/>
        <p:txBody>
          <a:bodyPr/>
          <a:lstStyle/>
          <a:p>
            <a:pPr>
              <a:defRPr/>
            </a:pPr>
            <a:fld id="{3E8B6F27-EC4F-B34E-9F32-10CC92E9AB18}" type="slidenum">
              <a:rPr lang="zh-CN" altLang="en-US" smtClean="0"/>
              <a:t>13</a:t>
            </a:fld>
            <a:endParaRPr lang="zh-CN" altLang="en-US" dirty="0"/>
          </a:p>
        </p:txBody>
      </p:sp>
      <p:sp>
        <p:nvSpPr>
          <p:cNvPr id="5" name="标题 4"/>
          <p:cNvSpPr>
            <a:spLocks noGrp="1"/>
          </p:cNvSpPr>
          <p:nvPr>
            <p:ph type="title"/>
          </p:nvPr>
        </p:nvSpPr>
        <p:spPr>
          <a:xfrm>
            <a:off x="162371" y="33484"/>
            <a:ext cx="6074656" cy="474662"/>
          </a:xfrm>
        </p:spPr>
        <p:txBody>
          <a:bodyPr>
            <a:normAutofit/>
          </a:bodyPr>
          <a:lstStyle/>
          <a:p>
            <a:r>
              <a:rPr lang="zh-CN" altLang="en-US" dirty="0"/>
              <a:t>一手房</a:t>
            </a:r>
            <a:r>
              <a:rPr lang="en-US" altLang="zh-CN" dirty="0"/>
              <a:t>| </a:t>
            </a:r>
            <a:r>
              <a:rPr lang="en-US" altLang="zh-CN" sz="1800" dirty="0"/>
              <a:t>9</a:t>
            </a:r>
            <a:r>
              <a:rPr lang="zh-CN" altLang="en-US" sz="1800" dirty="0"/>
              <a:t>月别墅供应翻两番</a:t>
            </a:r>
            <a:r>
              <a:rPr lang="zh-CN" altLang="en-US" sz="1400" dirty="0"/>
              <a:t>，</a:t>
            </a:r>
            <a:r>
              <a:rPr lang="zh-CN" altLang="en-US" sz="1800" dirty="0"/>
              <a:t>自住房零供应</a:t>
            </a:r>
            <a:endParaRPr lang="zh-CN" altLang="en-US" sz="1100" dirty="0"/>
          </a:p>
        </p:txBody>
      </p:sp>
      <p:graphicFrame>
        <p:nvGraphicFramePr>
          <p:cNvPr id="7" name="图表 6"/>
          <p:cNvGraphicFramePr>
            <a:graphicFrameLocks/>
          </p:cNvGraphicFramePr>
          <p:nvPr>
            <p:extLst>
              <p:ext uri="{D42A27DB-BD31-4B8C-83A1-F6EECF244321}">
                <p14:modId xmlns:p14="http://schemas.microsoft.com/office/powerpoint/2010/main" val="1037463143"/>
              </p:ext>
            </p:extLst>
          </p:nvPr>
        </p:nvGraphicFramePr>
        <p:xfrm>
          <a:off x="1311424" y="859170"/>
          <a:ext cx="6418348" cy="2770525"/>
        </p:xfrm>
        <a:graphic>
          <a:graphicData uri="http://schemas.openxmlformats.org/drawingml/2006/chart">
            <c:chart xmlns:c="http://schemas.openxmlformats.org/drawingml/2006/chart" xmlns:r="http://schemas.openxmlformats.org/officeDocument/2006/relationships" r:id="rId2"/>
          </a:graphicData>
        </a:graphic>
      </p:graphicFrame>
      <p:sp>
        <p:nvSpPr>
          <p:cNvPr id="8" name="矩形 7"/>
          <p:cNvSpPr/>
          <p:nvPr/>
        </p:nvSpPr>
        <p:spPr>
          <a:xfrm>
            <a:off x="2731329" y="1555669"/>
            <a:ext cx="961901" cy="1591292"/>
          </a:xfrm>
          <a:prstGeom prst="rect">
            <a:avLst/>
          </a:prstGeom>
          <a:noFill/>
          <a:ln w="25400">
            <a:solidFill>
              <a:srgbClr val="FF0000"/>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9" name="矩形 8"/>
          <p:cNvSpPr/>
          <p:nvPr/>
        </p:nvSpPr>
        <p:spPr>
          <a:xfrm>
            <a:off x="2731329" y="1543794"/>
            <a:ext cx="956847" cy="498764"/>
          </a:xfrm>
          <a:prstGeom prst="rect">
            <a:avLst/>
          </a:prstGeom>
          <a:solidFill>
            <a:schemeClr val="bg1">
              <a:lumMod val="65000"/>
              <a:alpha val="5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1400" b="1" dirty="0">
                <a:solidFill>
                  <a:schemeClr val="tx1"/>
                </a:solidFill>
                <a:latin typeface="微软雅黑" pitchFamily="34" charset="-122"/>
                <a:ea typeface="微软雅黑" pitchFamily="34" charset="-122"/>
              </a:rPr>
              <a:t>环比上升  </a:t>
            </a:r>
            <a:r>
              <a:rPr lang="en-US" altLang="zh-CN" sz="1400" b="1" dirty="0">
                <a:solidFill>
                  <a:schemeClr val="tx1"/>
                </a:solidFill>
                <a:latin typeface="微软雅黑" pitchFamily="34" charset="-122"/>
                <a:ea typeface="微软雅黑" pitchFamily="34" charset="-122"/>
              </a:rPr>
              <a:t>190%</a:t>
            </a:r>
            <a:endParaRPr lang="zh-CN" altLang="en-US" sz="1400" b="1" dirty="0">
              <a:solidFill>
                <a:schemeClr val="tx1"/>
              </a:solidFill>
              <a:latin typeface="微软雅黑" pitchFamily="34" charset="-122"/>
              <a:ea typeface="微软雅黑" pitchFamily="34" charset="-122"/>
            </a:endParaRPr>
          </a:p>
        </p:txBody>
      </p:sp>
      <p:graphicFrame>
        <p:nvGraphicFramePr>
          <p:cNvPr id="10" name="图表 9"/>
          <p:cNvGraphicFramePr>
            <a:graphicFrameLocks/>
          </p:cNvGraphicFramePr>
          <p:nvPr>
            <p:extLst>
              <p:ext uri="{D42A27DB-BD31-4B8C-83A1-F6EECF244321}">
                <p14:modId xmlns:p14="http://schemas.microsoft.com/office/powerpoint/2010/main" val="3015218090"/>
              </p:ext>
            </p:extLst>
          </p:nvPr>
        </p:nvGraphicFramePr>
        <p:xfrm>
          <a:off x="1330036" y="3667126"/>
          <a:ext cx="6472052" cy="2828678"/>
        </p:xfrm>
        <a:graphic>
          <a:graphicData uri="http://schemas.openxmlformats.org/drawingml/2006/chart">
            <c:chart xmlns:c="http://schemas.openxmlformats.org/drawingml/2006/chart" xmlns:r="http://schemas.openxmlformats.org/officeDocument/2006/relationships" r:id="rId3"/>
          </a:graphicData>
        </a:graphic>
      </p:graphicFrame>
      <p:sp>
        <p:nvSpPr>
          <p:cNvPr id="11" name="矩形标注 10"/>
          <p:cNvSpPr/>
          <p:nvPr/>
        </p:nvSpPr>
        <p:spPr>
          <a:xfrm>
            <a:off x="2609342" y="4739142"/>
            <a:ext cx="1083888" cy="916088"/>
          </a:xfrm>
          <a:prstGeom prst="wedgeRectCallout">
            <a:avLst>
              <a:gd name="adj1" fmla="val -61339"/>
              <a:gd name="adj2" fmla="val 79521"/>
            </a:avLst>
          </a:prstGeom>
          <a:solidFill>
            <a:schemeClr val="bg1">
              <a:lumMod val="65000"/>
              <a:alpha val="44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1400" b="1" dirty="0">
                <a:solidFill>
                  <a:schemeClr val="tx1"/>
                </a:solidFill>
                <a:latin typeface="微软雅黑" pitchFamily="34" charset="-122"/>
                <a:ea typeface="微软雅黑" pitchFamily="34" charset="-122"/>
              </a:rPr>
              <a:t>年内办公供应面积领跑其他业态</a:t>
            </a:r>
          </a:p>
        </p:txBody>
      </p:sp>
    </p:spTree>
    <p:extLst>
      <p:ext uri="{BB962C8B-B14F-4D97-AF65-F5344CB8AC3E}">
        <p14:creationId xmlns:p14="http://schemas.microsoft.com/office/powerpoint/2010/main" val="16552767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编号占位符 1"/>
          <p:cNvSpPr>
            <a:spLocks noGrp="1"/>
          </p:cNvSpPr>
          <p:nvPr>
            <p:ph type="sldNum" sz="quarter" idx="4"/>
          </p:nvPr>
        </p:nvSpPr>
        <p:spPr/>
        <p:txBody>
          <a:bodyPr/>
          <a:lstStyle/>
          <a:p>
            <a:pPr>
              <a:defRPr/>
            </a:pPr>
            <a:fld id="{3E8B6F27-EC4F-B34E-9F32-10CC92E9AB18}" type="slidenum">
              <a:rPr lang="zh-CN" altLang="en-US" smtClean="0"/>
              <a:t>14</a:t>
            </a:fld>
            <a:endParaRPr lang="zh-CN" altLang="en-US" dirty="0"/>
          </a:p>
        </p:txBody>
      </p:sp>
      <p:sp>
        <p:nvSpPr>
          <p:cNvPr id="5" name="标题 4"/>
          <p:cNvSpPr>
            <a:spLocks noGrp="1"/>
          </p:cNvSpPr>
          <p:nvPr>
            <p:ph type="title"/>
          </p:nvPr>
        </p:nvSpPr>
        <p:spPr/>
        <p:txBody>
          <a:bodyPr>
            <a:normAutofit/>
          </a:bodyPr>
          <a:lstStyle/>
          <a:p>
            <a:r>
              <a:rPr lang="zh-CN" altLang="en-US" dirty="0"/>
              <a:t>一手房</a:t>
            </a:r>
            <a:r>
              <a:rPr lang="en-US" altLang="zh-CN" dirty="0"/>
              <a:t>| </a:t>
            </a:r>
            <a:r>
              <a:rPr lang="zh-CN" altLang="en-US" sz="1800" dirty="0"/>
              <a:t>成交热度提高，价格结构性上涨</a:t>
            </a:r>
            <a:endParaRPr lang="zh-CN" altLang="en-US" sz="1400" dirty="0"/>
          </a:p>
        </p:txBody>
      </p:sp>
      <p:sp>
        <p:nvSpPr>
          <p:cNvPr id="7" name="TextBox 6"/>
          <p:cNvSpPr txBox="1"/>
          <p:nvPr/>
        </p:nvSpPr>
        <p:spPr>
          <a:xfrm>
            <a:off x="459461" y="798552"/>
            <a:ext cx="5042225" cy="338554"/>
          </a:xfrm>
          <a:prstGeom prst="rect">
            <a:avLst/>
          </a:prstGeom>
          <a:noFill/>
        </p:spPr>
        <p:txBody>
          <a:bodyPr wrap="square" rtlCol="0">
            <a:spAutoFit/>
          </a:bodyPr>
          <a:lstStyle/>
          <a:p>
            <a:pPr marL="285750" indent="-285750">
              <a:buFont typeface="Wingdings" pitchFamily="2" charset="2"/>
              <a:buChar char="Ø"/>
            </a:pPr>
            <a:r>
              <a:rPr lang="zh-CN" altLang="en-US" sz="1600" b="1" dirty="0">
                <a:solidFill>
                  <a:schemeClr val="tx1">
                    <a:lumMod val="50000"/>
                  </a:schemeClr>
                </a:solidFill>
                <a:latin typeface="微软雅黑" pitchFamily="34" charset="-122"/>
                <a:ea typeface="微软雅黑" pitchFamily="34" charset="-122"/>
              </a:rPr>
              <a:t>传统金九旺季影响，新房市场升温</a:t>
            </a:r>
          </a:p>
        </p:txBody>
      </p:sp>
      <p:sp>
        <p:nvSpPr>
          <p:cNvPr id="10" name="TextBox 9"/>
          <p:cNvSpPr txBox="1"/>
          <p:nvPr/>
        </p:nvSpPr>
        <p:spPr>
          <a:xfrm>
            <a:off x="942621" y="1282935"/>
            <a:ext cx="7191976" cy="1431161"/>
          </a:xfrm>
          <a:prstGeom prst="rect">
            <a:avLst/>
          </a:prstGeom>
          <a:noFill/>
        </p:spPr>
        <p:txBody>
          <a:bodyPr wrap="square" rtlCol="0">
            <a:spAutoFit/>
          </a:bodyPr>
          <a:lstStyle/>
          <a:p>
            <a:pPr marL="285750" indent="-285750" algn="just">
              <a:lnSpc>
                <a:spcPct val="150000"/>
              </a:lnSpc>
              <a:buClr>
                <a:srgbClr val="C00000"/>
              </a:buClr>
              <a:buSzPct val="60000"/>
              <a:buFont typeface="Wingdings" pitchFamily="2" charset="2"/>
              <a:buChar char="p"/>
            </a:pPr>
            <a:r>
              <a:rPr lang="en-US" altLang="zh-CN" sz="1400" dirty="0">
                <a:latin typeface="微软雅黑" pitchFamily="34" charset="-122"/>
                <a:ea typeface="微软雅黑" pitchFamily="34" charset="-122"/>
              </a:rPr>
              <a:t>2016</a:t>
            </a:r>
            <a:r>
              <a:rPr lang="zh-CN" altLang="en-US" sz="1400" dirty="0">
                <a:latin typeface="微软雅黑" pitchFamily="34" charset="-122"/>
                <a:ea typeface="微软雅黑" pitchFamily="34" charset="-122"/>
              </a:rPr>
              <a:t>年</a:t>
            </a:r>
            <a:r>
              <a:rPr lang="en-US" altLang="zh-CN" sz="1400" dirty="0">
                <a:latin typeface="微软雅黑" pitchFamily="34" charset="-122"/>
                <a:ea typeface="微软雅黑" pitchFamily="34" charset="-122"/>
              </a:rPr>
              <a:t>9</a:t>
            </a:r>
            <a:r>
              <a:rPr lang="zh-CN" altLang="en-US" sz="1400" dirty="0">
                <a:latin typeface="微软雅黑" pitchFamily="34" charset="-122"/>
                <a:ea typeface="微软雅黑" pitchFamily="34" charset="-122"/>
              </a:rPr>
              <a:t>月，新房市场成交热度提高，一手商品房共成交</a:t>
            </a:r>
            <a:r>
              <a:rPr lang="en-US" altLang="zh-CN" sz="1400" b="1" dirty="0">
                <a:solidFill>
                  <a:srgbClr val="FF0000"/>
                </a:solidFill>
                <a:latin typeface="微软雅黑" pitchFamily="34" charset="-122"/>
                <a:ea typeface="微软雅黑" pitchFamily="34" charset="-122"/>
              </a:rPr>
              <a:t>166.0</a:t>
            </a:r>
            <a:r>
              <a:rPr lang="zh-CN" altLang="en-US" sz="1400" dirty="0">
                <a:latin typeface="微软雅黑" pitchFamily="34" charset="-122"/>
                <a:ea typeface="微软雅黑" pitchFamily="34" charset="-122"/>
              </a:rPr>
              <a:t>万㎡，环比上升</a:t>
            </a:r>
            <a:r>
              <a:rPr lang="en-US" altLang="zh-CN" sz="1400" b="1" dirty="0">
                <a:solidFill>
                  <a:srgbClr val="FF0000"/>
                </a:solidFill>
                <a:latin typeface="微软雅黑" pitchFamily="34" charset="-122"/>
                <a:ea typeface="微软雅黑" pitchFamily="34" charset="-122"/>
              </a:rPr>
              <a:t>13.5%</a:t>
            </a:r>
            <a:r>
              <a:rPr lang="zh-CN" altLang="en-US" sz="1400" dirty="0">
                <a:latin typeface="微软雅黑" pitchFamily="34" charset="-122"/>
                <a:ea typeface="微软雅黑" pitchFamily="34" charset="-122"/>
              </a:rPr>
              <a:t>，同比上升</a:t>
            </a:r>
            <a:r>
              <a:rPr lang="en-US" altLang="zh-CN" sz="1400" b="1" dirty="0">
                <a:solidFill>
                  <a:srgbClr val="FF0000"/>
                </a:solidFill>
                <a:latin typeface="微软雅黑" pitchFamily="34" charset="-122"/>
                <a:ea typeface="微软雅黑" pitchFamily="34" charset="-122"/>
              </a:rPr>
              <a:t>26.6%</a:t>
            </a:r>
            <a:r>
              <a:rPr lang="zh-CN" altLang="en-US" sz="1600" dirty="0">
                <a:latin typeface="微软雅黑" pitchFamily="34" charset="-122"/>
                <a:ea typeface="微软雅黑" pitchFamily="34" charset="-122"/>
              </a:rPr>
              <a:t>；</a:t>
            </a:r>
            <a:endParaRPr lang="en-US" altLang="zh-CN" sz="1600" dirty="0">
              <a:latin typeface="微软雅黑" pitchFamily="34" charset="-122"/>
              <a:ea typeface="微软雅黑" pitchFamily="34" charset="-122"/>
            </a:endParaRPr>
          </a:p>
          <a:p>
            <a:pPr marL="285750" indent="-285750" algn="just">
              <a:lnSpc>
                <a:spcPct val="150000"/>
              </a:lnSpc>
              <a:buClr>
                <a:srgbClr val="C00000"/>
              </a:buClr>
              <a:buSzPct val="60000"/>
              <a:buFont typeface="Wingdings" pitchFamily="2" charset="2"/>
              <a:buChar char="p"/>
            </a:pPr>
            <a:r>
              <a:rPr lang="zh-CN" altLang="en-US" sz="1400" dirty="0">
                <a:latin typeface="微软雅黑" pitchFamily="34" charset="-122"/>
                <a:ea typeface="微软雅黑" pitchFamily="34" charset="-122"/>
              </a:rPr>
              <a:t>价格方面，受自住房交易量大幅萎缩，新房价格大幅上涨，为</a:t>
            </a:r>
            <a:r>
              <a:rPr lang="en-US" altLang="zh-CN" sz="1400" b="1" dirty="0">
                <a:solidFill>
                  <a:srgbClr val="FF0000"/>
                </a:solidFill>
                <a:latin typeface="微软雅黑" pitchFamily="34" charset="-122"/>
                <a:ea typeface="微软雅黑" pitchFamily="34" charset="-122"/>
              </a:rPr>
              <a:t>35829</a:t>
            </a:r>
            <a:r>
              <a:rPr lang="zh-CN" altLang="en-US" sz="1400" dirty="0">
                <a:latin typeface="微软雅黑" pitchFamily="34" charset="-122"/>
                <a:ea typeface="微软雅黑" pitchFamily="34" charset="-122"/>
              </a:rPr>
              <a:t>元</a:t>
            </a:r>
            <a:r>
              <a:rPr lang="en-US" altLang="zh-CN" sz="1400" dirty="0">
                <a:latin typeface="微软雅黑" pitchFamily="34" charset="-122"/>
                <a:ea typeface="微软雅黑" pitchFamily="34" charset="-122"/>
              </a:rPr>
              <a:t>/</a:t>
            </a:r>
            <a:r>
              <a:rPr lang="zh-CN" altLang="en-US" sz="1400" dirty="0">
                <a:latin typeface="微软雅黑" pitchFamily="34" charset="-122"/>
                <a:ea typeface="微软雅黑" pitchFamily="34" charset="-122"/>
              </a:rPr>
              <a:t>㎡，环比上涨</a:t>
            </a:r>
            <a:r>
              <a:rPr lang="en-US" altLang="zh-CN" sz="1400" b="1" dirty="0">
                <a:solidFill>
                  <a:srgbClr val="FF0000"/>
                </a:solidFill>
                <a:latin typeface="微软雅黑" pitchFamily="34" charset="-122"/>
                <a:ea typeface="微软雅黑" pitchFamily="34" charset="-122"/>
              </a:rPr>
              <a:t>16.4%</a:t>
            </a:r>
            <a:r>
              <a:rPr lang="zh-CN" altLang="en-US" sz="1400" dirty="0">
                <a:latin typeface="微软雅黑" pitchFamily="34" charset="-122"/>
                <a:ea typeface="微软雅黑" pitchFamily="34" charset="-122"/>
              </a:rPr>
              <a:t>，同比上涨</a:t>
            </a:r>
            <a:r>
              <a:rPr lang="en-US" altLang="zh-CN" sz="1400" b="1" dirty="0">
                <a:solidFill>
                  <a:srgbClr val="FF0000"/>
                </a:solidFill>
                <a:latin typeface="微软雅黑" pitchFamily="34" charset="-122"/>
                <a:ea typeface="微软雅黑" pitchFamily="34" charset="-122"/>
              </a:rPr>
              <a:t>28.1%</a:t>
            </a:r>
            <a:r>
              <a:rPr lang="zh-CN" altLang="en-US" sz="1400" dirty="0">
                <a:latin typeface="微软雅黑" pitchFamily="34" charset="-122"/>
                <a:ea typeface="微软雅黑" pitchFamily="34" charset="-122"/>
              </a:rPr>
              <a:t>。</a:t>
            </a:r>
            <a:endParaRPr lang="en-US" altLang="zh-CN" sz="1400" dirty="0">
              <a:latin typeface="微软雅黑" pitchFamily="34" charset="-122"/>
              <a:ea typeface="微软雅黑" pitchFamily="34" charset="-122"/>
            </a:endParaRPr>
          </a:p>
        </p:txBody>
      </p:sp>
      <p:sp>
        <p:nvSpPr>
          <p:cNvPr id="9" name="TextBox 8"/>
          <p:cNvSpPr txBox="1"/>
          <p:nvPr/>
        </p:nvSpPr>
        <p:spPr>
          <a:xfrm>
            <a:off x="311832" y="6202461"/>
            <a:ext cx="6646154" cy="307777"/>
          </a:xfrm>
          <a:prstGeom prst="rect">
            <a:avLst/>
          </a:prstGeom>
          <a:noFill/>
        </p:spPr>
        <p:txBody>
          <a:bodyPr wrap="square" rtlCol="0">
            <a:spAutoFit/>
          </a:bodyPr>
          <a:lstStyle/>
          <a:p>
            <a:r>
              <a:rPr lang="zh-CN" altLang="en-US" sz="1400" b="1" dirty="0">
                <a:latin typeface="+mj-ea"/>
                <a:ea typeface="+mj-ea"/>
              </a:rPr>
              <a:t>备注：一手房数据统计包含期房和现房，含自住房，剔除保障房、车位及其它</a:t>
            </a:r>
          </a:p>
        </p:txBody>
      </p:sp>
      <p:graphicFrame>
        <p:nvGraphicFramePr>
          <p:cNvPr id="11" name="图表 10"/>
          <p:cNvGraphicFramePr>
            <a:graphicFrameLocks/>
          </p:cNvGraphicFramePr>
          <p:nvPr>
            <p:extLst>
              <p:ext uri="{D42A27DB-BD31-4B8C-83A1-F6EECF244321}">
                <p14:modId xmlns:p14="http://schemas.microsoft.com/office/powerpoint/2010/main" val="3007064512"/>
              </p:ext>
            </p:extLst>
          </p:nvPr>
        </p:nvGraphicFramePr>
        <p:xfrm>
          <a:off x="942621" y="2766729"/>
          <a:ext cx="6887687" cy="3153703"/>
        </p:xfrm>
        <a:graphic>
          <a:graphicData uri="http://schemas.openxmlformats.org/drawingml/2006/chart">
            <c:chart xmlns:c="http://schemas.openxmlformats.org/drawingml/2006/chart" xmlns:r="http://schemas.openxmlformats.org/officeDocument/2006/relationships" r:id="rId2"/>
          </a:graphicData>
        </a:graphic>
      </p:graphicFrame>
      <p:sp>
        <p:nvSpPr>
          <p:cNvPr id="12" name="椭圆 11"/>
          <p:cNvSpPr/>
          <p:nvPr/>
        </p:nvSpPr>
        <p:spPr>
          <a:xfrm>
            <a:off x="6636398" y="3681129"/>
            <a:ext cx="562594" cy="439388"/>
          </a:xfrm>
          <a:prstGeom prst="ellipse">
            <a:avLst/>
          </a:prstGeom>
          <a:noFill/>
          <a:ln w="1905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0908053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编号占位符 1"/>
          <p:cNvSpPr>
            <a:spLocks noGrp="1"/>
          </p:cNvSpPr>
          <p:nvPr>
            <p:ph type="sldNum" sz="quarter" idx="4"/>
          </p:nvPr>
        </p:nvSpPr>
        <p:spPr>
          <a:xfrm>
            <a:off x="6553200" y="6460121"/>
            <a:ext cx="2133600" cy="365125"/>
          </a:xfrm>
        </p:spPr>
        <p:txBody>
          <a:bodyPr/>
          <a:lstStyle/>
          <a:p>
            <a:pPr>
              <a:defRPr/>
            </a:pPr>
            <a:fld id="{3E8B6F27-EC4F-B34E-9F32-10CC92E9AB18}" type="slidenum">
              <a:rPr lang="zh-CN" altLang="en-US" smtClean="0"/>
              <a:t>15</a:t>
            </a:fld>
            <a:endParaRPr lang="zh-CN" altLang="en-US" dirty="0"/>
          </a:p>
        </p:txBody>
      </p:sp>
      <p:sp>
        <p:nvSpPr>
          <p:cNvPr id="5" name="标题 4"/>
          <p:cNvSpPr>
            <a:spLocks noGrp="1"/>
          </p:cNvSpPr>
          <p:nvPr>
            <p:ph type="title"/>
          </p:nvPr>
        </p:nvSpPr>
        <p:spPr>
          <a:xfrm>
            <a:off x="162370" y="80984"/>
            <a:ext cx="6390829" cy="474662"/>
          </a:xfrm>
        </p:spPr>
        <p:txBody>
          <a:bodyPr>
            <a:normAutofit fontScale="90000"/>
          </a:bodyPr>
          <a:lstStyle/>
          <a:p>
            <a:r>
              <a:rPr lang="zh-CN" altLang="en-US" dirty="0"/>
              <a:t>一手房</a:t>
            </a:r>
            <a:r>
              <a:rPr lang="en-US" altLang="zh-CN" dirty="0"/>
              <a:t>|</a:t>
            </a:r>
            <a:r>
              <a:rPr lang="zh-CN" altLang="en-US" sz="2000" dirty="0">
                <a:solidFill>
                  <a:schemeClr val="tx1"/>
                </a:solidFill>
                <a:latin typeface="微软雅黑" pitchFamily="34" charset="-122"/>
                <a:ea typeface="微软雅黑" pitchFamily="34" charset="-122"/>
              </a:rPr>
              <a:t>“国庆周”新房网签量优于去年同期，环比大幅下降</a:t>
            </a:r>
            <a:endParaRPr lang="zh-CN" altLang="en-US" sz="2000" dirty="0">
              <a:solidFill>
                <a:schemeClr val="tx1"/>
              </a:solidFill>
            </a:endParaRPr>
          </a:p>
        </p:txBody>
      </p:sp>
      <p:sp>
        <p:nvSpPr>
          <p:cNvPr id="9" name="TextBox 8"/>
          <p:cNvSpPr txBox="1"/>
          <p:nvPr/>
        </p:nvSpPr>
        <p:spPr>
          <a:xfrm>
            <a:off x="311832" y="6205696"/>
            <a:ext cx="6646154" cy="307777"/>
          </a:xfrm>
          <a:prstGeom prst="rect">
            <a:avLst/>
          </a:prstGeom>
          <a:noFill/>
        </p:spPr>
        <p:txBody>
          <a:bodyPr wrap="square" rtlCol="0">
            <a:spAutoFit/>
          </a:bodyPr>
          <a:lstStyle/>
          <a:p>
            <a:r>
              <a:rPr lang="zh-CN" altLang="en-US" sz="1400" b="1" dirty="0">
                <a:latin typeface="+mj-ea"/>
                <a:ea typeface="+mj-ea"/>
              </a:rPr>
              <a:t>备注：一手房数据统计包含期房和现房，含自住房，剔除保障房、车位及其它</a:t>
            </a:r>
          </a:p>
        </p:txBody>
      </p:sp>
      <p:graphicFrame>
        <p:nvGraphicFramePr>
          <p:cNvPr id="6" name="图表 5"/>
          <p:cNvGraphicFramePr>
            <a:graphicFrameLocks/>
          </p:cNvGraphicFramePr>
          <p:nvPr>
            <p:extLst>
              <p:ext uri="{D42A27DB-BD31-4B8C-83A1-F6EECF244321}">
                <p14:modId xmlns:p14="http://schemas.microsoft.com/office/powerpoint/2010/main" val="501540946"/>
              </p:ext>
            </p:extLst>
          </p:nvPr>
        </p:nvGraphicFramePr>
        <p:xfrm>
          <a:off x="1053007" y="1150615"/>
          <a:ext cx="7045964" cy="290512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表格 3"/>
          <p:cNvGraphicFramePr>
            <a:graphicFrameLocks noGrp="1"/>
          </p:cNvGraphicFramePr>
          <p:nvPr>
            <p:extLst>
              <p:ext uri="{D42A27DB-BD31-4B8C-83A1-F6EECF244321}">
                <p14:modId xmlns:p14="http://schemas.microsoft.com/office/powerpoint/2010/main" val="3907165259"/>
              </p:ext>
            </p:extLst>
          </p:nvPr>
        </p:nvGraphicFramePr>
        <p:xfrm>
          <a:off x="1366188" y="4916617"/>
          <a:ext cx="6625905" cy="1056656"/>
        </p:xfrm>
        <a:graphic>
          <a:graphicData uri="http://schemas.openxmlformats.org/drawingml/2006/table">
            <a:tbl>
              <a:tblPr>
                <a:tableStyleId>{5C22544A-7EE6-4342-B048-85BDC9FD1C3A}</a:tableStyleId>
              </a:tblPr>
              <a:tblGrid>
                <a:gridCol w="1325181">
                  <a:extLst>
                    <a:ext uri="{9D8B030D-6E8A-4147-A177-3AD203B41FA5}">
                      <a16:colId xmlns:a16="http://schemas.microsoft.com/office/drawing/2014/main" val="20000"/>
                    </a:ext>
                  </a:extLst>
                </a:gridCol>
                <a:gridCol w="1084984">
                  <a:extLst>
                    <a:ext uri="{9D8B030D-6E8A-4147-A177-3AD203B41FA5}">
                      <a16:colId xmlns:a16="http://schemas.microsoft.com/office/drawing/2014/main" val="20001"/>
                    </a:ext>
                  </a:extLst>
                </a:gridCol>
                <a:gridCol w="1330037">
                  <a:extLst>
                    <a:ext uri="{9D8B030D-6E8A-4147-A177-3AD203B41FA5}">
                      <a16:colId xmlns:a16="http://schemas.microsoft.com/office/drawing/2014/main" val="20002"/>
                    </a:ext>
                  </a:extLst>
                </a:gridCol>
                <a:gridCol w="1531916">
                  <a:extLst>
                    <a:ext uri="{9D8B030D-6E8A-4147-A177-3AD203B41FA5}">
                      <a16:colId xmlns:a16="http://schemas.microsoft.com/office/drawing/2014/main" val="20003"/>
                    </a:ext>
                  </a:extLst>
                </a:gridCol>
                <a:gridCol w="1353787">
                  <a:extLst>
                    <a:ext uri="{9D8B030D-6E8A-4147-A177-3AD203B41FA5}">
                      <a16:colId xmlns:a16="http://schemas.microsoft.com/office/drawing/2014/main" val="20004"/>
                    </a:ext>
                  </a:extLst>
                </a:gridCol>
              </a:tblGrid>
              <a:tr h="389603">
                <a:tc>
                  <a:txBody>
                    <a:bodyPr/>
                    <a:lstStyle/>
                    <a:p>
                      <a:pPr algn="ctr" fontAlgn="b"/>
                      <a:endParaRPr lang="zh-CN" altLang="en-US" sz="1200" b="0" i="0" u="none" strike="noStrike" dirty="0">
                        <a:solidFill>
                          <a:srgbClr val="000000"/>
                        </a:solidFill>
                        <a:effectLst/>
                        <a:latin typeface="微软雅黑" pitchFamily="34" charset="-122"/>
                        <a:ea typeface="微软雅黑" pitchFamily="34" charset="-122"/>
                      </a:endParaRPr>
                    </a:p>
                  </a:txBody>
                  <a:tcPr marL="9525" marR="9525" marT="9525" marB="0" anchor="b">
                    <a:solidFill>
                      <a:srgbClr val="0070C0"/>
                    </a:solidFill>
                  </a:tcPr>
                </a:tc>
                <a:tc>
                  <a:txBody>
                    <a:bodyPr/>
                    <a:lstStyle/>
                    <a:p>
                      <a:pPr algn="ctr" fontAlgn="ctr"/>
                      <a:r>
                        <a:rPr lang="zh-CN" altLang="en-US" sz="1200" b="1" u="none" strike="noStrike" dirty="0">
                          <a:solidFill>
                            <a:schemeClr val="bg1"/>
                          </a:solidFill>
                          <a:effectLst/>
                          <a:latin typeface="微软雅黑" pitchFamily="34" charset="-122"/>
                          <a:ea typeface="微软雅黑" pitchFamily="34" charset="-122"/>
                        </a:rPr>
                        <a:t>成交套数</a:t>
                      </a:r>
                      <a:endParaRPr lang="zh-CN" altLang="en-US" sz="1200" b="1" i="0" u="none" strike="noStrike" dirty="0">
                        <a:solidFill>
                          <a:schemeClr val="bg1"/>
                        </a:solidFill>
                        <a:effectLst/>
                        <a:latin typeface="微软雅黑" pitchFamily="34" charset="-122"/>
                        <a:ea typeface="微软雅黑" pitchFamily="34" charset="-122"/>
                      </a:endParaRPr>
                    </a:p>
                  </a:txBody>
                  <a:tcPr marL="9525" marR="9525" marT="9525" marB="0" anchor="ctr">
                    <a:solidFill>
                      <a:srgbClr val="0070C0"/>
                    </a:solidFill>
                  </a:tcPr>
                </a:tc>
                <a:tc>
                  <a:txBody>
                    <a:bodyPr/>
                    <a:lstStyle/>
                    <a:p>
                      <a:pPr algn="ctr" fontAlgn="ctr"/>
                      <a:r>
                        <a:rPr lang="zh-CN" altLang="en-US" sz="1200" b="1" u="none" strike="noStrike" dirty="0">
                          <a:solidFill>
                            <a:schemeClr val="bg1"/>
                          </a:solidFill>
                          <a:effectLst/>
                          <a:latin typeface="微软雅黑" pitchFamily="34" charset="-122"/>
                          <a:ea typeface="微软雅黑" pitchFamily="34" charset="-122"/>
                        </a:rPr>
                        <a:t>成交面积</a:t>
                      </a:r>
                      <a:r>
                        <a:rPr lang="en-US" altLang="zh-CN" sz="1200" b="1" u="none" strike="noStrike" dirty="0">
                          <a:solidFill>
                            <a:schemeClr val="bg1"/>
                          </a:solidFill>
                          <a:effectLst/>
                          <a:latin typeface="微软雅黑" pitchFamily="34" charset="-122"/>
                          <a:ea typeface="微软雅黑" pitchFamily="34" charset="-122"/>
                        </a:rPr>
                        <a:t>(</a:t>
                      </a:r>
                      <a:r>
                        <a:rPr lang="zh-CN" altLang="en-US" sz="1200" b="1" u="none" strike="noStrike" dirty="0">
                          <a:solidFill>
                            <a:schemeClr val="bg1"/>
                          </a:solidFill>
                          <a:effectLst/>
                          <a:latin typeface="微软雅黑" pitchFamily="34" charset="-122"/>
                          <a:ea typeface="微软雅黑" pitchFamily="34" charset="-122"/>
                        </a:rPr>
                        <a:t>万㎡</a:t>
                      </a:r>
                      <a:r>
                        <a:rPr lang="en-US" altLang="zh-CN" sz="1200" b="1" u="none" strike="noStrike" dirty="0">
                          <a:solidFill>
                            <a:schemeClr val="bg1"/>
                          </a:solidFill>
                          <a:effectLst/>
                          <a:latin typeface="微软雅黑" pitchFamily="34" charset="-122"/>
                          <a:ea typeface="微软雅黑" pitchFamily="34" charset="-122"/>
                        </a:rPr>
                        <a:t>)</a:t>
                      </a:r>
                      <a:endParaRPr lang="en-US" altLang="zh-CN" sz="1200" b="1" i="0" u="none" strike="noStrike" dirty="0">
                        <a:solidFill>
                          <a:schemeClr val="bg1"/>
                        </a:solidFill>
                        <a:effectLst/>
                        <a:latin typeface="微软雅黑" pitchFamily="34" charset="-122"/>
                        <a:ea typeface="微软雅黑" pitchFamily="34" charset="-122"/>
                      </a:endParaRPr>
                    </a:p>
                  </a:txBody>
                  <a:tcPr marL="9525" marR="9525" marT="9525" marB="0" anchor="ctr">
                    <a:solidFill>
                      <a:srgbClr val="0070C0"/>
                    </a:solidFill>
                  </a:tcPr>
                </a:tc>
                <a:tc>
                  <a:txBody>
                    <a:bodyPr/>
                    <a:lstStyle/>
                    <a:p>
                      <a:pPr algn="ctr" fontAlgn="ctr"/>
                      <a:r>
                        <a:rPr lang="zh-CN" altLang="en-US" sz="1200" b="1" u="none" strike="noStrike" dirty="0">
                          <a:solidFill>
                            <a:schemeClr val="bg1"/>
                          </a:solidFill>
                          <a:effectLst/>
                          <a:latin typeface="微软雅黑" pitchFamily="34" charset="-122"/>
                          <a:ea typeface="微软雅黑" pitchFamily="34" charset="-122"/>
                        </a:rPr>
                        <a:t>成交均价</a:t>
                      </a:r>
                      <a:r>
                        <a:rPr lang="en-US" altLang="zh-CN" sz="1200" b="1" u="none" strike="noStrike" dirty="0">
                          <a:solidFill>
                            <a:schemeClr val="bg1"/>
                          </a:solidFill>
                          <a:effectLst/>
                          <a:latin typeface="微软雅黑" pitchFamily="34" charset="-122"/>
                          <a:ea typeface="微软雅黑" pitchFamily="34" charset="-122"/>
                        </a:rPr>
                        <a:t>(</a:t>
                      </a:r>
                      <a:r>
                        <a:rPr lang="zh-CN" altLang="en-US" sz="1200" b="1" u="none" strike="noStrike" dirty="0">
                          <a:solidFill>
                            <a:schemeClr val="bg1"/>
                          </a:solidFill>
                          <a:effectLst/>
                          <a:latin typeface="微软雅黑" pitchFamily="34" charset="-122"/>
                          <a:ea typeface="微软雅黑" pitchFamily="34" charset="-122"/>
                        </a:rPr>
                        <a:t>元</a:t>
                      </a:r>
                      <a:r>
                        <a:rPr lang="en-US" altLang="zh-CN" sz="1200" b="1" u="none" strike="noStrike" dirty="0">
                          <a:solidFill>
                            <a:schemeClr val="bg1"/>
                          </a:solidFill>
                          <a:effectLst/>
                          <a:latin typeface="微软雅黑" pitchFamily="34" charset="-122"/>
                          <a:ea typeface="微软雅黑" pitchFamily="34" charset="-122"/>
                        </a:rPr>
                        <a:t>/㎡)</a:t>
                      </a:r>
                      <a:endParaRPr lang="en-US" altLang="zh-CN" sz="1200" b="1" i="0" u="none" strike="noStrike" dirty="0">
                        <a:solidFill>
                          <a:schemeClr val="bg1"/>
                        </a:solidFill>
                        <a:effectLst/>
                        <a:latin typeface="微软雅黑" pitchFamily="34" charset="-122"/>
                        <a:ea typeface="微软雅黑" pitchFamily="34" charset="-122"/>
                      </a:endParaRPr>
                    </a:p>
                  </a:txBody>
                  <a:tcPr marL="9525" marR="9525" marT="9525" marB="0" anchor="ctr">
                    <a:solidFill>
                      <a:srgbClr val="0070C0"/>
                    </a:solidFill>
                  </a:tcPr>
                </a:tc>
                <a:tc>
                  <a:txBody>
                    <a:bodyPr/>
                    <a:lstStyle/>
                    <a:p>
                      <a:pPr algn="ctr" fontAlgn="ctr"/>
                      <a:r>
                        <a:rPr lang="zh-CN" altLang="en-US" sz="1200" b="1" u="none" strike="noStrike" dirty="0">
                          <a:solidFill>
                            <a:schemeClr val="bg1"/>
                          </a:solidFill>
                          <a:effectLst/>
                          <a:latin typeface="微软雅黑" pitchFamily="34" charset="-122"/>
                          <a:ea typeface="微软雅黑" pitchFamily="34" charset="-122"/>
                        </a:rPr>
                        <a:t>成交金额</a:t>
                      </a:r>
                      <a:r>
                        <a:rPr lang="en-US" altLang="zh-CN" sz="1200" b="1" u="none" strike="noStrike" dirty="0">
                          <a:solidFill>
                            <a:schemeClr val="bg1"/>
                          </a:solidFill>
                          <a:effectLst/>
                          <a:latin typeface="微软雅黑" pitchFamily="34" charset="-122"/>
                          <a:ea typeface="微软雅黑" pitchFamily="34" charset="-122"/>
                        </a:rPr>
                        <a:t>(</a:t>
                      </a:r>
                      <a:r>
                        <a:rPr lang="zh-CN" altLang="en-US" sz="1200" b="1" u="none" strike="noStrike" dirty="0">
                          <a:solidFill>
                            <a:schemeClr val="bg1"/>
                          </a:solidFill>
                          <a:effectLst/>
                          <a:latin typeface="微软雅黑" pitchFamily="34" charset="-122"/>
                          <a:ea typeface="微软雅黑" pitchFamily="34" charset="-122"/>
                        </a:rPr>
                        <a:t>亿元</a:t>
                      </a:r>
                      <a:r>
                        <a:rPr lang="en-US" altLang="zh-CN" sz="1200" b="1" u="none" strike="noStrike" dirty="0">
                          <a:solidFill>
                            <a:schemeClr val="bg1"/>
                          </a:solidFill>
                          <a:effectLst/>
                          <a:latin typeface="微软雅黑" pitchFamily="34" charset="-122"/>
                          <a:ea typeface="微软雅黑" pitchFamily="34" charset="-122"/>
                        </a:rPr>
                        <a:t>)</a:t>
                      </a:r>
                      <a:endParaRPr lang="en-US" altLang="zh-CN" sz="1200" b="1" i="0" u="none" strike="noStrike" dirty="0">
                        <a:solidFill>
                          <a:schemeClr val="bg1"/>
                        </a:solidFill>
                        <a:effectLst/>
                        <a:latin typeface="微软雅黑" pitchFamily="34" charset="-122"/>
                        <a:ea typeface="微软雅黑" pitchFamily="34" charset="-122"/>
                      </a:endParaRPr>
                    </a:p>
                  </a:txBody>
                  <a:tcPr marL="9525" marR="9525" marT="9525" marB="0" anchor="ctr">
                    <a:solidFill>
                      <a:srgbClr val="0070C0"/>
                    </a:solidFill>
                  </a:tcPr>
                </a:tc>
                <a:extLst>
                  <a:ext uri="{0D108BD9-81ED-4DB2-BD59-A6C34878D82A}">
                    <a16:rowId xmlns:a16="http://schemas.microsoft.com/office/drawing/2014/main" val="10000"/>
                  </a:ext>
                </a:extLst>
              </a:tr>
              <a:tr h="219595">
                <a:tc>
                  <a:txBody>
                    <a:bodyPr/>
                    <a:lstStyle/>
                    <a:p>
                      <a:pPr algn="ctr" fontAlgn="b"/>
                      <a:r>
                        <a:rPr lang="en-US" altLang="zh-CN" sz="1200" u="none" strike="noStrike">
                          <a:effectLst/>
                          <a:latin typeface="微软雅黑" pitchFamily="34" charset="-122"/>
                          <a:ea typeface="微软雅黑" pitchFamily="34" charset="-122"/>
                        </a:rPr>
                        <a:t>2016“</a:t>
                      </a:r>
                      <a:r>
                        <a:rPr lang="zh-CN" altLang="en-US" sz="1200" u="none" strike="noStrike">
                          <a:effectLst/>
                          <a:latin typeface="微软雅黑" pitchFamily="34" charset="-122"/>
                          <a:ea typeface="微软雅黑" pitchFamily="34" charset="-122"/>
                        </a:rPr>
                        <a:t>国庆周”</a:t>
                      </a:r>
                      <a:endParaRPr lang="zh-CN" altLang="en-US" sz="1200" b="0" i="0" u="none" strike="noStrike">
                        <a:solidFill>
                          <a:srgbClr val="000000"/>
                        </a:solidFill>
                        <a:effectLst/>
                        <a:latin typeface="微软雅黑" pitchFamily="34" charset="-122"/>
                        <a:ea typeface="微软雅黑" pitchFamily="34" charset="-122"/>
                      </a:endParaRPr>
                    </a:p>
                  </a:txBody>
                  <a:tcPr marL="9525" marR="9525" marT="9525" marB="0" anchor="b"/>
                </a:tc>
                <a:tc>
                  <a:txBody>
                    <a:bodyPr/>
                    <a:lstStyle/>
                    <a:p>
                      <a:pPr algn="ctr" fontAlgn="ctr"/>
                      <a:r>
                        <a:rPr lang="en-US" altLang="zh-CN" sz="1200" u="none" strike="noStrike">
                          <a:effectLst/>
                          <a:latin typeface="微软雅黑" pitchFamily="34" charset="-122"/>
                          <a:ea typeface="微软雅黑" pitchFamily="34" charset="-122"/>
                        </a:rPr>
                        <a:t>1437</a:t>
                      </a:r>
                      <a:endParaRPr lang="en-US" altLang="zh-CN" sz="12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200" u="none" strike="noStrike">
                          <a:effectLst/>
                          <a:latin typeface="微软雅黑" pitchFamily="34" charset="-122"/>
                          <a:ea typeface="微软雅黑" pitchFamily="34" charset="-122"/>
                        </a:rPr>
                        <a:t>14.9</a:t>
                      </a:r>
                      <a:endParaRPr lang="en-US" altLang="zh-CN" sz="12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200" u="none" strike="noStrike">
                          <a:effectLst/>
                          <a:latin typeface="微软雅黑" pitchFamily="34" charset="-122"/>
                          <a:ea typeface="微软雅黑" pitchFamily="34" charset="-122"/>
                        </a:rPr>
                        <a:t>44446</a:t>
                      </a:r>
                      <a:endParaRPr lang="en-US" altLang="zh-CN" sz="12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200" u="none" strike="noStrike">
                          <a:effectLst/>
                          <a:latin typeface="微软雅黑" pitchFamily="34" charset="-122"/>
                          <a:ea typeface="微软雅黑" pitchFamily="34" charset="-122"/>
                        </a:rPr>
                        <a:t>66.24</a:t>
                      </a:r>
                      <a:endParaRPr lang="en-US" altLang="zh-CN" sz="1200" b="0" i="0" u="none" strike="noStrike">
                        <a:solidFill>
                          <a:srgbClr val="000000"/>
                        </a:solidFill>
                        <a:effectLst/>
                        <a:latin typeface="微软雅黑" pitchFamily="34" charset="-122"/>
                        <a:ea typeface="微软雅黑" pitchFamily="34" charset="-122"/>
                      </a:endParaRPr>
                    </a:p>
                  </a:txBody>
                  <a:tcPr marL="9525" marR="9525" marT="9525" marB="0" anchor="ctr"/>
                </a:tc>
                <a:extLst>
                  <a:ext uri="{0D108BD9-81ED-4DB2-BD59-A6C34878D82A}">
                    <a16:rowId xmlns:a16="http://schemas.microsoft.com/office/drawing/2014/main" val="10001"/>
                  </a:ext>
                </a:extLst>
              </a:tr>
              <a:tr h="224317">
                <a:tc>
                  <a:txBody>
                    <a:bodyPr/>
                    <a:lstStyle/>
                    <a:p>
                      <a:pPr algn="ctr" fontAlgn="b"/>
                      <a:r>
                        <a:rPr lang="zh-CN" altLang="en-US" sz="1200" u="none" strike="noStrike">
                          <a:effectLst/>
                          <a:latin typeface="微软雅黑" pitchFamily="34" charset="-122"/>
                          <a:ea typeface="微软雅黑" pitchFamily="34" charset="-122"/>
                        </a:rPr>
                        <a:t>上周</a:t>
                      </a:r>
                      <a:endParaRPr lang="zh-CN" altLang="en-US" sz="1200" b="0" i="0" u="none" strike="noStrike">
                        <a:solidFill>
                          <a:srgbClr val="000000"/>
                        </a:solidFill>
                        <a:effectLst/>
                        <a:latin typeface="微软雅黑" pitchFamily="34" charset="-122"/>
                        <a:ea typeface="微软雅黑" pitchFamily="34" charset="-122"/>
                      </a:endParaRPr>
                    </a:p>
                  </a:txBody>
                  <a:tcPr marL="9525" marR="9525" marT="9525" marB="0" anchor="b"/>
                </a:tc>
                <a:tc>
                  <a:txBody>
                    <a:bodyPr/>
                    <a:lstStyle/>
                    <a:p>
                      <a:pPr algn="ctr" fontAlgn="ctr"/>
                      <a:r>
                        <a:rPr lang="en-US" altLang="zh-CN" sz="1200" u="none" strike="noStrike">
                          <a:effectLst/>
                          <a:latin typeface="微软雅黑" pitchFamily="34" charset="-122"/>
                          <a:ea typeface="微软雅黑" pitchFamily="34" charset="-122"/>
                        </a:rPr>
                        <a:t>5797</a:t>
                      </a:r>
                      <a:endParaRPr lang="en-US" altLang="zh-CN" sz="12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200" u="none" strike="noStrike">
                          <a:effectLst/>
                          <a:latin typeface="微软雅黑" pitchFamily="34" charset="-122"/>
                          <a:ea typeface="微软雅黑" pitchFamily="34" charset="-122"/>
                        </a:rPr>
                        <a:t>56.11</a:t>
                      </a:r>
                      <a:endParaRPr lang="en-US" altLang="zh-CN" sz="12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200" u="none" strike="noStrike">
                          <a:effectLst/>
                          <a:latin typeface="微软雅黑" pitchFamily="34" charset="-122"/>
                          <a:ea typeface="微软雅黑" pitchFamily="34" charset="-122"/>
                        </a:rPr>
                        <a:t>38642</a:t>
                      </a:r>
                      <a:endParaRPr lang="en-US" altLang="zh-CN" sz="12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200" u="none" strike="noStrike">
                          <a:effectLst/>
                          <a:latin typeface="微软雅黑" pitchFamily="34" charset="-122"/>
                          <a:ea typeface="微软雅黑" pitchFamily="34" charset="-122"/>
                        </a:rPr>
                        <a:t>216.8</a:t>
                      </a:r>
                      <a:endParaRPr lang="en-US" altLang="zh-CN" sz="1200" b="0" i="0" u="none" strike="noStrike">
                        <a:solidFill>
                          <a:srgbClr val="000000"/>
                        </a:solidFill>
                        <a:effectLst/>
                        <a:latin typeface="微软雅黑" pitchFamily="34" charset="-122"/>
                        <a:ea typeface="微软雅黑" pitchFamily="34" charset="-122"/>
                      </a:endParaRPr>
                    </a:p>
                  </a:txBody>
                  <a:tcPr marL="9525" marR="9525" marT="9525" marB="0" anchor="ctr"/>
                </a:tc>
                <a:extLst>
                  <a:ext uri="{0D108BD9-81ED-4DB2-BD59-A6C34878D82A}">
                    <a16:rowId xmlns:a16="http://schemas.microsoft.com/office/drawing/2014/main" val="10002"/>
                  </a:ext>
                </a:extLst>
              </a:tr>
              <a:tr h="223141">
                <a:tc>
                  <a:txBody>
                    <a:bodyPr/>
                    <a:lstStyle/>
                    <a:p>
                      <a:pPr algn="ctr" fontAlgn="b"/>
                      <a:r>
                        <a:rPr lang="zh-CN" altLang="en-US" sz="1200" u="none" strike="noStrike">
                          <a:effectLst/>
                          <a:latin typeface="微软雅黑" pitchFamily="34" charset="-122"/>
                          <a:ea typeface="微软雅黑" pitchFamily="34" charset="-122"/>
                        </a:rPr>
                        <a:t>环比</a:t>
                      </a:r>
                      <a:endParaRPr lang="zh-CN" altLang="en-US" sz="1200" b="0" i="0" u="none" strike="noStrike">
                        <a:solidFill>
                          <a:srgbClr val="000000"/>
                        </a:solidFill>
                        <a:effectLst/>
                        <a:latin typeface="微软雅黑" pitchFamily="34" charset="-122"/>
                        <a:ea typeface="微软雅黑" pitchFamily="34" charset="-122"/>
                      </a:endParaRPr>
                    </a:p>
                  </a:txBody>
                  <a:tcPr marL="9525" marR="9525" marT="9525" marB="0" anchor="b"/>
                </a:tc>
                <a:tc>
                  <a:txBody>
                    <a:bodyPr/>
                    <a:lstStyle/>
                    <a:p>
                      <a:pPr algn="ctr" fontAlgn="b"/>
                      <a:r>
                        <a:rPr lang="en-US" altLang="zh-CN" sz="1200" u="none" strike="noStrike">
                          <a:effectLst/>
                          <a:latin typeface="微软雅黑" pitchFamily="34" charset="-122"/>
                          <a:ea typeface="微软雅黑" pitchFamily="34" charset="-122"/>
                        </a:rPr>
                        <a:t>-75%</a:t>
                      </a:r>
                      <a:endParaRPr lang="en-US" altLang="zh-CN" sz="1200" b="0" i="0" u="none" strike="noStrike">
                        <a:solidFill>
                          <a:srgbClr val="000000"/>
                        </a:solidFill>
                        <a:effectLst/>
                        <a:latin typeface="微软雅黑" pitchFamily="34" charset="-122"/>
                        <a:ea typeface="微软雅黑" pitchFamily="34" charset="-122"/>
                      </a:endParaRPr>
                    </a:p>
                  </a:txBody>
                  <a:tcPr marL="9525" marR="9525" marT="9525" marB="0" anchor="b"/>
                </a:tc>
                <a:tc>
                  <a:txBody>
                    <a:bodyPr/>
                    <a:lstStyle/>
                    <a:p>
                      <a:pPr algn="ctr" fontAlgn="b"/>
                      <a:r>
                        <a:rPr lang="en-US" altLang="zh-CN" sz="1200" u="none" strike="noStrike">
                          <a:effectLst/>
                          <a:latin typeface="微软雅黑" pitchFamily="34" charset="-122"/>
                          <a:ea typeface="微软雅黑" pitchFamily="34" charset="-122"/>
                        </a:rPr>
                        <a:t>-73%</a:t>
                      </a:r>
                      <a:endParaRPr lang="en-US" altLang="zh-CN" sz="1200" b="0" i="0" u="none" strike="noStrike">
                        <a:solidFill>
                          <a:srgbClr val="000000"/>
                        </a:solidFill>
                        <a:effectLst/>
                        <a:latin typeface="微软雅黑" pitchFamily="34" charset="-122"/>
                        <a:ea typeface="微软雅黑" pitchFamily="34" charset="-122"/>
                      </a:endParaRPr>
                    </a:p>
                  </a:txBody>
                  <a:tcPr marL="9525" marR="9525" marT="9525" marB="0" anchor="b"/>
                </a:tc>
                <a:tc>
                  <a:txBody>
                    <a:bodyPr/>
                    <a:lstStyle/>
                    <a:p>
                      <a:pPr algn="ctr" fontAlgn="b"/>
                      <a:r>
                        <a:rPr lang="en-US" altLang="zh-CN" sz="1200" u="none" strike="noStrike">
                          <a:effectLst/>
                          <a:latin typeface="微软雅黑" pitchFamily="34" charset="-122"/>
                          <a:ea typeface="微软雅黑" pitchFamily="34" charset="-122"/>
                        </a:rPr>
                        <a:t>15%</a:t>
                      </a:r>
                      <a:endParaRPr lang="en-US" altLang="zh-CN" sz="1200" b="0" i="0" u="none" strike="noStrike">
                        <a:solidFill>
                          <a:srgbClr val="000000"/>
                        </a:solidFill>
                        <a:effectLst/>
                        <a:latin typeface="微软雅黑" pitchFamily="34" charset="-122"/>
                        <a:ea typeface="微软雅黑" pitchFamily="34" charset="-122"/>
                      </a:endParaRPr>
                    </a:p>
                  </a:txBody>
                  <a:tcPr marL="9525" marR="9525" marT="9525" marB="0" anchor="b"/>
                </a:tc>
                <a:tc>
                  <a:txBody>
                    <a:bodyPr/>
                    <a:lstStyle/>
                    <a:p>
                      <a:pPr algn="ctr" fontAlgn="b"/>
                      <a:r>
                        <a:rPr lang="en-US" altLang="zh-CN" sz="1200" u="none" strike="noStrike" dirty="0">
                          <a:effectLst/>
                          <a:latin typeface="微软雅黑" pitchFamily="34" charset="-122"/>
                          <a:ea typeface="微软雅黑" pitchFamily="34" charset="-122"/>
                        </a:rPr>
                        <a:t>-69%</a:t>
                      </a:r>
                      <a:endParaRPr lang="en-US" altLang="zh-CN" sz="1200" b="0" i="0" u="none" strike="noStrike" dirty="0">
                        <a:solidFill>
                          <a:srgbClr val="000000"/>
                        </a:solidFill>
                        <a:effectLst/>
                        <a:latin typeface="微软雅黑" pitchFamily="34" charset="-122"/>
                        <a:ea typeface="微软雅黑" pitchFamily="34" charset="-122"/>
                      </a:endParaRPr>
                    </a:p>
                  </a:txBody>
                  <a:tcPr marL="9525" marR="9525" marT="9525" marB="0" anchor="b"/>
                </a:tc>
                <a:extLst>
                  <a:ext uri="{0D108BD9-81ED-4DB2-BD59-A6C34878D82A}">
                    <a16:rowId xmlns:a16="http://schemas.microsoft.com/office/drawing/2014/main" val="10003"/>
                  </a:ext>
                </a:extLst>
              </a:tr>
            </a:tbl>
          </a:graphicData>
        </a:graphic>
      </p:graphicFrame>
      <p:sp>
        <p:nvSpPr>
          <p:cNvPr id="8" name="矩形 7"/>
          <p:cNvSpPr/>
          <p:nvPr/>
        </p:nvSpPr>
        <p:spPr>
          <a:xfrm>
            <a:off x="2456140" y="4418047"/>
            <a:ext cx="4339650" cy="369332"/>
          </a:xfrm>
          <a:prstGeom prst="rect">
            <a:avLst/>
          </a:prstGeom>
        </p:spPr>
        <p:txBody>
          <a:bodyPr wrap="none">
            <a:spAutoFit/>
          </a:bodyPr>
          <a:lstStyle/>
          <a:p>
            <a:pPr algn="ctr"/>
            <a:r>
              <a:rPr lang="zh-CN" altLang="en-US" b="1" dirty="0">
                <a:latin typeface="微软雅黑" pitchFamily="34" charset="-122"/>
                <a:ea typeface="微软雅黑" pitchFamily="34" charset="-122"/>
              </a:rPr>
              <a:t>北京“国庆周”一手房量价环比变化情况</a:t>
            </a:r>
          </a:p>
        </p:txBody>
      </p:sp>
    </p:spTree>
    <p:extLst>
      <p:ext uri="{BB962C8B-B14F-4D97-AF65-F5344CB8AC3E}">
        <p14:creationId xmlns:p14="http://schemas.microsoft.com/office/powerpoint/2010/main" val="41832162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图表 14"/>
          <p:cNvGraphicFramePr>
            <a:graphicFrameLocks/>
          </p:cNvGraphicFramePr>
          <p:nvPr>
            <p:extLst>
              <p:ext uri="{D42A27DB-BD31-4B8C-83A1-F6EECF244321}">
                <p14:modId xmlns:p14="http://schemas.microsoft.com/office/powerpoint/2010/main" val="4433702"/>
              </p:ext>
            </p:extLst>
          </p:nvPr>
        </p:nvGraphicFramePr>
        <p:xfrm>
          <a:off x="1246909" y="3497266"/>
          <a:ext cx="6721434" cy="31623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图表 9"/>
          <p:cNvGraphicFramePr>
            <a:graphicFrameLocks/>
          </p:cNvGraphicFramePr>
          <p:nvPr>
            <p:extLst>
              <p:ext uri="{D42A27DB-BD31-4B8C-83A1-F6EECF244321}">
                <p14:modId xmlns:p14="http://schemas.microsoft.com/office/powerpoint/2010/main" val="4228489623"/>
              </p:ext>
            </p:extLst>
          </p:nvPr>
        </p:nvGraphicFramePr>
        <p:xfrm>
          <a:off x="1330036" y="739510"/>
          <a:ext cx="6470769" cy="2737428"/>
        </p:xfrm>
        <a:graphic>
          <a:graphicData uri="http://schemas.openxmlformats.org/drawingml/2006/chart">
            <c:chart xmlns:c="http://schemas.openxmlformats.org/drawingml/2006/chart" xmlns:r="http://schemas.openxmlformats.org/officeDocument/2006/relationships" r:id="rId3"/>
          </a:graphicData>
        </a:graphic>
      </p:graphicFrame>
      <p:sp>
        <p:nvSpPr>
          <p:cNvPr id="2" name="幻灯片编号占位符 1"/>
          <p:cNvSpPr>
            <a:spLocks noGrp="1"/>
          </p:cNvSpPr>
          <p:nvPr>
            <p:ph type="sldNum" sz="quarter" idx="4"/>
          </p:nvPr>
        </p:nvSpPr>
        <p:spPr/>
        <p:txBody>
          <a:bodyPr/>
          <a:lstStyle/>
          <a:p>
            <a:pPr>
              <a:defRPr/>
            </a:pPr>
            <a:fld id="{3E8B6F27-EC4F-B34E-9F32-10CC92E9AB18}" type="slidenum">
              <a:rPr lang="zh-CN" altLang="en-US" smtClean="0"/>
              <a:t>16</a:t>
            </a:fld>
            <a:endParaRPr lang="zh-CN" altLang="en-US" dirty="0"/>
          </a:p>
        </p:txBody>
      </p:sp>
      <p:sp>
        <p:nvSpPr>
          <p:cNvPr id="5" name="标题 4"/>
          <p:cNvSpPr>
            <a:spLocks noGrp="1"/>
          </p:cNvSpPr>
          <p:nvPr>
            <p:ph type="title"/>
          </p:nvPr>
        </p:nvSpPr>
        <p:spPr/>
        <p:txBody>
          <a:bodyPr>
            <a:normAutofit/>
          </a:bodyPr>
          <a:lstStyle/>
          <a:p>
            <a:r>
              <a:rPr lang="zh-CN" altLang="en-US" dirty="0"/>
              <a:t>一手房</a:t>
            </a:r>
            <a:r>
              <a:rPr lang="en-US" altLang="zh-CN" dirty="0"/>
              <a:t>| </a:t>
            </a:r>
            <a:r>
              <a:rPr lang="zh-CN" altLang="en-US" sz="1800" dirty="0">
                <a:latin typeface="+mj-ea"/>
              </a:rPr>
              <a:t>公寓交易量止跌为升，自住房则大跌</a:t>
            </a:r>
            <a:endParaRPr lang="zh-CN" altLang="en-US" sz="1800" dirty="0"/>
          </a:p>
        </p:txBody>
      </p:sp>
      <p:sp>
        <p:nvSpPr>
          <p:cNvPr id="3" name="矩形 2"/>
          <p:cNvSpPr/>
          <p:nvPr/>
        </p:nvSpPr>
        <p:spPr>
          <a:xfrm>
            <a:off x="3725224" y="1488929"/>
            <a:ext cx="1104404" cy="1717409"/>
          </a:xfrm>
          <a:prstGeom prst="rect">
            <a:avLst/>
          </a:prstGeom>
          <a:noFill/>
          <a:ln w="25400">
            <a:solidFill>
              <a:srgbClr val="FF0000"/>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4" name="矩形 3"/>
          <p:cNvSpPr/>
          <p:nvPr/>
        </p:nvSpPr>
        <p:spPr>
          <a:xfrm>
            <a:off x="3725224" y="2347633"/>
            <a:ext cx="1104404" cy="498764"/>
          </a:xfrm>
          <a:prstGeom prst="rect">
            <a:avLst/>
          </a:prstGeom>
          <a:solidFill>
            <a:schemeClr val="bg1">
              <a:lumMod val="65000"/>
              <a:alpha val="5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1400" b="1" dirty="0">
                <a:solidFill>
                  <a:schemeClr val="tx1"/>
                </a:solidFill>
                <a:latin typeface="微软雅黑" pitchFamily="34" charset="-122"/>
                <a:ea typeface="微软雅黑" pitchFamily="34" charset="-122"/>
              </a:rPr>
              <a:t>环比上升  </a:t>
            </a:r>
            <a:r>
              <a:rPr lang="en-US" altLang="zh-CN" sz="1400" b="1" dirty="0">
                <a:solidFill>
                  <a:schemeClr val="tx1"/>
                </a:solidFill>
                <a:latin typeface="微软雅黑" pitchFamily="34" charset="-122"/>
                <a:ea typeface="微软雅黑" pitchFamily="34" charset="-122"/>
              </a:rPr>
              <a:t>72.9%</a:t>
            </a:r>
            <a:endParaRPr lang="zh-CN" altLang="en-US" sz="1400" b="1" dirty="0">
              <a:solidFill>
                <a:schemeClr val="tx1"/>
              </a:solidFill>
              <a:latin typeface="微软雅黑" pitchFamily="34" charset="-122"/>
              <a:ea typeface="微软雅黑" pitchFamily="34" charset="-122"/>
            </a:endParaRPr>
          </a:p>
        </p:txBody>
      </p:sp>
      <p:cxnSp>
        <p:nvCxnSpPr>
          <p:cNvPr id="14" name="直接箭头连接符 13"/>
          <p:cNvCxnSpPr/>
          <p:nvPr/>
        </p:nvCxnSpPr>
        <p:spPr>
          <a:xfrm>
            <a:off x="6968792" y="2694918"/>
            <a:ext cx="275155" cy="302957"/>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6" name="矩形标注 5"/>
          <p:cNvSpPr/>
          <p:nvPr/>
        </p:nvSpPr>
        <p:spPr>
          <a:xfrm>
            <a:off x="7800805" y="4121625"/>
            <a:ext cx="1083888" cy="916088"/>
          </a:xfrm>
          <a:prstGeom prst="wedgeRectCallout">
            <a:avLst>
              <a:gd name="adj1" fmla="val -61339"/>
              <a:gd name="adj2" fmla="val 79521"/>
            </a:avLst>
          </a:prstGeom>
          <a:solidFill>
            <a:schemeClr val="bg1">
              <a:lumMod val="65000"/>
              <a:alpha val="44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400" b="1" dirty="0">
                <a:solidFill>
                  <a:schemeClr val="tx1"/>
                </a:solidFill>
                <a:latin typeface="微软雅黑" pitchFamily="34" charset="-122"/>
                <a:ea typeface="微软雅黑" pitchFamily="34" charset="-122"/>
              </a:rPr>
              <a:t>9</a:t>
            </a:r>
            <a:r>
              <a:rPr lang="zh-CN" altLang="en-US" sz="1400" b="1" dirty="0">
                <a:solidFill>
                  <a:schemeClr val="tx1"/>
                </a:solidFill>
                <a:latin typeface="微软雅黑" pitchFamily="34" charset="-122"/>
                <a:ea typeface="微软雅黑" pitchFamily="34" charset="-122"/>
              </a:rPr>
              <a:t>月公寓交易量占总成交量的一半</a:t>
            </a:r>
          </a:p>
        </p:txBody>
      </p:sp>
    </p:spTree>
    <p:extLst>
      <p:ext uri="{BB962C8B-B14F-4D97-AF65-F5344CB8AC3E}">
        <p14:creationId xmlns:p14="http://schemas.microsoft.com/office/powerpoint/2010/main" val="34782572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图表 14"/>
          <p:cNvGraphicFramePr>
            <a:graphicFrameLocks/>
          </p:cNvGraphicFramePr>
          <p:nvPr>
            <p:extLst>
              <p:ext uri="{D42A27DB-BD31-4B8C-83A1-F6EECF244321}">
                <p14:modId xmlns:p14="http://schemas.microsoft.com/office/powerpoint/2010/main" val="1731380104"/>
              </p:ext>
            </p:extLst>
          </p:nvPr>
        </p:nvGraphicFramePr>
        <p:xfrm>
          <a:off x="1671208" y="3583215"/>
          <a:ext cx="6187044" cy="2994148"/>
        </p:xfrm>
        <a:graphic>
          <a:graphicData uri="http://schemas.openxmlformats.org/drawingml/2006/chart">
            <c:chart xmlns:c="http://schemas.openxmlformats.org/drawingml/2006/chart" xmlns:r="http://schemas.openxmlformats.org/officeDocument/2006/relationships" r:id="rId2"/>
          </a:graphicData>
        </a:graphic>
      </p:graphicFrame>
      <p:sp>
        <p:nvSpPr>
          <p:cNvPr id="2" name="幻灯片编号占位符 1"/>
          <p:cNvSpPr>
            <a:spLocks noGrp="1"/>
          </p:cNvSpPr>
          <p:nvPr>
            <p:ph type="sldNum" sz="quarter" idx="4"/>
          </p:nvPr>
        </p:nvSpPr>
        <p:spPr>
          <a:xfrm>
            <a:off x="6716486" y="6356350"/>
            <a:ext cx="2133600" cy="365125"/>
          </a:xfrm>
        </p:spPr>
        <p:txBody>
          <a:bodyPr/>
          <a:lstStyle/>
          <a:p>
            <a:pPr>
              <a:defRPr/>
            </a:pPr>
            <a:fld id="{3E8B6F27-EC4F-B34E-9F32-10CC92E9AB18}" type="slidenum">
              <a:rPr lang="zh-CN" altLang="en-US" smtClean="0"/>
              <a:t>17</a:t>
            </a:fld>
            <a:endParaRPr lang="zh-CN" altLang="en-US" dirty="0"/>
          </a:p>
        </p:txBody>
      </p:sp>
      <p:sp>
        <p:nvSpPr>
          <p:cNvPr id="5" name="标题 4"/>
          <p:cNvSpPr>
            <a:spLocks noGrp="1"/>
          </p:cNvSpPr>
          <p:nvPr>
            <p:ph type="title"/>
          </p:nvPr>
        </p:nvSpPr>
        <p:spPr>
          <a:xfrm>
            <a:off x="24309" y="33484"/>
            <a:ext cx="6495243" cy="474662"/>
          </a:xfrm>
        </p:spPr>
        <p:txBody>
          <a:bodyPr>
            <a:normAutofit fontScale="90000"/>
          </a:bodyPr>
          <a:lstStyle/>
          <a:p>
            <a:r>
              <a:rPr lang="zh-CN" altLang="en-US" dirty="0"/>
              <a:t>一手房</a:t>
            </a:r>
            <a:r>
              <a:rPr lang="en-US" altLang="zh-CN" dirty="0"/>
              <a:t>|</a:t>
            </a:r>
            <a:r>
              <a:rPr lang="en-US" altLang="zh-CN" sz="1800" dirty="0"/>
              <a:t> </a:t>
            </a:r>
            <a:r>
              <a:rPr lang="zh-CN" altLang="en-US" sz="2000" dirty="0">
                <a:latin typeface="+mj-ea"/>
              </a:rPr>
              <a:t>各业态均价环比均上扬，普通住宅价格逼近</a:t>
            </a:r>
            <a:r>
              <a:rPr lang="en-US" altLang="zh-CN" sz="2000" dirty="0">
                <a:latin typeface="+mj-ea"/>
              </a:rPr>
              <a:t>4</a:t>
            </a:r>
            <a:r>
              <a:rPr lang="zh-CN" altLang="en-US" sz="2000" dirty="0">
                <a:latin typeface="+mj-ea"/>
              </a:rPr>
              <a:t>万</a:t>
            </a:r>
            <a:r>
              <a:rPr lang="en-US" altLang="zh-CN" sz="2000" dirty="0">
                <a:latin typeface="+mj-ea"/>
              </a:rPr>
              <a:t>/</a:t>
            </a:r>
            <a:r>
              <a:rPr lang="zh-CN" altLang="en-US" sz="2000" dirty="0">
                <a:latin typeface="+mj-ea"/>
              </a:rPr>
              <a:t>平</a:t>
            </a:r>
            <a:endParaRPr lang="zh-CN" altLang="en-US" sz="1300" dirty="0">
              <a:solidFill>
                <a:schemeClr val="tx1"/>
              </a:solidFill>
              <a:latin typeface="+mj-ea"/>
            </a:endParaRPr>
          </a:p>
        </p:txBody>
      </p:sp>
      <p:graphicFrame>
        <p:nvGraphicFramePr>
          <p:cNvPr id="14" name="图表 13"/>
          <p:cNvGraphicFramePr>
            <a:graphicFrameLocks/>
          </p:cNvGraphicFramePr>
          <p:nvPr>
            <p:extLst>
              <p:ext uri="{D42A27DB-BD31-4B8C-83A1-F6EECF244321}">
                <p14:modId xmlns:p14="http://schemas.microsoft.com/office/powerpoint/2010/main" val="1451473587"/>
              </p:ext>
            </p:extLst>
          </p:nvPr>
        </p:nvGraphicFramePr>
        <p:xfrm>
          <a:off x="1671208" y="689429"/>
          <a:ext cx="6071504" cy="28003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6407932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编号占位符 1"/>
          <p:cNvSpPr>
            <a:spLocks noGrp="1"/>
          </p:cNvSpPr>
          <p:nvPr>
            <p:ph type="sldNum" sz="quarter" idx="4"/>
          </p:nvPr>
        </p:nvSpPr>
        <p:spPr>
          <a:xfrm>
            <a:off x="6716486" y="6356350"/>
            <a:ext cx="2133600" cy="365125"/>
          </a:xfrm>
        </p:spPr>
        <p:txBody>
          <a:bodyPr/>
          <a:lstStyle/>
          <a:p>
            <a:pPr>
              <a:defRPr/>
            </a:pPr>
            <a:fld id="{3E8B6F27-EC4F-B34E-9F32-10CC92E9AB18}" type="slidenum">
              <a:rPr lang="zh-CN" altLang="en-US" smtClean="0"/>
              <a:t>18</a:t>
            </a:fld>
            <a:endParaRPr lang="zh-CN" altLang="en-US" dirty="0"/>
          </a:p>
        </p:txBody>
      </p:sp>
      <p:sp>
        <p:nvSpPr>
          <p:cNvPr id="5" name="标题 4"/>
          <p:cNvSpPr>
            <a:spLocks noGrp="1"/>
          </p:cNvSpPr>
          <p:nvPr>
            <p:ph type="title"/>
          </p:nvPr>
        </p:nvSpPr>
        <p:spPr>
          <a:xfrm>
            <a:off x="24310" y="33484"/>
            <a:ext cx="7184012" cy="474662"/>
          </a:xfrm>
        </p:spPr>
        <p:txBody>
          <a:bodyPr>
            <a:normAutofit/>
          </a:bodyPr>
          <a:lstStyle/>
          <a:p>
            <a:r>
              <a:rPr lang="zh-CN" altLang="en-US" dirty="0"/>
              <a:t>一手房</a:t>
            </a:r>
            <a:r>
              <a:rPr lang="en-US" altLang="zh-CN" dirty="0"/>
              <a:t>|</a:t>
            </a:r>
            <a:r>
              <a:rPr lang="zh-CN" altLang="en-US" sz="1800" dirty="0"/>
              <a:t>房山成今年新房主力军，大兴，通州，门头沟房价高企</a:t>
            </a:r>
            <a:endParaRPr lang="zh-CN" altLang="en-US" sz="1050" dirty="0">
              <a:solidFill>
                <a:srgbClr val="C00000"/>
              </a:solidFill>
            </a:endParaRPr>
          </a:p>
        </p:txBody>
      </p:sp>
      <p:graphicFrame>
        <p:nvGraphicFramePr>
          <p:cNvPr id="3" name="表格 2"/>
          <p:cNvGraphicFramePr>
            <a:graphicFrameLocks noGrp="1"/>
          </p:cNvGraphicFramePr>
          <p:nvPr>
            <p:extLst>
              <p:ext uri="{D42A27DB-BD31-4B8C-83A1-F6EECF244321}">
                <p14:modId xmlns:p14="http://schemas.microsoft.com/office/powerpoint/2010/main" val="1003130819"/>
              </p:ext>
            </p:extLst>
          </p:nvPr>
        </p:nvGraphicFramePr>
        <p:xfrm>
          <a:off x="1199409" y="2000356"/>
          <a:ext cx="6662057" cy="4355994"/>
        </p:xfrm>
        <a:graphic>
          <a:graphicData uri="http://schemas.openxmlformats.org/drawingml/2006/table">
            <a:tbl>
              <a:tblPr>
                <a:tableStyleId>{5C22544A-7EE6-4342-B048-85BDC9FD1C3A}</a:tableStyleId>
              </a:tblPr>
              <a:tblGrid>
                <a:gridCol w="928026">
                  <a:extLst>
                    <a:ext uri="{9D8B030D-6E8A-4147-A177-3AD203B41FA5}">
                      <a16:colId xmlns:a16="http://schemas.microsoft.com/office/drawing/2014/main" val="20000"/>
                    </a:ext>
                  </a:extLst>
                </a:gridCol>
                <a:gridCol w="928026">
                  <a:extLst>
                    <a:ext uri="{9D8B030D-6E8A-4147-A177-3AD203B41FA5}">
                      <a16:colId xmlns:a16="http://schemas.microsoft.com/office/drawing/2014/main" val="20001"/>
                    </a:ext>
                  </a:extLst>
                </a:gridCol>
                <a:gridCol w="928026">
                  <a:extLst>
                    <a:ext uri="{9D8B030D-6E8A-4147-A177-3AD203B41FA5}">
                      <a16:colId xmlns:a16="http://schemas.microsoft.com/office/drawing/2014/main" val="20002"/>
                    </a:ext>
                  </a:extLst>
                </a:gridCol>
                <a:gridCol w="928026">
                  <a:extLst>
                    <a:ext uri="{9D8B030D-6E8A-4147-A177-3AD203B41FA5}">
                      <a16:colId xmlns:a16="http://schemas.microsoft.com/office/drawing/2014/main" val="20003"/>
                    </a:ext>
                  </a:extLst>
                </a:gridCol>
                <a:gridCol w="928026">
                  <a:extLst>
                    <a:ext uri="{9D8B030D-6E8A-4147-A177-3AD203B41FA5}">
                      <a16:colId xmlns:a16="http://schemas.microsoft.com/office/drawing/2014/main" val="20004"/>
                    </a:ext>
                  </a:extLst>
                </a:gridCol>
                <a:gridCol w="928026">
                  <a:extLst>
                    <a:ext uri="{9D8B030D-6E8A-4147-A177-3AD203B41FA5}">
                      <a16:colId xmlns:a16="http://schemas.microsoft.com/office/drawing/2014/main" val="20005"/>
                    </a:ext>
                  </a:extLst>
                </a:gridCol>
                <a:gridCol w="1093901">
                  <a:extLst>
                    <a:ext uri="{9D8B030D-6E8A-4147-A177-3AD203B41FA5}">
                      <a16:colId xmlns:a16="http://schemas.microsoft.com/office/drawing/2014/main" val="20006"/>
                    </a:ext>
                  </a:extLst>
                </a:gridCol>
              </a:tblGrid>
              <a:tr h="508684">
                <a:tc>
                  <a:txBody>
                    <a:bodyPr/>
                    <a:lstStyle/>
                    <a:p>
                      <a:pPr algn="r" fontAlgn="ctr"/>
                      <a:r>
                        <a:rPr lang="zh-CN" altLang="en-US" sz="1200" b="1" u="sng" strike="noStrike" dirty="0">
                          <a:solidFill>
                            <a:schemeClr val="bg1"/>
                          </a:solidFill>
                          <a:effectLst/>
                        </a:rPr>
                        <a:t>　</a:t>
                      </a:r>
                      <a:endParaRPr lang="zh-CN" altLang="en-US" sz="1200" b="1" i="0" u="sng" strike="noStrike" dirty="0">
                        <a:solidFill>
                          <a:schemeClr val="bg1"/>
                        </a:solidFill>
                        <a:effectLst/>
                        <a:latin typeface="宋体"/>
                      </a:endParaRPr>
                    </a:p>
                  </a:txBody>
                  <a:tcPr marL="9525" marR="9525" marT="9525" marB="0" anchor="ctr">
                    <a:solidFill>
                      <a:srgbClr val="0070C0"/>
                    </a:solidFill>
                  </a:tcPr>
                </a:tc>
                <a:tc>
                  <a:txBody>
                    <a:bodyPr/>
                    <a:lstStyle/>
                    <a:p>
                      <a:pPr algn="ctr" fontAlgn="ctr"/>
                      <a:r>
                        <a:rPr lang="zh-CN" altLang="en-US" sz="1200" b="1" u="none" strike="noStrike" dirty="0">
                          <a:solidFill>
                            <a:schemeClr val="bg1"/>
                          </a:solidFill>
                          <a:effectLst/>
                          <a:latin typeface="微软雅黑" pitchFamily="34" charset="-122"/>
                          <a:ea typeface="微软雅黑" pitchFamily="34" charset="-122"/>
                        </a:rPr>
                        <a:t>成交套数（）</a:t>
                      </a:r>
                      <a:endParaRPr lang="zh-CN" altLang="en-US" sz="1200" b="1" i="0" u="none" strike="noStrike" dirty="0">
                        <a:solidFill>
                          <a:schemeClr val="bg1"/>
                        </a:solidFill>
                        <a:effectLst/>
                        <a:latin typeface="微软雅黑" pitchFamily="34" charset="-122"/>
                        <a:ea typeface="微软雅黑" pitchFamily="34" charset="-122"/>
                      </a:endParaRPr>
                    </a:p>
                  </a:txBody>
                  <a:tcPr marL="9525" marR="9525" marT="9525" marB="0" anchor="ctr">
                    <a:solidFill>
                      <a:srgbClr val="0070C0"/>
                    </a:solidFill>
                  </a:tcPr>
                </a:tc>
                <a:tc>
                  <a:txBody>
                    <a:bodyPr/>
                    <a:lstStyle/>
                    <a:p>
                      <a:pPr algn="ctr" fontAlgn="ctr"/>
                      <a:r>
                        <a:rPr lang="zh-CN" altLang="en-US" sz="1200" b="1" u="none" strike="noStrike" dirty="0">
                          <a:solidFill>
                            <a:schemeClr val="bg1"/>
                          </a:solidFill>
                          <a:effectLst/>
                          <a:latin typeface="微软雅黑" pitchFamily="34" charset="-122"/>
                          <a:ea typeface="微软雅黑" pitchFamily="34" charset="-122"/>
                        </a:rPr>
                        <a:t>成交面积</a:t>
                      </a:r>
                      <a:endParaRPr lang="en-US" altLang="zh-CN" sz="1200" b="1" u="none" strike="noStrike" dirty="0">
                        <a:solidFill>
                          <a:schemeClr val="bg1"/>
                        </a:solidFill>
                        <a:effectLst/>
                        <a:latin typeface="微软雅黑" pitchFamily="34" charset="-122"/>
                        <a:ea typeface="微软雅黑" pitchFamily="34" charset="-122"/>
                      </a:endParaRPr>
                    </a:p>
                    <a:p>
                      <a:pPr algn="ctr" fontAlgn="ctr"/>
                      <a:r>
                        <a:rPr lang="en-US" altLang="zh-CN" sz="1200" b="1" u="none" strike="noStrike" dirty="0">
                          <a:solidFill>
                            <a:schemeClr val="bg1"/>
                          </a:solidFill>
                          <a:effectLst/>
                          <a:latin typeface="微软雅黑" pitchFamily="34" charset="-122"/>
                          <a:ea typeface="微软雅黑" pitchFamily="34" charset="-122"/>
                        </a:rPr>
                        <a:t>(</a:t>
                      </a:r>
                      <a:r>
                        <a:rPr lang="zh-CN" altLang="en-US" sz="1200" b="1" u="none" strike="noStrike" dirty="0">
                          <a:solidFill>
                            <a:schemeClr val="bg1"/>
                          </a:solidFill>
                          <a:effectLst/>
                          <a:latin typeface="微软雅黑" pitchFamily="34" charset="-122"/>
                          <a:ea typeface="微软雅黑" pitchFamily="34" charset="-122"/>
                        </a:rPr>
                        <a:t>万㎡</a:t>
                      </a:r>
                      <a:r>
                        <a:rPr lang="en-US" altLang="zh-CN" sz="1200" b="1" u="none" strike="noStrike" dirty="0">
                          <a:solidFill>
                            <a:schemeClr val="bg1"/>
                          </a:solidFill>
                          <a:effectLst/>
                          <a:latin typeface="微软雅黑" pitchFamily="34" charset="-122"/>
                          <a:ea typeface="微软雅黑" pitchFamily="34" charset="-122"/>
                        </a:rPr>
                        <a:t>)</a:t>
                      </a:r>
                      <a:endParaRPr lang="en-US" altLang="zh-CN" sz="1200" b="1" i="0" u="none" strike="noStrike" dirty="0">
                        <a:solidFill>
                          <a:schemeClr val="bg1"/>
                        </a:solidFill>
                        <a:effectLst/>
                        <a:latin typeface="微软雅黑" pitchFamily="34" charset="-122"/>
                        <a:ea typeface="微软雅黑" pitchFamily="34" charset="-122"/>
                      </a:endParaRPr>
                    </a:p>
                  </a:txBody>
                  <a:tcPr marL="9525" marR="9525" marT="9525" marB="0" anchor="ctr">
                    <a:solidFill>
                      <a:srgbClr val="0070C0"/>
                    </a:solidFill>
                  </a:tcPr>
                </a:tc>
                <a:tc>
                  <a:txBody>
                    <a:bodyPr/>
                    <a:lstStyle/>
                    <a:p>
                      <a:pPr algn="ctr" fontAlgn="ctr"/>
                      <a:r>
                        <a:rPr lang="zh-CN" altLang="en-US" sz="1200" b="1" u="none" strike="noStrike" dirty="0">
                          <a:solidFill>
                            <a:schemeClr val="bg1"/>
                          </a:solidFill>
                          <a:effectLst/>
                          <a:latin typeface="微软雅黑" pitchFamily="34" charset="-122"/>
                          <a:ea typeface="微软雅黑" pitchFamily="34" charset="-122"/>
                        </a:rPr>
                        <a:t>成交均价</a:t>
                      </a:r>
                      <a:endParaRPr lang="en-US" altLang="zh-CN" sz="1200" b="1" u="none" strike="noStrike" dirty="0">
                        <a:solidFill>
                          <a:schemeClr val="bg1"/>
                        </a:solidFill>
                        <a:effectLst/>
                        <a:latin typeface="微软雅黑" pitchFamily="34" charset="-122"/>
                        <a:ea typeface="微软雅黑" pitchFamily="34" charset="-122"/>
                      </a:endParaRPr>
                    </a:p>
                    <a:p>
                      <a:pPr algn="ctr" fontAlgn="ctr"/>
                      <a:r>
                        <a:rPr lang="en-US" altLang="zh-CN" sz="1200" b="1" u="none" strike="noStrike" dirty="0">
                          <a:solidFill>
                            <a:schemeClr val="bg1"/>
                          </a:solidFill>
                          <a:effectLst/>
                          <a:latin typeface="微软雅黑" pitchFamily="34" charset="-122"/>
                          <a:ea typeface="微软雅黑" pitchFamily="34" charset="-122"/>
                        </a:rPr>
                        <a:t>(</a:t>
                      </a:r>
                      <a:r>
                        <a:rPr lang="zh-CN" altLang="en-US" sz="1200" b="1" u="none" strike="noStrike" dirty="0">
                          <a:solidFill>
                            <a:schemeClr val="bg1"/>
                          </a:solidFill>
                          <a:effectLst/>
                          <a:latin typeface="微软雅黑" pitchFamily="34" charset="-122"/>
                          <a:ea typeface="微软雅黑" pitchFamily="34" charset="-122"/>
                        </a:rPr>
                        <a:t>元</a:t>
                      </a:r>
                      <a:r>
                        <a:rPr lang="en-US" altLang="zh-CN" sz="1200" b="1" u="none" strike="noStrike" dirty="0">
                          <a:solidFill>
                            <a:schemeClr val="bg1"/>
                          </a:solidFill>
                          <a:effectLst/>
                          <a:latin typeface="微软雅黑" pitchFamily="34" charset="-122"/>
                          <a:ea typeface="微软雅黑" pitchFamily="34" charset="-122"/>
                        </a:rPr>
                        <a:t>/㎡)</a:t>
                      </a:r>
                      <a:endParaRPr lang="en-US" altLang="zh-CN" sz="1200" b="1" i="0" u="none" strike="noStrike" dirty="0">
                        <a:solidFill>
                          <a:schemeClr val="bg1"/>
                        </a:solidFill>
                        <a:effectLst/>
                        <a:latin typeface="微软雅黑" pitchFamily="34" charset="-122"/>
                        <a:ea typeface="微软雅黑" pitchFamily="34" charset="-122"/>
                      </a:endParaRPr>
                    </a:p>
                  </a:txBody>
                  <a:tcPr marL="9525" marR="9525" marT="9525" marB="0" anchor="ctr">
                    <a:solidFill>
                      <a:srgbClr val="0070C0"/>
                    </a:solidFill>
                  </a:tcPr>
                </a:tc>
                <a:tc>
                  <a:txBody>
                    <a:bodyPr/>
                    <a:lstStyle/>
                    <a:p>
                      <a:pPr algn="ctr" fontAlgn="ctr"/>
                      <a:r>
                        <a:rPr lang="zh-CN" altLang="en-US" sz="1200" b="1" u="none" strike="noStrike" dirty="0">
                          <a:solidFill>
                            <a:schemeClr val="bg1"/>
                          </a:solidFill>
                          <a:effectLst/>
                          <a:latin typeface="微软雅黑" pitchFamily="34" charset="-122"/>
                          <a:ea typeface="微软雅黑" pitchFamily="34" charset="-122"/>
                        </a:rPr>
                        <a:t>成交金额</a:t>
                      </a:r>
                      <a:endParaRPr lang="en-US" altLang="zh-CN" sz="1200" b="1" u="none" strike="noStrike" dirty="0">
                        <a:solidFill>
                          <a:schemeClr val="bg1"/>
                        </a:solidFill>
                        <a:effectLst/>
                        <a:latin typeface="微软雅黑" pitchFamily="34" charset="-122"/>
                        <a:ea typeface="微软雅黑" pitchFamily="34" charset="-122"/>
                      </a:endParaRPr>
                    </a:p>
                    <a:p>
                      <a:pPr algn="ctr" fontAlgn="ctr"/>
                      <a:r>
                        <a:rPr lang="en-US" altLang="zh-CN" sz="1200" b="1" u="none" strike="noStrike" dirty="0">
                          <a:solidFill>
                            <a:schemeClr val="bg1"/>
                          </a:solidFill>
                          <a:effectLst/>
                          <a:latin typeface="微软雅黑" pitchFamily="34" charset="-122"/>
                          <a:ea typeface="微软雅黑" pitchFamily="34" charset="-122"/>
                        </a:rPr>
                        <a:t>(</a:t>
                      </a:r>
                      <a:r>
                        <a:rPr lang="zh-CN" altLang="en-US" sz="1200" b="1" u="none" strike="noStrike" dirty="0">
                          <a:solidFill>
                            <a:schemeClr val="bg1"/>
                          </a:solidFill>
                          <a:effectLst/>
                          <a:latin typeface="微软雅黑" pitchFamily="34" charset="-122"/>
                          <a:ea typeface="微软雅黑" pitchFamily="34" charset="-122"/>
                        </a:rPr>
                        <a:t>亿元</a:t>
                      </a:r>
                      <a:r>
                        <a:rPr lang="en-US" altLang="zh-CN" sz="1200" b="1" u="none" strike="noStrike" dirty="0">
                          <a:solidFill>
                            <a:schemeClr val="bg1"/>
                          </a:solidFill>
                          <a:effectLst/>
                          <a:latin typeface="微软雅黑" pitchFamily="34" charset="-122"/>
                          <a:ea typeface="微软雅黑" pitchFamily="34" charset="-122"/>
                        </a:rPr>
                        <a:t>)</a:t>
                      </a:r>
                      <a:endParaRPr lang="en-US" altLang="zh-CN" sz="1200" b="1" i="0" u="none" strike="noStrike" dirty="0">
                        <a:solidFill>
                          <a:schemeClr val="bg1"/>
                        </a:solidFill>
                        <a:effectLst/>
                        <a:latin typeface="微软雅黑" pitchFamily="34" charset="-122"/>
                        <a:ea typeface="微软雅黑" pitchFamily="34" charset="-122"/>
                      </a:endParaRPr>
                    </a:p>
                  </a:txBody>
                  <a:tcPr marL="9525" marR="9525" marT="9525" marB="0" anchor="ctr">
                    <a:solidFill>
                      <a:srgbClr val="0070C0"/>
                    </a:solidFill>
                  </a:tcPr>
                </a:tc>
                <a:tc>
                  <a:txBody>
                    <a:bodyPr/>
                    <a:lstStyle/>
                    <a:p>
                      <a:pPr algn="ctr" fontAlgn="ctr"/>
                      <a:r>
                        <a:rPr lang="zh-CN" altLang="en-US" sz="1200" b="1" u="none" strike="noStrike" dirty="0">
                          <a:solidFill>
                            <a:schemeClr val="bg1"/>
                          </a:solidFill>
                          <a:effectLst/>
                          <a:latin typeface="微软雅黑" pitchFamily="34" charset="-122"/>
                          <a:ea typeface="微软雅黑" pitchFamily="34" charset="-122"/>
                        </a:rPr>
                        <a:t>存量套数</a:t>
                      </a:r>
                      <a:endParaRPr lang="zh-CN" altLang="en-US" sz="1200" b="1" i="0" u="none" strike="noStrike" dirty="0">
                        <a:solidFill>
                          <a:schemeClr val="bg1"/>
                        </a:solidFill>
                        <a:effectLst/>
                        <a:latin typeface="微软雅黑" pitchFamily="34" charset="-122"/>
                        <a:ea typeface="微软雅黑" pitchFamily="34" charset="-122"/>
                      </a:endParaRPr>
                    </a:p>
                  </a:txBody>
                  <a:tcPr marL="9525" marR="9525" marT="9525" marB="0" anchor="ctr">
                    <a:solidFill>
                      <a:srgbClr val="0070C0"/>
                    </a:solidFill>
                  </a:tcPr>
                </a:tc>
                <a:tc>
                  <a:txBody>
                    <a:bodyPr/>
                    <a:lstStyle/>
                    <a:p>
                      <a:pPr algn="ctr" fontAlgn="ctr"/>
                      <a:r>
                        <a:rPr lang="zh-CN" altLang="en-US" sz="1200" b="1" u="none" strike="noStrike" dirty="0">
                          <a:solidFill>
                            <a:schemeClr val="bg1"/>
                          </a:solidFill>
                          <a:effectLst/>
                          <a:latin typeface="微软雅黑" pitchFamily="34" charset="-122"/>
                          <a:ea typeface="微软雅黑" pitchFamily="34" charset="-122"/>
                        </a:rPr>
                        <a:t>存量面积</a:t>
                      </a:r>
                      <a:endParaRPr lang="en-US" altLang="zh-CN" sz="1200" b="1" u="none" strike="noStrike" dirty="0">
                        <a:solidFill>
                          <a:schemeClr val="bg1"/>
                        </a:solidFill>
                        <a:effectLst/>
                        <a:latin typeface="微软雅黑" pitchFamily="34" charset="-122"/>
                        <a:ea typeface="微软雅黑" pitchFamily="34" charset="-122"/>
                      </a:endParaRPr>
                    </a:p>
                    <a:p>
                      <a:pPr algn="ctr" fontAlgn="ctr"/>
                      <a:r>
                        <a:rPr lang="en-US" altLang="zh-CN" sz="1200" b="1" u="none" strike="noStrike" dirty="0">
                          <a:solidFill>
                            <a:schemeClr val="bg1"/>
                          </a:solidFill>
                          <a:effectLst/>
                          <a:latin typeface="微软雅黑" pitchFamily="34" charset="-122"/>
                          <a:ea typeface="微软雅黑" pitchFamily="34" charset="-122"/>
                        </a:rPr>
                        <a:t>(</a:t>
                      </a:r>
                      <a:r>
                        <a:rPr lang="zh-CN" altLang="en-US" sz="1200" b="1" u="none" strike="noStrike" dirty="0">
                          <a:solidFill>
                            <a:schemeClr val="bg1"/>
                          </a:solidFill>
                          <a:effectLst/>
                          <a:latin typeface="微软雅黑" pitchFamily="34" charset="-122"/>
                          <a:ea typeface="微软雅黑" pitchFamily="34" charset="-122"/>
                        </a:rPr>
                        <a:t>万㎡</a:t>
                      </a:r>
                      <a:r>
                        <a:rPr lang="en-US" altLang="zh-CN" sz="1200" b="1" u="none" strike="noStrike" dirty="0">
                          <a:solidFill>
                            <a:schemeClr val="bg1"/>
                          </a:solidFill>
                          <a:effectLst/>
                          <a:latin typeface="微软雅黑" pitchFamily="34" charset="-122"/>
                          <a:ea typeface="微软雅黑" pitchFamily="34" charset="-122"/>
                        </a:rPr>
                        <a:t>)</a:t>
                      </a:r>
                      <a:endParaRPr lang="en-US" altLang="zh-CN" sz="1200" b="1" i="0" u="none" strike="noStrike" dirty="0">
                        <a:solidFill>
                          <a:schemeClr val="bg1"/>
                        </a:solidFill>
                        <a:effectLst/>
                        <a:latin typeface="微软雅黑" pitchFamily="34" charset="-122"/>
                        <a:ea typeface="微软雅黑" pitchFamily="34" charset="-122"/>
                      </a:endParaRPr>
                    </a:p>
                  </a:txBody>
                  <a:tcPr marL="9525" marR="9525" marT="9525" marB="0" anchor="ctr">
                    <a:solidFill>
                      <a:srgbClr val="0070C0"/>
                    </a:solidFill>
                  </a:tcPr>
                </a:tc>
                <a:extLst>
                  <a:ext uri="{0D108BD9-81ED-4DB2-BD59-A6C34878D82A}">
                    <a16:rowId xmlns:a16="http://schemas.microsoft.com/office/drawing/2014/main" val="10000"/>
                  </a:ext>
                </a:extLst>
              </a:tr>
              <a:tr h="240134">
                <a:tc>
                  <a:txBody>
                    <a:bodyPr/>
                    <a:lstStyle/>
                    <a:p>
                      <a:pPr algn="ctr" fontAlgn="ctr"/>
                      <a:r>
                        <a:rPr lang="zh-CN" altLang="en-US" sz="1100" u="none" strike="noStrike" dirty="0">
                          <a:effectLst/>
                          <a:latin typeface="微软雅黑" pitchFamily="34" charset="-122"/>
                          <a:ea typeface="微软雅黑" pitchFamily="34" charset="-122"/>
                        </a:rPr>
                        <a:t>房山</a:t>
                      </a:r>
                      <a:endParaRPr lang="zh-CN" altLang="en-US" sz="1100" b="0" i="0" u="none" strike="noStrike" dirty="0">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dirty="0">
                          <a:effectLst/>
                          <a:latin typeface="微软雅黑" pitchFamily="34" charset="-122"/>
                          <a:ea typeface="微软雅黑" pitchFamily="34" charset="-122"/>
                        </a:rPr>
                        <a:t>1075</a:t>
                      </a:r>
                      <a:endParaRPr lang="en-US" altLang="zh-CN" sz="1100" b="0" i="0" u="none" strike="noStrike" dirty="0">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12.48</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26680</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33.3</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5609</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75.63</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extLst>
                  <a:ext uri="{0D108BD9-81ED-4DB2-BD59-A6C34878D82A}">
                    <a16:rowId xmlns:a16="http://schemas.microsoft.com/office/drawing/2014/main" val="10001"/>
                  </a:ext>
                </a:extLst>
              </a:tr>
              <a:tr h="240134">
                <a:tc>
                  <a:txBody>
                    <a:bodyPr/>
                    <a:lstStyle/>
                    <a:p>
                      <a:pPr algn="ctr" fontAlgn="ctr"/>
                      <a:r>
                        <a:rPr lang="zh-CN" altLang="en-US" sz="1100" u="none" strike="noStrike" dirty="0">
                          <a:effectLst/>
                          <a:latin typeface="微软雅黑" pitchFamily="34" charset="-122"/>
                          <a:ea typeface="微软雅黑" pitchFamily="34" charset="-122"/>
                        </a:rPr>
                        <a:t>通州</a:t>
                      </a:r>
                      <a:endParaRPr lang="zh-CN" altLang="en-US" sz="1100" b="0" i="0" u="none" strike="noStrike" dirty="0">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dirty="0">
                          <a:effectLst/>
                          <a:latin typeface="微软雅黑" pitchFamily="34" charset="-122"/>
                          <a:ea typeface="微软雅黑" pitchFamily="34" charset="-122"/>
                        </a:rPr>
                        <a:t>588</a:t>
                      </a:r>
                      <a:endParaRPr lang="en-US" altLang="zh-CN" sz="1100" b="0" i="0" u="none" strike="noStrike" dirty="0">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7.75</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44724</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34.65</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4578</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57.99</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extLst>
                  <a:ext uri="{0D108BD9-81ED-4DB2-BD59-A6C34878D82A}">
                    <a16:rowId xmlns:a16="http://schemas.microsoft.com/office/drawing/2014/main" val="10002"/>
                  </a:ext>
                </a:extLst>
              </a:tr>
              <a:tr h="240134">
                <a:tc>
                  <a:txBody>
                    <a:bodyPr/>
                    <a:lstStyle/>
                    <a:p>
                      <a:pPr algn="ctr" fontAlgn="ctr"/>
                      <a:r>
                        <a:rPr lang="zh-CN" altLang="en-US" sz="1100" u="none" strike="noStrike" dirty="0">
                          <a:effectLst/>
                          <a:latin typeface="微软雅黑" pitchFamily="34" charset="-122"/>
                          <a:ea typeface="微软雅黑" pitchFamily="34" charset="-122"/>
                        </a:rPr>
                        <a:t>丰台</a:t>
                      </a:r>
                      <a:endParaRPr lang="zh-CN" altLang="en-US" sz="1100" b="0" i="0" u="none" strike="noStrike" dirty="0">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dirty="0">
                          <a:effectLst/>
                          <a:latin typeface="微软雅黑" pitchFamily="34" charset="-122"/>
                          <a:ea typeface="微软雅黑" pitchFamily="34" charset="-122"/>
                        </a:rPr>
                        <a:t>569</a:t>
                      </a:r>
                      <a:endParaRPr lang="en-US" altLang="zh-CN" sz="1100" b="0" i="0" u="none" strike="noStrike" dirty="0">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7.08</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32617</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23.1</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3327</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52.16</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extLst>
                  <a:ext uri="{0D108BD9-81ED-4DB2-BD59-A6C34878D82A}">
                    <a16:rowId xmlns:a16="http://schemas.microsoft.com/office/drawing/2014/main" val="10003"/>
                  </a:ext>
                </a:extLst>
              </a:tr>
              <a:tr h="240134">
                <a:tc>
                  <a:txBody>
                    <a:bodyPr/>
                    <a:lstStyle/>
                    <a:p>
                      <a:pPr algn="ctr" fontAlgn="ctr"/>
                      <a:r>
                        <a:rPr lang="zh-CN" altLang="en-US" sz="1100" u="none" strike="noStrike" dirty="0">
                          <a:effectLst/>
                          <a:latin typeface="微软雅黑" pitchFamily="34" charset="-122"/>
                          <a:ea typeface="微软雅黑" pitchFamily="34" charset="-122"/>
                        </a:rPr>
                        <a:t>大兴</a:t>
                      </a:r>
                      <a:endParaRPr lang="zh-CN" altLang="en-US" sz="1100" b="0" i="0" u="none" strike="noStrike" dirty="0">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dirty="0">
                          <a:effectLst/>
                          <a:latin typeface="微软雅黑" pitchFamily="34" charset="-122"/>
                          <a:ea typeface="微软雅黑" pitchFamily="34" charset="-122"/>
                        </a:rPr>
                        <a:t>543</a:t>
                      </a:r>
                      <a:endParaRPr lang="en-US" altLang="zh-CN" sz="1100" b="0" i="0" u="none" strike="noStrike" dirty="0">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9.82</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45578</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44.76</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5032</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72.44</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extLst>
                  <a:ext uri="{0D108BD9-81ED-4DB2-BD59-A6C34878D82A}">
                    <a16:rowId xmlns:a16="http://schemas.microsoft.com/office/drawing/2014/main" val="10004"/>
                  </a:ext>
                </a:extLst>
              </a:tr>
              <a:tr h="240134">
                <a:tc>
                  <a:txBody>
                    <a:bodyPr/>
                    <a:lstStyle/>
                    <a:p>
                      <a:pPr algn="ctr" fontAlgn="ctr"/>
                      <a:r>
                        <a:rPr lang="zh-CN" altLang="en-US" sz="1100" u="none" strike="noStrike" dirty="0">
                          <a:effectLst/>
                          <a:latin typeface="微软雅黑" pitchFamily="34" charset="-122"/>
                          <a:ea typeface="微软雅黑" pitchFamily="34" charset="-122"/>
                        </a:rPr>
                        <a:t>顺义</a:t>
                      </a:r>
                      <a:endParaRPr lang="zh-CN" altLang="en-US" sz="1100" b="0" i="0" u="none" strike="noStrike" dirty="0">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dirty="0">
                          <a:effectLst/>
                          <a:latin typeface="微软雅黑" pitchFamily="34" charset="-122"/>
                          <a:ea typeface="微软雅黑" pitchFamily="34" charset="-122"/>
                        </a:rPr>
                        <a:t>488</a:t>
                      </a:r>
                      <a:endParaRPr lang="en-US" altLang="zh-CN" sz="1100" b="0" i="0" u="none" strike="noStrike" dirty="0">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dirty="0">
                          <a:effectLst/>
                          <a:latin typeface="微软雅黑" pitchFamily="34" charset="-122"/>
                          <a:ea typeface="微软雅黑" pitchFamily="34" charset="-122"/>
                        </a:rPr>
                        <a:t>11.28</a:t>
                      </a:r>
                      <a:endParaRPr lang="en-US" altLang="zh-CN" sz="1100" b="0" i="0" u="none" strike="noStrike" dirty="0">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32844</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37.06</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5061</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96.85</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extLst>
                  <a:ext uri="{0D108BD9-81ED-4DB2-BD59-A6C34878D82A}">
                    <a16:rowId xmlns:a16="http://schemas.microsoft.com/office/drawing/2014/main" val="10005"/>
                  </a:ext>
                </a:extLst>
              </a:tr>
              <a:tr h="240134">
                <a:tc>
                  <a:txBody>
                    <a:bodyPr/>
                    <a:lstStyle/>
                    <a:p>
                      <a:pPr algn="ctr" fontAlgn="ctr"/>
                      <a:r>
                        <a:rPr lang="zh-CN" altLang="en-US" sz="1100" u="none" strike="noStrike" dirty="0">
                          <a:effectLst/>
                          <a:latin typeface="微软雅黑" pitchFamily="34" charset="-122"/>
                          <a:ea typeface="微软雅黑" pitchFamily="34" charset="-122"/>
                        </a:rPr>
                        <a:t>密云</a:t>
                      </a:r>
                      <a:endParaRPr lang="zh-CN" altLang="en-US" sz="1100" b="0" i="0" u="none" strike="noStrike" dirty="0">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dirty="0">
                          <a:effectLst/>
                          <a:latin typeface="微软雅黑" pitchFamily="34" charset="-122"/>
                          <a:ea typeface="微软雅黑" pitchFamily="34" charset="-122"/>
                        </a:rPr>
                        <a:t>414</a:t>
                      </a:r>
                      <a:endParaRPr lang="en-US" altLang="zh-CN" sz="1100" b="0" i="0" u="none" strike="noStrike" dirty="0">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dirty="0">
                          <a:effectLst/>
                          <a:latin typeface="微软雅黑" pitchFamily="34" charset="-122"/>
                          <a:ea typeface="微软雅黑" pitchFamily="34" charset="-122"/>
                        </a:rPr>
                        <a:t>4.21</a:t>
                      </a:r>
                      <a:endParaRPr lang="en-US" altLang="zh-CN" sz="1100" b="0" i="0" u="none" strike="noStrike" dirty="0">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17419</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7.33</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6599</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91.28</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extLst>
                  <a:ext uri="{0D108BD9-81ED-4DB2-BD59-A6C34878D82A}">
                    <a16:rowId xmlns:a16="http://schemas.microsoft.com/office/drawing/2014/main" val="10006"/>
                  </a:ext>
                </a:extLst>
              </a:tr>
              <a:tr h="240134">
                <a:tc>
                  <a:txBody>
                    <a:bodyPr/>
                    <a:lstStyle/>
                    <a:p>
                      <a:pPr algn="ctr" fontAlgn="ctr"/>
                      <a:r>
                        <a:rPr lang="zh-CN" altLang="en-US" sz="1100" u="none" strike="noStrike">
                          <a:effectLst/>
                          <a:latin typeface="微软雅黑" pitchFamily="34" charset="-122"/>
                          <a:ea typeface="微软雅黑" pitchFamily="34" charset="-122"/>
                        </a:rPr>
                        <a:t>昌平</a:t>
                      </a:r>
                      <a:endParaRPr lang="zh-CN" altLang="en-US" sz="11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dirty="0">
                          <a:effectLst/>
                          <a:latin typeface="微软雅黑" pitchFamily="34" charset="-122"/>
                          <a:ea typeface="微软雅黑" pitchFamily="34" charset="-122"/>
                        </a:rPr>
                        <a:t>401</a:t>
                      </a:r>
                      <a:endParaRPr lang="en-US" altLang="zh-CN" sz="1100" b="0" i="0" u="none" strike="noStrike" dirty="0">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dirty="0">
                          <a:effectLst/>
                          <a:latin typeface="微软雅黑" pitchFamily="34" charset="-122"/>
                          <a:ea typeface="微软雅黑" pitchFamily="34" charset="-122"/>
                        </a:rPr>
                        <a:t>6.54</a:t>
                      </a:r>
                      <a:endParaRPr lang="en-US" altLang="zh-CN" sz="1100" b="0" i="0" u="none" strike="noStrike" dirty="0">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dirty="0">
                          <a:effectLst/>
                          <a:latin typeface="微软雅黑" pitchFamily="34" charset="-122"/>
                          <a:ea typeface="微软雅黑" pitchFamily="34" charset="-122"/>
                        </a:rPr>
                        <a:t>33359</a:t>
                      </a:r>
                      <a:endParaRPr lang="en-US" altLang="zh-CN" sz="1100" b="0" i="0" u="none" strike="noStrike" dirty="0">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21.82</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3890</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84.21</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extLst>
                  <a:ext uri="{0D108BD9-81ED-4DB2-BD59-A6C34878D82A}">
                    <a16:rowId xmlns:a16="http://schemas.microsoft.com/office/drawing/2014/main" val="10007"/>
                  </a:ext>
                </a:extLst>
              </a:tr>
              <a:tr h="240134">
                <a:tc>
                  <a:txBody>
                    <a:bodyPr/>
                    <a:lstStyle/>
                    <a:p>
                      <a:pPr algn="ctr" fontAlgn="ctr"/>
                      <a:r>
                        <a:rPr lang="zh-CN" altLang="en-US" sz="1100" u="none" strike="noStrike">
                          <a:effectLst/>
                          <a:latin typeface="微软雅黑" pitchFamily="34" charset="-122"/>
                          <a:ea typeface="微软雅黑" pitchFamily="34" charset="-122"/>
                        </a:rPr>
                        <a:t>门头沟</a:t>
                      </a:r>
                      <a:endParaRPr lang="zh-CN" altLang="en-US" sz="11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dirty="0">
                          <a:effectLst/>
                          <a:latin typeface="微软雅黑" pitchFamily="34" charset="-122"/>
                          <a:ea typeface="微软雅黑" pitchFamily="34" charset="-122"/>
                        </a:rPr>
                        <a:t>351</a:t>
                      </a:r>
                      <a:endParaRPr lang="en-US" altLang="zh-CN" sz="1100" b="0" i="0" u="none" strike="noStrike" dirty="0">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6.12</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dirty="0">
                          <a:effectLst/>
                          <a:latin typeface="微软雅黑" pitchFamily="34" charset="-122"/>
                          <a:ea typeface="微软雅黑" pitchFamily="34" charset="-122"/>
                        </a:rPr>
                        <a:t>47092</a:t>
                      </a:r>
                      <a:endParaRPr lang="en-US" altLang="zh-CN" sz="1100" b="0" i="0" u="none" strike="noStrike" dirty="0">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28.81</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1589</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35.45</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extLst>
                  <a:ext uri="{0D108BD9-81ED-4DB2-BD59-A6C34878D82A}">
                    <a16:rowId xmlns:a16="http://schemas.microsoft.com/office/drawing/2014/main" val="10008"/>
                  </a:ext>
                </a:extLst>
              </a:tr>
              <a:tr h="240134">
                <a:tc>
                  <a:txBody>
                    <a:bodyPr/>
                    <a:lstStyle/>
                    <a:p>
                      <a:pPr algn="ctr" fontAlgn="ctr"/>
                      <a:r>
                        <a:rPr lang="zh-CN" altLang="en-US" sz="1100" u="none" strike="noStrike">
                          <a:effectLst/>
                          <a:latin typeface="微软雅黑" pitchFamily="34" charset="-122"/>
                          <a:ea typeface="微软雅黑" pitchFamily="34" charset="-122"/>
                        </a:rPr>
                        <a:t>朝阳</a:t>
                      </a:r>
                      <a:endParaRPr lang="zh-CN" altLang="en-US" sz="11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dirty="0">
                          <a:effectLst/>
                          <a:latin typeface="微软雅黑" pitchFamily="34" charset="-122"/>
                          <a:ea typeface="微软雅黑" pitchFamily="34" charset="-122"/>
                        </a:rPr>
                        <a:t>320</a:t>
                      </a:r>
                      <a:endParaRPr lang="en-US" altLang="zh-CN" sz="1100" b="0" i="0" u="none" strike="noStrike" dirty="0">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dirty="0">
                          <a:effectLst/>
                          <a:latin typeface="微软雅黑" pitchFamily="34" charset="-122"/>
                          <a:ea typeface="微软雅黑" pitchFamily="34" charset="-122"/>
                        </a:rPr>
                        <a:t>8.21</a:t>
                      </a:r>
                      <a:endParaRPr lang="en-US" altLang="zh-CN" sz="1100" b="0" i="0" u="none" strike="noStrike" dirty="0">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dirty="0">
                          <a:effectLst/>
                          <a:latin typeface="微软雅黑" pitchFamily="34" charset="-122"/>
                          <a:ea typeface="微软雅黑" pitchFamily="34" charset="-122"/>
                        </a:rPr>
                        <a:t>69048</a:t>
                      </a:r>
                      <a:endParaRPr lang="en-US" altLang="zh-CN" sz="1100" b="0" i="0" u="none" strike="noStrike" dirty="0">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56.72</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9855</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178.33</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extLst>
                  <a:ext uri="{0D108BD9-81ED-4DB2-BD59-A6C34878D82A}">
                    <a16:rowId xmlns:a16="http://schemas.microsoft.com/office/drawing/2014/main" val="10009"/>
                  </a:ext>
                </a:extLst>
              </a:tr>
              <a:tr h="240134">
                <a:tc>
                  <a:txBody>
                    <a:bodyPr/>
                    <a:lstStyle/>
                    <a:p>
                      <a:pPr algn="ctr" fontAlgn="ctr"/>
                      <a:r>
                        <a:rPr lang="zh-CN" altLang="en-US" sz="1100" u="none" strike="noStrike">
                          <a:effectLst/>
                          <a:latin typeface="微软雅黑" pitchFamily="34" charset="-122"/>
                          <a:ea typeface="微软雅黑" pitchFamily="34" charset="-122"/>
                        </a:rPr>
                        <a:t>平谷</a:t>
                      </a:r>
                      <a:endParaRPr lang="zh-CN" altLang="en-US" sz="11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284</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dirty="0">
                          <a:effectLst/>
                          <a:latin typeface="微软雅黑" pitchFamily="34" charset="-122"/>
                          <a:ea typeface="微软雅黑" pitchFamily="34" charset="-122"/>
                        </a:rPr>
                        <a:t>3.68</a:t>
                      </a:r>
                      <a:endParaRPr lang="en-US" altLang="zh-CN" sz="1100" b="0" i="0" u="none" strike="noStrike" dirty="0">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19101</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dirty="0">
                          <a:effectLst/>
                          <a:latin typeface="微软雅黑" pitchFamily="34" charset="-122"/>
                          <a:ea typeface="微软雅黑" pitchFamily="34" charset="-122"/>
                        </a:rPr>
                        <a:t>7.02</a:t>
                      </a:r>
                      <a:endParaRPr lang="en-US" altLang="zh-CN" sz="1100" b="0" i="0" u="none" strike="noStrike" dirty="0">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1357</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19.31</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extLst>
                  <a:ext uri="{0D108BD9-81ED-4DB2-BD59-A6C34878D82A}">
                    <a16:rowId xmlns:a16="http://schemas.microsoft.com/office/drawing/2014/main" val="10010"/>
                  </a:ext>
                </a:extLst>
              </a:tr>
              <a:tr h="240134">
                <a:tc>
                  <a:txBody>
                    <a:bodyPr/>
                    <a:lstStyle/>
                    <a:p>
                      <a:pPr algn="ctr" fontAlgn="ctr"/>
                      <a:r>
                        <a:rPr lang="zh-CN" altLang="en-US" sz="1100" u="none" strike="noStrike">
                          <a:effectLst/>
                          <a:latin typeface="微软雅黑" pitchFamily="34" charset="-122"/>
                          <a:ea typeface="微软雅黑" pitchFamily="34" charset="-122"/>
                        </a:rPr>
                        <a:t>海淀</a:t>
                      </a:r>
                      <a:endParaRPr lang="zh-CN" altLang="en-US" sz="11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dirty="0">
                          <a:effectLst/>
                          <a:latin typeface="微软雅黑" pitchFamily="34" charset="-122"/>
                          <a:ea typeface="微软雅黑" pitchFamily="34" charset="-122"/>
                        </a:rPr>
                        <a:t>190</a:t>
                      </a:r>
                      <a:endParaRPr lang="en-US" altLang="zh-CN" sz="1100" b="0" i="0" u="none" strike="noStrike" dirty="0">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dirty="0">
                          <a:effectLst/>
                          <a:latin typeface="微软雅黑" pitchFamily="34" charset="-122"/>
                          <a:ea typeface="微软雅黑" pitchFamily="34" charset="-122"/>
                        </a:rPr>
                        <a:t>3.22</a:t>
                      </a:r>
                      <a:endParaRPr lang="en-US" altLang="zh-CN" sz="1100" b="0" i="0" u="none" strike="noStrike" dirty="0">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81348</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26.18</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2107</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37.86</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extLst>
                  <a:ext uri="{0D108BD9-81ED-4DB2-BD59-A6C34878D82A}">
                    <a16:rowId xmlns:a16="http://schemas.microsoft.com/office/drawing/2014/main" val="10011"/>
                  </a:ext>
                </a:extLst>
              </a:tr>
              <a:tr h="240134">
                <a:tc>
                  <a:txBody>
                    <a:bodyPr/>
                    <a:lstStyle/>
                    <a:p>
                      <a:pPr algn="ctr" fontAlgn="ctr"/>
                      <a:r>
                        <a:rPr lang="zh-CN" altLang="en-US" sz="1100" u="none" strike="noStrike">
                          <a:effectLst/>
                          <a:latin typeface="微软雅黑" pitchFamily="34" charset="-122"/>
                          <a:ea typeface="微软雅黑" pitchFamily="34" charset="-122"/>
                        </a:rPr>
                        <a:t>延庆</a:t>
                      </a:r>
                      <a:endParaRPr lang="zh-CN" altLang="en-US" sz="11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dirty="0">
                          <a:effectLst/>
                          <a:latin typeface="微软雅黑" pitchFamily="34" charset="-122"/>
                          <a:ea typeface="微软雅黑" pitchFamily="34" charset="-122"/>
                        </a:rPr>
                        <a:t>154</a:t>
                      </a:r>
                      <a:endParaRPr lang="en-US" altLang="zh-CN" sz="1100" b="0" i="0" u="none" strike="noStrike" dirty="0">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dirty="0">
                          <a:effectLst/>
                          <a:latin typeface="微软雅黑" pitchFamily="34" charset="-122"/>
                          <a:ea typeface="微软雅黑" pitchFamily="34" charset="-122"/>
                        </a:rPr>
                        <a:t>1.46</a:t>
                      </a:r>
                      <a:endParaRPr lang="en-US" altLang="zh-CN" sz="1100" b="0" i="0" u="none" strike="noStrike" dirty="0">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dirty="0">
                          <a:effectLst/>
                          <a:latin typeface="微软雅黑" pitchFamily="34" charset="-122"/>
                          <a:ea typeface="微软雅黑" pitchFamily="34" charset="-122"/>
                        </a:rPr>
                        <a:t>4043</a:t>
                      </a:r>
                      <a:endParaRPr lang="en-US" altLang="zh-CN" sz="1100" b="0" i="0" u="none" strike="noStrike" dirty="0">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0.59</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dirty="0">
                          <a:effectLst/>
                          <a:latin typeface="微软雅黑" pitchFamily="34" charset="-122"/>
                          <a:ea typeface="微软雅黑" pitchFamily="34" charset="-122"/>
                        </a:rPr>
                        <a:t>1663</a:t>
                      </a:r>
                      <a:endParaRPr lang="en-US" altLang="zh-CN" sz="1100" b="0" i="0" u="none" strike="noStrike" dirty="0">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19.03</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extLst>
                  <a:ext uri="{0D108BD9-81ED-4DB2-BD59-A6C34878D82A}">
                    <a16:rowId xmlns:a16="http://schemas.microsoft.com/office/drawing/2014/main" val="10012"/>
                  </a:ext>
                </a:extLst>
              </a:tr>
              <a:tr h="240134">
                <a:tc>
                  <a:txBody>
                    <a:bodyPr/>
                    <a:lstStyle/>
                    <a:p>
                      <a:pPr algn="ctr" fontAlgn="ctr"/>
                      <a:r>
                        <a:rPr lang="zh-CN" altLang="en-US" sz="1100" u="none" strike="noStrike">
                          <a:effectLst/>
                          <a:latin typeface="微软雅黑" pitchFamily="34" charset="-122"/>
                          <a:ea typeface="微软雅黑" pitchFamily="34" charset="-122"/>
                        </a:rPr>
                        <a:t>怀柔</a:t>
                      </a:r>
                      <a:endParaRPr lang="zh-CN" altLang="en-US" sz="11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dirty="0">
                          <a:effectLst/>
                          <a:latin typeface="微软雅黑" pitchFamily="34" charset="-122"/>
                          <a:ea typeface="微软雅黑" pitchFamily="34" charset="-122"/>
                        </a:rPr>
                        <a:t>111</a:t>
                      </a:r>
                      <a:endParaRPr lang="en-US" altLang="zh-CN" sz="1100" b="0" i="0" u="none" strike="noStrike" dirty="0">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1.54</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24116</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3.72</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dirty="0">
                          <a:effectLst/>
                          <a:latin typeface="微软雅黑" pitchFamily="34" charset="-122"/>
                          <a:ea typeface="微软雅黑" pitchFamily="34" charset="-122"/>
                        </a:rPr>
                        <a:t>1604</a:t>
                      </a:r>
                      <a:endParaRPr lang="en-US" altLang="zh-CN" sz="1100" b="0" i="0" u="none" strike="noStrike" dirty="0">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25.45</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extLst>
                  <a:ext uri="{0D108BD9-81ED-4DB2-BD59-A6C34878D82A}">
                    <a16:rowId xmlns:a16="http://schemas.microsoft.com/office/drawing/2014/main" val="10013"/>
                  </a:ext>
                </a:extLst>
              </a:tr>
              <a:tr h="240134">
                <a:tc>
                  <a:txBody>
                    <a:bodyPr/>
                    <a:lstStyle/>
                    <a:p>
                      <a:pPr algn="ctr" fontAlgn="ctr"/>
                      <a:r>
                        <a:rPr lang="zh-CN" altLang="en-US" sz="1100" u="none" strike="noStrike">
                          <a:effectLst/>
                          <a:latin typeface="微软雅黑" pitchFamily="34" charset="-122"/>
                          <a:ea typeface="微软雅黑" pitchFamily="34" charset="-122"/>
                        </a:rPr>
                        <a:t>东城</a:t>
                      </a:r>
                      <a:endParaRPr lang="zh-CN" altLang="en-US" sz="11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dirty="0">
                          <a:effectLst/>
                          <a:latin typeface="微软雅黑" pitchFamily="34" charset="-122"/>
                          <a:ea typeface="微软雅黑" pitchFamily="34" charset="-122"/>
                        </a:rPr>
                        <a:t>19</a:t>
                      </a:r>
                      <a:endParaRPr lang="en-US" altLang="zh-CN" sz="1100" b="0" i="0" u="none" strike="noStrike" dirty="0">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0.39</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dirty="0">
                          <a:effectLst/>
                          <a:latin typeface="微软雅黑" pitchFamily="34" charset="-122"/>
                          <a:ea typeface="微软雅黑" pitchFamily="34" charset="-122"/>
                        </a:rPr>
                        <a:t>107597</a:t>
                      </a:r>
                      <a:endParaRPr lang="en-US" altLang="zh-CN" sz="1100" b="0" i="0" u="none" strike="noStrike" dirty="0">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4.22</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530</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dirty="0">
                          <a:effectLst/>
                          <a:latin typeface="微软雅黑" pitchFamily="34" charset="-122"/>
                          <a:ea typeface="微软雅黑" pitchFamily="34" charset="-122"/>
                        </a:rPr>
                        <a:t>12.8</a:t>
                      </a:r>
                      <a:endParaRPr lang="en-US" altLang="zh-CN" sz="1100" b="0" i="0" u="none" strike="noStrike" dirty="0">
                        <a:solidFill>
                          <a:srgbClr val="000000"/>
                        </a:solidFill>
                        <a:effectLst/>
                        <a:latin typeface="微软雅黑" pitchFamily="34" charset="-122"/>
                        <a:ea typeface="微软雅黑" pitchFamily="34" charset="-122"/>
                      </a:endParaRPr>
                    </a:p>
                  </a:txBody>
                  <a:tcPr marL="9525" marR="9525" marT="9525" marB="0" anchor="ctr"/>
                </a:tc>
                <a:extLst>
                  <a:ext uri="{0D108BD9-81ED-4DB2-BD59-A6C34878D82A}">
                    <a16:rowId xmlns:a16="http://schemas.microsoft.com/office/drawing/2014/main" val="10014"/>
                  </a:ext>
                </a:extLst>
              </a:tr>
              <a:tr h="240134">
                <a:tc>
                  <a:txBody>
                    <a:bodyPr/>
                    <a:lstStyle/>
                    <a:p>
                      <a:pPr algn="ctr" fontAlgn="ctr"/>
                      <a:r>
                        <a:rPr lang="zh-CN" altLang="en-US" sz="1100" u="none" strike="noStrike">
                          <a:effectLst/>
                          <a:latin typeface="微软雅黑" pitchFamily="34" charset="-122"/>
                          <a:ea typeface="微软雅黑" pitchFamily="34" charset="-122"/>
                        </a:rPr>
                        <a:t>西城</a:t>
                      </a:r>
                      <a:endParaRPr lang="zh-CN" altLang="en-US" sz="11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dirty="0">
                          <a:effectLst/>
                          <a:latin typeface="微软雅黑" pitchFamily="34" charset="-122"/>
                          <a:ea typeface="微软雅黑" pitchFamily="34" charset="-122"/>
                        </a:rPr>
                        <a:t>9</a:t>
                      </a:r>
                      <a:endParaRPr lang="en-US" altLang="zh-CN" sz="1100" b="0" i="0" u="none" strike="noStrike" dirty="0">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0.14</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dirty="0">
                          <a:effectLst/>
                          <a:latin typeface="微软雅黑" pitchFamily="34" charset="-122"/>
                          <a:ea typeface="微软雅黑" pitchFamily="34" charset="-122"/>
                        </a:rPr>
                        <a:t>78319</a:t>
                      </a:r>
                      <a:endParaRPr lang="en-US" altLang="zh-CN" sz="1100" b="0" i="0" u="none" strike="noStrike" dirty="0">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1.06</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650</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dirty="0">
                          <a:effectLst/>
                          <a:latin typeface="微软雅黑" pitchFamily="34" charset="-122"/>
                          <a:ea typeface="微软雅黑" pitchFamily="34" charset="-122"/>
                        </a:rPr>
                        <a:t>7.97</a:t>
                      </a:r>
                      <a:endParaRPr lang="en-US" altLang="zh-CN" sz="1100" b="0" i="0" u="none" strike="noStrike" dirty="0">
                        <a:solidFill>
                          <a:srgbClr val="000000"/>
                        </a:solidFill>
                        <a:effectLst/>
                        <a:latin typeface="微软雅黑" pitchFamily="34" charset="-122"/>
                        <a:ea typeface="微软雅黑" pitchFamily="34" charset="-122"/>
                      </a:endParaRPr>
                    </a:p>
                  </a:txBody>
                  <a:tcPr marL="9525" marR="9525" marT="9525" marB="0" anchor="ctr"/>
                </a:tc>
                <a:extLst>
                  <a:ext uri="{0D108BD9-81ED-4DB2-BD59-A6C34878D82A}">
                    <a16:rowId xmlns:a16="http://schemas.microsoft.com/office/drawing/2014/main" val="10015"/>
                  </a:ext>
                </a:extLst>
              </a:tr>
              <a:tr h="245300">
                <a:tc>
                  <a:txBody>
                    <a:bodyPr/>
                    <a:lstStyle/>
                    <a:p>
                      <a:pPr algn="ctr" fontAlgn="ctr"/>
                      <a:r>
                        <a:rPr lang="zh-CN" altLang="en-US" sz="1100" u="none" strike="noStrike">
                          <a:effectLst/>
                          <a:latin typeface="微软雅黑" pitchFamily="34" charset="-122"/>
                          <a:ea typeface="微软雅黑" pitchFamily="34" charset="-122"/>
                        </a:rPr>
                        <a:t>石景山</a:t>
                      </a:r>
                      <a:endParaRPr lang="zh-CN" altLang="en-US" sz="11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dirty="0">
                          <a:effectLst/>
                          <a:latin typeface="微软雅黑" pitchFamily="34" charset="-122"/>
                          <a:ea typeface="微软雅黑" pitchFamily="34" charset="-122"/>
                        </a:rPr>
                        <a:t>3</a:t>
                      </a:r>
                      <a:endParaRPr lang="en-US" altLang="zh-CN" sz="1100" b="0" i="0" u="none" strike="noStrike" dirty="0">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dirty="0">
                          <a:effectLst/>
                          <a:latin typeface="微软雅黑" pitchFamily="34" charset="-122"/>
                          <a:ea typeface="微软雅黑" pitchFamily="34" charset="-122"/>
                        </a:rPr>
                        <a:t>0.1</a:t>
                      </a:r>
                      <a:endParaRPr lang="en-US" altLang="zh-CN" sz="1100" b="0" i="0" u="none" strike="noStrike" dirty="0">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a:effectLst/>
                          <a:latin typeface="微软雅黑" pitchFamily="34" charset="-122"/>
                          <a:ea typeface="微软雅黑" pitchFamily="34" charset="-122"/>
                        </a:rPr>
                        <a:t>73004</a:t>
                      </a:r>
                      <a:endParaRPr lang="en-US" altLang="zh-CN" sz="1100" b="0" i="0" u="none" strike="noStrike">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dirty="0">
                          <a:effectLst/>
                          <a:latin typeface="微软雅黑" pitchFamily="34" charset="-122"/>
                          <a:ea typeface="微软雅黑" pitchFamily="34" charset="-122"/>
                        </a:rPr>
                        <a:t>0.73</a:t>
                      </a:r>
                      <a:endParaRPr lang="en-US" altLang="zh-CN" sz="1100" b="0" i="0" u="none" strike="noStrike" dirty="0">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dirty="0">
                          <a:effectLst/>
                          <a:latin typeface="微软雅黑" pitchFamily="34" charset="-122"/>
                          <a:ea typeface="微软雅黑" pitchFamily="34" charset="-122"/>
                        </a:rPr>
                        <a:t>1785</a:t>
                      </a:r>
                      <a:endParaRPr lang="en-US" altLang="zh-CN" sz="1100" b="0" i="0" u="none" strike="noStrike" dirty="0">
                        <a:solidFill>
                          <a:srgbClr val="000000"/>
                        </a:solidFill>
                        <a:effectLst/>
                        <a:latin typeface="微软雅黑" pitchFamily="34" charset="-122"/>
                        <a:ea typeface="微软雅黑" pitchFamily="34" charset="-122"/>
                      </a:endParaRPr>
                    </a:p>
                  </a:txBody>
                  <a:tcPr marL="9525" marR="9525" marT="9525" marB="0" anchor="ctr"/>
                </a:tc>
                <a:tc>
                  <a:txBody>
                    <a:bodyPr/>
                    <a:lstStyle/>
                    <a:p>
                      <a:pPr algn="ctr" fontAlgn="ctr"/>
                      <a:r>
                        <a:rPr lang="en-US" altLang="zh-CN" sz="1100" u="none" strike="noStrike" dirty="0">
                          <a:effectLst/>
                          <a:latin typeface="微软雅黑" pitchFamily="34" charset="-122"/>
                          <a:ea typeface="微软雅黑" pitchFamily="34" charset="-122"/>
                        </a:rPr>
                        <a:t>14.63</a:t>
                      </a:r>
                      <a:endParaRPr lang="en-US" altLang="zh-CN" sz="1100" b="0" i="0" u="none" strike="noStrike" dirty="0">
                        <a:solidFill>
                          <a:srgbClr val="000000"/>
                        </a:solidFill>
                        <a:effectLst/>
                        <a:latin typeface="微软雅黑" pitchFamily="34" charset="-122"/>
                        <a:ea typeface="微软雅黑" pitchFamily="34" charset="-122"/>
                      </a:endParaRPr>
                    </a:p>
                  </a:txBody>
                  <a:tcPr marL="9525" marR="9525" marT="9525" marB="0" anchor="ctr"/>
                </a:tc>
                <a:extLst>
                  <a:ext uri="{0D108BD9-81ED-4DB2-BD59-A6C34878D82A}">
                    <a16:rowId xmlns:a16="http://schemas.microsoft.com/office/drawing/2014/main" val="10016"/>
                  </a:ext>
                </a:extLst>
              </a:tr>
            </a:tbl>
          </a:graphicData>
        </a:graphic>
      </p:graphicFrame>
      <p:sp>
        <p:nvSpPr>
          <p:cNvPr id="7" name="TextBox 6"/>
          <p:cNvSpPr txBox="1"/>
          <p:nvPr/>
        </p:nvSpPr>
        <p:spPr>
          <a:xfrm>
            <a:off x="540683" y="799022"/>
            <a:ext cx="8306539" cy="700576"/>
          </a:xfrm>
          <a:prstGeom prst="rect">
            <a:avLst/>
          </a:prstGeom>
          <a:noFill/>
        </p:spPr>
        <p:txBody>
          <a:bodyPr wrap="square" rtlCol="0">
            <a:spAutoFit/>
          </a:bodyPr>
          <a:lstStyle/>
          <a:p>
            <a:pPr marL="285750" indent="-285750" algn="just">
              <a:lnSpc>
                <a:spcPct val="150000"/>
              </a:lnSpc>
              <a:buClr>
                <a:srgbClr val="C00000"/>
              </a:buClr>
              <a:buSzPct val="60000"/>
              <a:buFont typeface="Wingdings" pitchFamily="2" charset="2"/>
              <a:buChar char="p"/>
            </a:pPr>
            <a:r>
              <a:rPr lang="zh-CN" altLang="en-US" sz="1400" dirty="0">
                <a:latin typeface="微软雅黑" pitchFamily="34" charset="-122"/>
                <a:ea typeface="微软雅黑" pitchFamily="34" charset="-122"/>
              </a:rPr>
              <a:t>从区域上来看，房山新房市场呈现</a:t>
            </a:r>
            <a:r>
              <a:rPr lang="zh-CN" altLang="en-US" sz="1400" b="1" dirty="0">
                <a:solidFill>
                  <a:srgbClr val="FF0000"/>
                </a:solidFill>
                <a:latin typeface="微软雅黑" pitchFamily="34" charset="-122"/>
                <a:ea typeface="微软雅黑" pitchFamily="34" charset="-122"/>
              </a:rPr>
              <a:t>供需两旺</a:t>
            </a:r>
            <a:r>
              <a:rPr lang="zh-CN" altLang="en-US" sz="1400" dirty="0">
                <a:latin typeface="微软雅黑" pitchFamily="34" charset="-122"/>
                <a:ea typeface="微软雅黑" pitchFamily="34" charset="-122"/>
              </a:rPr>
              <a:t>的局面，从成交层面看，房山已经成为新房市场的焦点。</a:t>
            </a:r>
            <a:endParaRPr lang="en-US" altLang="zh-CN" sz="1400" dirty="0">
              <a:latin typeface="微软雅黑" pitchFamily="34" charset="-122"/>
              <a:ea typeface="微软雅黑" pitchFamily="34" charset="-122"/>
            </a:endParaRPr>
          </a:p>
          <a:p>
            <a:pPr marL="285750" indent="-285750" algn="just">
              <a:lnSpc>
                <a:spcPct val="150000"/>
              </a:lnSpc>
              <a:buClr>
                <a:srgbClr val="C00000"/>
              </a:buClr>
              <a:buSzPct val="60000"/>
              <a:buFont typeface="Wingdings" pitchFamily="2" charset="2"/>
              <a:buChar char="p"/>
            </a:pPr>
            <a:r>
              <a:rPr lang="zh-CN" altLang="en-US" sz="1400" dirty="0">
                <a:latin typeface="微软雅黑" pitchFamily="34" charset="-122"/>
                <a:ea typeface="微软雅黑" pitchFamily="34" charset="-122"/>
              </a:rPr>
              <a:t>大兴，通州，门头沟房价高企，逼近</a:t>
            </a:r>
            <a:r>
              <a:rPr lang="en-US" altLang="zh-CN" sz="1400" b="1" dirty="0">
                <a:solidFill>
                  <a:srgbClr val="FF0000"/>
                </a:solidFill>
                <a:latin typeface="微软雅黑" pitchFamily="34" charset="-122"/>
                <a:ea typeface="微软雅黑" pitchFamily="34" charset="-122"/>
              </a:rPr>
              <a:t>5</a:t>
            </a:r>
            <a:r>
              <a:rPr lang="zh-CN" altLang="en-US" sz="1400" b="1" dirty="0">
                <a:solidFill>
                  <a:srgbClr val="FF0000"/>
                </a:solidFill>
                <a:latin typeface="微软雅黑" pitchFamily="34" charset="-122"/>
                <a:ea typeface="微软雅黑" pitchFamily="34" charset="-122"/>
              </a:rPr>
              <a:t>万</a:t>
            </a:r>
            <a:r>
              <a:rPr lang="en-US" altLang="zh-CN" sz="1400" b="1" dirty="0">
                <a:solidFill>
                  <a:srgbClr val="FF0000"/>
                </a:solidFill>
                <a:latin typeface="微软雅黑" pitchFamily="34" charset="-122"/>
                <a:ea typeface="微软雅黑" pitchFamily="34" charset="-122"/>
              </a:rPr>
              <a:t>/</a:t>
            </a:r>
            <a:r>
              <a:rPr lang="zh-CN" altLang="en-US" sz="1400" b="1" dirty="0">
                <a:solidFill>
                  <a:srgbClr val="FF0000"/>
                </a:solidFill>
                <a:latin typeface="微软雅黑" pitchFamily="34" charset="-122"/>
                <a:ea typeface="微软雅黑" pitchFamily="34" charset="-122"/>
              </a:rPr>
              <a:t>平</a:t>
            </a:r>
            <a:r>
              <a:rPr lang="zh-CN" altLang="en-US" sz="1400" dirty="0">
                <a:latin typeface="微软雅黑" pitchFamily="34" charset="-122"/>
                <a:ea typeface="微软雅黑" pitchFamily="34" charset="-122"/>
              </a:rPr>
              <a:t>。</a:t>
            </a:r>
            <a:endParaRPr lang="en-US" altLang="zh-CN" sz="1400" dirty="0">
              <a:latin typeface="微软雅黑" pitchFamily="34" charset="-122"/>
              <a:ea typeface="微软雅黑" pitchFamily="34" charset="-122"/>
            </a:endParaRPr>
          </a:p>
        </p:txBody>
      </p:sp>
      <p:sp>
        <p:nvSpPr>
          <p:cNvPr id="8" name="矩形 7"/>
          <p:cNvSpPr/>
          <p:nvPr/>
        </p:nvSpPr>
        <p:spPr>
          <a:xfrm>
            <a:off x="2643553" y="1661802"/>
            <a:ext cx="4100803" cy="338554"/>
          </a:xfrm>
          <a:prstGeom prst="rect">
            <a:avLst/>
          </a:prstGeom>
        </p:spPr>
        <p:txBody>
          <a:bodyPr wrap="none">
            <a:spAutoFit/>
          </a:bodyPr>
          <a:lstStyle/>
          <a:p>
            <a:pPr algn="ctr"/>
            <a:r>
              <a:rPr lang="en-US" altLang="zh-CN" sz="1600" b="1" dirty="0">
                <a:latin typeface="微软雅黑" pitchFamily="34" charset="-122"/>
                <a:ea typeface="微软雅黑" pitchFamily="34" charset="-122"/>
              </a:rPr>
              <a:t>2016</a:t>
            </a:r>
            <a:r>
              <a:rPr lang="zh-CN" altLang="en-US" sz="1600" b="1" dirty="0">
                <a:latin typeface="微软雅黑" pitchFamily="34" charset="-122"/>
                <a:ea typeface="微软雅黑" pitchFamily="34" charset="-122"/>
              </a:rPr>
              <a:t>年</a:t>
            </a:r>
            <a:r>
              <a:rPr lang="en-US" altLang="zh-CN" sz="1600" b="1" dirty="0">
                <a:latin typeface="微软雅黑" pitchFamily="34" charset="-122"/>
                <a:ea typeface="微软雅黑" pitchFamily="34" charset="-122"/>
              </a:rPr>
              <a:t>9</a:t>
            </a:r>
            <a:r>
              <a:rPr lang="zh-CN" altLang="en-US" sz="1600" b="1" dirty="0">
                <a:latin typeface="微软雅黑" pitchFamily="34" charset="-122"/>
                <a:ea typeface="微软雅黑" pitchFamily="34" charset="-122"/>
              </a:rPr>
              <a:t>月北京各行政区新建住宅量价情况</a:t>
            </a:r>
          </a:p>
        </p:txBody>
      </p:sp>
      <p:sp>
        <p:nvSpPr>
          <p:cNvPr id="9" name="TextBox 8"/>
          <p:cNvSpPr txBox="1"/>
          <p:nvPr/>
        </p:nvSpPr>
        <p:spPr>
          <a:xfrm>
            <a:off x="249147" y="6508191"/>
            <a:ext cx="4785989" cy="261610"/>
          </a:xfrm>
          <a:prstGeom prst="rect">
            <a:avLst/>
          </a:prstGeom>
          <a:noFill/>
        </p:spPr>
        <p:txBody>
          <a:bodyPr wrap="square" rtlCol="0">
            <a:spAutoFit/>
          </a:bodyPr>
          <a:lstStyle/>
          <a:p>
            <a:r>
              <a:rPr lang="zh-CN" altLang="en-US" sz="1100" b="1" dirty="0">
                <a:latin typeface="+mj-ea"/>
                <a:ea typeface="+mj-ea"/>
              </a:rPr>
              <a:t>备注：新建住宅统计包含普通住宅、别墅，剔除保障房、车位及其它</a:t>
            </a:r>
          </a:p>
        </p:txBody>
      </p:sp>
      <p:cxnSp>
        <p:nvCxnSpPr>
          <p:cNvPr id="6" name="直接箭头连接符 5"/>
          <p:cNvCxnSpPr/>
          <p:nvPr/>
        </p:nvCxnSpPr>
        <p:spPr>
          <a:xfrm>
            <a:off x="2588584" y="2291194"/>
            <a:ext cx="0" cy="169277"/>
          </a:xfrm>
          <a:prstGeom prst="straightConnector1">
            <a:avLst/>
          </a:prstGeom>
          <a:ln>
            <a:solidFill>
              <a:schemeClr val="bg1"/>
            </a:solidFill>
            <a:tailEnd type="arrow"/>
          </a:ln>
        </p:spPr>
        <p:style>
          <a:lnRef idx="2">
            <a:schemeClr val="accent1"/>
          </a:lnRef>
          <a:fillRef idx="0">
            <a:schemeClr val="accent1"/>
          </a:fillRef>
          <a:effectRef idx="1">
            <a:schemeClr val="accent1"/>
          </a:effectRef>
          <a:fontRef idx="minor">
            <a:schemeClr val="tx1"/>
          </a:fontRef>
        </p:style>
      </p:cxnSp>
      <p:sp>
        <p:nvSpPr>
          <p:cNvPr id="10" name="矩形 9"/>
          <p:cNvSpPr/>
          <p:nvPr/>
        </p:nvSpPr>
        <p:spPr>
          <a:xfrm>
            <a:off x="1199408" y="2556245"/>
            <a:ext cx="6662057" cy="198829"/>
          </a:xfrm>
          <a:prstGeom prst="rect">
            <a:avLst/>
          </a:prstGeom>
          <a:noFill/>
          <a:ln w="25400">
            <a:solidFill>
              <a:srgbClr val="FF0000"/>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3424697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编号占位符 1"/>
          <p:cNvSpPr>
            <a:spLocks noGrp="1"/>
          </p:cNvSpPr>
          <p:nvPr>
            <p:ph type="sldNum" sz="quarter" idx="4"/>
          </p:nvPr>
        </p:nvSpPr>
        <p:spPr/>
        <p:txBody>
          <a:bodyPr/>
          <a:lstStyle/>
          <a:p>
            <a:pPr>
              <a:defRPr/>
            </a:pPr>
            <a:fld id="{3E8B6F27-EC4F-B34E-9F32-10CC92E9AB18}" type="slidenum">
              <a:rPr lang="zh-CN" altLang="en-US" smtClean="0"/>
              <a:t>19</a:t>
            </a:fld>
            <a:endParaRPr lang="zh-CN" altLang="en-US" dirty="0"/>
          </a:p>
        </p:txBody>
      </p:sp>
      <p:sp>
        <p:nvSpPr>
          <p:cNvPr id="5" name="标题 4"/>
          <p:cNvSpPr>
            <a:spLocks noGrp="1"/>
          </p:cNvSpPr>
          <p:nvPr>
            <p:ph type="title"/>
          </p:nvPr>
        </p:nvSpPr>
        <p:spPr>
          <a:xfrm>
            <a:off x="0" y="33484"/>
            <a:ext cx="6553200" cy="474662"/>
          </a:xfrm>
        </p:spPr>
        <p:txBody>
          <a:bodyPr>
            <a:normAutofit fontScale="90000"/>
          </a:bodyPr>
          <a:lstStyle/>
          <a:p>
            <a:r>
              <a:rPr lang="zh-CN" altLang="en-US" dirty="0">
                <a:solidFill>
                  <a:schemeClr val="tx1"/>
                </a:solidFill>
              </a:rPr>
              <a:t>一手房</a:t>
            </a:r>
            <a:r>
              <a:rPr lang="en-US" altLang="zh-CN" dirty="0">
                <a:solidFill>
                  <a:schemeClr val="tx1"/>
                </a:solidFill>
              </a:rPr>
              <a:t>|</a:t>
            </a:r>
            <a:r>
              <a:rPr lang="en-US" altLang="zh-CN" sz="1800" dirty="0">
                <a:solidFill>
                  <a:schemeClr val="tx1"/>
                </a:solidFill>
                <a:latin typeface="微软雅黑" pitchFamily="34" charset="-122"/>
                <a:ea typeface="微软雅黑" pitchFamily="34" charset="-122"/>
              </a:rPr>
              <a:t>90</a:t>
            </a:r>
            <a:r>
              <a:rPr lang="zh-CN" altLang="en-US" sz="1800" dirty="0">
                <a:solidFill>
                  <a:schemeClr val="tx1"/>
                </a:solidFill>
                <a:latin typeface="微软雅黑" pitchFamily="34" charset="-122"/>
                <a:ea typeface="微软雅黑" pitchFamily="34" charset="-122"/>
              </a:rPr>
              <a:t>㎡以下的成交占比持续走低，刚需群体逐渐脱离新房市场</a:t>
            </a:r>
            <a:endParaRPr lang="zh-CN" altLang="en-US" sz="1000" dirty="0">
              <a:solidFill>
                <a:schemeClr val="tx1"/>
              </a:solidFill>
              <a:latin typeface="微软雅黑" pitchFamily="34" charset="-122"/>
              <a:ea typeface="微软雅黑" pitchFamily="34" charset="-122"/>
            </a:endParaRPr>
          </a:p>
        </p:txBody>
      </p:sp>
      <p:sp>
        <p:nvSpPr>
          <p:cNvPr id="9" name="TextBox 8"/>
          <p:cNvSpPr txBox="1"/>
          <p:nvPr/>
        </p:nvSpPr>
        <p:spPr>
          <a:xfrm>
            <a:off x="205272" y="6573251"/>
            <a:ext cx="4785989" cy="261610"/>
          </a:xfrm>
          <a:prstGeom prst="rect">
            <a:avLst/>
          </a:prstGeom>
          <a:noFill/>
        </p:spPr>
        <p:txBody>
          <a:bodyPr wrap="square" rtlCol="0">
            <a:spAutoFit/>
          </a:bodyPr>
          <a:lstStyle/>
          <a:p>
            <a:r>
              <a:rPr lang="zh-CN" altLang="en-US" sz="1100" b="1" dirty="0">
                <a:latin typeface="+mj-ea"/>
                <a:ea typeface="+mj-ea"/>
              </a:rPr>
              <a:t>备注：新建住宅统计包含普通住宅、别墅，剔除保障房、车位及其它</a:t>
            </a:r>
          </a:p>
        </p:txBody>
      </p:sp>
      <p:graphicFrame>
        <p:nvGraphicFramePr>
          <p:cNvPr id="8" name="图表 7"/>
          <p:cNvGraphicFramePr>
            <a:graphicFrameLocks/>
          </p:cNvGraphicFramePr>
          <p:nvPr>
            <p:extLst>
              <p:ext uri="{D42A27DB-BD31-4B8C-83A1-F6EECF244321}">
                <p14:modId xmlns:p14="http://schemas.microsoft.com/office/powerpoint/2010/main" val="596380411"/>
              </p:ext>
            </p:extLst>
          </p:nvPr>
        </p:nvGraphicFramePr>
        <p:xfrm>
          <a:off x="1215613" y="548596"/>
          <a:ext cx="6325218" cy="3143250"/>
        </p:xfrm>
        <a:graphic>
          <a:graphicData uri="http://schemas.openxmlformats.org/drawingml/2006/chart">
            <c:chart xmlns:c="http://schemas.openxmlformats.org/drawingml/2006/chart" xmlns:r="http://schemas.openxmlformats.org/officeDocument/2006/relationships" r:id="rId2"/>
          </a:graphicData>
        </a:graphic>
      </p:graphicFrame>
      <p:cxnSp>
        <p:nvCxnSpPr>
          <p:cNvPr id="10" name="直接箭头连接符 9"/>
          <p:cNvCxnSpPr/>
          <p:nvPr/>
        </p:nvCxnSpPr>
        <p:spPr>
          <a:xfrm>
            <a:off x="3017212" y="2447655"/>
            <a:ext cx="275155" cy="302957"/>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graphicFrame>
        <p:nvGraphicFramePr>
          <p:cNvPr id="16" name="图表 15"/>
          <p:cNvGraphicFramePr>
            <a:graphicFrameLocks/>
          </p:cNvGraphicFramePr>
          <p:nvPr>
            <p:extLst>
              <p:ext uri="{D42A27DB-BD31-4B8C-83A1-F6EECF244321}">
                <p14:modId xmlns:p14="http://schemas.microsoft.com/office/powerpoint/2010/main" val="1314200409"/>
              </p:ext>
            </p:extLst>
          </p:nvPr>
        </p:nvGraphicFramePr>
        <p:xfrm>
          <a:off x="1215613" y="3538847"/>
          <a:ext cx="6717104" cy="3004498"/>
        </p:xfrm>
        <a:graphic>
          <a:graphicData uri="http://schemas.openxmlformats.org/drawingml/2006/chart">
            <c:chart xmlns:c="http://schemas.openxmlformats.org/drawingml/2006/chart" xmlns:r="http://schemas.openxmlformats.org/officeDocument/2006/relationships" r:id="rId3"/>
          </a:graphicData>
        </a:graphic>
      </p:graphicFrame>
      <p:sp>
        <p:nvSpPr>
          <p:cNvPr id="17" name="椭圆 16"/>
          <p:cNvSpPr/>
          <p:nvPr/>
        </p:nvSpPr>
        <p:spPr>
          <a:xfrm>
            <a:off x="6014428" y="5235257"/>
            <a:ext cx="1621406" cy="439388"/>
          </a:xfrm>
          <a:prstGeom prst="ellipse">
            <a:avLst/>
          </a:prstGeom>
          <a:noFill/>
          <a:ln w="1905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11" name="矩形标注 10"/>
          <p:cNvSpPr/>
          <p:nvPr/>
        </p:nvSpPr>
        <p:spPr>
          <a:xfrm>
            <a:off x="7829300" y="4267417"/>
            <a:ext cx="916876" cy="908465"/>
          </a:xfrm>
          <a:prstGeom prst="wedgeRectCallout">
            <a:avLst>
              <a:gd name="adj1" fmla="val -61339"/>
              <a:gd name="adj2" fmla="val 79521"/>
            </a:avLst>
          </a:prstGeom>
          <a:solidFill>
            <a:schemeClr val="bg1">
              <a:lumMod val="65000"/>
              <a:alpha val="44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1400" b="1" dirty="0">
                <a:solidFill>
                  <a:schemeClr val="tx1"/>
                </a:solidFill>
                <a:latin typeface="微软雅黑" pitchFamily="34" charset="-122"/>
                <a:ea typeface="微软雅黑" pitchFamily="34" charset="-122"/>
              </a:rPr>
              <a:t>小面积的成交占比持续走低</a:t>
            </a:r>
          </a:p>
        </p:txBody>
      </p:sp>
    </p:spTree>
    <p:extLst>
      <p:ext uri="{BB962C8B-B14F-4D97-AF65-F5344CB8AC3E}">
        <p14:creationId xmlns:p14="http://schemas.microsoft.com/office/powerpoint/2010/main" val="5935360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图表 13"/>
          <p:cNvGraphicFramePr>
            <a:graphicFrameLocks/>
          </p:cNvGraphicFramePr>
          <p:nvPr>
            <p:extLst>
              <p:ext uri="{D42A27DB-BD31-4B8C-83A1-F6EECF244321}">
                <p14:modId xmlns:p14="http://schemas.microsoft.com/office/powerpoint/2010/main" val="1430409556"/>
              </p:ext>
            </p:extLst>
          </p:nvPr>
        </p:nvGraphicFramePr>
        <p:xfrm>
          <a:off x="1117884" y="579396"/>
          <a:ext cx="6423935" cy="3171825"/>
        </p:xfrm>
        <a:graphic>
          <a:graphicData uri="http://schemas.openxmlformats.org/drawingml/2006/chart">
            <c:chart xmlns:c="http://schemas.openxmlformats.org/drawingml/2006/chart" xmlns:r="http://schemas.openxmlformats.org/officeDocument/2006/relationships" r:id="rId2"/>
          </a:graphicData>
        </a:graphic>
      </p:graphicFrame>
      <p:sp>
        <p:nvSpPr>
          <p:cNvPr id="2" name="幻灯片编号占位符 1"/>
          <p:cNvSpPr>
            <a:spLocks noGrp="1"/>
          </p:cNvSpPr>
          <p:nvPr>
            <p:ph type="sldNum" sz="quarter" idx="4"/>
          </p:nvPr>
        </p:nvSpPr>
        <p:spPr/>
        <p:txBody>
          <a:bodyPr/>
          <a:lstStyle/>
          <a:p>
            <a:pPr>
              <a:defRPr/>
            </a:pPr>
            <a:fld id="{3E8B6F27-EC4F-B34E-9F32-10CC92E9AB18}" type="slidenum">
              <a:rPr lang="zh-CN" altLang="en-US" smtClean="0"/>
              <a:t>20</a:t>
            </a:fld>
            <a:endParaRPr lang="zh-CN" altLang="en-US" dirty="0"/>
          </a:p>
        </p:txBody>
      </p:sp>
      <p:sp>
        <p:nvSpPr>
          <p:cNvPr id="5" name="标题 4"/>
          <p:cNvSpPr>
            <a:spLocks noGrp="1"/>
          </p:cNvSpPr>
          <p:nvPr>
            <p:ph type="title"/>
          </p:nvPr>
        </p:nvSpPr>
        <p:spPr>
          <a:xfrm>
            <a:off x="162371" y="33484"/>
            <a:ext cx="6226554" cy="474662"/>
          </a:xfrm>
        </p:spPr>
        <p:txBody>
          <a:bodyPr>
            <a:normAutofit/>
          </a:bodyPr>
          <a:lstStyle/>
          <a:p>
            <a:r>
              <a:rPr lang="zh-CN" altLang="en-US" dirty="0"/>
              <a:t>一手房</a:t>
            </a:r>
            <a:r>
              <a:rPr lang="en-US" altLang="zh-CN" dirty="0"/>
              <a:t>| </a:t>
            </a:r>
            <a:r>
              <a:rPr lang="zh-CN" altLang="en-US" sz="1600" dirty="0"/>
              <a:t>新建住宅成交高端化，刚需产品交易量大幅下滑</a:t>
            </a:r>
            <a:endParaRPr lang="zh-CN" altLang="en-US" sz="1050" dirty="0"/>
          </a:p>
        </p:txBody>
      </p:sp>
      <p:sp>
        <p:nvSpPr>
          <p:cNvPr id="9" name="TextBox 8"/>
          <p:cNvSpPr txBox="1"/>
          <p:nvPr/>
        </p:nvSpPr>
        <p:spPr>
          <a:xfrm>
            <a:off x="249147" y="6590670"/>
            <a:ext cx="4785989" cy="261610"/>
          </a:xfrm>
          <a:prstGeom prst="rect">
            <a:avLst/>
          </a:prstGeom>
          <a:noFill/>
        </p:spPr>
        <p:txBody>
          <a:bodyPr wrap="square" rtlCol="0">
            <a:spAutoFit/>
          </a:bodyPr>
          <a:lstStyle/>
          <a:p>
            <a:r>
              <a:rPr lang="zh-CN" altLang="en-US" sz="1100" b="1" dirty="0">
                <a:latin typeface="+mj-ea"/>
                <a:ea typeface="+mj-ea"/>
              </a:rPr>
              <a:t>备注：新建住宅统计包含普通住宅、别墅，剔除保障房</a:t>
            </a:r>
          </a:p>
        </p:txBody>
      </p:sp>
      <p:sp>
        <p:nvSpPr>
          <p:cNvPr id="15" name="矩形标注 14"/>
          <p:cNvSpPr/>
          <p:nvPr/>
        </p:nvSpPr>
        <p:spPr>
          <a:xfrm>
            <a:off x="7496791" y="4286991"/>
            <a:ext cx="1460668" cy="688769"/>
          </a:xfrm>
          <a:prstGeom prst="wedgeRectCallout">
            <a:avLst>
              <a:gd name="adj1" fmla="val -61339"/>
              <a:gd name="adj2" fmla="val 79521"/>
            </a:avLst>
          </a:prstGeom>
          <a:solidFill>
            <a:schemeClr val="bg1">
              <a:lumMod val="65000"/>
              <a:alpha val="44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400" b="1" dirty="0">
                <a:solidFill>
                  <a:schemeClr val="tx1"/>
                </a:solidFill>
                <a:latin typeface="微软雅黑" pitchFamily="34" charset="-122"/>
                <a:ea typeface="微软雅黑" pitchFamily="34" charset="-122"/>
              </a:rPr>
              <a:t>300</a:t>
            </a:r>
            <a:r>
              <a:rPr lang="zh-CN" altLang="en-US" sz="1400" b="1" dirty="0">
                <a:solidFill>
                  <a:schemeClr val="tx1"/>
                </a:solidFill>
                <a:latin typeface="微软雅黑" pitchFamily="34" charset="-122"/>
                <a:ea typeface="微软雅黑" pitchFamily="34" charset="-122"/>
              </a:rPr>
              <a:t>万以下的成交占比下降</a:t>
            </a:r>
            <a:r>
              <a:rPr lang="en-US" altLang="zh-CN" sz="1400" b="1" dirty="0">
                <a:solidFill>
                  <a:schemeClr val="tx1"/>
                </a:solidFill>
                <a:latin typeface="微软雅黑" pitchFamily="34" charset="-122"/>
                <a:ea typeface="微软雅黑" pitchFamily="34" charset="-122"/>
              </a:rPr>
              <a:t>9.4</a:t>
            </a:r>
            <a:r>
              <a:rPr lang="zh-CN" altLang="en-US" sz="1400" b="1" dirty="0">
                <a:solidFill>
                  <a:schemeClr val="tx1"/>
                </a:solidFill>
                <a:latin typeface="微软雅黑" pitchFamily="34" charset="-122"/>
                <a:ea typeface="微软雅黑" pitchFamily="34" charset="-122"/>
              </a:rPr>
              <a:t>个百分点</a:t>
            </a:r>
          </a:p>
        </p:txBody>
      </p:sp>
      <p:sp>
        <p:nvSpPr>
          <p:cNvPr id="17" name="矩形标注 16"/>
          <p:cNvSpPr/>
          <p:nvPr/>
        </p:nvSpPr>
        <p:spPr>
          <a:xfrm>
            <a:off x="7445829" y="1551506"/>
            <a:ext cx="1370610" cy="688769"/>
          </a:xfrm>
          <a:prstGeom prst="wedgeRectCallout">
            <a:avLst>
              <a:gd name="adj1" fmla="val -61339"/>
              <a:gd name="adj2" fmla="val 79521"/>
            </a:avLst>
          </a:prstGeom>
          <a:solidFill>
            <a:schemeClr val="bg1">
              <a:lumMod val="65000"/>
              <a:alpha val="44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400" b="1" dirty="0">
                <a:solidFill>
                  <a:schemeClr val="tx1"/>
                </a:solidFill>
                <a:latin typeface="微软雅黑" pitchFamily="34" charset="-122"/>
                <a:ea typeface="微软雅黑" pitchFamily="34" charset="-122"/>
              </a:rPr>
              <a:t>3</a:t>
            </a:r>
            <a:r>
              <a:rPr lang="zh-CN" altLang="en-US" sz="1400" b="1" dirty="0">
                <a:solidFill>
                  <a:schemeClr val="tx1"/>
                </a:solidFill>
                <a:latin typeface="微软雅黑" pitchFamily="34" charset="-122"/>
                <a:ea typeface="微软雅黑" pitchFamily="34" charset="-122"/>
              </a:rPr>
              <a:t>万</a:t>
            </a:r>
            <a:r>
              <a:rPr lang="en-US" altLang="zh-CN" sz="1400" b="1" dirty="0">
                <a:solidFill>
                  <a:schemeClr val="tx1"/>
                </a:solidFill>
                <a:latin typeface="微软雅黑" pitchFamily="34" charset="-122"/>
                <a:ea typeface="微软雅黑" pitchFamily="34" charset="-122"/>
              </a:rPr>
              <a:t>/</a:t>
            </a:r>
            <a:r>
              <a:rPr lang="zh-CN" altLang="en-US" sz="1400" b="1" dirty="0">
                <a:solidFill>
                  <a:schemeClr val="tx1"/>
                </a:solidFill>
                <a:latin typeface="微软雅黑" pitchFamily="34" charset="-122"/>
                <a:ea typeface="微软雅黑" pitchFamily="34" charset="-122"/>
              </a:rPr>
              <a:t>㎡以下成交占比下降</a:t>
            </a:r>
            <a:r>
              <a:rPr lang="en-US" altLang="zh-CN" sz="1400" b="1" dirty="0">
                <a:solidFill>
                  <a:schemeClr val="tx1"/>
                </a:solidFill>
                <a:latin typeface="微软雅黑" pitchFamily="34" charset="-122"/>
                <a:ea typeface="微软雅黑" pitchFamily="34" charset="-122"/>
              </a:rPr>
              <a:t>10.1</a:t>
            </a:r>
            <a:r>
              <a:rPr lang="zh-CN" altLang="en-US" sz="1400" b="1" dirty="0">
                <a:solidFill>
                  <a:schemeClr val="tx1"/>
                </a:solidFill>
                <a:latin typeface="微软雅黑" pitchFamily="34" charset="-122"/>
                <a:ea typeface="微软雅黑" pitchFamily="34" charset="-122"/>
              </a:rPr>
              <a:t>个百分点</a:t>
            </a:r>
          </a:p>
        </p:txBody>
      </p:sp>
      <p:sp>
        <p:nvSpPr>
          <p:cNvPr id="18" name="椭圆 17"/>
          <p:cNvSpPr/>
          <p:nvPr/>
        </p:nvSpPr>
        <p:spPr>
          <a:xfrm>
            <a:off x="6673432" y="1895891"/>
            <a:ext cx="641269" cy="472196"/>
          </a:xfrm>
          <a:prstGeom prst="ellipse">
            <a:avLst/>
          </a:prstGeom>
          <a:noFill/>
          <a:ln w="1905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graphicFrame>
        <p:nvGraphicFramePr>
          <p:cNvPr id="16" name="图表 15"/>
          <p:cNvGraphicFramePr>
            <a:graphicFrameLocks/>
          </p:cNvGraphicFramePr>
          <p:nvPr>
            <p:extLst>
              <p:ext uri="{D42A27DB-BD31-4B8C-83A1-F6EECF244321}">
                <p14:modId xmlns:p14="http://schemas.microsoft.com/office/powerpoint/2010/main" val="4087178624"/>
              </p:ext>
            </p:extLst>
          </p:nvPr>
        </p:nvGraphicFramePr>
        <p:xfrm>
          <a:off x="1117884" y="3510570"/>
          <a:ext cx="6327945" cy="2930379"/>
        </p:xfrm>
        <a:graphic>
          <a:graphicData uri="http://schemas.openxmlformats.org/drawingml/2006/chart">
            <c:chart xmlns:c="http://schemas.openxmlformats.org/drawingml/2006/chart" xmlns:r="http://schemas.openxmlformats.org/officeDocument/2006/relationships" r:id="rId3"/>
          </a:graphicData>
        </a:graphic>
      </p:graphicFrame>
      <p:sp>
        <p:nvSpPr>
          <p:cNvPr id="19" name="椭圆 18"/>
          <p:cNvSpPr/>
          <p:nvPr/>
        </p:nvSpPr>
        <p:spPr>
          <a:xfrm>
            <a:off x="6684808" y="4827119"/>
            <a:ext cx="641269" cy="472196"/>
          </a:xfrm>
          <a:prstGeom prst="ellipse">
            <a:avLst/>
          </a:prstGeom>
          <a:noFill/>
          <a:ln w="1905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478848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编号占位符 1"/>
          <p:cNvSpPr>
            <a:spLocks noGrp="1"/>
          </p:cNvSpPr>
          <p:nvPr>
            <p:ph type="sldNum" sz="quarter" idx="4"/>
          </p:nvPr>
        </p:nvSpPr>
        <p:spPr/>
        <p:txBody>
          <a:bodyPr/>
          <a:lstStyle/>
          <a:p>
            <a:pPr>
              <a:defRPr/>
            </a:pPr>
            <a:fld id="{3E8B6F27-EC4F-B34E-9F32-10CC92E9AB18}" type="slidenum">
              <a:rPr lang="zh-CN" altLang="en-US" smtClean="0"/>
              <a:t>21</a:t>
            </a:fld>
            <a:endParaRPr lang="zh-CN" altLang="en-US" dirty="0"/>
          </a:p>
        </p:txBody>
      </p:sp>
      <p:sp>
        <p:nvSpPr>
          <p:cNvPr id="3" name="标题 2"/>
          <p:cNvSpPr>
            <a:spLocks noGrp="1"/>
          </p:cNvSpPr>
          <p:nvPr>
            <p:ph type="title"/>
          </p:nvPr>
        </p:nvSpPr>
        <p:spPr>
          <a:xfrm>
            <a:off x="165454" y="30392"/>
            <a:ext cx="5462090" cy="474662"/>
          </a:xfrm>
        </p:spPr>
        <p:txBody>
          <a:bodyPr/>
          <a:lstStyle/>
          <a:p>
            <a:r>
              <a:rPr lang="zh-CN" altLang="en-US" dirty="0"/>
              <a:t>一手房</a:t>
            </a:r>
            <a:r>
              <a:rPr lang="en-US" altLang="zh-CN" dirty="0"/>
              <a:t>| </a:t>
            </a:r>
            <a:r>
              <a:rPr lang="zh-CN" altLang="en-US" sz="1800" dirty="0"/>
              <a:t>成交项目</a:t>
            </a:r>
            <a:r>
              <a:rPr lang="en-US" altLang="zh-CN" sz="1800" dirty="0"/>
              <a:t>TOP10</a:t>
            </a:r>
            <a:endParaRPr lang="zh-CN" altLang="en-US" sz="1400" dirty="0"/>
          </a:p>
        </p:txBody>
      </p:sp>
      <p:sp>
        <p:nvSpPr>
          <p:cNvPr id="9" name="TextBox 8"/>
          <p:cNvSpPr txBox="1"/>
          <p:nvPr/>
        </p:nvSpPr>
        <p:spPr>
          <a:xfrm>
            <a:off x="487430" y="6331583"/>
            <a:ext cx="4320480" cy="261610"/>
          </a:xfrm>
          <a:prstGeom prst="rect">
            <a:avLst/>
          </a:prstGeom>
          <a:noFill/>
        </p:spPr>
        <p:txBody>
          <a:bodyPr wrap="square" rtlCol="0">
            <a:spAutoFit/>
          </a:bodyPr>
          <a:lstStyle/>
          <a:p>
            <a:r>
              <a:rPr lang="zh-CN" altLang="en-US" sz="1100" b="1" dirty="0">
                <a:latin typeface="+mj-ea"/>
                <a:ea typeface="+mj-ea"/>
              </a:rPr>
              <a:t>备注：本排名不包含经适房、两限房</a:t>
            </a:r>
          </a:p>
        </p:txBody>
      </p:sp>
      <p:sp>
        <p:nvSpPr>
          <p:cNvPr id="11" name="矩形 10"/>
          <p:cNvSpPr/>
          <p:nvPr/>
        </p:nvSpPr>
        <p:spPr>
          <a:xfrm>
            <a:off x="438692" y="626559"/>
            <a:ext cx="2684518" cy="327546"/>
          </a:xfrm>
          <a:prstGeom prst="rect">
            <a:avLst/>
          </a:prstGeom>
          <a:solidFill>
            <a:schemeClr val="accent6">
              <a:lumMod val="75000"/>
              <a:alpha val="46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400" b="1" dirty="0">
                <a:latin typeface="微软雅黑" pitchFamily="34" charset="-122"/>
                <a:ea typeface="微软雅黑" pitchFamily="34" charset="-122"/>
              </a:rPr>
              <a:t>9</a:t>
            </a:r>
            <a:r>
              <a:rPr lang="zh-CN" altLang="en-US" sz="1400" b="1" dirty="0">
                <a:latin typeface="微软雅黑" pitchFamily="34" charset="-122"/>
                <a:ea typeface="微软雅黑" pitchFamily="34" charset="-122"/>
              </a:rPr>
              <a:t>月普通住宅成交</a:t>
            </a:r>
            <a:r>
              <a:rPr lang="en-US" altLang="zh-CN" sz="1400" b="1" dirty="0">
                <a:latin typeface="微软雅黑" pitchFamily="34" charset="-122"/>
                <a:ea typeface="微软雅黑" pitchFamily="34" charset="-122"/>
              </a:rPr>
              <a:t>TOP10</a:t>
            </a:r>
            <a:endParaRPr lang="zh-CN" altLang="en-US" sz="1400" b="1" dirty="0">
              <a:latin typeface="微软雅黑" pitchFamily="34" charset="-122"/>
              <a:ea typeface="微软雅黑" pitchFamily="34" charset="-122"/>
            </a:endParaRPr>
          </a:p>
        </p:txBody>
      </p:sp>
      <p:graphicFrame>
        <p:nvGraphicFramePr>
          <p:cNvPr id="5" name="表格 4"/>
          <p:cNvGraphicFramePr>
            <a:graphicFrameLocks noGrp="1"/>
          </p:cNvGraphicFramePr>
          <p:nvPr>
            <p:extLst>
              <p:ext uri="{D42A27DB-BD31-4B8C-83A1-F6EECF244321}">
                <p14:modId xmlns:p14="http://schemas.microsoft.com/office/powerpoint/2010/main" val="2134905552"/>
              </p:ext>
            </p:extLst>
          </p:nvPr>
        </p:nvGraphicFramePr>
        <p:xfrm>
          <a:off x="437997" y="976813"/>
          <a:ext cx="7967798" cy="2520000"/>
        </p:xfrm>
        <a:graphic>
          <a:graphicData uri="http://schemas.openxmlformats.org/drawingml/2006/table">
            <a:tbl>
              <a:tblPr>
                <a:tableStyleId>{5C22544A-7EE6-4342-B048-85BDC9FD1C3A}</a:tableStyleId>
              </a:tblPr>
              <a:tblGrid>
                <a:gridCol w="628848">
                  <a:extLst>
                    <a:ext uri="{9D8B030D-6E8A-4147-A177-3AD203B41FA5}">
                      <a16:colId xmlns:a16="http://schemas.microsoft.com/office/drawing/2014/main" val="20000"/>
                    </a:ext>
                  </a:extLst>
                </a:gridCol>
                <a:gridCol w="1474474">
                  <a:extLst>
                    <a:ext uri="{9D8B030D-6E8A-4147-A177-3AD203B41FA5}">
                      <a16:colId xmlns:a16="http://schemas.microsoft.com/office/drawing/2014/main" val="20001"/>
                    </a:ext>
                  </a:extLst>
                </a:gridCol>
                <a:gridCol w="1294411">
                  <a:extLst>
                    <a:ext uri="{9D8B030D-6E8A-4147-A177-3AD203B41FA5}">
                      <a16:colId xmlns:a16="http://schemas.microsoft.com/office/drawing/2014/main" val="20002"/>
                    </a:ext>
                  </a:extLst>
                </a:gridCol>
                <a:gridCol w="819397">
                  <a:extLst>
                    <a:ext uri="{9D8B030D-6E8A-4147-A177-3AD203B41FA5}">
                      <a16:colId xmlns:a16="http://schemas.microsoft.com/office/drawing/2014/main" val="20003"/>
                    </a:ext>
                  </a:extLst>
                </a:gridCol>
                <a:gridCol w="938151">
                  <a:extLst>
                    <a:ext uri="{9D8B030D-6E8A-4147-A177-3AD203B41FA5}">
                      <a16:colId xmlns:a16="http://schemas.microsoft.com/office/drawing/2014/main" val="20004"/>
                    </a:ext>
                  </a:extLst>
                </a:gridCol>
                <a:gridCol w="819397">
                  <a:extLst>
                    <a:ext uri="{9D8B030D-6E8A-4147-A177-3AD203B41FA5}">
                      <a16:colId xmlns:a16="http://schemas.microsoft.com/office/drawing/2014/main" val="20005"/>
                    </a:ext>
                  </a:extLst>
                </a:gridCol>
                <a:gridCol w="938151">
                  <a:extLst>
                    <a:ext uri="{9D8B030D-6E8A-4147-A177-3AD203B41FA5}">
                      <a16:colId xmlns:a16="http://schemas.microsoft.com/office/drawing/2014/main" val="20006"/>
                    </a:ext>
                  </a:extLst>
                </a:gridCol>
                <a:gridCol w="1054969">
                  <a:extLst>
                    <a:ext uri="{9D8B030D-6E8A-4147-A177-3AD203B41FA5}">
                      <a16:colId xmlns:a16="http://schemas.microsoft.com/office/drawing/2014/main" val="20007"/>
                    </a:ext>
                  </a:extLst>
                </a:gridCol>
              </a:tblGrid>
              <a:tr h="311190">
                <a:tc>
                  <a:txBody>
                    <a:bodyPr/>
                    <a:lstStyle/>
                    <a:p>
                      <a:pPr algn="ctr" fontAlgn="b"/>
                      <a:r>
                        <a:rPr lang="zh-CN" altLang="en-US" sz="1200" b="1" u="none" strike="noStrike" dirty="0">
                          <a:solidFill>
                            <a:schemeClr val="bg1"/>
                          </a:solidFill>
                          <a:effectLst/>
                          <a:latin typeface="+mn-ea"/>
                          <a:ea typeface="+mn-ea"/>
                        </a:rPr>
                        <a:t>名次</a:t>
                      </a:r>
                      <a:endParaRPr lang="zh-CN" altLang="en-US" sz="1200" b="1" i="0" u="none" strike="noStrike" dirty="0">
                        <a:solidFill>
                          <a:schemeClr val="bg1"/>
                        </a:solidFill>
                        <a:effectLst/>
                        <a:latin typeface="+mn-ea"/>
                        <a:ea typeface="+mn-ea"/>
                      </a:endParaRPr>
                    </a:p>
                  </a:txBody>
                  <a:tcPr marL="7218" marR="7218" marT="7218" marB="0" anchor="ctr">
                    <a:solidFill>
                      <a:srgbClr val="008FCE"/>
                    </a:solidFill>
                  </a:tcPr>
                </a:tc>
                <a:tc>
                  <a:txBody>
                    <a:bodyPr/>
                    <a:lstStyle/>
                    <a:p>
                      <a:pPr algn="ctr" fontAlgn="b"/>
                      <a:r>
                        <a:rPr lang="zh-CN" altLang="en-US" sz="1200" b="1" u="none" strike="noStrike" dirty="0">
                          <a:solidFill>
                            <a:schemeClr val="bg1"/>
                          </a:solidFill>
                          <a:effectLst/>
                          <a:latin typeface="+mn-ea"/>
                          <a:ea typeface="+mn-ea"/>
                        </a:rPr>
                        <a:t>项目名称</a:t>
                      </a:r>
                      <a:endParaRPr lang="zh-CN" altLang="en-US" sz="1200" b="1" i="0" u="none" strike="noStrike" dirty="0">
                        <a:solidFill>
                          <a:schemeClr val="bg1"/>
                        </a:solidFill>
                        <a:effectLst/>
                        <a:latin typeface="+mn-ea"/>
                        <a:ea typeface="+mn-ea"/>
                      </a:endParaRPr>
                    </a:p>
                  </a:txBody>
                  <a:tcPr marL="7218" marR="7218" marT="7218" marB="0" anchor="ctr">
                    <a:solidFill>
                      <a:srgbClr val="008FCE"/>
                    </a:solidFill>
                  </a:tcPr>
                </a:tc>
                <a:tc>
                  <a:txBody>
                    <a:bodyPr/>
                    <a:lstStyle/>
                    <a:p>
                      <a:pPr algn="ctr" fontAlgn="b"/>
                      <a:r>
                        <a:rPr lang="zh-CN" altLang="en-US" sz="1200" b="1" u="none" strike="noStrike" dirty="0">
                          <a:solidFill>
                            <a:schemeClr val="bg1"/>
                          </a:solidFill>
                          <a:effectLst/>
                          <a:latin typeface="+mn-ea"/>
                          <a:ea typeface="+mn-ea"/>
                        </a:rPr>
                        <a:t>环线</a:t>
                      </a:r>
                      <a:endParaRPr lang="zh-CN" altLang="en-US" sz="1200" b="1" i="0" u="none" strike="noStrike" dirty="0">
                        <a:solidFill>
                          <a:schemeClr val="bg1"/>
                        </a:solidFill>
                        <a:effectLst/>
                        <a:latin typeface="+mn-ea"/>
                        <a:ea typeface="+mn-ea"/>
                      </a:endParaRPr>
                    </a:p>
                  </a:txBody>
                  <a:tcPr marL="7218" marR="7218" marT="7218" marB="0" anchor="ctr">
                    <a:solidFill>
                      <a:srgbClr val="008FCE"/>
                    </a:solidFill>
                  </a:tcPr>
                </a:tc>
                <a:tc>
                  <a:txBody>
                    <a:bodyPr/>
                    <a:lstStyle/>
                    <a:p>
                      <a:pPr algn="ctr" fontAlgn="b"/>
                      <a:r>
                        <a:rPr lang="zh-CN" altLang="en-US" sz="1200" b="1" u="none" strike="noStrike" dirty="0">
                          <a:solidFill>
                            <a:schemeClr val="bg1"/>
                          </a:solidFill>
                          <a:effectLst/>
                          <a:latin typeface="+mn-ea"/>
                          <a:ea typeface="+mn-ea"/>
                        </a:rPr>
                        <a:t>行政区</a:t>
                      </a:r>
                      <a:endParaRPr lang="zh-CN" altLang="en-US" sz="1200" b="1" i="0" u="none" strike="noStrike" dirty="0">
                        <a:solidFill>
                          <a:schemeClr val="bg1"/>
                        </a:solidFill>
                        <a:effectLst/>
                        <a:latin typeface="+mn-ea"/>
                        <a:ea typeface="+mn-ea"/>
                      </a:endParaRPr>
                    </a:p>
                  </a:txBody>
                  <a:tcPr marL="7218" marR="7218" marT="7218" marB="0" anchor="ctr">
                    <a:solidFill>
                      <a:srgbClr val="008FCE"/>
                    </a:solidFill>
                  </a:tcPr>
                </a:tc>
                <a:tc>
                  <a:txBody>
                    <a:bodyPr/>
                    <a:lstStyle/>
                    <a:p>
                      <a:pPr algn="ctr" fontAlgn="b"/>
                      <a:r>
                        <a:rPr lang="zh-CN" altLang="en-US" sz="1200" b="1" u="none" strike="noStrike" dirty="0">
                          <a:solidFill>
                            <a:schemeClr val="bg1"/>
                          </a:solidFill>
                          <a:effectLst/>
                          <a:latin typeface="+mn-ea"/>
                          <a:ea typeface="+mn-ea"/>
                        </a:rPr>
                        <a:t>套数↓</a:t>
                      </a:r>
                      <a:endParaRPr lang="zh-CN" altLang="en-US" sz="1200" b="1" i="0" u="none" strike="noStrike" dirty="0">
                        <a:solidFill>
                          <a:schemeClr val="bg1"/>
                        </a:solidFill>
                        <a:effectLst/>
                        <a:latin typeface="+mn-ea"/>
                        <a:ea typeface="+mn-ea"/>
                      </a:endParaRPr>
                    </a:p>
                  </a:txBody>
                  <a:tcPr marL="7218" marR="7218" marT="7218" marB="0" anchor="ctr">
                    <a:solidFill>
                      <a:srgbClr val="008FCE"/>
                    </a:solidFill>
                  </a:tcPr>
                </a:tc>
                <a:tc>
                  <a:txBody>
                    <a:bodyPr/>
                    <a:lstStyle/>
                    <a:p>
                      <a:pPr algn="ctr" fontAlgn="b"/>
                      <a:r>
                        <a:rPr lang="zh-CN" altLang="en-US" sz="1200" b="1" u="none" strike="noStrike" dirty="0">
                          <a:solidFill>
                            <a:schemeClr val="bg1"/>
                          </a:solidFill>
                          <a:effectLst/>
                          <a:latin typeface="+mn-ea"/>
                          <a:ea typeface="+mn-ea"/>
                        </a:rPr>
                        <a:t>面积</a:t>
                      </a:r>
                      <a:r>
                        <a:rPr lang="en-US" altLang="zh-CN" sz="1200" b="1" u="none" strike="noStrike" dirty="0">
                          <a:solidFill>
                            <a:schemeClr val="bg1"/>
                          </a:solidFill>
                          <a:effectLst/>
                          <a:latin typeface="+mn-ea"/>
                          <a:ea typeface="+mn-ea"/>
                        </a:rPr>
                        <a:t>(㎡)</a:t>
                      </a:r>
                      <a:endParaRPr lang="en-US" altLang="zh-CN" sz="1200" b="1" i="0" u="none" strike="noStrike" dirty="0">
                        <a:solidFill>
                          <a:schemeClr val="bg1"/>
                        </a:solidFill>
                        <a:effectLst/>
                        <a:latin typeface="+mn-ea"/>
                        <a:ea typeface="+mn-ea"/>
                      </a:endParaRPr>
                    </a:p>
                  </a:txBody>
                  <a:tcPr marL="7218" marR="7218" marT="7218" marB="0" anchor="ctr">
                    <a:solidFill>
                      <a:srgbClr val="008FCE"/>
                    </a:solidFill>
                  </a:tcPr>
                </a:tc>
                <a:tc>
                  <a:txBody>
                    <a:bodyPr/>
                    <a:lstStyle/>
                    <a:p>
                      <a:pPr algn="ctr" fontAlgn="b"/>
                      <a:r>
                        <a:rPr lang="zh-CN" altLang="en-US" sz="1200" b="1" u="none" strike="noStrike" dirty="0">
                          <a:solidFill>
                            <a:schemeClr val="bg1"/>
                          </a:solidFill>
                          <a:effectLst/>
                          <a:latin typeface="+mn-ea"/>
                          <a:ea typeface="+mn-ea"/>
                        </a:rPr>
                        <a:t>均价</a:t>
                      </a:r>
                      <a:r>
                        <a:rPr lang="en-US" altLang="zh-CN" sz="1200" b="1" u="none" strike="noStrike" dirty="0">
                          <a:solidFill>
                            <a:schemeClr val="bg1"/>
                          </a:solidFill>
                          <a:effectLst/>
                          <a:latin typeface="+mn-ea"/>
                          <a:ea typeface="+mn-ea"/>
                        </a:rPr>
                        <a:t>(</a:t>
                      </a:r>
                      <a:r>
                        <a:rPr lang="zh-CN" altLang="en-US" sz="1200" b="1" u="none" strike="noStrike" dirty="0">
                          <a:solidFill>
                            <a:schemeClr val="bg1"/>
                          </a:solidFill>
                          <a:effectLst/>
                          <a:latin typeface="+mn-ea"/>
                          <a:ea typeface="+mn-ea"/>
                        </a:rPr>
                        <a:t>元</a:t>
                      </a:r>
                      <a:r>
                        <a:rPr lang="en-US" altLang="zh-CN" sz="1200" b="1" u="none" strike="noStrike" dirty="0">
                          <a:solidFill>
                            <a:schemeClr val="bg1"/>
                          </a:solidFill>
                          <a:effectLst/>
                          <a:latin typeface="+mn-ea"/>
                          <a:ea typeface="+mn-ea"/>
                        </a:rPr>
                        <a:t>/㎡)</a:t>
                      </a:r>
                      <a:endParaRPr lang="en-US" altLang="zh-CN" sz="1200" b="1" i="0" u="none" strike="noStrike" dirty="0">
                        <a:solidFill>
                          <a:schemeClr val="bg1"/>
                        </a:solidFill>
                        <a:effectLst/>
                        <a:latin typeface="+mn-ea"/>
                        <a:ea typeface="+mn-ea"/>
                      </a:endParaRPr>
                    </a:p>
                  </a:txBody>
                  <a:tcPr marL="7218" marR="7218" marT="7218" marB="0" anchor="ctr">
                    <a:solidFill>
                      <a:srgbClr val="008FCE"/>
                    </a:solidFill>
                  </a:tcPr>
                </a:tc>
                <a:tc>
                  <a:txBody>
                    <a:bodyPr/>
                    <a:lstStyle/>
                    <a:p>
                      <a:pPr algn="ctr" fontAlgn="b"/>
                      <a:r>
                        <a:rPr lang="zh-CN" altLang="en-US" sz="1200" b="1" u="none" strike="noStrike" dirty="0">
                          <a:solidFill>
                            <a:schemeClr val="bg1"/>
                          </a:solidFill>
                          <a:effectLst/>
                          <a:latin typeface="+mn-ea"/>
                          <a:ea typeface="+mn-ea"/>
                        </a:rPr>
                        <a:t>金额（亿元）</a:t>
                      </a:r>
                      <a:endParaRPr lang="zh-CN" altLang="en-US" sz="1200" b="1" i="0" u="none" strike="noStrike" dirty="0">
                        <a:solidFill>
                          <a:schemeClr val="bg1"/>
                        </a:solidFill>
                        <a:effectLst/>
                        <a:latin typeface="+mn-ea"/>
                        <a:ea typeface="+mn-ea"/>
                      </a:endParaRPr>
                    </a:p>
                  </a:txBody>
                  <a:tcPr marL="7218" marR="7218" marT="7218" marB="0" anchor="ctr">
                    <a:solidFill>
                      <a:srgbClr val="008FCE"/>
                    </a:solidFill>
                  </a:tcPr>
                </a:tc>
                <a:extLst>
                  <a:ext uri="{0D108BD9-81ED-4DB2-BD59-A6C34878D82A}">
                    <a16:rowId xmlns:a16="http://schemas.microsoft.com/office/drawing/2014/main" val="10000"/>
                  </a:ext>
                </a:extLst>
              </a:tr>
              <a:tr h="220881">
                <a:tc>
                  <a:txBody>
                    <a:bodyPr/>
                    <a:lstStyle/>
                    <a:p>
                      <a:pPr algn="ctr" fontAlgn="ctr"/>
                      <a:r>
                        <a:rPr lang="en-US" altLang="zh-CN" sz="1200" b="0" i="0" u="none" strike="noStrike">
                          <a:solidFill>
                            <a:srgbClr val="000000"/>
                          </a:solidFill>
                          <a:effectLst/>
                          <a:latin typeface="+mn-ea"/>
                          <a:ea typeface="+mn-ea"/>
                        </a:rPr>
                        <a:t>1</a:t>
                      </a:r>
                    </a:p>
                  </a:txBody>
                  <a:tcPr marL="9525" marR="9525" marT="9525" marB="0" anchor="ctr"/>
                </a:tc>
                <a:tc>
                  <a:txBody>
                    <a:bodyPr/>
                    <a:lstStyle/>
                    <a:p>
                      <a:pPr algn="ctr" fontAlgn="b"/>
                      <a:r>
                        <a:rPr lang="zh-CN" altLang="en-US" sz="1200" b="0" i="0" u="none" strike="noStrike">
                          <a:solidFill>
                            <a:srgbClr val="000000"/>
                          </a:solidFill>
                          <a:effectLst/>
                          <a:latin typeface="+mn-ea"/>
                          <a:ea typeface="+mn-ea"/>
                        </a:rPr>
                        <a:t>华业东方玫瑰</a:t>
                      </a:r>
                    </a:p>
                  </a:txBody>
                  <a:tcPr marL="9525" marR="9525" marT="9525" marB="0" anchor="b"/>
                </a:tc>
                <a:tc>
                  <a:txBody>
                    <a:bodyPr/>
                    <a:lstStyle/>
                    <a:p>
                      <a:pPr algn="ctr" fontAlgn="b"/>
                      <a:r>
                        <a:rPr lang="zh-CN" altLang="en-US" sz="1200" b="0" i="0" u="none" strike="noStrike">
                          <a:solidFill>
                            <a:srgbClr val="000000"/>
                          </a:solidFill>
                          <a:effectLst/>
                          <a:latin typeface="+mn-ea"/>
                          <a:ea typeface="+mn-ea"/>
                        </a:rPr>
                        <a:t>五、六环之间</a:t>
                      </a:r>
                    </a:p>
                  </a:txBody>
                  <a:tcPr marL="9525" marR="9525" marT="9525" marB="0" anchor="b"/>
                </a:tc>
                <a:tc>
                  <a:txBody>
                    <a:bodyPr/>
                    <a:lstStyle/>
                    <a:p>
                      <a:pPr algn="ctr" fontAlgn="b"/>
                      <a:r>
                        <a:rPr lang="zh-CN" altLang="en-US" sz="1200" b="0" i="0" u="none" strike="noStrike">
                          <a:solidFill>
                            <a:srgbClr val="000000"/>
                          </a:solidFill>
                          <a:effectLst/>
                          <a:latin typeface="+mn-ea"/>
                          <a:ea typeface="+mn-ea"/>
                        </a:rPr>
                        <a:t>通州</a:t>
                      </a:r>
                    </a:p>
                  </a:txBody>
                  <a:tcPr marL="9525" marR="9525" marT="9525" marB="0" anchor="b"/>
                </a:tc>
                <a:tc>
                  <a:txBody>
                    <a:bodyPr/>
                    <a:lstStyle/>
                    <a:p>
                      <a:pPr algn="ctr" fontAlgn="b"/>
                      <a:r>
                        <a:rPr lang="en-US" altLang="zh-CN" sz="1200" b="0" i="0" u="none" strike="noStrike">
                          <a:solidFill>
                            <a:srgbClr val="000000"/>
                          </a:solidFill>
                          <a:effectLst/>
                          <a:latin typeface="+mn-ea"/>
                          <a:ea typeface="+mn-ea"/>
                        </a:rPr>
                        <a:t>237</a:t>
                      </a:r>
                    </a:p>
                  </a:txBody>
                  <a:tcPr marL="9525" marR="9525" marT="9525" marB="0" anchor="b"/>
                </a:tc>
                <a:tc>
                  <a:txBody>
                    <a:bodyPr/>
                    <a:lstStyle/>
                    <a:p>
                      <a:pPr algn="r" fontAlgn="b"/>
                      <a:r>
                        <a:rPr lang="en-US" altLang="zh-CN" sz="1200" b="0" i="0" u="none" strike="noStrike" dirty="0">
                          <a:solidFill>
                            <a:srgbClr val="000000"/>
                          </a:solidFill>
                          <a:effectLst/>
                          <a:latin typeface="+mn-ea"/>
                          <a:ea typeface="+mn-ea"/>
                        </a:rPr>
                        <a:t>22035. 0</a:t>
                      </a:r>
                    </a:p>
                  </a:txBody>
                  <a:tcPr marL="9525" marR="9525" marT="9525" marB="0" anchor="b"/>
                </a:tc>
                <a:tc>
                  <a:txBody>
                    <a:bodyPr/>
                    <a:lstStyle/>
                    <a:p>
                      <a:pPr algn="r" fontAlgn="b"/>
                      <a:r>
                        <a:rPr lang="en-US" altLang="zh-CN" sz="1200" b="0" i="0" u="none" strike="noStrike">
                          <a:solidFill>
                            <a:srgbClr val="000000"/>
                          </a:solidFill>
                          <a:effectLst/>
                          <a:latin typeface="+mn-ea"/>
                          <a:ea typeface="+mn-ea"/>
                        </a:rPr>
                        <a:t>50997</a:t>
                      </a:r>
                    </a:p>
                  </a:txBody>
                  <a:tcPr marL="9525" marR="9525" marT="9525" marB="0" anchor="b"/>
                </a:tc>
                <a:tc>
                  <a:txBody>
                    <a:bodyPr/>
                    <a:lstStyle/>
                    <a:p>
                      <a:pPr algn="r" fontAlgn="b"/>
                      <a:r>
                        <a:rPr lang="en-US" altLang="zh-CN" sz="1200" b="0" i="0" u="none" strike="noStrike">
                          <a:solidFill>
                            <a:srgbClr val="000000"/>
                          </a:solidFill>
                          <a:effectLst/>
                          <a:latin typeface="+mn-ea"/>
                          <a:ea typeface="+mn-ea"/>
                        </a:rPr>
                        <a:t>11.24</a:t>
                      </a:r>
                    </a:p>
                  </a:txBody>
                  <a:tcPr marL="9525" marR="9525" marT="9525" marB="0" anchor="b"/>
                </a:tc>
                <a:extLst>
                  <a:ext uri="{0D108BD9-81ED-4DB2-BD59-A6C34878D82A}">
                    <a16:rowId xmlns:a16="http://schemas.microsoft.com/office/drawing/2014/main" val="10001"/>
                  </a:ext>
                </a:extLst>
              </a:tr>
              <a:tr h="220881">
                <a:tc>
                  <a:txBody>
                    <a:bodyPr/>
                    <a:lstStyle/>
                    <a:p>
                      <a:pPr algn="ctr" fontAlgn="ctr"/>
                      <a:r>
                        <a:rPr lang="en-US" altLang="zh-CN" sz="1200" b="0" i="0" u="none" strike="noStrike">
                          <a:solidFill>
                            <a:srgbClr val="000000"/>
                          </a:solidFill>
                          <a:effectLst/>
                          <a:latin typeface="+mn-ea"/>
                          <a:ea typeface="+mn-ea"/>
                        </a:rPr>
                        <a:t>2</a:t>
                      </a:r>
                    </a:p>
                  </a:txBody>
                  <a:tcPr marL="9525" marR="9525" marT="9525" marB="0" anchor="ctr"/>
                </a:tc>
                <a:tc>
                  <a:txBody>
                    <a:bodyPr/>
                    <a:lstStyle/>
                    <a:p>
                      <a:pPr algn="ctr" fontAlgn="b"/>
                      <a:r>
                        <a:rPr lang="zh-CN" altLang="en-US" sz="1200" b="0" i="0" u="none" strike="noStrike">
                          <a:solidFill>
                            <a:srgbClr val="000000"/>
                          </a:solidFill>
                          <a:effectLst/>
                          <a:latin typeface="+mn-ea"/>
                          <a:ea typeface="+mn-ea"/>
                        </a:rPr>
                        <a:t>水墨林溪</a:t>
                      </a:r>
                    </a:p>
                  </a:txBody>
                  <a:tcPr marL="9525" marR="9525" marT="9525" marB="0" anchor="b"/>
                </a:tc>
                <a:tc>
                  <a:txBody>
                    <a:bodyPr/>
                    <a:lstStyle/>
                    <a:p>
                      <a:pPr algn="ctr" fontAlgn="b"/>
                      <a:r>
                        <a:rPr lang="zh-CN" altLang="en-US" sz="1200" b="0" i="0" u="none" strike="noStrike">
                          <a:solidFill>
                            <a:srgbClr val="000000"/>
                          </a:solidFill>
                          <a:effectLst/>
                          <a:latin typeface="+mn-ea"/>
                          <a:ea typeface="+mn-ea"/>
                        </a:rPr>
                        <a:t>六环以外</a:t>
                      </a:r>
                    </a:p>
                  </a:txBody>
                  <a:tcPr marL="9525" marR="9525" marT="9525" marB="0" anchor="b"/>
                </a:tc>
                <a:tc>
                  <a:txBody>
                    <a:bodyPr/>
                    <a:lstStyle/>
                    <a:p>
                      <a:pPr algn="ctr" fontAlgn="b"/>
                      <a:r>
                        <a:rPr lang="zh-CN" altLang="en-US" sz="1200" b="0" i="0" u="none" strike="noStrike">
                          <a:solidFill>
                            <a:srgbClr val="000000"/>
                          </a:solidFill>
                          <a:effectLst/>
                          <a:latin typeface="+mn-ea"/>
                          <a:ea typeface="+mn-ea"/>
                        </a:rPr>
                        <a:t>房山</a:t>
                      </a:r>
                    </a:p>
                  </a:txBody>
                  <a:tcPr marL="9525" marR="9525" marT="9525" marB="0" anchor="b"/>
                </a:tc>
                <a:tc>
                  <a:txBody>
                    <a:bodyPr/>
                    <a:lstStyle/>
                    <a:p>
                      <a:pPr algn="ctr" fontAlgn="b"/>
                      <a:r>
                        <a:rPr lang="en-US" altLang="zh-CN" sz="1200" b="0" i="0" u="none" strike="noStrike">
                          <a:solidFill>
                            <a:srgbClr val="000000"/>
                          </a:solidFill>
                          <a:effectLst/>
                          <a:latin typeface="+mn-ea"/>
                          <a:ea typeface="+mn-ea"/>
                        </a:rPr>
                        <a:t>196</a:t>
                      </a:r>
                    </a:p>
                  </a:txBody>
                  <a:tcPr marL="9525" marR="9525" marT="9525" marB="0" anchor="b"/>
                </a:tc>
                <a:tc>
                  <a:txBody>
                    <a:bodyPr/>
                    <a:lstStyle/>
                    <a:p>
                      <a:pPr algn="r" fontAlgn="b"/>
                      <a:r>
                        <a:rPr lang="en-US" altLang="zh-CN" sz="1200" b="0" i="0" u="none" strike="noStrike" dirty="0">
                          <a:solidFill>
                            <a:srgbClr val="000000"/>
                          </a:solidFill>
                          <a:effectLst/>
                          <a:latin typeface="+mn-ea"/>
                          <a:ea typeface="+mn-ea"/>
                        </a:rPr>
                        <a:t>20143.9</a:t>
                      </a:r>
                    </a:p>
                  </a:txBody>
                  <a:tcPr marL="9525" marR="9525" marT="9525" marB="0" anchor="b"/>
                </a:tc>
                <a:tc>
                  <a:txBody>
                    <a:bodyPr/>
                    <a:lstStyle/>
                    <a:p>
                      <a:pPr algn="r" fontAlgn="b"/>
                      <a:r>
                        <a:rPr lang="en-US" altLang="zh-CN" sz="1200" b="0" i="0" u="none" strike="noStrike">
                          <a:solidFill>
                            <a:srgbClr val="000000"/>
                          </a:solidFill>
                          <a:effectLst/>
                          <a:latin typeface="+mn-ea"/>
                          <a:ea typeface="+mn-ea"/>
                        </a:rPr>
                        <a:t>17085</a:t>
                      </a:r>
                    </a:p>
                  </a:txBody>
                  <a:tcPr marL="9525" marR="9525" marT="9525" marB="0" anchor="b"/>
                </a:tc>
                <a:tc>
                  <a:txBody>
                    <a:bodyPr/>
                    <a:lstStyle/>
                    <a:p>
                      <a:pPr algn="r" fontAlgn="b"/>
                      <a:r>
                        <a:rPr lang="en-US" altLang="zh-CN" sz="1200" b="0" i="0" u="none" strike="noStrike">
                          <a:solidFill>
                            <a:srgbClr val="000000"/>
                          </a:solidFill>
                          <a:effectLst/>
                          <a:latin typeface="+mn-ea"/>
                          <a:ea typeface="+mn-ea"/>
                        </a:rPr>
                        <a:t>3.44</a:t>
                      </a:r>
                    </a:p>
                  </a:txBody>
                  <a:tcPr marL="9525" marR="9525" marT="9525" marB="0" anchor="b"/>
                </a:tc>
                <a:extLst>
                  <a:ext uri="{0D108BD9-81ED-4DB2-BD59-A6C34878D82A}">
                    <a16:rowId xmlns:a16="http://schemas.microsoft.com/office/drawing/2014/main" val="10002"/>
                  </a:ext>
                </a:extLst>
              </a:tr>
              <a:tr h="220881">
                <a:tc>
                  <a:txBody>
                    <a:bodyPr/>
                    <a:lstStyle/>
                    <a:p>
                      <a:pPr algn="ctr" fontAlgn="ctr"/>
                      <a:r>
                        <a:rPr lang="en-US" altLang="zh-CN" sz="1200" b="0" i="0" u="none" strike="noStrike">
                          <a:solidFill>
                            <a:srgbClr val="000000"/>
                          </a:solidFill>
                          <a:effectLst/>
                          <a:latin typeface="+mn-ea"/>
                          <a:ea typeface="+mn-ea"/>
                        </a:rPr>
                        <a:t>3</a:t>
                      </a:r>
                    </a:p>
                  </a:txBody>
                  <a:tcPr marL="9525" marR="9525" marT="9525" marB="0" anchor="ctr"/>
                </a:tc>
                <a:tc>
                  <a:txBody>
                    <a:bodyPr/>
                    <a:lstStyle/>
                    <a:p>
                      <a:pPr algn="ctr" fontAlgn="b"/>
                      <a:r>
                        <a:rPr lang="zh-CN" altLang="en-US" sz="1200" b="0" i="0" u="none" strike="noStrike">
                          <a:solidFill>
                            <a:srgbClr val="000000"/>
                          </a:solidFill>
                          <a:effectLst/>
                          <a:latin typeface="+mn-ea"/>
                          <a:ea typeface="+mn-ea"/>
                        </a:rPr>
                        <a:t>龙湖长城源著</a:t>
                      </a:r>
                    </a:p>
                  </a:txBody>
                  <a:tcPr marL="9525" marR="9525" marT="9525" marB="0" anchor="b"/>
                </a:tc>
                <a:tc>
                  <a:txBody>
                    <a:bodyPr/>
                    <a:lstStyle/>
                    <a:p>
                      <a:pPr algn="ctr" fontAlgn="b"/>
                      <a:r>
                        <a:rPr lang="zh-CN" altLang="en-US" sz="1200" b="0" i="0" u="none" strike="noStrike">
                          <a:solidFill>
                            <a:srgbClr val="000000"/>
                          </a:solidFill>
                          <a:effectLst/>
                          <a:latin typeface="+mn-ea"/>
                          <a:ea typeface="+mn-ea"/>
                        </a:rPr>
                        <a:t>六环以外</a:t>
                      </a:r>
                    </a:p>
                  </a:txBody>
                  <a:tcPr marL="9525" marR="9525" marT="9525" marB="0" anchor="b"/>
                </a:tc>
                <a:tc>
                  <a:txBody>
                    <a:bodyPr/>
                    <a:lstStyle/>
                    <a:p>
                      <a:pPr algn="ctr" fontAlgn="b"/>
                      <a:r>
                        <a:rPr lang="zh-CN" altLang="en-US" sz="1200" b="0" i="0" u="none" strike="noStrike">
                          <a:solidFill>
                            <a:srgbClr val="000000"/>
                          </a:solidFill>
                          <a:effectLst/>
                          <a:latin typeface="+mn-ea"/>
                          <a:ea typeface="+mn-ea"/>
                        </a:rPr>
                        <a:t>密云</a:t>
                      </a:r>
                    </a:p>
                  </a:txBody>
                  <a:tcPr marL="9525" marR="9525" marT="9525" marB="0" anchor="b"/>
                </a:tc>
                <a:tc>
                  <a:txBody>
                    <a:bodyPr/>
                    <a:lstStyle/>
                    <a:p>
                      <a:pPr algn="ctr" fontAlgn="b"/>
                      <a:r>
                        <a:rPr lang="en-US" altLang="zh-CN" sz="1200" b="0" i="0" u="none" strike="noStrike">
                          <a:solidFill>
                            <a:srgbClr val="000000"/>
                          </a:solidFill>
                          <a:effectLst/>
                          <a:latin typeface="+mn-ea"/>
                          <a:ea typeface="+mn-ea"/>
                        </a:rPr>
                        <a:t>184</a:t>
                      </a:r>
                    </a:p>
                  </a:txBody>
                  <a:tcPr marL="9525" marR="9525" marT="9525" marB="0" anchor="b"/>
                </a:tc>
                <a:tc>
                  <a:txBody>
                    <a:bodyPr/>
                    <a:lstStyle/>
                    <a:p>
                      <a:pPr algn="r" fontAlgn="b"/>
                      <a:r>
                        <a:rPr lang="en-US" altLang="zh-CN" sz="1200" b="0" i="0" u="none" strike="noStrike" dirty="0">
                          <a:solidFill>
                            <a:srgbClr val="000000"/>
                          </a:solidFill>
                          <a:effectLst/>
                          <a:latin typeface="+mn-ea"/>
                          <a:ea typeface="+mn-ea"/>
                        </a:rPr>
                        <a:t>8582.2</a:t>
                      </a:r>
                    </a:p>
                  </a:txBody>
                  <a:tcPr marL="9525" marR="9525" marT="9525" marB="0" anchor="b"/>
                </a:tc>
                <a:tc>
                  <a:txBody>
                    <a:bodyPr/>
                    <a:lstStyle/>
                    <a:p>
                      <a:pPr algn="r" fontAlgn="b"/>
                      <a:r>
                        <a:rPr lang="en-US" altLang="zh-CN" sz="1200" b="0" i="0" u="none" strike="noStrike">
                          <a:solidFill>
                            <a:srgbClr val="000000"/>
                          </a:solidFill>
                          <a:effectLst/>
                          <a:latin typeface="+mn-ea"/>
                          <a:ea typeface="+mn-ea"/>
                        </a:rPr>
                        <a:t>18714</a:t>
                      </a:r>
                    </a:p>
                  </a:txBody>
                  <a:tcPr marL="9525" marR="9525" marT="9525" marB="0" anchor="b"/>
                </a:tc>
                <a:tc>
                  <a:txBody>
                    <a:bodyPr/>
                    <a:lstStyle/>
                    <a:p>
                      <a:pPr algn="r" fontAlgn="b"/>
                      <a:r>
                        <a:rPr lang="en-US" altLang="zh-CN" sz="1200" b="0" i="0" u="none" strike="noStrike">
                          <a:solidFill>
                            <a:srgbClr val="000000"/>
                          </a:solidFill>
                          <a:effectLst/>
                          <a:latin typeface="+mn-ea"/>
                          <a:ea typeface="+mn-ea"/>
                        </a:rPr>
                        <a:t>1.61</a:t>
                      </a:r>
                    </a:p>
                  </a:txBody>
                  <a:tcPr marL="9525" marR="9525" marT="9525" marB="0" anchor="b"/>
                </a:tc>
                <a:extLst>
                  <a:ext uri="{0D108BD9-81ED-4DB2-BD59-A6C34878D82A}">
                    <a16:rowId xmlns:a16="http://schemas.microsoft.com/office/drawing/2014/main" val="10003"/>
                  </a:ext>
                </a:extLst>
              </a:tr>
              <a:tr h="220881">
                <a:tc>
                  <a:txBody>
                    <a:bodyPr/>
                    <a:lstStyle/>
                    <a:p>
                      <a:pPr algn="ctr" fontAlgn="ctr"/>
                      <a:r>
                        <a:rPr lang="en-US" altLang="zh-CN" sz="1200" b="0" i="0" u="none" strike="noStrike">
                          <a:solidFill>
                            <a:srgbClr val="000000"/>
                          </a:solidFill>
                          <a:effectLst/>
                          <a:latin typeface="+mn-ea"/>
                          <a:ea typeface="+mn-ea"/>
                        </a:rPr>
                        <a:t>4</a:t>
                      </a:r>
                    </a:p>
                  </a:txBody>
                  <a:tcPr marL="9525" marR="9525" marT="9525" marB="0" anchor="ctr"/>
                </a:tc>
                <a:tc>
                  <a:txBody>
                    <a:bodyPr/>
                    <a:lstStyle/>
                    <a:p>
                      <a:pPr algn="ctr" fontAlgn="b"/>
                      <a:r>
                        <a:rPr lang="zh-CN" altLang="en-US" sz="1200" b="0" i="0" u="none" strike="noStrike">
                          <a:solidFill>
                            <a:srgbClr val="000000"/>
                          </a:solidFill>
                          <a:effectLst/>
                          <a:latin typeface="+mn-ea"/>
                          <a:ea typeface="+mn-ea"/>
                        </a:rPr>
                        <a:t>电建金地华宸</a:t>
                      </a:r>
                    </a:p>
                  </a:txBody>
                  <a:tcPr marL="9525" marR="9525" marT="9525" marB="0" anchor="b"/>
                </a:tc>
                <a:tc>
                  <a:txBody>
                    <a:bodyPr/>
                    <a:lstStyle/>
                    <a:p>
                      <a:pPr algn="ctr" fontAlgn="b"/>
                      <a:r>
                        <a:rPr lang="zh-CN" altLang="en-US" sz="1200" b="0" i="0" u="none" strike="noStrike">
                          <a:solidFill>
                            <a:srgbClr val="000000"/>
                          </a:solidFill>
                          <a:effectLst/>
                          <a:latin typeface="+mn-ea"/>
                          <a:ea typeface="+mn-ea"/>
                        </a:rPr>
                        <a:t>六环以外</a:t>
                      </a:r>
                    </a:p>
                  </a:txBody>
                  <a:tcPr marL="9525" marR="9525" marT="9525" marB="0" anchor="b"/>
                </a:tc>
                <a:tc>
                  <a:txBody>
                    <a:bodyPr/>
                    <a:lstStyle/>
                    <a:p>
                      <a:pPr algn="ctr" fontAlgn="b"/>
                      <a:r>
                        <a:rPr lang="zh-CN" altLang="en-US" sz="1200" b="0" i="0" u="none" strike="noStrike">
                          <a:solidFill>
                            <a:srgbClr val="000000"/>
                          </a:solidFill>
                          <a:effectLst/>
                          <a:latin typeface="+mn-ea"/>
                          <a:ea typeface="+mn-ea"/>
                        </a:rPr>
                        <a:t>门头沟</a:t>
                      </a:r>
                    </a:p>
                  </a:txBody>
                  <a:tcPr marL="9525" marR="9525" marT="9525" marB="0" anchor="b"/>
                </a:tc>
                <a:tc>
                  <a:txBody>
                    <a:bodyPr/>
                    <a:lstStyle/>
                    <a:p>
                      <a:pPr algn="ctr" fontAlgn="b"/>
                      <a:r>
                        <a:rPr lang="en-US" altLang="zh-CN" sz="1200" b="0" i="0" u="none" strike="noStrike">
                          <a:solidFill>
                            <a:srgbClr val="000000"/>
                          </a:solidFill>
                          <a:effectLst/>
                          <a:latin typeface="+mn-ea"/>
                          <a:ea typeface="+mn-ea"/>
                        </a:rPr>
                        <a:t>134</a:t>
                      </a:r>
                    </a:p>
                  </a:txBody>
                  <a:tcPr marL="9525" marR="9525" marT="9525" marB="0" anchor="b"/>
                </a:tc>
                <a:tc>
                  <a:txBody>
                    <a:bodyPr/>
                    <a:lstStyle/>
                    <a:p>
                      <a:pPr algn="r" fontAlgn="b"/>
                      <a:r>
                        <a:rPr lang="en-US" altLang="zh-CN" sz="1200" b="0" i="0" u="none" strike="noStrike" dirty="0">
                          <a:solidFill>
                            <a:srgbClr val="000000"/>
                          </a:solidFill>
                          <a:effectLst/>
                          <a:latin typeface="+mn-ea"/>
                          <a:ea typeface="+mn-ea"/>
                        </a:rPr>
                        <a:t>18236.8</a:t>
                      </a:r>
                    </a:p>
                  </a:txBody>
                  <a:tcPr marL="9525" marR="9525" marT="9525" marB="0" anchor="b"/>
                </a:tc>
                <a:tc>
                  <a:txBody>
                    <a:bodyPr/>
                    <a:lstStyle/>
                    <a:p>
                      <a:pPr algn="r" fontAlgn="b"/>
                      <a:r>
                        <a:rPr lang="en-US" altLang="zh-CN" sz="1200" b="0" i="0" u="none" strike="noStrike">
                          <a:solidFill>
                            <a:srgbClr val="000000"/>
                          </a:solidFill>
                          <a:effectLst/>
                          <a:latin typeface="+mn-ea"/>
                          <a:ea typeface="+mn-ea"/>
                        </a:rPr>
                        <a:t>53326</a:t>
                      </a:r>
                    </a:p>
                  </a:txBody>
                  <a:tcPr marL="9525" marR="9525" marT="9525" marB="0" anchor="b"/>
                </a:tc>
                <a:tc>
                  <a:txBody>
                    <a:bodyPr/>
                    <a:lstStyle/>
                    <a:p>
                      <a:pPr algn="r" fontAlgn="b"/>
                      <a:r>
                        <a:rPr lang="en-US" altLang="zh-CN" sz="1200" b="0" i="0" u="none" strike="noStrike">
                          <a:solidFill>
                            <a:srgbClr val="000000"/>
                          </a:solidFill>
                          <a:effectLst/>
                          <a:latin typeface="+mn-ea"/>
                          <a:ea typeface="+mn-ea"/>
                        </a:rPr>
                        <a:t>9.72</a:t>
                      </a:r>
                    </a:p>
                  </a:txBody>
                  <a:tcPr marL="9525" marR="9525" marT="9525" marB="0" anchor="b"/>
                </a:tc>
                <a:extLst>
                  <a:ext uri="{0D108BD9-81ED-4DB2-BD59-A6C34878D82A}">
                    <a16:rowId xmlns:a16="http://schemas.microsoft.com/office/drawing/2014/main" val="10004"/>
                  </a:ext>
                </a:extLst>
              </a:tr>
              <a:tr h="220881">
                <a:tc>
                  <a:txBody>
                    <a:bodyPr/>
                    <a:lstStyle/>
                    <a:p>
                      <a:pPr algn="ctr" fontAlgn="ctr"/>
                      <a:r>
                        <a:rPr lang="en-US" altLang="zh-CN" sz="1200" b="0" i="0" u="none" strike="noStrike">
                          <a:solidFill>
                            <a:srgbClr val="000000"/>
                          </a:solidFill>
                          <a:effectLst/>
                          <a:latin typeface="+mn-ea"/>
                          <a:ea typeface="+mn-ea"/>
                        </a:rPr>
                        <a:t>5</a:t>
                      </a:r>
                    </a:p>
                  </a:txBody>
                  <a:tcPr marL="9525" marR="9525" marT="9525" marB="0" anchor="ctr"/>
                </a:tc>
                <a:tc>
                  <a:txBody>
                    <a:bodyPr/>
                    <a:lstStyle/>
                    <a:p>
                      <a:pPr algn="ctr" fontAlgn="b"/>
                      <a:r>
                        <a:rPr lang="zh-CN" altLang="en-US" sz="1200" b="0" i="0" u="none" strike="noStrike">
                          <a:solidFill>
                            <a:srgbClr val="000000"/>
                          </a:solidFill>
                          <a:effectLst/>
                          <a:latin typeface="+mn-ea"/>
                          <a:ea typeface="+mn-ea"/>
                        </a:rPr>
                        <a:t>京投发展公园悦府</a:t>
                      </a:r>
                    </a:p>
                  </a:txBody>
                  <a:tcPr marL="9525" marR="9525" marT="9525" marB="0" anchor="b"/>
                </a:tc>
                <a:tc>
                  <a:txBody>
                    <a:bodyPr/>
                    <a:lstStyle/>
                    <a:p>
                      <a:pPr algn="ctr" fontAlgn="b"/>
                      <a:r>
                        <a:rPr lang="zh-CN" altLang="en-US" sz="1200" b="0" i="0" u="none" strike="noStrike">
                          <a:solidFill>
                            <a:srgbClr val="000000"/>
                          </a:solidFill>
                          <a:effectLst/>
                          <a:latin typeface="+mn-ea"/>
                          <a:ea typeface="+mn-ea"/>
                        </a:rPr>
                        <a:t>五、六环之间</a:t>
                      </a:r>
                    </a:p>
                  </a:txBody>
                  <a:tcPr marL="9525" marR="9525" marT="9525" marB="0" anchor="b"/>
                </a:tc>
                <a:tc>
                  <a:txBody>
                    <a:bodyPr/>
                    <a:lstStyle/>
                    <a:p>
                      <a:pPr algn="ctr" fontAlgn="b"/>
                      <a:r>
                        <a:rPr lang="zh-CN" altLang="en-US" sz="1200" b="0" i="0" u="none" strike="noStrike">
                          <a:solidFill>
                            <a:srgbClr val="000000"/>
                          </a:solidFill>
                          <a:effectLst/>
                          <a:latin typeface="+mn-ea"/>
                          <a:ea typeface="+mn-ea"/>
                        </a:rPr>
                        <a:t>昌平</a:t>
                      </a:r>
                    </a:p>
                  </a:txBody>
                  <a:tcPr marL="9525" marR="9525" marT="9525" marB="0" anchor="b"/>
                </a:tc>
                <a:tc>
                  <a:txBody>
                    <a:bodyPr/>
                    <a:lstStyle/>
                    <a:p>
                      <a:pPr algn="ctr" fontAlgn="b"/>
                      <a:r>
                        <a:rPr lang="en-US" altLang="zh-CN" sz="1200" b="0" i="0" u="none" strike="noStrike">
                          <a:solidFill>
                            <a:srgbClr val="000000"/>
                          </a:solidFill>
                          <a:effectLst/>
                          <a:latin typeface="+mn-ea"/>
                          <a:ea typeface="+mn-ea"/>
                        </a:rPr>
                        <a:t>129</a:t>
                      </a:r>
                    </a:p>
                  </a:txBody>
                  <a:tcPr marL="9525" marR="9525" marT="9525" marB="0" anchor="b"/>
                </a:tc>
                <a:tc>
                  <a:txBody>
                    <a:bodyPr/>
                    <a:lstStyle/>
                    <a:p>
                      <a:pPr algn="r" fontAlgn="b"/>
                      <a:r>
                        <a:rPr lang="en-US" altLang="zh-CN" sz="1200" b="0" i="0" u="none" strike="noStrike" dirty="0">
                          <a:solidFill>
                            <a:srgbClr val="000000"/>
                          </a:solidFill>
                          <a:effectLst/>
                          <a:latin typeface="+mn-ea"/>
                          <a:ea typeface="+mn-ea"/>
                        </a:rPr>
                        <a:t>10660.0</a:t>
                      </a:r>
                    </a:p>
                  </a:txBody>
                  <a:tcPr marL="9525" marR="9525" marT="9525" marB="0" anchor="b"/>
                </a:tc>
                <a:tc>
                  <a:txBody>
                    <a:bodyPr/>
                    <a:lstStyle/>
                    <a:p>
                      <a:pPr algn="r" fontAlgn="b"/>
                      <a:r>
                        <a:rPr lang="en-US" altLang="zh-CN" sz="1200" b="0" i="0" u="none" strike="noStrike">
                          <a:solidFill>
                            <a:srgbClr val="000000"/>
                          </a:solidFill>
                          <a:effectLst/>
                          <a:latin typeface="+mn-ea"/>
                          <a:ea typeface="+mn-ea"/>
                        </a:rPr>
                        <a:t>40816</a:t>
                      </a:r>
                    </a:p>
                  </a:txBody>
                  <a:tcPr marL="9525" marR="9525" marT="9525" marB="0" anchor="b"/>
                </a:tc>
                <a:tc>
                  <a:txBody>
                    <a:bodyPr/>
                    <a:lstStyle/>
                    <a:p>
                      <a:pPr algn="r" fontAlgn="b"/>
                      <a:r>
                        <a:rPr lang="en-US" altLang="zh-CN" sz="1200" b="0" i="0" u="none" strike="noStrike">
                          <a:solidFill>
                            <a:srgbClr val="000000"/>
                          </a:solidFill>
                          <a:effectLst/>
                          <a:latin typeface="+mn-ea"/>
                          <a:ea typeface="+mn-ea"/>
                        </a:rPr>
                        <a:t>4.35</a:t>
                      </a:r>
                    </a:p>
                  </a:txBody>
                  <a:tcPr marL="9525" marR="9525" marT="9525" marB="0" anchor="b"/>
                </a:tc>
                <a:extLst>
                  <a:ext uri="{0D108BD9-81ED-4DB2-BD59-A6C34878D82A}">
                    <a16:rowId xmlns:a16="http://schemas.microsoft.com/office/drawing/2014/main" val="10005"/>
                  </a:ext>
                </a:extLst>
              </a:tr>
              <a:tr h="220881">
                <a:tc>
                  <a:txBody>
                    <a:bodyPr/>
                    <a:lstStyle/>
                    <a:p>
                      <a:pPr algn="ctr" fontAlgn="ctr"/>
                      <a:r>
                        <a:rPr lang="en-US" altLang="zh-CN" sz="1200" b="0" i="0" u="none" strike="noStrike">
                          <a:solidFill>
                            <a:srgbClr val="000000"/>
                          </a:solidFill>
                          <a:effectLst/>
                          <a:latin typeface="+mn-ea"/>
                          <a:ea typeface="+mn-ea"/>
                        </a:rPr>
                        <a:t>6</a:t>
                      </a:r>
                    </a:p>
                  </a:txBody>
                  <a:tcPr marL="9525" marR="9525" marT="9525" marB="0" anchor="ctr"/>
                </a:tc>
                <a:tc>
                  <a:txBody>
                    <a:bodyPr/>
                    <a:lstStyle/>
                    <a:p>
                      <a:pPr algn="ctr" fontAlgn="b"/>
                      <a:r>
                        <a:rPr lang="zh-CN" altLang="en-US" sz="1200" b="0" i="0" u="none" strike="noStrike">
                          <a:solidFill>
                            <a:srgbClr val="000000"/>
                          </a:solidFill>
                          <a:effectLst/>
                          <a:latin typeface="+mn-ea"/>
                          <a:ea typeface="+mn-ea"/>
                        </a:rPr>
                        <a:t>远洋春天著</a:t>
                      </a:r>
                    </a:p>
                  </a:txBody>
                  <a:tcPr marL="9525" marR="9525" marT="9525" marB="0" anchor="b"/>
                </a:tc>
                <a:tc>
                  <a:txBody>
                    <a:bodyPr/>
                    <a:lstStyle/>
                    <a:p>
                      <a:pPr algn="ctr" fontAlgn="b"/>
                      <a:r>
                        <a:rPr lang="zh-CN" altLang="en-US" sz="1200" b="0" i="0" u="none" strike="noStrike">
                          <a:solidFill>
                            <a:srgbClr val="000000"/>
                          </a:solidFill>
                          <a:effectLst/>
                          <a:latin typeface="+mn-ea"/>
                          <a:ea typeface="+mn-ea"/>
                        </a:rPr>
                        <a:t>五、六环之间</a:t>
                      </a:r>
                    </a:p>
                  </a:txBody>
                  <a:tcPr marL="9525" marR="9525" marT="9525" marB="0" anchor="b"/>
                </a:tc>
                <a:tc>
                  <a:txBody>
                    <a:bodyPr/>
                    <a:lstStyle/>
                    <a:p>
                      <a:pPr algn="ctr" fontAlgn="b"/>
                      <a:r>
                        <a:rPr lang="zh-CN" altLang="en-US" sz="1200" b="0" i="0" u="none" strike="noStrike">
                          <a:solidFill>
                            <a:srgbClr val="000000"/>
                          </a:solidFill>
                          <a:effectLst/>
                          <a:latin typeface="+mn-ea"/>
                          <a:ea typeface="+mn-ea"/>
                        </a:rPr>
                        <a:t>房山</a:t>
                      </a:r>
                    </a:p>
                  </a:txBody>
                  <a:tcPr marL="9525" marR="9525" marT="9525" marB="0" anchor="b"/>
                </a:tc>
                <a:tc>
                  <a:txBody>
                    <a:bodyPr/>
                    <a:lstStyle/>
                    <a:p>
                      <a:pPr algn="ctr" fontAlgn="b"/>
                      <a:r>
                        <a:rPr lang="en-US" altLang="zh-CN" sz="1200" b="0" i="0" u="none" strike="noStrike">
                          <a:solidFill>
                            <a:srgbClr val="000000"/>
                          </a:solidFill>
                          <a:effectLst/>
                          <a:latin typeface="+mn-ea"/>
                          <a:ea typeface="+mn-ea"/>
                        </a:rPr>
                        <a:t>116</a:t>
                      </a:r>
                    </a:p>
                  </a:txBody>
                  <a:tcPr marL="9525" marR="9525" marT="9525" marB="0" anchor="b"/>
                </a:tc>
                <a:tc>
                  <a:txBody>
                    <a:bodyPr/>
                    <a:lstStyle/>
                    <a:p>
                      <a:pPr algn="r" fontAlgn="b"/>
                      <a:r>
                        <a:rPr lang="en-US" altLang="zh-CN" sz="1200" b="0" i="0" u="none" strike="noStrike" dirty="0">
                          <a:solidFill>
                            <a:srgbClr val="000000"/>
                          </a:solidFill>
                          <a:effectLst/>
                          <a:latin typeface="+mn-ea"/>
                          <a:ea typeface="+mn-ea"/>
                        </a:rPr>
                        <a:t>9704.1</a:t>
                      </a:r>
                    </a:p>
                  </a:txBody>
                  <a:tcPr marL="9525" marR="9525" marT="9525" marB="0" anchor="b"/>
                </a:tc>
                <a:tc>
                  <a:txBody>
                    <a:bodyPr/>
                    <a:lstStyle/>
                    <a:p>
                      <a:pPr algn="r" fontAlgn="b"/>
                      <a:r>
                        <a:rPr lang="en-US" altLang="zh-CN" sz="1200" b="0" i="0" u="none" strike="noStrike">
                          <a:solidFill>
                            <a:srgbClr val="000000"/>
                          </a:solidFill>
                          <a:effectLst/>
                          <a:latin typeface="+mn-ea"/>
                          <a:ea typeface="+mn-ea"/>
                        </a:rPr>
                        <a:t>38690</a:t>
                      </a:r>
                    </a:p>
                  </a:txBody>
                  <a:tcPr marL="9525" marR="9525" marT="9525" marB="0" anchor="b"/>
                </a:tc>
                <a:tc>
                  <a:txBody>
                    <a:bodyPr/>
                    <a:lstStyle/>
                    <a:p>
                      <a:pPr algn="r" fontAlgn="b"/>
                      <a:r>
                        <a:rPr lang="en-US" altLang="zh-CN" sz="1200" b="0" i="0" u="none" strike="noStrike">
                          <a:solidFill>
                            <a:srgbClr val="000000"/>
                          </a:solidFill>
                          <a:effectLst/>
                          <a:latin typeface="+mn-ea"/>
                          <a:ea typeface="+mn-ea"/>
                        </a:rPr>
                        <a:t>3.75</a:t>
                      </a:r>
                    </a:p>
                  </a:txBody>
                  <a:tcPr marL="9525" marR="9525" marT="9525" marB="0" anchor="b"/>
                </a:tc>
                <a:extLst>
                  <a:ext uri="{0D108BD9-81ED-4DB2-BD59-A6C34878D82A}">
                    <a16:rowId xmlns:a16="http://schemas.microsoft.com/office/drawing/2014/main" val="10006"/>
                  </a:ext>
                </a:extLst>
              </a:tr>
              <a:tr h="220881">
                <a:tc>
                  <a:txBody>
                    <a:bodyPr/>
                    <a:lstStyle/>
                    <a:p>
                      <a:pPr algn="ctr" fontAlgn="ctr"/>
                      <a:r>
                        <a:rPr lang="en-US" altLang="zh-CN" sz="1200" b="0" i="0" u="none" strike="noStrike">
                          <a:solidFill>
                            <a:srgbClr val="000000"/>
                          </a:solidFill>
                          <a:effectLst/>
                          <a:latin typeface="+mn-ea"/>
                          <a:ea typeface="+mn-ea"/>
                        </a:rPr>
                        <a:t>7</a:t>
                      </a:r>
                    </a:p>
                  </a:txBody>
                  <a:tcPr marL="9525" marR="9525" marT="9525" marB="0" anchor="ctr"/>
                </a:tc>
                <a:tc>
                  <a:txBody>
                    <a:bodyPr/>
                    <a:lstStyle/>
                    <a:p>
                      <a:pPr algn="ctr" fontAlgn="b"/>
                      <a:r>
                        <a:rPr lang="zh-CN" altLang="en-US" sz="1200" b="0" i="0" u="none" strike="noStrike">
                          <a:solidFill>
                            <a:srgbClr val="000000"/>
                          </a:solidFill>
                          <a:effectLst/>
                          <a:latin typeface="+mn-ea"/>
                          <a:ea typeface="+mn-ea"/>
                        </a:rPr>
                        <a:t>北辰墅院</a:t>
                      </a:r>
                      <a:r>
                        <a:rPr lang="en-US" altLang="zh-CN" sz="1200" b="0" i="0" u="none" strike="noStrike">
                          <a:solidFill>
                            <a:srgbClr val="000000"/>
                          </a:solidFill>
                          <a:effectLst/>
                          <a:latin typeface="+mn-ea"/>
                          <a:ea typeface="+mn-ea"/>
                        </a:rPr>
                        <a:t>1900</a:t>
                      </a:r>
                    </a:p>
                  </a:txBody>
                  <a:tcPr marL="9525" marR="9525" marT="9525" marB="0" anchor="b"/>
                </a:tc>
                <a:tc>
                  <a:txBody>
                    <a:bodyPr/>
                    <a:lstStyle/>
                    <a:p>
                      <a:pPr algn="ctr" fontAlgn="b"/>
                      <a:r>
                        <a:rPr lang="zh-CN" altLang="en-US" sz="1200" b="0" i="0" u="none" strike="noStrike">
                          <a:solidFill>
                            <a:srgbClr val="000000"/>
                          </a:solidFill>
                          <a:effectLst/>
                          <a:latin typeface="+mn-ea"/>
                          <a:ea typeface="+mn-ea"/>
                        </a:rPr>
                        <a:t>六环以外</a:t>
                      </a:r>
                    </a:p>
                  </a:txBody>
                  <a:tcPr marL="9525" marR="9525" marT="9525" marB="0" anchor="b"/>
                </a:tc>
                <a:tc>
                  <a:txBody>
                    <a:bodyPr/>
                    <a:lstStyle/>
                    <a:p>
                      <a:pPr algn="ctr" fontAlgn="b"/>
                      <a:r>
                        <a:rPr lang="zh-CN" altLang="en-US" sz="1200" b="0" i="0" u="none" strike="noStrike">
                          <a:solidFill>
                            <a:srgbClr val="000000"/>
                          </a:solidFill>
                          <a:effectLst/>
                          <a:latin typeface="+mn-ea"/>
                          <a:ea typeface="+mn-ea"/>
                        </a:rPr>
                        <a:t>顺义</a:t>
                      </a:r>
                    </a:p>
                  </a:txBody>
                  <a:tcPr marL="9525" marR="9525" marT="9525" marB="0" anchor="b"/>
                </a:tc>
                <a:tc>
                  <a:txBody>
                    <a:bodyPr/>
                    <a:lstStyle/>
                    <a:p>
                      <a:pPr algn="ctr" fontAlgn="b"/>
                      <a:r>
                        <a:rPr lang="en-US" altLang="zh-CN" sz="1200" b="0" i="0" u="none" strike="noStrike">
                          <a:solidFill>
                            <a:srgbClr val="000000"/>
                          </a:solidFill>
                          <a:effectLst/>
                          <a:latin typeface="+mn-ea"/>
                          <a:ea typeface="+mn-ea"/>
                        </a:rPr>
                        <a:t>111</a:t>
                      </a:r>
                    </a:p>
                  </a:txBody>
                  <a:tcPr marL="9525" marR="9525" marT="9525" marB="0" anchor="b"/>
                </a:tc>
                <a:tc>
                  <a:txBody>
                    <a:bodyPr/>
                    <a:lstStyle/>
                    <a:p>
                      <a:pPr algn="r" fontAlgn="b"/>
                      <a:r>
                        <a:rPr lang="en-US" altLang="zh-CN" sz="1200" b="0" i="0" u="none" strike="noStrike" dirty="0">
                          <a:solidFill>
                            <a:srgbClr val="000000"/>
                          </a:solidFill>
                          <a:effectLst/>
                          <a:latin typeface="+mn-ea"/>
                          <a:ea typeface="+mn-ea"/>
                        </a:rPr>
                        <a:t>14370.7</a:t>
                      </a:r>
                    </a:p>
                  </a:txBody>
                  <a:tcPr marL="9525" marR="9525" marT="9525" marB="0" anchor="b"/>
                </a:tc>
                <a:tc>
                  <a:txBody>
                    <a:bodyPr/>
                    <a:lstStyle/>
                    <a:p>
                      <a:pPr algn="r" fontAlgn="b"/>
                      <a:r>
                        <a:rPr lang="en-US" altLang="zh-CN" sz="1200" b="0" i="0" u="none" strike="noStrike">
                          <a:solidFill>
                            <a:srgbClr val="000000"/>
                          </a:solidFill>
                          <a:effectLst/>
                          <a:latin typeface="+mn-ea"/>
                          <a:ea typeface="+mn-ea"/>
                        </a:rPr>
                        <a:t>26930</a:t>
                      </a:r>
                    </a:p>
                  </a:txBody>
                  <a:tcPr marL="9525" marR="9525" marT="9525" marB="0" anchor="b"/>
                </a:tc>
                <a:tc>
                  <a:txBody>
                    <a:bodyPr/>
                    <a:lstStyle/>
                    <a:p>
                      <a:pPr algn="r" fontAlgn="b"/>
                      <a:r>
                        <a:rPr lang="en-US" altLang="zh-CN" sz="1200" b="0" i="0" u="none" strike="noStrike">
                          <a:solidFill>
                            <a:srgbClr val="000000"/>
                          </a:solidFill>
                          <a:effectLst/>
                          <a:latin typeface="+mn-ea"/>
                          <a:ea typeface="+mn-ea"/>
                        </a:rPr>
                        <a:t>3.87</a:t>
                      </a:r>
                    </a:p>
                  </a:txBody>
                  <a:tcPr marL="9525" marR="9525" marT="9525" marB="0" anchor="b"/>
                </a:tc>
                <a:extLst>
                  <a:ext uri="{0D108BD9-81ED-4DB2-BD59-A6C34878D82A}">
                    <a16:rowId xmlns:a16="http://schemas.microsoft.com/office/drawing/2014/main" val="10007"/>
                  </a:ext>
                </a:extLst>
              </a:tr>
              <a:tr h="220881">
                <a:tc>
                  <a:txBody>
                    <a:bodyPr/>
                    <a:lstStyle/>
                    <a:p>
                      <a:pPr algn="ctr" fontAlgn="ctr"/>
                      <a:r>
                        <a:rPr lang="en-US" altLang="zh-CN" sz="1200" b="0" i="0" u="none" strike="noStrike">
                          <a:solidFill>
                            <a:srgbClr val="000000"/>
                          </a:solidFill>
                          <a:effectLst/>
                          <a:latin typeface="+mn-ea"/>
                          <a:ea typeface="+mn-ea"/>
                        </a:rPr>
                        <a:t>8</a:t>
                      </a:r>
                    </a:p>
                  </a:txBody>
                  <a:tcPr marL="9525" marR="9525" marT="9525" marB="0" anchor="ctr"/>
                </a:tc>
                <a:tc>
                  <a:txBody>
                    <a:bodyPr/>
                    <a:lstStyle/>
                    <a:p>
                      <a:pPr algn="ctr" fontAlgn="b"/>
                      <a:r>
                        <a:rPr lang="zh-CN" altLang="en-US" sz="1200" b="0" i="0" u="none" strike="noStrike">
                          <a:solidFill>
                            <a:srgbClr val="000000"/>
                          </a:solidFill>
                          <a:effectLst/>
                          <a:latin typeface="+mn-ea"/>
                          <a:ea typeface="+mn-ea"/>
                        </a:rPr>
                        <a:t>京贸国际公馆</a:t>
                      </a:r>
                    </a:p>
                  </a:txBody>
                  <a:tcPr marL="9525" marR="9525" marT="9525" marB="0" anchor="b"/>
                </a:tc>
                <a:tc>
                  <a:txBody>
                    <a:bodyPr/>
                    <a:lstStyle/>
                    <a:p>
                      <a:pPr algn="ctr" fontAlgn="b"/>
                      <a:r>
                        <a:rPr lang="zh-CN" altLang="en-US" sz="1200" b="0" i="0" u="none" strike="noStrike">
                          <a:solidFill>
                            <a:srgbClr val="000000"/>
                          </a:solidFill>
                          <a:effectLst/>
                          <a:latin typeface="+mn-ea"/>
                          <a:ea typeface="+mn-ea"/>
                        </a:rPr>
                        <a:t>五、六环之间</a:t>
                      </a:r>
                    </a:p>
                  </a:txBody>
                  <a:tcPr marL="9525" marR="9525" marT="9525" marB="0" anchor="b"/>
                </a:tc>
                <a:tc>
                  <a:txBody>
                    <a:bodyPr/>
                    <a:lstStyle/>
                    <a:p>
                      <a:pPr algn="ctr" fontAlgn="b"/>
                      <a:r>
                        <a:rPr lang="zh-CN" altLang="en-US" sz="1200" b="0" i="0" u="none" strike="noStrike">
                          <a:solidFill>
                            <a:srgbClr val="000000"/>
                          </a:solidFill>
                          <a:effectLst/>
                          <a:latin typeface="+mn-ea"/>
                          <a:ea typeface="+mn-ea"/>
                        </a:rPr>
                        <a:t>通州</a:t>
                      </a:r>
                    </a:p>
                  </a:txBody>
                  <a:tcPr marL="9525" marR="9525" marT="9525" marB="0" anchor="b"/>
                </a:tc>
                <a:tc>
                  <a:txBody>
                    <a:bodyPr/>
                    <a:lstStyle/>
                    <a:p>
                      <a:pPr algn="ctr" fontAlgn="b"/>
                      <a:r>
                        <a:rPr lang="en-US" altLang="zh-CN" sz="1200" b="0" i="0" u="none" strike="noStrike">
                          <a:solidFill>
                            <a:srgbClr val="000000"/>
                          </a:solidFill>
                          <a:effectLst/>
                          <a:latin typeface="+mn-ea"/>
                          <a:ea typeface="+mn-ea"/>
                        </a:rPr>
                        <a:t>102</a:t>
                      </a:r>
                    </a:p>
                  </a:txBody>
                  <a:tcPr marL="9525" marR="9525" marT="9525" marB="0" anchor="b"/>
                </a:tc>
                <a:tc>
                  <a:txBody>
                    <a:bodyPr/>
                    <a:lstStyle/>
                    <a:p>
                      <a:pPr algn="r" fontAlgn="b"/>
                      <a:r>
                        <a:rPr lang="en-US" altLang="zh-CN" sz="1200" b="0" i="0" u="none" strike="noStrike" dirty="0">
                          <a:solidFill>
                            <a:srgbClr val="000000"/>
                          </a:solidFill>
                          <a:effectLst/>
                          <a:latin typeface="+mn-ea"/>
                          <a:ea typeface="+mn-ea"/>
                        </a:rPr>
                        <a:t>9723.1</a:t>
                      </a:r>
                    </a:p>
                  </a:txBody>
                  <a:tcPr marL="9525" marR="9525" marT="9525" marB="0" anchor="b"/>
                </a:tc>
                <a:tc>
                  <a:txBody>
                    <a:bodyPr/>
                    <a:lstStyle/>
                    <a:p>
                      <a:pPr algn="r" fontAlgn="b"/>
                      <a:r>
                        <a:rPr lang="en-US" altLang="zh-CN" sz="1200" b="0" i="0" u="none" strike="noStrike">
                          <a:solidFill>
                            <a:srgbClr val="000000"/>
                          </a:solidFill>
                          <a:effectLst/>
                          <a:latin typeface="+mn-ea"/>
                          <a:ea typeface="+mn-ea"/>
                        </a:rPr>
                        <a:t>58589</a:t>
                      </a:r>
                    </a:p>
                  </a:txBody>
                  <a:tcPr marL="9525" marR="9525" marT="9525" marB="0" anchor="b"/>
                </a:tc>
                <a:tc>
                  <a:txBody>
                    <a:bodyPr/>
                    <a:lstStyle/>
                    <a:p>
                      <a:pPr algn="r" fontAlgn="b"/>
                      <a:r>
                        <a:rPr lang="en-US" altLang="zh-CN" sz="1200" b="0" i="0" u="none" strike="noStrike" dirty="0">
                          <a:solidFill>
                            <a:srgbClr val="000000"/>
                          </a:solidFill>
                          <a:effectLst/>
                          <a:latin typeface="+mn-ea"/>
                          <a:ea typeface="+mn-ea"/>
                        </a:rPr>
                        <a:t>5.70</a:t>
                      </a:r>
                    </a:p>
                  </a:txBody>
                  <a:tcPr marL="9525" marR="9525" marT="9525" marB="0" anchor="b"/>
                </a:tc>
                <a:extLst>
                  <a:ext uri="{0D108BD9-81ED-4DB2-BD59-A6C34878D82A}">
                    <a16:rowId xmlns:a16="http://schemas.microsoft.com/office/drawing/2014/main" val="10008"/>
                  </a:ext>
                </a:extLst>
              </a:tr>
              <a:tr h="220881">
                <a:tc>
                  <a:txBody>
                    <a:bodyPr/>
                    <a:lstStyle/>
                    <a:p>
                      <a:pPr algn="ctr" fontAlgn="ctr"/>
                      <a:r>
                        <a:rPr lang="en-US" altLang="zh-CN" sz="1200" b="0" i="0" u="none" strike="noStrike">
                          <a:solidFill>
                            <a:srgbClr val="000000"/>
                          </a:solidFill>
                          <a:effectLst/>
                          <a:latin typeface="+mn-ea"/>
                          <a:ea typeface="+mn-ea"/>
                        </a:rPr>
                        <a:t>9</a:t>
                      </a:r>
                    </a:p>
                  </a:txBody>
                  <a:tcPr marL="9525" marR="9525" marT="9525" marB="0" anchor="ctr"/>
                </a:tc>
                <a:tc>
                  <a:txBody>
                    <a:bodyPr/>
                    <a:lstStyle/>
                    <a:p>
                      <a:pPr algn="ctr" fontAlgn="b"/>
                      <a:r>
                        <a:rPr lang="zh-CN" altLang="en-US" sz="1200" b="0" i="0" u="none" strike="noStrike">
                          <a:solidFill>
                            <a:srgbClr val="000000"/>
                          </a:solidFill>
                          <a:effectLst/>
                          <a:latin typeface="+mn-ea"/>
                          <a:ea typeface="+mn-ea"/>
                        </a:rPr>
                        <a:t>北京城建琨廷</a:t>
                      </a:r>
                    </a:p>
                  </a:txBody>
                  <a:tcPr marL="9525" marR="9525" marT="9525" marB="0" anchor="b"/>
                </a:tc>
                <a:tc>
                  <a:txBody>
                    <a:bodyPr/>
                    <a:lstStyle/>
                    <a:p>
                      <a:pPr algn="ctr" fontAlgn="b"/>
                      <a:r>
                        <a:rPr lang="zh-CN" altLang="en-US" sz="1200" b="0" i="0" u="none" strike="noStrike">
                          <a:solidFill>
                            <a:srgbClr val="000000"/>
                          </a:solidFill>
                          <a:effectLst/>
                          <a:latin typeface="+mn-ea"/>
                          <a:ea typeface="+mn-ea"/>
                        </a:rPr>
                        <a:t>六环以外</a:t>
                      </a:r>
                    </a:p>
                  </a:txBody>
                  <a:tcPr marL="9525" marR="9525" marT="9525" marB="0" anchor="b"/>
                </a:tc>
                <a:tc>
                  <a:txBody>
                    <a:bodyPr/>
                    <a:lstStyle/>
                    <a:p>
                      <a:pPr algn="ctr" fontAlgn="b"/>
                      <a:r>
                        <a:rPr lang="zh-CN" altLang="en-US" sz="1200" b="0" i="0" u="none" strike="noStrike">
                          <a:solidFill>
                            <a:srgbClr val="000000"/>
                          </a:solidFill>
                          <a:effectLst/>
                          <a:latin typeface="+mn-ea"/>
                          <a:ea typeface="+mn-ea"/>
                        </a:rPr>
                        <a:t>房山</a:t>
                      </a:r>
                    </a:p>
                  </a:txBody>
                  <a:tcPr marL="9525" marR="9525" marT="9525" marB="0" anchor="b"/>
                </a:tc>
                <a:tc>
                  <a:txBody>
                    <a:bodyPr/>
                    <a:lstStyle/>
                    <a:p>
                      <a:pPr algn="ctr" fontAlgn="b"/>
                      <a:r>
                        <a:rPr lang="en-US" altLang="zh-CN" sz="1200" b="0" i="0" u="none" strike="noStrike">
                          <a:solidFill>
                            <a:srgbClr val="000000"/>
                          </a:solidFill>
                          <a:effectLst/>
                          <a:latin typeface="+mn-ea"/>
                          <a:ea typeface="+mn-ea"/>
                        </a:rPr>
                        <a:t>93</a:t>
                      </a:r>
                    </a:p>
                  </a:txBody>
                  <a:tcPr marL="9525" marR="9525" marT="9525" marB="0" anchor="b"/>
                </a:tc>
                <a:tc>
                  <a:txBody>
                    <a:bodyPr/>
                    <a:lstStyle/>
                    <a:p>
                      <a:pPr algn="r" fontAlgn="b"/>
                      <a:r>
                        <a:rPr lang="en-US" altLang="zh-CN" sz="1200" b="0" i="0" u="none" strike="noStrike" dirty="0">
                          <a:solidFill>
                            <a:srgbClr val="000000"/>
                          </a:solidFill>
                          <a:effectLst/>
                          <a:latin typeface="+mn-ea"/>
                          <a:ea typeface="+mn-ea"/>
                        </a:rPr>
                        <a:t>9499.6</a:t>
                      </a:r>
                    </a:p>
                  </a:txBody>
                  <a:tcPr marL="9525" marR="9525" marT="9525" marB="0" anchor="b"/>
                </a:tc>
                <a:tc>
                  <a:txBody>
                    <a:bodyPr/>
                    <a:lstStyle/>
                    <a:p>
                      <a:pPr algn="r" fontAlgn="b"/>
                      <a:r>
                        <a:rPr lang="en-US" altLang="zh-CN" sz="1200" b="0" i="0" u="none" strike="noStrike">
                          <a:solidFill>
                            <a:srgbClr val="000000"/>
                          </a:solidFill>
                          <a:effectLst/>
                          <a:latin typeface="+mn-ea"/>
                          <a:ea typeface="+mn-ea"/>
                        </a:rPr>
                        <a:t>22833</a:t>
                      </a:r>
                    </a:p>
                  </a:txBody>
                  <a:tcPr marL="9525" marR="9525" marT="9525" marB="0" anchor="b"/>
                </a:tc>
                <a:tc>
                  <a:txBody>
                    <a:bodyPr/>
                    <a:lstStyle/>
                    <a:p>
                      <a:pPr algn="r" fontAlgn="b"/>
                      <a:r>
                        <a:rPr lang="en-US" altLang="zh-CN" sz="1200" b="0" i="0" u="none" strike="noStrike">
                          <a:solidFill>
                            <a:srgbClr val="000000"/>
                          </a:solidFill>
                          <a:effectLst/>
                          <a:latin typeface="+mn-ea"/>
                          <a:ea typeface="+mn-ea"/>
                        </a:rPr>
                        <a:t>2.17</a:t>
                      </a:r>
                    </a:p>
                  </a:txBody>
                  <a:tcPr marL="9525" marR="9525" marT="9525" marB="0" anchor="b"/>
                </a:tc>
                <a:extLst>
                  <a:ext uri="{0D108BD9-81ED-4DB2-BD59-A6C34878D82A}">
                    <a16:rowId xmlns:a16="http://schemas.microsoft.com/office/drawing/2014/main" val="10009"/>
                  </a:ext>
                </a:extLst>
              </a:tr>
              <a:tr h="220881">
                <a:tc>
                  <a:txBody>
                    <a:bodyPr/>
                    <a:lstStyle/>
                    <a:p>
                      <a:pPr algn="ctr" fontAlgn="ctr"/>
                      <a:r>
                        <a:rPr lang="en-US" altLang="zh-CN" sz="1200" b="0" i="0" u="none" strike="noStrike">
                          <a:solidFill>
                            <a:srgbClr val="000000"/>
                          </a:solidFill>
                          <a:effectLst/>
                          <a:latin typeface="+mn-ea"/>
                          <a:ea typeface="+mn-ea"/>
                        </a:rPr>
                        <a:t>10</a:t>
                      </a:r>
                    </a:p>
                  </a:txBody>
                  <a:tcPr marL="9525" marR="9525" marT="9525" marB="0" anchor="ctr"/>
                </a:tc>
                <a:tc>
                  <a:txBody>
                    <a:bodyPr/>
                    <a:lstStyle/>
                    <a:p>
                      <a:pPr algn="ctr" fontAlgn="b"/>
                      <a:r>
                        <a:rPr lang="zh-CN" altLang="en-US" sz="1200" b="0" i="0" u="none" strike="noStrike">
                          <a:solidFill>
                            <a:srgbClr val="000000"/>
                          </a:solidFill>
                          <a:effectLst/>
                          <a:latin typeface="+mn-ea"/>
                          <a:ea typeface="+mn-ea"/>
                        </a:rPr>
                        <a:t>中信墅</a:t>
                      </a:r>
                    </a:p>
                  </a:txBody>
                  <a:tcPr marL="9525" marR="9525" marT="9525" marB="0" anchor="b"/>
                </a:tc>
                <a:tc>
                  <a:txBody>
                    <a:bodyPr/>
                    <a:lstStyle/>
                    <a:p>
                      <a:pPr algn="ctr" fontAlgn="b"/>
                      <a:r>
                        <a:rPr lang="zh-CN" altLang="en-US" sz="1200" b="0" i="0" u="none" strike="noStrike">
                          <a:solidFill>
                            <a:srgbClr val="000000"/>
                          </a:solidFill>
                          <a:effectLst/>
                          <a:latin typeface="+mn-ea"/>
                          <a:ea typeface="+mn-ea"/>
                        </a:rPr>
                        <a:t>五、六环之间</a:t>
                      </a:r>
                    </a:p>
                  </a:txBody>
                  <a:tcPr marL="9525" marR="9525" marT="9525" marB="0" anchor="b"/>
                </a:tc>
                <a:tc>
                  <a:txBody>
                    <a:bodyPr/>
                    <a:lstStyle/>
                    <a:p>
                      <a:pPr algn="ctr" fontAlgn="b"/>
                      <a:r>
                        <a:rPr lang="zh-CN" altLang="en-US" sz="1200" b="0" i="0" u="none" strike="noStrike">
                          <a:solidFill>
                            <a:srgbClr val="000000"/>
                          </a:solidFill>
                          <a:effectLst/>
                          <a:latin typeface="+mn-ea"/>
                          <a:ea typeface="+mn-ea"/>
                        </a:rPr>
                        <a:t>大兴</a:t>
                      </a:r>
                    </a:p>
                  </a:txBody>
                  <a:tcPr marL="9525" marR="9525" marT="9525" marB="0" anchor="b"/>
                </a:tc>
                <a:tc>
                  <a:txBody>
                    <a:bodyPr/>
                    <a:lstStyle/>
                    <a:p>
                      <a:pPr algn="ctr" fontAlgn="b"/>
                      <a:r>
                        <a:rPr lang="en-US" altLang="zh-CN" sz="1200" b="0" i="0" u="none" strike="noStrike">
                          <a:solidFill>
                            <a:srgbClr val="000000"/>
                          </a:solidFill>
                          <a:effectLst/>
                          <a:latin typeface="+mn-ea"/>
                          <a:ea typeface="+mn-ea"/>
                        </a:rPr>
                        <a:t>91</a:t>
                      </a:r>
                    </a:p>
                  </a:txBody>
                  <a:tcPr marL="9525" marR="9525" marT="9525" marB="0" anchor="b"/>
                </a:tc>
                <a:tc>
                  <a:txBody>
                    <a:bodyPr/>
                    <a:lstStyle/>
                    <a:p>
                      <a:pPr algn="r" fontAlgn="b"/>
                      <a:r>
                        <a:rPr lang="en-US" altLang="zh-CN" sz="1200" b="0" i="0" u="none" strike="noStrike" dirty="0">
                          <a:solidFill>
                            <a:srgbClr val="000000"/>
                          </a:solidFill>
                          <a:effectLst/>
                          <a:latin typeface="+mn-ea"/>
                          <a:ea typeface="+mn-ea"/>
                        </a:rPr>
                        <a:t>13941.5</a:t>
                      </a:r>
                    </a:p>
                  </a:txBody>
                  <a:tcPr marL="9525" marR="9525" marT="9525" marB="0" anchor="b"/>
                </a:tc>
                <a:tc>
                  <a:txBody>
                    <a:bodyPr/>
                    <a:lstStyle/>
                    <a:p>
                      <a:pPr algn="r" fontAlgn="b"/>
                      <a:r>
                        <a:rPr lang="en-US" altLang="zh-CN" sz="1200" b="0" i="0" u="none" strike="noStrike">
                          <a:solidFill>
                            <a:srgbClr val="000000"/>
                          </a:solidFill>
                          <a:effectLst/>
                          <a:latin typeface="+mn-ea"/>
                          <a:ea typeface="+mn-ea"/>
                        </a:rPr>
                        <a:t>49724</a:t>
                      </a:r>
                    </a:p>
                  </a:txBody>
                  <a:tcPr marL="9525" marR="9525" marT="9525" marB="0" anchor="b"/>
                </a:tc>
                <a:tc>
                  <a:txBody>
                    <a:bodyPr/>
                    <a:lstStyle/>
                    <a:p>
                      <a:pPr algn="r" fontAlgn="b"/>
                      <a:r>
                        <a:rPr lang="en-US" altLang="zh-CN" sz="1200" b="0" i="0" u="none" strike="noStrike" dirty="0">
                          <a:solidFill>
                            <a:srgbClr val="000000"/>
                          </a:solidFill>
                          <a:effectLst/>
                          <a:latin typeface="+mn-ea"/>
                          <a:ea typeface="+mn-ea"/>
                        </a:rPr>
                        <a:t>6.93</a:t>
                      </a:r>
                    </a:p>
                  </a:txBody>
                  <a:tcPr marL="9525" marR="9525" marT="9525" marB="0" anchor="b"/>
                </a:tc>
                <a:extLst>
                  <a:ext uri="{0D108BD9-81ED-4DB2-BD59-A6C34878D82A}">
                    <a16:rowId xmlns:a16="http://schemas.microsoft.com/office/drawing/2014/main" val="10010"/>
                  </a:ext>
                </a:extLst>
              </a:tr>
            </a:tbl>
          </a:graphicData>
        </a:graphic>
      </p:graphicFrame>
      <p:sp>
        <p:nvSpPr>
          <p:cNvPr id="12" name="矩形 11"/>
          <p:cNvSpPr/>
          <p:nvPr/>
        </p:nvSpPr>
        <p:spPr>
          <a:xfrm>
            <a:off x="452346" y="3709120"/>
            <a:ext cx="2684519" cy="327546"/>
          </a:xfrm>
          <a:prstGeom prst="rect">
            <a:avLst/>
          </a:prstGeom>
          <a:solidFill>
            <a:schemeClr val="accent6">
              <a:lumMod val="75000"/>
              <a:alpha val="46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400" b="1" dirty="0">
                <a:latin typeface="微软雅黑" pitchFamily="34" charset="-122"/>
                <a:ea typeface="微软雅黑" pitchFamily="34" charset="-122"/>
              </a:rPr>
              <a:t>9</a:t>
            </a:r>
            <a:r>
              <a:rPr lang="zh-CN" altLang="en-US" sz="1400" b="1" dirty="0">
                <a:latin typeface="微软雅黑" pitchFamily="34" charset="-122"/>
                <a:ea typeface="微软雅黑" pitchFamily="34" charset="-122"/>
              </a:rPr>
              <a:t>月公寓成交</a:t>
            </a:r>
            <a:r>
              <a:rPr lang="en-US" altLang="zh-CN" sz="1400" b="1" dirty="0">
                <a:latin typeface="微软雅黑" pitchFamily="34" charset="-122"/>
                <a:ea typeface="微软雅黑" pitchFamily="34" charset="-122"/>
              </a:rPr>
              <a:t>TOP10</a:t>
            </a:r>
            <a:endParaRPr lang="zh-CN" altLang="en-US" sz="1400" b="1" dirty="0">
              <a:latin typeface="微软雅黑" pitchFamily="34" charset="-122"/>
              <a:ea typeface="微软雅黑" pitchFamily="34" charset="-122"/>
            </a:endParaRPr>
          </a:p>
        </p:txBody>
      </p:sp>
      <p:graphicFrame>
        <p:nvGraphicFramePr>
          <p:cNvPr id="13" name="表格 12"/>
          <p:cNvGraphicFramePr>
            <a:graphicFrameLocks noGrp="1"/>
          </p:cNvGraphicFramePr>
          <p:nvPr>
            <p:extLst>
              <p:ext uri="{D42A27DB-BD31-4B8C-83A1-F6EECF244321}">
                <p14:modId xmlns:p14="http://schemas.microsoft.com/office/powerpoint/2010/main" val="3407425514"/>
              </p:ext>
            </p:extLst>
          </p:nvPr>
        </p:nvGraphicFramePr>
        <p:xfrm>
          <a:off x="447897" y="4017375"/>
          <a:ext cx="8042961" cy="2520000"/>
        </p:xfrm>
        <a:graphic>
          <a:graphicData uri="http://schemas.openxmlformats.org/drawingml/2006/table">
            <a:tbl>
              <a:tblPr>
                <a:tableStyleId>{5C22544A-7EE6-4342-B048-85BDC9FD1C3A}</a:tableStyleId>
              </a:tblPr>
              <a:tblGrid>
                <a:gridCol w="573381">
                  <a:extLst>
                    <a:ext uri="{9D8B030D-6E8A-4147-A177-3AD203B41FA5}">
                      <a16:colId xmlns:a16="http://schemas.microsoft.com/office/drawing/2014/main" val="20000"/>
                    </a:ext>
                  </a:extLst>
                </a:gridCol>
                <a:gridCol w="1567543">
                  <a:extLst>
                    <a:ext uri="{9D8B030D-6E8A-4147-A177-3AD203B41FA5}">
                      <a16:colId xmlns:a16="http://schemas.microsoft.com/office/drawing/2014/main" val="20001"/>
                    </a:ext>
                  </a:extLst>
                </a:gridCol>
                <a:gridCol w="1353787">
                  <a:extLst>
                    <a:ext uri="{9D8B030D-6E8A-4147-A177-3AD203B41FA5}">
                      <a16:colId xmlns:a16="http://schemas.microsoft.com/office/drawing/2014/main" val="20002"/>
                    </a:ext>
                  </a:extLst>
                </a:gridCol>
                <a:gridCol w="855023">
                  <a:extLst>
                    <a:ext uri="{9D8B030D-6E8A-4147-A177-3AD203B41FA5}">
                      <a16:colId xmlns:a16="http://schemas.microsoft.com/office/drawing/2014/main" val="20003"/>
                    </a:ext>
                  </a:extLst>
                </a:gridCol>
                <a:gridCol w="771896">
                  <a:extLst>
                    <a:ext uri="{9D8B030D-6E8A-4147-A177-3AD203B41FA5}">
                      <a16:colId xmlns:a16="http://schemas.microsoft.com/office/drawing/2014/main" val="20004"/>
                    </a:ext>
                  </a:extLst>
                </a:gridCol>
                <a:gridCol w="926276">
                  <a:extLst>
                    <a:ext uri="{9D8B030D-6E8A-4147-A177-3AD203B41FA5}">
                      <a16:colId xmlns:a16="http://schemas.microsoft.com/office/drawing/2014/main" val="20005"/>
                    </a:ext>
                  </a:extLst>
                </a:gridCol>
                <a:gridCol w="890649">
                  <a:extLst>
                    <a:ext uri="{9D8B030D-6E8A-4147-A177-3AD203B41FA5}">
                      <a16:colId xmlns:a16="http://schemas.microsoft.com/office/drawing/2014/main" val="20006"/>
                    </a:ext>
                  </a:extLst>
                </a:gridCol>
                <a:gridCol w="1104406">
                  <a:extLst>
                    <a:ext uri="{9D8B030D-6E8A-4147-A177-3AD203B41FA5}">
                      <a16:colId xmlns:a16="http://schemas.microsoft.com/office/drawing/2014/main" val="20007"/>
                    </a:ext>
                  </a:extLst>
                </a:gridCol>
              </a:tblGrid>
              <a:tr h="311190">
                <a:tc>
                  <a:txBody>
                    <a:bodyPr/>
                    <a:lstStyle/>
                    <a:p>
                      <a:pPr algn="ctr" fontAlgn="b"/>
                      <a:r>
                        <a:rPr lang="zh-CN" altLang="en-US" sz="1200" b="1" u="none" strike="noStrike" dirty="0">
                          <a:solidFill>
                            <a:schemeClr val="bg1"/>
                          </a:solidFill>
                          <a:effectLst/>
                          <a:latin typeface="+mn-ea"/>
                          <a:ea typeface="+mn-ea"/>
                        </a:rPr>
                        <a:t>名次</a:t>
                      </a:r>
                      <a:endParaRPr lang="zh-CN" altLang="en-US" sz="1200" b="1" i="0" u="none" strike="noStrike" dirty="0">
                        <a:solidFill>
                          <a:schemeClr val="bg1"/>
                        </a:solidFill>
                        <a:effectLst/>
                        <a:latin typeface="+mn-ea"/>
                        <a:ea typeface="+mn-ea"/>
                      </a:endParaRPr>
                    </a:p>
                  </a:txBody>
                  <a:tcPr marL="7218" marR="7218" marT="7218" marB="0" anchor="ctr">
                    <a:solidFill>
                      <a:srgbClr val="0070C0"/>
                    </a:solidFill>
                  </a:tcPr>
                </a:tc>
                <a:tc>
                  <a:txBody>
                    <a:bodyPr/>
                    <a:lstStyle/>
                    <a:p>
                      <a:pPr algn="ctr" fontAlgn="b"/>
                      <a:r>
                        <a:rPr lang="zh-CN" altLang="en-US" sz="1200" b="1" u="none" strike="noStrike" dirty="0">
                          <a:solidFill>
                            <a:schemeClr val="bg1"/>
                          </a:solidFill>
                          <a:effectLst/>
                          <a:latin typeface="+mn-ea"/>
                          <a:ea typeface="+mn-ea"/>
                        </a:rPr>
                        <a:t>项目名称</a:t>
                      </a:r>
                      <a:endParaRPr lang="zh-CN" altLang="en-US" sz="1200" b="1" i="0" u="none" strike="noStrike" dirty="0">
                        <a:solidFill>
                          <a:schemeClr val="bg1"/>
                        </a:solidFill>
                        <a:effectLst/>
                        <a:latin typeface="+mn-ea"/>
                        <a:ea typeface="+mn-ea"/>
                      </a:endParaRPr>
                    </a:p>
                  </a:txBody>
                  <a:tcPr marL="7218" marR="7218" marT="7218" marB="0" anchor="ctr">
                    <a:solidFill>
                      <a:srgbClr val="0070C0"/>
                    </a:solidFill>
                  </a:tcPr>
                </a:tc>
                <a:tc>
                  <a:txBody>
                    <a:bodyPr/>
                    <a:lstStyle/>
                    <a:p>
                      <a:pPr algn="ctr" fontAlgn="b"/>
                      <a:r>
                        <a:rPr lang="zh-CN" altLang="en-US" sz="1200" b="1" u="none" strike="noStrike" dirty="0">
                          <a:solidFill>
                            <a:schemeClr val="bg1"/>
                          </a:solidFill>
                          <a:effectLst/>
                          <a:latin typeface="+mn-ea"/>
                          <a:ea typeface="+mn-ea"/>
                        </a:rPr>
                        <a:t>环线</a:t>
                      </a:r>
                      <a:endParaRPr lang="zh-CN" altLang="en-US" sz="1200" b="1" i="0" u="none" strike="noStrike" dirty="0">
                        <a:solidFill>
                          <a:schemeClr val="bg1"/>
                        </a:solidFill>
                        <a:effectLst/>
                        <a:latin typeface="+mn-ea"/>
                        <a:ea typeface="+mn-ea"/>
                      </a:endParaRPr>
                    </a:p>
                  </a:txBody>
                  <a:tcPr marL="7218" marR="7218" marT="7218" marB="0" anchor="ctr">
                    <a:solidFill>
                      <a:srgbClr val="0070C0"/>
                    </a:solidFill>
                  </a:tcPr>
                </a:tc>
                <a:tc>
                  <a:txBody>
                    <a:bodyPr/>
                    <a:lstStyle/>
                    <a:p>
                      <a:pPr algn="ctr" fontAlgn="b"/>
                      <a:r>
                        <a:rPr lang="zh-CN" altLang="en-US" sz="1200" b="1" u="none" strike="noStrike" dirty="0">
                          <a:solidFill>
                            <a:schemeClr val="bg1"/>
                          </a:solidFill>
                          <a:effectLst/>
                          <a:latin typeface="+mn-ea"/>
                          <a:ea typeface="+mn-ea"/>
                        </a:rPr>
                        <a:t>行政区</a:t>
                      </a:r>
                      <a:endParaRPr lang="zh-CN" altLang="en-US" sz="1200" b="1" i="0" u="none" strike="noStrike" dirty="0">
                        <a:solidFill>
                          <a:schemeClr val="bg1"/>
                        </a:solidFill>
                        <a:effectLst/>
                        <a:latin typeface="+mn-ea"/>
                        <a:ea typeface="+mn-ea"/>
                      </a:endParaRPr>
                    </a:p>
                  </a:txBody>
                  <a:tcPr marL="7218" marR="7218" marT="7218" marB="0" anchor="ctr">
                    <a:solidFill>
                      <a:srgbClr val="0070C0"/>
                    </a:solidFill>
                  </a:tcPr>
                </a:tc>
                <a:tc>
                  <a:txBody>
                    <a:bodyPr/>
                    <a:lstStyle/>
                    <a:p>
                      <a:pPr algn="ctr" fontAlgn="b"/>
                      <a:r>
                        <a:rPr lang="zh-CN" altLang="en-US" sz="1200" b="1" u="none" strike="noStrike" dirty="0">
                          <a:solidFill>
                            <a:schemeClr val="bg1"/>
                          </a:solidFill>
                          <a:effectLst/>
                          <a:latin typeface="+mn-ea"/>
                          <a:ea typeface="+mn-ea"/>
                        </a:rPr>
                        <a:t>套数↓</a:t>
                      </a:r>
                      <a:endParaRPr lang="zh-CN" altLang="en-US" sz="1200" b="1" i="0" u="none" strike="noStrike" dirty="0">
                        <a:solidFill>
                          <a:schemeClr val="bg1"/>
                        </a:solidFill>
                        <a:effectLst/>
                        <a:latin typeface="+mn-ea"/>
                        <a:ea typeface="+mn-ea"/>
                      </a:endParaRPr>
                    </a:p>
                  </a:txBody>
                  <a:tcPr marL="7218" marR="7218" marT="7218" marB="0" anchor="ctr">
                    <a:solidFill>
                      <a:srgbClr val="0070C0"/>
                    </a:solidFill>
                  </a:tcPr>
                </a:tc>
                <a:tc>
                  <a:txBody>
                    <a:bodyPr/>
                    <a:lstStyle/>
                    <a:p>
                      <a:pPr algn="ctr" fontAlgn="b"/>
                      <a:r>
                        <a:rPr lang="zh-CN" altLang="en-US" sz="1200" b="1" u="none" strike="noStrike" dirty="0">
                          <a:solidFill>
                            <a:schemeClr val="bg1"/>
                          </a:solidFill>
                          <a:effectLst/>
                          <a:latin typeface="+mn-ea"/>
                          <a:ea typeface="+mn-ea"/>
                        </a:rPr>
                        <a:t>面积</a:t>
                      </a:r>
                      <a:r>
                        <a:rPr lang="en-US" altLang="zh-CN" sz="1200" b="1" u="none" strike="noStrike" dirty="0">
                          <a:solidFill>
                            <a:schemeClr val="bg1"/>
                          </a:solidFill>
                          <a:effectLst/>
                          <a:latin typeface="+mn-ea"/>
                          <a:ea typeface="+mn-ea"/>
                        </a:rPr>
                        <a:t>(㎡)</a:t>
                      </a:r>
                      <a:endParaRPr lang="en-US" altLang="zh-CN" sz="1200" b="1" i="0" u="none" strike="noStrike" dirty="0">
                        <a:solidFill>
                          <a:schemeClr val="bg1"/>
                        </a:solidFill>
                        <a:effectLst/>
                        <a:latin typeface="+mn-ea"/>
                        <a:ea typeface="+mn-ea"/>
                      </a:endParaRPr>
                    </a:p>
                  </a:txBody>
                  <a:tcPr marL="7218" marR="7218" marT="7218" marB="0" anchor="ctr">
                    <a:solidFill>
                      <a:srgbClr val="0070C0"/>
                    </a:solidFill>
                  </a:tcPr>
                </a:tc>
                <a:tc>
                  <a:txBody>
                    <a:bodyPr/>
                    <a:lstStyle/>
                    <a:p>
                      <a:pPr algn="ctr" fontAlgn="b"/>
                      <a:r>
                        <a:rPr lang="zh-CN" altLang="en-US" sz="1200" b="1" u="none" strike="noStrike" dirty="0">
                          <a:solidFill>
                            <a:schemeClr val="bg1"/>
                          </a:solidFill>
                          <a:effectLst/>
                          <a:latin typeface="+mn-ea"/>
                          <a:ea typeface="+mn-ea"/>
                        </a:rPr>
                        <a:t>均价</a:t>
                      </a:r>
                      <a:r>
                        <a:rPr lang="en-US" altLang="zh-CN" sz="1200" b="1" u="none" strike="noStrike" dirty="0">
                          <a:solidFill>
                            <a:schemeClr val="bg1"/>
                          </a:solidFill>
                          <a:effectLst/>
                          <a:latin typeface="+mn-ea"/>
                          <a:ea typeface="+mn-ea"/>
                        </a:rPr>
                        <a:t>(</a:t>
                      </a:r>
                      <a:r>
                        <a:rPr lang="zh-CN" altLang="en-US" sz="1200" b="1" u="none" strike="noStrike" dirty="0">
                          <a:solidFill>
                            <a:schemeClr val="bg1"/>
                          </a:solidFill>
                          <a:effectLst/>
                          <a:latin typeface="+mn-ea"/>
                          <a:ea typeface="+mn-ea"/>
                        </a:rPr>
                        <a:t>元</a:t>
                      </a:r>
                      <a:r>
                        <a:rPr lang="en-US" altLang="zh-CN" sz="1200" b="1" u="none" strike="noStrike" dirty="0">
                          <a:solidFill>
                            <a:schemeClr val="bg1"/>
                          </a:solidFill>
                          <a:effectLst/>
                          <a:latin typeface="+mn-ea"/>
                          <a:ea typeface="+mn-ea"/>
                        </a:rPr>
                        <a:t>/㎡)</a:t>
                      </a:r>
                      <a:endParaRPr lang="en-US" altLang="zh-CN" sz="1200" b="1" i="0" u="none" strike="noStrike" dirty="0">
                        <a:solidFill>
                          <a:schemeClr val="bg1"/>
                        </a:solidFill>
                        <a:effectLst/>
                        <a:latin typeface="+mn-ea"/>
                        <a:ea typeface="+mn-ea"/>
                      </a:endParaRPr>
                    </a:p>
                  </a:txBody>
                  <a:tcPr marL="7218" marR="7218" marT="7218" marB="0" anchor="ctr">
                    <a:solidFill>
                      <a:srgbClr val="0070C0"/>
                    </a:solidFill>
                  </a:tcPr>
                </a:tc>
                <a:tc>
                  <a:txBody>
                    <a:bodyPr/>
                    <a:lstStyle/>
                    <a:p>
                      <a:pPr algn="ctr" fontAlgn="b"/>
                      <a:r>
                        <a:rPr lang="zh-CN" altLang="en-US" sz="1200" b="1" u="none" strike="noStrike" dirty="0">
                          <a:solidFill>
                            <a:schemeClr val="bg1"/>
                          </a:solidFill>
                          <a:effectLst/>
                          <a:latin typeface="+mn-ea"/>
                          <a:ea typeface="+mn-ea"/>
                        </a:rPr>
                        <a:t>金额（亿元）</a:t>
                      </a:r>
                      <a:endParaRPr lang="zh-CN" altLang="en-US" sz="1200" b="1" i="0" u="none" strike="noStrike" dirty="0">
                        <a:solidFill>
                          <a:schemeClr val="bg1"/>
                        </a:solidFill>
                        <a:effectLst/>
                        <a:latin typeface="+mn-ea"/>
                        <a:ea typeface="+mn-ea"/>
                      </a:endParaRPr>
                    </a:p>
                  </a:txBody>
                  <a:tcPr marL="7218" marR="7218" marT="7218" marB="0" anchor="ctr">
                    <a:solidFill>
                      <a:srgbClr val="0070C0"/>
                    </a:solidFill>
                  </a:tcPr>
                </a:tc>
                <a:extLst>
                  <a:ext uri="{0D108BD9-81ED-4DB2-BD59-A6C34878D82A}">
                    <a16:rowId xmlns:a16="http://schemas.microsoft.com/office/drawing/2014/main" val="10000"/>
                  </a:ext>
                </a:extLst>
              </a:tr>
              <a:tr h="220881">
                <a:tc>
                  <a:txBody>
                    <a:bodyPr/>
                    <a:lstStyle/>
                    <a:p>
                      <a:pPr algn="ctr" fontAlgn="ctr"/>
                      <a:r>
                        <a:rPr lang="en-US" altLang="zh-CN" sz="1200" b="0" i="0" u="none" strike="noStrike">
                          <a:solidFill>
                            <a:srgbClr val="000000"/>
                          </a:solidFill>
                          <a:effectLst/>
                          <a:latin typeface="+mn-ea"/>
                          <a:ea typeface="+mn-ea"/>
                        </a:rPr>
                        <a:t>1</a:t>
                      </a:r>
                    </a:p>
                  </a:txBody>
                  <a:tcPr marL="9525" marR="9525" marT="9525" marB="0" anchor="ctr"/>
                </a:tc>
                <a:tc>
                  <a:txBody>
                    <a:bodyPr/>
                    <a:lstStyle/>
                    <a:p>
                      <a:pPr algn="ctr" fontAlgn="ctr"/>
                      <a:r>
                        <a:rPr lang="zh-CN" altLang="en-US" sz="1200" b="0" i="0" u="none" strike="noStrike">
                          <a:solidFill>
                            <a:srgbClr val="000000"/>
                          </a:solidFill>
                          <a:effectLst/>
                          <a:latin typeface="+mn-ea"/>
                          <a:ea typeface="+mn-ea"/>
                        </a:rPr>
                        <a:t>新奇世界御马坊</a:t>
                      </a:r>
                    </a:p>
                  </a:txBody>
                  <a:tcPr marL="9525" marR="9525" marT="9525" marB="0" anchor="ctr"/>
                </a:tc>
                <a:tc>
                  <a:txBody>
                    <a:bodyPr/>
                    <a:lstStyle/>
                    <a:p>
                      <a:pPr algn="ctr" fontAlgn="ctr"/>
                      <a:r>
                        <a:rPr lang="zh-CN" altLang="en-US" sz="1200" b="0" i="0" u="none" strike="noStrike">
                          <a:solidFill>
                            <a:srgbClr val="000000"/>
                          </a:solidFill>
                          <a:effectLst/>
                          <a:latin typeface="+mn-ea"/>
                          <a:ea typeface="+mn-ea"/>
                        </a:rPr>
                        <a:t>六环以外</a:t>
                      </a:r>
                    </a:p>
                  </a:txBody>
                  <a:tcPr marL="9525" marR="9525" marT="9525" marB="0" anchor="ctr"/>
                </a:tc>
                <a:tc>
                  <a:txBody>
                    <a:bodyPr/>
                    <a:lstStyle/>
                    <a:p>
                      <a:pPr algn="ctr" fontAlgn="ctr"/>
                      <a:r>
                        <a:rPr lang="zh-CN" altLang="en-US" sz="1200" b="0" i="0" u="none" strike="noStrike">
                          <a:solidFill>
                            <a:srgbClr val="000000"/>
                          </a:solidFill>
                          <a:effectLst/>
                          <a:latin typeface="+mn-ea"/>
                          <a:ea typeface="+mn-ea"/>
                        </a:rPr>
                        <a:t>平谷</a:t>
                      </a:r>
                    </a:p>
                  </a:txBody>
                  <a:tcPr marL="9525" marR="9525" marT="9525" marB="0" anchor="ctr"/>
                </a:tc>
                <a:tc>
                  <a:txBody>
                    <a:bodyPr/>
                    <a:lstStyle/>
                    <a:p>
                      <a:pPr algn="ctr" fontAlgn="ctr"/>
                      <a:r>
                        <a:rPr lang="en-US" altLang="zh-CN" sz="1200" b="0" i="0" u="none" strike="noStrike">
                          <a:solidFill>
                            <a:srgbClr val="000000"/>
                          </a:solidFill>
                          <a:effectLst/>
                          <a:latin typeface="+mn-ea"/>
                          <a:ea typeface="+mn-ea"/>
                        </a:rPr>
                        <a:t>968</a:t>
                      </a:r>
                    </a:p>
                  </a:txBody>
                  <a:tcPr marL="9525" marR="9525" marT="9525" marB="0" anchor="ctr"/>
                </a:tc>
                <a:tc>
                  <a:txBody>
                    <a:bodyPr/>
                    <a:lstStyle/>
                    <a:p>
                      <a:pPr algn="r" fontAlgn="ctr"/>
                      <a:r>
                        <a:rPr lang="en-US" altLang="zh-CN" sz="1200" b="0" i="0" u="none" strike="noStrike" dirty="0">
                          <a:solidFill>
                            <a:srgbClr val="000000"/>
                          </a:solidFill>
                          <a:effectLst/>
                          <a:latin typeface="+mn-ea"/>
                          <a:ea typeface="+mn-ea"/>
                        </a:rPr>
                        <a:t>63139.4</a:t>
                      </a:r>
                    </a:p>
                  </a:txBody>
                  <a:tcPr marL="9525" marR="9525" marT="9525" marB="0" anchor="ctr"/>
                </a:tc>
                <a:tc>
                  <a:txBody>
                    <a:bodyPr/>
                    <a:lstStyle/>
                    <a:p>
                      <a:pPr algn="r" fontAlgn="ctr"/>
                      <a:r>
                        <a:rPr lang="en-US" altLang="zh-CN" sz="1200" b="0" i="0" u="none" strike="noStrike">
                          <a:solidFill>
                            <a:srgbClr val="000000"/>
                          </a:solidFill>
                          <a:effectLst/>
                          <a:latin typeface="+mn-ea"/>
                          <a:ea typeface="+mn-ea"/>
                        </a:rPr>
                        <a:t>16918</a:t>
                      </a:r>
                    </a:p>
                  </a:txBody>
                  <a:tcPr marL="9525" marR="9525" marT="9525" marB="0" anchor="ctr"/>
                </a:tc>
                <a:tc>
                  <a:txBody>
                    <a:bodyPr/>
                    <a:lstStyle/>
                    <a:p>
                      <a:pPr algn="r" fontAlgn="ctr"/>
                      <a:r>
                        <a:rPr lang="en-US" altLang="zh-CN" sz="1200" b="0" i="0" u="none" strike="noStrike" dirty="0">
                          <a:solidFill>
                            <a:srgbClr val="000000"/>
                          </a:solidFill>
                          <a:effectLst/>
                          <a:latin typeface="+mn-ea"/>
                          <a:ea typeface="+mn-ea"/>
                        </a:rPr>
                        <a:t>10.68</a:t>
                      </a:r>
                    </a:p>
                  </a:txBody>
                  <a:tcPr marL="9525" marR="9525" marT="9525" marB="0" anchor="ctr"/>
                </a:tc>
                <a:extLst>
                  <a:ext uri="{0D108BD9-81ED-4DB2-BD59-A6C34878D82A}">
                    <a16:rowId xmlns:a16="http://schemas.microsoft.com/office/drawing/2014/main" val="10001"/>
                  </a:ext>
                </a:extLst>
              </a:tr>
              <a:tr h="220881">
                <a:tc>
                  <a:txBody>
                    <a:bodyPr/>
                    <a:lstStyle/>
                    <a:p>
                      <a:pPr algn="ctr" fontAlgn="ctr"/>
                      <a:r>
                        <a:rPr lang="en-US" altLang="zh-CN" sz="1200" b="0" i="0" u="none" strike="noStrike">
                          <a:solidFill>
                            <a:srgbClr val="000000"/>
                          </a:solidFill>
                          <a:effectLst/>
                          <a:latin typeface="+mn-ea"/>
                          <a:ea typeface="+mn-ea"/>
                        </a:rPr>
                        <a:t>2</a:t>
                      </a:r>
                    </a:p>
                  </a:txBody>
                  <a:tcPr marL="9525" marR="9525" marT="9525" marB="0" anchor="ctr"/>
                </a:tc>
                <a:tc>
                  <a:txBody>
                    <a:bodyPr/>
                    <a:lstStyle/>
                    <a:p>
                      <a:pPr algn="ctr" fontAlgn="ctr"/>
                      <a:r>
                        <a:rPr lang="zh-CN" altLang="en-US" sz="1200" b="0" i="0" u="none" strike="noStrike">
                          <a:solidFill>
                            <a:srgbClr val="000000"/>
                          </a:solidFill>
                          <a:effectLst/>
                          <a:latin typeface="+mn-ea"/>
                          <a:ea typeface="+mn-ea"/>
                        </a:rPr>
                        <a:t>金地未未来</a:t>
                      </a:r>
                    </a:p>
                  </a:txBody>
                  <a:tcPr marL="9525" marR="9525" marT="9525" marB="0" anchor="ctr"/>
                </a:tc>
                <a:tc>
                  <a:txBody>
                    <a:bodyPr/>
                    <a:lstStyle/>
                    <a:p>
                      <a:pPr algn="ctr" fontAlgn="ctr"/>
                      <a:r>
                        <a:rPr lang="zh-CN" altLang="en-US" sz="1200" b="0" i="0" u="none" strike="noStrike">
                          <a:solidFill>
                            <a:srgbClr val="000000"/>
                          </a:solidFill>
                          <a:effectLst/>
                          <a:latin typeface="+mn-ea"/>
                          <a:ea typeface="+mn-ea"/>
                        </a:rPr>
                        <a:t>六环以外</a:t>
                      </a:r>
                    </a:p>
                  </a:txBody>
                  <a:tcPr marL="9525" marR="9525" marT="9525" marB="0" anchor="ctr"/>
                </a:tc>
                <a:tc>
                  <a:txBody>
                    <a:bodyPr/>
                    <a:lstStyle/>
                    <a:p>
                      <a:pPr algn="ctr" fontAlgn="ctr"/>
                      <a:r>
                        <a:rPr lang="zh-CN" altLang="en-US" sz="1200" b="0" i="0" u="none" strike="noStrike">
                          <a:solidFill>
                            <a:srgbClr val="000000"/>
                          </a:solidFill>
                          <a:effectLst/>
                          <a:latin typeface="+mn-ea"/>
                          <a:ea typeface="+mn-ea"/>
                        </a:rPr>
                        <a:t>顺义</a:t>
                      </a:r>
                    </a:p>
                  </a:txBody>
                  <a:tcPr marL="9525" marR="9525" marT="9525" marB="0" anchor="ctr"/>
                </a:tc>
                <a:tc>
                  <a:txBody>
                    <a:bodyPr/>
                    <a:lstStyle/>
                    <a:p>
                      <a:pPr algn="ctr" fontAlgn="ctr"/>
                      <a:r>
                        <a:rPr lang="en-US" altLang="zh-CN" sz="1200" b="0" i="0" u="none" strike="noStrike">
                          <a:solidFill>
                            <a:srgbClr val="000000"/>
                          </a:solidFill>
                          <a:effectLst/>
                          <a:latin typeface="+mn-ea"/>
                          <a:ea typeface="+mn-ea"/>
                        </a:rPr>
                        <a:t>799</a:t>
                      </a:r>
                    </a:p>
                  </a:txBody>
                  <a:tcPr marL="9525" marR="9525" marT="9525" marB="0" anchor="ctr"/>
                </a:tc>
                <a:tc>
                  <a:txBody>
                    <a:bodyPr/>
                    <a:lstStyle/>
                    <a:p>
                      <a:pPr algn="r" fontAlgn="ctr"/>
                      <a:r>
                        <a:rPr lang="en-US" altLang="zh-CN" sz="1200" b="0" i="0" u="none" strike="noStrike" dirty="0">
                          <a:solidFill>
                            <a:srgbClr val="000000"/>
                          </a:solidFill>
                          <a:effectLst/>
                          <a:latin typeface="+mn-ea"/>
                          <a:ea typeface="+mn-ea"/>
                        </a:rPr>
                        <a:t>38741.4</a:t>
                      </a:r>
                    </a:p>
                  </a:txBody>
                  <a:tcPr marL="9525" marR="9525" marT="9525" marB="0" anchor="ctr"/>
                </a:tc>
                <a:tc>
                  <a:txBody>
                    <a:bodyPr/>
                    <a:lstStyle/>
                    <a:p>
                      <a:pPr algn="r" fontAlgn="ctr"/>
                      <a:r>
                        <a:rPr lang="en-US" altLang="zh-CN" sz="1200" b="0" i="0" u="none" strike="noStrike">
                          <a:solidFill>
                            <a:srgbClr val="000000"/>
                          </a:solidFill>
                          <a:effectLst/>
                          <a:latin typeface="+mn-ea"/>
                          <a:ea typeface="+mn-ea"/>
                        </a:rPr>
                        <a:t>26810</a:t>
                      </a:r>
                    </a:p>
                  </a:txBody>
                  <a:tcPr marL="9525" marR="9525" marT="9525" marB="0" anchor="ctr"/>
                </a:tc>
                <a:tc>
                  <a:txBody>
                    <a:bodyPr/>
                    <a:lstStyle/>
                    <a:p>
                      <a:pPr algn="r" fontAlgn="ctr"/>
                      <a:r>
                        <a:rPr lang="en-US" altLang="zh-CN" sz="1200" b="0" i="0" u="none" strike="noStrike">
                          <a:solidFill>
                            <a:srgbClr val="000000"/>
                          </a:solidFill>
                          <a:effectLst/>
                          <a:latin typeface="+mn-ea"/>
                          <a:ea typeface="+mn-ea"/>
                        </a:rPr>
                        <a:t>10.39</a:t>
                      </a:r>
                    </a:p>
                  </a:txBody>
                  <a:tcPr marL="9525" marR="9525" marT="9525" marB="0" anchor="ctr"/>
                </a:tc>
                <a:extLst>
                  <a:ext uri="{0D108BD9-81ED-4DB2-BD59-A6C34878D82A}">
                    <a16:rowId xmlns:a16="http://schemas.microsoft.com/office/drawing/2014/main" val="10002"/>
                  </a:ext>
                </a:extLst>
              </a:tr>
              <a:tr h="220881">
                <a:tc>
                  <a:txBody>
                    <a:bodyPr/>
                    <a:lstStyle/>
                    <a:p>
                      <a:pPr algn="ctr" fontAlgn="ctr"/>
                      <a:r>
                        <a:rPr lang="en-US" altLang="zh-CN" sz="1200" b="0" i="0" u="none" strike="noStrike">
                          <a:solidFill>
                            <a:srgbClr val="000000"/>
                          </a:solidFill>
                          <a:effectLst/>
                          <a:latin typeface="+mn-ea"/>
                          <a:ea typeface="+mn-ea"/>
                        </a:rPr>
                        <a:t>3</a:t>
                      </a:r>
                    </a:p>
                  </a:txBody>
                  <a:tcPr marL="9525" marR="9525" marT="9525" marB="0" anchor="ctr"/>
                </a:tc>
                <a:tc>
                  <a:txBody>
                    <a:bodyPr/>
                    <a:lstStyle/>
                    <a:p>
                      <a:pPr algn="ctr" fontAlgn="ctr"/>
                      <a:r>
                        <a:rPr lang="zh-CN" altLang="en-US" sz="1200" b="0" i="0" u="none" strike="noStrike">
                          <a:solidFill>
                            <a:srgbClr val="000000"/>
                          </a:solidFill>
                          <a:effectLst/>
                          <a:latin typeface="+mn-ea"/>
                          <a:ea typeface="+mn-ea"/>
                        </a:rPr>
                        <a:t>启迪香山</a:t>
                      </a:r>
                    </a:p>
                  </a:txBody>
                  <a:tcPr marL="9525" marR="9525" marT="9525" marB="0" anchor="ctr"/>
                </a:tc>
                <a:tc>
                  <a:txBody>
                    <a:bodyPr/>
                    <a:lstStyle/>
                    <a:p>
                      <a:pPr algn="ctr" fontAlgn="ctr"/>
                      <a:r>
                        <a:rPr lang="zh-CN" altLang="en-US" sz="1200" b="0" i="0" u="none" strike="noStrike">
                          <a:solidFill>
                            <a:srgbClr val="000000"/>
                          </a:solidFill>
                          <a:effectLst/>
                          <a:latin typeface="+mn-ea"/>
                          <a:ea typeface="+mn-ea"/>
                        </a:rPr>
                        <a:t>五、六环之间</a:t>
                      </a:r>
                    </a:p>
                  </a:txBody>
                  <a:tcPr marL="9525" marR="9525" marT="9525" marB="0" anchor="ctr"/>
                </a:tc>
                <a:tc>
                  <a:txBody>
                    <a:bodyPr/>
                    <a:lstStyle/>
                    <a:p>
                      <a:pPr algn="ctr" fontAlgn="ctr"/>
                      <a:r>
                        <a:rPr lang="zh-CN" altLang="en-US" sz="1200" b="0" i="0" u="none" strike="noStrike">
                          <a:solidFill>
                            <a:srgbClr val="000000"/>
                          </a:solidFill>
                          <a:effectLst/>
                          <a:latin typeface="+mn-ea"/>
                          <a:ea typeface="+mn-ea"/>
                        </a:rPr>
                        <a:t>石景山</a:t>
                      </a:r>
                    </a:p>
                  </a:txBody>
                  <a:tcPr marL="9525" marR="9525" marT="9525" marB="0" anchor="ctr"/>
                </a:tc>
                <a:tc>
                  <a:txBody>
                    <a:bodyPr/>
                    <a:lstStyle/>
                    <a:p>
                      <a:pPr algn="ctr" fontAlgn="ctr"/>
                      <a:r>
                        <a:rPr lang="en-US" altLang="zh-CN" sz="1200" b="0" i="0" u="none" strike="noStrike">
                          <a:solidFill>
                            <a:srgbClr val="000000"/>
                          </a:solidFill>
                          <a:effectLst/>
                          <a:latin typeface="+mn-ea"/>
                          <a:ea typeface="+mn-ea"/>
                        </a:rPr>
                        <a:t>479</a:t>
                      </a:r>
                    </a:p>
                  </a:txBody>
                  <a:tcPr marL="9525" marR="9525" marT="9525" marB="0" anchor="ctr"/>
                </a:tc>
                <a:tc>
                  <a:txBody>
                    <a:bodyPr/>
                    <a:lstStyle/>
                    <a:p>
                      <a:pPr algn="r" fontAlgn="ctr"/>
                      <a:r>
                        <a:rPr lang="en-US" altLang="zh-CN" sz="1200" b="0" i="0" u="none" strike="noStrike" dirty="0">
                          <a:solidFill>
                            <a:srgbClr val="000000"/>
                          </a:solidFill>
                          <a:effectLst/>
                          <a:latin typeface="+mn-ea"/>
                          <a:ea typeface="+mn-ea"/>
                        </a:rPr>
                        <a:t>23643.6</a:t>
                      </a:r>
                    </a:p>
                  </a:txBody>
                  <a:tcPr marL="9525" marR="9525" marT="9525" marB="0" anchor="ctr"/>
                </a:tc>
                <a:tc>
                  <a:txBody>
                    <a:bodyPr/>
                    <a:lstStyle/>
                    <a:p>
                      <a:pPr algn="r" fontAlgn="ctr"/>
                      <a:r>
                        <a:rPr lang="en-US" altLang="zh-CN" sz="1200" b="0" i="0" u="none" strike="noStrike">
                          <a:solidFill>
                            <a:srgbClr val="000000"/>
                          </a:solidFill>
                          <a:effectLst/>
                          <a:latin typeface="+mn-ea"/>
                          <a:ea typeface="+mn-ea"/>
                        </a:rPr>
                        <a:t>54513</a:t>
                      </a:r>
                    </a:p>
                  </a:txBody>
                  <a:tcPr marL="9525" marR="9525" marT="9525" marB="0" anchor="ctr"/>
                </a:tc>
                <a:tc>
                  <a:txBody>
                    <a:bodyPr/>
                    <a:lstStyle/>
                    <a:p>
                      <a:pPr algn="r" fontAlgn="ctr"/>
                      <a:r>
                        <a:rPr lang="en-US" altLang="zh-CN" sz="1200" b="0" i="0" u="none" strike="noStrike">
                          <a:solidFill>
                            <a:srgbClr val="000000"/>
                          </a:solidFill>
                          <a:effectLst/>
                          <a:latin typeface="+mn-ea"/>
                          <a:ea typeface="+mn-ea"/>
                        </a:rPr>
                        <a:t>12.89</a:t>
                      </a:r>
                    </a:p>
                  </a:txBody>
                  <a:tcPr marL="9525" marR="9525" marT="9525" marB="0" anchor="ctr"/>
                </a:tc>
                <a:extLst>
                  <a:ext uri="{0D108BD9-81ED-4DB2-BD59-A6C34878D82A}">
                    <a16:rowId xmlns:a16="http://schemas.microsoft.com/office/drawing/2014/main" val="10003"/>
                  </a:ext>
                </a:extLst>
              </a:tr>
              <a:tr h="220881">
                <a:tc>
                  <a:txBody>
                    <a:bodyPr/>
                    <a:lstStyle/>
                    <a:p>
                      <a:pPr algn="ctr" fontAlgn="ctr"/>
                      <a:r>
                        <a:rPr lang="en-US" altLang="zh-CN" sz="1200" b="0" i="0" u="none" strike="noStrike">
                          <a:solidFill>
                            <a:srgbClr val="000000"/>
                          </a:solidFill>
                          <a:effectLst/>
                          <a:latin typeface="+mn-ea"/>
                          <a:ea typeface="+mn-ea"/>
                        </a:rPr>
                        <a:t>4</a:t>
                      </a:r>
                    </a:p>
                  </a:txBody>
                  <a:tcPr marL="9525" marR="9525" marT="9525" marB="0" anchor="ctr"/>
                </a:tc>
                <a:tc>
                  <a:txBody>
                    <a:bodyPr/>
                    <a:lstStyle/>
                    <a:p>
                      <a:pPr algn="ctr" fontAlgn="ctr"/>
                      <a:r>
                        <a:rPr lang="zh-CN" altLang="en-US" sz="1200" b="0" i="0" u="none" strike="noStrike">
                          <a:solidFill>
                            <a:srgbClr val="000000"/>
                          </a:solidFill>
                          <a:effectLst/>
                          <a:latin typeface="+mn-ea"/>
                          <a:ea typeface="+mn-ea"/>
                        </a:rPr>
                        <a:t>西山湖雲空间 </a:t>
                      </a:r>
                    </a:p>
                  </a:txBody>
                  <a:tcPr marL="9525" marR="9525" marT="9525" marB="0" anchor="ctr"/>
                </a:tc>
                <a:tc>
                  <a:txBody>
                    <a:bodyPr/>
                    <a:lstStyle/>
                    <a:p>
                      <a:pPr algn="ctr" fontAlgn="ctr"/>
                      <a:r>
                        <a:rPr lang="zh-CN" altLang="en-US" sz="1200" b="0" i="0" u="none" strike="noStrike">
                          <a:solidFill>
                            <a:srgbClr val="000000"/>
                          </a:solidFill>
                          <a:effectLst/>
                          <a:latin typeface="+mn-ea"/>
                          <a:ea typeface="+mn-ea"/>
                        </a:rPr>
                        <a:t>六环以外</a:t>
                      </a:r>
                    </a:p>
                  </a:txBody>
                  <a:tcPr marL="9525" marR="9525" marT="9525" marB="0" anchor="ctr"/>
                </a:tc>
                <a:tc>
                  <a:txBody>
                    <a:bodyPr/>
                    <a:lstStyle/>
                    <a:p>
                      <a:pPr algn="ctr" fontAlgn="ctr"/>
                      <a:r>
                        <a:rPr lang="zh-CN" altLang="en-US" sz="1200" b="0" i="0" u="none" strike="noStrike">
                          <a:solidFill>
                            <a:srgbClr val="000000"/>
                          </a:solidFill>
                          <a:effectLst/>
                          <a:latin typeface="+mn-ea"/>
                          <a:ea typeface="+mn-ea"/>
                        </a:rPr>
                        <a:t>丰台</a:t>
                      </a:r>
                    </a:p>
                  </a:txBody>
                  <a:tcPr marL="9525" marR="9525" marT="9525" marB="0" anchor="ctr"/>
                </a:tc>
                <a:tc>
                  <a:txBody>
                    <a:bodyPr/>
                    <a:lstStyle/>
                    <a:p>
                      <a:pPr algn="ctr" fontAlgn="ctr"/>
                      <a:r>
                        <a:rPr lang="en-US" altLang="zh-CN" sz="1200" b="0" i="0" u="none" strike="noStrike">
                          <a:solidFill>
                            <a:srgbClr val="000000"/>
                          </a:solidFill>
                          <a:effectLst/>
                          <a:latin typeface="+mn-ea"/>
                          <a:ea typeface="+mn-ea"/>
                        </a:rPr>
                        <a:t>473</a:t>
                      </a:r>
                    </a:p>
                  </a:txBody>
                  <a:tcPr marL="9525" marR="9525" marT="9525" marB="0" anchor="ctr"/>
                </a:tc>
                <a:tc>
                  <a:txBody>
                    <a:bodyPr/>
                    <a:lstStyle/>
                    <a:p>
                      <a:pPr algn="r" fontAlgn="ctr"/>
                      <a:r>
                        <a:rPr lang="en-US" altLang="zh-CN" sz="1200" b="0" i="0" u="none" strike="noStrike" dirty="0">
                          <a:solidFill>
                            <a:srgbClr val="000000"/>
                          </a:solidFill>
                          <a:effectLst/>
                          <a:latin typeface="+mn-ea"/>
                          <a:ea typeface="+mn-ea"/>
                        </a:rPr>
                        <a:t>22305.9</a:t>
                      </a:r>
                    </a:p>
                  </a:txBody>
                  <a:tcPr marL="9525" marR="9525" marT="9525" marB="0" anchor="ctr"/>
                </a:tc>
                <a:tc>
                  <a:txBody>
                    <a:bodyPr/>
                    <a:lstStyle/>
                    <a:p>
                      <a:pPr algn="r" fontAlgn="ctr"/>
                      <a:r>
                        <a:rPr lang="en-US" altLang="zh-CN" sz="1200" b="0" i="0" u="none" strike="noStrike" dirty="0">
                          <a:solidFill>
                            <a:srgbClr val="000000"/>
                          </a:solidFill>
                          <a:effectLst/>
                          <a:latin typeface="+mn-ea"/>
                          <a:ea typeface="+mn-ea"/>
                        </a:rPr>
                        <a:t>30878</a:t>
                      </a:r>
                    </a:p>
                  </a:txBody>
                  <a:tcPr marL="9525" marR="9525" marT="9525" marB="0" anchor="ctr"/>
                </a:tc>
                <a:tc>
                  <a:txBody>
                    <a:bodyPr/>
                    <a:lstStyle/>
                    <a:p>
                      <a:pPr algn="r" fontAlgn="ctr"/>
                      <a:r>
                        <a:rPr lang="en-US" altLang="zh-CN" sz="1200" b="0" i="0" u="none" strike="noStrike">
                          <a:solidFill>
                            <a:srgbClr val="000000"/>
                          </a:solidFill>
                          <a:effectLst/>
                          <a:latin typeface="+mn-ea"/>
                          <a:ea typeface="+mn-ea"/>
                        </a:rPr>
                        <a:t>6.89</a:t>
                      </a:r>
                    </a:p>
                  </a:txBody>
                  <a:tcPr marL="9525" marR="9525" marT="9525" marB="0" anchor="ctr"/>
                </a:tc>
                <a:extLst>
                  <a:ext uri="{0D108BD9-81ED-4DB2-BD59-A6C34878D82A}">
                    <a16:rowId xmlns:a16="http://schemas.microsoft.com/office/drawing/2014/main" val="10004"/>
                  </a:ext>
                </a:extLst>
              </a:tr>
              <a:tr h="220881">
                <a:tc>
                  <a:txBody>
                    <a:bodyPr/>
                    <a:lstStyle/>
                    <a:p>
                      <a:pPr algn="ctr" fontAlgn="ctr"/>
                      <a:r>
                        <a:rPr lang="en-US" altLang="zh-CN" sz="1200" b="0" i="0" u="none" strike="noStrike">
                          <a:solidFill>
                            <a:srgbClr val="000000"/>
                          </a:solidFill>
                          <a:effectLst/>
                          <a:latin typeface="+mn-ea"/>
                          <a:ea typeface="+mn-ea"/>
                        </a:rPr>
                        <a:t>5</a:t>
                      </a:r>
                    </a:p>
                  </a:txBody>
                  <a:tcPr marL="9525" marR="9525" marT="9525" marB="0" anchor="ctr"/>
                </a:tc>
                <a:tc>
                  <a:txBody>
                    <a:bodyPr/>
                    <a:lstStyle/>
                    <a:p>
                      <a:pPr algn="ctr" fontAlgn="ctr"/>
                      <a:r>
                        <a:rPr lang="zh-CN" altLang="en-US" sz="1200" b="0" i="0" u="none" strike="noStrike">
                          <a:solidFill>
                            <a:srgbClr val="000000"/>
                          </a:solidFill>
                          <a:effectLst/>
                          <a:latin typeface="+mn-ea"/>
                          <a:ea typeface="+mn-ea"/>
                        </a:rPr>
                        <a:t>鲁能钓鱼台美高梅公馆</a:t>
                      </a:r>
                    </a:p>
                  </a:txBody>
                  <a:tcPr marL="9525" marR="9525" marT="9525" marB="0" anchor="ctr"/>
                </a:tc>
                <a:tc>
                  <a:txBody>
                    <a:bodyPr/>
                    <a:lstStyle/>
                    <a:p>
                      <a:pPr algn="ctr" fontAlgn="ctr"/>
                      <a:r>
                        <a:rPr lang="zh-CN" altLang="en-US" sz="1200" b="0" i="0" u="none" strike="noStrike">
                          <a:solidFill>
                            <a:srgbClr val="000000"/>
                          </a:solidFill>
                          <a:effectLst/>
                          <a:latin typeface="+mn-ea"/>
                          <a:ea typeface="+mn-ea"/>
                        </a:rPr>
                        <a:t>三、四环之间</a:t>
                      </a:r>
                    </a:p>
                  </a:txBody>
                  <a:tcPr marL="9525" marR="9525" marT="9525" marB="0" anchor="ctr"/>
                </a:tc>
                <a:tc>
                  <a:txBody>
                    <a:bodyPr/>
                    <a:lstStyle/>
                    <a:p>
                      <a:pPr algn="ctr" fontAlgn="ctr"/>
                      <a:r>
                        <a:rPr lang="zh-CN" altLang="en-US" sz="1200" b="0" i="0" u="none" strike="noStrike">
                          <a:solidFill>
                            <a:srgbClr val="000000"/>
                          </a:solidFill>
                          <a:effectLst/>
                          <a:latin typeface="+mn-ea"/>
                          <a:ea typeface="+mn-ea"/>
                        </a:rPr>
                        <a:t>丰台</a:t>
                      </a:r>
                    </a:p>
                  </a:txBody>
                  <a:tcPr marL="9525" marR="9525" marT="9525" marB="0" anchor="ctr"/>
                </a:tc>
                <a:tc>
                  <a:txBody>
                    <a:bodyPr/>
                    <a:lstStyle/>
                    <a:p>
                      <a:pPr algn="ctr" fontAlgn="ctr"/>
                      <a:r>
                        <a:rPr lang="en-US" altLang="zh-CN" sz="1200" b="0" i="0" u="none" strike="noStrike">
                          <a:solidFill>
                            <a:srgbClr val="000000"/>
                          </a:solidFill>
                          <a:effectLst/>
                          <a:latin typeface="+mn-ea"/>
                          <a:ea typeface="+mn-ea"/>
                        </a:rPr>
                        <a:t>285</a:t>
                      </a:r>
                    </a:p>
                  </a:txBody>
                  <a:tcPr marL="9525" marR="9525" marT="9525" marB="0" anchor="ctr"/>
                </a:tc>
                <a:tc>
                  <a:txBody>
                    <a:bodyPr/>
                    <a:lstStyle/>
                    <a:p>
                      <a:pPr algn="r" fontAlgn="ctr"/>
                      <a:r>
                        <a:rPr lang="en-US" altLang="zh-CN" sz="1200" b="0" i="0" u="none" strike="noStrike">
                          <a:solidFill>
                            <a:srgbClr val="000000"/>
                          </a:solidFill>
                          <a:effectLst/>
                          <a:latin typeface="+mn-ea"/>
                          <a:ea typeface="+mn-ea"/>
                        </a:rPr>
                        <a:t>15538.1</a:t>
                      </a:r>
                    </a:p>
                  </a:txBody>
                  <a:tcPr marL="9525" marR="9525" marT="9525" marB="0" anchor="ctr"/>
                </a:tc>
                <a:tc>
                  <a:txBody>
                    <a:bodyPr/>
                    <a:lstStyle/>
                    <a:p>
                      <a:pPr algn="r" fontAlgn="ctr"/>
                      <a:r>
                        <a:rPr lang="en-US" altLang="zh-CN" sz="1200" b="0" i="0" u="none" strike="noStrike" dirty="0">
                          <a:solidFill>
                            <a:srgbClr val="000000"/>
                          </a:solidFill>
                          <a:effectLst/>
                          <a:latin typeface="+mn-ea"/>
                          <a:ea typeface="+mn-ea"/>
                        </a:rPr>
                        <a:t>83031</a:t>
                      </a:r>
                    </a:p>
                  </a:txBody>
                  <a:tcPr marL="9525" marR="9525" marT="9525" marB="0" anchor="ctr"/>
                </a:tc>
                <a:tc>
                  <a:txBody>
                    <a:bodyPr/>
                    <a:lstStyle/>
                    <a:p>
                      <a:pPr algn="r" fontAlgn="ctr"/>
                      <a:r>
                        <a:rPr lang="en-US" altLang="zh-CN" sz="1200" b="0" i="0" u="none" strike="noStrike" dirty="0">
                          <a:solidFill>
                            <a:srgbClr val="000000"/>
                          </a:solidFill>
                          <a:effectLst/>
                          <a:latin typeface="+mn-ea"/>
                          <a:ea typeface="+mn-ea"/>
                        </a:rPr>
                        <a:t>12.90</a:t>
                      </a:r>
                    </a:p>
                  </a:txBody>
                  <a:tcPr marL="9525" marR="9525" marT="9525" marB="0" anchor="ctr"/>
                </a:tc>
                <a:extLst>
                  <a:ext uri="{0D108BD9-81ED-4DB2-BD59-A6C34878D82A}">
                    <a16:rowId xmlns:a16="http://schemas.microsoft.com/office/drawing/2014/main" val="10005"/>
                  </a:ext>
                </a:extLst>
              </a:tr>
              <a:tr h="220881">
                <a:tc>
                  <a:txBody>
                    <a:bodyPr/>
                    <a:lstStyle/>
                    <a:p>
                      <a:pPr algn="ctr" fontAlgn="ctr"/>
                      <a:r>
                        <a:rPr lang="en-US" altLang="zh-CN" sz="1200" b="0" i="0" u="none" strike="noStrike">
                          <a:solidFill>
                            <a:srgbClr val="000000"/>
                          </a:solidFill>
                          <a:effectLst/>
                          <a:latin typeface="+mn-ea"/>
                          <a:ea typeface="+mn-ea"/>
                        </a:rPr>
                        <a:t>6</a:t>
                      </a:r>
                    </a:p>
                  </a:txBody>
                  <a:tcPr marL="9525" marR="9525" marT="9525" marB="0" anchor="ctr"/>
                </a:tc>
                <a:tc>
                  <a:txBody>
                    <a:bodyPr/>
                    <a:lstStyle/>
                    <a:p>
                      <a:pPr algn="ctr" fontAlgn="ctr"/>
                      <a:r>
                        <a:rPr lang="zh-CN" altLang="en-US" sz="1200" b="0" i="0" u="none" strike="noStrike">
                          <a:solidFill>
                            <a:srgbClr val="000000"/>
                          </a:solidFill>
                          <a:effectLst/>
                          <a:latin typeface="+mn-ea"/>
                          <a:ea typeface="+mn-ea"/>
                        </a:rPr>
                        <a:t>西长安壹号</a:t>
                      </a:r>
                    </a:p>
                  </a:txBody>
                  <a:tcPr marL="9525" marR="9525" marT="9525" marB="0" anchor="ctr"/>
                </a:tc>
                <a:tc>
                  <a:txBody>
                    <a:bodyPr/>
                    <a:lstStyle/>
                    <a:p>
                      <a:pPr algn="ctr" fontAlgn="ctr"/>
                      <a:r>
                        <a:rPr lang="zh-CN" altLang="en-US" sz="1200" b="0" i="0" u="none" strike="noStrike">
                          <a:solidFill>
                            <a:srgbClr val="000000"/>
                          </a:solidFill>
                          <a:effectLst/>
                          <a:latin typeface="+mn-ea"/>
                          <a:ea typeface="+mn-ea"/>
                        </a:rPr>
                        <a:t>六环以外</a:t>
                      </a:r>
                    </a:p>
                  </a:txBody>
                  <a:tcPr marL="9525" marR="9525" marT="9525" marB="0" anchor="ctr"/>
                </a:tc>
                <a:tc>
                  <a:txBody>
                    <a:bodyPr/>
                    <a:lstStyle/>
                    <a:p>
                      <a:pPr algn="ctr" fontAlgn="ctr"/>
                      <a:r>
                        <a:rPr lang="zh-CN" altLang="en-US" sz="1200" b="0" i="0" u="none" strike="noStrike">
                          <a:solidFill>
                            <a:srgbClr val="000000"/>
                          </a:solidFill>
                          <a:effectLst/>
                          <a:latin typeface="+mn-ea"/>
                          <a:ea typeface="+mn-ea"/>
                        </a:rPr>
                        <a:t>门头沟</a:t>
                      </a:r>
                    </a:p>
                  </a:txBody>
                  <a:tcPr marL="9525" marR="9525" marT="9525" marB="0" anchor="ctr"/>
                </a:tc>
                <a:tc>
                  <a:txBody>
                    <a:bodyPr/>
                    <a:lstStyle/>
                    <a:p>
                      <a:pPr algn="ctr" fontAlgn="ctr"/>
                      <a:r>
                        <a:rPr lang="en-US" altLang="zh-CN" sz="1200" b="0" i="0" u="none" strike="noStrike">
                          <a:solidFill>
                            <a:srgbClr val="000000"/>
                          </a:solidFill>
                          <a:effectLst/>
                          <a:latin typeface="+mn-ea"/>
                          <a:ea typeface="+mn-ea"/>
                        </a:rPr>
                        <a:t>284</a:t>
                      </a:r>
                    </a:p>
                  </a:txBody>
                  <a:tcPr marL="9525" marR="9525" marT="9525" marB="0" anchor="ctr"/>
                </a:tc>
                <a:tc>
                  <a:txBody>
                    <a:bodyPr/>
                    <a:lstStyle/>
                    <a:p>
                      <a:pPr algn="r" fontAlgn="ctr"/>
                      <a:r>
                        <a:rPr lang="en-US" altLang="zh-CN" sz="1200" b="0" i="0" u="none" strike="noStrike">
                          <a:solidFill>
                            <a:srgbClr val="000000"/>
                          </a:solidFill>
                          <a:effectLst/>
                          <a:latin typeface="+mn-ea"/>
                          <a:ea typeface="+mn-ea"/>
                        </a:rPr>
                        <a:t>11658.7</a:t>
                      </a:r>
                    </a:p>
                  </a:txBody>
                  <a:tcPr marL="9525" marR="9525" marT="9525" marB="0" anchor="ctr"/>
                </a:tc>
                <a:tc>
                  <a:txBody>
                    <a:bodyPr/>
                    <a:lstStyle/>
                    <a:p>
                      <a:pPr algn="r" fontAlgn="ctr"/>
                      <a:r>
                        <a:rPr lang="en-US" altLang="zh-CN" sz="1200" b="0" i="0" u="none" strike="noStrike" dirty="0">
                          <a:solidFill>
                            <a:srgbClr val="000000"/>
                          </a:solidFill>
                          <a:effectLst/>
                          <a:latin typeface="+mn-ea"/>
                          <a:ea typeface="+mn-ea"/>
                        </a:rPr>
                        <a:t>38367</a:t>
                      </a:r>
                    </a:p>
                  </a:txBody>
                  <a:tcPr marL="9525" marR="9525" marT="9525" marB="0" anchor="ctr"/>
                </a:tc>
                <a:tc>
                  <a:txBody>
                    <a:bodyPr/>
                    <a:lstStyle/>
                    <a:p>
                      <a:pPr algn="r" fontAlgn="ctr"/>
                      <a:r>
                        <a:rPr lang="en-US" altLang="zh-CN" sz="1200" b="0" i="0" u="none" strike="noStrike">
                          <a:solidFill>
                            <a:srgbClr val="000000"/>
                          </a:solidFill>
                          <a:effectLst/>
                          <a:latin typeface="+mn-ea"/>
                          <a:ea typeface="+mn-ea"/>
                        </a:rPr>
                        <a:t>4.47</a:t>
                      </a:r>
                    </a:p>
                  </a:txBody>
                  <a:tcPr marL="9525" marR="9525" marT="9525" marB="0" anchor="ctr"/>
                </a:tc>
                <a:extLst>
                  <a:ext uri="{0D108BD9-81ED-4DB2-BD59-A6C34878D82A}">
                    <a16:rowId xmlns:a16="http://schemas.microsoft.com/office/drawing/2014/main" val="10006"/>
                  </a:ext>
                </a:extLst>
              </a:tr>
              <a:tr h="220881">
                <a:tc>
                  <a:txBody>
                    <a:bodyPr/>
                    <a:lstStyle/>
                    <a:p>
                      <a:pPr algn="ctr" fontAlgn="ctr"/>
                      <a:r>
                        <a:rPr lang="en-US" altLang="zh-CN" sz="1200" b="0" i="0" u="none" strike="noStrike">
                          <a:solidFill>
                            <a:srgbClr val="000000"/>
                          </a:solidFill>
                          <a:effectLst/>
                          <a:latin typeface="+mn-ea"/>
                          <a:ea typeface="+mn-ea"/>
                        </a:rPr>
                        <a:t>7</a:t>
                      </a:r>
                    </a:p>
                  </a:txBody>
                  <a:tcPr marL="9525" marR="9525" marT="9525" marB="0" anchor="ctr"/>
                </a:tc>
                <a:tc>
                  <a:txBody>
                    <a:bodyPr/>
                    <a:lstStyle/>
                    <a:p>
                      <a:pPr algn="ctr" fontAlgn="ctr"/>
                      <a:r>
                        <a:rPr lang="zh-CN" altLang="en-US" sz="1200" b="0" i="0" u="none" strike="noStrike">
                          <a:solidFill>
                            <a:srgbClr val="000000"/>
                          </a:solidFill>
                          <a:effectLst/>
                          <a:latin typeface="+mn-ea"/>
                          <a:ea typeface="+mn-ea"/>
                        </a:rPr>
                        <a:t>北京城建北京密码</a:t>
                      </a:r>
                    </a:p>
                  </a:txBody>
                  <a:tcPr marL="9525" marR="9525" marT="9525" marB="0" anchor="ctr"/>
                </a:tc>
                <a:tc>
                  <a:txBody>
                    <a:bodyPr/>
                    <a:lstStyle/>
                    <a:p>
                      <a:pPr algn="ctr" fontAlgn="ctr"/>
                      <a:r>
                        <a:rPr lang="zh-CN" altLang="en-US" sz="1200" b="0" i="0" u="none" strike="noStrike">
                          <a:solidFill>
                            <a:srgbClr val="000000"/>
                          </a:solidFill>
                          <a:effectLst/>
                          <a:latin typeface="+mn-ea"/>
                          <a:ea typeface="+mn-ea"/>
                        </a:rPr>
                        <a:t>六环以外</a:t>
                      </a:r>
                    </a:p>
                  </a:txBody>
                  <a:tcPr marL="9525" marR="9525" marT="9525" marB="0" anchor="ctr"/>
                </a:tc>
                <a:tc>
                  <a:txBody>
                    <a:bodyPr/>
                    <a:lstStyle/>
                    <a:p>
                      <a:pPr algn="ctr" fontAlgn="ctr"/>
                      <a:r>
                        <a:rPr lang="zh-CN" altLang="en-US" sz="1200" b="0" i="0" u="none" strike="noStrike">
                          <a:solidFill>
                            <a:srgbClr val="000000"/>
                          </a:solidFill>
                          <a:effectLst/>
                          <a:latin typeface="+mn-ea"/>
                          <a:ea typeface="+mn-ea"/>
                        </a:rPr>
                        <a:t>大兴</a:t>
                      </a:r>
                    </a:p>
                  </a:txBody>
                  <a:tcPr marL="9525" marR="9525" marT="9525" marB="0" anchor="ctr"/>
                </a:tc>
                <a:tc>
                  <a:txBody>
                    <a:bodyPr/>
                    <a:lstStyle/>
                    <a:p>
                      <a:pPr algn="ctr" fontAlgn="ctr"/>
                      <a:r>
                        <a:rPr lang="en-US" altLang="zh-CN" sz="1200" b="0" i="0" u="none" strike="noStrike">
                          <a:solidFill>
                            <a:srgbClr val="000000"/>
                          </a:solidFill>
                          <a:effectLst/>
                          <a:latin typeface="+mn-ea"/>
                          <a:ea typeface="+mn-ea"/>
                        </a:rPr>
                        <a:t>253</a:t>
                      </a:r>
                    </a:p>
                  </a:txBody>
                  <a:tcPr marL="9525" marR="9525" marT="9525" marB="0" anchor="ctr"/>
                </a:tc>
                <a:tc>
                  <a:txBody>
                    <a:bodyPr/>
                    <a:lstStyle/>
                    <a:p>
                      <a:pPr algn="r" fontAlgn="ctr"/>
                      <a:r>
                        <a:rPr lang="en-US" altLang="zh-CN" sz="1200" b="0" i="0" u="none" strike="noStrike">
                          <a:solidFill>
                            <a:srgbClr val="000000"/>
                          </a:solidFill>
                          <a:effectLst/>
                          <a:latin typeface="+mn-ea"/>
                          <a:ea typeface="+mn-ea"/>
                        </a:rPr>
                        <a:t>16745.8</a:t>
                      </a:r>
                    </a:p>
                  </a:txBody>
                  <a:tcPr marL="9525" marR="9525" marT="9525" marB="0" anchor="ctr"/>
                </a:tc>
                <a:tc>
                  <a:txBody>
                    <a:bodyPr/>
                    <a:lstStyle/>
                    <a:p>
                      <a:pPr algn="r" fontAlgn="ctr"/>
                      <a:r>
                        <a:rPr lang="en-US" altLang="zh-CN" sz="1200" b="0" i="0" u="none" strike="noStrike" dirty="0">
                          <a:solidFill>
                            <a:srgbClr val="000000"/>
                          </a:solidFill>
                          <a:effectLst/>
                          <a:latin typeface="+mn-ea"/>
                          <a:ea typeface="+mn-ea"/>
                        </a:rPr>
                        <a:t>23607</a:t>
                      </a:r>
                    </a:p>
                  </a:txBody>
                  <a:tcPr marL="9525" marR="9525" marT="9525" marB="0" anchor="ctr"/>
                </a:tc>
                <a:tc>
                  <a:txBody>
                    <a:bodyPr/>
                    <a:lstStyle/>
                    <a:p>
                      <a:pPr algn="r" fontAlgn="ctr"/>
                      <a:r>
                        <a:rPr lang="en-US" altLang="zh-CN" sz="1200" b="0" i="0" u="none" strike="noStrike">
                          <a:solidFill>
                            <a:srgbClr val="000000"/>
                          </a:solidFill>
                          <a:effectLst/>
                          <a:latin typeface="+mn-ea"/>
                          <a:ea typeface="+mn-ea"/>
                        </a:rPr>
                        <a:t>3.95</a:t>
                      </a:r>
                    </a:p>
                  </a:txBody>
                  <a:tcPr marL="9525" marR="9525" marT="9525" marB="0" anchor="ctr"/>
                </a:tc>
                <a:extLst>
                  <a:ext uri="{0D108BD9-81ED-4DB2-BD59-A6C34878D82A}">
                    <a16:rowId xmlns:a16="http://schemas.microsoft.com/office/drawing/2014/main" val="10007"/>
                  </a:ext>
                </a:extLst>
              </a:tr>
              <a:tr h="220881">
                <a:tc>
                  <a:txBody>
                    <a:bodyPr/>
                    <a:lstStyle/>
                    <a:p>
                      <a:pPr algn="ctr" fontAlgn="ctr"/>
                      <a:r>
                        <a:rPr lang="en-US" altLang="zh-CN" sz="1200" b="0" i="0" u="none" strike="noStrike">
                          <a:solidFill>
                            <a:srgbClr val="000000"/>
                          </a:solidFill>
                          <a:effectLst/>
                          <a:latin typeface="+mn-ea"/>
                          <a:ea typeface="+mn-ea"/>
                        </a:rPr>
                        <a:t>8</a:t>
                      </a:r>
                    </a:p>
                  </a:txBody>
                  <a:tcPr marL="9525" marR="9525" marT="9525" marB="0" anchor="ctr"/>
                </a:tc>
                <a:tc>
                  <a:txBody>
                    <a:bodyPr/>
                    <a:lstStyle/>
                    <a:p>
                      <a:pPr algn="ctr" fontAlgn="ctr"/>
                      <a:r>
                        <a:rPr lang="zh-CN" altLang="en-US" sz="1200" b="0" i="0" u="none" strike="noStrike">
                          <a:solidFill>
                            <a:srgbClr val="000000"/>
                          </a:solidFill>
                          <a:effectLst/>
                          <a:latin typeface="+mn-ea"/>
                          <a:ea typeface="+mn-ea"/>
                        </a:rPr>
                        <a:t>远洋新天地</a:t>
                      </a:r>
                    </a:p>
                  </a:txBody>
                  <a:tcPr marL="9525" marR="9525" marT="9525" marB="0" anchor="ctr"/>
                </a:tc>
                <a:tc>
                  <a:txBody>
                    <a:bodyPr/>
                    <a:lstStyle/>
                    <a:p>
                      <a:pPr algn="ctr" fontAlgn="ctr"/>
                      <a:r>
                        <a:rPr lang="zh-CN" altLang="en-US" sz="1200" b="0" i="0" u="none" strike="noStrike">
                          <a:solidFill>
                            <a:srgbClr val="000000"/>
                          </a:solidFill>
                          <a:effectLst/>
                          <a:latin typeface="+mn-ea"/>
                          <a:ea typeface="+mn-ea"/>
                        </a:rPr>
                        <a:t>六环以外</a:t>
                      </a:r>
                    </a:p>
                  </a:txBody>
                  <a:tcPr marL="9525" marR="9525" marT="9525" marB="0" anchor="ctr"/>
                </a:tc>
                <a:tc>
                  <a:txBody>
                    <a:bodyPr/>
                    <a:lstStyle/>
                    <a:p>
                      <a:pPr algn="ctr" fontAlgn="ctr"/>
                      <a:r>
                        <a:rPr lang="zh-CN" altLang="en-US" sz="1200" b="0" i="0" u="none" strike="noStrike">
                          <a:solidFill>
                            <a:srgbClr val="000000"/>
                          </a:solidFill>
                          <a:effectLst/>
                          <a:latin typeface="+mn-ea"/>
                          <a:ea typeface="+mn-ea"/>
                        </a:rPr>
                        <a:t>门头沟</a:t>
                      </a:r>
                    </a:p>
                  </a:txBody>
                  <a:tcPr marL="9525" marR="9525" marT="9525" marB="0" anchor="ctr"/>
                </a:tc>
                <a:tc>
                  <a:txBody>
                    <a:bodyPr/>
                    <a:lstStyle/>
                    <a:p>
                      <a:pPr algn="ctr" fontAlgn="ctr"/>
                      <a:r>
                        <a:rPr lang="en-US" altLang="zh-CN" sz="1200" b="0" i="0" u="none" strike="noStrike">
                          <a:solidFill>
                            <a:srgbClr val="000000"/>
                          </a:solidFill>
                          <a:effectLst/>
                          <a:latin typeface="+mn-ea"/>
                          <a:ea typeface="+mn-ea"/>
                        </a:rPr>
                        <a:t>250</a:t>
                      </a:r>
                    </a:p>
                  </a:txBody>
                  <a:tcPr marL="9525" marR="9525" marT="9525" marB="0" anchor="ctr"/>
                </a:tc>
                <a:tc>
                  <a:txBody>
                    <a:bodyPr/>
                    <a:lstStyle/>
                    <a:p>
                      <a:pPr algn="r" fontAlgn="ctr"/>
                      <a:r>
                        <a:rPr lang="en-US" altLang="zh-CN" sz="1200" b="0" i="0" u="none" strike="noStrike">
                          <a:solidFill>
                            <a:srgbClr val="000000"/>
                          </a:solidFill>
                          <a:effectLst/>
                          <a:latin typeface="+mn-ea"/>
                          <a:ea typeface="+mn-ea"/>
                        </a:rPr>
                        <a:t>14019.1</a:t>
                      </a:r>
                    </a:p>
                  </a:txBody>
                  <a:tcPr marL="9525" marR="9525" marT="9525" marB="0" anchor="ctr"/>
                </a:tc>
                <a:tc>
                  <a:txBody>
                    <a:bodyPr/>
                    <a:lstStyle/>
                    <a:p>
                      <a:pPr algn="r" fontAlgn="ctr"/>
                      <a:r>
                        <a:rPr lang="en-US" altLang="zh-CN" sz="1200" b="0" i="0" u="none" strike="noStrike" dirty="0">
                          <a:solidFill>
                            <a:srgbClr val="000000"/>
                          </a:solidFill>
                          <a:effectLst/>
                          <a:latin typeface="+mn-ea"/>
                          <a:ea typeface="+mn-ea"/>
                        </a:rPr>
                        <a:t>37636</a:t>
                      </a:r>
                    </a:p>
                  </a:txBody>
                  <a:tcPr marL="9525" marR="9525" marT="9525" marB="0" anchor="ctr"/>
                </a:tc>
                <a:tc>
                  <a:txBody>
                    <a:bodyPr/>
                    <a:lstStyle/>
                    <a:p>
                      <a:pPr algn="r" fontAlgn="ctr"/>
                      <a:r>
                        <a:rPr lang="en-US" altLang="zh-CN" sz="1200" b="0" i="0" u="none" strike="noStrike" dirty="0">
                          <a:solidFill>
                            <a:srgbClr val="000000"/>
                          </a:solidFill>
                          <a:effectLst/>
                          <a:latin typeface="+mn-ea"/>
                          <a:ea typeface="+mn-ea"/>
                        </a:rPr>
                        <a:t>5.28</a:t>
                      </a:r>
                    </a:p>
                  </a:txBody>
                  <a:tcPr marL="9525" marR="9525" marT="9525" marB="0" anchor="ctr"/>
                </a:tc>
                <a:extLst>
                  <a:ext uri="{0D108BD9-81ED-4DB2-BD59-A6C34878D82A}">
                    <a16:rowId xmlns:a16="http://schemas.microsoft.com/office/drawing/2014/main" val="10008"/>
                  </a:ext>
                </a:extLst>
              </a:tr>
              <a:tr h="220881">
                <a:tc>
                  <a:txBody>
                    <a:bodyPr/>
                    <a:lstStyle/>
                    <a:p>
                      <a:pPr algn="ctr" fontAlgn="ctr"/>
                      <a:r>
                        <a:rPr lang="en-US" altLang="zh-CN" sz="1200" b="0" i="0" u="none" strike="noStrike">
                          <a:solidFill>
                            <a:srgbClr val="000000"/>
                          </a:solidFill>
                          <a:effectLst/>
                          <a:latin typeface="+mn-ea"/>
                          <a:ea typeface="+mn-ea"/>
                        </a:rPr>
                        <a:t>9</a:t>
                      </a:r>
                    </a:p>
                  </a:txBody>
                  <a:tcPr marL="9525" marR="9525" marT="9525" marB="0" anchor="ctr"/>
                </a:tc>
                <a:tc>
                  <a:txBody>
                    <a:bodyPr/>
                    <a:lstStyle/>
                    <a:p>
                      <a:pPr algn="ctr" fontAlgn="ctr"/>
                      <a:r>
                        <a:rPr lang="zh-CN" altLang="en-US" sz="1200" b="0" i="0" u="none" strike="noStrike">
                          <a:solidFill>
                            <a:srgbClr val="000000"/>
                          </a:solidFill>
                          <a:effectLst/>
                          <a:latin typeface="+mn-ea"/>
                          <a:ea typeface="+mn-ea"/>
                        </a:rPr>
                        <a:t>首开中晟广场</a:t>
                      </a:r>
                    </a:p>
                  </a:txBody>
                  <a:tcPr marL="9525" marR="9525" marT="9525" marB="0" anchor="ctr"/>
                </a:tc>
                <a:tc>
                  <a:txBody>
                    <a:bodyPr/>
                    <a:lstStyle/>
                    <a:p>
                      <a:pPr algn="ctr" fontAlgn="ctr"/>
                      <a:r>
                        <a:rPr lang="zh-CN" altLang="en-US" sz="1200" b="0" i="0" u="none" strike="noStrike">
                          <a:solidFill>
                            <a:srgbClr val="000000"/>
                          </a:solidFill>
                          <a:effectLst/>
                          <a:latin typeface="+mn-ea"/>
                          <a:ea typeface="+mn-ea"/>
                        </a:rPr>
                        <a:t>六环以外</a:t>
                      </a:r>
                    </a:p>
                  </a:txBody>
                  <a:tcPr marL="9525" marR="9525" marT="9525" marB="0" anchor="ctr"/>
                </a:tc>
                <a:tc>
                  <a:txBody>
                    <a:bodyPr/>
                    <a:lstStyle/>
                    <a:p>
                      <a:pPr algn="ctr" fontAlgn="ctr"/>
                      <a:r>
                        <a:rPr lang="zh-CN" altLang="en-US" sz="1200" b="0" i="0" u="none" strike="noStrike">
                          <a:solidFill>
                            <a:srgbClr val="000000"/>
                          </a:solidFill>
                          <a:effectLst/>
                          <a:latin typeface="+mn-ea"/>
                          <a:ea typeface="+mn-ea"/>
                        </a:rPr>
                        <a:t>顺义</a:t>
                      </a:r>
                    </a:p>
                  </a:txBody>
                  <a:tcPr marL="9525" marR="9525" marT="9525" marB="0" anchor="ctr"/>
                </a:tc>
                <a:tc>
                  <a:txBody>
                    <a:bodyPr/>
                    <a:lstStyle/>
                    <a:p>
                      <a:pPr algn="ctr" fontAlgn="ctr"/>
                      <a:r>
                        <a:rPr lang="en-US" altLang="zh-CN" sz="1200" b="0" i="0" u="none" strike="noStrike">
                          <a:solidFill>
                            <a:srgbClr val="000000"/>
                          </a:solidFill>
                          <a:effectLst/>
                          <a:latin typeface="+mn-ea"/>
                          <a:ea typeface="+mn-ea"/>
                        </a:rPr>
                        <a:t>234</a:t>
                      </a:r>
                    </a:p>
                  </a:txBody>
                  <a:tcPr marL="9525" marR="9525" marT="9525" marB="0" anchor="ctr"/>
                </a:tc>
                <a:tc>
                  <a:txBody>
                    <a:bodyPr/>
                    <a:lstStyle/>
                    <a:p>
                      <a:pPr algn="r" fontAlgn="ctr"/>
                      <a:r>
                        <a:rPr lang="en-US" altLang="zh-CN" sz="1200" b="0" i="0" u="none" strike="noStrike">
                          <a:solidFill>
                            <a:srgbClr val="000000"/>
                          </a:solidFill>
                          <a:effectLst/>
                          <a:latin typeface="+mn-ea"/>
                          <a:ea typeface="+mn-ea"/>
                        </a:rPr>
                        <a:t>10499.1</a:t>
                      </a:r>
                    </a:p>
                  </a:txBody>
                  <a:tcPr marL="9525" marR="9525" marT="9525" marB="0" anchor="ctr"/>
                </a:tc>
                <a:tc>
                  <a:txBody>
                    <a:bodyPr/>
                    <a:lstStyle/>
                    <a:p>
                      <a:pPr algn="r" fontAlgn="ctr"/>
                      <a:r>
                        <a:rPr lang="en-US" altLang="zh-CN" sz="1200" b="0" i="0" u="none" strike="noStrike">
                          <a:solidFill>
                            <a:srgbClr val="000000"/>
                          </a:solidFill>
                          <a:effectLst/>
                          <a:latin typeface="+mn-ea"/>
                          <a:ea typeface="+mn-ea"/>
                        </a:rPr>
                        <a:t>24715</a:t>
                      </a:r>
                    </a:p>
                  </a:txBody>
                  <a:tcPr marL="9525" marR="9525" marT="9525" marB="0" anchor="ctr"/>
                </a:tc>
                <a:tc>
                  <a:txBody>
                    <a:bodyPr/>
                    <a:lstStyle/>
                    <a:p>
                      <a:pPr algn="r" fontAlgn="ctr"/>
                      <a:r>
                        <a:rPr lang="en-US" altLang="zh-CN" sz="1200" b="0" i="0" u="none" strike="noStrike" dirty="0">
                          <a:solidFill>
                            <a:srgbClr val="000000"/>
                          </a:solidFill>
                          <a:effectLst/>
                          <a:latin typeface="+mn-ea"/>
                          <a:ea typeface="+mn-ea"/>
                        </a:rPr>
                        <a:t>2.59</a:t>
                      </a:r>
                    </a:p>
                  </a:txBody>
                  <a:tcPr marL="9525" marR="9525" marT="9525" marB="0" anchor="ctr"/>
                </a:tc>
                <a:extLst>
                  <a:ext uri="{0D108BD9-81ED-4DB2-BD59-A6C34878D82A}">
                    <a16:rowId xmlns:a16="http://schemas.microsoft.com/office/drawing/2014/main" val="10009"/>
                  </a:ext>
                </a:extLst>
              </a:tr>
              <a:tr h="220881">
                <a:tc>
                  <a:txBody>
                    <a:bodyPr/>
                    <a:lstStyle/>
                    <a:p>
                      <a:pPr algn="ctr" fontAlgn="ctr"/>
                      <a:r>
                        <a:rPr lang="en-US" altLang="zh-CN" sz="1200" b="0" i="0" u="none" strike="noStrike">
                          <a:solidFill>
                            <a:srgbClr val="000000"/>
                          </a:solidFill>
                          <a:effectLst/>
                          <a:latin typeface="+mn-ea"/>
                          <a:ea typeface="+mn-ea"/>
                        </a:rPr>
                        <a:t>10</a:t>
                      </a:r>
                    </a:p>
                  </a:txBody>
                  <a:tcPr marL="9525" marR="9525" marT="9525" marB="0" anchor="ctr"/>
                </a:tc>
                <a:tc>
                  <a:txBody>
                    <a:bodyPr/>
                    <a:lstStyle/>
                    <a:p>
                      <a:pPr algn="ctr" fontAlgn="ctr"/>
                      <a:r>
                        <a:rPr lang="zh-CN" altLang="en-US" sz="1200" b="0" i="0" u="none" strike="noStrike">
                          <a:solidFill>
                            <a:srgbClr val="000000"/>
                          </a:solidFill>
                          <a:effectLst/>
                          <a:latin typeface="+mn-ea"/>
                          <a:ea typeface="+mn-ea"/>
                        </a:rPr>
                        <a:t>通州富力中心</a:t>
                      </a:r>
                    </a:p>
                  </a:txBody>
                  <a:tcPr marL="9525" marR="9525" marT="9525" marB="0" anchor="ctr"/>
                </a:tc>
                <a:tc>
                  <a:txBody>
                    <a:bodyPr/>
                    <a:lstStyle/>
                    <a:p>
                      <a:pPr algn="ctr" fontAlgn="ctr"/>
                      <a:r>
                        <a:rPr lang="zh-CN" altLang="en-US" sz="1200" b="0" i="0" u="none" strike="noStrike">
                          <a:solidFill>
                            <a:srgbClr val="000000"/>
                          </a:solidFill>
                          <a:effectLst/>
                          <a:latin typeface="+mn-ea"/>
                          <a:ea typeface="+mn-ea"/>
                        </a:rPr>
                        <a:t>五、六环之间</a:t>
                      </a:r>
                    </a:p>
                  </a:txBody>
                  <a:tcPr marL="9525" marR="9525" marT="9525" marB="0" anchor="ctr"/>
                </a:tc>
                <a:tc>
                  <a:txBody>
                    <a:bodyPr/>
                    <a:lstStyle/>
                    <a:p>
                      <a:pPr algn="ctr" fontAlgn="ctr"/>
                      <a:r>
                        <a:rPr lang="zh-CN" altLang="en-US" sz="1200" b="0" i="0" u="none" strike="noStrike">
                          <a:solidFill>
                            <a:srgbClr val="000000"/>
                          </a:solidFill>
                          <a:effectLst/>
                          <a:latin typeface="+mn-ea"/>
                          <a:ea typeface="+mn-ea"/>
                        </a:rPr>
                        <a:t>通州</a:t>
                      </a:r>
                    </a:p>
                  </a:txBody>
                  <a:tcPr marL="9525" marR="9525" marT="9525" marB="0" anchor="ctr"/>
                </a:tc>
                <a:tc>
                  <a:txBody>
                    <a:bodyPr/>
                    <a:lstStyle/>
                    <a:p>
                      <a:pPr algn="ctr" fontAlgn="ctr"/>
                      <a:r>
                        <a:rPr lang="en-US" altLang="zh-CN" sz="1200" b="0" i="0" u="none" strike="noStrike">
                          <a:solidFill>
                            <a:srgbClr val="000000"/>
                          </a:solidFill>
                          <a:effectLst/>
                          <a:latin typeface="+mn-ea"/>
                          <a:ea typeface="+mn-ea"/>
                        </a:rPr>
                        <a:t>230</a:t>
                      </a:r>
                    </a:p>
                  </a:txBody>
                  <a:tcPr marL="9525" marR="9525" marT="9525" marB="0" anchor="ctr"/>
                </a:tc>
                <a:tc>
                  <a:txBody>
                    <a:bodyPr/>
                    <a:lstStyle/>
                    <a:p>
                      <a:pPr algn="r" fontAlgn="ctr"/>
                      <a:r>
                        <a:rPr lang="en-US" altLang="zh-CN" sz="1200" b="0" i="0" u="none" strike="noStrike">
                          <a:solidFill>
                            <a:srgbClr val="000000"/>
                          </a:solidFill>
                          <a:effectLst/>
                          <a:latin typeface="+mn-ea"/>
                          <a:ea typeface="+mn-ea"/>
                        </a:rPr>
                        <a:t>19481.9</a:t>
                      </a:r>
                    </a:p>
                  </a:txBody>
                  <a:tcPr marL="9525" marR="9525" marT="9525" marB="0" anchor="ctr"/>
                </a:tc>
                <a:tc>
                  <a:txBody>
                    <a:bodyPr/>
                    <a:lstStyle/>
                    <a:p>
                      <a:pPr algn="r" fontAlgn="ctr"/>
                      <a:r>
                        <a:rPr lang="en-US" altLang="zh-CN" sz="1200" b="0" i="0" u="none" strike="noStrike">
                          <a:solidFill>
                            <a:srgbClr val="000000"/>
                          </a:solidFill>
                          <a:effectLst/>
                          <a:latin typeface="+mn-ea"/>
                          <a:ea typeface="+mn-ea"/>
                        </a:rPr>
                        <a:t>40106</a:t>
                      </a:r>
                    </a:p>
                  </a:txBody>
                  <a:tcPr marL="9525" marR="9525" marT="9525" marB="0" anchor="ctr"/>
                </a:tc>
                <a:tc>
                  <a:txBody>
                    <a:bodyPr/>
                    <a:lstStyle/>
                    <a:p>
                      <a:pPr algn="r" fontAlgn="ctr"/>
                      <a:r>
                        <a:rPr lang="en-US" altLang="zh-CN" sz="1200" b="0" i="0" u="none" strike="noStrike" dirty="0">
                          <a:solidFill>
                            <a:srgbClr val="000000"/>
                          </a:solidFill>
                          <a:effectLst/>
                          <a:latin typeface="+mn-ea"/>
                          <a:ea typeface="+mn-ea"/>
                        </a:rPr>
                        <a:t>7.81</a:t>
                      </a:r>
                    </a:p>
                  </a:txBody>
                  <a:tcPr marL="9525" marR="9525" marT="9525" marB="0" anchor="ct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1450612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编号占位符 1"/>
          <p:cNvSpPr>
            <a:spLocks noGrp="1"/>
          </p:cNvSpPr>
          <p:nvPr>
            <p:ph type="sldNum" sz="quarter" idx="4"/>
          </p:nvPr>
        </p:nvSpPr>
        <p:spPr/>
        <p:txBody>
          <a:bodyPr/>
          <a:lstStyle/>
          <a:p>
            <a:pPr>
              <a:defRPr/>
            </a:pPr>
            <a:fld id="{3E8B6F27-EC4F-B34E-9F32-10CC92E9AB18}" type="slidenum">
              <a:rPr lang="zh-CN" altLang="en-US" smtClean="0"/>
              <a:t>22</a:t>
            </a:fld>
            <a:endParaRPr lang="zh-CN" altLang="en-US" dirty="0"/>
          </a:p>
        </p:txBody>
      </p:sp>
      <p:sp>
        <p:nvSpPr>
          <p:cNvPr id="3" name="标题 2"/>
          <p:cNvSpPr>
            <a:spLocks noGrp="1"/>
          </p:cNvSpPr>
          <p:nvPr>
            <p:ph type="title"/>
          </p:nvPr>
        </p:nvSpPr>
        <p:spPr>
          <a:xfrm>
            <a:off x="165454" y="30392"/>
            <a:ext cx="5462090" cy="474662"/>
          </a:xfrm>
        </p:spPr>
        <p:txBody>
          <a:bodyPr/>
          <a:lstStyle/>
          <a:p>
            <a:r>
              <a:rPr lang="zh-CN" altLang="en-US" dirty="0">
                <a:solidFill>
                  <a:schemeClr val="tx1"/>
                </a:solidFill>
                <a:latin typeface="微软雅黑" pitchFamily="34" charset="-122"/>
                <a:ea typeface="微软雅黑" pitchFamily="34" charset="-122"/>
              </a:rPr>
              <a:t>一手房</a:t>
            </a:r>
            <a:r>
              <a:rPr lang="en-US" altLang="zh-CN" dirty="0">
                <a:solidFill>
                  <a:schemeClr val="tx1"/>
                </a:solidFill>
                <a:latin typeface="微软雅黑" pitchFamily="34" charset="-122"/>
                <a:ea typeface="微软雅黑" pitchFamily="34" charset="-122"/>
              </a:rPr>
              <a:t>|</a:t>
            </a:r>
            <a:r>
              <a:rPr lang="zh-CN" altLang="en-US" sz="1800" dirty="0">
                <a:solidFill>
                  <a:schemeClr val="tx1"/>
                </a:solidFill>
                <a:latin typeface="微软雅黑" pitchFamily="34" charset="-122"/>
                <a:ea typeface="微软雅黑" pitchFamily="34" charset="-122"/>
              </a:rPr>
              <a:t>企业销售金额排行榜</a:t>
            </a:r>
            <a:endParaRPr lang="zh-CN" altLang="en-US" sz="1100" dirty="0">
              <a:solidFill>
                <a:schemeClr val="tx1"/>
              </a:solidFill>
              <a:latin typeface="微软雅黑" pitchFamily="34" charset="-122"/>
              <a:ea typeface="微软雅黑" pitchFamily="34" charset="-122"/>
            </a:endParaRPr>
          </a:p>
        </p:txBody>
      </p:sp>
      <p:sp>
        <p:nvSpPr>
          <p:cNvPr id="14" name="矩形 13"/>
          <p:cNvSpPr/>
          <p:nvPr/>
        </p:nvSpPr>
        <p:spPr>
          <a:xfrm>
            <a:off x="4773013" y="1553003"/>
            <a:ext cx="4091880" cy="307777"/>
          </a:xfrm>
          <a:prstGeom prst="rect">
            <a:avLst/>
          </a:prstGeom>
        </p:spPr>
        <p:txBody>
          <a:bodyPr wrap="square">
            <a:spAutoFit/>
          </a:bodyPr>
          <a:lstStyle/>
          <a:p>
            <a:r>
              <a:rPr lang="en-US" altLang="zh-CN" sz="1400" b="1" spc="500" dirty="0">
                <a:solidFill>
                  <a:schemeClr val="tx1">
                    <a:lumMod val="50000"/>
                  </a:schemeClr>
                </a:solidFill>
                <a:latin typeface="微软雅黑" pitchFamily="34" charset="-122"/>
                <a:ea typeface="微软雅黑" pitchFamily="34" charset="-122"/>
              </a:rPr>
              <a:t>2016</a:t>
            </a:r>
            <a:r>
              <a:rPr lang="zh-CN" altLang="en-US" sz="1400" b="1" spc="500" dirty="0">
                <a:solidFill>
                  <a:schemeClr val="tx1">
                    <a:lumMod val="50000"/>
                  </a:schemeClr>
                </a:solidFill>
                <a:latin typeface="微软雅黑" pitchFamily="34" charset="-122"/>
                <a:ea typeface="微软雅黑" pitchFamily="34" charset="-122"/>
              </a:rPr>
              <a:t>年</a:t>
            </a:r>
            <a:r>
              <a:rPr lang="en-US" altLang="zh-CN" sz="1400" b="1" spc="500" dirty="0">
                <a:solidFill>
                  <a:schemeClr val="tx1">
                    <a:lumMod val="50000"/>
                  </a:schemeClr>
                </a:solidFill>
                <a:latin typeface="微软雅黑" pitchFamily="34" charset="-122"/>
                <a:ea typeface="微软雅黑" pitchFamily="34" charset="-122"/>
              </a:rPr>
              <a:t>1-9</a:t>
            </a:r>
            <a:r>
              <a:rPr lang="zh-CN" altLang="en-US" sz="1400" b="1" spc="500" dirty="0">
                <a:solidFill>
                  <a:schemeClr val="tx1">
                    <a:lumMod val="50000"/>
                  </a:schemeClr>
                </a:solidFill>
                <a:latin typeface="微软雅黑" pitchFamily="34" charset="-122"/>
                <a:ea typeface="微软雅黑" pitchFamily="34" charset="-122"/>
              </a:rPr>
              <a:t>月房企销售金额排名</a:t>
            </a:r>
            <a:endParaRPr lang="en-US" altLang="zh-CN" sz="1400" b="1" spc="500" dirty="0">
              <a:solidFill>
                <a:schemeClr val="tx1">
                  <a:lumMod val="50000"/>
                </a:schemeClr>
              </a:solidFill>
              <a:latin typeface="微软雅黑" pitchFamily="34" charset="-122"/>
              <a:ea typeface="微软雅黑" pitchFamily="34" charset="-122"/>
            </a:endParaRPr>
          </a:p>
        </p:txBody>
      </p:sp>
      <p:sp>
        <p:nvSpPr>
          <p:cNvPr id="15" name="矩形 14"/>
          <p:cNvSpPr/>
          <p:nvPr/>
        </p:nvSpPr>
        <p:spPr>
          <a:xfrm>
            <a:off x="438912" y="1553004"/>
            <a:ext cx="3818217" cy="307777"/>
          </a:xfrm>
          <a:prstGeom prst="rect">
            <a:avLst/>
          </a:prstGeom>
        </p:spPr>
        <p:txBody>
          <a:bodyPr wrap="square">
            <a:spAutoFit/>
          </a:bodyPr>
          <a:lstStyle/>
          <a:p>
            <a:r>
              <a:rPr lang="en-US" altLang="zh-CN" sz="1400" b="1" spc="500" dirty="0">
                <a:solidFill>
                  <a:schemeClr val="tx1">
                    <a:lumMod val="50000"/>
                  </a:schemeClr>
                </a:solidFill>
                <a:latin typeface="微软雅黑" pitchFamily="34" charset="-122"/>
                <a:ea typeface="微软雅黑" pitchFamily="34" charset="-122"/>
              </a:rPr>
              <a:t>2016</a:t>
            </a:r>
            <a:r>
              <a:rPr lang="zh-CN" altLang="en-US" sz="1400" b="1" spc="500" dirty="0">
                <a:solidFill>
                  <a:schemeClr val="tx1">
                    <a:lumMod val="50000"/>
                  </a:schemeClr>
                </a:solidFill>
                <a:latin typeface="微软雅黑" pitchFamily="34" charset="-122"/>
                <a:ea typeface="微软雅黑" pitchFamily="34" charset="-122"/>
              </a:rPr>
              <a:t>年</a:t>
            </a:r>
            <a:r>
              <a:rPr lang="en-US" altLang="zh-CN" sz="1400" b="1" spc="500" dirty="0">
                <a:solidFill>
                  <a:schemeClr val="tx1">
                    <a:lumMod val="50000"/>
                  </a:schemeClr>
                </a:solidFill>
                <a:latin typeface="微软雅黑" pitchFamily="34" charset="-122"/>
                <a:ea typeface="微软雅黑" pitchFamily="34" charset="-122"/>
              </a:rPr>
              <a:t>9</a:t>
            </a:r>
            <a:r>
              <a:rPr lang="zh-CN" altLang="en-US" sz="1400" b="1" spc="500" dirty="0">
                <a:solidFill>
                  <a:schemeClr val="tx1">
                    <a:lumMod val="50000"/>
                  </a:schemeClr>
                </a:solidFill>
                <a:latin typeface="微软雅黑" pitchFamily="34" charset="-122"/>
                <a:ea typeface="微软雅黑" pitchFamily="34" charset="-122"/>
              </a:rPr>
              <a:t>月房企销售金额排名</a:t>
            </a:r>
            <a:endParaRPr lang="en-US" altLang="zh-CN" sz="1400" b="1" spc="500" dirty="0">
              <a:solidFill>
                <a:schemeClr val="tx1">
                  <a:lumMod val="50000"/>
                </a:schemeClr>
              </a:solidFill>
              <a:latin typeface="微软雅黑" pitchFamily="34" charset="-122"/>
              <a:ea typeface="微软雅黑" pitchFamily="34" charset="-122"/>
            </a:endParaRPr>
          </a:p>
        </p:txBody>
      </p:sp>
      <p:sp>
        <p:nvSpPr>
          <p:cNvPr id="4" name="矩形 3"/>
          <p:cNvSpPr/>
          <p:nvPr/>
        </p:nvSpPr>
        <p:spPr>
          <a:xfrm>
            <a:off x="261397" y="6444476"/>
            <a:ext cx="3262432" cy="276999"/>
          </a:xfrm>
          <a:prstGeom prst="rect">
            <a:avLst/>
          </a:prstGeom>
        </p:spPr>
        <p:txBody>
          <a:bodyPr wrap="none">
            <a:spAutoFit/>
          </a:bodyPr>
          <a:lstStyle/>
          <a:p>
            <a:r>
              <a:rPr lang="zh-CN" altLang="en-US" sz="1200" dirty="0">
                <a:latin typeface="微软雅黑" pitchFamily="34" charset="-122"/>
                <a:ea typeface="微软雅黑" pitchFamily="34" charset="-122"/>
              </a:rPr>
              <a:t>注：全部商品房，不含车位、车库、其它用途</a:t>
            </a:r>
          </a:p>
        </p:txBody>
      </p:sp>
      <p:graphicFrame>
        <p:nvGraphicFramePr>
          <p:cNvPr id="6" name="表格 5"/>
          <p:cNvGraphicFramePr>
            <a:graphicFrameLocks noGrp="1"/>
          </p:cNvGraphicFramePr>
          <p:nvPr>
            <p:extLst>
              <p:ext uri="{D42A27DB-BD31-4B8C-83A1-F6EECF244321}">
                <p14:modId xmlns:p14="http://schemas.microsoft.com/office/powerpoint/2010/main" val="1472752502"/>
              </p:ext>
            </p:extLst>
          </p:nvPr>
        </p:nvGraphicFramePr>
        <p:xfrm>
          <a:off x="205182" y="1933011"/>
          <a:ext cx="4153062" cy="4356023"/>
        </p:xfrm>
        <a:graphic>
          <a:graphicData uri="http://schemas.openxmlformats.org/drawingml/2006/table">
            <a:tbl>
              <a:tblPr>
                <a:tableStyleId>{5C22544A-7EE6-4342-B048-85BDC9FD1C3A}</a:tableStyleId>
              </a:tblPr>
              <a:tblGrid>
                <a:gridCol w="329208">
                  <a:extLst>
                    <a:ext uri="{9D8B030D-6E8A-4147-A177-3AD203B41FA5}">
                      <a16:colId xmlns:a16="http://schemas.microsoft.com/office/drawing/2014/main" val="20000"/>
                    </a:ext>
                  </a:extLst>
                </a:gridCol>
                <a:gridCol w="1508166">
                  <a:extLst>
                    <a:ext uri="{9D8B030D-6E8A-4147-A177-3AD203B41FA5}">
                      <a16:colId xmlns:a16="http://schemas.microsoft.com/office/drawing/2014/main" val="20001"/>
                    </a:ext>
                  </a:extLst>
                </a:gridCol>
                <a:gridCol w="707320">
                  <a:extLst>
                    <a:ext uri="{9D8B030D-6E8A-4147-A177-3AD203B41FA5}">
                      <a16:colId xmlns:a16="http://schemas.microsoft.com/office/drawing/2014/main" val="20002"/>
                    </a:ext>
                  </a:extLst>
                </a:gridCol>
                <a:gridCol w="804184">
                  <a:extLst>
                    <a:ext uri="{9D8B030D-6E8A-4147-A177-3AD203B41FA5}">
                      <a16:colId xmlns:a16="http://schemas.microsoft.com/office/drawing/2014/main" val="20003"/>
                    </a:ext>
                  </a:extLst>
                </a:gridCol>
                <a:gridCol w="804184">
                  <a:extLst>
                    <a:ext uri="{9D8B030D-6E8A-4147-A177-3AD203B41FA5}">
                      <a16:colId xmlns:a16="http://schemas.microsoft.com/office/drawing/2014/main" val="20004"/>
                    </a:ext>
                  </a:extLst>
                </a:gridCol>
              </a:tblGrid>
              <a:tr h="501248">
                <a:tc>
                  <a:txBody>
                    <a:bodyPr/>
                    <a:lstStyle/>
                    <a:p>
                      <a:pPr algn="ctr" fontAlgn="b"/>
                      <a:r>
                        <a:rPr lang="en-US" sz="1200" b="1" u="none" strike="noStrike" dirty="0">
                          <a:solidFill>
                            <a:schemeClr val="bg1"/>
                          </a:solidFill>
                          <a:effectLst/>
                          <a:latin typeface="+mn-ea"/>
                          <a:ea typeface="+mn-ea"/>
                        </a:rPr>
                        <a:t>No.</a:t>
                      </a:r>
                      <a:endParaRPr lang="en-US" sz="1200" b="1" i="0" u="none" strike="noStrike" dirty="0">
                        <a:solidFill>
                          <a:schemeClr val="bg1"/>
                        </a:solidFill>
                        <a:effectLst/>
                        <a:latin typeface="+mn-ea"/>
                        <a:ea typeface="+mn-ea"/>
                      </a:endParaRPr>
                    </a:p>
                  </a:txBody>
                  <a:tcPr marL="9525" marR="9525" marT="9525" marB="0" anchor="ctr">
                    <a:solidFill>
                      <a:srgbClr val="006EC7"/>
                    </a:solidFill>
                  </a:tcPr>
                </a:tc>
                <a:tc>
                  <a:txBody>
                    <a:bodyPr/>
                    <a:lstStyle/>
                    <a:p>
                      <a:pPr algn="ctr" fontAlgn="b"/>
                      <a:r>
                        <a:rPr lang="zh-CN" altLang="en-US" sz="1200" b="1" u="none" strike="noStrike" dirty="0">
                          <a:solidFill>
                            <a:schemeClr val="bg1"/>
                          </a:solidFill>
                          <a:effectLst/>
                          <a:latin typeface="+mn-ea"/>
                          <a:ea typeface="+mn-ea"/>
                        </a:rPr>
                        <a:t>品牌企业名称</a:t>
                      </a:r>
                      <a:endParaRPr lang="zh-CN" altLang="en-US" sz="1200" b="1" i="0" u="none" strike="noStrike" dirty="0">
                        <a:solidFill>
                          <a:schemeClr val="bg1"/>
                        </a:solidFill>
                        <a:effectLst/>
                        <a:latin typeface="+mn-ea"/>
                        <a:ea typeface="+mn-ea"/>
                      </a:endParaRPr>
                    </a:p>
                  </a:txBody>
                  <a:tcPr marL="9525" marR="9525" marT="9525" marB="0" anchor="ctr">
                    <a:solidFill>
                      <a:srgbClr val="006EC7"/>
                    </a:solidFill>
                  </a:tcPr>
                </a:tc>
                <a:tc>
                  <a:txBody>
                    <a:bodyPr/>
                    <a:lstStyle/>
                    <a:p>
                      <a:pPr algn="ctr" fontAlgn="b"/>
                      <a:r>
                        <a:rPr lang="zh-CN" altLang="en-US" sz="1200" b="1" u="none" strike="noStrike" dirty="0">
                          <a:solidFill>
                            <a:schemeClr val="bg1"/>
                          </a:solidFill>
                          <a:effectLst/>
                          <a:latin typeface="+mn-ea"/>
                          <a:ea typeface="+mn-ea"/>
                        </a:rPr>
                        <a:t>成交套数</a:t>
                      </a:r>
                      <a:endParaRPr lang="zh-CN" altLang="en-US" sz="1200" b="1" i="0" u="none" strike="noStrike" dirty="0">
                        <a:solidFill>
                          <a:schemeClr val="bg1"/>
                        </a:solidFill>
                        <a:effectLst/>
                        <a:latin typeface="+mn-ea"/>
                        <a:ea typeface="+mn-ea"/>
                      </a:endParaRPr>
                    </a:p>
                  </a:txBody>
                  <a:tcPr marL="9525" marR="9525" marT="9525" marB="0" anchor="ctr">
                    <a:solidFill>
                      <a:srgbClr val="006EC7"/>
                    </a:solidFill>
                  </a:tcPr>
                </a:tc>
                <a:tc>
                  <a:txBody>
                    <a:bodyPr/>
                    <a:lstStyle/>
                    <a:p>
                      <a:pPr algn="ctr" fontAlgn="b"/>
                      <a:r>
                        <a:rPr lang="zh-CN" altLang="en-US" sz="1200" b="1" u="none" strike="noStrike">
                          <a:solidFill>
                            <a:schemeClr val="bg1"/>
                          </a:solidFill>
                          <a:effectLst/>
                          <a:latin typeface="+mn-ea"/>
                          <a:ea typeface="+mn-ea"/>
                        </a:rPr>
                        <a:t>成交面积</a:t>
                      </a:r>
                      <a:r>
                        <a:rPr lang="en-US" altLang="zh-CN" sz="1200" b="1" u="none" strike="noStrike">
                          <a:solidFill>
                            <a:schemeClr val="bg1"/>
                          </a:solidFill>
                          <a:effectLst/>
                          <a:latin typeface="+mn-ea"/>
                          <a:ea typeface="+mn-ea"/>
                        </a:rPr>
                        <a:t>(</a:t>
                      </a:r>
                      <a:r>
                        <a:rPr lang="zh-CN" altLang="en-US" sz="1200" b="1" u="none" strike="noStrike">
                          <a:solidFill>
                            <a:schemeClr val="bg1"/>
                          </a:solidFill>
                          <a:effectLst/>
                          <a:latin typeface="+mn-ea"/>
                          <a:ea typeface="+mn-ea"/>
                        </a:rPr>
                        <a:t>万㎡</a:t>
                      </a:r>
                      <a:r>
                        <a:rPr lang="en-US" altLang="zh-CN" sz="1200" b="1" u="none" strike="noStrike">
                          <a:solidFill>
                            <a:schemeClr val="bg1"/>
                          </a:solidFill>
                          <a:effectLst/>
                          <a:latin typeface="+mn-ea"/>
                          <a:ea typeface="+mn-ea"/>
                        </a:rPr>
                        <a:t>)</a:t>
                      </a:r>
                      <a:endParaRPr lang="en-US" altLang="zh-CN" sz="1200" b="1" i="0" u="none" strike="noStrike">
                        <a:solidFill>
                          <a:schemeClr val="bg1"/>
                        </a:solidFill>
                        <a:effectLst/>
                        <a:latin typeface="+mn-ea"/>
                        <a:ea typeface="+mn-ea"/>
                      </a:endParaRPr>
                    </a:p>
                  </a:txBody>
                  <a:tcPr marL="9525" marR="9525" marT="9525" marB="0" anchor="ctr">
                    <a:solidFill>
                      <a:srgbClr val="006EC7"/>
                    </a:solidFill>
                  </a:tcPr>
                </a:tc>
                <a:tc>
                  <a:txBody>
                    <a:bodyPr/>
                    <a:lstStyle/>
                    <a:p>
                      <a:pPr algn="ctr" fontAlgn="b"/>
                      <a:r>
                        <a:rPr lang="zh-CN" altLang="en-US" sz="1200" b="1" u="none" strike="noStrike" dirty="0">
                          <a:solidFill>
                            <a:schemeClr val="bg1"/>
                          </a:solidFill>
                          <a:effectLst/>
                          <a:latin typeface="+mn-ea"/>
                          <a:ea typeface="+mn-ea"/>
                        </a:rPr>
                        <a:t>成交金额</a:t>
                      </a:r>
                      <a:r>
                        <a:rPr lang="en-US" altLang="zh-CN" sz="1200" b="1" u="none" strike="noStrike" dirty="0">
                          <a:solidFill>
                            <a:schemeClr val="bg1"/>
                          </a:solidFill>
                          <a:effectLst/>
                          <a:latin typeface="+mn-ea"/>
                          <a:ea typeface="+mn-ea"/>
                        </a:rPr>
                        <a:t>(</a:t>
                      </a:r>
                      <a:r>
                        <a:rPr lang="zh-CN" altLang="en-US" sz="1200" b="1" u="none" strike="noStrike" dirty="0">
                          <a:solidFill>
                            <a:schemeClr val="bg1"/>
                          </a:solidFill>
                          <a:effectLst/>
                          <a:latin typeface="+mn-ea"/>
                          <a:ea typeface="+mn-ea"/>
                        </a:rPr>
                        <a:t>亿元</a:t>
                      </a:r>
                      <a:r>
                        <a:rPr lang="en-US" altLang="zh-CN" sz="1200" b="1" u="none" strike="noStrike" dirty="0">
                          <a:solidFill>
                            <a:schemeClr val="bg1"/>
                          </a:solidFill>
                          <a:effectLst/>
                          <a:latin typeface="+mn-ea"/>
                          <a:ea typeface="+mn-ea"/>
                        </a:rPr>
                        <a:t>)</a:t>
                      </a:r>
                      <a:endParaRPr lang="en-US" altLang="zh-CN" sz="1200" b="1" i="0" u="none" strike="noStrike" dirty="0">
                        <a:solidFill>
                          <a:schemeClr val="bg1"/>
                        </a:solidFill>
                        <a:effectLst/>
                        <a:latin typeface="+mn-ea"/>
                        <a:ea typeface="+mn-ea"/>
                      </a:endParaRPr>
                    </a:p>
                  </a:txBody>
                  <a:tcPr marL="9525" marR="9525" marT="9525" marB="0" anchor="ctr">
                    <a:solidFill>
                      <a:srgbClr val="006EC7"/>
                    </a:solidFill>
                  </a:tcPr>
                </a:tc>
                <a:extLst>
                  <a:ext uri="{0D108BD9-81ED-4DB2-BD59-A6C34878D82A}">
                    <a16:rowId xmlns:a16="http://schemas.microsoft.com/office/drawing/2014/main" val="10000"/>
                  </a:ext>
                </a:extLst>
              </a:tr>
              <a:tr h="256985">
                <a:tc>
                  <a:txBody>
                    <a:bodyPr/>
                    <a:lstStyle/>
                    <a:p>
                      <a:pPr algn="ctr" fontAlgn="b"/>
                      <a:r>
                        <a:rPr lang="en-US" altLang="zh-CN" sz="1200" b="0" i="0" u="none" strike="noStrike">
                          <a:solidFill>
                            <a:srgbClr val="000000"/>
                          </a:solidFill>
                          <a:effectLst/>
                          <a:latin typeface="+mn-ea"/>
                          <a:ea typeface="+mn-ea"/>
                        </a:rPr>
                        <a:t>1</a:t>
                      </a:r>
                    </a:p>
                  </a:txBody>
                  <a:tcPr marL="9525" marR="9525" marT="9525" marB="0" anchor="ctr"/>
                </a:tc>
                <a:tc>
                  <a:txBody>
                    <a:bodyPr/>
                    <a:lstStyle/>
                    <a:p>
                      <a:pPr algn="ctr" fontAlgn="b"/>
                      <a:r>
                        <a:rPr lang="zh-CN" altLang="en-US" sz="1200" b="0" i="0" u="none" strike="noStrike">
                          <a:solidFill>
                            <a:srgbClr val="000000"/>
                          </a:solidFill>
                          <a:effectLst/>
                          <a:latin typeface="+mn-ea"/>
                          <a:ea typeface="+mn-ea"/>
                        </a:rPr>
                        <a:t>远洋地产</a:t>
                      </a:r>
                    </a:p>
                  </a:txBody>
                  <a:tcPr marL="9525" marR="9525" marT="9525" marB="0" anchor="ctr"/>
                </a:tc>
                <a:tc>
                  <a:txBody>
                    <a:bodyPr/>
                    <a:lstStyle/>
                    <a:p>
                      <a:pPr algn="ctr" fontAlgn="b"/>
                      <a:r>
                        <a:rPr lang="en-US" altLang="zh-CN" sz="1200" b="0" i="0" u="none" strike="noStrike">
                          <a:solidFill>
                            <a:srgbClr val="000000"/>
                          </a:solidFill>
                          <a:effectLst/>
                          <a:latin typeface="+mn-ea"/>
                          <a:ea typeface="+mn-ea"/>
                        </a:rPr>
                        <a:t>493</a:t>
                      </a:r>
                    </a:p>
                  </a:txBody>
                  <a:tcPr marL="9525" marR="9525" marT="9525" marB="0" anchor="ctr"/>
                </a:tc>
                <a:tc>
                  <a:txBody>
                    <a:bodyPr/>
                    <a:lstStyle/>
                    <a:p>
                      <a:pPr algn="ctr" fontAlgn="b"/>
                      <a:r>
                        <a:rPr lang="en-US" altLang="zh-CN" sz="1200" b="0" i="0" u="none" strike="noStrike">
                          <a:solidFill>
                            <a:srgbClr val="000000"/>
                          </a:solidFill>
                          <a:effectLst/>
                          <a:latin typeface="+mn-ea"/>
                          <a:ea typeface="+mn-ea"/>
                        </a:rPr>
                        <a:t>5.64</a:t>
                      </a:r>
                    </a:p>
                  </a:txBody>
                  <a:tcPr marL="9525" marR="9525" marT="9525" marB="0" anchor="ctr"/>
                </a:tc>
                <a:tc>
                  <a:txBody>
                    <a:bodyPr/>
                    <a:lstStyle/>
                    <a:p>
                      <a:pPr algn="ctr" fontAlgn="b"/>
                      <a:r>
                        <a:rPr lang="en-US" altLang="zh-CN" sz="1200" b="0" i="0" u="none" strike="noStrike">
                          <a:solidFill>
                            <a:srgbClr val="000000"/>
                          </a:solidFill>
                          <a:effectLst/>
                          <a:latin typeface="+mn-ea"/>
                          <a:ea typeface="+mn-ea"/>
                        </a:rPr>
                        <a:t>25.92</a:t>
                      </a:r>
                    </a:p>
                  </a:txBody>
                  <a:tcPr marL="9525" marR="9525" marT="9525" marB="0" anchor="ctr"/>
                </a:tc>
                <a:extLst>
                  <a:ext uri="{0D108BD9-81ED-4DB2-BD59-A6C34878D82A}">
                    <a16:rowId xmlns:a16="http://schemas.microsoft.com/office/drawing/2014/main" val="10001"/>
                  </a:ext>
                </a:extLst>
              </a:tr>
              <a:tr h="256985">
                <a:tc>
                  <a:txBody>
                    <a:bodyPr/>
                    <a:lstStyle/>
                    <a:p>
                      <a:pPr algn="ctr" fontAlgn="b"/>
                      <a:r>
                        <a:rPr lang="en-US" altLang="zh-CN" sz="1200" b="0" i="0" u="none" strike="noStrike">
                          <a:solidFill>
                            <a:srgbClr val="000000"/>
                          </a:solidFill>
                          <a:effectLst/>
                          <a:latin typeface="+mn-ea"/>
                          <a:ea typeface="+mn-ea"/>
                        </a:rPr>
                        <a:t>2</a:t>
                      </a:r>
                    </a:p>
                  </a:txBody>
                  <a:tcPr marL="9525" marR="9525" marT="9525" marB="0" anchor="ctr"/>
                </a:tc>
                <a:tc>
                  <a:txBody>
                    <a:bodyPr/>
                    <a:lstStyle/>
                    <a:p>
                      <a:pPr algn="ctr" fontAlgn="b"/>
                      <a:r>
                        <a:rPr lang="zh-CN" altLang="en-US" sz="1200" b="0" i="0" u="none" strike="noStrike">
                          <a:solidFill>
                            <a:srgbClr val="000000"/>
                          </a:solidFill>
                          <a:effectLst/>
                          <a:latin typeface="+mn-ea"/>
                          <a:ea typeface="+mn-ea"/>
                        </a:rPr>
                        <a:t>鲁能集团</a:t>
                      </a:r>
                    </a:p>
                  </a:txBody>
                  <a:tcPr marL="9525" marR="9525" marT="9525" marB="0" anchor="ctr"/>
                </a:tc>
                <a:tc>
                  <a:txBody>
                    <a:bodyPr/>
                    <a:lstStyle/>
                    <a:p>
                      <a:pPr algn="ctr" fontAlgn="b"/>
                      <a:r>
                        <a:rPr lang="en-US" altLang="zh-CN" sz="1200" b="0" i="0" u="none" strike="noStrike">
                          <a:solidFill>
                            <a:srgbClr val="000000"/>
                          </a:solidFill>
                          <a:effectLst/>
                          <a:latin typeface="+mn-ea"/>
                          <a:ea typeface="+mn-ea"/>
                        </a:rPr>
                        <a:t>358</a:t>
                      </a:r>
                    </a:p>
                  </a:txBody>
                  <a:tcPr marL="9525" marR="9525" marT="9525" marB="0" anchor="ctr"/>
                </a:tc>
                <a:tc>
                  <a:txBody>
                    <a:bodyPr/>
                    <a:lstStyle/>
                    <a:p>
                      <a:pPr algn="ctr" fontAlgn="b"/>
                      <a:r>
                        <a:rPr lang="en-US" altLang="zh-CN" sz="1200" b="0" i="0" u="none" strike="noStrike">
                          <a:solidFill>
                            <a:srgbClr val="000000"/>
                          </a:solidFill>
                          <a:effectLst/>
                          <a:latin typeface="+mn-ea"/>
                          <a:ea typeface="+mn-ea"/>
                        </a:rPr>
                        <a:t>4.27</a:t>
                      </a:r>
                    </a:p>
                  </a:txBody>
                  <a:tcPr marL="9525" marR="9525" marT="9525" marB="0" anchor="ctr"/>
                </a:tc>
                <a:tc>
                  <a:txBody>
                    <a:bodyPr/>
                    <a:lstStyle/>
                    <a:p>
                      <a:pPr algn="ctr" fontAlgn="b"/>
                      <a:r>
                        <a:rPr lang="en-US" altLang="zh-CN" sz="1200" b="0" i="0" u="none" strike="noStrike">
                          <a:solidFill>
                            <a:srgbClr val="000000"/>
                          </a:solidFill>
                          <a:effectLst/>
                          <a:latin typeface="+mn-ea"/>
                          <a:ea typeface="+mn-ea"/>
                        </a:rPr>
                        <a:t>24.65</a:t>
                      </a:r>
                    </a:p>
                  </a:txBody>
                  <a:tcPr marL="9525" marR="9525" marT="9525" marB="0" anchor="ctr"/>
                </a:tc>
                <a:extLst>
                  <a:ext uri="{0D108BD9-81ED-4DB2-BD59-A6C34878D82A}">
                    <a16:rowId xmlns:a16="http://schemas.microsoft.com/office/drawing/2014/main" val="10002"/>
                  </a:ext>
                </a:extLst>
              </a:tr>
              <a:tr h="256985">
                <a:tc>
                  <a:txBody>
                    <a:bodyPr/>
                    <a:lstStyle/>
                    <a:p>
                      <a:pPr algn="ctr" fontAlgn="b"/>
                      <a:r>
                        <a:rPr lang="en-US" altLang="zh-CN" sz="1200" b="0" i="0" u="none" strike="noStrike">
                          <a:solidFill>
                            <a:srgbClr val="000000"/>
                          </a:solidFill>
                          <a:effectLst/>
                          <a:latin typeface="+mn-ea"/>
                          <a:ea typeface="+mn-ea"/>
                        </a:rPr>
                        <a:t>3</a:t>
                      </a:r>
                    </a:p>
                  </a:txBody>
                  <a:tcPr marL="9525" marR="9525" marT="9525" marB="0" anchor="ctr"/>
                </a:tc>
                <a:tc>
                  <a:txBody>
                    <a:bodyPr/>
                    <a:lstStyle/>
                    <a:p>
                      <a:pPr algn="ctr" fontAlgn="b"/>
                      <a:r>
                        <a:rPr lang="zh-CN" altLang="en-US" sz="1200" b="0" i="0" u="none" strike="noStrike">
                          <a:solidFill>
                            <a:srgbClr val="000000"/>
                          </a:solidFill>
                          <a:effectLst/>
                          <a:latin typeface="+mn-ea"/>
                          <a:ea typeface="+mn-ea"/>
                        </a:rPr>
                        <a:t>绿地集团</a:t>
                      </a:r>
                    </a:p>
                  </a:txBody>
                  <a:tcPr marL="9525" marR="9525" marT="9525" marB="0" anchor="ctr"/>
                </a:tc>
                <a:tc>
                  <a:txBody>
                    <a:bodyPr/>
                    <a:lstStyle/>
                    <a:p>
                      <a:pPr algn="ctr" fontAlgn="b"/>
                      <a:r>
                        <a:rPr lang="en-US" altLang="zh-CN" sz="1200" b="0" i="0" u="none" strike="noStrike">
                          <a:solidFill>
                            <a:srgbClr val="000000"/>
                          </a:solidFill>
                          <a:effectLst/>
                          <a:latin typeface="+mn-ea"/>
                          <a:ea typeface="+mn-ea"/>
                        </a:rPr>
                        <a:t>703</a:t>
                      </a:r>
                    </a:p>
                  </a:txBody>
                  <a:tcPr marL="9525" marR="9525" marT="9525" marB="0" anchor="ctr"/>
                </a:tc>
                <a:tc>
                  <a:txBody>
                    <a:bodyPr/>
                    <a:lstStyle/>
                    <a:p>
                      <a:pPr algn="ctr" fontAlgn="b"/>
                      <a:r>
                        <a:rPr lang="en-US" altLang="zh-CN" sz="1200" b="0" i="0" u="none" strike="noStrike">
                          <a:solidFill>
                            <a:srgbClr val="000000"/>
                          </a:solidFill>
                          <a:effectLst/>
                          <a:latin typeface="+mn-ea"/>
                          <a:ea typeface="+mn-ea"/>
                        </a:rPr>
                        <a:t>7.27</a:t>
                      </a:r>
                    </a:p>
                  </a:txBody>
                  <a:tcPr marL="9525" marR="9525" marT="9525" marB="0" anchor="ctr"/>
                </a:tc>
                <a:tc>
                  <a:txBody>
                    <a:bodyPr/>
                    <a:lstStyle/>
                    <a:p>
                      <a:pPr algn="ctr" fontAlgn="b"/>
                      <a:r>
                        <a:rPr lang="en-US" altLang="zh-CN" sz="1200" b="0" i="0" u="none" strike="noStrike">
                          <a:solidFill>
                            <a:srgbClr val="000000"/>
                          </a:solidFill>
                          <a:effectLst/>
                          <a:latin typeface="+mn-ea"/>
                          <a:ea typeface="+mn-ea"/>
                        </a:rPr>
                        <a:t>17.42</a:t>
                      </a:r>
                    </a:p>
                  </a:txBody>
                  <a:tcPr marL="9525" marR="9525" marT="9525" marB="0" anchor="ctr"/>
                </a:tc>
                <a:extLst>
                  <a:ext uri="{0D108BD9-81ED-4DB2-BD59-A6C34878D82A}">
                    <a16:rowId xmlns:a16="http://schemas.microsoft.com/office/drawing/2014/main" val="10003"/>
                  </a:ext>
                </a:extLst>
              </a:tr>
              <a:tr h="256985">
                <a:tc>
                  <a:txBody>
                    <a:bodyPr/>
                    <a:lstStyle/>
                    <a:p>
                      <a:pPr algn="ctr" fontAlgn="b"/>
                      <a:r>
                        <a:rPr lang="en-US" altLang="zh-CN" sz="1200" b="0" i="0" u="none" strike="noStrike">
                          <a:solidFill>
                            <a:srgbClr val="000000"/>
                          </a:solidFill>
                          <a:effectLst/>
                          <a:latin typeface="+mn-ea"/>
                          <a:ea typeface="+mn-ea"/>
                        </a:rPr>
                        <a:t>4</a:t>
                      </a:r>
                    </a:p>
                  </a:txBody>
                  <a:tcPr marL="9525" marR="9525" marT="9525" marB="0" anchor="ctr"/>
                </a:tc>
                <a:tc>
                  <a:txBody>
                    <a:bodyPr/>
                    <a:lstStyle/>
                    <a:p>
                      <a:pPr algn="ctr" fontAlgn="b"/>
                      <a:r>
                        <a:rPr lang="zh-CN" altLang="en-US" sz="1200" b="0" i="0" u="none" strike="noStrike">
                          <a:solidFill>
                            <a:srgbClr val="000000"/>
                          </a:solidFill>
                          <a:effectLst/>
                          <a:latin typeface="+mn-ea"/>
                          <a:ea typeface="+mn-ea"/>
                        </a:rPr>
                        <a:t>富华集团</a:t>
                      </a:r>
                    </a:p>
                  </a:txBody>
                  <a:tcPr marL="9525" marR="9525" marT="9525" marB="0" anchor="ctr"/>
                </a:tc>
                <a:tc>
                  <a:txBody>
                    <a:bodyPr/>
                    <a:lstStyle/>
                    <a:p>
                      <a:pPr algn="ctr" fontAlgn="b"/>
                      <a:r>
                        <a:rPr lang="en-US" altLang="zh-CN" sz="1200" b="0" i="0" u="none" strike="noStrike">
                          <a:solidFill>
                            <a:srgbClr val="000000"/>
                          </a:solidFill>
                          <a:effectLst/>
                          <a:latin typeface="+mn-ea"/>
                          <a:ea typeface="+mn-ea"/>
                        </a:rPr>
                        <a:t>352</a:t>
                      </a:r>
                    </a:p>
                  </a:txBody>
                  <a:tcPr marL="9525" marR="9525" marT="9525" marB="0" anchor="ctr"/>
                </a:tc>
                <a:tc>
                  <a:txBody>
                    <a:bodyPr/>
                    <a:lstStyle/>
                    <a:p>
                      <a:pPr algn="ctr" fontAlgn="b"/>
                      <a:r>
                        <a:rPr lang="en-US" altLang="zh-CN" sz="1200" b="0" i="0" u="none" strike="noStrike">
                          <a:solidFill>
                            <a:srgbClr val="000000"/>
                          </a:solidFill>
                          <a:effectLst/>
                          <a:latin typeface="+mn-ea"/>
                          <a:ea typeface="+mn-ea"/>
                        </a:rPr>
                        <a:t>3.72</a:t>
                      </a:r>
                    </a:p>
                  </a:txBody>
                  <a:tcPr marL="9525" marR="9525" marT="9525" marB="0" anchor="ctr"/>
                </a:tc>
                <a:tc>
                  <a:txBody>
                    <a:bodyPr/>
                    <a:lstStyle/>
                    <a:p>
                      <a:pPr algn="ctr" fontAlgn="b"/>
                      <a:r>
                        <a:rPr lang="en-US" altLang="zh-CN" sz="1200" b="0" i="0" u="none" strike="noStrike">
                          <a:solidFill>
                            <a:srgbClr val="000000"/>
                          </a:solidFill>
                          <a:effectLst/>
                          <a:latin typeface="+mn-ea"/>
                          <a:ea typeface="+mn-ea"/>
                        </a:rPr>
                        <a:t>15.84</a:t>
                      </a:r>
                    </a:p>
                  </a:txBody>
                  <a:tcPr marL="9525" marR="9525" marT="9525" marB="0" anchor="ctr"/>
                </a:tc>
                <a:extLst>
                  <a:ext uri="{0D108BD9-81ED-4DB2-BD59-A6C34878D82A}">
                    <a16:rowId xmlns:a16="http://schemas.microsoft.com/office/drawing/2014/main" val="10004"/>
                  </a:ext>
                </a:extLst>
              </a:tr>
              <a:tr h="256985">
                <a:tc>
                  <a:txBody>
                    <a:bodyPr/>
                    <a:lstStyle/>
                    <a:p>
                      <a:pPr algn="ctr" fontAlgn="b"/>
                      <a:r>
                        <a:rPr lang="en-US" altLang="zh-CN" sz="1200" b="0" i="0" u="none" strike="noStrike">
                          <a:solidFill>
                            <a:srgbClr val="000000"/>
                          </a:solidFill>
                          <a:effectLst/>
                          <a:latin typeface="+mn-ea"/>
                          <a:ea typeface="+mn-ea"/>
                        </a:rPr>
                        <a:t>5</a:t>
                      </a:r>
                    </a:p>
                  </a:txBody>
                  <a:tcPr marL="9525" marR="9525" marT="9525" marB="0" anchor="ctr"/>
                </a:tc>
                <a:tc>
                  <a:txBody>
                    <a:bodyPr/>
                    <a:lstStyle/>
                    <a:p>
                      <a:pPr algn="ctr" fontAlgn="b"/>
                      <a:r>
                        <a:rPr lang="zh-CN" altLang="en-US" sz="1200" b="0" i="0" u="none" strike="noStrike">
                          <a:solidFill>
                            <a:srgbClr val="000000"/>
                          </a:solidFill>
                          <a:effectLst/>
                          <a:latin typeface="+mn-ea"/>
                          <a:ea typeface="+mn-ea"/>
                        </a:rPr>
                        <a:t>电建</a:t>
                      </a:r>
                      <a:r>
                        <a:rPr lang="en-US" altLang="zh-CN" sz="1200" b="0" i="0" u="none" strike="noStrike">
                          <a:solidFill>
                            <a:srgbClr val="000000"/>
                          </a:solidFill>
                          <a:effectLst/>
                          <a:latin typeface="+mn-ea"/>
                          <a:ea typeface="+mn-ea"/>
                        </a:rPr>
                        <a:t>/</a:t>
                      </a:r>
                      <a:r>
                        <a:rPr lang="zh-CN" altLang="en-US" sz="1200" b="0" i="0" u="none" strike="noStrike">
                          <a:solidFill>
                            <a:srgbClr val="000000"/>
                          </a:solidFill>
                          <a:effectLst/>
                          <a:latin typeface="+mn-ea"/>
                          <a:ea typeface="+mn-ea"/>
                        </a:rPr>
                        <a:t>金地</a:t>
                      </a:r>
                    </a:p>
                  </a:txBody>
                  <a:tcPr marL="9525" marR="9525" marT="9525" marB="0" anchor="ctr"/>
                </a:tc>
                <a:tc>
                  <a:txBody>
                    <a:bodyPr/>
                    <a:lstStyle/>
                    <a:p>
                      <a:pPr algn="ctr" fontAlgn="b"/>
                      <a:r>
                        <a:rPr lang="en-US" altLang="zh-CN" sz="1200" b="0" i="0" u="none" strike="noStrike">
                          <a:solidFill>
                            <a:srgbClr val="000000"/>
                          </a:solidFill>
                          <a:effectLst/>
                          <a:latin typeface="+mn-ea"/>
                          <a:ea typeface="+mn-ea"/>
                        </a:rPr>
                        <a:t>191</a:t>
                      </a:r>
                    </a:p>
                  </a:txBody>
                  <a:tcPr marL="9525" marR="9525" marT="9525" marB="0" anchor="ctr"/>
                </a:tc>
                <a:tc>
                  <a:txBody>
                    <a:bodyPr/>
                    <a:lstStyle/>
                    <a:p>
                      <a:pPr algn="ctr" fontAlgn="b"/>
                      <a:r>
                        <a:rPr lang="en-US" altLang="zh-CN" sz="1200" b="0" i="0" u="none" strike="noStrike">
                          <a:solidFill>
                            <a:srgbClr val="000000"/>
                          </a:solidFill>
                          <a:effectLst/>
                          <a:latin typeface="+mn-ea"/>
                          <a:ea typeface="+mn-ea"/>
                        </a:rPr>
                        <a:t>3.05</a:t>
                      </a:r>
                    </a:p>
                  </a:txBody>
                  <a:tcPr marL="9525" marR="9525" marT="9525" marB="0" anchor="ctr"/>
                </a:tc>
                <a:tc>
                  <a:txBody>
                    <a:bodyPr/>
                    <a:lstStyle/>
                    <a:p>
                      <a:pPr algn="ctr" fontAlgn="b"/>
                      <a:r>
                        <a:rPr lang="en-US" altLang="zh-CN" sz="1200" b="0" i="0" u="none" strike="noStrike">
                          <a:solidFill>
                            <a:srgbClr val="000000"/>
                          </a:solidFill>
                          <a:effectLst/>
                          <a:latin typeface="+mn-ea"/>
                          <a:ea typeface="+mn-ea"/>
                        </a:rPr>
                        <a:t>15.09</a:t>
                      </a:r>
                    </a:p>
                  </a:txBody>
                  <a:tcPr marL="9525" marR="9525" marT="9525" marB="0" anchor="ctr"/>
                </a:tc>
                <a:extLst>
                  <a:ext uri="{0D108BD9-81ED-4DB2-BD59-A6C34878D82A}">
                    <a16:rowId xmlns:a16="http://schemas.microsoft.com/office/drawing/2014/main" val="10005"/>
                  </a:ext>
                </a:extLst>
              </a:tr>
              <a:tr h="256985">
                <a:tc>
                  <a:txBody>
                    <a:bodyPr/>
                    <a:lstStyle/>
                    <a:p>
                      <a:pPr algn="ctr" fontAlgn="b"/>
                      <a:r>
                        <a:rPr lang="en-US" altLang="zh-CN" sz="1200" b="0" i="0" u="none" strike="noStrike">
                          <a:solidFill>
                            <a:srgbClr val="000000"/>
                          </a:solidFill>
                          <a:effectLst/>
                          <a:latin typeface="+mn-ea"/>
                          <a:ea typeface="+mn-ea"/>
                        </a:rPr>
                        <a:t>6</a:t>
                      </a:r>
                    </a:p>
                  </a:txBody>
                  <a:tcPr marL="9525" marR="9525" marT="9525" marB="0" anchor="ctr"/>
                </a:tc>
                <a:tc>
                  <a:txBody>
                    <a:bodyPr/>
                    <a:lstStyle/>
                    <a:p>
                      <a:pPr algn="ctr" fontAlgn="b"/>
                      <a:r>
                        <a:rPr lang="zh-CN" altLang="en-US" sz="1200" b="0" i="0" u="none" strike="noStrike">
                          <a:solidFill>
                            <a:srgbClr val="000000"/>
                          </a:solidFill>
                          <a:effectLst/>
                          <a:latin typeface="+mn-ea"/>
                          <a:ea typeface="+mn-ea"/>
                        </a:rPr>
                        <a:t>中弘股份</a:t>
                      </a:r>
                    </a:p>
                  </a:txBody>
                  <a:tcPr marL="9525" marR="9525" marT="9525" marB="0" anchor="ctr"/>
                </a:tc>
                <a:tc>
                  <a:txBody>
                    <a:bodyPr/>
                    <a:lstStyle/>
                    <a:p>
                      <a:pPr algn="ctr" fontAlgn="b"/>
                      <a:r>
                        <a:rPr lang="en-US" altLang="zh-CN" sz="1200" b="0" i="0" u="none" strike="noStrike">
                          <a:solidFill>
                            <a:srgbClr val="000000"/>
                          </a:solidFill>
                          <a:effectLst/>
                          <a:latin typeface="+mn-ea"/>
                          <a:ea typeface="+mn-ea"/>
                        </a:rPr>
                        <a:t>1074</a:t>
                      </a:r>
                    </a:p>
                  </a:txBody>
                  <a:tcPr marL="9525" marR="9525" marT="9525" marB="0" anchor="ctr"/>
                </a:tc>
                <a:tc>
                  <a:txBody>
                    <a:bodyPr/>
                    <a:lstStyle/>
                    <a:p>
                      <a:pPr algn="ctr" fontAlgn="b"/>
                      <a:r>
                        <a:rPr lang="en-US" altLang="zh-CN" sz="1200" b="0" i="0" u="none" strike="noStrike">
                          <a:solidFill>
                            <a:srgbClr val="000000"/>
                          </a:solidFill>
                          <a:effectLst/>
                          <a:latin typeface="+mn-ea"/>
                          <a:ea typeface="+mn-ea"/>
                        </a:rPr>
                        <a:t>7.82</a:t>
                      </a:r>
                    </a:p>
                  </a:txBody>
                  <a:tcPr marL="9525" marR="9525" marT="9525" marB="0" anchor="ctr"/>
                </a:tc>
                <a:tc>
                  <a:txBody>
                    <a:bodyPr/>
                    <a:lstStyle/>
                    <a:p>
                      <a:pPr algn="ctr" fontAlgn="b"/>
                      <a:r>
                        <a:rPr lang="en-US" altLang="zh-CN" sz="1200" b="0" i="0" u="none" strike="noStrike">
                          <a:solidFill>
                            <a:srgbClr val="000000"/>
                          </a:solidFill>
                          <a:effectLst/>
                          <a:latin typeface="+mn-ea"/>
                          <a:ea typeface="+mn-ea"/>
                        </a:rPr>
                        <a:t>14.48</a:t>
                      </a:r>
                    </a:p>
                  </a:txBody>
                  <a:tcPr marL="9525" marR="9525" marT="9525" marB="0" anchor="ctr"/>
                </a:tc>
                <a:extLst>
                  <a:ext uri="{0D108BD9-81ED-4DB2-BD59-A6C34878D82A}">
                    <a16:rowId xmlns:a16="http://schemas.microsoft.com/office/drawing/2014/main" val="10006"/>
                  </a:ext>
                </a:extLst>
              </a:tr>
              <a:tr h="256985">
                <a:tc>
                  <a:txBody>
                    <a:bodyPr/>
                    <a:lstStyle/>
                    <a:p>
                      <a:pPr algn="ctr" fontAlgn="b"/>
                      <a:r>
                        <a:rPr lang="en-US" altLang="zh-CN" sz="1200" b="0" i="0" u="none" strike="noStrike">
                          <a:solidFill>
                            <a:srgbClr val="000000"/>
                          </a:solidFill>
                          <a:effectLst/>
                          <a:latin typeface="+mn-ea"/>
                          <a:ea typeface="+mn-ea"/>
                        </a:rPr>
                        <a:t>7</a:t>
                      </a:r>
                    </a:p>
                  </a:txBody>
                  <a:tcPr marL="9525" marR="9525" marT="9525" marB="0" anchor="ctr"/>
                </a:tc>
                <a:tc>
                  <a:txBody>
                    <a:bodyPr/>
                    <a:lstStyle/>
                    <a:p>
                      <a:pPr algn="ctr" fontAlgn="b"/>
                      <a:r>
                        <a:rPr lang="zh-CN" altLang="en-US" sz="1200" b="0" i="0" u="none" strike="noStrike">
                          <a:solidFill>
                            <a:srgbClr val="000000"/>
                          </a:solidFill>
                          <a:effectLst/>
                          <a:latin typeface="+mn-ea"/>
                          <a:ea typeface="+mn-ea"/>
                        </a:rPr>
                        <a:t>华业地产</a:t>
                      </a:r>
                    </a:p>
                  </a:txBody>
                  <a:tcPr marL="9525" marR="9525" marT="9525" marB="0" anchor="ctr"/>
                </a:tc>
                <a:tc>
                  <a:txBody>
                    <a:bodyPr/>
                    <a:lstStyle/>
                    <a:p>
                      <a:pPr algn="ctr" fontAlgn="b"/>
                      <a:r>
                        <a:rPr lang="en-US" altLang="zh-CN" sz="1200" b="0" i="0" u="none" strike="noStrike">
                          <a:solidFill>
                            <a:srgbClr val="000000"/>
                          </a:solidFill>
                          <a:effectLst/>
                          <a:latin typeface="+mn-ea"/>
                          <a:ea typeface="+mn-ea"/>
                        </a:rPr>
                        <a:t>347</a:t>
                      </a:r>
                    </a:p>
                  </a:txBody>
                  <a:tcPr marL="9525" marR="9525" marT="9525" marB="0" anchor="ctr"/>
                </a:tc>
                <a:tc>
                  <a:txBody>
                    <a:bodyPr/>
                    <a:lstStyle/>
                    <a:p>
                      <a:pPr algn="ctr" fontAlgn="b"/>
                      <a:r>
                        <a:rPr lang="en-US" altLang="zh-CN" sz="1200" b="0" i="0" u="none" strike="noStrike">
                          <a:solidFill>
                            <a:srgbClr val="000000"/>
                          </a:solidFill>
                          <a:effectLst/>
                          <a:latin typeface="+mn-ea"/>
                          <a:ea typeface="+mn-ea"/>
                        </a:rPr>
                        <a:t>2.8</a:t>
                      </a:r>
                    </a:p>
                  </a:txBody>
                  <a:tcPr marL="9525" marR="9525" marT="9525" marB="0" anchor="ctr"/>
                </a:tc>
                <a:tc>
                  <a:txBody>
                    <a:bodyPr/>
                    <a:lstStyle/>
                    <a:p>
                      <a:pPr algn="ctr" fontAlgn="b"/>
                      <a:r>
                        <a:rPr lang="en-US" altLang="zh-CN" sz="1200" b="0" i="0" u="none" strike="noStrike">
                          <a:solidFill>
                            <a:srgbClr val="000000"/>
                          </a:solidFill>
                          <a:effectLst/>
                          <a:latin typeface="+mn-ea"/>
                          <a:ea typeface="+mn-ea"/>
                        </a:rPr>
                        <a:t>13.86</a:t>
                      </a:r>
                    </a:p>
                  </a:txBody>
                  <a:tcPr marL="9525" marR="9525" marT="9525" marB="0" anchor="ctr"/>
                </a:tc>
                <a:extLst>
                  <a:ext uri="{0D108BD9-81ED-4DB2-BD59-A6C34878D82A}">
                    <a16:rowId xmlns:a16="http://schemas.microsoft.com/office/drawing/2014/main" val="10007"/>
                  </a:ext>
                </a:extLst>
              </a:tr>
              <a:tr h="256985">
                <a:tc>
                  <a:txBody>
                    <a:bodyPr/>
                    <a:lstStyle/>
                    <a:p>
                      <a:pPr algn="ctr" fontAlgn="b"/>
                      <a:r>
                        <a:rPr lang="en-US" altLang="zh-CN" sz="1200" b="0" i="0" u="none" strike="noStrike">
                          <a:solidFill>
                            <a:srgbClr val="000000"/>
                          </a:solidFill>
                          <a:effectLst/>
                          <a:latin typeface="+mn-ea"/>
                          <a:ea typeface="+mn-ea"/>
                        </a:rPr>
                        <a:t>8</a:t>
                      </a:r>
                    </a:p>
                  </a:txBody>
                  <a:tcPr marL="9525" marR="9525" marT="9525" marB="0" anchor="ctr"/>
                </a:tc>
                <a:tc>
                  <a:txBody>
                    <a:bodyPr/>
                    <a:lstStyle/>
                    <a:p>
                      <a:pPr algn="ctr" fontAlgn="b"/>
                      <a:r>
                        <a:rPr lang="zh-CN" altLang="en-US" sz="1200" b="0" i="0" u="none" strike="noStrike">
                          <a:solidFill>
                            <a:srgbClr val="000000"/>
                          </a:solidFill>
                          <a:effectLst/>
                          <a:latin typeface="+mn-ea"/>
                          <a:ea typeface="+mn-ea"/>
                        </a:rPr>
                        <a:t>首开集团</a:t>
                      </a:r>
                    </a:p>
                  </a:txBody>
                  <a:tcPr marL="9525" marR="9525" marT="9525" marB="0" anchor="ctr"/>
                </a:tc>
                <a:tc>
                  <a:txBody>
                    <a:bodyPr/>
                    <a:lstStyle/>
                    <a:p>
                      <a:pPr algn="ctr" fontAlgn="b"/>
                      <a:r>
                        <a:rPr lang="en-US" altLang="zh-CN" sz="1200" b="0" i="0" u="none" strike="noStrike">
                          <a:solidFill>
                            <a:srgbClr val="000000"/>
                          </a:solidFill>
                          <a:effectLst/>
                          <a:latin typeface="+mn-ea"/>
                          <a:ea typeface="+mn-ea"/>
                        </a:rPr>
                        <a:t>606</a:t>
                      </a:r>
                    </a:p>
                  </a:txBody>
                  <a:tcPr marL="9525" marR="9525" marT="9525" marB="0" anchor="ctr"/>
                </a:tc>
                <a:tc>
                  <a:txBody>
                    <a:bodyPr/>
                    <a:lstStyle/>
                    <a:p>
                      <a:pPr algn="ctr" fontAlgn="b"/>
                      <a:r>
                        <a:rPr lang="en-US" altLang="zh-CN" sz="1200" b="0" i="0" u="none" strike="noStrike">
                          <a:solidFill>
                            <a:srgbClr val="000000"/>
                          </a:solidFill>
                          <a:effectLst/>
                          <a:latin typeface="+mn-ea"/>
                          <a:ea typeface="+mn-ea"/>
                        </a:rPr>
                        <a:t>4.35</a:t>
                      </a:r>
                    </a:p>
                  </a:txBody>
                  <a:tcPr marL="9525" marR="9525" marT="9525" marB="0" anchor="ctr"/>
                </a:tc>
                <a:tc>
                  <a:txBody>
                    <a:bodyPr/>
                    <a:lstStyle/>
                    <a:p>
                      <a:pPr algn="ctr" fontAlgn="b"/>
                      <a:r>
                        <a:rPr lang="en-US" altLang="zh-CN" sz="1200" b="0" i="0" u="none" strike="noStrike">
                          <a:solidFill>
                            <a:srgbClr val="000000"/>
                          </a:solidFill>
                          <a:effectLst/>
                          <a:latin typeface="+mn-ea"/>
                          <a:ea typeface="+mn-ea"/>
                        </a:rPr>
                        <a:t>13.04</a:t>
                      </a:r>
                    </a:p>
                  </a:txBody>
                  <a:tcPr marL="9525" marR="9525" marT="9525" marB="0" anchor="ctr"/>
                </a:tc>
                <a:extLst>
                  <a:ext uri="{0D108BD9-81ED-4DB2-BD59-A6C34878D82A}">
                    <a16:rowId xmlns:a16="http://schemas.microsoft.com/office/drawing/2014/main" val="10008"/>
                  </a:ext>
                </a:extLst>
              </a:tr>
              <a:tr h="256985">
                <a:tc>
                  <a:txBody>
                    <a:bodyPr/>
                    <a:lstStyle/>
                    <a:p>
                      <a:pPr algn="ctr" fontAlgn="b"/>
                      <a:r>
                        <a:rPr lang="en-US" altLang="zh-CN" sz="1200" b="0" i="0" u="none" strike="noStrike">
                          <a:solidFill>
                            <a:srgbClr val="000000"/>
                          </a:solidFill>
                          <a:effectLst/>
                          <a:latin typeface="+mn-ea"/>
                          <a:ea typeface="+mn-ea"/>
                        </a:rPr>
                        <a:t>9</a:t>
                      </a:r>
                    </a:p>
                  </a:txBody>
                  <a:tcPr marL="9525" marR="9525" marT="9525" marB="0" anchor="ctr"/>
                </a:tc>
                <a:tc>
                  <a:txBody>
                    <a:bodyPr/>
                    <a:lstStyle/>
                    <a:p>
                      <a:pPr algn="ctr" fontAlgn="b"/>
                      <a:r>
                        <a:rPr lang="zh-CN" altLang="en-US" sz="1200" b="0" i="0" u="none" strike="noStrike">
                          <a:solidFill>
                            <a:srgbClr val="000000"/>
                          </a:solidFill>
                          <a:effectLst/>
                          <a:latin typeface="+mn-ea"/>
                          <a:ea typeface="+mn-ea"/>
                        </a:rPr>
                        <a:t>启迪控股</a:t>
                      </a:r>
                    </a:p>
                  </a:txBody>
                  <a:tcPr marL="9525" marR="9525" marT="9525" marB="0" anchor="ctr"/>
                </a:tc>
                <a:tc>
                  <a:txBody>
                    <a:bodyPr/>
                    <a:lstStyle/>
                    <a:p>
                      <a:pPr algn="ctr" fontAlgn="b"/>
                      <a:r>
                        <a:rPr lang="en-US" altLang="zh-CN" sz="1200" b="0" i="0" u="none" strike="noStrike">
                          <a:solidFill>
                            <a:srgbClr val="000000"/>
                          </a:solidFill>
                          <a:effectLst/>
                          <a:latin typeface="+mn-ea"/>
                          <a:ea typeface="+mn-ea"/>
                        </a:rPr>
                        <a:t>479</a:t>
                      </a:r>
                    </a:p>
                  </a:txBody>
                  <a:tcPr marL="9525" marR="9525" marT="9525" marB="0" anchor="ctr"/>
                </a:tc>
                <a:tc>
                  <a:txBody>
                    <a:bodyPr/>
                    <a:lstStyle/>
                    <a:p>
                      <a:pPr algn="ctr" fontAlgn="b"/>
                      <a:r>
                        <a:rPr lang="en-US" altLang="zh-CN" sz="1200" b="0" i="0" u="none" strike="noStrike">
                          <a:solidFill>
                            <a:srgbClr val="000000"/>
                          </a:solidFill>
                          <a:effectLst/>
                          <a:latin typeface="+mn-ea"/>
                          <a:ea typeface="+mn-ea"/>
                        </a:rPr>
                        <a:t>2.36</a:t>
                      </a:r>
                    </a:p>
                  </a:txBody>
                  <a:tcPr marL="9525" marR="9525" marT="9525" marB="0" anchor="ctr"/>
                </a:tc>
                <a:tc>
                  <a:txBody>
                    <a:bodyPr/>
                    <a:lstStyle/>
                    <a:p>
                      <a:pPr algn="ctr" fontAlgn="b"/>
                      <a:r>
                        <a:rPr lang="en-US" altLang="zh-CN" sz="1200" b="0" i="0" u="none" strike="noStrike">
                          <a:solidFill>
                            <a:srgbClr val="000000"/>
                          </a:solidFill>
                          <a:effectLst/>
                          <a:latin typeface="+mn-ea"/>
                          <a:ea typeface="+mn-ea"/>
                        </a:rPr>
                        <a:t>12.89</a:t>
                      </a:r>
                    </a:p>
                  </a:txBody>
                  <a:tcPr marL="9525" marR="9525" marT="9525" marB="0" anchor="ctr"/>
                </a:tc>
                <a:extLst>
                  <a:ext uri="{0D108BD9-81ED-4DB2-BD59-A6C34878D82A}">
                    <a16:rowId xmlns:a16="http://schemas.microsoft.com/office/drawing/2014/main" val="10009"/>
                  </a:ext>
                </a:extLst>
              </a:tr>
              <a:tr h="256985">
                <a:tc>
                  <a:txBody>
                    <a:bodyPr/>
                    <a:lstStyle/>
                    <a:p>
                      <a:pPr algn="ctr" fontAlgn="b"/>
                      <a:r>
                        <a:rPr lang="en-US" altLang="zh-CN" sz="1200" b="0" i="0" u="none" strike="noStrike">
                          <a:solidFill>
                            <a:srgbClr val="000000"/>
                          </a:solidFill>
                          <a:effectLst/>
                          <a:latin typeface="+mn-ea"/>
                          <a:ea typeface="+mn-ea"/>
                        </a:rPr>
                        <a:t>10</a:t>
                      </a:r>
                    </a:p>
                  </a:txBody>
                  <a:tcPr marL="9525" marR="9525" marT="9525" marB="0" anchor="ctr"/>
                </a:tc>
                <a:tc>
                  <a:txBody>
                    <a:bodyPr/>
                    <a:lstStyle/>
                    <a:p>
                      <a:pPr algn="ctr" fontAlgn="b"/>
                      <a:r>
                        <a:rPr lang="zh-CN" altLang="en-US" sz="1200" b="0" i="0" u="none" strike="noStrike">
                          <a:solidFill>
                            <a:srgbClr val="000000"/>
                          </a:solidFill>
                          <a:effectLst/>
                          <a:latin typeface="+mn-ea"/>
                          <a:ea typeface="+mn-ea"/>
                        </a:rPr>
                        <a:t>和裕地产</a:t>
                      </a:r>
                    </a:p>
                  </a:txBody>
                  <a:tcPr marL="9525" marR="9525" marT="9525" marB="0" anchor="ctr"/>
                </a:tc>
                <a:tc>
                  <a:txBody>
                    <a:bodyPr/>
                    <a:lstStyle/>
                    <a:p>
                      <a:pPr algn="ctr" fontAlgn="b"/>
                      <a:r>
                        <a:rPr lang="en-US" altLang="zh-CN" sz="1200" b="0" i="0" u="none" strike="noStrike">
                          <a:solidFill>
                            <a:srgbClr val="000000"/>
                          </a:solidFill>
                          <a:effectLst/>
                          <a:latin typeface="+mn-ea"/>
                          <a:ea typeface="+mn-ea"/>
                        </a:rPr>
                        <a:t>194</a:t>
                      </a:r>
                    </a:p>
                  </a:txBody>
                  <a:tcPr marL="9525" marR="9525" marT="9525" marB="0" anchor="ctr"/>
                </a:tc>
                <a:tc>
                  <a:txBody>
                    <a:bodyPr/>
                    <a:lstStyle/>
                    <a:p>
                      <a:pPr algn="ctr" fontAlgn="b"/>
                      <a:r>
                        <a:rPr lang="en-US" altLang="zh-CN" sz="1200" b="0" i="0" u="none" strike="noStrike">
                          <a:solidFill>
                            <a:srgbClr val="000000"/>
                          </a:solidFill>
                          <a:effectLst/>
                          <a:latin typeface="+mn-ea"/>
                          <a:ea typeface="+mn-ea"/>
                        </a:rPr>
                        <a:t>2.87</a:t>
                      </a:r>
                    </a:p>
                  </a:txBody>
                  <a:tcPr marL="9525" marR="9525" marT="9525" marB="0" anchor="ctr"/>
                </a:tc>
                <a:tc>
                  <a:txBody>
                    <a:bodyPr/>
                    <a:lstStyle/>
                    <a:p>
                      <a:pPr algn="ctr" fontAlgn="b"/>
                      <a:r>
                        <a:rPr lang="en-US" altLang="zh-CN" sz="1200" b="0" i="0" u="none" strike="noStrike">
                          <a:solidFill>
                            <a:srgbClr val="000000"/>
                          </a:solidFill>
                          <a:effectLst/>
                          <a:latin typeface="+mn-ea"/>
                          <a:ea typeface="+mn-ea"/>
                        </a:rPr>
                        <a:t>11.84</a:t>
                      </a:r>
                    </a:p>
                  </a:txBody>
                  <a:tcPr marL="9525" marR="9525" marT="9525" marB="0" anchor="ctr"/>
                </a:tc>
                <a:extLst>
                  <a:ext uri="{0D108BD9-81ED-4DB2-BD59-A6C34878D82A}">
                    <a16:rowId xmlns:a16="http://schemas.microsoft.com/office/drawing/2014/main" val="10010"/>
                  </a:ext>
                </a:extLst>
              </a:tr>
              <a:tr h="256985">
                <a:tc>
                  <a:txBody>
                    <a:bodyPr/>
                    <a:lstStyle/>
                    <a:p>
                      <a:pPr algn="ctr" fontAlgn="b"/>
                      <a:r>
                        <a:rPr lang="en-US" altLang="zh-CN" sz="1200" b="0" i="0" u="none" strike="noStrike">
                          <a:solidFill>
                            <a:srgbClr val="000000"/>
                          </a:solidFill>
                          <a:effectLst/>
                          <a:latin typeface="+mn-ea"/>
                          <a:ea typeface="+mn-ea"/>
                        </a:rPr>
                        <a:t>11</a:t>
                      </a:r>
                    </a:p>
                  </a:txBody>
                  <a:tcPr marL="9525" marR="9525" marT="9525" marB="0" anchor="ctr"/>
                </a:tc>
                <a:tc>
                  <a:txBody>
                    <a:bodyPr/>
                    <a:lstStyle/>
                    <a:p>
                      <a:pPr algn="ctr" fontAlgn="b"/>
                      <a:r>
                        <a:rPr lang="zh-CN" altLang="en-US" sz="1200" b="0" i="0" u="none" strike="noStrike">
                          <a:solidFill>
                            <a:srgbClr val="000000"/>
                          </a:solidFill>
                          <a:effectLst/>
                          <a:latin typeface="+mn-ea"/>
                          <a:ea typeface="+mn-ea"/>
                        </a:rPr>
                        <a:t>京投银泰</a:t>
                      </a:r>
                    </a:p>
                  </a:txBody>
                  <a:tcPr marL="9525" marR="9525" marT="9525" marB="0" anchor="ctr"/>
                </a:tc>
                <a:tc>
                  <a:txBody>
                    <a:bodyPr/>
                    <a:lstStyle/>
                    <a:p>
                      <a:pPr algn="ctr" fontAlgn="b"/>
                      <a:r>
                        <a:rPr lang="en-US" altLang="zh-CN" sz="1200" b="0" i="0" u="none" strike="noStrike">
                          <a:solidFill>
                            <a:srgbClr val="000000"/>
                          </a:solidFill>
                          <a:effectLst/>
                          <a:latin typeface="+mn-ea"/>
                          <a:ea typeface="+mn-ea"/>
                        </a:rPr>
                        <a:t>231</a:t>
                      </a:r>
                    </a:p>
                  </a:txBody>
                  <a:tcPr marL="9525" marR="9525" marT="9525" marB="0" anchor="ctr"/>
                </a:tc>
                <a:tc>
                  <a:txBody>
                    <a:bodyPr/>
                    <a:lstStyle/>
                    <a:p>
                      <a:pPr algn="ctr" fontAlgn="b"/>
                      <a:r>
                        <a:rPr lang="en-US" altLang="zh-CN" sz="1200" b="0" i="0" u="none" strike="noStrike">
                          <a:solidFill>
                            <a:srgbClr val="000000"/>
                          </a:solidFill>
                          <a:effectLst/>
                          <a:latin typeface="+mn-ea"/>
                          <a:ea typeface="+mn-ea"/>
                        </a:rPr>
                        <a:t>2.51</a:t>
                      </a:r>
                    </a:p>
                  </a:txBody>
                  <a:tcPr marL="9525" marR="9525" marT="9525" marB="0" anchor="ctr"/>
                </a:tc>
                <a:tc>
                  <a:txBody>
                    <a:bodyPr/>
                    <a:lstStyle/>
                    <a:p>
                      <a:pPr algn="ctr" fontAlgn="b"/>
                      <a:r>
                        <a:rPr lang="en-US" altLang="zh-CN" sz="1200" b="0" i="0" u="none" strike="noStrike">
                          <a:solidFill>
                            <a:srgbClr val="000000"/>
                          </a:solidFill>
                          <a:effectLst/>
                          <a:latin typeface="+mn-ea"/>
                          <a:ea typeface="+mn-ea"/>
                        </a:rPr>
                        <a:t>11.22</a:t>
                      </a:r>
                    </a:p>
                  </a:txBody>
                  <a:tcPr marL="9525" marR="9525" marT="9525" marB="0" anchor="ctr"/>
                </a:tc>
                <a:extLst>
                  <a:ext uri="{0D108BD9-81ED-4DB2-BD59-A6C34878D82A}">
                    <a16:rowId xmlns:a16="http://schemas.microsoft.com/office/drawing/2014/main" val="10011"/>
                  </a:ext>
                </a:extLst>
              </a:tr>
              <a:tr h="256985">
                <a:tc>
                  <a:txBody>
                    <a:bodyPr/>
                    <a:lstStyle/>
                    <a:p>
                      <a:pPr algn="ctr" fontAlgn="b"/>
                      <a:r>
                        <a:rPr lang="en-US" altLang="zh-CN" sz="1200" b="0" i="0" u="none" strike="noStrike">
                          <a:solidFill>
                            <a:srgbClr val="000000"/>
                          </a:solidFill>
                          <a:effectLst/>
                          <a:latin typeface="+mn-ea"/>
                          <a:ea typeface="+mn-ea"/>
                        </a:rPr>
                        <a:t>12</a:t>
                      </a:r>
                    </a:p>
                  </a:txBody>
                  <a:tcPr marL="9525" marR="9525" marT="9525" marB="0" anchor="ctr"/>
                </a:tc>
                <a:tc>
                  <a:txBody>
                    <a:bodyPr/>
                    <a:lstStyle/>
                    <a:p>
                      <a:pPr algn="ctr" fontAlgn="b"/>
                      <a:r>
                        <a:rPr lang="zh-CN" altLang="en-US" sz="1200" b="0" i="0" u="none" strike="noStrike">
                          <a:solidFill>
                            <a:srgbClr val="000000"/>
                          </a:solidFill>
                          <a:effectLst/>
                          <a:latin typeface="+mn-ea"/>
                          <a:ea typeface="+mn-ea"/>
                        </a:rPr>
                        <a:t>金地</a:t>
                      </a:r>
                      <a:r>
                        <a:rPr lang="en-US" altLang="zh-CN" sz="1200" b="0" i="0" u="none" strike="noStrike">
                          <a:solidFill>
                            <a:srgbClr val="000000"/>
                          </a:solidFill>
                          <a:effectLst/>
                          <a:latin typeface="+mn-ea"/>
                          <a:ea typeface="+mn-ea"/>
                        </a:rPr>
                        <a:t>/</a:t>
                      </a:r>
                      <a:r>
                        <a:rPr lang="zh-CN" altLang="en-US" sz="1200" b="0" i="0" u="none" strike="noStrike">
                          <a:solidFill>
                            <a:srgbClr val="000000"/>
                          </a:solidFill>
                          <a:effectLst/>
                          <a:latin typeface="+mn-ea"/>
                          <a:ea typeface="+mn-ea"/>
                        </a:rPr>
                        <a:t>旭辉</a:t>
                      </a:r>
                      <a:r>
                        <a:rPr lang="en-US" altLang="zh-CN" sz="1200" b="0" i="0" u="none" strike="noStrike">
                          <a:solidFill>
                            <a:srgbClr val="000000"/>
                          </a:solidFill>
                          <a:effectLst/>
                          <a:latin typeface="+mn-ea"/>
                          <a:ea typeface="+mn-ea"/>
                        </a:rPr>
                        <a:t>/</a:t>
                      </a:r>
                      <a:r>
                        <a:rPr lang="zh-CN" altLang="en-US" sz="1200" b="0" i="0" u="none" strike="noStrike">
                          <a:solidFill>
                            <a:srgbClr val="000000"/>
                          </a:solidFill>
                          <a:effectLst/>
                          <a:latin typeface="+mn-ea"/>
                          <a:ea typeface="+mn-ea"/>
                        </a:rPr>
                        <a:t>永同昌</a:t>
                      </a:r>
                    </a:p>
                  </a:txBody>
                  <a:tcPr marL="9525" marR="9525" marT="9525" marB="0" anchor="ctr"/>
                </a:tc>
                <a:tc>
                  <a:txBody>
                    <a:bodyPr/>
                    <a:lstStyle/>
                    <a:p>
                      <a:pPr algn="ctr" fontAlgn="b"/>
                      <a:r>
                        <a:rPr lang="en-US" altLang="zh-CN" sz="1200" b="0" i="0" u="none" strike="noStrike">
                          <a:solidFill>
                            <a:srgbClr val="000000"/>
                          </a:solidFill>
                          <a:effectLst/>
                          <a:latin typeface="+mn-ea"/>
                          <a:ea typeface="+mn-ea"/>
                        </a:rPr>
                        <a:t>803</a:t>
                      </a:r>
                    </a:p>
                  </a:txBody>
                  <a:tcPr marL="9525" marR="9525" marT="9525" marB="0" anchor="ctr"/>
                </a:tc>
                <a:tc>
                  <a:txBody>
                    <a:bodyPr/>
                    <a:lstStyle/>
                    <a:p>
                      <a:pPr algn="ctr" fontAlgn="b"/>
                      <a:r>
                        <a:rPr lang="en-US" altLang="zh-CN" sz="1200" b="0" i="0" u="none" strike="noStrike">
                          <a:solidFill>
                            <a:srgbClr val="000000"/>
                          </a:solidFill>
                          <a:effectLst/>
                          <a:latin typeface="+mn-ea"/>
                          <a:ea typeface="+mn-ea"/>
                        </a:rPr>
                        <a:t>3.93</a:t>
                      </a:r>
                    </a:p>
                  </a:txBody>
                  <a:tcPr marL="9525" marR="9525" marT="9525" marB="0" anchor="ctr"/>
                </a:tc>
                <a:tc>
                  <a:txBody>
                    <a:bodyPr/>
                    <a:lstStyle/>
                    <a:p>
                      <a:pPr algn="ctr" fontAlgn="b"/>
                      <a:r>
                        <a:rPr lang="en-US" altLang="zh-CN" sz="1200" b="0" i="0" u="none" strike="noStrike" dirty="0">
                          <a:solidFill>
                            <a:srgbClr val="000000"/>
                          </a:solidFill>
                          <a:effectLst/>
                          <a:latin typeface="+mn-ea"/>
                          <a:ea typeface="+mn-ea"/>
                        </a:rPr>
                        <a:t>10.60</a:t>
                      </a:r>
                    </a:p>
                  </a:txBody>
                  <a:tcPr marL="9525" marR="9525" marT="9525" marB="0" anchor="ctr"/>
                </a:tc>
                <a:extLst>
                  <a:ext uri="{0D108BD9-81ED-4DB2-BD59-A6C34878D82A}">
                    <a16:rowId xmlns:a16="http://schemas.microsoft.com/office/drawing/2014/main" val="10012"/>
                  </a:ext>
                </a:extLst>
              </a:tr>
              <a:tr h="256985">
                <a:tc>
                  <a:txBody>
                    <a:bodyPr/>
                    <a:lstStyle/>
                    <a:p>
                      <a:pPr algn="ctr" fontAlgn="b"/>
                      <a:r>
                        <a:rPr lang="en-US" altLang="zh-CN" sz="1200" b="0" i="0" u="none" strike="noStrike">
                          <a:solidFill>
                            <a:srgbClr val="000000"/>
                          </a:solidFill>
                          <a:effectLst/>
                          <a:latin typeface="+mn-ea"/>
                          <a:ea typeface="+mn-ea"/>
                        </a:rPr>
                        <a:t>13</a:t>
                      </a:r>
                    </a:p>
                  </a:txBody>
                  <a:tcPr marL="9525" marR="9525" marT="9525" marB="0" anchor="ctr"/>
                </a:tc>
                <a:tc>
                  <a:txBody>
                    <a:bodyPr/>
                    <a:lstStyle/>
                    <a:p>
                      <a:pPr algn="ctr" fontAlgn="b"/>
                      <a:r>
                        <a:rPr lang="zh-CN" altLang="en-US" sz="1200" b="0" i="0" u="none" strike="noStrike">
                          <a:solidFill>
                            <a:srgbClr val="000000"/>
                          </a:solidFill>
                          <a:effectLst/>
                          <a:latin typeface="+mn-ea"/>
                          <a:ea typeface="+mn-ea"/>
                        </a:rPr>
                        <a:t>顺天通集团</a:t>
                      </a:r>
                    </a:p>
                  </a:txBody>
                  <a:tcPr marL="9525" marR="9525" marT="9525" marB="0" anchor="ctr"/>
                </a:tc>
                <a:tc>
                  <a:txBody>
                    <a:bodyPr/>
                    <a:lstStyle/>
                    <a:p>
                      <a:pPr algn="ctr" fontAlgn="b"/>
                      <a:r>
                        <a:rPr lang="en-US" altLang="zh-CN" sz="1200" b="0" i="0" u="none" strike="noStrike">
                          <a:solidFill>
                            <a:srgbClr val="000000"/>
                          </a:solidFill>
                          <a:effectLst/>
                          <a:latin typeface="+mn-ea"/>
                          <a:ea typeface="+mn-ea"/>
                        </a:rPr>
                        <a:t>449</a:t>
                      </a:r>
                    </a:p>
                  </a:txBody>
                  <a:tcPr marL="9525" marR="9525" marT="9525" marB="0" anchor="ctr"/>
                </a:tc>
                <a:tc>
                  <a:txBody>
                    <a:bodyPr/>
                    <a:lstStyle/>
                    <a:p>
                      <a:pPr algn="ctr" fontAlgn="b"/>
                      <a:r>
                        <a:rPr lang="en-US" altLang="zh-CN" sz="1200" b="0" i="0" u="none" strike="noStrike">
                          <a:solidFill>
                            <a:srgbClr val="000000"/>
                          </a:solidFill>
                          <a:effectLst/>
                          <a:latin typeface="+mn-ea"/>
                          <a:ea typeface="+mn-ea"/>
                        </a:rPr>
                        <a:t>5.16</a:t>
                      </a:r>
                    </a:p>
                  </a:txBody>
                  <a:tcPr marL="9525" marR="9525" marT="9525" marB="0" anchor="ctr"/>
                </a:tc>
                <a:tc>
                  <a:txBody>
                    <a:bodyPr/>
                    <a:lstStyle/>
                    <a:p>
                      <a:pPr algn="ctr" fontAlgn="b"/>
                      <a:r>
                        <a:rPr lang="en-US" altLang="zh-CN" sz="1200" b="0" i="0" u="none" strike="noStrike">
                          <a:solidFill>
                            <a:srgbClr val="000000"/>
                          </a:solidFill>
                          <a:effectLst/>
                          <a:latin typeface="+mn-ea"/>
                          <a:ea typeface="+mn-ea"/>
                        </a:rPr>
                        <a:t>10.13</a:t>
                      </a:r>
                    </a:p>
                  </a:txBody>
                  <a:tcPr marL="9525" marR="9525" marT="9525" marB="0" anchor="ctr"/>
                </a:tc>
                <a:extLst>
                  <a:ext uri="{0D108BD9-81ED-4DB2-BD59-A6C34878D82A}">
                    <a16:rowId xmlns:a16="http://schemas.microsoft.com/office/drawing/2014/main" val="10013"/>
                  </a:ext>
                </a:extLst>
              </a:tr>
              <a:tr h="256985">
                <a:tc>
                  <a:txBody>
                    <a:bodyPr/>
                    <a:lstStyle/>
                    <a:p>
                      <a:pPr algn="ctr" fontAlgn="b"/>
                      <a:r>
                        <a:rPr lang="en-US" altLang="zh-CN" sz="1200" b="0" i="0" u="none" strike="noStrike">
                          <a:solidFill>
                            <a:srgbClr val="000000"/>
                          </a:solidFill>
                          <a:effectLst/>
                          <a:latin typeface="+mn-ea"/>
                          <a:ea typeface="+mn-ea"/>
                        </a:rPr>
                        <a:t>14</a:t>
                      </a:r>
                    </a:p>
                  </a:txBody>
                  <a:tcPr marL="9525" marR="9525" marT="9525" marB="0" anchor="ctr"/>
                </a:tc>
                <a:tc>
                  <a:txBody>
                    <a:bodyPr/>
                    <a:lstStyle/>
                    <a:p>
                      <a:pPr algn="ctr" fontAlgn="b"/>
                      <a:r>
                        <a:rPr lang="zh-CN" altLang="en-US" sz="1200" b="0" i="0" u="none" strike="noStrike">
                          <a:solidFill>
                            <a:srgbClr val="000000"/>
                          </a:solidFill>
                          <a:effectLst/>
                          <a:latin typeface="+mn-ea"/>
                          <a:ea typeface="+mn-ea"/>
                        </a:rPr>
                        <a:t>富力地产</a:t>
                      </a:r>
                    </a:p>
                  </a:txBody>
                  <a:tcPr marL="9525" marR="9525" marT="9525" marB="0" anchor="ctr"/>
                </a:tc>
                <a:tc>
                  <a:txBody>
                    <a:bodyPr/>
                    <a:lstStyle/>
                    <a:p>
                      <a:pPr algn="ctr" fontAlgn="b"/>
                      <a:r>
                        <a:rPr lang="en-US" altLang="zh-CN" sz="1200" b="0" i="0" u="none" strike="noStrike">
                          <a:solidFill>
                            <a:srgbClr val="000000"/>
                          </a:solidFill>
                          <a:effectLst/>
                          <a:latin typeface="+mn-ea"/>
                          <a:ea typeface="+mn-ea"/>
                        </a:rPr>
                        <a:t>270</a:t>
                      </a:r>
                    </a:p>
                  </a:txBody>
                  <a:tcPr marL="9525" marR="9525" marT="9525" marB="0" anchor="ctr"/>
                </a:tc>
                <a:tc>
                  <a:txBody>
                    <a:bodyPr/>
                    <a:lstStyle/>
                    <a:p>
                      <a:pPr algn="ctr" fontAlgn="b"/>
                      <a:r>
                        <a:rPr lang="en-US" altLang="zh-CN" sz="1200" b="0" i="0" u="none" strike="noStrike">
                          <a:solidFill>
                            <a:srgbClr val="000000"/>
                          </a:solidFill>
                          <a:effectLst/>
                          <a:latin typeface="+mn-ea"/>
                          <a:ea typeface="+mn-ea"/>
                        </a:rPr>
                        <a:t>2.39</a:t>
                      </a:r>
                    </a:p>
                  </a:txBody>
                  <a:tcPr marL="9525" marR="9525" marT="9525" marB="0" anchor="ctr"/>
                </a:tc>
                <a:tc>
                  <a:txBody>
                    <a:bodyPr/>
                    <a:lstStyle/>
                    <a:p>
                      <a:pPr algn="ctr" fontAlgn="b"/>
                      <a:r>
                        <a:rPr lang="en-US" altLang="zh-CN" sz="1200" b="0" i="0" u="none" strike="noStrike">
                          <a:solidFill>
                            <a:srgbClr val="000000"/>
                          </a:solidFill>
                          <a:effectLst/>
                          <a:latin typeface="+mn-ea"/>
                          <a:ea typeface="+mn-ea"/>
                        </a:rPr>
                        <a:t>10.06</a:t>
                      </a:r>
                    </a:p>
                  </a:txBody>
                  <a:tcPr marL="9525" marR="9525" marT="9525" marB="0" anchor="ctr"/>
                </a:tc>
                <a:extLst>
                  <a:ext uri="{0D108BD9-81ED-4DB2-BD59-A6C34878D82A}">
                    <a16:rowId xmlns:a16="http://schemas.microsoft.com/office/drawing/2014/main" val="10014"/>
                  </a:ext>
                </a:extLst>
              </a:tr>
              <a:tr h="256985">
                <a:tc>
                  <a:txBody>
                    <a:bodyPr/>
                    <a:lstStyle/>
                    <a:p>
                      <a:pPr algn="ctr" fontAlgn="b"/>
                      <a:r>
                        <a:rPr lang="en-US" altLang="zh-CN" sz="1200" b="0" i="0" u="none" strike="noStrike">
                          <a:solidFill>
                            <a:srgbClr val="000000"/>
                          </a:solidFill>
                          <a:effectLst/>
                          <a:latin typeface="+mn-ea"/>
                          <a:ea typeface="+mn-ea"/>
                        </a:rPr>
                        <a:t>15</a:t>
                      </a:r>
                    </a:p>
                  </a:txBody>
                  <a:tcPr marL="9525" marR="9525" marT="9525" marB="0" anchor="ctr"/>
                </a:tc>
                <a:tc>
                  <a:txBody>
                    <a:bodyPr/>
                    <a:lstStyle/>
                    <a:p>
                      <a:pPr algn="ctr" fontAlgn="b"/>
                      <a:r>
                        <a:rPr lang="zh-CN" altLang="en-US" sz="1200" b="0" i="0" u="none" strike="noStrike">
                          <a:solidFill>
                            <a:srgbClr val="000000"/>
                          </a:solidFill>
                          <a:effectLst/>
                          <a:latin typeface="+mn-ea"/>
                          <a:ea typeface="+mn-ea"/>
                        </a:rPr>
                        <a:t>首创置业</a:t>
                      </a:r>
                    </a:p>
                  </a:txBody>
                  <a:tcPr marL="9525" marR="9525" marT="9525" marB="0" anchor="ctr"/>
                </a:tc>
                <a:tc>
                  <a:txBody>
                    <a:bodyPr/>
                    <a:lstStyle/>
                    <a:p>
                      <a:pPr algn="ctr" fontAlgn="b"/>
                      <a:r>
                        <a:rPr lang="en-US" altLang="zh-CN" sz="1200" b="0" i="0" u="none" strike="noStrike">
                          <a:solidFill>
                            <a:srgbClr val="000000"/>
                          </a:solidFill>
                          <a:effectLst/>
                          <a:latin typeface="+mn-ea"/>
                          <a:ea typeface="+mn-ea"/>
                        </a:rPr>
                        <a:t>200</a:t>
                      </a:r>
                    </a:p>
                  </a:txBody>
                  <a:tcPr marL="9525" marR="9525" marT="9525" marB="0" anchor="ctr"/>
                </a:tc>
                <a:tc>
                  <a:txBody>
                    <a:bodyPr/>
                    <a:lstStyle/>
                    <a:p>
                      <a:pPr algn="ctr" fontAlgn="b"/>
                      <a:r>
                        <a:rPr lang="en-US" altLang="zh-CN" sz="1200" b="0" i="0" u="none" strike="noStrike">
                          <a:solidFill>
                            <a:srgbClr val="000000"/>
                          </a:solidFill>
                          <a:effectLst/>
                          <a:latin typeface="+mn-ea"/>
                          <a:ea typeface="+mn-ea"/>
                        </a:rPr>
                        <a:t>2.76</a:t>
                      </a:r>
                    </a:p>
                  </a:txBody>
                  <a:tcPr marL="9525" marR="9525" marT="9525" marB="0" anchor="ctr"/>
                </a:tc>
                <a:tc>
                  <a:txBody>
                    <a:bodyPr/>
                    <a:lstStyle/>
                    <a:p>
                      <a:pPr algn="ctr" fontAlgn="b"/>
                      <a:r>
                        <a:rPr lang="en-US" altLang="zh-CN" sz="1200" b="0" i="0" u="none" strike="noStrike" dirty="0">
                          <a:solidFill>
                            <a:srgbClr val="000000"/>
                          </a:solidFill>
                          <a:effectLst/>
                          <a:latin typeface="+mn-ea"/>
                          <a:ea typeface="+mn-ea"/>
                        </a:rPr>
                        <a:t>9.75</a:t>
                      </a:r>
                    </a:p>
                  </a:txBody>
                  <a:tcPr marL="9525" marR="9525" marT="9525" marB="0" anchor="ctr"/>
                </a:tc>
                <a:extLst>
                  <a:ext uri="{0D108BD9-81ED-4DB2-BD59-A6C34878D82A}">
                    <a16:rowId xmlns:a16="http://schemas.microsoft.com/office/drawing/2014/main" val="10015"/>
                  </a:ext>
                </a:extLst>
              </a:tr>
            </a:tbl>
          </a:graphicData>
        </a:graphic>
      </p:graphicFrame>
      <p:graphicFrame>
        <p:nvGraphicFramePr>
          <p:cNvPr id="7" name="表格 6"/>
          <p:cNvGraphicFramePr>
            <a:graphicFrameLocks noGrp="1"/>
          </p:cNvGraphicFramePr>
          <p:nvPr>
            <p:extLst>
              <p:ext uri="{D42A27DB-BD31-4B8C-83A1-F6EECF244321}">
                <p14:modId xmlns:p14="http://schemas.microsoft.com/office/powerpoint/2010/main" val="1246682622"/>
              </p:ext>
            </p:extLst>
          </p:nvPr>
        </p:nvGraphicFramePr>
        <p:xfrm>
          <a:off x="4682138" y="1933011"/>
          <a:ext cx="4370119" cy="4356019"/>
        </p:xfrm>
        <a:graphic>
          <a:graphicData uri="http://schemas.openxmlformats.org/drawingml/2006/table">
            <a:tbl>
              <a:tblPr>
                <a:tableStyleId>{5C22544A-7EE6-4342-B048-85BDC9FD1C3A}</a:tableStyleId>
              </a:tblPr>
              <a:tblGrid>
                <a:gridCol w="344384">
                  <a:extLst>
                    <a:ext uri="{9D8B030D-6E8A-4147-A177-3AD203B41FA5}">
                      <a16:colId xmlns:a16="http://schemas.microsoft.com/office/drawing/2014/main" val="20000"/>
                    </a:ext>
                  </a:extLst>
                </a:gridCol>
                <a:gridCol w="1166816">
                  <a:extLst>
                    <a:ext uri="{9D8B030D-6E8A-4147-A177-3AD203B41FA5}">
                      <a16:colId xmlns:a16="http://schemas.microsoft.com/office/drawing/2014/main" val="20001"/>
                    </a:ext>
                  </a:extLst>
                </a:gridCol>
                <a:gridCol w="851458">
                  <a:extLst>
                    <a:ext uri="{9D8B030D-6E8A-4147-A177-3AD203B41FA5}">
                      <a16:colId xmlns:a16="http://schemas.microsoft.com/office/drawing/2014/main" val="20002"/>
                    </a:ext>
                  </a:extLst>
                </a:gridCol>
                <a:gridCol w="960413">
                  <a:extLst>
                    <a:ext uri="{9D8B030D-6E8A-4147-A177-3AD203B41FA5}">
                      <a16:colId xmlns:a16="http://schemas.microsoft.com/office/drawing/2014/main" val="20003"/>
                    </a:ext>
                  </a:extLst>
                </a:gridCol>
                <a:gridCol w="1047048">
                  <a:extLst>
                    <a:ext uri="{9D8B030D-6E8A-4147-A177-3AD203B41FA5}">
                      <a16:colId xmlns:a16="http://schemas.microsoft.com/office/drawing/2014/main" val="20004"/>
                    </a:ext>
                  </a:extLst>
                </a:gridCol>
              </a:tblGrid>
              <a:tr h="500284">
                <a:tc>
                  <a:txBody>
                    <a:bodyPr/>
                    <a:lstStyle/>
                    <a:p>
                      <a:pPr algn="ctr" fontAlgn="b"/>
                      <a:r>
                        <a:rPr lang="en-US" sz="1200" b="1" u="none" strike="noStrike" dirty="0">
                          <a:solidFill>
                            <a:schemeClr val="bg1"/>
                          </a:solidFill>
                          <a:effectLst/>
                          <a:latin typeface="+mn-ea"/>
                          <a:ea typeface="+mn-ea"/>
                        </a:rPr>
                        <a:t>No.</a:t>
                      </a:r>
                      <a:endParaRPr lang="en-US" sz="1200" b="1" i="0" u="none" strike="noStrike" dirty="0">
                        <a:solidFill>
                          <a:schemeClr val="bg1"/>
                        </a:solidFill>
                        <a:effectLst/>
                        <a:latin typeface="+mn-ea"/>
                        <a:ea typeface="+mn-ea"/>
                      </a:endParaRPr>
                    </a:p>
                  </a:txBody>
                  <a:tcPr marL="9525" marR="9525" marT="9525" marB="0" anchor="ctr">
                    <a:solidFill>
                      <a:srgbClr val="006EC7"/>
                    </a:solidFill>
                  </a:tcPr>
                </a:tc>
                <a:tc>
                  <a:txBody>
                    <a:bodyPr/>
                    <a:lstStyle/>
                    <a:p>
                      <a:pPr algn="ctr" fontAlgn="b"/>
                      <a:r>
                        <a:rPr lang="zh-CN" altLang="en-US" sz="1200" b="1" u="none" strike="noStrike">
                          <a:solidFill>
                            <a:schemeClr val="bg1"/>
                          </a:solidFill>
                          <a:effectLst/>
                          <a:latin typeface="+mn-ea"/>
                          <a:ea typeface="+mn-ea"/>
                        </a:rPr>
                        <a:t>品牌企业名称</a:t>
                      </a:r>
                      <a:endParaRPr lang="zh-CN" altLang="en-US" sz="1200" b="1" i="0" u="none" strike="noStrike">
                        <a:solidFill>
                          <a:schemeClr val="bg1"/>
                        </a:solidFill>
                        <a:effectLst/>
                        <a:latin typeface="+mn-ea"/>
                        <a:ea typeface="+mn-ea"/>
                      </a:endParaRPr>
                    </a:p>
                  </a:txBody>
                  <a:tcPr marL="9525" marR="9525" marT="9525" marB="0" anchor="ctr">
                    <a:solidFill>
                      <a:srgbClr val="006EC7"/>
                    </a:solidFill>
                  </a:tcPr>
                </a:tc>
                <a:tc>
                  <a:txBody>
                    <a:bodyPr/>
                    <a:lstStyle/>
                    <a:p>
                      <a:pPr algn="ctr" fontAlgn="b"/>
                      <a:r>
                        <a:rPr lang="zh-CN" altLang="en-US" sz="1200" b="1" u="none" strike="noStrike" dirty="0">
                          <a:solidFill>
                            <a:schemeClr val="bg1"/>
                          </a:solidFill>
                          <a:effectLst/>
                          <a:latin typeface="+mn-ea"/>
                          <a:ea typeface="+mn-ea"/>
                        </a:rPr>
                        <a:t>成交套数</a:t>
                      </a:r>
                      <a:endParaRPr lang="zh-CN" altLang="en-US" sz="1200" b="1" i="0" u="none" strike="noStrike" dirty="0">
                        <a:solidFill>
                          <a:schemeClr val="bg1"/>
                        </a:solidFill>
                        <a:effectLst/>
                        <a:latin typeface="+mn-ea"/>
                        <a:ea typeface="+mn-ea"/>
                      </a:endParaRPr>
                    </a:p>
                  </a:txBody>
                  <a:tcPr marL="9525" marR="9525" marT="9525" marB="0" anchor="ctr">
                    <a:solidFill>
                      <a:srgbClr val="006EC7"/>
                    </a:solidFill>
                  </a:tcPr>
                </a:tc>
                <a:tc>
                  <a:txBody>
                    <a:bodyPr/>
                    <a:lstStyle/>
                    <a:p>
                      <a:pPr algn="ctr" fontAlgn="b"/>
                      <a:r>
                        <a:rPr lang="zh-CN" altLang="en-US" sz="1200" b="1" u="none" strike="noStrike" dirty="0">
                          <a:solidFill>
                            <a:schemeClr val="bg1"/>
                          </a:solidFill>
                          <a:effectLst/>
                          <a:latin typeface="+mn-ea"/>
                          <a:ea typeface="+mn-ea"/>
                        </a:rPr>
                        <a:t>成交面积</a:t>
                      </a:r>
                      <a:endParaRPr lang="en-US" altLang="zh-CN" sz="1200" b="1" u="none" strike="noStrike" dirty="0">
                        <a:solidFill>
                          <a:schemeClr val="bg1"/>
                        </a:solidFill>
                        <a:effectLst/>
                        <a:latin typeface="+mn-ea"/>
                        <a:ea typeface="+mn-ea"/>
                      </a:endParaRPr>
                    </a:p>
                    <a:p>
                      <a:pPr algn="ctr" fontAlgn="b"/>
                      <a:r>
                        <a:rPr lang="en-US" altLang="zh-CN" sz="1200" b="1" u="none" strike="noStrike" dirty="0">
                          <a:solidFill>
                            <a:schemeClr val="bg1"/>
                          </a:solidFill>
                          <a:effectLst/>
                          <a:latin typeface="+mn-ea"/>
                          <a:ea typeface="+mn-ea"/>
                        </a:rPr>
                        <a:t>(</a:t>
                      </a:r>
                      <a:r>
                        <a:rPr lang="zh-CN" altLang="en-US" sz="1200" b="1" u="none" strike="noStrike" dirty="0">
                          <a:solidFill>
                            <a:schemeClr val="bg1"/>
                          </a:solidFill>
                          <a:effectLst/>
                          <a:latin typeface="+mn-ea"/>
                          <a:ea typeface="+mn-ea"/>
                        </a:rPr>
                        <a:t>万㎡</a:t>
                      </a:r>
                      <a:r>
                        <a:rPr lang="en-US" altLang="zh-CN" sz="1200" b="1" u="none" strike="noStrike" dirty="0">
                          <a:solidFill>
                            <a:schemeClr val="bg1"/>
                          </a:solidFill>
                          <a:effectLst/>
                          <a:latin typeface="+mn-ea"/>
                          <a:ea typeface="+mn-ea"/>
                        </a:rPr>
                        <a:t>)</a:t>
                      </a:r>
                      <a:endParaRPr lang="en-US" altLang="zh-CN" sz="1200" b="1" i="0" u="none" strike="noStrike" dirty="0">
                        <a:solidFill>
                          <a:schemeClr val="bg1"/>
                        </a:solidFill>
                        <a:effectLst/>
                        <a:latin typeface="+mn-ea"/>
                        <a:ea typeface="+mn-ea"/>
                      </a:endParaRPr>
                    </a:p>
                  </a:txBody>
                  <a:tcPr marL="9525" marR="9525" marT="9525" marB="0" anchor="ctr">
                    <a:solidFill>
                      <a:srgbClr val="006EC7"/>
                    </a:solidFill>
                  </a:tcPr>
                </a:tc>
                <a:tc>
                  <a:txBody>
                    <a:bodyPr/>
                    <a:lstStyle/>
                    <a:p>
                      <a:pPr algn="ctr" fontAlgn="b"/>
                      <a:r>
                        <a:rPr lang="zh-CN" altLang="en-US" sz="1200" b="1" u="none" strike="noStrike" dirty="0">
                          <a:solidFill>
                            <a:schemeClr val="bg1"/>
                          </a:solidFill>
                          <a:effectLst/>
                          <a:latin typeface="+mn-ea"/>
                          <a:ea typeface="+mn-ea"/>
                        </a:rPr>
                        <a:t>成交金额</a:t>
                      </a:r>
                      <a:endParaRPr lang="en-US" altLang="zh-CN" sz="1200" b="1" u="none" strike="noStrike" dirty="0">
                        <a:solidFill>
                          <a:schemeClr val="bg1"/>
                        </a:solidFill>
                        <a:effectLst/>
                        <a:latin typeface="+mn-ea"/>
                        <a:ea typeface="+mn-ea"/>
                      </a:endParaRPr>
                    </a:p>
                    <a:p>
                      <a:pPr algn="ctr" fontAlgn="b"/>
                      <a:r>
                        <a:rPr lang="en-US" altLang="zh-CN" sz="1200" b="1" u="none" strike="noStrike" dirty="0">
                          <a:solidFill>
                            <a:schemeClr val="bg1"/>
                          </a:solidFill>
                          <a:effectLst/>
                          <a:latin typeface="+mn-ea"/>
                          <a:ea typeface="+mn-ea"/>
                        </a:rPr>
                        <a:t>(</a:t>
                      </a:r>
                      <a:r>
                        <a:rPr lang="zh-CN" altLang="en-US" sz="1200" b="1" u="none" strike="noStrike" dirty="0">
                          <a:solidFill>
                            <a:schemeClr val="bg1"/>
                          </a:solidFill>
                          <a:effectLst/>
                          <a:latin typeface="+mn-ea"/>
                          <a:ea typeface="+mn-ea"/>
                        </a:rPr>
                        <a:t>亿元</a:t>
                      </a:r>
                      <a:r>
                        <a:rPr lang="en-US" altLang="zh-CN" sz="1200" b="1" u="none" strike="noStrike" dirty="0">
                          <a:solidFill>
                            <a:schemeClr val="bg1"/>
                          </a:solidFill>
                          <a:effectLst/>
                          <a:latin typeface="+mn-ea"/>
                          <a:ea typeface="+mn-ea"/>
                        </a:rPr>
                        <a:t>)</a:t>
                      </a:r>
                      <a:endParaRPr lang="en-US" altLang="zh-CN" sz="1200" b="1" i="0" u="none" strike="noStrike" dirty="0">
                        <a:solidFill>
                          <a:schemeClr val="bg1"/>
                        </a:solidFill>
                        <a:effectLst/>
                        <a:latin typeface="+mn-ea"/>
                        <a:ea typeface="+mn-ea"/>
                      </a:endParaRPr>
                    </a:p>
                  </a:txBody>
                  <a:tcPr marL="9525" marR="9525" marT="9525" marB="0" anchor="ctr">
                    <a:solidFill>
                      <a:srgbClr val="006EC7"/>
                    </a:solidFill>
                  </a:tcPr>
                </a:tc>
                <a:extLst>
                  <a:ext uri="{0D108BD9-81ED-4DB2-BD59-A6C34878D82A}">
                    <a16:rowId xmlns:a16="http://schemas.microsoft.com/office/drawing/2014/main" val="10000"/>
                  </a:ext>
                </a:extLst>
              </a:tr>
              <a:tr h="257049">
                <a:tc>
                  <a:txBody>
                    <a:bodyPr/>
                    <a:lstStyle/>
                    <a:p>
                      <a:pPr algn="ctr" fontAlgn="b"/>
                      <a:r>
                        <a:rPr lang="en-US" altLang="zh-CN" sz="1200" b="0" i="0" u="none" strike="noStrike">
                          <a:solidFill>
                            <a:srgbClr val="000000"/>
                          </a:solidFill>
                          <a:effectLst/>
                          <a:latin typeface="+mn-ea"/>
                          <a:ea typeface="+mn-ea"/>
                        </a:rPr>
                        <a:t>1</a:t>
                      </a:r>
                    </a:p>
                  </a:txBody>
                  <a:tcPr marL="9525" marR="9525" marT="9525" marB="0" anchor="b"/>
                </a:tc>
                <a:tc>
                  <a:txBody>
                    <a:bodyPr/>
                    <a:lstStyle/>
                    <a:p>
                      <a:pPr algn="ctr" fontAlgn="b"/>
                      <a:r>
                        <a:rPr lang="zh-CN" altLang="en-US" sz="1200" b="0" i="0" u="none" strike="noStrike">
                          <a:solidFill>
                            <a:srgbClr val="000000"/>
                          </a:solidFill>
                          <a:effectLst/>
                          <a:latin typeface="+mn-ea"/>
                          <a:ea typeface="+mn-ea"/>
                        </a:rPr>
                        <a:t>和裕地产</a:t>
                      </a:r>
                    </a:p>
                  </a:txBody>
                  <a:tcPr marL="9525" marR="9525" marT="9525" marB="0" anchor="b"/>
                </a:tc>
                <a:tc>
                  <a:txBody>
                    <a:bodyPr/>
                    <a:lstStyle/>
                    <a:p>
                      <a:pPr algn="ctr" fontAlgn="b"/>
                      <a:r>
                        <a:rPr lang="en-US" altLang="zh-CN" sz="1200" b="0" i="0" u="none" strike="noStrike">
                          <a:solidFill>
                            <a:srgbClr val="000000"/>
                          </a:solidFill>
                          <a:effectLst/>
                          <a:latin typeface="+mn-ea"/>
                          <a:ea typeface="+mn-ea"/>
                        </a:rPr>
                        <a:t>3244</a:t>
                      </a:r>
                    </a:p>
                  </a:txBody>
                  <a:tcPr marL="9525" marR="9525" marT="9525" marB="0" anchor="b"/>
                </a:tc>
                <a:tc>
                  <a:txBody>
                    <a:bodyPr/>
                    <a:lstStyle/>
                    <a:p>
                      <a:pPr algn="ctr" fontAlgn="b"/>
                      <a:r>
                        <a:rPr lang="en-US" altLang="zh-CN" sz="1200" b="0" i="0" u="none" strike="noStrike">
                          <a:solidFill>
                            <a:srgbClr val="000000"/>
                          </a:solidFill>
                          <a:effectLst/>
                          <a:latin typeface="+mn-ea"/>
                          <a:ea typeface="+mn-ea"/>
                        </a:rPr>
                        <a:t>55.31</a:t>
                      </a:r>
                    </a:p>
                  </a:txBody>
                  <a:tcPr marL="9525" marR="9525" marT="9525" marB="0" anchor="b"/>
                </a:tc>
                <a:tc>
                  <a:txBody>
                    <a:bodyPr/>
                    <a:lstStyle/>
                    <a:p>
                      <a:pPr algn="ctr" fontAlgn="b"/>
                      <a:r>
                        <a:rPr lang="en-US" altLang="zh-CN" sz="1200" b="0" i="0" u="none" strike="noStrike">
                          <a:solidFill>
                            <a:srgbClr val="000000"/>
                          </a:solidFill>
                          <a:effectLst/>
                          <a:latin typeface="+mn-ea"/>
                          <a:ea typeface="+mn-ea"/>
                        </a:rPr>
                        <a:t>151.67</a:t>
                      </a:r>
                    </a:p>
                  </a:txBody>
                  <a:tcPr marL="9525" marR="9525" marT="9525" marB="0" anchor="b"/>
                </a:tc>
                <a:extLst>
                  <a:ext uri="{0D108BD9-81ED-4DB2-BD59-A6C34878D82A}">
                    <a16:rowId xmlns:a16="http://schemas.microsoft.com/office/drawing/2014/main" val="10001"/>
                  </a:ext>
                </a:extLst>
              </a:tr>
              <a:tr h="257049">
                <a:tc>
                  <a:txBody>
                    <a:bodyPr/>
                    <a:lstStyle/>
                    <a:p>
                      <a:pPr algn="ctr" fontAlgn="b"/>
                      <a:r>
                        <a:rPr lang="en-US" altLang="zh-CN" sz="1200" b="0" i="0" u="none" strike="noStrike">
                          <a:solidFill>
                            <a:srgbClr val="000000"/>
                          </a:solidFill>
                          <a:effectLst/>
                          <a:latin typeface="+mn-ea"/>
                          <a:ea typeface="+mn-ea"/>
                        </a:rPr>
                        <a:t>2</a:t>
                      </a:r>
                    </a:p>
                  </a:txBody>
                  <a:tcPr marL="9525" marR="9525" marT="9525" marB="0" anchor="b"/>
                </a:tc>
                <a:tc>
                  <a:txBody>
                    <a:bodyPr/>
                    <a:lstStyle/>
                    <a:p>
                      <a:pPr algn="ctr" fontAlgn="b"/>
                      <a:r>
                        <a:rPr lang="zh-CN" altLang="en-US" sz="1200" b="0" i="0" u="none" strike="noStrike">
                          <a:solidFill>
                            <a:srgbClr val="000000"/>
                          </a:solidFill>
                          <a:effectLst/>
                          <a:latin typeface="+mn-ea"/>
                          <a:ea typeface="+mn-ea"/>
                        </a:rPr>
                        <a:t>首开集团</a:t>
                      </a:r>
                    </a:p>
                  </a:txBody>
                  <a:tcPr marL="9525" marR="9525" marT="9525" marB="0" anchor="b"/>
                </a:tc>
                <a:tc>
                  <a:txBody>
                    <a:bodyPr/>
                    <a:lstStyle/>
                    <a:p>
                      <a:pPr algn="ctr" fontAlgn="b"/>
                      <a:r>
                        <a:rPr lang="en-US" altLang="zh-CN" sz="1200" b="0" i="0" u="none" strike="noStrike">
                          <a:solidFill>
                            <a:srgbClr val="000000"/>
                          </a:solidFill>
                          <a:effectLst/>
                          <a:latin typeface="+mn-ea"/>
                          <a:ea typeface="+mn-ea"/>
                        </a:rPr>
                        <a:t>3992</a:t>
                      </a:r>
                    </a:p>
                  </a:txBody>
                  <a:tcPr marL="9525" marR="9525" marT="9525" marB="0" anchor="b"/>
                </a:tc>
                <a:tc>
                  <a:txBody>
                    <a:bodyPr/>
                    <a:lstStyle/>
                    <a:p>
                      <a:pPr algn="ctr" fontAlgn="b"/>
                      <a:r>
                        <a:rPr lang="en-US" altLang="zh-CN" sz="1200" b="0" i="0" u="none" strike="noStrike">
                          <a:solidFill>
                            <a:srgbClr val="000000"/>
                          </a:solidFill>
                          <a:effectLst/>
                          <a:latin typeface="+mn-ea"/>
                          <a:ea typeface="+mn-ea"/>
                        </a:rPr>
                        <a:t>37.55</a:t>
                      </a:r>
                    </a:p>
                  </a:txBody>
                  <a:tcPr marL="9525" marR="9525" marT="9525" marB="0" anchor="b"/>
                </a:tc>
                <a:tc>
                  <a:txBody>
                    <a:bodyPr/>
                    <a:lstStyle/>
                    <a:p>
                      <a:pPr algn="ctr" fontAlgn="b"/>
                      <a:r>
                        <a:rPr lang="en-US" altLang="zh-CN" sz="1200" b="0" i="0" u="none" strike="noStrike">
                          <a:solidFill>
                            <a:srgbClr val="000000"/>
                          </a:solidFill>
                          <a:effectLst/>
                          <a:latin typeface="+mn-ea"/>
                          <a:ea typeface="+mn-ea"/>
                        </a:rPr>
                        <a:t>112.98</a:t>
                      </a:r>
                    </a:p>
                  </a:txBody>
                  <a:tcPr marL="9525" marR="9525" marT="9525" marB="0" anchor="b"/>
                </a:tc>
                <a:extLst>
                  <a:ext uri="{0D108BD9-81ED-4DB2-BD59-A6C34878D82A}">
                    <a16:rowId xmlns:a16="http://schemas.microsoft.com/office/drawing/2014/main" val="10002"/>
                  </a:ext>
                </a:extLst>
              </a:tr>
              <a:tr h="257049">
                <a:tc>
                  <a:txBody>
                    <a:bodyPr/>
                    <a:lstStyle/>
                    <a:p>
                      <a:pPr algn="ctr" fontAlgn="b"/>
                      <a:r>
                        <a:rPr lang="en-US" altLang="zh-CN" sz="1200" b="0" i="0" u="none" strike="noStrike">
                          <a:solidFill>
                            <a:srgbClr val="000000"/>
                          </a:solidFill>
                          <a:effectLst/>
                          <a:latin typeface="+mn-ea"/>
                          <a:ea typeface="+mn-ea"/>
                        </a:rPr>
                        <a:t>3</a:t>
                      </a:r>
                    </a:p>
                  </a:txBody>
                  <a:tcPr marL="9525" marR="9525" marT="9525" marB="0" anchor="b"/>
                </a:tc>
                <a:tc>
                  <a:txBody>
                    <a:bodyPr/>
                    <a:lstStyle/>
                    <a:p>
                      <a:pPr algn="ctr" fontAlgn="b"/>
                      <a:r>
                        <a:rPr lang="zh-CN" altLang="en-US" sz="1200" b="0" i="0" u="none" strike="noStrike">
                          <a:solidFill>
                            <a:srgbClr val="000000"/>
                          </a:solidFill>
                          <a:effectLst/>
                          <a:latin typeface="+mn-ea"/>
                          <a:ea typeface="+mn-ea"/>
                        </a:rPr>
                        <a:t>远洋地产</a:t>
                      </a:r>
                    </a:p>
                  </a:txBody>
                  <a:tcPr marL="9525" marR="9525" marT="9525" marB="0" anchor="b"/>
                </a:tc>
                <a:tc>
                  <a:txBody>
                    <a:bodyPr/>
                    <a:lstStyle/>
                    <a:p>
                      <a:pPr algn="ctr" fontAlgn="b"/>
                      <a:r>
                        <a:rPr lang="en-US" altLang="zh-CN" sz="1200" b="0" i="0" u="none" strike="noStrike">
                          <a:solidFill>
                            <a:srgbClr val="000000"/>
                          </a:solidFill>
                          <a:effectLst/>
                          <a:latin typeface="+mn-ea"/>
                          <a:ea typeface="+mn-ea"/>
                        </a:rPr>
                        <a:t>1686</a:t>
                      </a:r>
                    </a:p>
                  </a:txBody>
                  <a:tcPr marL="9525" marR="9525" marT="9525" marB="0" anchor="b"/>
                </a:tc>
                <a:tc>
                  <a:txBody>
                    <a:bodyPr/>
                    <a:lstStyle/>
                    <a:p>
                      <a:pPr algn="ctr" fontAlgn="b"/>
                      <a:r>
                        <a:rPr lang="en-US" altLang="zh-CN" sz="1200" b="0" i="0" u="none" strike="noStrike">
                          <a:solidFill>
                            <a:srgbClr val="000000"/>
                          </a:solidFill>
                          <a:effectLst/>
                          <a:latin typeface="+mn-ea"/>
                          <a:ea typeface="+mn-ea"/>
                        </a:rPr>
                        <a:t>23.12</a:t>
                      </a:r>
                    </a:p>
                  </a:txBody>
                  <a:tcPr marL="9525" marR="9525" marT="9525" marB="0" anchor="b"/>
                </a:tc>
                <a:tc>
                  <a:txBody>
                    <a:bodyPr/>
                    <a:lstStyle/>
                    <a:p>
                      <a:pPr algn="ctr" fontAlgn="b"/>
                      <a:r>
                        <a:rPr lang="en-US" altLang="zh-CN" sz="1200" b="0" i="0" u="none" strike="noStrike">
                          <a:solidFill>
                            <a:srgbClr val="000000"/>
                          </a:solidFill>
                          <a:effectLst/>
                          <a:latin typeface="+mn-ea"/>
                          <a:ea typeface="+mn-ea"/>
                        </a:rPr>
                        <a:t>108.93</a:t>
                      </a:r>
                    </a:p>
                  </a:txBody>
                  <a:tcPr marL="9525" marR="9525" marT="9525" marB="0" anchor="b"/>
                </a:tc>
                <a:extLst>
                  <a:ext uri="{0D108BD9-81ED-4DB2-BD59-A6C34878D82A}">
                    <a16:rowId xmlns:a16="http://schemas.microsoft.com/office/drawing/2014/main" val="10003"/>
                  </a:ext>
                </a:extLst>
              </a:tr>
              <a:tr h="257049">
                <a:tc>
                  <a:txBody>
                    <a:bodyPr/>
                    <a:lstStyle/>
                    <a:p>
                      <a:pPr algn="ctr" fontAlgn="b"/>
                      <a:r>
                        <a:rPr lang="en-US" altLang="zh-CN" sz="1200" b="0" i="0" u="none" strike="noStrike">
                          <a:solidFill>
                            <a:srgbClr val="000000"/>
                          </a:solidFill>
                          <a:effectLst/>
                          <a:latin typeface="+mn-ea"/>
                          <a:ea typeface="+mn-ea"/>
                        </a:rPr>
                        <a:t>4</a:t>
                      </a:r>
                    </a:p>
                  </a:txBody>
                  <a:tcPr marL="9525" marR="9525" marT="9525" marB="0" anchor="b"/>
                </a:tc>
                <a:tc>
                  <a:txBody>
                    <a:bodyPr/>
                    <a:lstStyle/>
                    <a:p>
                      <a:pPr algn="ctr" fontAlgn="b"/>
                      <a:r>
                        <a:rPr lang="zh-CN" altLang="en-US" sz="1200" b="0" i="0" u="none" strike="noStrike">
                          <a:solidFill>
                            <a:srgbClr val="000000"/>
                          </a:solidFill>
                          <a:effectLst/>
                          <a:latin typeface="+mn-ea"/>
                          <a:ea typeface="+mn-ea"/>
                        </a:rPr>
                        <a:t>绿地集团</a:t>
                      </a:r>
                    </a:p>
                  </a:txBody>
                  <a:tcPr marL="9525" marR="9525" marT="9525" marB="0" anchor="b"/>
                </a:tc>
                <a:tc>
                  <a:txBody>
                    <a:bodyPr/>
                    <a:lstStyle/>
                    <a:p>
                      <a:pPr algn="ctr" fontAlgn="b"/>
                      <a:r>
                        <a:rPr lang="en-US" altLang="zh-CN" sz="1200" b="0" i="0" u="none" strike="noStrike">
                          <a:solidFill>
                            <a:srgbClr val="000000"/>
                          </a:solidFill>
                          <a:effectLst/>
                          <a:latin typeface="+mn-ea"/>
                          <a:ea typeface="+mn-ea"/>
                        </a:rPr>
                        <a:t>2983</a:t>
                      </a:r>
                    </a:p>
                  </a:txBody>
                  <a:tcPr marL="9525" marR="9525" marT="9525" marB="0" anchor="b"/>
                </a:tc>
                <a:tc>
                  <a:txBody>
                    <a:bodyPr/>
                    <a:lstStyle/>
                    <a:p>
                      <a:pPr algn="ctr" fontAlgn="b"/>
                      <a:r>
                        <a:rPr lang="en-US" altLang="zh-CN" sz="1200" b="0" i="0" u="none" strike="noStrike">
                          <a:solidFill>
                            <a:srgbClr val="000000"/>
                          </a:solidFill>
                          <a:effectLst/>
                          <a:latin typeface="+mn-ea"/>
                          <a:ea typeface="+mn-ea"/>
                        </a:rPr>
                        <a:t>32.27</a:t>
                      </a:r>
                    </a:p>
                  </a:txBody>
                  <a:tcPr marL="9525" marR="9525" marT="9525" marB="0" anchor="b"/>
                </a:tc>
                <a:tc>
                  <a:txBody>
                    <a:bodyPr/>
                    <a:lstStyle/>
                    <a:p>
                      <a:pPr algn="ctr" fontAlgn="b"/>
                      <a:r>
                        <a:rPr lang="en-US" altLang="zh-CN" sz="1200" b="0" i="0" u="none" strike="noStrike">
                          <a:solidFill>
                            <a:srgbClr val="000000"/>
                          </a:solidFill>
                          <a:effectLst/>
                          <a:latin typeface="+mn-ea"/>
                          <a:ea typeface="+mn-ea"/>
                        </a:rPr>
                        <a:t>88.84</a:t>
                      </a:r>
                    </a:p>
                  </a:txBody>
                  <a:tcPr marL="9525" marR="9525" marT="9525" marB="0" anchor="b"/>
                </a:tc>
                <a:extLst>
                  <a:ext uri="{0D108BD9-81ED-4DB2-BD59-A6C34878D82A}">
                    <a16:rowId xmlns:a16="http://schemas.microsoft.com/office/drawing/2014/main" val="10004"/>
                  </a:ext>
                </a:extLst>
              </a:tr>
              <a:tr h="257049">
                <a:tc>
                  <a:txBody>
                    <a:bodyPr/>
                    <a:lstStyle/>
                    <a:p>
                      <a:pPr algn="ctr" fontAlgn="b"/>
                      <a:r>
                        <a:rPr lang="en-US" altLang="zh-CN" sz="1200" b="0" i="0" u="none" strike="noStrike">
                          <a:solidFill>
                            <a:srgbClr val="000000"/>
                          </a:solidFill>
                          <a:effectLst/>
                          <a:latin typeface="+mn-ea"/>
                          <a:ea typeface="+mn-ea"/>
                        </a:rPr>
                        <a:t>5</a:t>
                      </a:r>
                    </a:p>
                  </a:txBody>
                  <a:tcPr marL="9525" marR="9525" marT="9525" marB="0" anchor="b"/>
                </a:tc>
                <a:tc>
                  <a:txBody>
                    <a:bodyPr/>
                    <a:lstStyle/>
                    <a:p>
                      <a:pPr algn="ctr" fontAlgn="b"/>
                      <a:r>
                        <a:rPr lang="zh-CN" altLang="en-US" sz="1200" b="0" i="0" u="none" strike="noStrike">
                          <a:solidFill>
                            <a:srgbClr val="000000"/>
                          </a:solidFill>
                          <a:effectLst/>
                          <a:latin typeface="+mn-ea"/>
                          <a:ea typeface="+mn-ea"/>
                        </a:rPr>
                        <a:t>东亚新华</a:t>
                      </a:r>
                    </a:p>
                  </a:txBody>
                  <a:tcPr marL="9525" marR="9525" marT="9525" marB="0" anchor="b"/>
                </a:tc>
                <a:tc>
                  <a:txBody>
                    <a:bodyPr/>
                    <a:lstStyle/>
                    <a:p>
                      <a:pPr algn="ctr" fontAlgn="b"/>
                      <a:r>
                        <a:rPr lang="en-US" altLang="zh-CN" sz="1200" b="0" i="0" u="none" strike="noStrike">
                          <a:solidFill>
                            <a:srgbClr val="000000"/>
                          </a:solidFill>
                          <a:effectLst/>
                          <a:latin typeface="+mn-ea"/>
                          <a:ea typeface="+mn-ea"/>
                        </a:rPr>
                        <a:t>6295</a:t>
                      </a:r>
                    </a:p>
                  </a:txBody>
                  <a:tcPr marL="9525" marR="9525" marT="9525" marB="0" anchor="b"/>
                </a:tc>
                <a:tc>
                  <a:txBody>
                    <a:bodyPr/>
                    <a:lstStyle/>
                    <a:p>
                      <a:pPr algn="ctr" fontAlgn="b"/>
                      <a:r>
                        <a:rPr lang="en-US" altLang="zh-CN" sz="1200" b="0" i="0" u="none" strike="noStrike">
                          <a:solidFill>
                            <a:srgbClr val="000000"/>
                          </a:solidFill>
                          <a:effectLst/>
                          <a:latin typeface="+mn-ea"/>
                          <a:ea typeface="+mn-ea"/>
                        </a:rPr>
                        <a:t>39.08</a:t>
                      </a:r>
                    </a:p>
                  </a:txBody>
                  <a:tcPr marL="9525" marR="9525" marT="9525" marB="0" anchor="b"/>
                </a:tc>
                <a:tc>
                  <a:txBody>
                    <a:bodyPr/>
                    <a:lstStyle/>
                    <a:p>
                      <a:pPr algn="ctr" fontAlgn="b"/>
                      <a:r>
                        <a:rPr lang="en-US" altLang="zh-CN" sz="1200" b="0" i="0" u="none" strike="noStrike">
                          <a:solidFill>
                            <a:srgbClr val="000000"/>
                          </a:solidFill>
                          <a:effectLst/>
                          <a:latin typeface="+mn-ea"/>
                          <a:ea typeface="+mn-ea"/>
                        </a:rPr>
                        <a:t>80.99</a:t>
                      </a:r>
                    </a:p>
                  </a:txBody>
                  <a:tcPr marL="9525" marR="9525" marT="9525" marB="0" anchor="b"/>
                </a:tc>
                <a:extLst>
                  <a:ext uri="{0D108BD9-81ED-4DB2-BD59-A6C34878D82A}">
                    <a16:rowId xmlns:a16="http://schemas.microsoft.com/office/drawing/2014/main" val="10005"/>
                  </a:ext>
                </a:extLst>
              </a:tr>
              <a:tr h="257049">
                <a:tc>
                  <a:txBody>
                    <a:bodyPr/>
                    <a:lstStyle/>
                    <a:p>
                      <a:pPr algn="ctr" fontAlgn="b"/>
                      <a:r>
                        <a:rPr lang="en-US" altLang="zh-CN" sz="1200" b="0" i="0" u="none" strike="noStrike">
                          <a:solidFill>
                            <a:srgbClr val="000000"/>
                          </a:solidFill>
                          <a:effectLst/>
                          <a:latin typeface="+mn-ea"/>
                          <a:ea typeface="+mn-ea"/>
                        </a:rPr>
                        <a:t>6</a:t>
                      </a:r>
                    </a:p>
                  </a:txBody>
                  <a:tcPr marL="9525" marR="9525" marT="9525" marB="0" anchor="b"/>
                </a:tc>
                <a:tc>
                  <a:txBody>
                    <a:bodyPr/>
                    <a:lstStyle/>
                    <a:p>
                      <a:pPr algn="ctr" fontAlgn="b"/>
                      <a:r>
                        <a:rPr lang="zh-CN" altLang="en-US" sz="1200" b="0" i="0" u="none" strike="noStrike">
                          <a:solidFill>
                            <a:srgbClr val="000000"/>
                          </a:solidFill>
                          <a:effectLst/>
                          <a:latin typeface="+mn-ea"/>
                          <a:ea typeface="+mn-ea"/>
                        </a:rPr>
                        <a:t>北京城建</a:t>
                      </a:r>
                    </a:p>
                  </a:txBody>
                  <a:tcPr marL="9525" marR="9525" marT="9525" marB="0" anchor="b"/>
                </a:tc>
                <a:tc>
                  <a:txBody>
                    <a:bodyPr/>
                    <a:lstStyle/>
                    <a:p>
                      <a:pPr algn="ctr" fontAlgn="b"/>
                      <a:r>
                        <a:rPr lang="en-US" altLang="zh-CN" sz="1200" b="0" i="0" u="none" strike="noStrike">
                          <a:solidFill>
                            <a:srgbClr val="000000"/>
                          </a:solidFill>
                          <a:effectLst/>
                          <a:latin typeface="+mn-ea"/>
                          <a:ea typeface="+mn-ea"/>
                        </a:rPr>
                        <a:t>3712</a:t>
                      </a:r>
                    </a:p>
                  </a:txBody>
                  <a:tcPr marL="9525" marR="9525" marT="9525" marB="0" anchor="b"/>
                </a:tc>
                <a:tc>
                  <a:txBody>
                    <a:bodyPr/>
                    <a:lstStyle/>
                    <a:p>
                      <a:pPr algn="ctr" fontAlgn="b"/>
                      <a:r>
                        <a:rPr lang="en-US" altLang="zh-CN" sz="1200" b="0" i="0" u="none" strike="noStrike">
                          <a:solidFill>
                            <a:srgbClr val="000000"/>
                          </a:solidFill>
                          <a:effectLst/>
                          <a:latin typeface="+mn-ea"/>
                          <a:ea typeface="+mn-ea"/>
                        </a:rPr>
                        <a:t>31.36</a:t>
                      </a:r>
                    </a:p>
                  </a:txBody>
                  <a:tcPr marL="9525" marR="9525" marT="9525" marB="0" anchor="b"/>
                </a:tc>
                <a:tc>
                  <a:txBody>
                    <a:bodyPr/>
                    <a:lstStyle/>
                    <a:p>
                      <a:pPr algn="ctr" fontAlgn="b"/>
                      <a:r>
                        <a:rPr lang="en-US" altLang="zh-CN" sz="1200" b="0" i="0" u="none" strike="noStrike">
                          <a:solidFill>
                            <a:srgbClr val="000000"/>
                          </a:solidFill>
                          <a:effectLst/>
                          <a:latin typeface="+mn-ea"/>
                          <a:ea typeface="+mn-ea"/>
                        </a:rPr>
                        <a:t>73.78</a:t>
                      </a:r>
                    </a:p>
                  </a:txBody>
                  <a:tcPr marL="9525" marR="9525" marT="9525" marB="0" anchor="b"/>
                </a:tc>
                <a:extLst>
                  <a:ext uri="{0D108BD9-81ED-4DB2-BD59-A6C34878D82A}">
                    <a16:rowId xmlns:a16="http://schemas.microsoft.com/office/drawing/2014/main" val="10006"/>
                  </a:ext>
                </a:extLst>
              </a:tr>
              <a:tr h="257049">
                <a:tc>
                  <a:txBody>
                    <a:bodyPr/>
                    <a:lstStyle/>
                    <a:p>
                      <a:pPr algn="ctr" fontAlgn="b"/>
                      <a:r>
                        <a:rPr lang="en-US" altLang="zh-CN" sz="1200" b="0" i="0" u="none" strike="noStrike">
                          <a:solidFill>
                            <a:srgbClr val="000000"/>
                          </a:solidFill>
                          <a:effectLst/>
                          <a:latin typeface="+mn-ea"/>
                          <a:ea typeface="+mn-ea"/>
                        </a:rPr>
                        <a:t>7</a:t>
                      </a:r>
                    </a:p>
                  </a:txBody>
                  <a:tcPr marL="9525" marR="9525" marT="9525" marB="0" anchor="b"/>
                </a:tc>
                <a:tc>
                  <a:txBody>
                    <a:bodyPr/>
                    <a:lstStyle/>
                    <a:p>
                      <a:pPr algn="ctr" fontAlgn="b"/>
                      <a:r>
                        <a:rPr lang="zh-CN" altLang="en-US" sz="1200" b="0" i="0" u="none" strike="noStrike">
                          <a:solidFill>
                            <a:srgbClr val="000000"/>
                          </a:solidFill>
                          <a:effectLst/>
                          <a:latin typeface="+mn-ea"/>
                          <a:ea typeface="+mn-ea"/>
                        </a:rPr>
                        <a:t>鲁能集团</a:t>
                      </a:r>
                    </a:p>
                  </a:txBody>
                  <a:tcPr marL="9525" marR="9525" marT="9525" marB="0" anchor="b"/>
                </a:tc>
                <a:tc>
                  <a:txBody>
                    <a:bodyPr/>
                    <a:lstStyle/>
                    <a:p>
                      <a:pPr algn="ctr" fontAlgn="b"/>
                      <a:r>
                        <a:rPr lang="en-US" altLang="zh-CN" sz="1200" b="0" i="0" u="none" strike="noStrike">
                          <a:solidFill>
                            <a:srgbClr val="000000"/>
                          </a:solidFill>
                          <a:effectLst/>
                          <a:latin typeface="+mn-ea"/>
                          <a:ea typeface="+mn-ea"/>
                        </a:rPr>
                        <a:t>930</a:t>
                      </a:r>
                    </a:p>
                  </a:txBody>
                  <a:tcPr marL="9525" marR="9525" marT="9525" marB="0" anchor="b"/>
                </a:tc>
                <a:tc>
                  <a:txBody>
                    <a:bodyPr/>
                    <a:lstStyle/>
                    <a:p>
                      <a:pPr algn="ctr" fontAlgn="b"/>
                      <a:r>
                        <a:rPr lang="en-US" altLang="zh-CN" sz="1200" b="0" i="0" u="none" strike="noStrike">
                          <a:solidFill>
                            <a:srgbClr val="000000"/>
                          </a:solidFill>
                          <a:effectLst/>
                          <a:latin typeface="+mn-ea"/>
                          <a:ea typeface="+mn-ea"/>
                        </a:rPr>
                        <a:t>14.53</a:t>
                      </a:r>
                    </a:p>
                  </a:txBody>
                  <a:tcPr marL="9525" marR="9525" marT="9525" marB="0" anchor="b"/>
                </a:tc>
                <a:tc>
                  <a:txBody>
                    <a:bodyPr/>
                    <a:lstStyle/>
                    <a:p>
                      <a:pPr algn="ctr" fontAlgn="b"/>
                      <a:r>
                        <a:rPr lang="en-US" altLang="zh-CN" sz="1200" b="0" i="0" u="none" strike="noStrike">
                          <a:solidFill>
                            <a:srgbClr val="000000"/>
                          </a:solidFill>
                          <a:effectLst/>
                          <a:latin typeface="+mn-ea"/>
                          <a:ea typeface="+mn-ea"/>
                        </a:rPr>
                        <a:t>70.01</a:t>
                      </a:r>
                    </a:p>
                  </a:txBody>
                  <a:tcPr marL="9525" marR="9525" marT="9525" marB="0" anchor="b"/>
                </a:tc>
                <a:extLst>
                  <a:ext uri="{0D108BD9-81ED-4DB2-BD59-A6C34878D82A}">
                    <a16:rowId xmlns:a16="http://schemas.microsoft.com/office/drawing/2014/main" val="10007"/>
                  </a:ext>
                </a:extLst>
              </a:tr>
              <a:tr h="257049">
                <a:tc>
                  <a:txBody>
                    <a:bodyPr/>
                    <a:lstStyle/>
                    <a:p>
                      <a:pPr algn="ctr" fontAlgn="b"/>
                      <a:r>
                        <a:rPr lang="en-US" altLang="zh-CN" sz="1200" b="0" i="0" u="none" strike="noStrike">
                          <a:solidFill>
                            <a:srgbClr val="000000"/>
                          </a:solidFill>
                          <a:effectLst/>
                          <a:latin typeface="+mn-ea"/>
                          <a:ea typeface="+mn-ea"/>
                        </a:rPr>
                        <a:t>8</a:t>
                      </a:r>
                    </a:p>
                  </a:txBody>
                  <a:tcPr marL="9525" marR="9525" marT="9525" marB="0" anchor="b"/>
                </a:tc>
                <a:tc>
                  <a:txBody>
                    <a:bodyPr/>
                    <a:lstStyle/>
                    <a:p>
                      <a:pPr algn="ctr" fontAlgn="b"/>
                      <a:r>
                        <a:rPr lang="zh-CN" altLang="en-US" sz="1200" b="0" i="0" u="none" strike="noStrike">
                          <a:solidFill>
                            <a:srgbClr val="000000"/>
                          </a:solidFill>
                          <a:effectLst/>
                          <a:latin typeface="+mn-ea"/>
                          <a:ea typeface="+mn-ea"/>
                        </a:rPr>
                        <a:t>华润置地</a:t>
                      </a:r>
                    </a:p>
                  </a:txBody>
                  <a:tcPr marL="9525" marR="9525" marT="9525" marB="0" anchor="b"/>
                </a:tc>
                <a:tc>
                  <a:txBody>
                    <a:bodyPr/>
                    <a:lstStyle/>
                    <a:p>
                      <a:pPr algn="ctr" fontAlgn="b"/>
                      <a:r>
                        <a:rPr lang="en-US" altLang="zh-CN" sz="1200" b="0" i="0" u="none" strike="noStrike">
                          <a:solidFill>
                            <a:srgbClr val="000000"/>
                          </a:solidFill>
                          <a:effectLst/>
                          <a:latin typeface="+mn-ea"/>
                          <a:ea typeface="+mn-ea"/>
                        </a:rPr>
                        <a:t>1321</a:t>
                      </a:r>
                    </a:p>
                  </a:txBody>
                  <a:tcPr marL="9525" marR="9525" marT="9525" marB="0" anchor="b"/>
                </a:tc>
                <a:tc>
                  <a:txBody>
                    <a:bodyPr/>
                    <a:lstStyle/>
                    <a:p>
                      <a:pPr algn="ctr" fontAlgn="b"/>
                      <a:r>
                        <a:rPr lang="en-US" altLang="zh-CN" sz="1200" b="0" i="0" u="none" strike="noStrike">
                          <a:solidFill>
                            <a:srgbClr val="000000"/>
                          </a:solidFill>
                          <a:effectLst/>
                          <a:latin typeface="+mn-ea"/>
                          <a:ea typeface="+mn-ea"/>
                        </a:rPr>
                        <a:t>15.84</a:t>
                      </a:r>
                    </a:p>
                  </a:txBody>
                  <a:tcPr marL="9525" marR="9525" marT="9525" marB="0" anchor="b"/>
                </a:tc>
                <a:tc>
                  <a:txBody>
                    <a:bodyPr/>
                    <a:lstStyle/>
                    <a:p>
                      <a:pPr algn="ctr" fontAlgn="b"/>
                      <a:r>
                        <a:rPr lang="en-US" altLang="zh-CN" sz="1200" b="0" i="0" u="none" strike="noStrike">
                          <a:solidFill>
                            <a:srgbClr val="000000"/>
                          </a:solidFill>
                          <a:effectLst/>
                          <a:latin typeface="+mn-ea"/>
                          <a:ea typeface="+mn-ea"/>
                        </a:rPr>
                        <a:t>62.73</a:t>
                      </a:r>
                    </a:p>
                  </a:txBody>
                  <a:tcPr marL="9525" marR="9525" marT="9525" marB="0" anchor="b"/>
                </a:tc>
                <a:extLst>
                  <a:ext uri="{0D108BD9-81ED-4DB2-BD59-A6C34878D82A}">
                    <a16:rowId xmlns:a16="http://schemas.microsoft.com/office/drawing/2014/main" val="10008"/>
                  </a:ext>
                </a:extLst>
              </a:tr>
              <a:tr h="257049">
                <a:tc>
                  <a:txBody>
                    <a:bodyPr/>
                    <a:lstStyle/>
                    <a:p>
                      <a:pPr algn="ctr" fontAlgn="b"/>
                      <a:r>
                        <a:rPr lang="en-US" altLang="zh-CN" sz="1200" b="0" i="0" u="none" strike="noStrike">
                          <a:solidFill>
                            <a:srgbClr val="000000"/>
                          </a:solidFill>
                          <a:effectLst/>
                          <a:latin typeface="+mn-ea"/>
                          <a:ea typeface="+mn-ea"/>
                        </a:rPr>
                        <a:t>9</a:t>
                      </a:r>
                    </a:p>
                  </a:txBody>
                  <a:tcPr marL="9525" marR="9525" marT="9525" marB="0" anchor="b"/>
                </a:tc>
                <a:tc>
                  <a:txBody>
                    <a:bodyPr/>
                    <a:lstStyle/>
                    <a:p>
                      <a:pPr algn="ctr" fontAlgn="b"/>
                      <a:r>
                        <a:rPr lang="zh-CN" altLang="en-US" sz="1200" b="0" i="0" u="none" strike="noStrike">
                          <a:solidFill>
                            <a:srgbClr val="000000"/>
                          </a:solidFill>
                          <a:effectLst/>
                          <a:latin typeface="+mn-ea"/>
                          <a:ea typeface="+mn-ea"/>
                        </a:rPr>
                        <a:t>首创置业</a:t>
                      </a:r>
                    </a:p>
                  </a:txBody>
                  <a:tcPr marL="9525" marR="9525" marT="9525" marB="0" anchor="b"/>
                </a:tc>
                <a:tc>
                  <a:txBody>
                    <a:bodyPr/>
                    <a:lstStyle/>
                    <a:p>
                      <a:pPr algn="ctr" fontAlgn="b"/>
                      <a:r>
                        <a:rPr lang="en-US" altLang="zh-CN" sz="1200" b="0" i="0" u="none" strike="noStrike">
                          <a:solidFill>
                            <a:srgbClr val="000000"/>
                          </a:solidFill>
                          <a:effectLst/>
                          <a:latin typeface="+mn-ea"/>
                          <a:ea typeface="+mn-ea"/>
                        </a:rPr>
                        <a:t>2040</a:t>
                      </a:r>
                    </a:p>
                  </a:txBody>
                  <a:tcPr marL="9525" marR="9525" marT="9525" marB="0" anchor="b"/>
                </a:tc>
                <a:tc>
                  <a:txBody>
                    <a:bodyPr/>
                    <a:lstStyle/>
                    <a:p>
                      <a:pPr algn="ctr" fontAlgn="b"/>
                      <a:r>
                        <a:rPr lang="en-US" altLang="zh-CN" sz="1200" b="0" i="0" u="none" strike="noStrike">
                          <a:solidFill>
                            <a:srgbClr val="000000"/>
                          </a:solidFill>
                          <a:effectLst/>
                          <a:latin typeface="+mn-ea"/>
                          <a:ea typeface="+mn-ea"/>
                        </a:rPr>
                        <a:t>18.94</a:t>
                      </a:r>
                    </a:p>
                  </a:txBody>
                  <a:tcPr marL="9525" marR="9525" marT="9525" marB="0" anchor="b"/>
                </a:tc>
                <a:tc>
                  <a:txBody>
                    <a:bodyPr/>
                    <a:lstStyle/>
                    <a:p>
                      <a:pPr algn="ctr" fontAlgn="b"/>
                      <a:r>
                        <a:rPr lang="en-US" altLang="zh-CN" sz="1200" b="0" i="0" u="none" strike="noStrike" dirty="0">
                          <a:solidFill>
                            <a:srgbClr val="000000"/>
                          </a:solidFill>
                          <a:effectLst/>
                          <a:latin typeface="+mn-ea"/>
                          <a:ea typeface="+mn-ea"/>
                        </a:rPr>
                        <a:t>60.90</a:t>
                      </a:r>
                    </a:p>
                  </a:txBody>
                  <a:tcPr marL="9525" marR="9525" marT="9525" marB="0" anchor="b"/>
                </a:tc>
                <a:extLst>
                  <a:ext uri="{0D108BD9-81ED-4DB2-BD59-A6C34878D82A}">
                    <a16:rowId xmlns:a16="http://schemas.microsoft.com/office/drawing/2014/main" val="10009"/>
                  </a:ext>
                </a:extLst>
              </a:tr>
              <a:tr h="257049">
                <a:tc>
                  <a:txBody>
                    <a:bodyPr/>
                    <a:lstStyle/>
                    <a:p>
                      <a:pPr algn="ctr" fontAlgn="b"/>
                      <a:r>
                        <a:rPr lang="en-US" altLang="zh-CN" sz="1200" b="0" i="0" u="none" strike="noStrike">
                          <a:solidFill>
                            <a:srgbClr val="000000"/>
                          </a:solidFill>
                          <a:effectLst/>
                          <a:latin typeface="+mn-ea"/>
                          <a:ea typeface="+mn-ea"/>
                        </a:rPr>
                        <a:t>10</a:t>
                      </a:r>
                    </a:p>
                  </a:txBody>
                  <a:tcPr marL="9525" marR="9525" marT="9525" marB="0" anchor="b"/>
                </a:tc>
                <a:tc>
                  <a:txBody>
                    <a:bodyPr/>
                    <a:lstStyle/>
                    <a:p>
                      <a:pPr algn="ctr" fontAlgn="b"/>
                      <a:r>
                        <a:rPr lang="zh-CN" altLang="en-US" sz="1200" b="0" i="0" u="none" strike="noStrike">
                          <a:solidFill>
                            <a:srgbClr val="000000"/>
                          </a:solidFill>
                          <a:effectLst/>
                          <a:latin typeface="+mn-ea"/>
                          <a:ea typeface="+mn-ea"/>
                        </a:rPr>
                        <a:t>恒大集团</a:t>
                      </a:r>
                    </a:p>
                  </a:txBody>
                  <a:tcPr marL="9525" marR="9525" marT="9525" marB="0" anchor="b"/>
                </a:tc>
                <a:tc>
                  <a:txBody>
                    <a:bodyPr/>
                    <a:lstStyle/>
                    <a:p>
                      <a:pPr algn="ctr" fontAlgn="b"/>
                      <a:r>
                        <a:rPr lang="en-US" altLang="zh-CN" sz="1200" b="0" i="0" u="none" strike="noStrike">
                          <a:solidFill>
                            <a:srgbClr val="000000"/>
                          </a:solidFill>
                          <a:effectLst/>
                          <a:latin typeface="+mn-ea"/>
                          <a:ea typeface="+mn-ea"/>
                        </a:rPr>
                        <a:t>3058</a:t>
                      </a:r>
                    </a:p>
                  </a:txBody>
                  <a:tcPr marL="9525" marR="9525" marT="9525" marB="0" anchor="b"/>
                </a:tc>
                <a:tc>
                  <a:txBody>
                    <a:bodyPr/>
                    <a:lstStyle/>
                    <a:p>
                      <a:pPr algn="ctr" fontAlgn="b"/>
                      <a:r>
                        <a:rPr lang="en-US" altLang="zh-CN" sz="1200" b="0" i="0" u="none" strike="noStrike">
                          <a:solidFill>
                            <a:srgbClr val="000000"/>
                          </a:solidFill>
                          <a:effectLst/>
                          <a:latin typeface="+mn-ea"/>
                          <a:ea typeface="+mn-ea"/>
                        </a:rPr>
                        <a:t>23.02</a:t>
                      </a:r>
                    </a:p>
                  </a:txBody>
                  <a:tcPr marL="9525" marR="9525" marT="9525" marB="0" anchor="b"/>
                </a:tc>
                <a:tc>
                  <a:txBody>
                    <a:bodyPr/>
                    <a:lstStyle/>
                    <a:p>
                      <a:pPr algn="ctr" fontAlgn="b"/>
                      <a:r>
                        <a:rPr lang="en-US" altLang="zh-CN" sz="1200" b="0" i="0" u="none" strike="noStrike">
                          <a:solidFill>
                            <a:srgbClr val="000000"/>
                          </a:solidFill>
                          <a:effectLst/>
                          <a:latin typeface="+mn-ea"/>
                          <a:ea typeface="+mn-ea"/>
                        </a:rPr>
                        <a:t>60.18</a:t>
                      </a:r>
                    </a:p>
                  </a:txBody>
                  <a:tcPr marL="9525" marR="9525" marT="9525" marB="0" anchor="b"/>
                </a:tc>
                <a:extLst>
                  <a:ext uri="{0D108BD9-81ED-4DB2-BD59-A6C34878D82A}">
                    <a16:rowId xmlns:a16="http://schemas.microsoft.com/office/drawing/2014/main" val="10010"/>
                  </a:ext>
                </a:extLst>
              </a:tr>
              <a:tr h="257049">
                <a:tc>
                  <a:txBody>
                    <a:bodyPr/>
                    <a:lstStyle/>
                    <a:p>
                      <a:pPr algn="ctr" fontAlgn="b"/>
                      <a:r>
                        <a:rPr lang="en-US" altLang="zh-CN" sz="1200" b="0" i="0" u="none" strike="noStrike">
                          <a:solidFill>
                            <a:srgbClr val="000000"/>
                          </a:solidFill>
                          <a:effectLst/>
                          <a:latin typeface="+mn-ea"/>
                          <a:ea typeface="+mn-ea"/>
                        </a:rPr>
                        <a:t>11</a:t>
                      </a:r>
                    </a:p>
                  </a:txBody>
                  <a:tcPr marL="9525" marR="9525" marT="9525" marB="0" anchor="b"/>
                </a:tc>
                <a:tc>
                  <a:txBody>
                    <a:bodyPr/>
                    <a:lstStyle/>
                    <a:p>
                      <a:pPr algn="ctr" fontAlgn="b"/>
                      <a:r>
                        <a:rPr lang="zh-CN" altLang="en-US" sz="1200" b="0" i="0" u="none" strike="noStrike">
                          <a:solidFill>
                            <a:srgbClr val="000000"/>
                          </a:solidFill>
                          <a:effectLst/>
                          <a:latin typeface="+mn-ea"/>
                          <a:ea typeface="+mn-ea"/>
                        </a:rPr>
                        <a:t>中海地产</a:t>
                      </a:r>
                    </a:p>
                  </a:txBody>
                  <a:tcPr marL="9525" marR="9525" marT="9525" marB="0" anchor="b"/>
                </a:tc>
                <a:tc>
                  <a:txBody>
                    <a:bodyPr/>
                    <a:lstStyle/>
                    <a:p>
                      <a:pPr algn="ctr" fontAlgn="b"/>
                      <a:r>
                        <a:rPr lang="en-US" altLang="zh-CN" sz="1200" b="0" i="0" u="none" strike="noStrike">
                          <a:solidFill>
                            <a:srgbClr val="000000"/>
                          </a:solidFill>
                          <a:effectLst/>
                          <a:latin typeface="+mn-ea"/>
                          <a:ea typeface="+mn-ea"/>
                        </a:rPr>
                        <a:t>1191</a:t>
                      </a:r>
                    </a:p>
                  </a:txBody>
                  <a:tcPr marL="9525" marR="9525" marT="9525" marB="0" anchor="b"/>
                </a:tc>
                <a:tc>
                  <a:txBody>
                    <a:bodyPr/>
                    <a:lstStyle/>
                    <a:p>
                      <a:pPr algn="ctr" fontAlgn="b"/>
                      <a:r>
                        <a:rPr lang="en-US" altLang="zh-CN" sz="1200" b="0" i="0" u="none" strike="noStrike">
                          <a:solidFill>
                            <a:srgbClr val="000000"/>
                          </a:solidFill>
                          <a:effectLst/>
                          <a:latin typeface="+mn-ea"/>
                          <a:ea typeface="+mn-ea"/>
                        </a:rPr>
                        <a:t>13.58</a:t>
                      </a:r>
                    </a:p>
                  </a:txBody>
                  <a:tcPr marL="9525" marR="9525" marT="9525" marB="0" anchor="b"/>
                </a:tc>
                <a:tc>
                  <a:txBody>
                    <a:bodyPr/>
                    <a:lstStyle/>
                    <a:p>
                      <a:pPr algn="ctr" fontAlgn="b"/>
                      <a:r>
                        <a:rPr lang="en-US" altLang="zh-CN" sz="1200" b="0" i="0" u="none" strike="noStrike">
                          <a:solidFill>
                            <a:srgbClr val="000000"/>
                          </a:solidFill>
                          <a:effectLst/>
                          <a:latin typeface="+mn-ea"/>
                          <a:ea typeface="+mn-ea"/>
                        </a:rPr>
                        <a:t>56.53</a:t>
                      </a:r>
                    </a:p>
                  </a:txBody>
                  <a:tcPr marL="9525" marR="9525" marT="9525" marB="0" anchor="b"/>
                </a:tc>
                <a:extLst>
                  <a:ext uri="{0D108BD9-81ED-4DB2-BD59-A6C34878D82A}">
                    <a16:rowId xmlns:a16="http://schemas.microsoft.com/office/drawing/2014/main" val="10011"/>
                  </a:ext>
                </a:extLst>
              </a:tr>
              <a:tr h="257049">
                <a:tc>
                  <a:txBody>
                    <a:bodyPr/>
                    <a:lstStyle/>
                    <a:p>
                      <a:pPr algn="ctr" fontAlgn="b"/>
                      <a:r>
                        <a:rPr lang="en-US" altLang="zh-CN" sz="1200" b="0" i="0" u="none" strike="noStrike">
                          <a:solidFill>
                            <a:srgbClr val="000000"/>
                          </a:solidFill>
                          <a:effectLst/>
                          <a:latin typeface="+mn-ea"/>
                          <a:ea typeface="+mn-ea"/>
                        </a:rPr>
                        <a:t>12</a:t>
                      </a:r>
                    </a:p>
                  </a:txBody>
                  <a:tcPr marL="9525" marR="9525" marT="9525" marB="0" anchor="b"/>
                </a:tc>
                <a:tc>
                  <a:txBody>
                    <a:bodyPr/>
                    <a:lstStyle/>
                    <a:p>
                      <a:pPr algn="ctr" fontAlgn="b"/>
                      <a:r>
                        <a:rPr lang="zh-CN" altLang="en-US" sz="1200" b="0" i="0" u="none" strike="noStrike">
                          <a:solidFill>
                            <a:srgbClr val="000000"/>
                          </a:solidFill>
                          <a:effectLst/>
                          <a:latin typeface="+mn-ea"/>
                          <a:ea typeface="+mn-ea"/>
                        </a:rPr>
                        <a:t>泛海信华置业</a:t>
                      </a:r>
                    </a:p>
                  </a:txBody>
                  <a:tcPr marL="9525" marR="9525" marT="9525" marB="0" anchor="b"/>
                </a:tc>
                <a:tc>
                  <a:txBody>
                    <a:bodyPr/>
                    <a:lstStyle/>
                    <a:p>
                      <a:pPr algn="ctr" fontAlgn="b"/>
                      <a:r>
                        <a:rPr lang="en-US" altLang="zh-CN" sz="1200" b="0" i="0" u="none" strike="noStrike">
                          <a:solidFill>
                            <a:srgbClr val="000000"/>
                          </a:solidFill>
                          <a:effectLst/>
                          <a:latin typeface="+mn-ea"/>
                          <a:ea typeface="+mn-ea"/>
                        </a:rPr>
                        <a:t>168</a:t>
                      </a:r>
                    </a:p>
                  </a:txBody>
                  <a:tcPr marL="9525" marR="9525" marT="9525" marB="0" anchor="b"/>
                </a:tc>
                <a:tc>
                  <a:txBody>
                    <a:bodyPr/>
                    <a:lstStyle/>
                    <a:p>
                      <a:pPr algn="ctr" fontAlgn="b"/>
                      <a:r>
                        <a:rPr lang="en-US" altLang="zh-CN" sz="1200" b="0" i="0" u="none" strike="noStrike">
                          <a:solidFill>
                            <a:srgbClr val="000000"/>
                          </a:solidFill>
                          <a:effectLst/>
                          <a:latin typeface="+mn-ea"/>
                          <a:ea typeface="+mn-ea"/>
                        </a:rPr>
                        <a:t>5.79</a:t>
                      </a:r>
                    </a:p>
                  </a:txBody>
                  <a:tcPr marL="9525" marR="9525" marT="9525" marB="0" anchor="b"/>
                </a:tc>
                <a:tc>
                  <a:txBody>
                    <a:bodyPr/>
                    <a:lstStyle/>
                    <a:p>
                      <a:pPr algn="ctr" fontAlgn="b"/>
                      <a:r>
                        <a:rPr lang="en-US" altLang="zh-CN" sz="1200" b="0" i="0" u="none" strike="noStrike">
                          <a:solidFill>
                            <a:srgbClr val="000000"/>
                          </a:solidFill>
                          <a:effectLst/>
                          <a:latin typeface="+mn-ea"/>
                          <a:ea typeface="+mn-ea"/>
                        </a:rPr>
                        <a:t>55.88</a:t>
                      </a:r>
                    </a:p>
                  </a:txBody>
                  <a:tcPr marL="9525" marR="9525" marT="9525" marB="0" anchor="b"/>
                </a:tc>
                <a:extLst>
                  <a:ext uri="{0D108BD9-81ED-4DB2-BD59-A6C34878D82A}">
                    <a16:rowId xmlns:a16="http://schemas.microsoft.com/office/drawing/2014/main" val="10012"/>
                  </a:ext>
                </a:extLst>
              </a:tr>
              <a:tr h="257049">
                <a:tc>
                  <a:txBody>
                    <a:bodyPr/>
                    <a:lstStyle/>
                    <a:p>
                      <a:pPr algn="ctr" fontAlgn="b"/>
                      <a:r>
                        <a:rPr lang="en-US" altLang="zh-CN" sz="1200" b="0" i="0" u="none" strike="noStrike">
                          <a:solidFill>
                            <a:srgbClr val="000000"/>
                          </a:solidFill>
                          <a:effectLst/>
                          <a:latin typeface="+mn-ea"/>
                          <a:ea typeface="+mn-ea"/>
                        </a:rPr>
                        <a:t>13</a:t>
                      </a:r>
                    </a:p>
                  </a:txBody>
                  <a:tcPr marL="9525" marR="9525" marT="9525" marB="0" anchor="b"/>
                </a:tc>
                <a:tc>
                  <a:txBody>
                    <a:bodyPr/>
                    <a:lstStyle/>
                    <a:p>
                      <a:pPr algn="ctr" fontAlgn="b"/>
                      <a:r>
                        <a:rPr lang="zh-CN" altLang="en-US" sz="1200" b="0" i="0" u="none" strike="noStrike">
                          <a:solidFill>
                            <a:srgbClr val="000000"/>
                          </a:solidFill>
                          <a:effectLst/>
                          <a:latin typeface="+mn-ea"/>
                          <a:ea typeface="+mn-ea"/>
                        </a:rPr>
                        <a:t>中国铁建</a:t>
                      </a:r>
                    </a:p>
                  </a:txBody>
                  <a:tcPr marL="9525" marR="9525" marT="9525" marB="0" anchor="b"/>
                </a:tc>
                <a:tc>
                  <a:txBody>
                    <a:bodyPr/>
                    <a:lstStyle/>
                    <a:p>
                      <a:pPr algn="ctr" fontAlgn="b"/>
                      <a:r>
                        <a:rPr lang="en-US" altLang="zh-CN" sz="1200" b="0" i="0" u="none" strike="noStrike">
                          <a:solidFill>
                            <a:srgbClr val="000000"/>
                          </a:solidFill>
                          <a:effectLst/>
                          <a:latin typeface="+mn-ea"/>
                          <a:ea typeface="+mn-ea"/>
                        </a:rPr>
                        <a:t>3239</a:t>
                      </a:r>
                    </a:p>
                  </a:txBody>
                  <a:tcPr marL="9525" marR="9525" marT="9525" marB="0" anchor="b"/>
                </a:tc>
                <a:tc>
                  <a:txBody>
                    <a:bodyPr/>
                    <a:lstStyle/>
                    <a:p>
                      <a:pPr algn="ctr" fontAlgn="b"/>
                      <a:r>
                        <a:rPr lang="en-US" altLang="zh-CN" sz="1200" b="0" i="0" u="none" strike="noStrike">
                          <a:solidFill>
                            <a:srgbClr val="000000"/>
                          </a:solidFill>
                          <a:effectLst/>
                          <a:latin typeface="+mn-ea"/>
                          <a:ea typeface="+mn-ea"/>
                        </a:rPr>
                        <a:t>23.91</a:t>
                      </a:r>
                    </a:p>
                  </a:txBody>
                  <a:tcPr marL="9525" marR="9525" marT="9525" marB="0" anchor="b"/>
                </a:tc>
                <a:tc>
                  <a:txBody>
                    <a:bodyPr/>
                    <a:lstStyle/>
                    <a:p>
                      <a:pPr algn="ctr" fontAlgn="b"/>
                      <a:r>
                        <a:rPr lang="en-US" altLang="zh-CN" sz="1200" b="0" i="0" u="none" strike="noStrike">
                          <a:solidFill>
                            <a:srgbClr val="000000"/>
                          </a:solidFill>
                          <a:effectLst/>
                          <a:latin typeface="+mn-ea"/>
                          <a:ea typeface="+mn-ea"/>
                        </a:rPr>
                        <a:t>52.86</a:t>
                      </a:r>
                    </a:p>
                  </a:txBody>
                  <a:tcPr marL="9525" marR="9525" marT="9525" marB="0" anchor="b"/>
                </a:tc>
                <a:extLst>
                  <a:ext uri="{0D108BD9-81ED-4DB2-BD59-A6C34878D82A}">
                    <a16:rowId xmlns:a16="http://schemas.microsoft.com/office/drawing/2014/main" val="10013"/>
                  </a:ext>
                </a:extLst>
              </a:tr>
              <a:tr h="257049">
                <a:tc>
                  <a:txBody>
                    <a:bodyPr/>
                    <a:lstStyle/>
                    <a:p>
                      <a:pPr algn="ctr" fontAlgn="b"/>
                      <a:r>
                        <a:rPr lang="en-US" altLang="zh-CN" sz="1200" b="0" i="0" u="none" strike="noStrike">
                          <a:solidFill>
                            <a:srgbClr val="000000"/>
                          </a:solidFill>
                          <a:effectLst/>
                          <a:latin typeface="+mn-ea"/>
                          <a:ea typeface="+mn-ea"/>
                        </a:rPr>
                        <a:t>14</a:t>
                      </a:r>
                    </a:p>
                  </a:txBody>
                  <a:tcPr marL="9525" marR="9525" marT="9525" marB="0" anchor="b"/>
                </a:tc>
                <a:tc>
                  <a:txBody>
                    <a:bodyPr/>
                    <a:lstStyle/>
                    <a:p>
                      <a:pPr algn="ctr" fontAlgn="b"/>
                      <a:r>
                        <a:rPr lang="zh-CN" altLang="en-US" sz="1200" b="0" i="0" u="none" strike="noStrike">
                          <a:solidFill>
                            <a:srgbClr val="000000"/>
                          </a:solidFill>
                          <a:effectLst/>
                          <a:latin typeface="+mn-ea"/>
                          <a:ea typeface="+mn-ea"/>
                        </a:rPr>
                        <a:t>金隅集团</a:t>
                      </a:r>
                    </a:p>
                  </a:txBody>
                  <a:tcPr marL="9525" marR="9525" marT="9525" marB="0" anchor="b"/>
                </a:tc>
                <a:tc>
                  <a:txBody>
                    <a:bodyPr/>
                    <a:lstStyle/>
                    <a:p>
                      <a:pPr algn="ctr" fontAlgn="b"/>
                      <a:r>
                        <a:rPr lang="en-US" altLang="zh-CN" sz="1200" b="0" i="0" u="none" strike="noStrike">
                          <a:solidFill>
                            <a:srgbClr val="000000"/>
                          </a:solidFill>
                          <a:effectLst/>
                          <a:latin typeface="+mn-ea"/>
                          <a:ea typeface="+mn-ea"/>
                        </a:rPr>
                        <a:t>1333</a:t>
                      </a:r>
                    </a:p>
                  </a:txBody>
                  <a:tcPr marL="9525" marR="9525" marT="9525" marB="0" anchor="b"/>
                </a:tc>
                <a:tc>
                  <a:txBody>
                    <a:bodyPr/>
                    <a:lstStyle/>
                    <a:p>
                      <a:pPr algn="ctr" fontAlgn="b"/>
                      <a:r>
                        <a:rPr lang="en-US" altLang="zh-CN" sz="1200" b="0" i="0" u="none" strike="noStrike">
                          <a:solidFill>
                            <a:srgbClr val="000000"/>
                          </a:solidFill>
                          <a:effectLst/>
                          <a:latin typeface="+mn-ea"/>
                          <a:ea typeface="+mn-ea"/>
                        </a:rPr>
                        <a:t>13.84</a:t>
                      </a:r>
                    </a:p>
                  </a:txBody>
                  <a:tcPr marL="9525" marR="9525" marT="9525" marB="0" anchor="b"/>
                </a:tc>
                <a:tc>
                  <a:txBody>
                    <a:bodyPr/>
                    <a:lstStyle/>
                    <a:p>
                      <a:pPr algn="ctr" fontAlgn="b"/>
                      <a:r>
                        <a:rPr lang="en-US" altLang="zh-CN" sz="1200" b="0" i="0" u="none" strike="noStrike">
                          <a:solidFill>
                            <a:srgbClr val="000000"/>
                          </a:solidFill>
                          <a:effectLst/>
                          <a:latin typeface="+mn-ea"/>
                          <a:ea typeface="+mn-ea"/>
                        </a:rPr>
                        <a:t>50.72</a:t>
                      </a:r>
                    </a:p>
                  </a:txBody>
                  <a:tcPr marL="9525" marR="9525" marT="9525" marB="0" anchor="b"/>
                </a:tc>
                <a:extLst>
                  <a:ext uri="{0D108BD9-81ED-4DB2-BD59-A6C34878D82A}">
                    <a16:rowId xmlns:a16="http://schemas.microsoft.com/office/drawing/2014/main" val="10014"/>
                  </a:ext>
                </a:extLst>
              </a:tr>
              <a:tr h="257049">
                <a:tc>
                  <a:txBody>
                    <a:bodyPr/>
                    <a:lstStyle/>
                    <a:p>
                      <a:pPr algn="ctr" fontAlgn="b"/>
                      <a:r>
                        <a:rPr lang="en-US" altLang="zh-CN" sz="1200" b="0" i="0" u="none" strike="noStrike">
                          <a:solidFill>
                            <a:srgbClr val="000000"/>
                          </a:solidFill>
                          <a:effectLst/>
                          <a:latin typeface="+mn-ea"/>
                          <a:ea typeface="+mn-ea"/>
                        </a:rPr>
                        <a:t>15</a:t>
                      </a:r>
                    </a:p>
                  </a:txBody>
                  <a:tcPr marL="9525" marR="9525" marT="9525" marB="0" anchor="b"/>
                </a:tc>
                <a:tc>
                  <a:txBody>
                    <a:bodyPr/>
                    <a:lstStyle/>
                    <a:p>
                      <a:pPr algn="ctr" fontAlgn="b"/>
                      <a:r>
                        <a:rPr lang="zh-CN" altLang="en-US" sz="1200" b="0" i="0" u="none" strike="noStrike">
                          <a:solidFill>
                            <a:srgbClr val="000000"/>
                          </a:solidFill>
                          <a:effectLst/>
                          <a:latin typeface="+mn-ea"/>
                          <a:ea typeface="+mn-ea"/>
                        </a:rPr>
                        <a:t>首农集团</a:t>
                      </a:r>
                    </a:p>
                  </a:txBody>
                  <a:tcPr marL="9525" marR="9525" marT="9525" marB="0" anchor="b"/>
                </a:tc>
                <a:tc>
                  <a:txBody>
                    <a:bodyPr/>
                    <a:lstStyle/>
                    <a:p>
                      <a:pPr algn="ctr" fontAlgn="b"/>
                      <a:r>
                        <a:rPr lang="en-US" altLang="zh-CN" sz="1200" b="0" i="0" u="none" strike="noStrike">
                          <a:solidFill>
                            <a:srgbClr val="000000"/>
                          </a:solidFill>
                          <a:effectLst/>
                          <a:latin typeface="+mn-ea"/>
                          <a:ea typeface="+mn-ea"/>
                        </a:rPr>
                        <a:t>2939</a:t>
                      </a:r>
                    </a:p>
                  </a:txBody>
                  <a:tcPr marL="9525" marR="9525" marT="9525" marB="0" anchor="b"/>
                </a:tc>
                <a:tc>
                  <a:txBody>
                    <a:bodyPr/>
                    <a:lstStyle/>
                    <a:p>
                      <a:pPr algn="ctr" fontAlgn="b"/>
                      <a:r>
                        <a:rPr lang="en-US" altLang="zh-CN" sz="1200" b="0" i="0" u="none" strike="noStrike">
                          <a:solidFill>
                            <a:srgbClr val="000000"/>
                          </a:solidFill>
                          <a:effectLst/>
                          <a:latin typeface="+mn-ea"/>
                          <a:ea typeface="+mn-ea"/>
                        </a:rPr>
                        <a:t>25.92</a:t>
                      </a:r>
                    </a:p>
                  </a:txBody>
                  <a:tcPr marL="9525" marR="9525" marT="9525" marB="0" anchor="b"/>
                </a:tc>
                <a:tc>
                  <a:txBody>
                    <a:bodyPr/>
                    <a:lstStyle/>
                    <a:p>
                      <a:pPr algn="ctr" fontAlgn="b"/>
                      <a:r>
                        <a:rPr lang="en-US" altLang="zh-CN" sz="1200" b="0" i="0" u="none" strike="noStrike" dirty="0">
                          <a:solidFill>
                            <a:srgbClr val="000000"/>
                          </a:solidFill>
                          <a:effectLst/>
                          <a:latin typeface="+mn-ea"/>
                          <a:ea typeface="+mn-ea"/>
                        </a:rPr>
                        <a:t>50.32</a:t>
                      </a:r>
                    </a:p>
                  </a:txBody>
                  <a:tcPr marL="9525" marR="9525" marT="9525" marB="0" anchor="b"/>
                </a:tc>
                <a:extLst>
                  <a:ext uri="{0D108BD9-81ED-4DB2-BD59-A6C34878D82A}">
                    <a16:rowId xmlns:a16="http://schemas.microsoft.com/office/drawing/2014/main" val="10015"/>
                  </a:ext>
                </a:extLst>
              </a:tr>
            </a:tbl>
          </a:graphicData>
        </a:graphic>
      </p:graphicFrame>
      <p:sp>
        <p:nvSpPr>
          <p:cNvPr id="9" name="TextBox 1"/>
          <p:cNvSpPr txBox="1"/>
          <p:nvPr/>
        </p:nvSpPr>
        <p:spPr>
          <a:xfrm>
            <a:off x="460460" y="719073"/>
            <a:ext cx="8443356" cy="685553"/>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285750" indent="-285750">
              <a:lnSpc>
                <a:spcPct val="150000"/>
              </a:lnSpc>
              <a:buClr>
                <a:srgbClr val="C00000"/>
              </a:buClr>
              <a:buFont typeface="Wingdings" pitchFamily="2" charset="2"/>
              <a:buChar char="p"/>
            </a:pPr>
            <a:r>
              <a:rPr lang="en-US" altLang="zh-CN" sz="1400" dirty="0">
                <a:latin typeface="微软雅黑" pitchFamily="34" charset="-122"/>
                <a:ea typeface="微软雅黑" pitchFamily="34" charset="-122"/>
              </a:rPr>
              <a:t>9</a:t>
            </a:r>
            <a:r>
              <a:rPr lang="zh-CN" altLang="en-US" sz="1400" dirty="0">
                <a:latin typeface="微软雅黑" pitchFamily="34" charset="-122"/>
                <a:ea typeface="微软雅黑" pitchFamily="34" charset="-122"/>
              </a:rPr>
              <a:t>月，远洋地产收获</a:t>
            </a:r>
            <a:r>
              <a:rPr lang="en-US" altLang="zh-CN" sz="1400" b="1" dirty="0">
                <a:solidFill>
                  <a:srgbClr val="FF0000"/>
                </a:solidFill>
                <a:latin typeface="微软雅黑" pitchFamily="34" charset="-122"/>
                <a:ea typeface="微软雅黑" pitchFamily="34" charset="-122"/>
              </a:rPr>
              <a:t>25.92</a:t>
            </a:r>
            <a:r>
              <a:rPr lang="zh-CN" altLang="en-US" sz="1400" b="1" dirty="0">
                <a:solidFill>
                  <a:srgbClr val="FF0000"/>
                </a:solidFill>
                <a:latin typeface="微软雅黑" pitchFamily="34" charset="-122"/>
                <a:ea typeface="微软雅黑" pitchFamily="34" charset="-122"/>
              </a:rPr>
              <a:t>亿元</a:t>
            </a:r>
            <a:r>
              <a:rPr lang="zh-CN" altLang="en-US" sz="1400" dirty="0">
                <a:latin typeface="微软雅黑" pitchFamily="34" charset="-122"/>
                <a:ea typeface="微软雅黑" pitchFamily="34" charset="-122"/>
              </a:rPr>
              <a:t>的销售业绩，荣获</a:t>
            </a:r>
            <a:r>
              <a:rPr lang="en-US" altLang="zh-CN" sz="1400" dirty="0">
                <a:latin typeface="微软雅黑" pitchFamily="34" charset="-122"/>
                <a:ea typeface="微软雅黑" pitchFamily="34" charset="-122"/>
              </a:rPr>
              <a:t>9</a:t>
            </a:r>
            <a:r>
              <a:rPr lang="zh-CN" altLang="en-US" sz="1400" dirty="0">
                <a:latin typeface="微软雅黑" pitchFamily="34" charset="-122"/>
                <a:ea typeface="微软雅黑" pitchFamily="34" charset="-122"/>
              </a:rPr>
              <a:t>月单月销售业绩冠军；</a:t>
            </a:r>
            <a:endParaRPr lang="en-US" altLang="zh-CN" sz="1400" dirty="0">
              <a:latin typeface="微软雅黑" pitchFamily="34" charset="-122"/>
              <a:ea typeface="微软雅黑" pitchFamily="34" charset="-122"/>
            </a:endParaRPr>
          </a:p>
          <a:p>
            <a:pPr marL="285750" indent="-285750">
              <a:lnSpc>
                <a:spcPct val="150000"/>
              </a:lnSpc>
              <a:buClr>
                <a:srgbClr val="C00000"/>
              </a:buClr>
              <a:buFont typeface="Wingdings" pitchFamily="2" charset="2"/>
              <a:buChar char="p"/>
            </a:pPr>
            <a:r>
              <a:rPr lang="zh-CN" altLang="en-US" sz="1400" dirty="0">
                <a:latin typeface="微软雅黑" pitchFamily="34" charset="-122"/>
                <a:ea typeface="微软雅黑" pitchFamily="34" charset="-122"/>
              </a:rPr>
              <a:t>和裕地产年内收获</a:t>
            </a:r>
            <a:r>
              <a:rPr lang="en-US" altLang="zh-CN" sz="1400" b="1" dirty="0">
                <a:solidFill>
                  <a:srgbClr val="FF0000"/>
                </a:solidFill>
                <a:latin typeface="微软雅黑" pitchFamily="34" charset="-122"/>
                <a:ea typeface="微软雅黑" pitchFamily="34" charset="-122"/>
              </a:rPr>
              <a:t>151.67</a:t>
            </a:r>
            <a:r>
              <a:rPr lang="zh-CN" altLang="en-US" sz="1400" b="1" dirty="0">
                <a:solidFill>
                  <a:srgbClr val="FF0000"/>
                </a:solidFill>
                <a:latin typeface="微软雅黑" pitchFamily="34" charset="-122"/>
                <a:ea typeface="微软雅黑" pitchFamily="34" charset="-122"/>
              </a:rPr>
              <a:t>亿元</a:t>
            </a:r>
            <a:r>
              <a:rPr lang="zh-CN" altLang="en-US" sz="1400" dirty="0">
                <a:latin typeface="微软雅黑" pitchFamily="34" charset="-122"/>
                <a:ea typeface="微软雅黑" pitchFamily="34" charset="-122"/>
              </a:rPr>
              <a:t>的成交金额，当前为</a:t>
            </a:r>
            <a:r>
              <a:rPr lang="en-US" altLang="zh-CN" sz="1400" dirty="0">
                <a:latin typeface="微软雅黑" pitchFamily="34" charset="-122"/>
                <a:ea typeface="微软雅黑" pitchFamily="34" charset="-122"/>
              </a:rPr>
              <a:t>2016</a:t>
            </a:r>
            <a:r>
              <a:rPr lang="zh-CN" altLang="en-US" sz="1400" dirty="0">
                <a:latin typeface="微软雅黑" pitchFamily="34" charset="-122"/>
                <a:ea typeface="微软雅黑" pitchFamily="34" charset="-122"/>
              </a:rPr>
              <a:t>年销售业绩冠军。</a:t>
            </a:r>
            <a:endParaRPr lang="en-US" altLang="zh-CN" sz="1400" dirty="0">
              <a:latin typeface="微软雅黑" pitchFamily="34" charset="-122"/>
              <a:ea typeface="微软雅黑" pitchFamily="34" charset="-122"/>
            </a:endParaRPr>
          </a:p>
          <a:p>
            <a:pPr>
              <a:lnSpc>
                <a:spcPct val="150000"/>
              </a:lnSpc>
              <a:buClr>
                <a:srgbClr val="C00000"/>
              </a:buClr>
            </a:pPr>
            <a:endParaRPr lang="en-US" altLang="zh-CN" sz="1400" dirty="0">
              <a:latin typeface="微软雅黑" pitchFamily="34" charset="-122"/>
              <a:ea typeface="微软雅黑" pitchFamily="34" charset="-122"/>
            </a:endParaRPr>
          </a:p>
        </p:txBody>
      </p:sp>
    </p:spTree>
    <p:extLst>
      <p:ext uri="{BB962C8B-B14F-4D97-AF65-F5344CB8AC3E}">
        <p14:creationId xmlns:p14="http://schemas.microsoft.com/office/powerpoint/2010/main" val="13994844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图表 7"/>
          <p:cNvGraphicFramePr>
            <a:graphicFrameLocks/>
          </p:cNvGraphicFramePr>
          <p:nvPr>
            <p:extLst>
              <p:ext uri="{D42A27DB-BD31-4B8C-83A1-F6EECF244321}">
                <p14:modId xmlns:p14="http://schemas.microsoft.com/office/powerpoint/2010/main" val="3150683844"/>
              </p:ext>
            </p:extLst>
          </p:nvPr>
        </p:nvGraphicFramePr>
        <p:xfrm>
          <a:off x="1383165" y="817929"/>
          <a:ext cx="6638925" cy="2905125"/>
        </p:xfrm>
        <a:graphic>
          <a:graphicData uri="http://schemas.openxmlformats.org/drawingml/2006/chart">
            <c:chart xmlns:c="http://schemas.openxmlformats.org/drawingml/2006/chart" xmlns:r="http://schemas.openxmlformats.org/officeDocument/2006/relationships" r:id="rId2"/>
          </a:graphicData>
        </a:graphic>
      </p:graphicFrame>
      <p:sp>
        <p:nvSpPr>
          <p:cNvPr id="2" name="幻灯片编号占位符 1"/>
          <p:cNvSpPr>
            <a:spLocks noGrp="1"/>
          </p:cNvSpPr>
          <p:nvPr>
            <p:ph type="sldNum" sz="quarter" idx="4"/>
          </p:nvPr>
        </p:nvSpPr>
        <p:spPr/>
        <p:txBody>
          <a:bodyPr/>
          <a:lstStyle/>
          <a:p>
            <a:pPr>
              <a:defRPr/>
            </a:pPr>
            <a:fld id="{3E8B6F27-EC4F-B34E-9F32-10CC92E9AB18}" type="slidenum">
              <a:rPr lang="zh-CN" altLang="en-US" smtClean="0"/>
              <a:t>23</a:t>
            </a:fld>
            <a:endParaRPr lang="zh-CN" altLang="en-US" dirty="0"/>
          </a:p>
        </p:txBody>
      </p:sp>
      <p:sp>
        <p:nvSpPr>
          <p:cNvPr id="5" name="标题 4"/>
          <p:cNvSpPr>
            <a:spLocks noGrp="1"/>
          </p:cNvSpPr>
          <p:nvPr>
            <p:ph type="title"/>
          </p:nvPr>
        </p:nvSpPr>
        <p:spPr/>
        <p:txBody>
          <a:bodyPr>
            <a:normAutofit/>
          </a:bodyPr>
          <a:lstStyle/>
          <a:p>
            <a:pPr marL="285750" indent="-285750"/>
            <a:r>
              <a:rPr lang="zh-CN" altLang="en-US" dirty="0"/>
              <a:t>一手房</a:t>
            </a:r>
            <a:r>
              <a:rPr lang="en-US" altLang="zh-CN" dirty="0"/>
              <a:t>| </a:t>
            </a:r>
            <a:r>
              <a:rPr lang="zh-CN" altLang="en-US" sz="1800" dirty="0"/>
              <a:t>存量继续下滑，公寓存量降幅领跑</a:t>
            </a:r>
            <a:endParaRPr lang="zh-CN" altLang="en-US" sz="1800" dirty="0">
              <a:solidFill>
                <a:schemeClr val="tx1">
                  <a:lumMod val="50000"/>
                </a:schemeClr>
              </a:solidFill>
              <a:latin typeface="微软雅黑" pitchFamily="34" charset="-122"/>
              <a:ea typeface="微软雅黑" pitchFamily="34" charset="-122"/>
            </a:endParaRPr>
          </a:p>
        </p:txBody>
      </p:sp>
      <p:sp>
        <p:nvSpPr>
          <p:cNvPr id="12" name="TextBox 11"/>
          <p:cNvSpPr txBox="1"/>
          <p:nvPr/>
        </p:nvSpPr>
        <p:spPr>
          <a:xfrm>
            <a:off x="114404" y="6507679"/>
            <a:ext cx="4320480" cy="261610"/>
          </a:xfrm>
          <a:prstGeom prst="rect">
            <a:avLst/>
          </a:prstGeom>
          <a:noFill/>
        </p:spPr>
        <p:txBody>
          <a:bodyPr wrap="square" rtlCol="0">
            <a:spAutoFit/>
          </a:bodyPr>
          <a:lstStyle/>
          <a:p>
            <a:r>
              <a:rPr lang="zh-CN" altLang="en-US" sz="1100" b="1" dirty="0">
                <a:latin typeface="+mj-ea"/>
                <a:ea typeface="+mj-ea"/>
              </a:rPr>
              <a:t>备注：一手房数据统计包含期房和现房，剔除保障房、车位及其它</a:t>
            </a:r>
          </a:p>
        </p:txBody>
      </p:sp>
      <p:cxnSp>
        <p:nvCxnSpPr>
          <p:cNvPr id="13" name="直接箭头连接符 12"/>
          <p:cNvCxnSpPr/>
          <p:nvPr/>
        </p:nvCxnSpPr>
        <p:spPr>
          <a:xfrm>
            <a:off x="5852556" y="1993586"/>
            <a:ext cx="1498270" cy="316374"/>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graphicFrame>
        <p:nvGraphicFramePr>
          <p:cNvPr id="10" name="图表 9"/>
          <p:cNvGraphicFramePr>
            <a:graphicFrameLocks/>
          </p:cNvGraphicFramePr>
          <p:nvPr>
            <p:extLst>
              <p:ext uri="{D42A27DB-BD31-4B8C-83A1-F6EECF244321}">
                <p14:modId xmlns:p14="http://schemas.microsoft.com/office/powerpoint/2010/main" val="1765332927"/>
              </p:ext>
            </p:extLst>
          </p:nvPr>
        </p:nvGraphicFramePr>
        <p:xfrm>
          <a:off x="1773752" y="3669475"/>
          <a:ext cx="5810250" cy="2838204"/>
        </p:xfrm>
        <a:graphic>
          <a:graphicData uri="http://schemas.openxmlformats.org/drawingml/2006/chart">
            <c:chart xmlns:c="http://schemas.openxmlformats.org/drawingml/2006/chart" xmlns:r="http://schemas.openxmlformats.org/officeDocument/2006/relationships" r:id="rId3"/>
          </a:graphicData>
        </a:graphic>
      </p:graphicFrame>
      <p:sp>
        <p:nvSpPr>
          <p:cNvPr id="14" name="矩形 13"/>
          <p:cNvSpPr/>
          <p:nvPr/>
        </p:nvSpPr>
        <p:spPr>
          <a:xfrm>
            <a:off x="4365787" y="4563176"/>
            <a:ext cx="942483" cy="1793174"/>
          </a:xfrm>
          <a:prstGeom prst="rect">
            <a:avLst/>
          </a:prstGeom>
          <a:noFill/>
          <a:ln w="25400">
            <a:solidFill>
              <a:srgbClr val="FF0000"/>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16" name="矩形 15"/>
          <p:cNvSpPr/>
          <p:nvPr/>
        </p:nvSpPr>
        <p:spPr>
          <a:xfrm>
            <a:off x="4365786" y="5370769"/>
            <a:ext cx="942483" cy="498783"/>
          </a:xfrm>
          <a:prstGeom prst="rect">
            <a:avLst/>
          </a:prstGeom>
          <a:solidFill>
            <a:schemeClr val="bg1">
              <a:lumMod val="65000"/>
              <a:alpha val="5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zh-CN" altLang="en-US" sz="1400" b="1" dirty="0">
                <a:solidFill>
                  <a:schemeClr val="tx1"/>
                </a:solidFill>
                <a:latin typeface="微软雅黑" pitchFamily="34" charset="-122"/>
                <a:ea typeface="微软雅黑" pitchFamily="34" charset="-122"/>
              </a:rPr>
              <a:t>环比下降</a:t>
            </a:r>
            <a:r>
              <a:rPr lang="en-US" altLang="zh-CN" sz="1400" b="1" dirty="0">
                <a:solidFill>
                  <a:schemeClr val="tx1"/>
                </a:solidFill>
                <a:latin typeface="微软雅黑" pitchFamily="34" charset="-122"/>
                <a:ea typeface="微软雅黑" pitchFamily="34" charset="-122"/>
              </a:rPr>
              <a:t>10.1%</a:t>
            </a:r>
            <a:endParaRPr lang="zh-CN" altLang="en-US" sz="1400" b="1" dirty="0">
              <a:solidFill>
                <a:schemeClr val="tx1"/>
              </a:solidFill>
              <a:latin typeface="微软雅黑" pitchFamily="34" charset="-122"/>
              <a:ea typeface="微软雅黑" pitchFamily="34" charset="-122"/>
            </a:endParaRPr>
          </a:p>
        </p:txBody>
      </p:sp>
    </p:spTree>
    <p:extLst>
      <p:ext uri="{BB962C8B-B14F-4D97-AF65-F5344CB8AC3E}">
        <p14:creationId xmlns:p14="http://schemas.microsoft.com/office/powerpoint/2010/main" val="31723449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图表 13"/>
          <p:cNvGraphicFramePr>
            <a:graphicFrameLocks/>
          </p:cNvGraphicFramePr>
          <p:nvPr>
            <p:extLst>
              <p:ext uri="{D42A27DB-BD31-4B8C-83A1-F6EECF244321}">
                <p14:modId xmlns:p14="http://schemas.microsoft.com/office/powerpoint/2010/main" val="951773264"/>
              </p:ext>
            </p:extLst>
          </p:nvPr>
        </p:nvGraphicFramePr>
        <p:xfrm>
          <a:off x="1056354" y="3689350"/>
          <a:ext cx="6757060" cy="2667000"/>
        </p:xfrm>
        <a:graphic>
          <a:graphicData uri="http://schemas.openxmlformats.org/drawingml/2006/chart">
            <c:chart xmlns:c="http://schemas.openxmlformats.org/drawingml/2006/chart" xmlns:r="http://schemas.openxmlformats.org/officeDocument/2006/relationships" r:id="rId2"/>
          </a:graphicData>
        </a:graphic>
      </p:graphicFrame>
      <p:sp>
        <p:nvSpPr>
          <p:cNvPr id="2" name="幻灯片编号占位符 1"/>
          <p:cNvSpPr>
            <a:spLocks noGrp="1"/>
          </p:cNvSpPr>
          <p:nvPr>
            <p:ph type="sldNum" sz="quarter" idx="4"/>
          </p:nvPr>
        </p:nvSpPr>
        <p:spPr/>
        <p:txBody>
          <a:bodyPr/>
          <a:lstStyle/>
          <a:p>
            <a:pPr>
              <a:defRPr/>
            </a:pPr>
            <a:fld id="{3E8B6F27-EC4F-B34E-9F32-10CC92E9AB18}" type="slidenum">
              <a:rPr lang="zh-CN" altLang="en-US" smtClean="0"/>
              <a:t>24</a:t>
            </a:fld>
            <a:endParaRPr lang="zh-CN" altLang="en-US" dirty="0"/>
          </a:p>
        </p:txBody>
      </p:sp>
      <p:sp>
        <p:nvSpPr>
          <p:cNvPr id="5" name="标题 4"/>
          <p:cNvSpPr>
            <a:spLocks noGrp="1"/>
          </p:cNvSpPr>
          <p:nvPr>
            <p:ph type="title"/>
          </p:nvPr>
        </p:nvSpPr>
        <p:spPr>
          <a:xfrm>
            <a:off x="162371" y="33484"/>
            <a:ext cx="6119676" cy="474662"/>
          </a:xfrm>
        </p:spPr>
        <p:txBody>
          <a:bodyPr>
            <a:normAutofit/>
          </a:bodyPr>
          <a:lstStyle/>
          <a:p>
            <a:pPr marL="285750" indent="-285750"/>
            <a:r>
              <a:rPr lang="zh-CN" altLang="en-US" dirty="0"/>
              <a:t>一手房</a:t>
            </a:r>
            <a:r>
              <a:rPr lang="en-US" altLang="zh-CN" dirty="0"/>
              <a:t>| </a:t>
            </a:r>
            <a:r>
              <a:rPr lang="zh-CN" altLang="en-US" sz="1800" dirty="0">
                <a:solidFill>
                  <a:schemeClr val="tx1">
                    <a:lumMod val="50000"/>
                  </a:schemeClr>
                </a:solidFill>
                <a:latin typeface="微软雅黑" pitchFamily="34" charset="-122"/>
                <a:ea typeface="微软雅黑" pitchFamily="34" charset="-122"/>
              </a:rPr>
              <a:t>公寓去化持续加速，去化时间仅为</a:t>
            </a:r>
            <a:r>
              <a:rPr lang="en-US" altLang="zh-CN" sz="1800" dirty="0">
                <a:solidFill>
                  <a:schemeClr val="tx1">
                    <a:lumMod val="50000"/>
                  </a:schemeClr>
                </a:solidFill>
                <a:latin typeface="微软雅黑" pitchFamily="34" charset="-122"/>
                <a:ea typeface="微软雅黑" pitchFamily="34" charset="-122"/>
              </a:rPr>
              <a:t>7</a:t>
            </a:r>
            <a:r>
              <a:rPr lang="zh-CN" altLang="en-US" sz="1800" dirty="0">
                <a:solidFill>
                  <a:schemeClr val="tx1">
                    <a:lumMod val="50000"/>
                  </a:schemeClr>
                </a:solidFill>
                <a:latin typeface="微软雅黑" pitchFamily="34" charset="-122"/>
                <a:ea typeface="微软雅黑" pitchFamily="34" charset="-122"/>
              </a:rPr>
              <a:t>个月</a:t>
            </a:r>
          </a:p>
        </p:txBody>
      </p:sp>
      <p:sp>
        <p:nvSpPr>
          <p:cNvPr id="12" name="TextBox 11"/>
          <p:cNvSpPr txBox="1"/>
          <p:nvPr/>
        </p:nvSpPr>
        <p:spPr>
          <a:xfrm>
            <a:off x="114404" y="6519886"/>
            <a:ext cx="4320480" cy="261610"/>
          </a:xfrm>
          <a:prstGeom prst="rect">
            <a:avLst/>
          </a:prstGeom>
          <a:noFill/>
        </p:spPr>
        <p:txBody>
          <a:bodyPr wrap="square" rtlCol="0">
            <a:spAutoFit/>
          </a:bodyPr>
          <a:lstStyle/>
          <a:p>
            <a:r>
              <a:rPr lang="zh-CN" altLang="en-US" sz="1100" b="1" dirty="0">
                <a:latin typeface="+mj-ea"/>
                <a:ea typeface="+mj-ea"/>
              </a:rPr>
              <a:t>备注：去化周期</a:t>
            </a:r>
            <a:r>
              <a:rPr lang="en-US" altLang="zh-CN" sz="1100" b="1" dirty="0">
                <a:latin typeface="+mj-ea"/>
                <a:ea typeface="+mj-ea"/>
              </a:rPr>
              <a:t>=</a:t>
            </a:r>
            <a:r>
              <a:rPr lang="zh-CN" altLang="en-US" sz="1100" b="1" dirty="0">
                <a:latin typeface="+mj-ea"/>
                <a:ea typeface="+mj-ea"/>
              </a:rPr>
              <a:t>当期存量</a:t>
            </a:r>
            <a:r>
              <a:rPr lang="en-US" altLang="zh-CN" sz="1100" b="1" dirty="0">
                <a:latin typeface="+mj-ea"/>
                <a:ea typeface="+mj-ea"/>
              </a:rPr>
              <a:t>/</a:t>
            </a:r>
            <a:r>
              <a:rPr lang="zh-CN" altLang="en-US" sz="1100" b="1" dirty="0">
                <a:latin typeface="+mj-ea"/>
                <a:ea typeface="+mj-ea"/>
              </a:rPr>
              <a:t>近</a:t>
            </a:r>
            <a:r>
              <a:rPr lang="en-US" altLang="zh-CN" sz="1100" b="1" dirty="0">
                <a:latin typeface="+mj-ea"/>
                <a:ea typeface="+mj-ea"/>
              </a:rPr>
              <a:t>12</a:t>
            </a:r>
            <a:r>
              <a:rPr lang="zh-CN" altLang="en-US" sz="1100" b="1" dirty="0">
                <a:latin typeface="+mj-ea"/>
                <a:ea typeface="+mj-ea"/>
              </a:rPr>
              <a:t>月平均成交量 </a:t>
            </a:r>
          </a:p>
        </p:txBody>
      </p:sp>
      <p:graphicFrame>
        <p:nvGraphicFramePr>
          <p:cNvPr id="16" name="图表 15"/>
          <p:cNvGraphicFramePr>
            <a:graphicFrameLocks/>
          </p:cNvGraphicFramePr>
          <p:nvPr>
            <p:extLst>
              <p:ext uri="{D42A27DB-BD31-4B8C-83A1-F6EECF244321}">
                <p14:modId xmlns:p14="http://schemas.microsoft.com/office/powerpoint/2010/main" val="2698754110"/>
              </p:ext>
            </p:extLst>
          </p:nvPr>
        </p:nvGraphicFramePr>
        <p:xfrm>
          <a:off x="1322490" y="736269"/>
          <a:ext cx="6633977" cy="3153270"/>
        </p:xfrm>
        <a:graphic>
          <a:graphicData uri="http://schemas.openxmlformats.org/drawingml/2006/chart">
            <c:chart xmlns:c="http://schemas.openxmlformats.org/drawingml/2006/chart" xmlns:r="http://schemas.openxmlformats.org/officeDocument/2006/relationships" r:id="rId3"/>
          </a:graphicData>
        </a:graphic>
      </p:graphicFrame>
      <p:sp>
        <p:nvSpPr>
          <p:cNvPr id="18" name="矩形 17"/>
          <p:cNvSpPr/>
          <p:nvPr/>
        </p:nvSpPr>
        <p:spPr>
          <a:xfrm>
            <a:off x="7723799" y="4419460"/>
            <a:ext cx="1099567" cy="693112"/>
          </a:xfrm>
          <a:prstGeom prst="rect">
            <a:avLst/>
          </a:prstGeom>
          <a:solidFill>
            <a:schemeClr val="bg1">
              <a:lumMod val="65000"/>
              <a:alpha val="5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zh-CN" altLang="en-US" sz="1400" b="1" dirty="0">
                <a:solidFill>
                  <a:schemeClr val="tx1"/>
                </a:solidFill>
                <a:latin typeface="微软雅黑" pitchFamily="34" charset="-122"/>
                <a:ea typeface="微软雅黑" pitchFamily="34" charset="-122"/>
              </a:rPr>
              <a:t>年内公寓去化周期下降最快</a:t>
            </a:r>
          </a:p>
        </p:txBody>
      </p:sp>
    </p:spTree>
    <p:extLst>
      <p:ext uri="{BB962C8B-B14F-4D97-AF65-F5344CB8AC3E}">
        <p14:creationId xmlns:p14="http://schemas.microsoft.com/office/powerpoint/2010/main" val="2389222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图表 18"/>
          <p:cNvGraphicFramePr>
            <a:graphicFrameLocks/>
          </p:cNvGraphicFramePr>
          <p:nvPr>
            <p:extLst>
              <p:ext uri="{D42A27DB-BD31-4B8C-83A1-F6EECF244321}">
                <p14:modId xmlns:p14="http://schemas.microsoft.com/office/powerpoint/2010/main" val="3337986220"/>
              </p:ext>
            </p:extLst>
          </p:nvPr>
        </p:nvGraphicFramePr>
        <p:xfrm>
          <a:off x="798962" y="3809713"/>
          <a:ext cx="75767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8" name="图表 17"/>
          <p:cNvGraphicFramePr>
            <a:graphicFrameLocks/>
          </p:cNvGraphicFramePr>
          <p:nvPr>
            <p:extLst>
              <p:ext uri="{D42A27DB-BD31-4B8C-83A1-F6EECF244321}">
                <p14:modId xmlns:p14="http://schemas.microsoft.com/office/powerpoint/2010/main" val="2575643258"/>
              </p:ext>
            </p:extLst>
          </p:nvPr>
        </p:nvGraphicFramePr>
        <p:xfrm>
          <a:off x="798961" y="1449840"/>
          <a:ext cx="7425542" cy="2847975"/>
        </p:xfrm>
        <a:graphic>
          <a:graphicData uri="http://schemas.openxmlformats.org/drawingml/2006/chart">
            <c:chart xmlns:c="http://schemas.openxmlformats.org/drawingml/2006/chart" xmlns:r="http://schemas.openxmlformats.org/officeDocument/2006/relationships" r:id="rId3"/>
          </a:graphicData>
        </a:graphic>
      </p:graphicFrame>
      <p:sp>
        <p:nvSpPr>
          <p:cNvPr id="4" name="灯片编号占位符 3"/>
          <p:cNvSpPr>
            <a:spLocks noGrp="1"/>
          </p:cNvSpPr>
          <p:nvPr>
            <p:ph type="sldNum" sz="quarter" idx="4"/>
          </p:nvPr>
        </p:nvSpPr>
        <p:spPr/>
        <p:txBody>
          <a:bodyPr/>
          <a:lstStyle/>
          <a:p>
            <a:pPr>
              <a:defRPr/>
            </a:pPr>
            <a:fld id="{3E8B6F27-EC4F-B34E-9F32-10CC92E9AB18}" type="slidenum">
              <a:rPr lang="zh-CN" altLang="en-US" smtClean="0"/>
              <a:pPr>
                <a:defRPr/>
              </a:pPr>
              <a:t>25</a:t>
            </a:fld>
            <a:endParaRPr lang="zh-CN" altLang="en-US" dirty="0"/>
          </a:p>
        </p:txBody>
      </p:sp>
      <p:sp>
        <p:nvSpPr>
          <p:cNvPr id="16" name="TextBox 1"/>
          <p:cNvSpPr txBox="1"/>
          <p:nvPr/>
        </p:nvSpPr>
        <p:spPr>
          <a:xfrm>
            <a:off x="798961" y="701825"/>
            <a:ext cx="7633220" cy="911822"/>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285750" indent="-285750">
              <a:lnSpc>
                <a:spcPct val="150000"/>
              </a:lnSpc>
              <a:buClr>
                <a:srgbClr val="C00000"/>
              </a:buClr>
              <a:buFont typeface="Wingdings" pitchFamily="2" charset="2"/>
              <a:buChar char="p"/>
            </a:pPr>
            <a:r>
              <a:rPr lang="en-US" altLang="zh-CN" sz="1400" dirty="0">
                <a:latin typeface="微软雅黑" pitchFamily="34" charset="-122"/>
                <a:ea typeface="微软雅黑" pitchFamily="34" charset="-122"/>
              </a:rPr>
              <a:t>9</a:t>
            </a:r>
            <a:r>
              <a:rPr lang="zh-CN" altLang="en-US" sz="1400" dirty="0">
                <a:latin typeface="微软雅黑" pitchFamily="34" charset="-122"/>
                <a:ea typeface="微软雅黑" pitchFamily="34" charset="-122"/>
              </a:rPr>
              <a:t>月北京二手住宅市场延续了</a:t>
            </a:r>
            <a:r>
              <a:rPr lang="en-US" altLang="zh-CN" sz="1400" dirty="0">
                <a:latin typeface="微软雅黑" pitchFamily="34" charset="-122"/>
                <a:ea typeface="微软雅黑" pitchFamily="34" charset="-122"/>
              </a:rPr>
              <a:t>6</a:t>
            </a:r>
            <a:r>
              <a:rPr lang="zh-CN" altLang="en-US" sz="1400" dirty="0">
                <a:latin typeface="微软雅黑" pitchFamily="34" charset="-122"/>
                <a:ea typeface="微软雅黑" pitchFamily="34" charset="-122"/>
              </a:rPr>
              <a:t>月以来的升温态势，再度突破</a:t>
            </a:r>
            <a:r>
              <a:rPr lang="en-US" altLang="zh-CN" sz="1400" dirty="0">
                <a:latin typeface="微软雅黑" pitchFamily="34" charset="-122"/>
                <a:ea typeface="微软雅黑" pitchFamily="34" charset="-122"/>
              </a:rPr>
              <a:t>3</a:t>
            </a:r>
            <a:r>
              <a:rPr lang="zh-CN" altLang="en-US" sz="1400" dirty="0">
                <a:latin typeface="微软雅黑" pitchFamily="34" charset="-122"/>
                <a:ea typeface="微软雅黑" pitchFamily="34" charset="-122"/>
              </a:rPr>
              <a:t>万套，环比上升</a:t>
            </a:r>
            <a:r>
              <a:rPr lang="en-US" altLang="zh-CN" sz="1400" b="1" dirty="0">
                <a:solidFill>
                  <a:srgbClr val="FF0000"/>
                </a:solidFill>
                <a:latin typeface="微软雅黑" pitchFamily="34" charset="-122"/>
                <a:ea typeface="微软雅黑" pitchFamily="34" charset="-122"/>
              </a:rPr>
              <a:t>18.9%</a:t>
            </a:r>
            <a:r>
              <a:rPr lang="zh-CN" altLang="en-US" sz="1400" dirty="0">
                <a:latin typeface="微软雅黑" pitchFamily="34" charset="-122"/>
                <a:ea typeface="微软雅黑" pitchFamily="34" charset="-122"/>
              </a:rPr>
              <a:t>；</a:t>
            </a:r>
            <a:endParaRPr lang="en-US" altLang="zh-CN" sz="1400" dirty="0">
              <a:latin typeface="微软雅黑" pitchFamily="34" charset="-122"/>
              <a:ea typeface="微软雅黑" pitchFamily="34" charset="-122"/>
            </a:endParaRPr>
          </a:p>
          <a:p>
            <a:pPr marL="285750" indent="-285750">
              <a:lnSpc>
                <a:spcPct val="150000"/>
              </a:lnSpc>
              <a:buClr>
                <a:srgbClr val="C00000"/>
              </a:buClr>
              <a:buFont typeface="Wingdings" pitchFamily="2" charset="2"/>
              <a:buChar char="p"/>
            </a:pPr>
            <a:r>
              <a:rPr lang="zh-CN" altLang="en-US" sz="1400" dirty="0">
                <a:latin typeface="微软雅黑" pitchFamily="34" charset="-122"/>
                <a:ea typeface="微软雅黑" pitchFamily="34" charset="-122"/>
              </a:rPr>
              <a:t>价格方面，</a:t>
            </a:r>
            <a:r>
              <a:rPr lang="en-US" altLang="zh-CN" sz="1400" dirty="0">
                <a:latin typeface="微软雅黑" pitchFamily="34" charset="-122"/>
                <a:ea typeface="微软雅黑" pitchFamily="34" charset="-122"/>
              </a:rPr>
              <a:t>9</a:t>
            </a:r>
            <a:r>
              <a:rPr lang="zh-CN" altLang="en-US" sz="1400" dirty="0">
                <a:latin typeface="微软雅黑" pitchFamily="34" charset="-122"/>
                <a:ea typeface="微软雅黑" pitchFamily="34" charset="-122"/>
              </a:rPr>
              <a:t>月市场再度出现恐慌性购房，价格涨幅持续扩大，环比上涨</a:t>
            </a:r>
            <a:r>
              <a:rPr lang="en-US" altLang="zh-CN" sz="1400" b="1" dirty="0">
                <a:solidFill>
                  <a:srgbClr val="FF0000"/>
                </a:solidFill>
                <a:latin typeface="微软雅黑" pitchFamily="34" charset="-122"/>
                <a:ea typeface="微软雅黑" pitchFamily="34" charset="-122"/>
              </a:rPr>
              <a:t>4.9%</a:t>
            </a:r>
            <a:r>
              <a:rPr lang="zh-CN" altLang="en-US" sz="1400" dirty="0">
                <a:latin typeface="微软雅黑" pitchFamily="34" charset="-122"/>
                <a:ea typeface="微软雅黑" pitchFamily="34" charset="-122"/>
              </a:rPr>
              <a:t>至</a:t>
            </a:r>
            <a:r>
              <a:rPr lang="en-US" altLang="zh-CN" sz="1400" b="1" dirty="0">
                <a:solidFill>
                  <a:srgbClr val="FF0000"/>
                </a:solidFill>
                <a:latin typeface="微软雅黑" pitchFamily="34" charset="-122"/>
                <a:ea typeface="微软雅黑" pitchFamily="34" charset="-122"/>
              </a:rPr>
              <a:t>5.1</a:t>
            </a:r>
            <a:r>
              <a:rPr lang="zh-CN" altLang="en-US" sz="1400" dirty="0">
                <a:latin typeface="微软雅黑" pitchFamily="34" charset="-122"/>
                <a:ea typeface="微软雅黑" pitchFamily="34" charset="-122"/>
              </a:rPr>
              <a:t>万</a:t>
            </a:r>
            <a:r>
              <a:rPr lang="en-US" altLang="zh-CN" sz="1400" dirty="0">
                <a:latin typeface="微软雅黑" pitchFamily="34" charset="-122"/>
                <a:ea typeface="微软雅黑" pitchFamily="34" charset="-122"/>
              </a:rPr>
              <a:t>/</a:t>
            </a:r>
            <a:r>
              <a:rPr lang="zh-CN" altLang="en-US" sz="1400" dirty="0">
                <a:latin typeface="微软雅黑" pitchFamily="34" charset="-122"/>
                <a:ea typeface="微软雅黑" pitchFamily="34" charset="-122"/>
              </a:rPr>
              <a:t>平。</a:t>
            </a:r>
          </a:p>
        </p:txBody>
      </p:sp>
      <p:sp>
        <p:nvSpPr>
          <p:cNvPr id="17" name="标题 1"/>
          <p:cNvSpPr txBox="1">
            <a:spLocks/>
          </p:cNvSpPr>
          <p:nvPr/>
        </p:nvSpPr>
        <p:spPr>
          <a:xfrm>
            <a:off x="162371" y="70471"/>
            <a:ext cx="5770078" cy="474662"/>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2400" b="1" i="0" kern="1200">
                <a:solidFill>
                  <a:srgbClr val="404040"/>
                </a:solidFill>
                <a:latin typeface="Microsoft YaHei"/>
                <a:ea typeface="+mj-ea"/>
                <a:cs typeface="Microsoft YaHei"/>
              </a:defRPr>
            </a:lvl1pPr>
          </a:lstStyle>
          <a:p>
            <a:r>
              <a:rPr lang="zh-CN" altLang="en-US" dirty="0"/>
              <a:t>二手房</a:t>
            </a:r>
            <a:r>
              <a:rPr lang="en-US" altLang="zh-CN" dirty="0"/>
              <a:t>|</a:t>
            </a:r>
            <a:r>
              <a:rPr lang="zh-CN" altLang="en-US" sz="1800" dirty="0"/>
              <a:t>交易量连续</a:t>
            </a:r>
            <a:r>
              <a:rPr lang="en-US" altLang="zh-CN" sz="1800" dirty="0"/>
              <a:t>3</a:t>
            </a:r>
            <a:r>
              <a:rPr lang="zh-CN" altLang="en-US" sz="1800" dirty="0"/>
              <a:t>月上升，价格涨幅持续扩大</a:t>
            </a:r>
            <a:endParaRPr lang="zh-CN" altLang="en-US" sz="1400" dirty="0"/>
          </a:p>
        </p:txBody>
      </p:sp>
      <p:sp>
        <p:nvSpPr>
          <p:cNvPr id="15" name="TextBox 14"/>
          <p:cNvSpPr txBox="1"/>
          <p:nvPr/>
        </p:nvSpPr>
        <p:spPr>
          <a:xfrm>
            <a:off x="94299" y="6550368"/>
            <a:ext cx="4578062" cy="276999"/>
          </a:xfrm>
          <a:prstGeom prst="rect">
            <a:avLst/>
          </a:prstGeom>
          <a:noFill/>
        </p:spPr>
        <p:txBody>
          <a:bodyPr wrap="square" rtlCol="0">
            <a:spAutoFit/>
          </a:bodyPr>
          <a:lstStyle/>
          <a:p>
            <a:r>
              <a:rPr lang="zh-CN" altLang="en-US" sz="1200" dirty="0"/>
              <a:t>备注：统计物业含普通住宅、别墅、公寓</a:t>
            </a:r>
          </a:p>
        </p:txBody>
      </p:sp>
      <p:cxnSp>
        <p:nvCxnSpPr>
          <p:cNvPr id="3" name="直接箭头连接符 2"/>
          <p:cNvCxnSpPr/>
          <p:nvPr/>
        </p:nvCxnSpPr>
        <p:spPr>
          <a:xfrm flipV="1">
            <a:off x="6961049" y="2636322"/>
            <a:ext cx="750435" cy="510639"/>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20" name="矩形 19"/>
          <p:cNvSpPr/>
          <p:nvPr/>
        </p:nvSpPr>
        <p:spPr>
          <a:xfrm>
            <a:off x="6887828" y="2897579"/>
            <a:ext cx="1077424" cy="498764"/>
          </a:xfrm>
          <a:prstGeom prst="rect">
            <a:avLst/>
          </a:prstGeom>
          <a:solidFill>
            <a:schemeClr val="bg1">
              <a:lumMod val="65000"/>
              <a:alpha val="5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1400" b="1" dirty="0">
                <a:solidFill>
                  <a:schemeClr val="tx1"/>
                </a:solidFill>
                <a:latin typeface="微软雅黑" pitchFamily="34" charset="-122"/>
                <a:ea typeface="微软雅黑" pitchFamily="34" charset="-122"/>
              </a:rPr>
              <a:t>环比上升</a:t>
            </a:r>
            <a:r>
              <a:rPr lang="en-US" altLang="zh-CN" sz="1400" b="1" dirty="0">
                <a:solidFill>
                  <a:schemeClr val="tx1"/>
                </a:solidFill>
                <a:latin typeface="微软雅黑" pitchFamily="34" charset="-122"/>
                <a:ea typeface="微软雅黑" pitchFamily="34" charset="-122"/>
              </a:rPr>
              <a:t>18.9%</a:t>
            </a:r>
          </a:p>
        </p:txBody>
      </p:sp>
      <p:sp>
        <p:nvSpPr>
          <p:cNvPr id="2" name="TextBox 1"/>
          <p:cNvSpPr txBox="1"/>
          <p:nvPr/>
        </p:nvSpPr>
        <p:spPr>
          <a:xfrm flipH="1">
            <a:off x="7768003" y="4687484"/>
            <a:ext cx="664178" cy="261610"/>
          </a:xfrm>
          <a:prstGeom prst="rect">
            <a:avLst/>
          </a:prstGeom>
          <a:noFill/>
        </p:spPr>
        <p:txBody>
          <a:bodyPr wrap="square" rtlCol="0">
            <a:spAutoFit/>
          </a:bodyPr>
          <a:lstStyle/>
          <a:p>
            <a:r>
              <a:rPr lang="en-US" altLang="zh-CN" sz="1100" b="1" dirty="0">
                <a:solidFill>
                  <a:srgbClr val="FF0000"/>
                </a:solidFill>
                <a:latin typeface="+mj-ea"/>
                <a:ea typeface="+mj-ea"/>
              </a:rPr>
              <a:t>4.9%</a:t>
            </a:r>
            <a:endParaRPr lang="zh-CN" altLang="en-US" sz="1100" b="1" dirty="0">
              <a:solidFill>
                <a:srgbClr val="FF0000"/>
              </a:solidFill>
              <a:latin typeface="+mj-ea"/>
              <a:ea typeface="+mj-ea"/>
            </a:endParaRPr>
          </a:p>
        </p:txBody>
      </p:sp>
      <p:cxnSp>
        <p:nvCxnSpPr>
          <p:cNvPr id="24" name="直接箭头连接符 23"/>
          <p:cNvCxnSpPr/>
          <p:nvPr/>
        </p:nvCxnSpPr>
        <p:spPr>
          <a:xfrm flipV="1">
            <a:off x="7383551" y="4865610"/>
            <a:ext cx="0" cy="226936"/>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379061" y="4865610"/>
            <a:ext cx="636323" cy="276999"/>
          </a:xfrm>
          <a:prstGeom prst="rect">
            <a:avLst/>
          </a:prstGeom>
          <a:noFill/>
        </p:spPr>
        <p:txBody>
          <a:bodyPr wrap="square" rtlCol="0">
            <a:spAutoFit/>
          </a:bodyPr>
          <a:lstStyle/>
          <a:p>
            <a:r>
              <a:rPr lang="en-US" altLang="zh-CN" sz="1200" b="1" dirty="0">
                <a:solidFill>
                  <a:srgbClr val="FF0000"/>
                </a:solidFill>
                <a:latin typeface="+mj-ea"/>
                <a:ea typeface="+mj-ea"/>
              </a:rPr>
              <a:t>2.1</a:t>
            </a:r>
            <a:r>
              <a:rPr lang="en-US" altLang="zh-CN" sz="1100" b="1" dirty="0">
                <a:solidFill>
                  <a:srgbClr val="FF0000"/>
                </a:solidFill>
                <a:latin typeface="+mj-ea"/>
                <a:ea typeface="+mj-ea"/>
              </a:rPr>
              <a:t>%</a:t>
            </a:r>
            <a:endParaRPr lang="zh-CN" altLang="en-US" sz="1100" b="1" dirty="0">
              <a:solidFill>
                <a:srgbClr val="FF0000"/>
              </a:solidFill>
              <a:latin typeface="+mj-ea"/>
              <a:ea typeface="+mj-ea"/>
            </a:endParaRPr>
          </a:p>
        </p:txBody>
      </p:sp>
      <p:cxnSp>
        <p:nvCxnSpPr>
          <p:cNvPr id="26" name="直接箭头连接符 25"/>
          <p:cNvCxnSpPr/>
          <p:nvPr/>
        </p:nvCxnSpPr>
        <p:spPr>
          <a:xfrm flipV="1">
            <a:off x="6914089" y="4949094"/>
            <a:ext cx="0" cy="226936"/>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873052" y="4947130"/>
            <a:ext cx="636323" cy="276999"/>
          </a:xfrm>
          <a:prstGeom prst="rect">
            <a:avLst/>
          </a:prstGeom>
          <a:noFill/>
        </p:spPr>
        <p:txBody>
          <a:bodyPr wrap="square" rtlCol="0">
            <a:spAutoFit/>
          </a:bodyPr>
          <a:lstStyle/>
          <a:p>
            <a:r>
              <a:rPr lang="en-US" altLang="zh-CN" sz="1200" b="1" dirty="0">
                <a:solidFill>
                  <a:srgbClr val="FF0000"/>
                </a:solidFill>
                <a:latin typeface="+mj-ea"/>
                <a:ea typeface="+mj-ea"/>
              </a:rPr>
              <a:t>1.2%</a:t>
            </a:r>
            <a:endParaRPr lang="zh-CN" altLang="en-US" sz="1200" b="1" dirty="0">
              <a:solidFill>
                <a:srgbClr val="FF0000"/>
              </a:solidFill>
              <a:latin typeface="+mj-ea"/>
              <a:ea typeface="+mj-ea"/>
            </a:endParaRPr>
          </a:p>
        </p:txBody>
      </p:sp>
      <p:cxnSp>
        <p:nvCxnSpPr>
          <p:cNvPr id="23" name="直接箭头连接符 22"/>
          <p:cNvCxnSpPr/>
          <p:nvPr/>
        </p:nvCxnSpPr>
        <p:spPr>
          <a:xfrm flipV="1">
            <a:off x="7776322" y="4704821"/>
            <a:ext cx="0" cy="226936"/>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309042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3E8B6F27-EC4F-B34E-9F32-10CC92E9AB18}" type="slidenum">
              <a:rPr lang="zh-CN" altLang="en-US" smtClean="0"/>
              <a:pPr>
                <a:defRPr/>
              </a:pPr>
              <a:t>26</a:t>
            </a:fld>
            <a:endParaRPr lang="zh-CN" altLang="en-US" dirty="0"/>
          </a:p>
        </p:txBody>
      </p:sp>
      <p:sp>
        <p:nvSpPr>
          <p:cNvPr id="14" name="标题 1"/>
          <p:cNvSpPr txBox="1">
            <a:spLocks/>
          </p:cNvSpPr>
          <p:nvPr/>
        </p:nvSpPr>
        <p:spPr>
          <a:xfrm>
            <a:off x="162371" y="70471"/>
            <a:ext cx="6773688" cy="474662"/>
          </a:xfrm>
          <a:prstGeom prst="rect">
            <a:avLst/>
          </a:prstGeom>
        </p:spPr>
        <p:txBody>
          <a:bodyPr vert="horz" lIns="91440" tIns="45720" rIns="91440" bIns="45720" rtlCol="0" anchor="ctr">
            <a:noAutofit/>
          </a:bodyPr>
          <a:lstStyle>
            <a:lvl1pPr algn="l" defTabSz="457200" rtl="0" eaLnBrk="1" latinLnBrk="0" hangingPunct="1">
              <a:spcBef>
                <a:spcPct val="0"/>
              </a:spcBef>
              <a:buNone/>
              <a:defRPr sz="2400" b="1" i="0" kern="1200">
                <a:solidFill>
                  <a:srgbClr val="404040"/>
                </a:solidFill>
                <a:latin typeface="Microsoft YaHei"/>
                <a:ea typeface="+mj-ea"/>
                <a:cs typeface="Microsoft YaHei"/>
              </a:defRPr>
            </a:lvl1pPr>
          </a:lstStyle>
          <a:p>
            <a:r>
              <a:rPr lang="zh-CN" altLang="en-US" sz="2200" dirty="0"/>
              <a:t>二手房</a:t>
            </a:r>
            <a:r>
              <a:rPr lang="en-US" altLang="zh-CN" sz="2000" dirty="0"/>
              <a:t>|</a:t>
            </a:r>
            <a:r>
              <a:rPr lang="zh-CN" altLang="en-US" sz="1800" dirty="0"/>
              <a:t>“国庆周”网签量创</a:t>
            </a:r>
            <a:r>
              <a:rPr lang="en-US" altLang="zh-CN" sz="1800" dirty="0"/>
              <a:t>6</a:t>
            </a:r>
            <a:r>
              <a:rPr lang="zh-CN" altLang="en-US" sz="1800" dirty="0"/>
              <a:t>年来新高，环比呈现明显下降趋势</a:t>
            </a:r>
            <a:endParaRPr lang="zh-CN" altLang="en-US" sz="1600" dirty="0"/>
          </a:p>
        </p:txBody>
      </p:sp>
      <p:graphicFrame>
        <p:nvGraphicFramePr>
          <p:cNvPr id="11" name="图表 10"/>
          <p:cNvGraphicFramePr>
            <a:graphicFrameLocks/>
          </p:cNvGraphicFramePr>
          <p:nvPr>
            <p:extLst>
              <p:ext uri="{D42A27DB-BD31-4B8C-83A1-F6EECF244321}">
                <p14:modId xmlns:p14="http://schemas.microsoft.com/office/powerpoint/2010/main" val="1579112025"/>
              </p:ext>
            </p:extLst>
          </p:nvPr>
        </p:nvGraphicFramePr>
        <p:xfrm>
          <a:off x="1208336" y="834283"/>
          <a:ext cx="671821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3" name="图表 12"/>
          <p:cNvGraphicFramePr>
            <a:graphicFrameLocks/>
          </p:cNvGraphicFramePr>
          <p:nvPr>
            <p:extLst>
              <p:ext uri="{D42A27DB-BD31-4B8C-83A1-F6EECF244321}">
                <p14:modId xmlns:p14="http://schemas.microsoft.com/office/powerpoint/2010/main" val="3442666587"/>
              </p:ext>
            </p:extLst>
          </p:nvPr>
        </p:nvGraphicFramePr>
        <p:xfrm>
          <a:off x="1208336" y="3613191"/>
          <a:ext cx="6926265" cy="2743200"/>
        </p:xfrm>
        <a:graphic>
          <a:graphicData uri="http://schemas.openxmlformats.org/drawingml/2006/chart">
            <c:chart xmlns:c="http://schemas.openxmlformats.org/drawingml/2006/chart" xmlns:r="http://schemas.openxmlformats.org/officeDocument/2006/relationships" r:id="rId3"/>
          </a:graphicData>
        </a:graphic>
      </p:graphicFrame>
      <p:cxnSp>
        <p:nvCxnSpPr>
          <p:cNvPr id="15" name="直接箭头连接符 14"/>
          <p:cNvCxnSpPr/>
          <p:nvPr/>
        </p:nvCxnSpPr>
        <p:spPr>
          <a:xfrm flipV="1">
            <a:off x="6138436" y="2315688"/>
            <a:ext cx="655123" cy="510639"/>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593281" y="4441371"/>
            <a:ext cx="2280059" cy="461665"/>
          </a:xfrm>
          <a:prstGeom prst="rect">
            <a:avLst/>
          </a:prstGeom>
          <a:noFill/>
        </p:spPr>
        <p:txBody>
          <a:bodyPr wrap="square" rtlCol="0">
            <a:spAutoFit/>
          </a:bodyPr>
          <a:lstStyle/>
          <a:p>
            <a:r>
              <a:rPr lang="zh-CN" altLang="en-US" sz="1200" b="1" dirty="0">
                <a:solidFill>
                  <a:srgbClr val="FF0000"/>
                </a:solidFill>
                <a:latin typeface="微软雅黑" pitchFamily="34" charset="-122"/>
                <a:ea typeface="微软雅黑" pitchFamily="34" charset="-122"/>
              </a:rPr>
              <a:t>受新政影响，节前中介彻夜网签，单日交易量逼近</a:t>
            </a:r>
            <a:r>
              <a:rPr lang="en-US" altLang="zh-CN" sz="1200" b="1" dirty="0">
                <a:solidFill>
                  <a:srgbClr val="FF0000"/>
                </a:solidFill>
                <a:latin typeface="微软雅黑" pitchFamily="34" charset="-122"/>
                <a:ea typeface="微软雅黑" pitchFamily="34" charset="-122"/>
              </a:rPr>
              <a:t>3000</a:t>
            </a:r>
            <a:r>
              <a:rPr lang="zh-CN" altLang="en-US" sz="1200" b="1" dirty="0">
                <a:solidFill>
                  <a:srgbClr val="FF0000"/>
                </a:solidFill>
                <a:latin typeface="微软雅黑" pitchFamily="34" charset="-122"/>
                <a:ea typeface="微软雅黑" pitchFamily="34" charset="-122"/>
              </a:rPr>
              <a:t>套</a:t>
            </a:r>
          </a:p>
        </p:txBody>
      </p:sp>
    </p:spTree>
    <p:extLst>
      <p:ext uri="{BB962C8B-B14F-4D97-AF65-F5344CB8AC3E}">
        <p14:creationId xmlns:p14="http://schemas.microsoft.com/office/powerpoint/2010/main" val="40457438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3E8B6F27-EC4F-B34E-9F32-10CC92E9AB18}" type="slidenum">
              <a:rPr lang="zh-CN" altLang="en-US" smtClean="0"/>
              <a:pPr>
                <a:defRPr/>
              </a:pPr>
              <a:t>27</a:t>
            </a:fld>
            <a:endParaRPr lang="zh-CN" altLang="en-US" dirty="0"/>
          </a:p>
        </p:txBody>
      </p:sp>
      <p:sp>
        <p:nvSpPr>
          <p:cNvPr id="11" name="标题 1"/>
          <p:cNvSpPr txBox="1">
            <a:spLocks/>
          </p:cNvSpPr>
          <p:nvPr/>
        </p:nvSpPr>
        <p:spPr>
          <a:xfrm>
            <a:off x="162371" y="70471"/>
            <a:ext cx="5770078" cy="474662"/>
          </a:xfrm>
          <a:prstGeom prst="rect">
            <a:avLst/>
          </a:prstGeom>
        </p:spPr>
        <p:txBody>
          <a:bodyPr vert="horz" lIns="91440" tIns="45720" rIns="91440" bIns="45720" rtlCol="0" anchor="ctr">
            <a:normAutofit fontScale="55000" lnSpcReduction="20000"/>
          </a:bodyPr>
          <a:lstStyle>
            <a:lvl1pPr algn="l" defTabSz="457200" rtl="0" eaLnBrk="1" latinLnBrk="0" hangingPunct="1">
              <a:spcBef>
                <a:spcPct val="0"/>
              </a:spcBef>
              <a:buNone/>
              <a:defRPr sz="2400" b="1" i="0" kern="1200">
                <a:solidFill>
                  <a:srgbClr val="404040"/>
                </a:solidFill>
                <a:latin typeface="Microsoft YaHei"/>
                <a:ea typeface="+mj-ea"/>
                <a:cs typeface="Microsoft YaHei"/>
              </a:defRPr>
            </a:lvl1pPr>
          </a:lstStyle>
          <a:p>
            <a:r>
              <a:rPr lang="zh-CN" altLang="en-US" sz="4400" dirty="0"/>
              <a:t>二手房</a:t>
            </a:r>
            <a:r>
              <a:rPr lang="en-US" altLang="zh-CN" sz="3200" dirty="0"/>
              <a:t>|</a:t>
            </a:r>
            <a:r>
              <a:rPr lang="zh-CN" altLang="en-US" sz="3300" dirty="0">
                <a:latin typeface="+mj-ea"/>
              </a:rPr>
              <a:t>主城区房价逼近</a:t>
            </a:r>
            <a:r>
              <a:rPr lang="en-US" altLang="zh-CN" sz="3300" dirty="0">
                <a:latin typeface="+mj-ea"/>
              </a:rPr>
              <a:t>6</a:t>
            </a:r>
            <a:r>
              <a:rPr lang="zh-CN" altLang="en-US" sz="3300" dirty="0">
                <a:latin typeface="+mj-ea"/>
              </a:rPr>
              <a:t>万</a:t>
            </a:r>
            <a:r>
              <a:rPr lang="en-US" altLang="zh-CN" sz="3300" dirty="0">
                <a:latin typeface="+mj-ea"/>
              </a:rPr>
              <a:t>/</a:t>
            </a:r>
            <a:r>
              <a:rPr lang="zh-CN" altLang="en-US" sz="3300" dirty="0">
                <a:latin typeface="+mj-ea"/>
              </a:rPr>
              <a:t>平，倒逼近郊区价格补涨</a:t>
            </a:r>
          </a:p>
        </p:txBody>
      </p:sp>
      <p:graphicFrame>
        <p:nvGraphicFramePr>
          <p:cNvPr id="16" name="图表 15"/>
          <p:cNvGraphicFramePr>
            <a:graphicFrameLocks/>
          </p:cNvGraphicFramePr>
          <p:nvPr>
            <p:extLst>
              <p:ext uri="{D42A27DB-BD31-4B8C-83A1-F6EECF244321}">
                <p14:modId xmlns:p14="http://schemas.microsoft.com/office/powerpoint/2010/main" val="3470910759"/>
              </p:ext>
            </p:extLst>
          </p:nvPr>
        </p:nvGraphicFramePr>
        <p:xfrm>
          <a:off x="1092531" y="3753622"/>
          <a:ext cx="7196446" cy="2602727"/>
        </p:xfrm>
        <a:graphic>
          <a:graphicData uri="http://schemas.openxmlformats.org/drawingml/2006/chart">
            <c:chart xmlns:c="http://schemas.openxmlformats.org/drawingml/2006/chart" xmlns:r="http://schemas.openxmlformats.org/officeDocument/2006/relationships" r:id="rId2"/>
          </a:graphicData>
        </a:graphic>
      </p:graphicFrame>
      <p:sp>
        <p:nvSpPr>
          <p:cNvPr id="17" name="椭圆 16"/>
          <p:cNvSpPr/>
          <p:nvPr/>
        </p:nvSpPr>
        <p:spPr bwMode="auto">
          <a:xfrm>
            <a:off x="4009442" y="4738254"/>
            <a:ext cx="3080125" cy="1265413"/>
          </a:xfrm>
          <a:prstGeom prst="ellipse">
            <a:avLst/>
          </a:prstGeom>
          <a:noFill/>
          <a:ln w="19050" cap="flat" cmpd="sng" algn="ctr">
            <a:solidFill>
              <a:srgbClr val="FFC000"/>
            </a:solidFill>
            <a:prstDash val="sysDash"/>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r>
              <a:rPr kumimoji="0" lang="zh-CN" altLang="en-US" sz="1400" b="1" i="0" u="none" strike="noStrike" cap="none" normalizeH="0" baseline="0" dirty="0">
                <a:ln>
                  <a:noFill/>
                </a:ln>
                <a:solidFill>
                  <a:schemeClr val="tx1"/>
                </a:solidFill>
                <a:effectLst/>
                <a:latin typeface="微软雅黑" pitchFamily="34" charset="-122"/>
                <a:ea typeface="微软雅黑" pitchFamily="34" charset="-122"/>
              </a:rPr>
              <a:t>近郊房价涨幅赶超主城区</a:t>
            </a:r>
          </a:p>
        </p:txBody>
      </p:sp>
      <p:graphicFrame>
        <p:nvGraphicFramePr>
          <p:cNvPr id="18" name="图表 17"/>
          <p:cNvGraphicFramePr>
            <a:graphicFrameLocks/>
          </p:cNvGraphicFramePr>
          <p:nvPr>
            <p:extLst>
              <p:ext uri="{D42A27DB-BD31-4B8C-83A1-F6EECF244321}">
                <p14:modId xmlns:p14="http://schemas.microsoft.com/office/powerpoint/2010/main" val="3844256825"/>
              </p:ext>
            </p:extLst>
          </p:nvPr>
        </p:nvGraphicFramePr>
        <p:xfrm>
          <a:off x="571500" y="681811"/>
          <a:ext cx="7859981" cy="307181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2871905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3E8B6F27-EC4F-B34E-9F32-10CC92E9AB18}" type="slidenum">
              <a:rPr lang="zh-CN" altLang="en-US" smtClean="0"/>
              <a:pPr>
                <a:defRPr/>
              </a:pPr>
              <a:t>28</a:t>
            </a:fld>
            <a:endParaRPr lang="zh-CN" altLang="en-US" dirty="0"/>
          </a:p>
        </p:txBody>
      </p:sp>
      <p:sp>
        <p:nvSpPr>
          <p:cNvPr id="20" name="标题 1"/>
          <p:cNvSpPr txBox="1">
            <a:spLocks/>
          </p:cNvSpPr>
          <p:nvPr/>
        </p:nvSpPr>
        <p:spPr>
          <a:xfrm>
            <a:off x="162370" y="-36405"/>
            <a:ext cx="7532839" cy="665799"/>
          </a:xfrm>
          <a:prstGeom prst="rect">
            <a:avLst/>
          </a:prstGeom>
        </p:spPr>
        <p:txBody>
          <a:bodyPr vert="horz" lIns="91440" tIns="45720" rIns="91440" bIns="45720" rtlCol="0" anchor="ctr">
            <a:noAutofit/>
          </a:bodyPr>
          <a:lstStyle>
            <a:lvl1pPr algn="l" defTabSz="457200" rtl="0" eaLnBrk="1" latinLnBrk="0" hangingPunct="1">
              <a:spcBef>
                <a:spcPct val="0"/>
              </a:spcBef>
              <a:buNone/>
              <a:defRPr sz="2400" b="1" i="0" kern="1200">
                <a:solidFill>
                  <a:srgbClr val="404040"/>
                </a:solidFill>
                <a:latin typeface="Microsoft YaHei"/>
                <a:ea typeface="+mj-ea"/>
                <a:cs typeface="Microsoft YaHei"/>
              </a:defRPr>
            </a:lvl1pPr>
          </a:lstStyle>
          <a:p>
            <a:r>
              <a:rPr lang="zh-CN" altLang="en-US" sz="2200" dirty="0"/>
              <a:t>二手房</a:t>
            </a:r>
            <a:r>
              <a:rPr lang="en-US" altLang="zh-CN" sz="2000" dirty="0"/>
              <a:t>|</a:t>
            </a:r>
            <a:r>
              <a:rPr lang="zh-CN" altLang="en-US" sz="1800" dirty="0"/>
              <a:t>每卖出</a:t>
            </a:r>
            <a:r>
              <a:rPr lang="en-US" altLang="zh-CN" sz="1800" dirty="0"/>
              <a:t>5</a:t>
            </a:r>
            <a:r>
              <a:rPr lang="zh-CN" altLang="en-US" sz="1800" dirty="0"/>
              <a:t>套房屋就有一套售前状态为空置</a:t>
            </a:r>
            <a:endParaRPr lang="zh-CN" altLang="en-US" sz="1600" dirty="0"/>
          </a:p>
        </p:txBody>
      </p:sp>
      <p:sp>
        <p:nvSpPr>
          <p:cNvPr id="6" name="TextBox 5"/>
          <p:cNvSpPr txBox="1"/>
          <p:nvPr/>
        </p:nvSpPr>
        <p:spPr>
          <a:xfrm>
            <a:off x="1591294" y="1691021"/>
            <a:ext cx="3964675" cy="369332"/>
          </a:xfrm>
          <a:prstGeom prst="rect">
            <a:avLst/>
          </a:prstGeom>
          <a:noFill/>
        </p:spPr>
        <p:txBody>
          <a:bodyPr wrap="square" rtlCol="0">
            <a:spAutoFit/>
          </a:bodyPr>
          <a:lstStyle/>
          <a:p>
            <a:r>
              <a:rPr lang="en-US" altLang="zh-CN" b="1" dirty="0">
                <a:solidFill>
                  <a:schemeClr val="bg1"/>
                </a:solidFill>
                <a:latin typeface="+mj-ea"/>
                <a:ea typeface="+mj-ea"/>
              </a:rPr>
              <a:t>2016</a:t>
            </a:r>
            <a:r>
              <a:rPr lang="zh-CN" altLang="en-US" b="1" dirty="0">
                <a:solidFill>
                  <a:schemeClr val="bg1"/>
                </a:solidFill>
                <a:latin typeface="+mj-ea"/>
                <a:ea typeface="+mj-ea"/>
              </a:rPr>
              <a:t>年</a:t>
            </a:r>
            <a:r>
              <a:rPr lang="en-US" altLang="zh-CN" b="1" dirty="0">
                <a:solidFill>
                  <a:schemeClr val="bg1"/>
                </a:solidFill>
                <a:latin typeface="+mj-ea"/>
                <a:ea typeface="+mj-ea"/>
              </a:rPr>
              <a:t>7</a:t>
            </a:r>
            <a:r>
              <a:rPr lang="zh-CN" altLang="en-US" b="1" dirty="0">
                <a:solidFill>
                  <a:schemeClr val="bg1"/>
                </a:solidFill>
                <a:latin typeface="+mj-ea"/>
                <a:ea typeface="+mj-ea"/>
              </a:rPr>
              <a:t>月北京成交小区分布图</a:t>
            </a:r>
          </a:p>
        </p:txBody>
      </p:sp>
      <p:sp>
        <p:nvSpPr>
          <p:cNvPr id="9" name="TextBox 1"/>
          <p:cNvSpPr txBox="1"/>
          <p:nvPr/>
        </p:nvSpPr>
        <p:spPr>
          <a:xfrm>
            <a:off x="327544" y="769204"/>
            <a:ext cx="8359256" cy="1291149"/>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285750" indent="-285750">
              <a:lnSpc>
                <a:spcPct val="150000"/>
              </a:lnSpc>
              <a:buClr>
                <a:srgbClr val="C00000"/>
              </a:buClr>
              <a:buFont typeface="Wingdings" pitchFamily="2" charset="2"/>
              <a:buChar char="p"/>
            </a:pPr>
            <a:r>
              <a:rPr lang="zh-CN" altLang="en-US" sz="1400" dirty="0">
                <a:latin typeface="微软雅黑" pitchFamily="34" charset="-122"/>
                <a:ea typeface="微软雅黑" pitchFamily="34" charset="-122"/>
              </a:rPr>
              <a:t>今年前</a:t>
            </a:r>
            <a:r>
              <a:rPr lang="en-US" altLang="zh-CN" sz="1400" dirty="0">
                <a:latin typeface="微软雅黑" pitchFamily="34" charset="-122"/>
                <a:ea typeface="微软雅黑" pitchFamily="34" charset="-122"/>
              </a:rPr>
              <a:t>8</a:t>
            </a:r>
            <a:r>
              <a:rPr lang="zh-CN" altLang="en-US" sz="1400" dirty="0">
                <a:latin typeface="微软雅黑" pitchFamily="34" charset="-122"/>
                <a:ea typeface="微软雅黑" pitchFamily="34" charset="-122"/>
              </a:rPr>
              <a:t>个月北京市的二手住宅成交房源中，从原业主对房源的使用情况来看，挂牌时该房源处于空置状态的占比达到</a:t>
            </a:r>
            <a:r>
              <a:rPr lang="en-US" altLang="zh-CN" sz="1400" b="1" dirty="0">
                <a:solidFill>
                  <a:srgbClr val="FF0000"/>
                </a:solidFill>
                <a:latin typeface="微软雅黑" pitchFamily="34" charset="-122"/>
                <a:ea typeface="微软雅黑" pitchFamily="34" charset="-122"/>
              </a:rPr>
              <a:t>23.45%</a:t>
            </a:r>
            <a:r>
              <a:rPr lang="zh-CN" altLang="en-US" sz="1400" dirty="0">
                <a:latin typeface="微软雅黑" pitchFamily="34" charset="-122"/>
                <a:ea typeface="微软雅黑" pitchFamily="34" charset="-122"/>
              </a:rPr>
              <a:t>，用于出租的占比为</a:t>
            </a:r>
            <a:r>
              <a:rPr lang="en-US" altLang="zh-CN" sz="1400" b="1" dirty="0">
                <a:solidFill>
                  <a:srgbClr val="FF0000"/>
                </a:solidFill>
                <a:latin typeface="微软雅黑" pitchFamily="34" charset="-122"/>
                <a:ea typeface="微软雅黑" pitchFamily="34" charset="-122"/>
              </a:rPr>
              <a:t>35.25%</a:t>
            </a:r>
            <a:r>
              <a:rPr lang="zh-CN" altLang="en-US" sz="1400" dirty="0">
                <a:latin typeface="微软雅黑" pitchFamily="34" charset="-122"/>
                <a:ea typeface="微软雅黑" pitchFamily="34" charset="-122"/>
              </a:rPr>
              <a:t>，原业主用于自住的占比为</a:t>
            </a:r>
            <a:r>
              <a:rPr lang="en-US" altLang="zh-CN" sz="1400" b="1" dirty="0">
                <a:solidFill>
                  <a:srgbClr val="FF0000"/>
                </a:solidFill>
                <a:latin typeface="微软雅黑" pitchFamily="34" charset="-122"/>
                <a:ea typeface="微软雅黑" pitchFamily="34" charset="-122"/>
              </a:rPr>
              <a:t>41.3%</a:t>
            </a:r>
            <a:r>
              <a:rPr lang="zh-CN" altLang="en-US" sz="1400" dirty="0">
                <a:latin typeface="微软雅黑" pitchFamily="34" charset="-122"/>
                <a:ea typeface="微软雅黑" pitchFamily="34" charset="-122"/>
              </a:rPr>
              <a:t>；</a:t>
            </a:r>
            <a:endParaRPr lang="en-US" altLang="zh-CN" sz="1400" dirty="0">
              <a:latin typeface="微软雅黑" pitchFamily="34" charset="-122"/>
              <a:ea typeface="微软雅黑" pitchFamily="34" charset="-122"/>
            </a:endParaRPr>
          </a:p>
          <a:p>
            <a:pPr marL="285750" indent="-285750">
              <a:lnSpc>
                <a:spcPct val="150000"/>
              </a:lnSpc>
              <a:buClr>
                <a:srgbClr val="C00000"/>
              </a:buClr>
              <a:buFont typeface="Wingdings" pitchFamily="2" charset="2"/>
              <a:buChar char="p"/>
            </a:pPr>
            <a:r>
              <a:rPr lang="en-US" altLang="zh-CN" sz="1400" dirty="0">
                <a:latin typeface="微软雅黑" pitchFamily="34" charset="-122"/>
                <a:ea typeface="微软雅黑" pitchFamily="34" charset="-122"/>
              </a:rPr>
              <a:t>23.45%</a:t>
            </a:r>
            <a:r>
              <a:rPr lang="zh-CN" altLang="en-US" sz="1400" dirty="0">
                <a:latin typeface="微软雅黑" pitchFamily="34" charset="-122"/>
                <a:ea typeface="微软雅黑" pitchFamily="34" charset="-122"/>
              </a:rPr>
              <a:t>的房屋在出售前处于空置状态，相当于每卖出的五套房子就有超过一套在空置。在北京楼市供应日益紧张的背景下，大量房屋空置，无疑显得“很奢侈”。</a:t>
            </a:r>
            <a:endParaRPr lang="en-US" altLang="zh-CN" sz="1400" dirty="0">
              <a:latin typeface="微软雅黑" pitchFamily="34" charset="-122"/>
              <a:ea typeface="微软雅黑" pitchFamily="34" charset="-122"/>
            </a:endParaRPr>
          </a:p>
          <a:p>
            <a:pPr>
              <a:lnSpc>
                <a:spcPct val="150000"/>
              </a:lnSpc>
              <a:buClr>
                <a:srgbClr val="C00000"/>
              </a:buClr>
            </a:pPr>
            <a:endParaRPr lang="en-US" altLang="zh-CN" sz="1400" dirty="0">
              <a:latin typeface="微软雅黑" pitchFamily="34" charset="-122"/>
              <a:ea typeface="微软雅黑" pitchFamily="34" charset="-122"/>
            </a:endParaRPr>
          </a:p>
        </p:txBody>
      </p:sp>
      <p:graphicFrame>
        <p:nvGraphicFramePr>
          <p:cNvPr id="18" name="图表 17"/>
          <p:cNvGraphicFramePr>
            <a:graphicFrameLocks/>
          </p:cNvGraphicFramePr>
          <p:nvPr>
            <p:extLst>
              <p:ext uri="{D42A27DB-BD31-4B8C-83A1-F6EECF244321}">
                <p14:modId xmlns:p14="http://schemas.microsoft.com/office/powerpoint/2010/main" val="1210935275"/>
              </p:ext>
            </p:extLst>
          </p:nvPr>
        </p:nvGraphicFramePr>
        <p:xfrm>
          <a:off x="962423" y="2559116"/>
          <a:ext cx="7089498" cy="327820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4455232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3E8B6F27-EC4F-B34E-9F32-10CC92E9AB18}" type="slidenum">
              <a:rPr lang="zh-CN" altLang="en-US" smtClean="0"/>
              <a:pPr>
                <a:defRPr/>
              </a:pPr>
              <a:t>29</a:t>
            </a:fld>
            <a:endParaRPr lang="zh-CN" altLang="en-US" dirty="0"/>
          </a:p>
        </p:txBody>
      </p:sp>
      <p:sp>
        <p:nvSpPr>
          <p:cNvPr id="20" name="标题 1"/>
          <p:cNvSpPr txBox="1">
            <a:spLocks/>
          </p:cNvSpPr>
          <p:nvPr/>
        </p:nvSpPr>
        <p:spPr>
          <a:xfrm>
            <a:off x="162370" y="-36405"/>
            <a:ext cx="7532839" cy="665799"/>
          </a:xfrm>
          <a:prstGeom prst="rect">
            <a:avLst/>
          </a:prstGeom>
        </p:spPr>
        <p:txBody>
          <a:bodyPr vert="horz" lIns="91440" tIns="45720" rIns="91440" bIns="45720" rtlCol="0" anchor="ctr">
            <a:noAutofit/>
          </a:bodyPr>
          <a:lstStyle>
            <a:lvl1pPr algn="l" defTabSz="457200" rtl="0" eaLnBrk="1" latinLnBrk="0" hangingPunct="1">
              <a:spcBef>
                <a:spcPct val="0"/>
              </a:spcBef>
              <a:buNone/>
              <a:defRPr sz="2400" b="1" i="0" kern="1200">
                <a:solidFill>
                  <a:srgbClr val="404040"/>
                </a:solidFill>
                <a:latin typeface="Microsoft YaHei"/>
                <a:ea typeface="+mj-ea"/>
                <a:cs typeface="Microsoft YaHei"/>
              </a:defRPr>
            </a:lvl1pPr>
          </a:lstStyle>
          <a:p>
            <a:r>
              <a:rPr lang="zh-CN" altLang="en-US" sz="2200" dirty="0"/>
              <a:t>二手房</a:t>
            </a:r>
            <a:r>
              <a:rPr lang="en-US" altLang="zh-CN" sz="2000" dirty="0"/>
              <a:t>|</a:t>
            </a:r>
            <a:r>
              <a:rPr lang="zh-CN" altLang="en-US" sz="1800" dirty="0"/>
              <a:t>近郊区的空置房源高于主城区，别墅空置房源比例逼近</a:t>
            </a:r>
            <a:r>
              <a:rPr lang="en-US" altLang="zh-CN" sz="1800" dirty="0"/>
              <a:t>60%</a:t>
            </a:r>
            <a:endParaRPr lang="zh-CN" altLang="en-US" sz="1600" dirty="0"/>
          </a:p>
        </p:txBody>
      </p:sp>
      <p:graphicFrame>
        <p:nvGraphicFramePr>
          <p:cNvPr id="7" name="图表 6"/>
          <p:cNvGraphicFramePr>
            <a:graphicFrameLocks/>
          </p:cNvGraphicFramePr>
          <p:nvPr>
            <p:extLst>
              <p:ext uri="{D42A27DB-BD31-4B8C-83A1-F6EECF244321}">
                <p14:modId xmlns:p14="http://schemas.microsoft.com/office/powerpoint/2010/main" val="4274205236"/>
              </p:ext>
            </p:extLst>
          </p:nvPr>
        </p:nvGraphicFramePr>
        <p:xfrm>
          <a:off x="1199408" y="712521"/>
          <a:ext cx="6780810" cy="289161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图表 7"/>
          <p:cNvGraphicFramePr>
            <a:graphicFrameLocks/>
          </p:cNvGraphicFramePr>
          <p:nvPr>
            <p:extLst>
              <p:ext uri="{D42A27DB-BD31-4B8C-83A1-F6EECF244321}">
                <p14:modId xmlns:p14="http://schemas.microsoft.com/office/powerpoint/2010/main" val="1370332158"/>
              </p:ext>
            </p:extLst>
          </p:nvPr>
        </p:nvGraphicFramePr>
        <p:xfrm>
          <a:off x="1033152" y="3506095"/>
          <a:ext cx="7089569" cy="2850255"/>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p:cNvSpPr txBox="1"/>
          <p:nvPr/>
        </p:nvSpPr>
        <p:spPr>
          <a:xfrm>
            <a:off x="114403" y="6507679"/>
            <a:ext cx="4825731" cy="261610"/>
          </a:xfrm>
          <a:prstGeom prst="rect">
            <a:avLst/>
          </a:prstGeom>
          <a:noFill/>
        </p:spPr>
        <p:txBody>
          <a:bodyPr wrap="square" rtlCol="0">
            <a:spAutoFit/>
          </a:bodyPr>
          <a:lstStyle/>
          <a:p>
            <a:r>
              <a:rPr lang="zh-CN" altLang="en-US" sz="1100" b="1" dirty="0">
                <a:latin typeface="+mj-ea"/>
                <a:ea typeface="+mj-ea"/>
              </a:rPr>
              <a:t>统计时间：</a:t>
            </a:r>
            <a:r>
              <a:rPr lang="en-US" altLang="zh-CN" sz="1100" b="1" dirty="0">
                <a:latin typeface="+mj-ea"/>
                <a:ea typeface="+mj-ea"/>
              </a:rPr>
              <a:t>2016.01.01-2016.08.30</a:t>
            </a:r>
            <a:endParaRPr lang="zh-CN" altLang="en-US" sz="1100" b="1" dirty="0">
              <a:latin typeface="+mj-ea"/>
              <a:ea typeface="+mj-ea"/>
            </a:endParaRPr>
          </a:p>
        </p:txBody>
      </p:sp>
    </p:spTree>
    <p:extLst>
      <p:ext uri="{BB962C8B-B14F-4D97-AF65-F5344CB8AC3E}">
        <p14:creationId xmlns:p14="http://schemas.microsoft.com/office/powerpoint/2010/main" val="4039542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编号占位符 1"/>
          <p:cNvSpPr>
            <a:spLocks noGrp="1"/>
          </p:cNvSpPr>
          <p:nvPr>
            <p:ph type="sldNum" sz="quarter" idx="4"/>
          </p:nvPr>
        </p:nvSpPr>
        <p:spPr/>
        <p:txBody>
          <a:bodyPr/>
          <a:lstStyle/>
          <a:p>
            <a:pPr>
              <a:defRPr/>
            </a:pPr>
            <a:fld id="{3E8B6F27-EC4F-B34E-9F32-10CC92E9AB18}" type="slidenum">
              <a:rPr lang="zh-CN" altLang="en-US" smtClean="0"/>
              <a:t>30</a:t>
            </a:fld>
            <a:endParaRPr lang="zh-CN" altLang="en-US" dirty="0"/>
          </a:p>
        </p:txBody>
      </p:sp>
      <p:sp>
        <p:nvSpPr>
          <p:cNvPr id="5" name="标题 4"/>
          <p:cNvSpPr>
            <a:spLocks noGrp="1"/>
          </p:cNvSpPr>
          <p:nvPr>
            <p:ph type="title"/>
          </p:nvPr>
        </p:nvSpPr>
        <p:spPr>
          <a:xfrm>
            <a:off x="162369" y="33484"/>
            <a:ext cx="6893523" cy="474662"/>
          </a:xfrm>
        </p:spPr>
        <p:txBody>
          <a:bodyPr>
            <a:normAutofit/>
          </a:bodyPr>
          <a:lstStyle/>
          <a:p>
            <a:r>
              <a:rPr lang="zh-CN" altLang="en-US" dirty="0"/>
              <a:t>土地市场</a:t>
            </a:r>
            <a:r>
              <a:rPr lang="en-US" altLang="zh-CN" dirty="0"/>
              <a:t>| </a:t>
            </a:r>
            <a:r>
              <a:rPr lang="zh-CN" altLang="en-US" sz="1800" dirty="0"/>
              <a:t>迎来集中供应，海淀占</a:t>
            </a:r>
            <a:r>
              <a:rPr lang="en-US" altLang="zh-CN" sz="1800" dirty="0"/>
              <a:t>4</a:t>
            </a:r>
            <a:r>
              <a:rPr lang="zh-CN" altLang="en-US" sz="1800" dirty="0"/>
              <a:t>宗</a:t>
            </a:r>
            <a:endParaRPr lang="zh-CN" altLang="en-US" sz="1400" dirty="0">
              <a:latin typeface="+mj-ea"/>
            </a:endParaRPr>
          </a:p>
        </p:txBody>
      </p:sp>
      <p:sp>
        <p:nvSpPr>
          <p:cNvPr id="10" name="矩形 9"/>
          <p:cNvSpPr/>
          <p:nvPr/>
        </p:nvSpPr>
        <p:spPr>
          <a:xfrm>
            <a:off x="444726" y="620454"/>
            <a:ext cx="8135196" cy="418191"/>
          </a:xfrm>
          <a:prstGeom prst="rect">
            <a:avLst/>
          </a:prstGeom>
        </p:spPr>
        <p:txBody>
          <a:bodyPr wrap="square">
            <a:spAutoFit/>
          </a:bodyPr>
          <a:lstStyle/>
          <a:p>
            <a:pPr marL="285750" indent="-285750">
              <a:lnSpc>
                <a:spcPct val="150000"/>
              </a:lnSpc>
              <a:buClr>
                <a:srgbClr val="FF0000"/>
              </a:buClr>
              <a:buFont typeface="Wingdings" pitchFamily="2" charset="2"/>
              <a:buChar char="n"/>
            </a:pPr>
            <a:r>
              <a:rPr lang="en-US" altLang="zh-CN" sz="1600" b="1" spc="100" dirty="0">
                <a:solidFill>
                  <a:srgbClr val="FF0000"/>
                </a:solidFill>
                <a:latin typeface="微软雅黑" pitchFamily="34" charset="-122"/>
                <a:ea typeface="微软雅黑" pitchFamily="34" charset="-122"/>
              </a:rPr>
              <a:t>9</a:t>
            </a:r>
            <a:r>
              <a:rPr lang="zh-CN" altLang="en-US" sz="1600" b="1" spc="100" dirty="0">
                <a:solidFill>
                  <a:srgbClr val="FF0000"/>
                </a:solidFill>
                <a:latin typeface="微软雅黑" pitchFamily="34" charset="-122"/>
                <a:ea typeface="微软雅黑" pitchFamily="34" charset="-122"/>
              </a:rPr>
              <a:t>月土地新增供应一览表</a:t>
            </a:r>
            <a:endParaRPr lang="en-US" altLang="zh-CN" sz="1600" b="1" spc="100" dirty="0">
              <a:solidFill>
                <a:srgbClr val="FF0000"/>
              </a:solidFill>
              <a:latin typeface="微软雅黑" pitchFamily="34" charset="-122"/>
              <a:ea typeface="微软雅黑" pitchFamily="34" charset="-122"/>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4416" y="1069443"/>
            <a:ext cx="5951661" cy="5616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矩形 10"/>
          <p:cNvSpPr/>
          <p:nvPr/>
        </p:nvSpPr>
        <p:spPr>
          <a:xfrm>
            <a:off x="1388886" y="2196936"/>
            <a:ext cx="6142719" cy="2707574"/>
          </a:xfrm>
          <a:prstGeom prst="rect">
            <a:avLst/>
          </a:prstGeom>
          <a:noFill/>
          <a:ln w="25400">
            <a:solidFill>
              <a:srgbClr val="FF0000"/>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3" name="矩形 2"/>
          <p:cNvSpPr/>
          <p:nvPr/>
        </p:nvSpPr>
        <p:spPr>
          <a:xfrm>
            <a:off x="2161309" y="2992582"/>
            <a:ext cx="4750130" cy="997527"/>
          </a:xfrm>
          <a:prstGeom prst="rect">
            <a:avLst/>
          </a:prstGeom>
          <a:solidFill>
            <a:schemeClr val="accent1">
              <a:lumMod val="40000"/>
              <a:lumOff val="60000"/>
              <a:alpha val="51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tLang="zh-CN" b="1" dirty="0">
              <a:solidFill>
                <a:schemeClr val="tx1"/>
              </a:solidFill>
              <a:latin typeface="微软雅黑" pitchFamily="34" charset="-122"/>
              <a:ea typeface="微软雅黑" pitchFamily="34" charset="-122"/>
            </a:endParaRPr>
          </a:p>
          <a:p>
            <a:pPr algn="ctr"/>
            <a:r>
              <a:rPr lang="zh-CN" altLang="en-US" b="1" dirty="0">
                <a:solidFill>
                  <a:schemeClr val="tx1"/>
                </a:solidFill>
                <a:latin typeface="微软雅黑" pitchFamily="34" charset="-122"/>
                <a:ea typeface="微软雅黑" pitchFamily="34" charset="-122"/>
              </a:rPr>
              <a:t>永丰产业基地片区为当前的价值洼地</a:t>
            </a:r>
            <a:endParaRPr lang="en-US" altLang="zh-CN" b="1" dirty="0">
              <a:solidFill>
                <a:schemeClr val="tx1"/>
              </a:solidFill>
              <a:latin typeface="微软雅黑" pitchFamily="34" charset="-122"/>
              <a:ea typeface="微软雅黑" pitchFamily="34" charset="-122"/>
            </a:endParaRPr>
          </a:p>
          <a:p>
            <a:pPr algn="ctr"/>
            <a:r>
              <a:rPr lang="zh-CN" altLang="en-US" sz="1600" b="1" dirty="0">
                <a:solidFill>
                  <a:srgbClr val="FF0000"/>
                </a:solidFill>
                <a:latin typeface="微软雅黑" pitchFamily="34" charset="-122"/>
                <a:ea typeface="微软雅黑" pitchFamily="34" charset="-122"/>
              </a:rPr>
              <a:t>（地铁规划中，周边学校较多，随着地块的推出，未来配套设施更为完善，发展空间较大）</a:t>
            </a:r>
          </a:p>
          <a:p>
            <a:pPr algn="ctr"/>
            <a:endParaRPr lang="zh-CN" altLang="en-US" b="1" dirty="0">
              <a:solidFill>
                <a:schemeClr val="tx1"/>
              </a:solidFill>
              <a:latin typeface="微软雅黑" pitchFamily="34" charset="-122"/>
              <a:ea typeface="微软雅黑" pitchFamily="34" charset="-122"/>
            </a:endParaRPr>
          </a:p>
        </p:txBody>
      </p:sp>
    </p:spTree>
    <p:extLst>
      <p:ext uri="{BB962C8B-B14F-4D97-AF65-F5344CB8AC3E}">
        <p14:creationId xmlns:p14="http://schemas.microsoft.com/office/powerpoint/2010/main" val="8637707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编号占位符 1"/>
          <p:cNvSpPr>
            <a:spLocks noGrp="1"/>
          </p:cNvSpPr>
          <p:nvPr>
            <p:ph type="sldNum" sz="quarter" idx="4"/>
          </p:nvPr>
        </p:nvSpPr>
        <p:spPr/>
        <p:txBody>
          <a:bodyPr/>
          <a:lstStyle/>
          <a:p>
            <a:pPr>
              <a:defRPr/>
            </a:pPr>
            <a:fld id="{3E8B6F27-EC4F-B34E-9F32-10CC92E9AB18}" type="slidenum">
              <a:rPr lang="zh-CN" altLang="en-US" smtClean="0"/>
              <a:t>31</a:t>
            </a:fld>
            <a:endParaRPr lang="zh-CN" altLang="en-US" dirty="0"/>
          </a:p>
        </p:txBody>
      </p:sp>
      <p:sp>
        <p:nvSpPr>
          <p:cNvPr id="5" name="标题 4"/>
          <p:cNvSpPr>
            <a:spLocks noGrp="1"/>
          </p:cNvSpPr>
          <p:nvPr>
            <p:ph type="title"/>
          </p:nvPr>
        </p:nvSpPr>
        <p:spPr>
          <a:xfrm>
            <a:off x="162369" y="33484"/>
            <a:ext cx="6893523" cy="474662"/>
          </a:xfrm>
        </p:spPr>
        <p:txBody>
          <a:bodyPr>
            <a:normAutofit/>
          </a:bodyPr>
          <a:lstStyle/>
          <a:p>
            <a:r>
              <a:rPr lang="zh-CN" altLang="en-US" dirty="0"/>
              <a:t>土地市场</a:t>
            </a:r>
            <a:r>
              <a:rPr lang="en-US" altLang="zh-CN" dirty="0"/>
              <a:t>| </a:t>
            </a:r>
            <a:r>
              <a:rPr lang="zh-CN" altLang="en-US" sz="1800" dirty="0"/>
              <a:t>断顿两月迎成交，房山商业地块出让遇冷</a:t>
            </a:r>
            <a:endParaRPr lang="zh-CN" altLang="en-US" sz="1100" dirty="0">
              <a:latin typeface="+mj-ea"/>
            </a:endParaRPr>
          </a:p>
        </p:txBody>
      </p:sp>
      <p:sp>
        <p:nvSpPr>
          <p:cNvPr id="10" name="矩形 9"/>
          <p:cNvSpPr/>
          <p:nvPr/>
        </p:nvSpPr>
        <p:spPr>
          <a:xfrm>
            <a:off x="3146960" y="2816260"/>
            <a:ext cx="3406239" cy="415498"/>
          </a:xfrm>
          <a:prstGeom prst="rect">
            <a:avLst/>
          </a:prstGeom>
        </p:spPr>
        <p:txBody>
          <a:bodyPr wrap="square">
            <a:spAutoFit/>
          </a:bodyPr>
          <a:lstStyle/>
          <a:p>
            <a:pPr>
              <a:lnSpc>
                <a:spcPct val="150000"/>
              </a:lnSpc>
              <a:buClr>
                <a:srgbClr val="FF0000"/>
              </a:buClr>
            </a:pPr>
            <a:r>
              <a:rPr lang="en-US" altLang="zh-CN" sz="1400" b="1" spc="100" dirty="0">
                <a:latin typeface="微软雅黑" pitchFamily="34" charset="-122"/>
                <a:ea typeface="微软雅黑" pitchFamily="34" charset="-122"/>
              </a:rPr>
              <a:t>2016</a:t>
            </a:r>
            <a:r>
              <a:rPr lang="zh-CN" altLang="en-US" sz="1400" b="1" spc="100" dirty="0">
                <a:latin typeface="微软雅黑" pitchFamily="34" charset="-122"/>
                <a:ea typeface="微软雅黑" pitchFamily="34" charset="-122"/>
              </a:rPr>
              <a:t>年</a:t>
            </a:r>
            <a:r>
              <a:rPr lang="en-US" altLang="zh-CN" sz="1400" b="1" spc="100" dirty="0">
                <a:latin typeface="微软雅黑" pitchFamily="34" charset="-122"/>
                <a:ea typeface="微软雅黑" pitchFamily="34" charset="-122"/>
              </a:rPr>
              <a:t>9</a:t>
            </a:r>
            <a:r>
              <a:rPr lang="zh-CN" altLang="en-US" sz="1400" b="1" spc="100" dirty="0">
                <a:latin typeface="微软雅黑" pitchFamily="34" charset="-122"/>
                <a:ea typeface="微软雅黑" pitchFamily="34" charset="-122"/>
              </a:rPr>
              <a:t>月北京土地成交一览表</a:t>
            </a:r>
            <a:endParaRPr lang="en-US" altLang="zh-CN" sz="1400" b="1" spc="100" dirty="0">
              <a:latin typeface="微软雅黑" pitchFamily="34" charset="-122"/>
              <a:ea typeface="微软雅黑" pitchFamily="34" charset="-122"/>
            </a:endParaRPr>
          </a:p>
        </p:txBody>
      </p:sp>
      <p:graphicFrame>
        <p:nvGraphicFramePr>
          <p:cNvPr id="11" name="表格 10"/>
          <p:cNvGraphicFramePr>
            <a:graphicFrameLocks noGrp="1"/>
          </p:cNvGraphicFramePr>
          <p:nvPr>
            <p:extLst>
              <p:ext uri="{D42A27DB-BD31-4B8C-83A1-F6EECF244321}">
                <p14:modId xmlns:p14="http://schemas.microsoft.com/office/powerpoint/2010/main" val="837652672"/>
              </p:ext>
            </p:extLst>
          </p:nvPr>
        </p:nvGraphicFramePr>
        <p:xfrm>
          <a:off x="521578" y="3250681"/>
          <a:ext cx="8075689" cy="2616890"/>
        </p:xfrm>
        <a:graphic>
          <a:graphicData uri="http://schemas.openxmlformats.org/drawingml/2006/table">
            <a:tbl>
              <a:tblPr>
                <a:tableStyleId>{5C22544A-7EE6-4342-B048-85BDC9FD1C3A}</a:tableStyleId>
              </a:tblPr>
              <a:tblGrid>
                <a:gridCol w="1983647">
                  <a:extLst>
                    <a:ext uri="{9D8B030D-6E8A-4147-A177-3AD203B41FA5}">
                      <a16:colId xmlns:a16="http://schemas.microsoft.com/office/drawing/2014/main" val="20000"/>
                    </a:ext>
                  </a:extLst>
                </a:gridCol>
                <a:gridCol w="534390">
                  <a:extLst>
                    <a:ext uri="{9D8B030D-6E8A-4147-A177-3AD203B41FA5}">
                      <a16:colId xmlns:a16="http://schemas.microsoft.com/office/drawing/2014/main" val="20001"/>
                    </a:ext>
                  </a:extLst>
                </a:gridCol>
                <a:gridCol w="534389">
                  <a:extLst>
                    <a:ext uri="{9D8B030D-6E8A-4147-A177-3AD203B41FA5}">
                      <a16:colId xmlns:a16="http://schemas.microsoft.com/office/drawing/2014/main" val="20002"/>
                    </a:ext>
                  </a:extLst>
                </a:gridCol>
                <a:gridCol w="795647">
                  <a:extLst>
                    <a:ext uri="{9D8B030D-6E8A-4147-A177-3AD203B41FA5}">
                      <a16:colId xmlns:a16="http://schemas.microsoft.com/office/drawing/2014/main" val="20003"/>
                    </a:ext>
                  </a:extLst>
                </a:gridCol>
                <a:gridCol w="973509">
                  <a:extLst>
                    <a:ext uri="{9D8B030D-6E8A-4147-A177-3AD203B41FA5}">
                      <a16:colId xmlns:a16="http://schemas.microsoft.com/office/drawing/2014/main" val="20004"/>
                    </a:ext>
                  </a:extLst>
                </a:gridCol>
                <a:gridCol w="843416">
                  <a:extLst>
                    <a:ext uri="{9D8B030D-6E8A-4147-A177-3AD203B41FA5}">
                      <a16:colId xmlns:a16="http://schemas.microsoft.com/office/drawing/2014/main" val="20005"/>
                    </a:ext>
                  </a:extLst>
                </a:gridCol>
                <a:gridCol w="569748">
                  <a:extLst>
                    <a:ext uri="{9D8B030D-6E8A-4147-A177-3AD203B41FA5}">
                      <a16:colId xmlns:a16="http://schemas.microsoft.com/office/drawing/2014/main" val="20006"/>
                    </a:ext>
                  </a:extLst>
                </a:gridCol>
                <a:gridCol w="593766">
                  <a:extLst>
                    <a:ext uri="{9D8B030D-6E8A-4147-A177-3AD203B41FA5}">
                      <a16:colId xmlns:a16="http://schemas.microsoft.com/office/drawing/2014/main" val="20007"/>
                    </a:ext>
                  </a:extLst>
                </a:gridCol>
                <a:gridCol w="1247177">
                  <a:extLst>
                    <a:ext uri="{9D8B030D-6E8A-4147-A177-3AD203B41FA5}">
                      <a16:colId xmlns:a16="http://schemas.microsoft.com/office/drawing/2014/main" val="20008"/>
                    </a:ext>
                  </a:extLst>
                </a:gridCol>
              </a:tblGrid>
              <a:tr h="514488">
                <a:tc>
                  <a:txBody>
                    <a:bodyPr/>
                    <a:lstStyle/>
                    <a:p>
                      <a:pPr algn="ctr" fontAlgn="ctr"/>
                      <a:r>
                        <a:rPr lang="zh-CN" altLang="en-US" sz="1200" b="1" u="none" strike="noStrike" dirty="0">
                          <a:solidFill>
                            <a:schemeClr val="bg1"/>
                          </a:solidFill>
                          <a:effectLst/>
                          <a:latin typeface="微软雅黑" pitchFamily="34" charset="-122"/>
                          <a:ea typeface="微软雅黑" pitchFamily="34" charset="-122"/>
                        </a:rPr>
                        <a:t>宗地名称</a:t>
                      </a:r>
                      <a:endParaRPr lang="zh-CN" altLang="en-US" sz="1200" b="1" i="0" u="none" strike="noStrike" dirty="0">
                        <a:solidFill>
                          <a:schemeClr val="bg1"/>
                        </a:solidFill>
                        <a:effectLst/>
                        <a:latin typeface="微软雅黑" pitchFamily="34" charset="-122"/>
                        <a:ea typeface="微软雅黑" pitchFamily="34" charset="-122"/>
                      </a:endParaRPr>
                    </a:p>
                  </a:txBody>
                  <a:tcPr marL="9525" marR="9525" marT="9525" marB="0" anchor="ctr">
                    <a:solidFill>
                      <a:srgbClr val="006EC7"/>
                    </a:solidFill>
                  </a:tcPr>
                </a:tc>
                <a:tc>
                  <a:txBody>
                    <a:bodyPr/>
                    <a:lstStyle/>
                    <a:p>
                      <a:pPr algn="ctr" fontAlgn="ctr"/>
                      <a:r>
                        <a:rPr lang="zh-CN" altLang="en-US" sz="1200" b="1" u="none" strike="noStrike" dirty="0">
                          <a:solidFill>
                            <a:schemeClr val="bg1"/>
                          </a:solidFill>
                          <a:effectLst/>
                          <a:latin typeface="微软雅黑" pitchFamily="34" charset="-122"/>
                          <a:ea typeface="微软雅黑" pitchFamily="34" charset="-122"/>
                        </a:rPr>
                        <a:t>出让</a:t>
                      </a:r>
                      <a:endParaRPr lang="en-US" altLang="zh-CN" sz="1200" b="1" u="none" strike="noStrike" dirty="0">
                        <a:solidFill>
                          <a:schemeClr val="bg1"/>
                        </a:solidFill>
                        <a:effectLst/>
                        <a:latin typeface="微软雅黑" pitchFamily="34" charset="-122"/>
                        <a:ea typeface="微软雅黑" pitchFamily="34" charset="-122"/>
                      </a:endParaRPr>
                    </a:p>
                    <a:p>
                      <a:pPr algn="ctr" fontAlgn="ctr"/>
                      <a:r>
                        <a:rPr lang="zh-CN" altLang="en-US" sz="1200" b="1" u="none" strike="noStrike" dirty="0">
                          <a:solidFill>
                            <a:schemeClr val="bg1"/>
                          </a:solidFill>
                          <a:effectLst/>
                          <a:latin typeface="微软雅黑" pitchFamily="34" charset="-122"/>
                          <a:ea typeface="微软雅黑" pitchFamily="34" charset="-122"/>
                        </a:rPr>
                        <a:t>方式</a:t>
                      </a:r>
                      <a:endParaRPr lang="zh-CN" altLang="en-US" sz="1200" b="1" i="0" u="none" strike="noStrike" dirty="0">
                        <a:solidFill>
                          <a:schemeClr val="bg1"/>
                        </a:solidFill>
                        <a:effectLst/>
                        <a:latin typeface="微软雅黑" pitchFamily="34" charset="-122"/>
                        <a:ea typeface="微软雅黑" pitchFamily="34" charset="-122"/>
                      </a:endParaRPr>
                    </a:p>
                  </a:txBody>
                  <a:tcPr marL="9525" marR="9525" marT="9525" marB="0" anchor="ctr">
                    <a:solidFill>
                      <a:srgbClr val="006EC7"/>
                    </a:solidFill>
                  </a:tcPr>
                </a:tc>
                <a:tc>
                  <a:txBody>
                    <a:bodyPr/>
                    <a:lstStyle/>
                    <a:p>
                      <a:pPr algn="ctr" fontAlgn="ctr"/>
                      <a:r>
                        <a:rPr lang="zh-CN" altLang="en-US" sz="1200" b="1" u="none" strike="noStrike" dirty="0">
                          <a:solidFill>
                            <a:schemeClr val="bg1"/>
                          </a:solidFill>
                          <a:effectLst/>
                          <a:latin typeface="微软雅黑" pitchFamily="34" charset="-122"/>
                          <a:ea typeface="微软雅黑" pitchFamily="34" charset="-122"/>
                        </a:rPr>
                        <a:t>标准</a:t>
                      </a:r>
                      <a:endParaRPr lang="en-US" altLang="zh-CN" sz="1200" b="1" u="none" strike="noStrike" dirty="0">
                        <a:solidFill>
                          <a:schemeClr val="bg1"/>
                        </a:solidFill>
                        <a:effectLst/>
                        <a:latin typeface="微软雅黑" pitchFamily="34" charset="-122"/>
                        <a:ea typeface="微软雅黑" pitchFamily="34" charset="-122"/>
                      </a:endParaRPr>
                    </a:p>
                    <a:p>
                      <a:pPr algn="ctr" fontAlgn="ctr"/>
                      <a:r>
                        <a:rPr lang="zh-CN" altLang="en-US" sz="1200" b="1" u="none" strike="noStrike" dirty="0">
                          <a:solidFill>
                            <a:schemeClr val="bg1"/>
                          </a:solidFill>
                          <a:effectLst/>
                          <a:latin typeface="微软雅黑" pitchFamily="34" charset="-122"/>
                          <a:ea typeface="微软雅黑" pitchFamily="34" charset="-122"/>
                        </a:rPr>
                        <a:t>用途</a:t>
                      </a:r>
                      <a:endParaRPr lang="zh-CN" altLang="en-US" sz="1200" b="1" i="0" u="none" strike="noStrike" dirty="0">
                        <a:solidFill>
                          <a:schemeClr val="bg1"/>
                        </a:solidFill>
                        <a:effectLst/>
                        <a:latin typeface="微软雅黑" pitchFamily="34" charset="-122"/>
                        <a:ea typeface="微软雅黑" pitchFamily="34" charset="-122"/>
                      </a:endParaRPr>
                    </a:p>
                  </a:txBody>
                  <a:tcPr marL="9525" marR="9525" marT="9525" marB="0" anchor="ctr">
                    <a:solidFill>
                      <a:srgbClr val="006EC7"/>
                    </a:solidFill>
                  </a:tcPr>
                </a:tc>
                <a:tc>
                  <a:txBody>
                    <a:bodyPr/>
                    <a:lstStyle/>
                    <a:p>
                      <a:pPr algn="ctr" fontAlgn="ctr"/>
                      <a:r>
                        <a:rPr lang="zh-CN" altLang="en-US" sz="1200" b="1" u="none" strike="noStrike" dirty="0">
                          <a:solidFill>
                            <a:schemeClr val="bg1"/>
                          </a:solidFill>
                          <a:effectLst/>
                          <a:latin typeface="微软雅黑" pitchFamily="34" charset="-122"/>
                          <a:ea typeface="微软雅黑" pitchFamily="34" charset="-122"/>
                        </a:rPr>
                        <a:t>建设用地</a:t>
                      </a:r>
                      <a:endParaRPr lang="en-US" altLang="zh-CN" sz="1200" b="1" u="none" strike="noStrike" dirty="0">
                        <a:solidFill>
                          <a:schemeClr val="bg1"/>
                        </a:solidFill>
                        <a:effectLst/>
                        <a:latin typeface="微软雅黑" pitchFamily="34" charset="-122"/>
                        <a:ea typeface="微软雅黑" pitchFamily="34" charset="-122"/>
                      </a:endParaRPr>
                    </a:p>
                    <a:p>
                      <a:pPr algn="ctr" fontAlgn="ctr"/>
                      <a:r>
                        <a:rPr lang="zh-CN" altLang="en-US" sz="1200" b="1" u="none" strike="noStrike" dirty="0">
                          <a:solidFill>
                            <a:schemeClr val="bg1"/>
                          </a:solidFill>
                          <a:effectLst/>
                          <a:latin typeface="微软雅黑" pitchFamily="34" charset="-122"/>
                          <a:ea typeface="微软雅黑" pitchFamily="34" charset="-122"/>
                        </a:rPr>
                        <a:t>面积</a:t>
                      </a:r>
                      <a:r>
                        <a:rPr lang="en-US" altLang="zh-CN" sz="1200" b="1" u="none" strike="noStrike" dirty="0">
                          <a:solidFill>
                            <a:schemeClr val="bg1"/>
                          </a:solidFill>
                          <a:effectLst/>
                          <a:latin typeface="微软雅黑" pitchFamily="34" charset="-122"/>
                          <a:ea typeface="微软雅黑" pitchFamily="34" charset="-122"/>
                        </a:rPr>
                        <a:t>(</a:t>
                      </a:r>
                      <a:r>
                        <a:rPr lang="zh-CN" altLang="en-US" sz="1200" b="1" u="none" strike="noStrike" dirty="0">
                          <a:solidFill>
                            <a:schemeClr val="bg1"/>
                          </a:solidFill>
                          <a:effectLst/>
                          <a:latin typeface="微软雅黑" pitchFamily="34" charset="-122"/>
                          <a:ea typeface="微软雅黑" pitchFamily="34" charset="-122"/>
                        </a:rPr>
                        <a:t>万㎡</a:t>
                      </a:r>
                      <a:r>
                        <a:rPr lang="en-US" altLang="zh-CN" sz="1200" b="1" u="none" strike="noStrike" dirty="0">
                          <a:solidFill>
                            <a:schemeClr val="bg1"/>
                          </a:solidFill>
                          <a:effectLst/>
                          <a:latin typeface="微软雅黑" pitchFamily="34" charset="-122"/>
                          <a:ea typeface="微软雅黑" pitchFamily="34" charset="-122"/>
                        </a:rPr>
                        <a:t>)</a:t>
                      </a:r>
                      <a:endParaRPr lang="en-US" altLang="zh-CN" sz="1200" b="1" i="0" u="none" strike="noStrike" dirty="0">
                        <a:solidFill>
                          <a:schemeClr val="bg1"/>
                        </a:solidFill>
                        <a:effectLst/>
                        <a:latin typeface="微软雅黑" pitchFamily="34" charset="-122"/>
                        <a:ea typeface="微软雅黑" pitchFamily="34" charset="-122"/>
                      </a:endParaRPr>
                    </a:p>
                  </a:txBody>
                  <a:tcPr marL="9525" marR="9525" marT="9525" marB="0" anchor="ctr">
                    <a:solidFill>
                      <a:srgbClr val="006EC7"/>
                    </a:solidFill>
                  </a:tcPr>
                </a:tc>
                <a:tc>
                  <a:txBody>
                    <a:bodyPr/>
                    <a:lstStyle/>
                    <a:p>
                      <a:pPr algn="ctr" fontAlgn="ctr"/>
                      <a:r>
                        <a:rPr lang="zh-CN" altLang="en-US" sz="1200" b="1" u="none" strike="noStrike" dirty="0">
                          <a:solidFill>
                            <a:schemeClr val="bg1"/>
                          </a:solidFill>
                          <a:effectLst/>
                          <a:latin typeface="微软雅黑" pitchFamily="34" charset="-122"/>
                          <a:ea typeface="微软雅黑" pitchFamily="34" charset="-122"/>
                        </a:rPr>
                        <a:t>规划建筑</a:t>
                      </a:r>
                      <a:endParaRPr lang="en-US" altLang="zh-CN" sz="1200" b="1" u="none" strike="noStrike" dirty="0">
                        <a:solidFill>
                          <a:schemeClr val="bg1"/>
                        </a:solidFill>
                        <a:effectLst/>
                        <a:latin typeface="微软雅黑" pitchFamily="34" charset="-122"/>
                        <a:ea typeface="微软雅黑" pitchFamily="34" charset="-122"/>
                      </a:endParaRPr>
                    </a:p>
                    <a:p>
                      <a:pPr algn="ctr" fontAlgn="ctr"/>
                      <a:r>
                        <a:rPr lang="zh-CN" altLang="en-US" sz="1200" b="1" u="none" strike="noStrike" dirty="0">
                          <a:solidFill>
                            <a:schemeClr val="bg1"/>
                          </a:solidFill>
                          <a:effectLst/>
                          <a:latin typeface="微软雅黑" pitchFamily="34" charset="-122"/>
                          <a:ea typeface="微软雅黑" pitchFamily="34" charset="-122"/>
                        </a:rPr>
                        <a:t>面积</a:t>
                      </a:r>
                      <a:r>
                        <a:rPr lang="en-US" altLang="zh-CN" sz="1200" b="1" u="none" strike="noStrike" dirty="0">
                          <a:solidFill>
                            <a:schemeClr val="bg1"/>
                          </a:solidFill>
                          <a:effectLst/>
                          <a:latin typeface="微软雅黑" pitchFamily="34" charset="-122"/>
                          <a:ea typeface="微软雅黑" pitchFamily="34" charset="-122"/>
                        </a:rPr>
                        <a:t>(</a:t>
                      </a:r>
                      <a:r>
                        <a:rPr lang="zh-CN" altLang="en-US" sz="1200" b="1" u="none" strike="noStrike" dirty="0">
                          <a:solidFill>
                            <a:schemeClr val="bg1"/>
                          </a:solidFill>
                          <a:effectLst/>
                          <a:latin typeface="微软雅黑" pitchFamily="34" charset="-122"/>
                          <a:ea typeface="微软雅黑" pitchFamily="34" charset="-122"/>
                        </a:rPr>
                        <a:t>万㎡</a:t>
                      </a:r>
                      <a:r>
                        <a:rPr lang="en-US" altLang="zh-CN" sz="1200" b="1" u="none" strike="noStrike" dirty="0">
                          <a:solidFill>
                            <a:schemeClr val="bg1"/>
                          </a:solidFill>
                          <a:effectLst/>
                          <a:latin typeface="微软雅黑" pitchFamily="34" charset="-122"/>
                          <a:ea typeface="微软雅黑" pitchFamily="34" charset="-122"/>
                        </a:rPr>
                        <a:t>)</a:t>
                      </a:r>
                      <a:endParaRPr lang="en-US" altLang="zh-CN" sz="1200" b="1" i="0" u="none" strike="noStrike" dirty="0">
                        <a:solidFill>
                          <a:schemeClr val="bg1"/>
                        </a:solidFill>
                        <a:effectLst/>
                        <a:latin typeface="微软雅黑" pitchFamily="34" charset="-122"/>
                        <a:ea typeface="微软雅黑" pitchFamily="34" charset="-122"/>
                      </a:endParaRPr>
                    </a:p>
                  </a:txBody>
                  <a:tcPr marL="9525" marR="9525" marT="9525" marB="0" anchor="ctr">
                    <a:solidFill>
                      <a:srgbClr val="006EC7"/>
                    </a:solidFill>
                  </a:tcPr>
                </a:tc>
                <a:tc>
                  <a:txBody>
                    <a:bodyPr/>
                    <a:lstStyle/>
                    <a:p>
                      <a:pPr algn="ctr" fontAlgn="ctr"/>
                      <a:r>
                        <a:rPr lang="zh-CN" altLang="en-US" sz="1200" b="1" u="none" strike="noStrike" dirty="0">
                          <a:solidFill>
                            <a:schemeClr val="bg1"/>
                          </a:solidFill>
                          <a:effectLst/>
                          <a:latin typeface="微软雅黑" pitchFamily="34" charset="-122"/>
                          <a:ea typeface="微软雅黑" pitchFamily="34" charset="-122"/>
                        </a:rPr>
                        <a:t>土地成交价（亿元）</a:t>
                      </a:r>
                      <a:endParaRPr lang="zh-CN" altLang="en-US" sz="1200" b="1" i="0" u="none" strike="noStrike" dirty="0">
                        <a:solidFill>
                          <a:schemeClr val="bg1"/>
                        </a:solidFill>
                        <a:effectLst/>
                        <a:latin typeface="微软雅黑" pitchFamily="34" charset="-122"/>
                        <a:ea typeface="微软雅黑" pitchFamily="34" charset="-122"/>
                      </a:endParaRPr>
                    </a:p>
                  </a:txBody>
                  <a:tcPr marL="9525" marR="9525" marT="9525" marB="0" anchor="ctr">
                    <a:solidFill>
                      <a:srgbClr val="006EC7"/>
                    </a:solidFill>
                  </a:tcPr>
                </a:tc>
                <a:tc>
                  <a:txBody>
                    <a:bodyPr/>
                    <a:lstStyle/>
                    <a:p>
                      <a:pPr algn="ctr" fontAlgn="ctr"/>
                      <a:r>
                        <a:rPr lang="zh-CN" altLang="en-US" sz="1200" b="1" u="none" strike="noStrike" dirty="0">
                          <a:solidFill>
                            <a:schemeClr val="bg1"/>
                          </a:solidFill>
                          <a:effectLst/>
                          <a:latin typeface="微软雅黑" pitchFamily="34" charset="-122"/>
                          <a:ea typeface="微软雅黑" pitchFamily="34" charset="-122"/>
                        </a:rPr>
                        <a:t>起始价</a:t>
                      </a:r>
                      <a:endParaRPr lang="en-US" altLang="zh-CN" sz="1200" b="1" u="none" strike="noStrike" dirty="0">
                        <a:solidFill>
                          <a:schemeClr val="bg1"/>
                        </a:solidFill>
                        <a:effectLst/>
                        <a:latin typeface="微软雅黑" pitchFamily="34" charset="-122"/>
                        <a:ea typeface="微软雅黑" pitchFamily="34" charset="-122"/>
                      </a:endParaRPr>
                    </a:p>
                    <a:p>
                      <a:pPr algn="ctr" fontAlgn="ctr"/>
                      <a:r>
                        <a:rPr lang="zh-CN" altLang="en-US" sz="1200" b="1" u="none" strike="noStrike" dirty="0">
                          <a:solidFill>
                            <a:schemeClr val="bg1"/>
                          </a:solidFill>
                          <a:effectLst/>
                          <a:latin typeface="微软雅黑" pitchFamily="34" charset="-122"/>
                          <a:ea typeface="微软雅黑" pitchFamily="34" charset="-122"/>
                        </a:rPr>
                        <a:t>（亿元）</a:t>
                      </a:r>
                      <a:endParaRPr lang="zh-CN" altLang="en-US" sz="1200" b="1" i="0" u="none" strike="noStrike" dirty="0">
                        <a:solidFill>
                          <a:schemeClr val="bg1"/>
                        </a:solidFill>
                        <a:effectLst/>
                        <a:latin typeface="微软雅黑" pitchFamily="34" charset="-122"/>
                        <a:ea typeface="微软雅黑" pitchFamily="34" charset="-122"/>
                      </a:endParaRPr>
                    </a:p>
                  </a:txBody>
                  <a:tcPr marL="9525" marR="9525" marT="9525" marB="0" anchor="ctr">
                    <a:solidFill>
                      <a:srgbClr val="006EC7"/>
                    </a:solidFill>
                  </a:tcPr>
                </a:tc>
                <a:tc>
                  <a:txBody>
                    <a:bodyPr/>
                    <a:lstStyle/>
                    <a:p>
                      <a:pPr algn="ctr" fontAlgn="ctr"/>
                      <a:r>
                        <a:rPr lang="zh-CN" altLang="en-US" sz="1200" b="1" u="none" strike="noStrike" dirty="0">
                          <a:solidFill>
                            <a:schemeClr val="bg1"/>
                          </a:solidFill>
                          <a:effectLst/>
                          <a:latin typeface="微软雅黑" pitchFamily="34" charset="-122"/>
                          <a:ea typeface="微软雅黑" pitchFamily="34" charset="-122"/>
                        </a:rPr>
                        <a:t>溢价率</a:t>
                      </a:r>
                      <a:endParaRPr lang="zh-CN" altLang="en-US" sz="1200" b="1" i="0" u="none" strike="noStrike" dirty="0">
                        <a:solidFill>
                          <a:schemeClr val="bg1"/>
                        </a:solidFill>
                        <a:effectLst/>
                        <a:latin typeface="微软雅黑" pitchFamily="34" charset="-122"/>
                        <a:ea typeface="微软雅黑" pitchFamily="34" charset="-122"/>
                      </a:endParaRPr>
                    </a:p>
                  </a:txBody>
                  <a:tcPr marL="9525" marR="9525" marT="9525" marB="0" anchor="ctr">
                    <a:solidFill>
                      <a:srgbClr val="006EC7"/>
                    </a:solidFill>
                  </a:tcPr>
                </a:tc>
                <a:tc>
                  <a:txBody>
                    <a:bodyPr/>
                    <a:lstStyle/>
                    <a:p>
                      <a:pPr algn="ctr" fontAlgn="ctr"/>
                      <a:r>
                        <a:rPr lang="zh-CN" altLang="en-US" sz="1200" b="1" i="0" u="none" strike="noStrike" dirty="0">
                          <a:solidFill>
                            <a:schemeClr val="bg1"/>
                          </a:solidFill>
                          <a:effectLst/>
                          <a:latin typeface="微软雅黑" pitchFamily="34" charset="-122"/>
                          <a:ea typeface="微软雅黑" pitchFamily="34" charset="-122"/>
                        </a:rPr>
                        <a:t>竞得企业</a:t>
                      </a:r>
                    </a:p>
                  </a:txBody>
                  <a:tcPr marL="9525" marR="9525" marT="9525" marB="0" anchor="ctr">
                    <a:solidFill>
                      <a:srgbClr val="006EC7"/>
                    </a:solidFill>
                  </a:tcPr>
                </a:tc>
                <a:extLst>
                  <a:ext uri="{0D108BD9-81ED-4DB2-BD59-A6C34878D82A}">
                    <a16:rowId xmlns:a16="http://schemas.microsoft.com/office/drawing/2014/main" val="10000"/>
                  </a:ext>
                </a:extLst>
              </a:tr>
              <a:tr h="699953">
                <a:tc>
                  <a:txBody>
                    <a:bodyPr/>
                    <a:lstStyle/>
                    <a:p>
                      <a:pPr algn="ctr" fontAlgn="b"/>
                      <a:r>
                        <a:rPr lang="zh-CN" altLang="en-US" sz="1200" b="0" i="0" u="none" strike="noStrike" dirty="0">
                          <a:solidFill>
                            <a:srgbClr val="000000"/>
                          </a:solidFill>
                          <a:effectLst/>
                          <a:latin typeface="+mj-ea"/>
                          <a:ea typeface="+mj-ea"/>
                        </a:rPr>
                        <a:t>北京市房山区拱辰街道</a:t>
                      </a:r>
                      <a:r>
                        <a:rPr lang="en-US" altLang="zh-CN" sz="1200" b="0" i="0" u="none" strike="noStrike" dirty="0">
                          <a:solidFill>
                            <a:srgbClr val="000000"/>
                          </a:solidFill>
                          <a:effectLst/>
                          <a:latin typeface="+mj-ea"/>
                          <a:ea typeface="+mj-ea"/>
                        </a:rPr>
                        <a:t>FS00-LX07-0097</a:t>
                      </a:r>
                      <a:r>
                        <a:rPr lang="zh-CN" altLang="en-US" sz="1200" b="0" i="0" u="none" strike="noStrike" dirty="0">
                          <a:solidFill>
                            <a:srgbClr val="000000"/>
                          </a:solidFill>
                          <a:effectLst/>
                          <a:latin typeface="+mj-ea"/>
                          <a:ea typeface="+mj-ea"/>
                        </a:rPr>
                        <a:t>地块</a:t>
                      </a:r>
                      <a:r>
                        <a:rPr lang="en-US" altLang="zh-CN" sz="1200" b="0" i="0" u="none" strike="noStrike" dirty="0">
                          <a:solidFill>
                            <a:srgbClr val="000000"/>
                          </a:solidFill>
                          <a:effectLst/>
                          <a:latin typeface="+mj-ea"/>
                          <a:ea typeface="+mj-ea"/>
                        </a:rPr>
                        <a:t>B4</a:t>
                      </a:r>
                      <a:r>
                        <a:rPr lang="zh-CN" altLang="en-US" sz="1200" b="0" i="0" u="none" strike="noStrike" dirty="0">
                          <a:solidFill>
                            <a:srgbClr val="000000"/>
                          </a:solidFill>
                          <a:effectLst/>
                          <a:latin typeface="+mj-ea"/>
                          <a:ea typeface="+mj-ea"/>
                        </a:rPr>
                        <a:t>综合性商业金融服务业用地</a:t>
                      </a:r>
                    </a:p>
                  </a:txBody>
                  <a:tcPr marL="9525" marR="9525" marT="9525" marB="0" anchor="ctr"/>
                </a:tc>
                <a:tc>
                  <a:txBody>
                    <a:bodyPr/>
                    <a:lstStyle/>
                    <a:p>
                      <a:pPr algn="ctr" fontAlgn="b"/>
                      <a:r>
                        <a:rPr lang="zh-CN" altLang="en-US" sz="1200" b="0" i="0" u="none" strike="noStrike">
                          <a:solidFill>
                            <a:srgbClr val="000000"/>
                          </a:solidFill>
                          <a:effectLst/>
                          <a:latin typeface="+mj-ea"/>
                          <a:ea typeface="+mj-ea"/>
                        </a:rPr>
                        <a:t>挂牌</a:t>
                      </a:r>
                    </a:p>
                  </a:txBody>
                  <a:tcPr marL="9525" marR="9525" marT="9525" marB="0" anchor="ctr"/>
                </a:tc>
                <a:tc>
                  <a:txBody>
                    <a:bodyPr/>
                    <a:lstStyle/>
                    <a:p>
                      <a:pPr algn="ctr" fontAlgn="b"/>
                      <a:r>
                        <a:rPr lang="zh-CN" altLang="en-US" sz="1200" b="0" i="0" u="none" strike="noStrike">
                          <a:solidFill>
                            <a:srgbClr val="000000"/>
                          </a:solidFill>
                          <a:effectLst/>
                          <a:latin typeface="+mj-ea"/>
                          <a:ea typeface="+mj-ea"/>
                        </a:rPr>
                        <a:t>商办</a:t>
                      </a:r>
                    </a:p>
                  </a:txBody>
                  <a:tcPr marL="9525" marR="9525" marT="9525" marB="0" anchor="ctr"/>
                </a:tc>
                <a:tc>
                  <a:txBody>
                    <a:bodyPr/>
                    <a:lstStyle/>
                    <a:p>
                      <a:pPr algn="ctr" fontAlgn="b"/>
                      <a:r>
                        <a:rPr lang="en-US" altLang="zh-CN" sz="1200" b="0" i="0" u="none" strike="noStrike" dirty="0">
                          <a:solidFill>
                            <a:srgbClr val="000000"/>
                          </a:solidFill>
                          <a:effectLst/>
                          <a:latin typeface="+mj-ea"/>
                          <a:ea typeface="+mj-ea"/>
                        </a:rPr>
                        <a:t>0.8 </a:t>
                      </a:r>
                    </a:p>
                  </a:txBody>
                  <a:tcPr marL="9525" marR="9525" marT="9525" marB="0" anchor="ctr"/>
                </a:tc>
                <a:tc>
                  <a:txBody>
                    <a:bodyPr/>
                    <a:lstStyle/>
                    <a:p>
                      <a:pPr algn="ctr" fontAlgn="b"/>
                      <a:r>
                        <a:rPr lang="en-US" altLang="zh-CN" sz="1200" b="0" i="0" u="none" strike="noStrike">
                          <a:solidFill>
                            <a:srgbClr val="000000"/>
                          </a:solidFill>
                          <a:effectLst/>
                          <a:latin typeface="+mj-ea"/>
                          <a:ea typeface="+mj-ea"/>
                        </a:rPr>
                        <a:t>2.1 </a:t>
                      </a:r>
                    </a:p>
                  </a:txBody>
                  <a:tcPr marL="9525" marR="9525" marT="9525" marB="0" anchor="ctr"/>
                </a:tc>
                <a:tc>
                  <a:txBody>
                    <a:bodyPr/>
                    <a:lstStyle/>
                    <a:p>
                      <a:pPr algn="ctr" fontAlgn="b"/>
                      <a:r>
                        <a:rPr lang="en-US" altLang="zh-CN" sz="1200" b="0" i="0" u="none" strike="noStrike">
                          <a:solidFill>
                            <a:srgbClr val="000000"/>
                          </a:solidFill>
                          <a:effectLst/>
                          <a:latin typeface="+mj-ea"/>
                          <a:ea typeface="+mj-ea"/>
                        </a:rPr>
                        <a:t>4.2 </a:t>
                      </a:r>
                    </a:p>
                  </a:txBody>
                  <a:tcPr marL="9525" marR="9525" marT="9525" marB="0" anchor="ctr"/>
                </a:tc>
                <a:tc>
                  <a:txBody>
                    <a:bodyPr/>
                    <a:lstStyle/>
                    <a:p>
                      <a:pPr algn="ctr" fontAlgn="b"/>
                      <a:r>
                        <a:rPr lang="en-US" altLang="zh-CN" sz="1200" b="0" i="0" u="none" strike="noStrike">
                          <a:solidFill>
                            <a:srgbClr val="000000"/>
                          </a:solidFill>
                          <a:effectLst/>
                          <a:latin typeface="+mj-ea"/>
                          <a:ea typeface="+mj-ea"/>
                        </a:rPr>
                        <a:t>4.1 </a:t>
                      </a:r>
                    </a:p>
                  </a:txBody>
                  <a:tcPr marL="9525" marR="9525" marT="9525" marB="0" anchor="ctr"/>
                </a:tc>
                <a:tc>
                  <a:txBody>
                    <a:bodyPr/>
                    <a:lstStyle/>
                    <a:p>
                      <a:pPr algn="ctr" fontAlgn="b"/>
                      <a:r>
                        <a:rPr lang="en-US" altLang="zh-CN" sz="1200" b="0" i="0" u="none" strike="noStrike">
                          <a:solidFill>
                            <a:srgbClr val="000000"/>
                          </a:solidFill>
                          <a:effectLst/>
                          <a:latin typeface="+mj-ea"/>
                          <a:ea typeface="+mj-ea"/>
                        </a:rPr>
                        <a:t>3%</a:t>
                      </a:r>
                    </a:p>
                  </a:txBody>
                  <a:tcPr marL="9525" marR="9525" marT="9525" marB="0" anchor="ctr"/>
                </a:tc>
                <a:tc>
                  <a:txBody>
                    <a:bodyPr/>
                    <a:lstStyle/>
                    <a:p>
                      <a:pPr algn="ctr" fontAlgn="b"/>
                      <a:r>
                        <a:rPr lang="zh-CN" altLang="en-US" sz="1200" b="0" i="0" u="none" strike="noStrike" dirty="0">
                          <a:solidFill>
                            <a:srgbClr val="000000"/>
                          </a:solidFill>
                          <a:effectLst/>
                          <a:latin typeface="+mj-ea"/>
                          <a:ea typeface="+mj-ea"/>
                        </a:rPr>
                        <a:t>北京龙建诚信</a:t>
                      </a:r>
                      <a:endParaRPr lang="en-US" altLang="zh-CN" sz="1200" b="0" i="0" u="none" strike="noStrike" dirty="0">
                        <a:solidFill>
                          <a:srgbClr val="000000"/>
                        </a:solidFill>
                        <a:effectLst/>
                        <a:latin typeface="+mj-ea"/>
                        <a:ea typeface="+mj-ea"/>
                      </a:endParaRPr>
                    </a:p>
                    <a:p>
                      <a:pPr algn="ctr" fontAlgn="b"/>
                      <a:r>
                        <a:rPr lang="zh-CN" altLang="en-US" sz="1200" b="0" i="0" u="none" strike="noStrike" dirty="0">
                          <a:solidFill>
                            <a:srgbClr val="000000"/>
                          </a:solidFill>
                          <a:effectLst/>
                          <a:latin typeface="+mj-ea"/>
                          <a:ea typeface="+mj-ea"/>
                        </a:rPr>
                        <a:t>房地产开发</a:t>
                      </a:r>
                      <a:endParaRPr lang="en-US" altLang="zh-CN" sz="1200" b="0" i="0" u="none" strike="noStrike" dirty="0">
                        <a:solidFill>
                          <a:srgbClr val="000000"/>
                        </a:solidFill>
                        <a:effectLst/>
                        <a:latin typeface="+mj-ea"/>
                        <a:ea typeface="+mj-ea"/>
                      </a:endParaRPr>
                    </a:p>
                    <a:p>
                      <a:pPr algn="ctr" fontAlgn="b"/>
                      <a:r>
                        <a:rPr lang="zh-CN" altLang="en-US" sz="1200" b="0" i="0" u="none" strike="noStrike" dirty="0">
                          <a:solidFill>
                            <a:srgbClr val="000000"/>
                          </a:solidFill>
                          <a:effectLst/>
                          <a:latin typeface="+mj-ea"/>
                          <a:ea typeface="+mj-ea"/>
                        </a:rPr>
                        <a:t>有限公司</a:t>
                      </a:r>
                    </a:p>
                  </a:txBody>
                  <a:tcPr marL="9525" marR="9525" marT="9525" marB="0" anchor="ctr"/>
                </a:tc>
                <a:extLst>
                  <a:ext uri="{0D108BD9-81ED-4DB2-BD59-A6C34878D82A}">
                    <a16:rowId xmlns:a16="http://schemas.microsoft.com/office/drawing/2014/main" val="10001"/>
                  </a:ext>
                </a:extLst>
              </a:tr>
              <a:tr h="656928">
                <a:tc>
                  <a:txBody>
                    <a:bodyPr/>
                    <a:lstStyle/>
                    <a:p>
                      <a:pPr algn="ctr" fontAlgn="b"/>
                      <a:r>
                        <a:rPr lang="zh-CN" altLang="en-US" sz="1200" b="0" i="0" u="none" strike="noStrike" dirty="0">
                          <a:solidFill>
                            <a:srgbClr val="000000"/>
                          </a:solidFill>
                          <a:effectLst/>
                          <a:latin typeface="+mj-ea"/>
                          <a:ea typeface="+mj-ea"/>
                        </a:rPr>
                        <a:t>北京市丰台区张仪村路东侧棚户区改造项目前期工作及拟改造土地使用权出让招标公告</a:t>
                      </a:r>
                    </a:p>
                  </a:txBody>
                  <a:tcPr marL="9525" marR="9525" marT="9525" marB="0" anchor="ctr"/>
                </a:tc>
                <a:tc>
                  <a:txBody>
                    <a:bodyPr/>
                    <a:lstStyle/>
                    <a:p>
                      <a:pPr algn="ctr" fontAlgn="b"/>
                      <a:r>
                        <a:rPr lang="zh-CN" altLang="en-US" sz="1200" b="0" i="0" u="none" strike="noStrike" dirty="0">
                          <a:solidFill>
                            <a:srgbClr val="000000"/>
                          </a:solidFill>
                          <a:effectLst/>
                          <a:latin typeface="+mj-ea"/>
                          <a:ea typeface="+mj-ea"/>
                        </a:rPr>
                        <a:t>招标</a:t>
                      </a:r>
                    </a:p>
                  </a:txBody>
                  <a:tcPr marL="9525" marR="9525" marT="9525" marB="0" anchor="ctr"/>
                </a:tc>
                <a:tc>
                  <a:txBody>
                    <a:bodyPr/>
                    <a:lstStyle/>
                    <a:p>
                      <a:pPr algn="ctr" fontAlgn="b"/>
                      <a:r>
                        <a:rPr lang="zh-CN" altLang="en-US" sz="1200" b="0" i="0" u="none" strike="noStrike" dirty="0">
                          <a:solidFill>
                            <a:srgbClr val="000000"/>
                          </a:solidFill>
                          <a:effectLst/>
                          <a:latin typeface="+mj-ea"/>
                          <a:ea typeface="+mj-ea"/>
                        </a:rPr>
                        <a:t>居住</a:t>
                      </a:r>
                    </a:p>
                  </a:txBody>
                  <a:tcPr marL="9525" marR="9525" marT="9525" marB="0" anchor="ctr"/>
                </a:tc>
                <a:tc>
                  <a:txBody>
                    <a:bodyPr/>
                    <a:lstStyle/>
                    <a:p>
                      <a:pPr algn="ctr" fontAlgn="b"/>
                      <a:r>
                        <a:rPr lang="en-US" altLang="zh-CN" sz="1200" b="0" i="0" u="none" strike="noStrike" dirty="0">
                          <a:solidFill>
                            <a:srgbClr val="000000"/>
                          </a:solidFill>
                          <a:effectLst/>
                          <a:latin typeface="+mj-ea"/>
                          <a:ea typeface="+mj-ea"/>
                        </a:rPr>
                        <a:t>5.9 </a:t>
                      </a:r>
                    </a:p>
                  </a:txBody>
                  <a:tcPr marL="9525" marR="9525" marT="9525" marB="0" anchor="ctr"/>
                </a:tc>
                <a:tc>
                  <a:txBody>
                    <a:bodyPr/>
                    <a:lstStyle/>
                    <a:p>
                      <a:pPr algn="ctr" fontAlgn="b"/>
                      <a:r>
                        <a:rPr lang="en-US" altLang="zh-CN" sz="1200" b="0" i="0" u="none" strike="noStrike" dirty="0">
                          <a:solidFill>
                            <a:srgbClr val="000000"/>
                          </a:solidFill>
                          <a:effectLst/>
                          <a:latin typeface="+mj-ea"/>
                          <a:ea typeface="+mj-ea"/>
                        </a:rPr>
                        <a:t>16.0 </a:t>
                      </a:r>
                    </a:p>
                  </a:txBody>
                  <a:tcPr marL="9525" marR="9525" marT="9525" marB="0" anchor="ctr"/>
                </a:tc>
                <a:tc>
                  <a:txBody>
                    <a:bodyPr/>
                    <a:lstStyle/>
                    <a:p>
                      <a:pPr algn="ctr" fontAlgn="b"/>
                      <a:r>
                        <a:rPr lang="en-US" altLang="zh-CN" sz="1200" b="0" i="0" u="none" strike="noStrike" dirty="0">
                          <a:solidFill>
                            <a:srgbClr val="000000"/>
                          </a:solidFill>
                          <a:effectLst/>
                          <a:latin typeface="+mj-ea"/>
                          <a:ea typeface="+mj-ea"/>
                        </a:rPr>
                        <a:t>——</a:t>
                      </a:r>
                    </a:p>
                  </a:txBody>
                  <a:tcPr marL="9525" marR="9525" marT="9525" marB="0" anchor="ctr"/>
                </a:tc>
                <a:tc>
                  <a:txBody>
                    <a:bodyPr/>
                    <a:lstStyle/>
                    <a:p>
                      <a:pPr algn="ctr" fontAlgn="b"/>
                      <a:r>
                        <a:rPr lang="en-US" altLang="zh-CN" sz="1200" b="0" i="0" u="none" strike="noStrike">
                          <a:solidFill>
                            <a:srgbClr val="000000"/>
                          </a:solidFill>
                          <a:effectLst/>
                          <a:latin typeface="+mj-ea"/>
                          <a:ea typeface="+mj-ea"/>
                        </a:rPr>
                        <a:t>0.0 </a:t>
                      </a:r>
                    </a:p>
                  </a:txBody>
                  <a:tcPr marL="9525" marR="9525" marT="9525" marB="0" anchor="ctr"/>
                </a:tc>
                <a:tc>
                  <a:txBody>
                    <a:bodyPr/>
                    <a:lstStyle/>
                    <a:p>
                      <a:pPr algn="ctr" fontAlgn="b"/>
                      <a:r>
                        <a:rPr lang="en-US" altLang="zh-CN" sz="1200" b="0" i="0" u="none" strike="noStrike">
                          <a:solidFill>
                            <a:srgbClr val="000000"/>
                          </a:solidFill>
                          <a:effectLst/>
                          <a:latin typeface="+mj-ea"/>
                          <a:ea typeface="+mj-ea"/>
                        </a:rPr>
                        <a:t>——</a:t>
                      </a:r>
                    </a:p>
                  </a:txBody>
                  <a:tcPr marL="9525" marR="9525" marT="9525" marB="0" anchor="ctr"/>
                </a:tc>
                <a:tc>
                  <a:txBody>
                    <a:bodyPr/>
                    <a:lstStyle/>
                    <a:p>
                      <a:pPr algn="ctr" fontAlgn="b"/>
                      <a:r>
                        <a:rPr lang="zh-CN" altLang="en-US" sz="1200" b="0" i="0" u="none" strike="noStrike" dirty="0">
                          <a:solidFill>
                            <a:srgbClr val="000000"/>
                          </a:solidFill>
                          <a:effectLst/>
                          <a:latin typeface="+mj-ea"/>
                          <a:ea typeface="+mj-ea"/>
                        </a:rPr>
                        <a:t>北京城建集团有限</a:t>
                      </a:r>
                      <a:endParaRPr lang="en-US" altLang="zh-CN" sz="1200" b="0" i="0" u="none" strike="noStrike" dirty="0">
                        <a:solidFill>
                          <a:srgbClr val="000000"/>
                        </a:solidFill>
                        <a:effectLst/>
                        <a:latin typeface="+mj-ea"/>
                        <a:ea typeface="+mj-ea"/>
                      </a:endParaRPr>
                    </a:p>
                    <a:p>
                      <a:pPr algn="ctr" fontAlgn="b"/>
                      <a:r>
                        <a:rPr lang="zh-CN" altLang="en-US" sz="1200" b="0" i="0" u="none" strike="noStrike" dirty="0">
                          <a:solidFill>
                            <a:srgbClr val="000000"/>
                          </a:solidFill>
                          <a:effectLst/>
                          <a:latin typeface="+mj-ea"/>
                          <a:ea typeface="+mj-ea"/>
                        </a:rPr>
                        <a:t>责任公司</a:t>
                      </a:r>
                    </a:p>
                  </a:txBody>
                  <a:tcPr marL="9525" marR="9525" marT="9525" marB="0" anchor="ctr"/>
                </a:tc>
                <a:extLst>
                  <a:ext uri="{0D108BD9-81ED-4DB2-BD59-A6C34878D82A}">
                    <a16:rowId xmlns:a16="http://schemas.microsoft.com/office/drawing/2014/main" val="10002"/>
                  </a:ext>
                </a:extLst>
              </a:tr>
              <a:tr h="661404">
                <a:tc>
                  <a:txBody>
                    <a:bodyPr/>
                    <a:lstStyle/>
                    <a:p>
                      <a:pPr algn="ctr" fontAlgn="b"/>
                      <a:r>
                        <a:rPr lang="zh-CN" altLang="en-US" sz="1200" b="0" i="0" u="none" strike="noStrike">
                          <a:solidFill>
                            <a:srgbClr val="000000"/>
                          </a:solidFill>
                          <a:effectLst/>
                          <a:latin typeface="+mj-ea"/>
                          <a:ea typeface="+mj-ea"/>
                        </a:rPr>
                        <a:t>北京经济技术开发区河西区</a:t>
                      </a:r>
                      <a:r>
                        <a:rPr lang="en-US" altLang="zh-CN" sz="1200" b="0" i="0" u="none" strike="noStrike">
                          <a:solidFill>
                            <a:srgbClr val="000000"/>
                          </a:solidFill>
                          <a:effectLst/>
                          <a:latin typeface="+mj-ea"/>
                          <a:ea typeface="+mj-ea"/>
                        </a:rPr>
                        <a:t>X52M1</a:t>
                      </a:r>
                      <a:r>
                        <a:rPr lang="zh-CN" altLang="en-US" sz="1200" b="0" i="0" u="none" strike="noStrike">
                          <a:solidFill>
                            <a:srgbClr val="000000"/>
                          </a:solidFill>
                          <a:effectLst/>
                          <a:latin typeface="+mj-ea"/>
                          <a:ea typeface="+mj-ea"/>
                        </a:rPr>
                        <a:t>地块工业项目国有建设用地使用权挂牌出让公告</a:t>
                      </a:r>
                    </a:p>
                  </a:txBody>
                  <a:tcPr marL="9525" marR="9525" marT="9525" marB="0" anchor="ctr"/>
                </a:tc>
                <a:tc>
                  <a:txBody>
                    <a:bodyPr/>
                    <a:lstStyle/>
                    <a:p>
                      <a:pPr algn="ctr" fontAlgn="b"/>
                      <a:r>
                        <a:rPr lang="zh-CN" altLang="en-US" sz="1200" b="0" i="0" u="none" strike="noStrike">
                          <a:solidFill>
                            <a:srgbClr val="000000"/>
                          </a:solidFill>
                          <a:effectLst/>
                          <a:latin typeface="+mj-ea"/>
                          <a:ea typeface="+mj-ea"/>
                        </a:rPr>
                        <a:t>挂牌</a:t>
                      </a:r>
                    </a:p>
                  </a:txBody>
                  <a:tcPr marL="9525" marR="9525" marT="9525" marB="0" anchor="ctr"/>
                </a:tc>
                <a:tc>
                  <a:txBody>
                    <a:bodyPr/>
                    <a:lstStyle/>
                    <a:p>
                      <a:pPr algn="ctr" fontAlgn="b"/>
                      <a:r>
                        <a:rPr lang="zh-CN" altLang="en-US" sz="1200" b="0" i="0" u="none" strike="noStrike">
                          <a:solidFill>
                            <a:srgbClr val="000000"/>
                          </a:solidFill>
                          <a:effectLst/>
                          <a:latin typeface="+mj-ea"/>
                          <a:ea typeface="+mj-ea"/>
                        </a:rPr>
                        <a:t>工业</a:t>
                      </a:r>
                    </a:p>
                  </a:txBody>
                  <a:tcPr marL="9525" marR="9525" marT="9525" marB="0" anchor="ctr"/>
                </a:tc>
                <a:tc>
                  <a:txBody>
                    <a:bodyPr/>
                    <a:lstStyle/>
                    <a:p>
                      <a:pPr algn="ctr" fontAlgn="b"/>
                      <a:r>
                        <a:rPr lang="en-US" altLang="zh-CN" sz="1200" b="0" i="0" u="none" strike="noStrike">
                          <a:solidFill>
                            <a:srgbClr val="000000"/>
                          </a:solidFill>
                          <a:effectLst/>
                          <a:latin typeface="+mj-ea"/>
                          <a:ea typeface="+mj-ea"/>
                        </a:rPr>
                        <a:t>6.1 </a:t>
                      </a:r>
                    </a:p>
                  </a:txBody>
                  <a:tcPr marL="9525" marR="9525" marT="9525" marB="0" anchor="ctr"/>
                </a:tc>
                <a:tc>
                  <a:txBody>
                    <a:bodyPr/>
                    <a:lstStyle/>
                    <a:p>
                      <a:pPr algn="ctr" fontAlgn="b"/>
                      <a:r>
                        <a:rPr lang="en-US" altLang="zh-CN" sz="1200" b="0" i="0" u="none" strike="noStrike">
                          <a:solidFill>
                            <a:srgbClr val="000000"/>
                          </a:solidFill>
                          <a:effectLst/>
                          <a:latin typeface="+mj-ea"/>
                          <a:ea typeface="+mj-ea"/>
                        </a:rPr>
                        <a:t>12.2 </a:t>
                      </a:r>
                    </a:p>
                  </a:txBody>
                  <a:tcPr marL="9525" marR="9525" marT="9525" marB="0" anchor="ctr"/>
                </a:tc>
                <a:tc>
                  <a:txBody>
                    <a:bodyPr/>
                    <a:lstStyle/>
                    <a:p>
                      <a:pPr algn="ctr" fontAlgn="b"/>
                      <a:r>
                        <a:rPr lang="en-US" altLang="zh-CN" sz="1200" b="0" i="0" u="none" strike="noStrike" dirty="0">
                          <a:solidFill>
                            <a:srgbClr val="000000"/>
                          </a:solidFill>
                          <a:effectLst/>
                          <a:latin typeface="+mj-ea"/>
                          <a:ea typeface="+mj-ea"/>
                        </a:rPr>
                        <a:t>1.3 </a:t>
                      </a:r>
                    </a:p>
                  </a:txBody>
                  <a:tcPr marL="9525" marR="9525" marT="9525" marB="0" anchor="ctr"/>
                </a:tc>
                <a:tc>
                  <a:txBody>
                    <a:bodyPr/>
                    <a:lstStyle/>
                    <a:p>
                      <a:pPr algn="ctr" fontAlgn="b"/>
                      <a:r>
                        <a:rPr lang="en-US" altLang="zh-CN" sz="1200" b="0" i="0" u="none" strike="noStrike" dirty="0">
                          <a:solidFill>
                            <a:srgbClr val="000000"/>
                          </a:solidFill>
                          <a:effectLst/>
                          <a:latin typeface="+mj-ea"/>
                          <a:ea typeface="+mj-ea"/>
                        </a:rPr>
                        <a:t>1.3 </a:t>
                      </a:r>
                    </a:p>
                  </a:txBody>
                  <a:tcPr marL="9525" marR="9525" marT="9525" marB="0" anchor="ctr"/>
                </a:tc>
                <a:tc>
                  <a:txBody>
                    <a:bodyPr/>
                    <a:lstStyle/>
                    <a:p>
                      <a:pPr algn="ctr" fontAlgn="b"/>
                      <a:r>
                        <a:rPr lang="en-US" altLang="zh-CN" sz="1200" b="0" i="0" u="none" strike="noStrike" dirty="0">
                          <a:solidFill>
                            <a:srgbClr val="000000"/>
                          </a:solidFill>
                          <a:effectLst/>
                          <a:latin typeface="+mj-ea"/>
                          <a:ea typeface="+mj-ea"/>
                        </a:rPr>
                        <a:t>0%</a:t>
                      </a:r>
                    </a:p>
                  </a:txBody>
                  <a:tcPr marL="9525" marR="9525" marT="9525" marB="0" anchor="ctr"/>
                </a:tc>
                <a:tc>
                  <a:txBody>
                    <a:bodyPr/>
                    <a:lstStyle/>
                    <a:p>
                      <a:pPr algn="ctr" fontAlgn="b"/>
                      <a:r>
                        <a:rPr lang="zh-CN" altLang="en-US" sz="1200" b="0" i="0" u="none" strike="noStrike" dirty="0">
                          <a:solidFill>
                            <a:srgbClr val="000000"/>
                          </a:solidFill>
                          <a:effectLst/>
                          <a:latin typeface="+mj-ea"/>
                          <a:ea typeface="+mj-ea"/>
                        </a:rPr>
                        <a:t>中国机动车辆安全</a:t>
                      </a:r>
                      <a:endParaRPr lang="en-US" altLang="zh-CN" sz="1200" b="0" i="0" u="none" strike="noStrike" dirty="0">
                        <a:solidFill>
                          <a:srgbClr val="000000"/>
                        </a:solidFill>
                        <a:effectLst/>
                        <a:latin typeface="+mj-ea"/>
                        <a:ea typeface="+mj-ea"/>
                      </a:endParaRPr>
                    </a:p>
                    <a:p>
                      <a:pPr algn="ctr" fontAlgn="b"/>
                      <a:r>
                        <a:rPr lang="zh-CN" altLang="en-US" sz="1200" b="0" i="0" u="none" strike="noStrike" dirty="0">
                          <a:solidFill>
                            <a:srgbClr val="000000"/>
                          </a:solidFill>
                          <a:effectLst/>
                          <a:latin typeface="+mj-ea"/>
                          <a:ea typeface="+mj-ea"/>
                        </a:rPr>
                        <a:t>鉴定检测中心</a:t>
                      </a:r>
                    </a:p>
                  </a:txBody>
                  <a:tcPr marL="9525" marR="9525" marT="9525" marB="0" anchor="ctr"/>
                </a:tc>
                <a:extLst>
                  <a:ext uri="{0D108BD9-81ED-4DB2-BD59-A6C34878D82A}">
                    <a16:rowId xmlns:a16="http://schemas.microsoft.com/office/drawing/2014/main" val="10003"/>
                  </a:ext>
                </a:extLst>
              </a:tr>
            </a:tbl>
          </a:graphicData>
        </a:graphic>
      </p:graphicFrame>
      <p:sp>
        <p:nvSpPr>
          <p:cNvPr id="12" name="TextBox 11"/>
          <p:cNvSpPr txBox="1"/>
          <p:nvPr/>
        </p:nvSpPr>
        <p:spPr>
          <a:xfrm>
            <a:off x="403293" y="927071"/>
            <a:ext cx="8170691" cy="1477328"/>
          </a:xfrm>
          <a:prstGeom prst="rect">
            <a:avLst/>
          </a:prstGeom>
          <a:noFill/>
        </p:spPr>
        <p:txBody>
          <a:bodyPr wrap="square" rtlCol="0">
            <a:spAutoFit/>
          </a:bodyPr>
          <a:lstStyle/>
          <a:p>
            <a:pPr marL="285750" indent="-285750" algn="just">
              <a:lnSpc>
                <a:spcPct val="150000"/>
              </a:lnSpc>
              <a:buClr>
                <a:srgbClr val="C00000"/>
              </a:buClr>
              <a:buSzPct val="60000"/>
              <a:buFont typeface="Wingdings" pitchFamily="2" charset="2"/>
              <a:buChar char="p"/>
            </a:pPr>
            <a:r>
              <a:rPr lang="zh-CN" altLang="en-US" sz="1600" b="1" dirty="0">
                <a:solidFill>
                  <a:srgbClr val="FF0000"/>
                </a:solidFill>
                <a:latin typeface="微软雅黑" pitchFamily="34" charset="-122"/>
                <a:ea typeface="微软雅黑" pitchFamily="34" charset="-122"/>
              </a:rPr>
              <a:t>再次出让棚户区改造地块，</a:t>
            </a:r>
            <a:r>
              <a:rPr lang="zh-CN" altLang="en-US" sz="1400" dirty="0">
                <a:latin typeface="微软雅黑" pitchFamily="34" charset="-122"/>
                <a:ea typeface="微软雅黑" pitchFamily="34" charset="-122"/>
              </a:rPr>
              <a:t>今年北京市住宅土地供应总量减少，增加棚改项目等新的供地方式，符合“供给侧”改革的方向。年内共成交了</a:t>
            </a:r>
            <a:r>
              <a:rPr lang="en-US" altLang="zh-CN" sz="1400" dirty="0">
                <a:latin typeface="微软雅黑" pitchFamily="34" charset="-122"/>
                <a:ea typeface="微软雅黑" pitchFamily="34" charset="-122"/>
              </a:rPr>
              <a:t>3</a:t>
            </a:r>
            <a:r>
              <a:rPr lang="zh-CN" altLang="en-US" sz="1400" dirty="0">
                <a:latin typeface="微软雅黑" pitchFamily="34" charset="-122"/>
                <a:ea typeface="微软雅黑" pitchFamily="34" charset="-122"/>
              </a:rPr>
              <a:t>宗棚户区改造地块。</a:t>
            </a:r>
            <a:endParaRPr lang="en-US" altLang="zh-CN" sz="1400" dirty="0">
              <a:latin typeface="微软雅黑" pitchFamily="34" charset="-122"/>
              <a:ea typeface="微软雅黑" pitchFamily="34" charset="-122"/>
            </a:endParaRPr>
          </a:p>
          <a:p>
            <a:pPr marL="285750" indent="-285750" algn="just">
              <a:lnSpc>
                <a:spcPct val="150000"/>
              </a:lnSpc>
              <a:buClr>
                <a:srgbClr val="C00000"/>
              </a:buClr>
              <a:buSzPct val="60000"/>
              <a:buFont typeface="Wingdings" pitchFamily="2" charset="2"/>
              <a:buChar char="p"/>
            </a:pPr>
            <a:r>
              <a:rPr lang="zh-CN" altLang="en-US" sz="1600" b="1" dirty="0">
                <a:solidFill>
                  <a:srgbClr val="FF0000"/>
                </a:solidFill>
                <a:latin typeface="微软雅黑" pitchFamily="34" charset="-122"/>
                <a:ea typeface="微软雅黑" pitchFamily="34" charset="-122"/>
              </a:rPr>
              <a:t>房山商业地块低溢价成交，</a:t>
            </a:r>
            <a:r>
              <a:rPr lang="zh-CN" altLang="en-US" sz="1400" dirty="0">
                <a:latin typeface="微软雅黑" pitchFamily="34" charset="-122"/>
                <a:ea typeface="微软雅黑" pitchFamily="34" charset="-122"/>
              </a:rPr>
              <a:t>由于该地块面积较小、商业地块前景不被看好等因素，竞拍现场仅吸引了</a:t>
            </a:r>
            <a:r>
              <a:rPr lang="en-US" altLang="zh-CN" sz="1400" dirty="0">
                <a:latin typeface="微软雅黑" pitchFamily="34" charset="-122"/>
                <a:ea typeface="微软雅黑" pitchFamily="34" charset="-122"/>
              </a:rPr>
              <a:t>4</a:t>
            </a:r>
            <a:r>
              <a:rPr lang="zh-CN" altLang="en-US" sz="1400" dirty="0">
                <a:latin typeface="微软雅黑" pitchFamily="34" charset="-122"/>
                <a:ea typeface="微软雅黑" pitchFamily="34" charset="-122"/>
              </a:rPr>
              <a:t>家房企，最终该地块便被当地房企良乡城开以</a:t>
            </a:r>
            <a:r>
              <a:rPr lang="en-US" altLang="zh-CN" sz="1400" dirty="0">
                <a:latin typeface="微软雅黑" pitchFamily="34" charset="-122"/>
                <a:ea typeface="微软雅黑" pitchFamily="34" charset="-122"/>
              </a:rPr>
              <a:t>4.2</a:t>
            </a:r>
            <a:r>
              <a:rPr lang="zh-CN" altLang="en-US" sz="1400" dirty="0">
                <a:latin typeface="微软雅黑" pitchFamily="34" charset="-122"/>
                <a:ea typeface="微软雅黑" pitchFamily="34" charset="-122"/>
              </a:rPr>
              <a:t>亿元竞得，溢价率仅</a:t>
            </a:r>
            <a:r>
              <a:rPr lang="en-US" altLang="zh-CN" sz="1400" b="1" dirty="0">
                <a:solidFill>
                  <a:srgbClr val="FF0000"/>
                </a:solidFill>
                <a:latin typeface="微软雅黑" pitchFamily="34" charset="-122"/>
                <a:ea typeface="微软雅黑" pitchFamily="34" charset="-122"/>
              </a:rPr>
              <a:t>3.4%</a:t>
            </a:r>
            <a:r>
              <a:rPr lang="zh-CN" altLang="en-US" sz="1400" dirty="0">
                <a:latin typeface="微软雅黑" pitchFamily="34" charset="-122"/>
                <a:ea typeface="微软雅黑" pitchFamily="34" charset="-122"/>
              </a:rPr>
              <a:t>。</a:t>
            </a:r>
            <a:endParaRPr lang="en-US" altLang="zh-CN" sz="1600" dirty="0">
              <a:latin typeface="微软雅黑" pitchFamily="34" charset="-122"/>
              <a:ea typeface="微软雅黑" pitchFamily="34" charset="-122"/>
            </a:endParaRPr>
          </a:p>
        </p:txBody>
      </p:sp>
    </p:spTree>
    <p:extLst>
      <p:ext uri="{BB962C8B-B14F-4D97-AF65-F5344CB8AC3E}">
        <p14:creationId xmlns:p14="http://schemas.microsoft.com/office/powerpoint/2010/main" val="22184461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编号占位符 1"/>
          <p:cNvSpPr>
            <a:spLocks noGrp="1"/>
          </p:cNvSpPr>
          <p:nvPr>
            <p:ph type="sldNum" sz="quarter" idx="4"/>
          </p:nvPr>
        </p:nvSpPr>
        <p:spPr/>
        <p:txBody>
          <a:bodyPr/>
          <a:lstStyle/>
          <a:p>
            <a:pPr>
              <a:defRPr/>
            </a:pPr>
            <a:fld id="{3E8B6F27-EC4F-B34E-9F32-10CC92E9AB18}" type="slidenum">
              <a:rPr lang="zh-CN" altLang="en-US" smtClean="0"/>
              <a:t>32</a:t>
            </a:fld>
            <a:endParaRPr lang="zh-CN" altLang="en-US" dirty="0"/>
          </a:p>
        </p:txBody>
      </p:sp>
      <p:sp>
        <p:nvSpPr>
          <p:cNvPr id="5" name="标题 4"/>
          <p:cNvSpPr>
            <a:spLocks noGrp="1"/>
          </p:cNvSpPr>
          <p:nvPr>
            <p:ph type="title"/>
          </p:nvPr>
        </p:nvSpPr>
        <p:spPr/>
        <p:txBody>
          <a:bodyPr>
            <a:normAutofit/>
          </a:bodyPr>
          <a:lstStyle/>
          <a:p>
            <a:r>
              <a:rPr lang="zh-CN" altLang="en-US" dirty="0"/>
              <a:t>楼市预判</a:t>
            </a:r>
            <a:r>
              <a:rPr lang="en-US" altLang="zh-CN" dirty="0"/>
              <a:t>|</a:t>
            </a:r>
            <a:r>
              <a:rPr lang="zh-CN" altLang="en-US" sz="1800" dirty="0">
                <a:latin typeface="微软雅黑" pitchFamily="34" charset="-122"/>
                <a:ea typeface="微软雅黑" pitchFamily="34" charset="-122"/>
              </a:rPr>
              <a:t>短期回归理性，中期看央行政策</a:t>
            </a:r>
            <a:endParaRPr lang="zh-CN" altLang="en-US" sz="1400" dirty="0"/>
          </a:p>
        </p:txBody>
      </p:sp>
      <p:graphicFrame>
        <p:nvGraphicFramePr>
          <p:cNvPr id="6" name="图表 5"/>
          <p:cNvGraphicFramePr>
            <a:graphicFrameLocks/>
          </p:cNvGraphicFramePr>
          <p:nvPr>
            <p:extLst>
              <p:ext uri="{D42A27DB-BD31-4B8C-83A1-F6EECF244321}">
                <p14:modId xmlns:p14="http://schemas.microsoft.com/office/powerpoint/2010/main" val="1143563831"/>
              </p:ext>
            </p:extLst>
          </p:nvPr>
        </p:nvGraphicFramePr>
        <p:xfrm>
          <a:off x="877178" y="2085618"/>
          <a:ext cx="7448551" cy="3048990"/>
        </p:xfrm>
        <a:graphic>
          <a:graphicData uri="http://schemas.openxmlformats.org/drawingml/2006/chart">
            <c:chart xmlns:c="http://schemas.openxmlformats.org/drawingml/2006/chart" xmlns:r="http://schemas.openxmlformats.org/officeDocument/2006/relationships" r:id="rId2"/>
          </a:graphicData>
        </a:graphic>
      </p:graphicFrame>
      <p:cxnSp>
        <p:nvCxnSpPr>
          <p:cNvPr id="4" name="直接箭头连接符 3"/>
          <p:cNvCxnSpPr/>
          <p:nvPr/>
        </p:nvCxnSpPr>
        <p:spPr>
          <a:xfrm flipV="1">
            <a:off x="2553194" y="3194463"/>
            <a:ext cx="439387" cy="783772"/>
          </a:xfrm>
          <a:prstGeom prst="straightConnector1">
            <a:avLst/>
          </a:prstGeom>
          <a:ln>
            <a:solidFill>
              <a:srgbClr val="C00000"/>
            </a:solidFill>
            <a:tailEnd type="arrow"/>
          </a:ln>
        </p:spPr>
        <p:style>
          <a:lnRef idx="2">
            <a:schemeClr val="accent1"/>
          </a:lnRef>
          <a:fillRef idx="0">
            <a:schemeClr val="accent1"/>
          </a:fillRef>
          <a:effectRef idx="1">
            <a:schemeClr val="accent1"/>
          </a:effectRef>
          <a:fontRef idx="minor">
            <a:schemeClr val="tx1"/>
          </a:fontRef>
        </p:style>
      </p:cxnSp>
      <p:cxnSp>
        <p:nvCxnSpPr>
          <p:cNvPr id="11" name="直接箭头连接符 10"/>
          <p:cNvCxnSpPr/>
          <p:nvPr/>
        </p:nvCxnSpPr>
        <p:spPr>
          <a:xfrm flipV="1">
            <a:off x="5096493" y="3299363"/>
            <a:ext cx="439387" cy="783772"/>
          </a:xfrm>
          <a:prstGeom prst="straightConnector1">
            <a:avLst/>
          </a:prstGeom>
          <a:ln>
            <a:solidFill>
              <a:srgbClr val="C00000"/>
            </a:solidFill>
            <a:tailEnd type="arrow"/>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4238" y="797236"/>
            <a:ext cx="7999621" cy="1061829"/>
          </a:xfrm>
          <a:prstGeom prst="rect">
            <a:avLst/>
          </a:prstGeom>
          <a:noFill/>
        </p:spPr>
        <p:txBody>
          <a:bodyPr wrap="square" rtlCol="0">
            <a:spAutoFit/>
          </a:bodyPr>
          <a:lstStyle/>
          <a:p>
            <a:pPr marL="285750" indent="-285750" algn="just">
              <a:lnSpc>
                <a:spcPct val="150000"/>
              </a:lnSpc>
              <a:buClr>
                <a:srgbClr val="C00000"/>
              </a:buClr>
              <a:buSzPct val="60000"/>
              <a:buFont typeface="Wingdings" pitchFamily="2" charset="2"/>
              <a:buChar char="p"/>
            </a:pPr>
            <a:r>
              <a:rPr lang="zh-CN" altLang="en-US" sz="1400" dirty="0">
                <a:latin typeface="微软雅黑" pitchFamily="34" charset="-122"/>
                <a:ea typeface="微软雅黑" pitchFamily="34" charset="-122"/>
              </a:rPr>
              <a:t>短期来看，“京八条”的出台，购房门槛进一步提高，打击了投机性需求的入市，可以稳定房地产市场预期，消除恐慌，</a:t>
            </a:r>
            <a:r>
              <a:rPr lang="zh-CN" altLang="en-US" sz="1400" b="1" dirty="0">
                <a:solidFill>
                  <a:srgbClr val="FF0000"/>
                </a:solidFill>
                <a:latin typeface="微软雅黑" pitchFamily="34" charset="-122"/>
                <a:ea typeface="微软雅黑" pitchFamily="34" charset="-122"/>
              </a:rPr>
              <a:t>从而交易量将逐步回落，房价也将逐步企稳并回落</a:t>
            </a:r>
            <a:r>
              <a:rPr lang="zh-CN" altLang="en-US" sz="1400" dirty="0">
                <a:latin typeface="微软雅黑" pitchFamily="34" charset="-122"/>
                <a:ea typeface="微软雅黑" pitchFamily="34" charset="-122"/>
              </a:rPr>
              <a:t>；</a:t>
            </a:r>
            <a:endParaRPr lang="en-US" altLang="zh-CN" sz="1400" dirty="0">
              <a:latin typeface="微软雅黑" pitchFamily="34" charset="-122"/>
              <a:ea typeface="微软雅黑" pitchFamily="34" charset="-122"/>
            </a:endParaRPr>
          </a:p>
          <a:p>
            <a:pPr marL="285750" indent="-285750" algn="just">
              <a:lnSpc>
                <a:spcPct val="150000"/>
              </a:lnSpc>
              <a:buClr>
                <a:srgbClr val="C00000"/>
              </a:buClr>
              <a:buSzPct val="60000"/>
              <a:buFont typeface="Wingdings" pitchFamily="2" charset="2"/>
              <a:buChar char="p"/>
            </a:pPr>
            <a:r>
              <a:rPr lang="zh-CN" altLang="en-US" sz="1400" dirty="0">
                <a:latin typeface="微软雅黑" pitchFamily="34" charset="-122"/>
                <a:ea typeface="微软雅黑" pitchFamily="34" charset="-122"/>
              </a:rPr>
              <a:t>从楼市周期来看，</a:t>
            </a:r>
            <a:r>
              <a:rPr lang="zh-CN" altLang="en-US" sz="1400" b="1" dirty="0">
                <a:solidFill>
                  <a:srgbClr val="FF0000"/>
                </a:solidFill>
                <a:latin typeface="微软雅黑" pitchFamily="34" charset="-122"/>
                <a:ea typeface="微软雅黑" pitchFamily="34" charset="-122"/>
              </a:rPr>
              <a:t>当前房价涨幅的拐点已至</a:t>
            </a:r>
            <a:r>
              <a:rPr lang="zh-CN" altLang="en-US" sz="1400" dirty="0">
                <a:latin typeface="微软雅黑" pitchFamily="34" charset="-122"/>
                <a:ea typeface="微软雅黑" pitchFamily="34" charset="-122"/>
              </a:rPr>
              <a:t>，房价将结束暴涨，楼市将开启新一轮降温周期。</a:t>
            </a:r>
            <a:endParaRPr lang="en-US" altLang="zh-CN" sz="1400" dirty="0">
              <a:latin typeface="微软雅黑" pitchFamily="34" charset="-122"/>
              <a:ea typeface="微软雅黑" pitchFamily="34" charset="-122"/>
            </a:endParaRPr>
          </a:p>
        </p:txBody>
      </p:sp>
      <p:sp>
        <p:nvSpPr>
          <p:cNvPr id="9" name="矩形 8"/>
          <p:cNvSpPr/>
          <p:nvPr/>
        </p:nvSpPr>
        <p:spPr>
          <a:xfrm>
            <a:off x="669360" y="5366289"/>
            <a:ext cx="7466364" cy="700576"/>
          </a:xfrm>
          <a:prstGeom prst="rect">
            <a:avLst/>
          </a:prstGeom>
        </p:spPr>
        <p:txBody>
          <a:bodyPr wrap="square">
            <a:spAutoFit/>
          </a:bodyPr>
          <a:lstStyle/>
          <a:p>
            <a:pPr marL="285750" indent="-285750" algn="just">
              <a:lnSpc>
                <a:spcPct val="150000"/>
              </a:lnSpc>
              <a:buClr>
                <a:srgbClr val="C00000"/>
              </a:buClr>
              <a:buSzPct val="60000"/>
              <a:buFont typeface="Wingdings" pitchFamily="2" charset="2"/>
              <a:buChar char="p"/>
            </a:pPr>
            <a:r>
              <a:rPr lang="zh-CN" altLang="en-US" sz="1400" dirty="0">
                <a:latin typeface="微软雅黑" pitchFamily="34" charset="-122"/>
                <a:ea typeface="微软雅黑" pitchFamily="34" charset="-122"/>
              </a:rPr>
              <a:t>中期来看，</a:t>
            </a:r>
            <a:r>
              <a:rPr lang="zh-CN" altLang="en-US" sz="1400" b="1" dirty="0">
                <a:solidFill>
                  <a:srgbClr val="FF0000"/>
                </a:solidFill>
                <a:latin typeface="微软雅黑" pitchFamily="34" charset="-122"/>
                <a:ea typeface="微软雅黑" pitchFamily="34" charset="-122"/>
              </a:rPr>
              <a:t>主要看央行</a:t>
            </a:r>
            <a:r>
              <a:rPr lang="zh-CN" altLang="en-US" sz="1400" dirty="0">
                <a:latin typeface="微软雅黑" pitchFamily="34" charset="-122"/>
                <a:ea typeface="微软雅黑" pitchFamily="34" charset="-122"/>
              </a:rPr>
              <a:t>，如果货币政策继续宽松，在存量持续走低的背景下，横盘时间或将较长，市场小幅调价；若央行继续收紧货币或信贷，楼市降幅可能会加大。</a:t>
            </a:r>
            <a:endParaRPr lang="en-US" altLang="zh-CN" sz="1400" dirty="0">
              <a:latin typeface="微软雅黑" pitchFamily="34" charset="-122"/>
              <a:ea typeface="微软雅黑" pitchFamily="34" charset="-122"/>
            </a:endParaRPr>
          </a:p>
        </p:txBody>
      </p:sp>
    </p:spTree>
    <p:extLst>
      <p:ext uri="{BB962C8B-B14F-4D97-AF65-F5344CB8AC3E}">
        <p14:creationId xmlns:p14="http://schemas.microsoft.com/office/powerpoint/2010/main" val="22244438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3209983" y="1891731"/>
            <a:ext cx="4929221" cy="500066"/>
          </a:xfrm>
          <a:prstGeom prst="rect">
            <a:avLst/>
          </a:prstGeom>
          <a:solidFill>
            <a:schemeClr val="tx2">
              <a:lumMod val="60000"/>
              <a:lumOff val="40000"/>
            </a:schemeClr>
          </a:solidFill>
          <a:ln w="6350">
            <a:noFill/>
            <a:miter lim="800000"/>
            <a:headEnd/>
            <a:tailEnd/>
          </a:ln>
        </p:spPr>
        <p:txBody>
          <a:bodyPr lIns="0" tIns="0" rIns="0" bIns="0" anchor="ctr"/>
          <a:lstStyle/>
          <a:p>
            <a:pPr>
              <a:lnSpc>
                <a:spcPts val="2000"/>
              </a:lnSpc>
            </a:pPr>
            <a:r>
              <a:rPr kumimoji="1" lang="zh-CN" altLang="en-US" sz="1600" b="1" dirty="0">
                <a:solidFill>
                  <a:schemeClr val="bg1"/>
                </a:solidFill>
                <a:latin typeface="微软雅黑" pitchFamily="34" charset="-122"/>
                <a:ea typeface="微软雅黑" pitchFamily="34" charset="-122"/>
                <a:cs typeface="宋体" charset="0"/>
              </a:rPr>
              <a:t>  政策篇</a:t>
            </a:r>
          </a:p>
        </p:txBody>
      </p:sp>
      <p:sp>
        <p:nvSpPr>
          <p:cNvPr id="4" name="等腰三角形 3"/>
          <p:cNvSpPr/>
          <p:nvPr/>
        </p:nvSpPr>
        <p:spPr bwMode="auto">
          <a:xfrm rot="5400000">
            <a:off x="2817074" y="2070326"/>
            <a:ext cx="500066" cy="142876"/>
          </a:xfrm>
          <a:prstGeom prst="triangle">
            <a:avLst/>
          </a:prstGeom>
          <a:solidFill>
            <a:schemeClr val="tx2">
              <a:lumMod val="60000"/>
              <a:lumOff val="40000"/>
            </a:schemeClr>
          </a:solidFill>
          <a:ln w="6350">
            <a:noFill/>
            <a:miter lim="800000"/>
            <a:headEnd/>
            <a:tailEnd/>
          </a:ln>
        </p:spPr>
        <p:txBody>
          <a:bodyPr wrap="none" lIns="0" tIns="0" rIns="0" bIns="0" anchor="ctr"/>
          <a:lstStyle>
            <a:defPPr>
              <a:defRPr lang="zh-CN"/>
            </a:defPPr>
            <a:lvl1pPr algn="l" rtl="0" fontAlgn="base">
              <a:spcBef>
                <a:spcPct val="0"/>
              </a:spcBef>
              <a:spcAft>
                <a:spcPct val="0"/>
              </a:spcAft>
              <a:defRPr kumimoji="1" kern="1200">
                <a:solidFill>
                  <a:schemeClr val="tx1"/>
                </a:solidFill>
                <a:latin typeface="Calibri" charset="0"/>
                <a:ea typeface="宋体" charset="0"/>
                <a:cs typeface="宋体" charset="0"/>
              </a:defRPr>
            </a:lvl1pPr>
            <a:lvl2pPr marL="457200" algn="l" rtl="0" fontAlgn="base">
              <a:spcBef>
                <a:spcPct val="0"/>
              </a:spcBef>
              <a:spcAft>
                <a:spcPct val="0"/>
              </a:spcAft>
              <a:defRPr kumimoji="1" kern="1200">
                <a:solidFill>
                  <a:schemeClr val="tx1"/>
                </a:solidFill>
                <a:latin typeface="Calibri" charset="0"/>
                <a:ea typeface="宋体" charset="0"/>
                <a:cs typeface="宋体" charset="0"/>
              </a:defRPr>
            </a:lvl2pPr>
            <a:lvl3pPr marL="914400" algn="l" rtl="0" fontAlgn="base">
              <a:spcBef>
                <a:spcPct val="0"/>
              </a:spcBef>
              <a:spcAft>
                <a:spcPct val="0"/>
              </a:spcAft>
              <a:defRPr kumimoji="1" kern="1200">
                <a:solidFill>
                  <a:schemeClr val="tx1"/>
                </a:solidFill>
                <a:latin typeface="Calibri" charset="0"/>
                <a:ea typeface="宋体" charset="0"/>
                <a:cs typeface="宋体" charset="0"/>
              </a:defRPr>
            </a:lvl3pPr>
            <a:lvl4pPr marL="1371600" algn="l" rtl="0" fontAlgn="base">
              <a:spcBef>
                <a:spcPct val="0"/>
              </a:spcBef>
              <a:spcAft>
                <a:spcPct val="0"/>
              </a:spcAft>
              <a:defRPr kumimoji="1" kern="1200">
                <a:solidFill>
                  <a:schemeClr val="tx1"/>
                </a:solidFill>
                <a:latin typeface="Calibri" charset="0"/>
                <a:ea typeface="宋体" charset="0"/>
                <a:cs typeface="宋体" charset="0"/>
              </a:defRPr>
            </a:lvl4pPr>
            <a:lvl5pPr marL="1828800" algn="l" rtl="0" fontAlgn="base">
              <a:spcBef>
                <a:spcPct val="0"/>
              </a:spcBef>
              <a:spcAft>
                <a:spcPct val="0"/>
              </a:spcAft>
              <a:defRPr kumimoji="1" kern="1200">
                <a:solidFill>
                  <a:schemeClr val="tx1"/>
                </a:solidFill>
                <a:latin typeface="Calibri" charset="0"/>
                <a:ea typeface="宋体" charset="0"/>
                <a:cs typeface="宋体" charset="0"/>
              </a:defRPr>
            </a:lvl5pPr>
            <a:lvl6pPr marL="2286000" algn="l" defTabSz="457200" rtl="0" eaLnBrk="1" latinLnBrk="0" hangingPunct="1">
              <a:defRPr kumimoji="1" kern="1200">
                <a:solidFill>
                  <a:schemeClr val="tx1"/>
                </a:solidFill>
                <a:latin typeface="Calibri" charset="0"/>
                <a:ea typeface="宋体" charset="0"/>
                <a:cs typeface="宋体" charset="0"/>
              </a:defRPr>
            </a:lvl6pPr>
            <a:lvl7pPr marL="2743200" algn="l" defTabSz="457200" rtl="0" eaLnBrk="1" latinLnBrk="0" hangingPunct="1">
              <a:defRPr kumimoji="1" kern="1200">
                <a:solidFill>
                  <a:schemeClr val="tx1"/>
                </a:solidFill>
                <a:latin typeface="Calibri" charset="0"/>
                <a:ea typeface="宋体" charset="0"/>
                <a:cs typeface="宋体" charset="0"/>
              </a:defRPr>
            </a:lvl7pPr>
            <a:lvl8pPr marL="3200400" algn="l" defTabSz="457200" rtl="0" eaLnBrk="1" latinLnBrk="0" hangingPunct="1">
              <a:defRPr kumimoji="1" kern="1200">
                <a:solidFill>
                  <a:schemeClr val="tx1"/>
                </a:solidFill>
                <a:latin typeface="Calibri" charset="0"/>
                <a:ea typeface="宋体" charset="0"/>
                <a:cs typeface="宋体" charset="0"/>
              </a:defRPr>
            </a:lvl8pPr>
            <a:lvl9pPr marL="3657600" algn="l" defTabSz="457200" rtl="0" eaLnBrk="1" latinLnBrk="0" hangingPunct="1">
              <a:defRPr kumimoji="1" kern="1200">
                <a:solidFill>
                  <a:schemeClr val="tx1"/>
                </a:solidFill>
                <a:latin typeface="Calibri" charset="0"/>
                <a:ea typeface="宋体" charset="0"/>
                <a:cs typeface="宋体" charset="0"/>
              </a:defRPr>
            </a:lvl9pPr>
          </a:lstStyle>
          <a:p>
            <a:pPr algn="ctr" fontAlgn="auto">
              <a:spcBef>
                <a:spcPts val="0"/>
              </a:spcBef>
              <a:spcAft>
                <a:spcPts val="0"/>
              </a:spcAft>
              <a:defRPr/>
            </a:pPr>
            <a:endParaRPr lang="zh-CN" altLang="en-US" sz="1600" b="1" dirty="0">
              <a:latin typeface="微软雅黑" pitchFamily="34" charset="-122"/>
              <a:ea typeface="微软雅黑" pitchFamily="34" charset="-122"/>
            </a:endParaRPr>
          </a:p>
        </p:txBody>
      </p:sp>
      <p:sp>
        <p:nvSpPr>
          <p:cNvPr id="5" name="矩形 4"/>
          <p:cNvSpPr/>
          <p:nvPr/>
        </p:nvSpPr>
        <p:spPr bwMode="auto">
          <a:xfrm>
            <a:off x="3209983" y="2614474"/>
            <a:ext cx="4929221" cy="500066"/>
          </a:xfrm>
          <a:prstGeom prst="rect">
            <a:avLst/>
          </a:prstGeom>
          <a:solidFill>
            <a:srgbClr val="F4A73C"/>
          </a:solidFill>
          <a:ln w="6350">
            <a:noFill/>
            <a:miter lim="800000"/>
            <a:headEnd/>
            <a:tailEnd/>
          </a:ln>
        </p:spPr>
        <p:txBody>
          <a:bodyPr lIns="0" tIns="0" rIns="0" bIns="0" anchor="ctr"/>
          <a:lstStyle>
            <a:defPPr>
              <a:defRPr lang="zh-CN"/>
            </a:defPPr>
            <a:lvl1pPr algn="l" rtl="0" fontAlgn="base">
              <a:spcBef>
                <a:spcPct val="0"/>
              </a:spcBef>
              <a:spcAft>
                <a:spcPct val="0"/>
              </a:spcAft>
              <a:defRPr kumimoji="1" kern="1200">
                <a:solidFill>
                  <a:schemeClr val="tx1"/>
                </a:solidFill>
                <a:latin typeface="Calibri" charset="0"/>
                <a:ea typeface="宋体" charset="0"/>
                <a:cs typeface="宋体" charset="0"/>
              </a:defRPr>
            </a:lvl1pPr>
            <a:lvl2pPr marL="457200" algn="l" rtl="0" fontAlgn="base">
              <a:spcBef>
                <a:spcPct val="0"/>
              </a:spcBef>
              <a:spcAft>
                <a:spcPct val="0"/>
              </a:spcAft>
              <a:defRPr kumimoji="1" kern="1200">
                <a:solidFill>
                  <a:schemeClr val="tx1"/>
                </a:solidFill>
                <a:latin typeface="Calibri" charset="0"/>
                <a:ea typeface="宋体" charset="0"/>
                <a:cs typeface="宋体" charset="0"/>
              </a:defRPr>
            </a:lvl2pPr>
            <a:lvl3pPr marL="914400" algn="l" rtl="0" fontAlgn="base">
              <a:spcBef>
                <a:spcPct val="0"/>
              </a:spcBef>
              <a:spcAft>
                <a:spcPct val="0"/>
              </a:spcAft>
              <a:defRPr kumimoji="1" kern="1200">
                <a:solidFill>
                  <a:schemeClr val="tx1"/>
                </a:solidFill>
                <a:latin typeface="Calibri" charset="0"/>
                <a:ea typeface="宋体" charset="0"/>
                <a:cs typeface="宋体" charset="0"/>
              </a:defRPr>
            </a:lvl3pPr>
            <a:lvl4pPr marL="1371600" algn="l" rtl="0" fontAlgn="base">
              <a:spcBef>
                <a:spcPct val="0"/>
              </a:spcBef>
              <a:spcAft>
                <a:spcPct val="0"/>
              </a:spcAft>
              <a:defRPr kumimoji="1" kern="1200">
                <a:solidFill>
                  <a:schemeClr val="tx1"/>
                </a:solidFill>
                <a:latin typeface="Calibri" charset="0"/>
                <a:ea typeface="宋体" charset="0"/>
                <a:cs typeface="宋体" charset="0"/>
              </a:defRPr>
            </a:lvl4pPr>
            <a:lvl5pPr marL="1828800" algn="l" rtl="0" fontAlgn="base">
              <a:spcBef>
                <a:spcPct val="0"/>
              </a:spcBef>
              <a:spcAft>
                <a:spcPct val="0"/>
              </a:spcAft>
              <a:defRPr kumimoji="1" kern="1200">
                <a:solidFill>
                  <a:schemeClr val="tx1"/>
                </a:solidFill>
                <a:latin typeface="Calibri" charset="0"/>
                <a:ea typeface="宋体" charset="0"/>
                <a:cs typeface="宋体" charset="0"/>
              </a:defRPr>
            </a:lvl5pPr>
            <a:lvl6pPr marL="2286000" algn="l" defTabSz="457200" rtl="0" eaLnBrk="1" latinLnBrk="0" hangingPunct="1">
              <a:defRPr kumimoji="1" kern="1200">
                <a:solidFill>
                  <a:schemeClr val="tx1"/>
                </a:solidFill>
                <a:latin typeface="Calibri" charset="0"/>
                <a:ea typeface="宋体" charset="0"/>
                <a:cs typeface="宋体" charset="0"/>
              </a:defRPr>
            </a:lvl6pPr>
            <a:lvl7pPr marL="2743200" algn="l" defTabSz="457200" rtl="0" eaLnBrk="1" latinLnBrk="0" hangingPunct="1">
              <a:defRPr kumimoji="1" kern="1200">
                <a:solidFill>
                  <a:schemeClr val="tx1"/>
                </a:solidFill>
                <a:latin typeface="Calibri" charset="0"/>
                <a:ea typeface="宋体" charset="0"/>
                <a:cs typeface="宋体" charset="0"/>
              </a:defRPr>
            </a:lvl7pPr>
            <a:lvl8pPr marL="3200400" algn="l" defTabSz="457200" rtl="0" eaLnBrk="1" latinLnBrk="0" hangingPunct="1">
              <a:defRPr kumimoji="1" kern="1200">
                <a:solidFill>
                  <a:schemeClr val="tx1"/>
                </a:solidFill>
                <a:latin typeface="Calibri" charset="0"/>
                <a:ea typeface="宋体" charset="0"/>
                <a:cs typeface="宋体" charset="0"/>
              </a:defRPr>
            </a:lvl8pPr>
            <a:lvl9pPr marL="3657600" algn="l" defTabSz="457200" rtl="0" eaLnBrk="1" latinLnBrk="0" hangingPunct="1">
              <a:defRPr kumimoji="1" kern="1200">
                <a:solidFill>
                  <a:schemeClr val="tx1"/>
                </a:solidFill>
                <a:latin typeface="Calibri" charset="0"/>
                <a:ea typeface="宋体" charset="0"/>
                <a:cs typeface="宋体" charset="0"/>
              </a:defRPr>
            </a:lvl9pPr>
          </a:lstStyle>
          <a:p>
            <a:pPr fontAlgn="auto">
              <a:lnSpc>
                <a:spcPts val="2000"/>
              </a:lnSpc>
              <a:spcBef>
                <a:spcPts val="0"/>
              </a:spcBef>
              <a:spcAft>
                <a:spcPts val="0"/>
              </a:spcAft>
              <a:defRPr/>
            </a:pPr>
            <a:r>
              <a:rPr lang="zh-CN" altLang="en-US" sz="1600" b="1" dirty="0">
                <a:solidFill>
                  <a:schemeClr val="bg1"/>
                </a:solidFill>
                <a:latin typeface="微软雅黑" pitchFamily="34" charset="-122"/>
                <a:ea typeface="微软雅黑" pitchFamily="34" charset="-122"/>
              </a:rPr>
              <a:t>   市场篇</a:t>
            </a:r>
          </a:p>
        </p:txBody>
      </p:sp>
      <p:sp>
        <p:nvSpPr>
          <p:cNvPr id="6" name="等腰三角形 5"/>
          <p:cNvSpPr/>
          <p:nvPr/>
        </p:nvSpPr>
        <p:spPr bwMode="auto">
          <a:xfrm rot="5400000">
            <a:off x="2817074" y="2798388"/>
            <a:ext cx="500066" cy="142876"/>
          </a:xfrm>
          <a:prstGeom prst="triangle">
            <a:avLst/>
          </a:prstGeom>
          <a:solidFill>
            <a:srgbClr val="F4A73C"/>
          </a:solidFill>
          <a:ln w="6350">
            <a:noFill/>
            <a:miter lim="800000"/>
            <a:headEnd/>
            <a:tailEnd/>
          </a:ln>
        </p:spPr>
        <p:txBody>
          <a:bodyPr wrap="none" lIns="0" tIns="0" rIns="0" bIns="0" anchor="ctr"/>
          <a:lstStyle>
            <a:defPPr>
              <a:defRPr lang="zh-CN"/>
            </a:defPPr>
            <a:lvl1pPr algn="l" rtl="0" fontAlgn="base">
              <a:spcBef>
                <a:spcPct val="0"/>
              </a:spcBef>
              <a:spcAft>
                <a:spcPct val="0"/>
              </a:spcAft>
              <a:defRPr kumimoji="1" kern="1200">
                <a:solidFill>
                  <a:schemeClr val="tx1"/>
                </a:solidFill>
                <a:latin typeface="Calibri" charset="0"/>
                <a:ea typeface="宋体" charset="0"/>
                <a:cs typeface="宋体" charset="0"/>
              </a:defRPr>
            </a:lvl1pPr>
            <a:lvl2pPr marL="457200" algn="l" rtl="0" fontAlgn="base">
              <a:spcBef>
                <a:spcPct val="0"/>
              </a:spcBef>
              <a:spcAft>
                <a:spcPct val="0"/>
              </a:spcAft>
              <a:defRPr kumimoji="1" kern="1200">
                <a:solidFill>
                  <a:schemeClr val="tx1"/>
                </a:solidFill>
                <a:latin typeface="Calibri" charset="0"/>
                <a:ea typeface="宋体" charset="0"/>
                <a:cs typeface="宋体" charset="0"/>
              </a:defRPr>
            </a:lvl2pPr>
            <a:lvl3pPr marL="914400" algn="l" rtl="0" fontAlgn="base">
              <a:spcBef>
                <a:spcPct val="0"/>
              </a:spcBef>
              <a:spcAft>
                <a:spcPct val="0"/>
              </a:spcAft>
              <a:defRPr kumimoji="1" kern="1200">
                <a:solidFill>
                  <a:schemeClr val="tx1"/>
                </a:solidFill>
                <a:latin typeface="Calibri" charset="0"/>
                <a:ea typeface="宋体" charset="0"/>
                <a:cs typeface="宋体" charset="0"/>
              </a:defRPr>
            </a:lvl3pPr>
            <a:lvl4pPr marL="1371600" algn="l" rtl="0" fontAlgn="base">
              <a:spcBef>
                <a:spcPct val="0"/>
              </a:spcBef>
              <a:spcAft>
                <a:spcPct val="0"/>
              </a:spcAft>
              <a:defRPr kumimoji="1" kern="1200">
                <a:solidFill>
                  <a:schemeClr val="tx1"/>
                </a:solidFill>
                <a:latin typeface="Calibri" charset="0"/>
                <a:ea typeface="宋体" charset="0"/>
                <a:cs typeface="宋体" charset="0"/>
              </a:defRPr>
            </a:lvl4pPr>
            <a:lvl5pPr marL="1828800" algn="l" rtl="0" fontAlgn="base">
              <a:spcBef>
                <a:spcPct val="0"/>
              </a:spcBef>
              <a:spcAft>
                <a:spcPct val="0"/>
              </a:spcAft>
              <a:defRPr kumimoji="1" kern="1200">
                <a:solidFill>
                  <a:schemeClr val="tx1"/>
                </a:solidFill>
                <a:latin typeface="Calibri" charset="0"/>
                <a:ea typeface="宋体" charset="0"/>
                <a:cs typeface="宋体" charset="0"/>
              </a:defRPr>
            </a:lvl5pPr>
            <a:lvl6pPr marL="2286000" algn="l" defTabSz="457200" rtl="0" eaLnBrk="1" latinLnBrk="0" hangingPunct="1">
              <a:defRPr kumimoji="1" kern="1200">
                <a:solidFill>
                  <a:schemeClr val="tx1"/>
                </a:solidFill>
                <a:latin typeface="Calibri" charset="0"/>
                <a:ea typeface="宋体" charset="0"/>
                <a:cs typeface="宋体" charset="0"/>
              </a:defRPr>
            </a:lvl6pPr>
            <a:lvl7pPr marL="2743200" algn="l" defTabSz="457200" rtl="0" eaLnBrk="1" latinLnBrk="0" hangingPunct="1">
              <a:defRPr kumimoji="1" kern="1200">
                <a:solidFill>
                  <a:schemeClr val="tx1"/>
                </a:solidFill>
                <a:latin typeface="Calibri" charset="0"/>
                <a:ea typeface="宋体" charset="0"/>
                <a:cs typeface="宋体" charset="0"/>
              </a:defRPr>
            </a:lvl7pPr>
            <a:lvl8pPr marL="3200400" algn="l" defTabSz="457200" rtl="0" eaLnBrk="1" latinLnBrk="0" hangingPunct="1">
              <a:defRPr kumimoji="1" kern="1200">
                <a:solidFill>
                  <a:schemeClr val="tx1"/>
                </a:solidFill>
                <a:latin typeface="Calibri" charset="0"/>
                <a:ea typeface="宋体" charset="0"/>
                <a:cs typeface="宋体" charset="0"/>
              </a:defRPr>
            </a:lvl8pPr>
            <a:lvl9pPr marL="3657600" algn="l" defTabSz="457200" rtl="0" eaLnBrk="1" latinLnBrk="0" hangingPunct="1">
              <a:defRPr kumimoji="1" kern="1200">
                <a:solidFill>
                  <a:schemeClr val="tx1"/>
                </a:solidFill>
                <a:latin typeface="Calibri" charset="0"/>
                <a:ea typeface="宋体" charset="0"/>
                <a:cs typeface="宋体" charset="0"/>
              </a:defRPr>
            </a:lvl9pPr>
          </a:lstStyle>
          <a:p>
            <a:pPr algn="ctr" fontAlgn="auto">
              <a:spcBef>
                <a:spcPts val="0"/>
              </a:spcBef>
              <a:spcAft>
                <a:spcPts val="0"/>
              </a:spcAft>
              <a:defRPr/>
            </a:pPr>
            <a:endParaRPr lang="zh-CN" altLang="en-US" sz="1600" b="1" dirty="0">
              <a:latin typeface="微软雅黑" pitchFamily="34" charset="-122"/>
              <a:ea typeface="微软雅黑" pitchFamily="34" charset="-122"/>
            </a:endParaRPr>
          </a:p>
        </p:txBody>
      </p:sp>
      <p:sp>
        <p:nvSpPr>
          <p:cNvPr id="12" name="标题占位符 1"/>
          <p:cNvSpPr txBox="1">
            <a:spLocks/>
          </p:cNvSpPr>
          <p:nvPr/>
        </p:nvSpPr>
        <p:spPr>
          <a:xfrm>
            <a:off x="31319" y="0"/>
            <a:ext cx="5462090" cy="474662"/>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2400" b="1" i="0" kern="1200">
                <a:solidFill>
                  <a:srgbClr val="133176"/>
                </a:solidFill>
                <a:latin typeface="Microsoft YaHei"/>
                <a:ea typeface="+mj-ea"/>
                <a:cs typeface="Microsoft YaHei"/>
              </a:defRPr>
            </a:lvl1pPr>
          </a:lstStyle>
          <a:p>
            <a:r>
              <a:rPr kumimoji="1" lang="zh-CN" altLang="en-US" dirty="0">
                <a:solidFill>
                  <a:srgbClr val="404040"/>
                </a:solidFill>
              </a:rPr>
              <a:t>目</a:t>
            </a:r>
            <a:r>
              <a:rPr kumimoji="1" lang="en-US" altLang="zh-CN" dirty="0">
                <a:solidFill>
                  <a:srgbClr val="404040"/>
                </a:solidFill>
              </a:rPr>
              <a:t>  </a:t>
            </a:r>
            <a:r>
              <a:rPr kumimoji="1" lang="zh-CN" altLang="en-US" dirty="0">
                <a:solidFill>
                  <a:srgbClr val="404040"/>
                </a:solidFill>
              </a:rPr>
              <a:t>录</a:t>
            </a:r>
          </a:p>
        </p:txBody>
      </p:sp>
      <p:sp>
        <p:nvSpPr>
          <p:cNvPr id="13" name="矩形 12"/>
          <p:cNvSpPr/>
          <p:nvPr/>
        </p:nvSpPr>
        <p:spPr bwMode="auto">
          <a:xfrm>
            <a:off x="1004797" y="1891732"/>
            <a:ext cx="1888196" cy="500067"/>
          </a:xfrm>
          <a:prstGeom prst="rect">
            <a:avLst/>
          </a:prstGeom>
          <a:solidFill>
            <a:srgbClr val="006EC7"/>
          </a:solidFill>
          <a:ln w="6350">
            <a:noFill/>
            <a:miter lim="800000"/>
            <a:headEnd/>
            <a:tailEnd/>
          </a:ln>
        </p:spPr>
        <p:txBody>
          <a:bodyPr lIns="0" tIns="0" rIns="0" bIns="0" anchor="ctr"/>
          <a:lstStyle/>
          <a:p>
            <a:pPr algn="ctr">
              <a:lnSpc>
                <a:spcPts val="2000"/>
              </a:lnSpc>
            </a:pPr>
            <a:r>
              <a:rPr kumimoji="1" lang="zh-CN" altLang="en-US" sz="1600" b="1" dirty="0">
                <a:solidFill>
                  <a:schemeClr val="bg1"/>
                </a:solidFill>
                <a:latin typeface="微软雅黑" pitchFamily="34" charset="-122"/>
                <a:ea typeface="微软雅黑" pitchFamily="34" charset="-122"/>
                <a:cs typeface="宋体" charset="0"/>
              </a:rPr>
              <a:t>目录一</a:t>
            </a:r>
          </a:p>
        </p:txBody>
      </p:sp>
      <p:sp>
        <p:nvSpPr>
          <p:cNvPr id="14" name="矩形 13"/>
          <p:cNvSpPr/>
          <p:nvPr/>
        </p:nvSpPr>
        <p:spPr bwMode="auto">
          <a:xfrm>
            <a:off x="1004797" y="2611465"/>
            <a:ext cx="1888196" cy="500067"/>
          </a:xfrm>
          <a:prstGeom prst="rect">
            <a:avLst/>
          </a:prstGeom>
          <a:solidFill>
            <a:srgbClr val="F4A73C"/>
          </a:solidFill>
          <a:ln w="6350">
            <a:noFill/>
            <a:miter lim="800000"/>
            <a:headEnd/>
            <a:tailEnd/>
          </a:ln>
        </p:spPr>
        <p:txBody>
          <a:bodyPr lIns="0" tIns="0" rIns="0" bIns="0" anchor="ctr"/>
          <a:lstStyle>
            <a:defPPr>
              <a:defRPr lang="zh-CN"/>
            </a:defPPr>
            <a:lvl1pPr algn="l" rtl="0" fontAlgn="base">
              <a:spcBef>
                <a:spcPct val="0"/>
              </a:spcBef>
              <a:spcAft>
                <a:spcPct val="0"/>
              </a:spcAft>
              <a:defRPr kumimoji="1" kern="1200">
                <a:solidFill>
                  <a:schemeClr val="tx1"/>
                </a:solidFill>
                <a:latin typeface="Calibri" charset="0"/>
                <a:ea typeface="宋体" charset="0"/>
                <a:cs typeface="宋体" charset="0"/>
              </a:defRPr>
            </a:lvl1pPr>
            <a:lvl2pPr marL="457200" algn="l" rtl="0" fontAlgn="base">
              <a:spcBef>
                <a:spcPct val="0"/>
              </a:spcBef>
              <a:spcAft>
                <a:spcPct val="0"/>
              </a:spcAft>
              <a:defRPr kumimoji="1" kern="1200">
                <a:solidFill>
                  <a:schemeClr val="tx1"/>
                </a:solidFill>
                <a:latin typeface="Calibri" charset="0"/>
                <a:ea typeface="宋体" charset="0"/>
                <a:cs typeface="宋体" charset="0"/>
              </a:defRPr>
            </a:lvl2pPr>
            <a:lvl3pPr marL="914400" algn="l" rtl="0" fontAlgn="base">
              <a:spcBef>
                <a:spcPct val="0"/>
              </a:spcBef>
              <a:spcAft>
                <a:spcPct val="0"/>
              </a:spcAft>
              <a:defRPr kumimoji="1" kern="1200">
                <a:solidFill>
                  <a:schemeClr val="tx1"/>
                </a:solidFill>
                <a:latin typeface="Calibri" charset="0"/>
                <a:ea typeface="宋体" charset="0"/>
                <a:cs typeface="宋体" charset="0"/>
              </a:defRPr>
            </a:lvl3pPr>
            <a:lvl4pPr marL="1371600" algn="l" rtl="0" fontAlgn="base">
              <a:spcBef>
                <a:spcPct val="0"/>
              </a:spcBef>
              <a:spcAft>
                <a:spcPct val="0"/>
              </a:spcAft>
              <a:defRPr kumimoji="1" kern="1200">
                <a:solidFill>
                  <a:schemeClr val="tx1"/>
                </a:solidFill>
                <a:latin typeface="Calibri" charset="0"/>
                <a:ea typeface="宋体" charset="0"/>
                <a:cs typeface="宋体" charset="0"/>
              </a:defRPr>
            </a:lvl4pPr>
            <a:lvl5pPr marL="1828800" algn="l" rtl="0" fontAlgn="base">
              <a:spcBef>
                <a:spcPct val="0"/>
              </a:spcBef>
              <a:spcAft>
                <a:spcPct val="0"/>
              </a:spcAft>
              <a:defRPr kumimoji="1" kern="1200">
                <a:solidFill>
                  <a:schemeClr val="tx1"/>
                </a:solidFill>
                <a:latin typeface="Calibri" charset="0"/>
                <a:ea typeface="宋体" charset="0"/>
                <a:cs typeface="宋体" charset="0"/>
              </a:defRPr>
            </a:lvl5pPr>
            <a:lvl6pPr marL="2286000" algn="l" defTabSz="457200" rtl="0" eaLnBrk="1" latinLnBrk="0" hangingPunct="1">
              <a:defRPr kumimoji="1" kern="1200">
                <a:solidFill>
                  <a:schemeClr val="tx1"/>
                </a:solidFill>
                <a:latin typeface="Calibri" charset="0"/>
                <a:ea typeface="宋体" charset="0"/>
                <a:cs typeface="宋体" charset="0"/>
              </a:defRPr>
            </a:lvl6pPr>
            <a:lvl7pPr marL="2743200" algn="l" defTabSz="457200" rtl="0" eaLnBrk="1" latinLnBrk="0" hangingPunct="1">
              <a:defRPr kumimoji="1" kern="1200">
                <a:solidFill>
                  <a:schemeClr val="tx1"/>
                </a:solidFill>
                <a:latin typeface="Calibri" charset="0"/>
                <a:ea typeface="宋体" charset="0"/>
                <a:cs typeface="宋体" charset="0"/>
              </a:defRPr>
            </a:lvl7pPr>
            <a:lvl8pPr marL="3200400" algn="l" defTabSz="457200" rtl="0" eaLnBrk="1" latinLnBrk="0" hangingPunct="1">
              <a:defRPr kumimoji="1" kern="1200">
                <a:solidFill>
                  <a:schemeClr val="tx1"/>
                </a:solidFill>
                <a:latin typeface="Calibri" charset="0"/>
                <a:ea typeface="宋体" charset="0"/>
                <a:cs typeface="宋体" charset="0"/>
              </a:defRPr>
            </a:lvl8pPr>
            <a:lvl9pPr marL="3657600" algn="l" defTabSz="457200" rtl="0" eaLnBrk="1" latinLnBrk="0" hangingPunct="1">
              <a:defRPr kumimoji="1" kern="1200">
                <a:solidFill>
                  <a:schemeClr val="tx1"/>
                </a:solidFill>
                <a:latin typeface="Calibri" charset="0"/>
                <a:ea typeface="宋体" charset="0"/>
                <a:cs typeface="宋体" charset="0"/>
              </a:defRPr>
            </a:lvl9pPr>
          </a:lstStyle>
          <a:p>
            <a:pPr algn="ctr" fontAlgn="auto">
              <a:lnSpc>
                <a:spcPts val="2000"/>
              </a:lnSpc>
              <a:spcBef>
                <a:spcPts val="0"/>
              </a:spcBef>
              <a:spcAft>
                <a:spcPts val="0"/>
              </a:spcAft>
              <a:defRPr/>
            </a:pPr>
            <a:r>
              <a:rPr lang="zh-CN" altLang="en-US" sz="1600" b="1" dirty="0">
                <a:solidFill>
                  <a:schemeClr val="bg1"/>
                </a:solidFill>
                <a:latin typeface="微软雅黑" pitchFamily="34" charset="-122"/>
                <a:ea typeface="微软雅黑" pitchFamily="34" charset="-122"/>
              </a:rPr>
              <a:t>目录二</a:t>
            </a:r>
          </a:p>
        </p:txBody>
      </p:sp>
      <p:sp>
        <p:nvSpPr>
          <p:cNvPr id="16" name="TextBox 15"/>
          <p:cNvSpPr txBox="1"/>
          <p:nvPr/>
        </p:nvSpPr>
        <p:spPr>
          <a:xfrm>
            <a:off x="3248316" y="3212885"/>
            <a:ext cx="4694682" cy="2192908"/>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sz="1300" b="1" dirty="0">
                <a:latin typeface="微软雅黑" pitchFamily="34" charset="-122"/>
                <a:ea typeface="微软雅黑" pitchFamily="34" charset="-122"/>
              </a:rPr>
              <a:t>北京</a:t>
            </a:r>
            <a:endParaRPr lang="en-US" altLang="zh-CN" sz="1300" b="1" dirty="0">
              <a:latin typeface="微软雅黑" pitchFamily="34" charset="-122"/>
              <a:ea typeface="微软雅黑" pitchFamily="34" charset="-122"/>
            </a:endParaRPr>
          </a:p>
          <a:p>
            <a:pPr marL="285750" indent="-285750">
              <a:lnSpc>
                <a:spcPct val="150000"/>
              </a:lnSpc>
              <a:buFont typeface="Wingdings" panose="05000000000000000000" pitchFamily="2" charset="2"/>
              <a:buChar char="Ø"/>
            </a:pPr>
            <a:r>
              <a:rPr lang="zh-CN" altLang="en-US" sz="1300" b="1" dirty="0">
                <a:solidFill>
                  <a:srgbClr val="FF0000"/>
                </a:solidFill>
                <a:latin typeface="微软雅黑" pitchFamily="34" charset="-122"/>
                <a:ea typeface="微软雅黑" pitchFamily="34" charset="-122"/>
              </a:rPr>
              <a:t>环北京</a:t>
            </a:r>
            <a:endParaRPr lang="en-US" altLang="zh-CN" sz="1300" b="1" dirty="0">
              <a:solidFill>
                <a:srgbClr val="FF0000"/>
              </a:solidFill>
              <a:latin typeface="微软雅黑" pitchFamily="34" charset="-122"/>
              <a:ea typeface="微软雅黑" pitchFamily="34" charset="-122"/>
            </a:endParaRPr>
          </a:p>
          <a:p>
            <a:pPr marL="285750" indent="285750">
              <a:lnSpc>
                <a:spcPct val="150000"/>
              </a:lnSpc>
              <a:buFont typeface="Wingdings" panose="05000000000000000000" pitchFamily="2" charset="2"/>
              <a:buChar char="u"/>
            </a:pPr>
            <a:r>
              <a:rPr lang="zh-CN" altLang="en-US" sz="1300" b="1" dirty="0">
                <a:latin typeface="微软雅黑" pitchFamily="34" charset="-122"/>
                <a:ea typeface="微软雅黑" pitchFamily="34" charset="-122"/>
              </a:rPr>
              <a:t>石家庄（主城区）</a:t>
            </a:r>
          </a:p>
          <a:p>
            <a:pPr marL="285750" indent="285750">
              <a:lnSpc>
                <a:spcPct val="150000"/>
              </a:lnSpc>
              <a:buFont typeface="Wingdings" panose="05000000000000000000" pitchFamily="2" charset="2"/>
              <a:buChar char="u"/>
            </a:pPr>
            <a:r>
              <a:rPr lang="zh-CN" altLang="en-US" sz="1300" b="1" dirty="0">
                <a:latin typeface="微软雅黑" pitchFamily="34" charset="-122"/>
                <a:ea typeface="微软雅黑" pitchFamily="34" charset="-122"/>
              </a:rPr>
              <a:t>廊坊（市区）</a:t>
            </a:r>
          </a:p>
          <a:p>
            <a:pPr marL="285750" indent="285750">
              <a:lnSpc>
                <a:spcPct val="150000"/>
              </a:lnSpc>
              <a:buFont typeface="Wingdings" panose="05000000000000000000" pitchFamily="2" charset="2"/>
              <a:buChar char="u"/>
            </a:pPr>
            <a:r>
              <a:rPr lang="zh-CN" altLang="en-US" sz="1300" b="1" dirty="0">
                <a:latin typeface="微软雅黑" pitchFamily="34" charset="-122"/>
                <a:ea typeface="微软雅黑" pitchFamily="34" charset="-122"/>
              </a:rPr>
              <a:t>燕郊</a:t>
            </a:r>
          </a:p>
          <a:p>
            <a:pPr marL="285750" indent="285750">
              <a:lnSpc>
                <a:spcPct val="150000"/>
              </a:lnSpc>
              <a:buFont typeface="Wingdings" panose="05000000000000000000" pitchFamily="2" charset="2"/>
              <a:buChar char="u"/>
            </a:pPr>
            <a:r>
              <a:rPr lang="zh-CN" altLang="en-US" sz="1300" b="1" dirty="0">
                <a:latin typeface="微软雅黑" pitchFamily="34" charset="-122"/>
                <a:ea typeface="微软雅黑" pitchFamily="34" charset="-122"/>
              </a:rPr>
              <a:t>固安</a:t>
            </a:r>
          </a:p>
          <a:p>
            <a:pPr marL="285750" indent="285750">
              <a:lnSpc>
                <a:spcPct val="150000"/>
              </a:lnSpc>
              <a:buFont typeface="Wingdings" panose="05000000000000000000" pitchFamily="2" charset="2"/>
              <a:buChar char="u"/>
            </a:pPr>
            <a:r>
              <a:rPr lang="zh-CN" altLang="en-US" sz="1300" b="1" dirty="0">
                <a:latin typeface="微软雅黑" pitchFamily="34" charset="-122"/>
                <a:ea typeface="微软雅黑" pitchFamily="34" charset="-122"/>
              </a:rPr>
              <a:t>香河</a:t>
            </a:r>
            <a:endParaRPr lang="zh-CN" altLang="en-US" sz="1300" dirty="0">
              <a:latin typeface="微软雅黑" pitchFamily="34" charset="-122"/>
              <a:ea typeface="微软雅黑" pitchFamily="34" charset="-122"/>
            </a:endParaRPr>
          </a:p>
        </p:txBody>
      </p:sp>
    </p:spTree>
    <p:extLst>
      <p:ext uri="{BB962C8B-B14F-4D97-AF65-F5344CB8AC3E}">
        <p14:creationId xmlns:p14="http://schemas.microsoft.com/office/powerpoint/2010/main" val="17695723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编号占位符 1"/>
          <p:cNvSpPr>
            <a:spLocks noGrp="1"/>
          </p:cNvSpPr>
          <p:nvPr>
            <p:ph type="sldNum" sz="quarter" idx="4"/>
          </p:nvPr>
        </p:nvSpPr>
        <p:spPr/>
        <p:txBody>
          <a:bodyPr/>
          <a:lstStyle/>
          <a:p>
            <a:pPr>
              <a:defRPr/>
            </a:pPr>
            <a:fld id="{3E8B6F27-EC4F-B34E-9F32-10CC92E9AB18}" type="slidenum">
              <a:rPr lang="zh-CN" altLang="en-US" smtClean="0"/>
              <a:pPr>
                <a:defRPr/>
              </a:pPr>
              <a:t>34</a:t>
            </a:fld>
            <a:endParaRPr lang="zh-CN" altLang="en-US" dirty="0"/>
          </a:p>
        </p:txBody>
      </p:sp>
      <p:pic>
        <p:nvPicPr>
          <p:cNvPr id="6" name="Picture 3" descr="C:\Users\dell\Desktop\35b1OOOPIC89.jpg"/>
          <p:cNvPicPr>
            <a:picLocks noChangeAspect="1" noChangeArrowheads="1"/>
          </p:cNvPicPr>
          <p:nvPr/>
        </p:nvPicPr>
        <p:blipFill rotWithShape="1">
          <a:blip r:embed="rId2">
            <a:extLst>
              <a:ext uri="{28A0092B-C50C-407E-A947-70E740481C1C}">
                <a14:useLocalDpi xmlns:a14="http://schemas.microsoft.com/office/drawing/2010/main" val="0"/>
              </a:ext>
            </a:extLst>
          </a:blip>
          <a:srcRect t="33990"/>
          <a:stretch/>
        </p:blipFill>
        <p:spPr bwMode="auto">
          <a:xfrm>
            <a:off x="1387940" y="531584"/>
            <a:ext cx="6629400" cy="4376057"/>
          </a:xfrm>
          <a:prstGeom prst="rect">
            <a:avLst/>
          </a:prstGeom>
          <a:noFill/>
          <a:extLst>
            <a:ext uri="{909E8E84-426E-40DD-AFC4-6F175D3DCCD1}">
              <a14:hiddenFill xmlns:a14="http://schemas.microsoft.com/office/drawing/2010/main">
                <a:solidFill>
                  <a:srgbClr val="FFFFFF"/>
                </a:solidFill>
              </a14:hiddenFill>
            </a:ext>
          </a:extLst>
        </p:spPr>
      </p:pic>
      <p:sp>
        <p:nvSpPr>
          <p:cNvPr id="7" name="矩形 6"/>
          <p:cNvSpPr/>
          <p:nvPr/>
        </p:nvSpPr>
        <p:spPr>
          <a:xfrm>
            <a:off x="533537" y="4611168"/>
            <a:ext cx="1950139" cy="523220"/>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zh-CN" altLang="en-US" sz="2800" b="1" cap="none" spc="0" dirty="0">
                <a:ln w="11430"/>
                <a:solidFill>
                  <a:srgbClr val="FF0000"/>
                </a:solidFill>
                <a:effectLst>
                  <a:outerShdw blurRad="50800" dist="39000" dir="5460000" algn="tl">
                    <a:srgbClr val="000000">
                      <a:alpha val="38000"/>
                    </a:srgbClr>
                  </a:outerShdw>
                </a:effectLst>
              </a:rPr>
              <a:t>石家庄</a:t>
            </a:r>
          </a:p>
        </p:txBody>
      </p:sp>
      <p:sp>
        <p:nvSpPr>
          <p:cNvPr id="8" name="椭圆 7"/>
          <p:cNvSpPr/>
          <p:nvPr/>
        </p:nvSpPr>
        <p:spPr>
          <a:xfrm>
            <a:off x="1409925" y="4382565"/>
            <a:ext cx="190294" cy="216000"/>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9" name="矩形 8"/>
          <p:cNvSpPr/>
          <p:nvPr/>
        </p:nvSpPr>
        <p:spPr>
          <a:xfrm>
            <a:off x="6511950" y="1817641"/>
            <a:ext cx="1548685" cy="523220"/>
          </a:xfrm>
          <a:prstGeom prst="rect">
            <a:avLst/>
          </a:prstGeom>
          <a:noFill/>
        </p:spPr>
        <p:txBody>
          <a:bodyPr wrap="square" lIns="91440" tIns="45720" rIns="91440" bIns="45720">
            <a:spAutoFit/>
          </a:bodyPr>
          <a:lstStyle/>
          <a:p>
            <a:pPr algn="ctr"/>
            <a:r>
              <a:rPr lang="zh-CN" altLang="en-US" sz="2800" b="1"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t>燕郊</a:t>
            </a:r>
          </a:p>
        </p:txBody>
      </p:sp>
      <p:sp>
        <p:nvSpPr>
          <p:cNvPr id="10" name="椭圆 9"/>
          <p:cNvSpPr/>
          <p:nvPr/>
        </p:nvSpPr>
        <p:spPr>
          <a:xfrm>
            <a:off x="6541259" y="1935768"/>
            <a:ext cx="216000" cy="216000"/>
          </a:xfrm>
          <a:prstGeom prst="ellipse">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zh-CN" altLang="en-US"/>
          </a:p>
        </p:txBody>
      </p:sp>
      <p:sp>
        <p:nvSpPr>
          <p:cNvPr id="11" name="矩形 10"/>
          <p:cNvSpPr/>
          <p:nvPr/>
        </p:nvSpPr>
        <p:spPr>
          <a:xfrm>
            <a:off x="6891095" y="2744816"/>
            <a:ext cx="1548685" cy="523220"/>
          </a:xfrm>
          <a:prstGeom prst="rect">
            <a:avLst/>
          </a:prstGeom>
          <a:noFill/>
        </p:spPr>
        <p:txBody>
          <a:bodyPr wrap="square" lIns="91440" tIns="45720" rIns="91440" bIns="45720">
            <a:spAutoFit/>
          </a:bodyPr>
          <a:lstStyle/>
          <a:p>
            <a:pPr algn="ctr"/>
            <a:r>
              <a:rPr lang="zh-CN" altLang="en-US" sz="2800" b="1"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t>香河</a:t>
            </a:r>
          </a:p>
        </p:txBody>
      </p:sp>
      <p:sp>
        <p:nvSpPr>
          <p:cNvPr id="12" name="椭圆 11"/>
          <p:cNvSpPr/>
          <p:nvPr/>
        </p:nvSpPr>
        <p:spPr>
          <a:xfrm>
            <a:off x="6931551" y="2881778"/>
            <a:ext cx="216000" cy="216000"/>
          </a:xfrm>
          <a:prstGeom prst="ellipse">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zh-CN" altLang="en-US"/>
          </a:p>
        </p:txBody>
      </p:sp>
      <p:sp>
        <p:nvSpPr>
          <p:cNvPr id="13" name="矩形 12"/>
          <p:cNvSpPr/>
          <p:nvPr/>
        </p:nvSpPr>
        <p:spPr>
          <a:xfrm>
            <a:off x="5287348" y="4095143"/>
            <a:ext cx="2116687" cy="523220"/>
          </a:xfrm>
          <a:prstGeom prst="rect">
            <a:avLst/>
          </a:prstGeom>
          <a:noFill/>
        </p:spPr>
        <p:txBody>
          <a:bodyPr wrap="square" lIns="91440" tIns="45720" rIns="91440" bIns="45720">
            <a:spAutoFit/>
          </a:bodyPr>
          <a:lstStyle/>
          <a:p>
            <a:pPr algn="ctr"/>
            <a:r>
              <a:rPr lang="zh-CN" altLang="en-US" sz="2800" b="1"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t>安次、广阳</a:t>
            </a:r>
          </a:p>
        </p:txBody>
      </p:sp>
      <p:sp>
        <p:nvSpPr>
          <p:cNvPr id="14" name="椭圆 13"/>
          <p:cNvSpPr/>
          <p:nvPr/>
        </p:nvSpPr>
        <p:spPr>
          <a:xfrm>
            <a:off x="5499990" y="3690650"/>
            <a:ext cx="216000" cy="216000"/>
          </a:xfrm>
          <a:prstGeom prst="ellipse">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zh-CN" altLang="en-US"/>
          </a:p>
        </p:txBody>
      </p:sp>
      <p:sp>
        <p:nvSpPr>
          <p:cNvPr id="15" name="KSO_Shape"/>
          <p:cNvSpPr>
            <a:spLocks/>
          </p:cNvSpPr>
          <p:nvPr/>
        </p:nvSpPr>
        <p:spPr bwMode="auto">
          <a:xfrm>
            <a:off x="714624" y="3906650"/>
            <a:ext cx="1653279" cy="1653279"/>
          </a:xfrm>
          <a:custGeom>
            <a:avLst/>
            <a:gdLst>
              <a:gd name="T0" fmla="*/ 907013 w 2197224"/>
              <a:gd name="T1" fmla="*/ 1489257 h 2197224"/>
              <a:gd name="T2" fmla="*/ 744628 w 2197224"/>
              <a:gd name="T3" fmla="*/ 1651641 h 2197224"/>
              <a:gd name="T4" fmla="*/ 1108052 w 2197224"/>
              <a:gd name="T5" fmla="*/ 1431697 h 2197224"/>
              <a:gd name="T6" fmla="*/ 1003795 w 2197224"/>
              <a:gd name="T7" fmla="*/ 1636312 h 2197224"/>
              <a:gd name="T8" fmla="*/ 1108052 w 2197224"/>
              <a:gd name="T9" fmla="*/ 1431697 h 2197224"/>
              <a:gd name="T10" fmla="*/ 698026 w 2197224"/>
              <a:gd name="T11" fmla="*/ 1481876 h 2197224"/>
              <a:gd name="T12" fmla="*/ 493410 w 2197224"/>
              <a:gd name="T13" fmla="*/ 1586133 h 2197224"/>
              <a:gd name="T14" fmla="*/ 1281464 w 2197224"/>
              <a:gd name="T15" fmla="*/ 1314828 h 2197224"/>
              <a:gd name="T16" fmla="*/ 1245540 w 2197224"/>
              <a:gd name="T17" fmla="*/ 1541647 h 2197224"/>
              <a:gd name="T18" fmla="*/ 1281464 w 2197224"/>
              <a:gd name="T19" fmla="*/ 1314828 h 2197224"/>
              <a:gd name="T20" fmla="*/ 501547 w 2197224"/>
              <a:gd name="T21" fmla="*/ 1410276 h 2197224"/>
              <a:gd name="T22" fmla="*/ 274729 w 2197224"/>
              <a:gd name="T23" fmla="*/ 1446200 h 2197224"/>
              <a:gd name="T24" fmla="*/ 1410276 w 2197224"/>
              <a:gd name="T25" fmla="*/ 1150093 h 2197224"/>
              <a:gd name="T26" fmla="*/ 1446200 w 2197224"/>
              <a:gd name="T27" fmla="*/ 1376912 h 2197224"/>
              <a:gd name="T28" fmla="*/ 1410276 w 2197224"/>
              <a:gd name="T29" fmla="*/ 1150093 h 2197224"/>
              <a:gd name="T30" fmla="*/ 336812 w 2197224"/>
              <a:gd name="T31" fmla="*/ 1281464 h 2197224"/>
              <a:gd name="T32" fmla="*/ 109994 w 2197224"/>
              <a:gd name="T33" fmla="*/ 1245540 h 2197224"/>
              <a:gd name="T34" fmla="*/ 1481876 w 2197224"/>
              <a:gd name="T35" fmla="*/ 953615 h 2197224"/>
              <a:gd name="T36" fmla="*/ 1586133 w 2197224"/>
              <a:gd name="T37" fmla="*/ 1158231 h 2197224"/>
              <a:gd name="T38" fmla="*/ 1481876 w 2197224"/>
              <a:gd name="T39" fmla="*/ 953615 h 2197224"/>
              <a:gd name="T40" fmla="*/ 219944 w 2197224"/>
              <a:gd name="T41" fmla="*/ 1108052 h 2197224"/>
              <a:gd name="T42" fmla="*/ 15329 w 2197224"/>
              <a:gd name="T43" fmla="*/ 1003795 h 2197224"/>
              <a:gd name="T44" fmla="*/ 1489257 w 2197224"/>
              <a:gd name="T45" fmla="*/ 744628 h 2197224"/>
              <a:gd name="T46" fmla="*/ 1651641 w 2197224"/>
              <a:gd name="T47" fmla="*/ 907013 h 2197224"/>
              <a:gd name="T48" fmla="*/ 1489257 w 2197224"/>
              <a:gd name="T49" fmla="*/ 744628 h 2197224"/>
              <a:gd name="T50" fmla="*/ 162384 w 2197224"/>
              <a:gd name="T51" fmla="*/ 744628 h 2197224"/>
              <a:gd name="T52" fmla="*/ 0 w 2197224"/>
              <a:gd name="T53" fmla="*/ 907013 h 2197224"/>
              <a:gd name="T54" fmla="*/ 1586133 w 2197224"/>
              <a:gd name="T55" fmla="*/ 493410 h 2197224"/>
              <a:gd name="T56" fmla="*/ 1481876 w 2197224"/>
              <a:gd name="T57" fmla="*/ 698026 h 2197224"/>
              <a:gd name="T58" fmla="*/ 1586133 w 2197224"/>
              <a:gd name="T59" fmla="*/ 493410 h 2197224"/>
              <a:gd name="T60" fmla="*/ 219944 w 2197224"/>
              <a:gd name="T61" fmla="*/ 543589 h 2197224"/>
              <a:gd name="T62" fmla="*/ 15329 w 2197224"/>
              <a:gd name="T63" fmla="*/ 647846 h 2197224"/>
              <a:gd name="T64" fmla="*/ 1446200 w 2197224"/>
              <a:gd name="T65" fmla="*/ 274730 h 2197224"/>
              <a:gd name="T66" fmla="*/ 1410276 w 2197224"/>
              <a:gd name="T67" fmla="*/ 501548 h 2197224"/>
              <a:gd name="T68" fmla="*/ 1446200 w 2197224"/>
              <a:gd name="T69" fmla="*/ 274730 h 2197224"/>
              <a:gd name="T70" fmla="*/ 336812 w 2197224"/>
              <a:gd name="T71" fmla="*/ 370177 h 2197224"/>
              <a:gd name="T72" fmla="*/ 109994 w 2197224"/>
              <a:gd name="T73" fmla="*/ 406102 h 2197224"/>
              <a:gd name="T74" fmla="*/ 1245540 w 2197224"/>
              <a:gd name="T75" fmla="*/ 109995 h 2197224"/>
              <a:gd name="T76" fmla="*/ 1281464 w 2197224"/>
              <a:gd name="T77" fmla="*/ 336813 h 2197224"/>
              <a:gd name="T78" fmla="*/ 1245540 w 2197224"/>
              <a:gd name="T79" fmla="*/ 109995 h 2197224"/>
              <a:gd name="T80" fmla="*/ 501547 w 2197224"/>
              <a:gd name="T81" fmla="*/ 241366 h 2197224"/>
              <a:gd name="T82" fmla="*/ 274729 w 2197224"/>
              <a:gd name="T83" fmla="*/ 205441 h 2197224"/>
              <a:gd name="T84" fmla="*/ 1003795 w 2197224"/>
              <a:gd name="T85" fmla="*/ 15329 h 2197224"/>
              <a:gd name="T86" fmla="*/ 1108052 w 2197224"/>
              <a:gd name="T87" fmla="*/ 219944 h 2197224"/>
              <a:gd name="T88" fmla="*/ 1003795 w 2197224"/>
              <a:gd name="T89" fmla="*/ 15329 h 2197224"/>
              <a:gd name="T90" fmla="*/ 698026 w 2197224"/>
              <a:gd name="T91" fmla="*/ 169765 h 2197224"/>
              <a:gd name="T92" fmla="*/ 493410 w 2197224"/>
              <a:gd name="T93" fmla="*/ 65508 h 2197224"/>
              <a:gd name="T94" fmla="*/ 744628 w 2197224"/>
              <a:gd name="T95" fmla="*/ 0 h 2197224"/>
              <a:gd name="T96" fmla="*/ 907013 w 2197224"/>
              <a:gd name="T97" fmla="*/ 162384 h 2197224"/>
              <a:gd name="T98" fmla="*/ 744628 w 2197224"/>
              <a:gd name="T99" fmla="*/ 0 h 2197224"/>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2197224" h="2197224">
                <a:moveTo>
                  <a:pt x="990600" y="1981200"/>
                </a:moveTo>
                <a:lnTo>
                  <a:pt x="1206624" y="1981200"/>
                </a:lnTo>
                <a:lnTo>
                  <a:pt x="1206624" y="2197224"/>
                </a:lnTo>
                <a:lnTo>
                  <a:pt x="990600" y="2197224"/>
                </a:lnTo>
                <a:lnTo>
                  <a:pt x="990600" y="1981200"/>
                </a:lnTo>
                <a:close/>
                <a:moveTo>
                  <a:pt x="1474072" y="1904626"/>
                </a:moveTo>
                <a:lnTo>
                  <a:pt x="1540827" y="2110077"/>
                </a:lnTo>
                <a:lnTo>
                  <a:pt x="1335376" y="2176832"/>
                </a:lnTo>
                <a:lnTo>
                  <a:pt x="1268621" y="1971381"/>
                </a:lnTo>
                <a:lnTo>
                  <a:pt x="1474072" y="1904626"/>
                </a:lnTo>
                <a:close/>
                <a:moveTo>
                  <a:pt x="723152" y="1904626"/>
                </a:moveTo>
                <a:lnTo>
                  <a:pt x="928603" y="1971381"/>
                </a:lnTo>
                <a:lnTo>
                  <a:pt x="861848" y="2176832"/>
                </a:lnTo>
                <a:lnTo>
                  <a:pt x="656397" y="2110077"/>
                </a:lnTo>
                <a:lnTo>
                  <a:pt x="723152" y="1904626"/>
                </a:lnTo>
                <a:close/>
                <a:moveTo>
                  <a:pt x="1704768" y="1749153"/>
                </a:moveTo>
                <a:lnTo>
                  <a:pt x="1831744" y="1923920"/>
                </a:lnTo>
                <a:lnTo>
                  <a:pt x="1656977" y="2050896"/>
                </a:lnTo>
                <a:lnTo>
                  <a:pt x="1530001" y="1876129"/>
                </a:lnTo>
                <a:lnTo>
                  <a:pt x="1704768" y="1749153"/>
                </a:lnTo>
                <a:close/>
                <a:moveTo>
                  <a:pt x="492456" y="1749153"/>
                </a:moveTo>
                <a:lnTo>
                  <a:pt x="667223" y="1876129"/>
                </a:lnTo>
                <a:lnTo>
                  <a:pt x="540248" y="2050896"/>
                </a:lnTo>
                <a:lnTo>
                  <a:pt x="365480" y="1923920"/>
                </a:lnTo>
                <a:lnTo>
                  <a:pt x="492456" y="1749153"/>
                </a:lnTo>
                <a:close/>
                <a:moveTo>
                  <a:pt x="1876129" y="1530001"/>
                </a:moveTo>
                <a:lnTo>
                  <a:pt x="2050896" y="1656977"/>
                </a:lnTo>
                <a:lnTo>
                  <a:pt x="1923920" y="1831744"/>
                </a:lnTo>
                <a:lnTo>
                  <a:pt x="1749153" y="1704768"/>
                </a:lnTo>
                <a:lnTo>
                  <a:pt x="1876129" y="1530001"/>
                </a:lnTo>
                <a:close/>
                <a:moveTo>
                  <a:pt x="321096" y="1530001"/>
                </a:moveTo>
                <a:lnTo>
                  <a:pt x="448071" y="1704768"/>
                </a:lnTo>
                <a:lnTo>
                  <a:pt x="273304" y="1831744"/>
                </a:lnTo>
                <a:lnTo>
                  <a:pt x="146328" y="1656977"/>
                </a:lnTo>
                <a:lnTo>
                  <a:pt x="321096" y="1530001"/>
                </a:lnTo>
                <a:close/>
                <a:moveTo>
                  <a:pt x="1971381" y="1268621"/>
                </a:moveTo>
                <a:lnTo>
                  <a:pt x="2176832" y="1335376"/>
                </a:lnTo>
                <a:lnTo>
                  <a:pt x="2110077" y="1540827"/>
                </a:lnTo>
                <a:lnTo>
                  <a:pt x="1904626" y="1474072"/>
                </a:lnTo>
                <a:lnTo>
                  <a:pt x="1971381" y="1268621"/>
                </a:lnTo>
                <a:close/>
                <a:moveTo>
                  <a:pt x="225843" y="1268621"/>
                </a:moveTo>
                <a:lnTo>
                  <a:pt x="292598" y="1474072"/>
                </a:lnTo>
                <a:lnTo>
                  <a:pt x="87147" y="1540827"/>
                </a:lnTo>
                <a:lnTo>
                  <a:pt x="20392" y="1335376"/>
                </a:lnTo>
                <a:lnTo>
                  <a:pt x="225843" y="1268621"/>
                </a:lnTo>
                <a:close/>
                <a:moveTo>
                  <a:pt x="1981200" y="990600"/>
                </a:moveTo>
                <a:lnTo>
                  <a:pt x="2197224" y="990600"/>
                </a:lnTo>
                <a:lnTo>
                  <a:pt x="2197224" y="1206624"/>
                </a:lnTo>
                <a:lnTo>
                  <a:pt x="1981200" y="1206624"/>
                </a:lnTo>
                <a:lnTo>
                  <a:pt x="1981200" y="990600"/>
                </a:lnTo>
                <a:close/>
                <a:moveTo>
                  <a:pt x="0" y="990600"/>
                </a:moveTo>
                <a:lnTo>
                  <a:pt x="216024" y="990600"/>
                </a:lnTo>
                <a:lnTo>
                  <a:pt x="216024" y="1206624"/>
                </a:lnTo>
                <a:lnTo>
                  <a:pt x="0" y="1206624"/>
                </a:lnTo>
                <a:lnTo>
                  <a:pt x="0" y="990600"/>
                </a:lnTo>
                <a:close/>
                <a:moveTo>
                  <a:pt x="2110077" y="656397"/>
                </a:moveTo>
                <a:lnTo>
                  <a:pt x="2176832" y="861848"/>
                </a:lnTo>
                <a:lnTo>
                  <a:pt x="1971381" y="928603"/>
                </a:lnTo>
                <a:lnTo>
                  <a:pt x="1904626" y="723152"/>
                </a:lnTo>
                <a:lnTo>
                  <a:pt x="2110077" y="656397"/>
                </a:lnTo>
                <a:close/>
                <a:moveTo>
                  <a:pt x="87147" y="656397"/>
                </a:moveTo>
                <a:lnTo>
                  <a:pt x="292598" y="723152"/>
                </a:lnTo>
                <a:lnTo>
                  <a:pt x="225843" y="928603"/>
                </a:lnTo>
                <a:lnTo>
                  <a:pt x="20392" y="861848"/>
                </a:lnTo>
                <a:lnTo>
                  <a:pt x="87147" y="656397"/>
                </a:lnTo>
                <a:close/>
                <a:moveTo>
                  <a:pt x="1923920" y="365481"/>
                </a:moveTo>
                <a:lnTo>
                  <a:pt x="2050896" y="540248"/>
                </a:lnTo>
                <a:lnTo>
                  <a:pt x="1876129" y="667224"/>
                </a:lnTo>
                <a:lnTo>
                  <a:pt x="1749153" y="492456"/>
                </a:lnTo>
                <a:lnTo>
                  <a:pt x="1923920" y="365481"/>
                </a:lnTo>
                <a:close/>
                <a:moveTo>
                  <a:pt x="273304" y="365481"/>
                </a:moveTo>
                <a:lnTo>
                  <a:pt x="448071" y="492456"/>
                </a:lnTo>
                <a:lnTo>
                  <a:pt x="321096" y="667224"/>
                </a:lnTo>
                <a:lnTo>
                  <a:pt x="146328" y="540248"/>
                </a:lnTo>
                <a:lnTo>
                  <a:pt x="273304" y="365481"/>
                </a:lnTo>
                <a:close/>
                <a:moveTo>
                  <a:pt x="1656977" y="146329"/>
                </a:moveTo>
                <a:lnTo>
                  <a:pt x="1831744" y="273304"/>
                </a:lnTo>
                <a:lnTo>
                  <a:pt x="1704768" y="448072"/>
                </a:lnTo>
                <a:lnTo>
                  <a:pt x="1530001" y="321096"/>
                </a:lnTo>
                <a:lnTo>
                  <a:pt x="1656977" y="146329"/>
                </a:lnTo>
                <a:close/>
                <a:moveTo>
                  <a:pt x="540248" y="146329"/>
                </a:moveTo>
                <a:lnTo>
                  <a:pt x="667223" y="321096"/>
                </a:lnTo>
                <a:lnTo>
                  <a:pt x="492456" y="448072"/>
                </a:lnTo>
                <a:lnTo>
                  <a:pt x="365480" y="273304"/>
                </a:lnTo>
                <a:lnTo>
                  <a:pt x="540248" y="146329"/>
                </a:lnTo>
                <a:close/>
                <a:moveTo>
                  <a:pt x="1335376" y="20392"/>
                </a:moveTo>
                <a:lnTo>
                  <a:pt x="1540827" y="87147"/>
                </a:lnTo>
                <a:lnTo>
                  <a:pt x="1474072" y="292598"/>
                </a:lnTo>
                <a:lnTo>
                  <a:pt x="1268621" y="225843"/>
                </a:lnTo>
                <a:lnTo>
                  <a:pt x="1335376" y="20392"/>
                </a:lnTo>
                <a:close/>
                <a:moveTo>
                  <a:pt x="861848" y="20392"/>
                </a:moveTo>
                <a:lnTo>
                  <a:pt x="928603" y="225843"/>
                </a:lnTo>
                <a:lnTo>
                  <a:pt x="723152" y="292598"/>
                </a:lnTo>
                <a:lnTo>
                  <a:pt x="656397" y="87147"/>
                </a:lnTo>
                <a:lnTo>
                  <a:pt x="861848" y="20392"/>
                </a:lnTo>
                <a:close/>
                <a:moveTo>
                  <a:pt x="990600" y="0"/>
                </a:moveTo>
                <a:lnTo>
                  <a:pt x="1206624" y="0"/>
                </a:lnTo>
                <a:lnTo>
                  <a:pt x="1206624" y="216024"/>
                </a:lnTo>
                <a:lnTo>
                  <a:pt x="990600" y="216024"/>
                </a:lnTo>
                <a:lnTo>
                  <a:pt x="990600" y="0"/>
                </a:lnTo>
                <a:close/>
              </a:path>
            </a:pathLst>
          </a:custGeom>
          <a:solidFill>
            <a:schemeClr val="accent1"/>
          </a:solidFill>
          <a:ln>
            <a:noFill/>
          </a:ln>
          <a:effectLst>
            <a:outerShdw blurRad="50800" dist="38100" dir="5400000" algn="t" rotWithShape="0">
              <a:prstClr val="black">
                <a:alpha val="40000"/>
              </a:prstClr>
            </a:outerShdw>
          </a:effectLst>
          <a:extLst>
            <a:ext uri="{91240B29-F687-4F45-9708-019B960494DF}">
              <a14:hiddenLine xmlns:a14="http://schemas.microsoft.com/office/drawing/2010/main" w="9525">
                <a:solidFill>
                  <a:srgbClr val="000000"/>
                </a:solidFill>
                <a:round/>
                <a:headEnd/>
                <a:tailEnd/>
              </a14:hiddenLine>
            </a:ext>
          </a:extLst>
        </p:spPr>
        <p:txBody>
          <a:bodyPr anchor="ct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16" name="矩形 15"/>
          <p:cNvSpPr/>
          <p:nvPr/>
        </p:nvSpPr>
        <p:spPr>
          <a:xfrm>
            <a:off x="3626124" y="4585356"/>
            <a:ext cx="1950139" cy="523220"/>
          </a:xfrm>
          <a:prstGeom prst="rect">
            <a:avLst/>
          </a:prstGeom>
          <a:noFill/>
        </p:spPr>
        <p:txBody>
          <a:bodyPr wrap="square" lIns="91440" tIns="45720" rIns="91440" bIns="45720">
            <a:spAutoFit/>
          </a:bodyPr>
          <a:lstStyle/>
          <a:p>
            <a:pPr algn="ctr"/>
            <a:r>
              <a:rPr lang="zh-CN" altLang="en-US" sz="2800" b="1"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t>固安</a:t>
            </a:r>
          </a:p>
        </p:txBody>
      </p:sp>
      <p:sp>
        <p:nvSpPr>
          <p:cNvPr id="17" name="椭圆 16"/>
          <p:cNvSpPr/>
          <p:nvPr/>
        </p:nvSpPr>
        <p:spPr>
          <a:xfrm>
            <a:off x="4502512" y="4356753"/>
            <a:ext cx="190294" cy="216000"/>
          </a:xfrm>
          <a:prstGeom prst="ellipse">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0657720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chemeClr val="tx1">
                    <a:lumMod val="75000"/>
                    <a:lumOff val="25000"/>
                  </a:schemeClr>
                </a:solidFill>
              </a:rPr>
              <a:t>石家庄（主城区）</a:t>
            </a:r>
            <a:r>
              <a:rPr lang="en-US" altLang="zh-CN" dirty="0">
                <a:solidFill>
                  <a:schemeClr val="tx1">
                    <a:lumMod val="75000"/>
                    <a:lumOff val="25000"/>
                  </a:schemeClr>
                </a:solidFill>
              </a:rPr>
              <a:t>| </a:t>
            </a:r>
            <a:r>
              <a:rPr lang="zh-CN" altLang="en-US" sz="1800" dirty="0">
                <a:solidFill>
                  <a:schemeClr val="tx1">
                    <a:lumMod val="75000"/>
                    <a:lumOff val="25000"/>
                  </a:schemeClr>
                </a:solidFill>
              </a:rPr>
              <a:t>土地市场</a:t>
            </a:r>
            <a:endParaRPr lang="zh-CN" altLang="en-US" dirty="0"/>
          </a:p>
        </p:txBody>
      </p:sp>
      <p:sp>
        <p:nvSpPr>
          <p:cNvPr id="4" name="灯片编号占位符 3"/>
          <p:cNvSpPr>
            <a:spLocks noGrp="1"/>
          </p:cNvSpPr>
          <p:nvPr>
            <p:ph type="sldNum" sz="quarter" idx="4"/>
          </p:nvPr>
        </p:nvSpPr>
        <p:spPr/>
        <p:txBody>
          <a:bodyPr/>
          <a:lstStyle/>
          <a:p>
            <a:pPr>
              <a:defRPr/>
            </a:pPr>
            <a:fld id="{3E8B6F27-EC4F-B34E-9F32-10CC92E9AB18}" type="slidenum">
              <a:rPr lang="zh-CN" altLang="en-US" smtClean="0"/>
              <a:pPr>
                <a:defRPr/>
              </a:pPr>
              <a:t>35</a:t>
            </a:fld>
            <a:endParaRPr lang="zh-CN" altLang="en-US" dirty="0"/>
          </a:p>
        </p:txBody>
      </p:sp>
      <p:sp>
        <p:nvSpPr>
          <p:cNvPr id="7" name="文本占位符 2"/>
          <p:cNvSpPr txBox="1">
            <a:spLocks/>
          </p:cNvSpPr>
          <p:nvPr/>
        </p:nvSpPr>
        <p:spPr>
          <a:xfrm>
            <a:off x="426452" y="833563"/>
            <a:ext cx="7307848" cy="454025"/>
          </a:xfrm>
          <a:prstGeom prst="rect">
            <a:avLst/>
          </a:prstGeom>
        </p:spPr>
        <p:txBody>
          <a:bodyPr vert="horz"/>
          <a:lstStyle>
            <a:lvl1pPr marL="0" indent="0" algn="l" defTabSz="457200" rtl="0" eaLnBrk="1" latinLnBrk="0" hangingPunct="1">
              <a:spcBef>
                <a:spcPct val="20000"/>
              </a:spcBef>
              <a:buFont typeface="Arial"/>
              <a:buNone/>
              <a:defRPr sz="1600" kern="1200">
                <a:solidFill>
                  <a:schemeClr val="tx1">
                    <a:lumMod val="75000"/>
                    <a:lumOff val="25000"/>
                  </a:schemeClr>
                </a:solidFill>
                <a:latin typeface="Microsoft YaHei"/>
                <a:ea typeface="+mn-ea"/>
                <a:cs typeface="Microsoft YaHei"/>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85750" indent="-285750">
              <a:buClr>
                <a:schemeClr val="tx1"/>
              </a:buClr>
              <a:buFont typeface="Wingdings" pitchFamily="2" charset="2"/>
              <a:buChar char="Ø"/>
            </a:pPr>
            <a:r>
              <a:rPr lang="zh-CN" altLang="en-US" sz="1800" b="1" dirty="0">
                <a:solidFill>
                  <a:schemeClr val="tx1"/>
                </a:solidFill>
                <a:latin typeface="微软雅黑" pitchFamily="34" charset="-122"/>
                <a:ea typeface="微软雅黑" pitchFamily="34" charset="-122"/>
              </a:rPr>
              <a:t>土地市场：</a:t>
            </a:r>
            <a:r>
              <a:rPr lang="en-US" altLang="zh-CN" sz="1800" b="1" dirty="0">
                <a:solidFill>
                  <a:schemeClr val="tx1"/>
                </a:solidFill>
                <a:latin typeface="微软雅黑" pitchFamily="34" charset="-122"/>
                <a:ea typeface="微软雅黑" pitchFamily="34" charset="-122"/>
              </a:rPr>
              <a:t>9</a:t>
            </a:r>
            <a:r>
              <a:rPr lang="zh-CN" altLang="en-US" sz="1800" b="1" dirty="0">
                <a:solidFill>
                  <a:schemeClr val="tx1"/>
                </a:solidFill>
                <a:latin typeface="微软雅黑" pitchFamily="34" charset="-122"/>
                <a:ea typeface="微软雅黑" pitchFamily="34" charset="-122"/>
              </a:rPr>
              <a:t>月受供应减少影响，成交面积下降</a:t>
            </a:r>
          </a:p>
        </p:txBody>
      </p:sp>
      <p:sp>
        <p:nvSpPr>
          <p:cNvPr id="8" name="文本占位符 2"/>
          <p:cNvSpPr txBox="1">
            <a:spLocks/>
          </p:cNvSpPr>
          <p:nvPr/>
        </p:nvSpPr>
        <p:spPr>
          <a:xfrm>
            <a:off x="720032" y="1300287"/>
            <a:ext cx="7673188" cy="1985301"/>
          </a:xfrm>
          <a:prstGeom prst="rect">
            <a:avLst/>
          </a:prstGeom>
        </p:spPr>
        <p:txBody>
          <a:bodyPr vert="horz"/>
          <a:lstStyle>
            <a:lvl1pPr marL="0" indent="0" algn="l" defTabSz="457200" rtl="0" eaLnBrk="1" latinLnBrk="0" hangingPunct="1">
              <a:spcBef>
                <a:spcPct val="20000"/>
              </a:spcBef>
              <a:buFont typeface="Arial"/>
              <a:buNone/>
              <a:defRPr sz="1600" kern="1200">
                <a:solidFill>
                  <a:srgbClr val="404040"/>
                </a:solidFill>
                <a:latin typeface="Microsoft YaHei"/>
                <a:ea typeface="+mn-ea"/>
                <a:cs typeface="Microsoft YaHei"/>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85750" indent="-285750" algn="just">
              <a:lnSpc>
                <a:spcPct val="150000"/>
              </a:lnSpc>
              <a:spcBef>
                <a:spcPts val="0"/>
              </a:spcBef>
              <a:buFont typeface="Arial" panose="020B0604020202020204" pitchFamily="34" charset="0"/>
              <a:buChar char="•"/>
            </a:pPr>
            <a:r>
              <a:rPr lang="en-US" altLang="zh-CN" b="1" dirty="0">
                <a:solidFill>
                  <a:schemeClr val="tx1"/>
                </a:solidFill>
                <a:latin typeface="微软雅黑" pitchFamily="34" charset="-122"/>
                <a:ea typeface="微软雅黑" pitchFamily="34" charset="-122"/>
              </a:rPr>
              <a:t>2016</a:t>
            </a:r>
            <a:r>
              <a:rPr lang="zh-CN" altLang="en-US" b="1" dirty="0">
                <a:solidFill>
                  <a:schemeClr val="tx1"/>
                </a:solidFill>
                <a:latin typeface="微软雅黑" pitchFamily="34" charset="-122"/>
                <a:ea typeface="微软雅黑" pitchFamily="34" charset="-122"/>
              </a:rPr>
              <a:t>年</a:t>
            </a:r>
            <a:r>
              <a:rPr lang="en-US" altLang="zh-CN" b="1" dirty="0">
                <a:solidFill>
                  <a:schemeClr val="tx1"/>
                </a:solidFill>
                <a:latin typeface="微软雅黑" pitchFamily="34" charset="-122"/>
                <a:ea typeface="微软雅黑" pitchFamily="34" charset="-122"/>
              </a:rPr>
              <a:t>9</a:t>
            </a:r>
            <a:r>
              <a:rPr lang="zh-CN" altLang="en-US" b="1" dirty="0">
                <a:solidFill>
                  <a:schemeClr val="tx1"/>
                </a:solidFill>
                <a:latin typeface="微软雅黑" pitchFamily="34" charset="-122"/>
                <a:ea typeface="微软雅黑" pitchFamily="34" charset="-122"/>
              </a:rPr>
              <a:t>月：</a:t>
            </a:r>
            <a:r>
              <a:rPr lang="zh-CN" altLang="en-US" dirty="0">
                <a:solidFill>
                  <a:schemeClr val="tx1"/>
                </a:solidFill>
                <a:latin typeface="微软雅黑" pitchFamily="34" charset="-122"/>
                <a:ea typeface="微软雅黑" pitchFamily="34" charset="-122"/>
              </a:rPr>
              <a:t>供应</a:t>
            </a:r>
            <a:r>
              <a:rPr lang="en-US" altLang="zh-CN" dirty="0">
                <a:solidFill>
                  <a:schemeClr val="tx1"/>
                </a:solidFill>
                <a:latin typeface="微软雅黑" pitchFamily="34" charset="-122"/>
                <a:ea typeface="微软雅黑" pitchFamily="34" charset="-122"/>
              </a:rPr>
              <a:t>2</a:t>
            </a:r>
            <a:r>
              <a:rPr lang="zh-CN" altLang="en-US" dirty="0">
                <a:solidFill>
                  <a:schemeClr val="tx1"/>
                </a:solidFill>
                <a:latin typeface="微软雅黑" pitchFamily="34" charset="-122"/>
                <a:ea typeface="微软雅黑" pitchFamily="34" charset="-122"/>
              </a:rPr>
              <a:t>宗，均为住宅用地，建设用地面积共</a:t>
            </a:r>
            <a:r>
              <a:rPr lang="en-US" altLang="zh-CN" dirty="0">
                <a:solidFill>
                  <a:schemeClr val="tx1"/>
                </a:solidFill>
                <a:latin typeface="微软雅黑" pitchFamily="34" charset="-122"/>
                <a:ea typeface="微软雅黑" pitchFamily="34" charset="-122"/>
              </a:rPr>
              <a:t>6.1</a:t>
            </a:r>
            <a:r>
              <a:rPr lang="zh-CN" altLang="en-US" dirty="0">
                <a:solidFill>
                  <a:schemeClr val="tx1"/>
                </a:solidFill>
                <a:latin typeface="微软雅黑" pitchFamily="34" charset="-122"/>
                <a:ea typeface="微软雅黑" pitchFamily="34" charset="-122"/>
              </a:rPr>
              <a:t>万㎡。成交</a:t>
            </a:r>
            <a:r>
              <a:rPr lang="en-US" altLang="zh-CN" b="1" dirty="0">
                <a:solidFill>
                  <a:srgbClr val="C00000"/>
                </a:solidFill>
                <a:latin typeface="微软雅黑" pitchFamily="34" charset="-122"/>
                <a:ea typeface="微软雅黑" pitchFamily="34" charset="-122"/>
              </a:rPr>
              <a:t>5</a:t>
            </a:r>
            <a:r>
              <a:rPr lang="zh-CN" altLang="en-US" b="1" dirty="0">
                <a:solidFill>
                  <a:srgbClr val="C00000"/>
                </a:solidFill>
                <a:latin typeface="微软雅黑" pitchFamily="34" charset="-122"/>
                <a:ea typeface="微软雅黑" pitchFamily="34" charset="-122"/>
              </a:rPr>
              <a:t>宗</a:t>
            </a:r>
            <a:r>
              <a:rPr lang="zh-CN" altLang="en-US" dirty="0">
                <a:solidFill>
                  <a:schemeClr val="tx1"/>
                </a:solidFill>
                <a:latin typeface="微软雅黑" pitchFamily="34" charset="-122"/>
                <a:ea typeface="微软雅黑" pitchFamily="34" charset="-122"/>
              </a:rPr>
              <a:t>，建设用地面积共</a:t>
            </a:r>
            <a:r>
              <a:rPr lang="en-US" altLang="zh-CN" dirty="0">
                <a:solidFill>
                  <a:schemeClr val="tx1"/>
                </a:solidFill>
                <a:latin typeface="微软雅黑" pitchFamily="34" charset="-122"/>
                <a:ea typeface="微软雅黑" pitchFamily="34" charset="-122"/>
              </a:rPr>
              <a:t>12.8</a:t>
            </a:r>
            <a:r>
              <a:rPr lang="zh-CN" altLang="en-US" dirty="0">
                <a:solidFill>
                  <a:schemeClr val="tx1"/>
                </a:solidFill>
                <a:latin typeface="微软雅黑" pitchFamily="34" charset="-122"/>
                <a:ea typeface="微软雅黑" pitchFamily="34" charset="-122"/>
              </a:rPr>
              <a:t>万㎡，溢价率上涨至</a:t>
            </a:r>
            <a:r>
              <a:rPr lang="en-US" altLang="zh-CN" b="1" dirty="0">
                <a:solidFill>
                  <a:srgbClr val="C00000"/>
                </a:solidFill>
                <a:latin typeface="微软雅黑" pitchFamily="34" charset="-122"/>
                <a:ea typeface="微软雅黑" pitchFamily="34" charset="-122"/>
              </a:rPr>
              <a:t>7.74%</a:t>
            </a:r>
            <a:r>
              <a:rPr lang="zh-CN" altLang="en-US" dirty="0">
                <a:solidFill>
                  <a:schemeClr val="tx1"/>
                </a:solidFill>
                <a:latin typeface="微软雅黑" pitchFamily="34" charset="-122"/>
                <a:ea typeface="微软雅黑" pitchFamily="34" charset="-122"/>
              </a:rPr>
              <a:t>，其中住宅</a:t>
            </a:r>
            <a:r>
              <a:rPr lang="en-US" altLang="zh-CN" dirty="0">
                <a:solidFill>
                  <a:schemeClr val="tx1"/>
                </a:solidFill>
                <a:latin typeface="微软雅黑" pitchFamily="34" charset="-122"/>
                <a:ea typeface="微软雅黑" pitchFamily="34" charset="-122"/>
              </a:rPr>
              <a:t>3</a:t>
            </a:r>
            <a:r>
              <a:rPr lang="zh-CN" altLang="en-US" dirty="0">
                <a:solidFill>
                  <a:schemeClr val="tx1"/>
                </a:solidFill>
                <a:latin typeface="微软雅黑" pitchFamily="34" charset="-122"/>
                <a:ea typeface="微软雅黑" pitchFamily="34" charset="-122"/>
              </a:rPr>
              <a:t>宗，建设用地面积共</a:t>
            </a:r>
            <a:r>
              <a:rPr lang="en-US" altLang="zh-CN" dirty="0">
                <a:solidFill>
                  <a:schemeClr val="tx1"/>
                </a:solidFill>
                <a:latin typeface="微软雅黑" pitchFamily="34" charset="-122"/>
                <a:ea typeface="微软雅黑" pitchFamily="34" charset="-122"/>
              </a:rPr>
              <a:t>12.5</a:t>
            </a:r>
            <a:r>
              <a:rPr lang="zh-CN" altLang="en-US" dirty="0">
                <a:solidFill>
                  <a:schemeClr val="tx1"/>
                </a:solidFill>
                <a:latin typeface="微软雅黑" pitchFamily="34" charset="-122"/>
                <a:ea typeface="微软雅黑" pitchFamily="34" charset="-122"/>
              </a:rPr>
              <a:t>万㎡ 。</a:t>
            </a:r>
            <a:endParaRPr lang="en-US" altLang="zh-CN" dirty="0">
              <a:solidFill>
                <a:schemeClr val="tx1"/>
              </a:solidFill>
              <a:latin typeface="微软雅黑" pitchFamily="34" charset="-122"/>
              <a:ea typeface="微软雅黑" pitchFamily="34" charset="-122"/>
            </a:endParaRPr>
          </a:p>
          <a:p>
            <a:pPr marL="285750" indent="-285750" algn="just">
              <a:lnSpc>
                <a:spcPct val="150000"/>
              </a:lnSpc>
              <a:spcBef>
                <a:spcPts val="0"/>
              </a:spcBef>
              <a:buFont typeface="Arial" panose="020B0604020202020204" pitchFamily="34" charset="0"/>
              <a:buChar char="•"/>
            </a:pPr>
            <a:r>
              <a:rPr lang="en-US" altLang="zh-CN" b="1" dirty="0">
                <a:solidFill>
                  <a:schemeClr val="tx1"/>
                </a:solidFill>
                <a:latin typeface="微软雅黑" pitchFamily="34" charset="-122"/>
                <a:ea typeface="微软雅黑" pitchFamily="34" charset="-122"/>
              </a:rPr>
              <a:t>2016</a:t>
            </a:r>
            <a:r>
              <a:rPr lang="zh-CN" altLang="en-US" b="1" dirty="0">
                <a:solidFill>
                  <a:schemeClr val="tx1"/>
                </a:solidFill>
                <a:latin typeface="微软雅黑" pitchFamily="34" charset="-122"/>
                <a:ea typeface="微软雅黑" pitchFamily="34" charset="-122"/>
              </a:rPr>
              <a:t>年</a:t>
            </a:r>
            <a:r>
              <a:rPr lang="en-US" altLang="zh-CN" b="1" dirty="0">
                <a:solidFill>
                  <a:schemeClr val="tx1"/>
                </a:solidFill>
                <a:latin typeface="微软雅黑" pitchFamily="34" charset="-122"/>
                <a:ea typeface="微软雅黑" pitchFamily="34" charset="-122"/>
              </a:rPr>
              <a:t>1-9</a:t>
            </a:r>
            <a:r>
              <a:rPr lang="zh-CN" altLang="en-US" b="1" dirty="0">
                <a:solidFill>
                  <a:schemeClr val="tx1"/>
                </a:solidFill>
                <a:latin typeface="微软雅黑" pitchFamily="34" charset="-122"/>
                <a:ea typeface="微软雅黑" pitchFamily="34" charset="-122"/>
              </a:rPr>
              <a:t>月：</a:t>
            </a:r>
            <a:r>
              <a:rPr lang="zh-CN" altLang="en-US" dirty="0">
                <a:solidFill>
                  <a:schemeClr val="tx1"/>
                </a:solidFill>
                <a:latin typeface="微软雅黑" pitchFamily="34" charset="-122"/>
                <a:ea typeface="微软雅黑" pitchFamily="34" charset="-122"/>
              </a:rPr>
              <a:t>供应</a:t>
            </a:r>
            <a:r>
              <a:rPr lang="en-US" altLang="zh-CN" dirty="0">
                <a:solidFill>
                  <a:schemeClr val="tx1"/>
                </a:solidFill>
                <a:latin typeface="微软雅黑" pitchFamily="34" charset="-122"/>
                <a:ea typeface="微软雅黑" pitchFamily="34" charset="-122"/>
              </a:rPr>
              <a:t>61</a:t>
            </a:r>
            <a:r>
              <a:rPr lang="zh-CN" altLang="en-US" dirty="0">
                <a:solidFill>
                  <a:schemeClr val="tx1"/>
                </a:solidFill>
                <a:latin typeface="微软雅黑" pitchFamily="34" charset="-122"/>
                <a:ea typeface="微软雅黑" pitchFamily="34" charset="-122"/>
              </a:rPr>
              <a:t>宗，其中</a:t>
            </a:r>
            <a:r>
              <a:rPr lang="en-US" altLang="zh-CN" dirty="0">
                <a:solidFill>
                  <a:schemeClr val="tx1"/>
                </a:solidFill>
                <a:latin typeface="微软雅黑" pitchFamily="34" charset="-122"/>
                <a:ea typeface="微软雅黑" pitchFamily="34" charset="-122"/>
              </a:rPr>
              <a:t>33</a:t>
            </a:r>
            <a:r>
              <a:rPr lang="zh-CN" altLang="en-US" dirty="0">
                <a:solidFill>
                  <a:schemeClr val="tx1"/>
                </a:solidFill>
                <a:latin typeface="微软雅黑" pitchFamily="34" charset="-122"/>
                <a:ea typeface="微软雅黑" pitchFamily="34" charset="-122"/>
              </a:rPr>
              <a:t>宗住宅用地，</a:t>
            </a:r>
            <a:r>
              <a:rPr lang="en-US" altLang="zh-CN" dirty="0">
                <a:solidFill>
                  <a:schemeClr val="tx1"/>
                </a:solidFill>
                <a:latin typeface="微软雅黑" pitchFamily="34" charset="-122"/>
                <a:ea typeface="微软雅黑" pitchFamily="34" charset="-122"/>
              </a:rPr>
              <a:t>15</a:t>
            </a:r>
            <a:r>
              <a:rPr lang="zh-CN" altLang="en-US" dirty="0">
                <a:solidFill>
                  <a:schemeClr val="tx1"/>
                </a:solidFill>
                <a:latin typeface="微软雅黑" pitchFamily="34" charset="-122"/>
                <a:ea typeface="微软雅黑" pitchFamily="34" charset="-122"/>
              </a:rPr>
              <a:t>宗商办用地，</a:t>
            </a:r>
            <a:r>
              <a:rPr lang="en-US" altLang="zh-CN" dirty="0">
                <a:solidFill>
                  <a:schemeClr val="tx1"/>
                </a:solidFill>
                <a:latin typeface="微软雅黑" pitchFamily="34" charset="-122"/>
                <a:ea typeface="微软雅黑" pitchFamily="34" charset="-122"/>
              </a:rPr>
              <a:t>9</a:t>
            </a:r>
            <a:r>
              <a:rPr lang="zh-CN" altLang="en-US" dirty="0">
                <a:solidFill>
                  <a:schemeClr val="tx1"/>
                </a:solidFill>
                <a:latin typeface="微软雅黑" pitchFamily="34" charset="-122"/>
                <a:ea typeface="微软雅黑" pitchFamily="34" charset="-122"/>
              </a:rPr>
              <a:t>宗工业用地。成交</a:t>
            </a:r>
            <a:r>
              <a:rPr lang="en-US" altLang="zh-CN" b="1" dirty="0">
                <a:solidFill>
                  <a:srgbClr val="C00000"/>
                </a:solidFill>
                <a:latin typeface="微软雅黑" pitchFamily="34" charset="-122"/>
                <a:ea typeface="微软雅黑" pitchFamily="34" charset="-122"/>
              </a:rPr>
              <a:t>56</a:t>
            </a:r>
            <a:r>
              <a:rPr lang="zh-CN" altLang="en-US" b="1" dirty="0">
                <a:solidFill>
                  <a:srgbClr val="C00000"/>
                </a:solidFill>
                <a:latin typeface="微软雅黑" pitchFamily="34" charset="-122"/>
                <a:ea typeface="微软雅黑" pitchFamily="34" charset="-122"/>
              </a:rPr>
              <a:t>宗</a:t>
            </a:r>
            <a:r>
              <a:rPr lang="zh-CN" altLang="en-US" dirty="0">
                <a:solidFill>
                  <a:schemeClr val="tx1"/>
                </a:solidFill>
                <a:latin typeface="微软雅黑" pitchFamily="34" charset="-122"/>
                <a:ea typeface="微软雅黑" pitchFamily="34" charset="-122"/>
              </a:rPr>
              <a:t>，建设用地面积共</a:t>
            </a:r>
            <a:r>
              <a:rPr lang="en-US" altLang="zh-CN" dirty="0">
                <a:solidFill>
                  <a:schemeClr val="tx1"/>
                </a:solidFill>
                <a:latin typeface="微软雅黑" pitchFamily="34" charset="-122"/>
                <a:ea typeface="微软雅黑" pitchFamily="34" charset="-122"/>
              </a:rPr>
              <a:t>244.1</a:t>
            </a:r>
            <a:r>
              <a:rPr lang="zh-CN" altLang="en-US" dirty="0">
                <a:solidFill>
                  <a:schemeClr val="tx1"/>
                </a:solidFill>
                <a:latin typeface="微软雅黑" pitchFamily="34" charset="-122"/>
                <a:ea typeface="微软雅黑" pitchFamily="34" charset="-122"/>
              </a:rPr>
              <a:t>万㎡，金额达</a:t>
            </a:r>
            <a:r>
              <a:rPr lang="en-US" altLang="zh-CN" dirty="0">
                <a:solidFill>
                  <a:schemeClr val="tx1"/>
                </a:solidFill>
                <a:latin typeface="微软雅黑" pitchFamily="34" charset="-122"/>
                <a:ea typeface="微软雅黑" pitchFamily="34" charset="-122"/>
              </a:rPr>
              <a:t>167.2</a:t>
            </a:r>
            <a:r>
              <a:rPr lang="zh-CN" altLang="en-US" dirty="0">
                <a:solidFill>
                  <a:schemeClr val="tx1"/>
                </a:solidFill>
                <a:latin typeface="微软雅黑" pitchFamily="34" charset="-122"/>
                <a:ea typeface="微软雅黑" pitchFamily="34" charset="-122"/>
              </a:rPr>
              <a:t>亿元。</a:t>
            </a:r>
            <a:endParaRPr lang="en-US" altLang="zh-CN" dirty="0">
              <a:solidFill>
                <a:schemeClr val="tx1"/>
              </a:solidFill>
              <a:latin typeface="微软雅黑" pitchFamily="34" charset="-122"/>
              <a:ea typeface="微软雅黑" pitchFamily="34" charset="-122"/>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0597" y="3285589"/>
            <a:ext cx="8038437" cy="3077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768802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6946" y="1683446"/>
            <a:ext cx="4359275" cy="2116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标题 1"/>
          <p:cNvSpPr>
            <a:spLocks noGrp="1"/>
          </p:cNvSpPr>
          <p:nvPr>
            <p:ph type="title"/>
          </p:nvPr>
        </p:nvSpPr>
        <p:spPr/>
        <p:txBody>
          <a:bodyPr/>
          <a:lstStyle/>
          <a:p>
            <a:r>
              <a:rPr lang="zh-CN" altLang="en-US" dirty="0">
                <a:solidFill>
                  <a:schemeClr val="tx1">
                    <a:lumMod val="75000"/>
                    <a:lumOff val="25000"/>
                  </a:schemeClr>
                </a:solidFill>
              </a:rPr>
              <a:t>石家庄（主城区）</a:t>
            </a:r>
            <a:r>
              <a:rPr lang="en-US" altLang="zh-CN" dirty="0">
                <a:solidFill>
                  <a:schemeClr val="tx1">
                    <a:lumMod val="75000"/>
                    <a:lumOff val="25000"/>
                  </a:schemeClr>
                </a:solidFill>
              </a:rPr>
              <a:t>| </a:t>
            </a:r>
            <a:r>
              <a:rPr lang="zh-CN" altLang="en-US" sz="1800" dirty="0">
                <a:solidFill>
                  <a:schemeClr val="tx1">
                    <a:lumMod val="75000"/>
                    <a:lumOff val="25000"/>
                  </a:schemeClr>
                </a:solidFill>
              </a:rPr>
              <a:t>土地市场</a:t>
            </a:r>
            <a:endParaRPr lang="zh-CN" altLang="en-US" dirty="0"/>
          </a:p>
        </p:txBody>
      </p:sp>
      <p:sp>
        <p:nvSpPr>
          <p:cNvPr id="4" name="灯片编号占位符 3"/>
          <p:cNvSpPr>
            <a:spLocks noGrp="1"/>
          </p:cNvSpPr>
          <p:nvPr>
            <p:ph type="sldNum" sz="quarter" idx="4"/>
          </p:nvPr>
        </p:nvSpPr>
        <p:spPr/>
        <p:txBody>
          <a:bodyPr/>
          <a:lstStyle/>
          <a:p>
            <a:pPr>
              <a:defRPr/>
            </a:pPr>
            <a:fld id="{3E8B6F27-EC4F-B34E-9F32-10CC92E9AB18}" type="slidenum">
              <a:rPr lang="zh-CN" altLang="en-US" smtClean="0"/>
              <a:pPr>
                <a:defRPr/>
              </a:pPr>
              <a:t>36</a:t>
            </a:fld>
            <a:endParaRPr lang="zh-CN" altLang="en-US" dirty="0"/>
          </a:p>
        </p:txBody>
      </p:sp>
      <p:sp>
        <p:nvSpPr>
          <p:cNvPr id="7" name="文本占位符 2"/>
          <p:cNvSpPr txBox="1">
            <a:spLocks/>
          </p:cNvSpPr>
          <p:nvPr/>
        </p:nvSpPr>
        <p:spPr>
          <a:xfrm>
            <a:off x="426452" y="833563"/>
            <a:ext cx="5745748" cy="454025"/>
          </a:xfrm>
          <a:prstGeom prst="rect">
            <a:avLst/>
          </a:prstGeom>
        </p:spPr>
        <p:txBody>
          <a:bodyPr vert="horz"/>
          <a:lstStyle>
            <a:lvl1pPr marL="0" indent="0" algn="l" defTabSz="457200" rtl="0" eaLnBrk="1" latinLnBrk="0" hangingPunct="1">
              <a:spcBef>
                <a:spcPct val="20000"/>
              </a:spcBef>
              <a:buFont typeface="Arial"/>
              <a:buNone/>
              <a:defRPr sz="1600" kern="1200">
                <a:solidFill>
                  <a:schemeClr val="tx1">
                    <a:lumMod val="75000"/>
                    <a:lumOff val="25000"/>
                  </a:schemeClr>
                </a:solidFill>
                <a:latin typeface="Microsoft YaHei"/>
                <a:ea typeface="+mn-ea"/>
                <a:cs typeface="Microsoft YaHei"/>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85750" indent="-285750">
              <a:buClr>
                <a:schemeClr val="tx1"/>
              </a:buClr>
              <a:buFont typeface="Wingdings" pitchFamily="2" charset="2"/>
              <a:buChar char="Ø"/>
            </a:pPr>
            <a:r>
              <a:rPr lang="zh-CN" altLang="en-US" sz="1800" b="1" dirty="0">
                <a:solidFill>
                  <a:schemeClr val="tx1"/>
                </a:solidFill>
                <a:latin typeface="微软雅黑" pitchFamily="34" charset="-122"/>
                <a:ea typeface="微软雅黑" pitchFamily="34" charset="-122"/>
              </a:rPr>
              <a:t>土地市场：市场以住宅用地为主，裕华区交易火爆</a:t>
            </a:r>
          </a:p>
        </p:txBody>
      </p:sp>
      <p:sp>
        <p:nvSpPr>
          <p:cNvPr id="8" name="文本占位符 2"/>
          <p:cNvSpPr txBox="1">
            <a:spLocks/>
          </p:cNvSpPr>
          <p:nvPr/>
        </p:nvSpPr>
        <p:spPr>
          <a:xfrm>
            <a:off x="5527200" y="1778982"/>
            <a:ext cx="3312000" cy="1908000"/>
          </a:xfrm>
          <a:prstGeom prst="accentCallout1">
            <a:avLst>
              <a:gd name="adj1" fmla="val 18750"/>
              <a:gd name="adj2" fmla="val -8333"/>
              <a:gd name="adj3" fmla="val 49470"/>
              <a:gd name="adj4" fmla="val -26062"/>
            </a:avLst>
          </a:prstGeom>
          <a:ln w="19050"/>
          <a:effectLst>
            <a:outerShdw blurRad="40000" dist="50800" dir="5400000" rotWithShape="0">
              <a:srgbClr val="000000">
                <a:alpha val="38000"/>
              </a:srgbClr>
            </a:outerShdw>
          </a:effectLst>
        </p:spPr>
        <p:style>
          <a:lnRef idx="1">
            <a:schemeClr val="dk1"/>
          </a:lnRef>
          <a:fillRef idx="2">
            <a:schemeClr val="dk1"/>
          </a:fillRef>
          <a:effectRef idx="1">
            <a:schemeClr val="dk1"/>
          </a:effectRef>
          <a:fontRef idx="minor">
            <a:schemeClr val="dk1"/>
          </a:fontRef>
        </p:style>
        <p:txBody>
          <a:bodyPr vert="horz"/>
          <a:lstStyle>
            <a:lvl1pPr marL="0" indent="0" algn="l" defTabSz="457200" rtl="0" eaLnBrk="1" latinLnBrk="0" hangingPunct="1">
              <a:spcBef>
                <a:spcPct val="20000"/>
              </a:spcBef>
              <a:buFont typeface="Arial"/>
              <a:buNone/>
              <a:defRPr sz="1600" kern="1200">
                <a:solidFill>
                  <a:srgbClr val="404040"/>
                </a:solidFill>
                <a:latin typeface="Microsoft YaHei"/>
                <a:ea typeface="+mn-ea"/>
                <a:cs typeface="Microsoft YaHei"/>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lnSpc>
                <a:spcPct val="150000"/>
              </a:lnSpc>
              <a:spcBef>
                <a:spcPts val="0"/>
              </a:spcBef>
            </a:pPr>
            <a:r>
              <a:rPr lang="en-US" altLang="zh-CN" sz="1400" dirty="0">
                <a:solidFill>
                  <a:schemeClr val="tx1"/>
                </a:solidFill>
                <a:latin typeface="微软雅黑" pitchFamily="34" charset="-122"/>
                <a:ea typeface="微软雅黑" pitchFamily="34" charset="-122"/>
              </a:rPr>
              <a:t>2016</a:t>
            </a:r>
            <a:r>
              <a:rPr lang="zh-CN" altLang="en-US" sz="1400" dirty="0">
                <a:solidFill>
                  <a:schemeClr val="tx1"/>
                </a:solidFill>
                <a:latin typeface="微软雅黑" pitchFamily="34" charset="-122"/>
                <a:ea typeface="微软雅黑" pitchFamily="34" charset="-122"/>
              </a:rPr>
              <a:t>年</a:t>
            </a:r>
            <a:r>
              <a:rPr lang="en-US" altLang="zh-CN" sz="1400" dirty="0">
                <a:solidFill>
                  <a:schemeClr val="tx1"/>
                </a:solidFill>
                <a:latin typeface="微软雅黑" pitchFamily="34" charset="-122"/>
                <a:ea typeface="微软雅黑" pitchFamily="34" charset="-122"/>
              </a:rPr>
              <a:t>9</a:t>
            </a:r>
            <a:r>
              <a:rPr lang="zh-CN" altLang="en-US" sz="1400" dirty="0">
                <a:solidFill>
                  <a:schemeClr val="tx1"/>
                </a:solidFill>
                <a:latin typeface="微软雅黑" pitchFamily="34" charset="-122"/>
                <a:ea typeface="微软雅黑" pitchFamily="34" charset="-122"/>
              </a:rPr>
              <a:t>月成交情况</a:t>
            </a:r>
            <a:endParaRPr lang="en-US" altLang="zh-CN" sz="1400" dirty="0">
              <a:solidFill>
                <a:schemeClr val="tx1"/>
              </a:solidFill>
              <a:latin typeface="微软雅黑" pitchFamily="34" charset="-122"/>
              <a:ea typeface="微软雅黑" pitchFamily="34" charset="-122"/>
            </a:endParaRPr>
          </a:p>
          <a:p>
            <a:pPr algn="just">
              <a:lnSpc>
                <a:spcPct val="150000"/>
              </a:lnSpc>
              <a:spcBef>
                <a:spcPts val="0"/>
              </a:spcBef>
            </a:pPr>
            <a:r>
              <a:rPr lang="zh-CN" altLang="en-US" sz="1400" dirty="0">
                <a:solidFill>
                  <a:schemeClr val="tx1"/>
                </a:solidFill>
                <a:latin typeface="微软雅黑" pitchFamily="34" charset="-122"/>
                <a:ea typeface="微软雅黑" pitchFamily="34" charset="-122"/>
              </a:rPr>
              <a:t>裕华区：</a:t>
            </a:r>
            <a:r>
              <a:rPr lang="en-US" altLang="zh-CN" sz="1400" dirty="0">
                <a:solidFill>
                  <a:schemeClr val="tx1"/>
                </a:solidFill>
                <a:latin typeface="微软雅黑" pitchFamily="34" charset="-122"/>
                <a:ea typeface="微软雅黑" pitchFamily="34" charset="-122"/>
              </a:rPr>
              <a:t>2</a:t>
            </a:r>
            <a:r>
              <a:rPr lang="zh-CN" altLang="en-US" sz="1400" dirty="0">
                <a:solidFill>
                  <a:schemeClr val="tx1"/>
                </a:solidFill>
                <a:latin typeface="微软雅黑" pitchFamily="34" charset="-122"/>
                <a:ea typeface="微软雅黑" pitchFamily="34" charset="-122"/>
              </a:rPr>
              <a:t>宗，土地面积</a:t>
            </a:r>
            <a:r>
              <a:rPr lang="en-US" altLang="zh-CN" sz="1400" dirty="0">
                <a:solidFill>
                  <a:schemeClr val="tx1"/>
                </a:solidFill>
                <a:latin typeface="微软雅黑" pitchFamily="34" charset="-122"/>
                <a:ea typeface="微软雅黑" pitchFamily="34" charset="-122"/>
              </a:rPr>
              <a:t>9.4</a:t>
            </a:r>
            <a:r>
              <a:rPr lang="zh-CN" altLang="en-US" sz="1400" dirty="0">
                <a:solidFill>
                  <a:schemeClr val="tx1"/>
                </a:solidFill>
                <a:latin typeface="微软雅黑" pitchFamily="34" charset="-122"/>
                <a:ea typeface="微软雅黑" pitchFamily="34" charset="-122"/>
              </a:rPr>
              <a:t>万㎡</a:t>
            </a:r>
            <a:endParaRPr lang="en-US" altLang="zh-CN" sz="1400" dirty="0">
              <a:solidFill>
                <a:schemeClr val="tx1"/>
              </a:solidFill>
              <a:latin typeface="微软雅黑" pitchFamily="34" charset="-122"/>
              <a:ea typeface="微软雅黑" pitchFamily="34" charset="-122"/>
            </a:endParaRPr>
          </a:p>
          <a:p>
            <a:pPr algn="just">
              <a:lnSpc>
                <a:spcPct val="150000"/>
              </a:lnSpc>
              <a:spcBef>
                <a:spcPts val="0"/>
              </a:spcBef>
            </a:pPr>
            <a:r>
              <a:rPr lang="zh-CN" altLang="en-US" sz="1400" dirty="0">
                <a:solidFill>
                  <a:schemeClr val="tx1"/>
                </a:solidFill>
                <a:latin typeface="微软雅黑" pitchFamily="34" charset="-122"/>
                <a:ea typeface="微软雅黑" pitchFamily="34" charset="-122"/>
              </a:rPr>
              <a:t>长安区：</a:t>
            </a:r>
            <a:r>
              <a:rPr lang="en-US" altLang="zh-CN" sz="1400" dirty="0">
                <a:solidFill>
                  <a:schemeClr val="tx1"/>
                </a:solidFill>
                <a:latin typeface="微软雅黑" pitchFamily="34" charset="-122"/>
                <a:ea typeface="微软雅黑" pitchFamily="34" charset="-122"/>
              </a:rPr>
              <a:t>1</a:t>
            </a:r>
            <a:r>
              <a:rPr lang="zh-CN" altLang="en-US" sz="1400" dirty="0">
                <a:solidFill>
                  <a:schemeClr val="tx1"/>
                </a:solidFill>
                <a:latin typeface="微软雅黑" pitchFamily="34" charset="-122"/>
                <a:ea typeface="微软雅黑" pitchFamily="34" charset="-122"/>
              </a:rPr>
              <a:t>宗，土地面积</a:t>
            </a:r>
            <a:r>
              <a:rPr lang="en-US" altLang="zh-CN" sz="1400" dirty="0">
                <a:solidFill>
                  <a:schemeClr val="tx1"/>
                </a:solidFill>
                <a:latin typeface="微软雅黑" pitchFamily="34" charset="-122"/>
                <a:ea typeface="微软雅黑" pitchFamily="34" charset="-122"/>
              </a:rPr>
              <a:t>3.1</a:t>
            </a:r>
            <a:r>
              <a:rPr lang="zh-CN" altLang="en-US" sz="1400" dirty="0">
                <a:solidFill>
                  <a:schemeClr val="tx1"/>
                </a:solidFill>
                <a:latin typeface="微软雅黑" pitchFamily="34" charset="-122"/>
                <a:ea typeface="微软雅黑" pitchFamily="34" charset="-122"/>
              </a:rPr>
              <a:t>万㎡</a:t>
            </a:r>
            <a:endParaRPr lang="en-US" altLang="zh-CN" sz="1400" dirty="0">
              <a:solidFill>
                <a:schemeClr val="tx1"/>
              </a:solidFill>
              <a:latin typeface="微软雅黑" pitchFamily="34" charset="-122"/>
              <a:ea typeface="微软雅黑" pitchFamily="34" charset="-122"/>
            </a:endParaRPr>
          </a:p>
          <a:p>
            <a:pPr algn="just">
              <a:lnSpc>
                <a:spcPct val="150000"/>
              </a:lnSpc>
              <a:spcBef>
                <a:spcPts val="0"/>
              </a:spcBef>
            </a:pPr>
            <a:r>
              <a:rPr lang="zh-CN" altLang="en-US" sz="1400" dirty="0">
                <a:solidFill>
                  <a:schemeClr val="tx1"/>
                </a:solidFill>
                <a:latin typeface="微软雅黑" pitchFamily="34" charset="-122"/>
                <a:ea typeface="微软雅黑" pitchFamily="34" charset="-122"/>
              </a:rPr>
              <a:t>桥西区：</a:t>
            </a:r>
            <a:r>
              <a:rPr lang="en-US" altLang="zh-CN" sz="1400" dirty="0">
                <a:solidFill>
                  <a:schemeClr val="tx1"/>
                </a:solidFill>
                <a:latin typeface="微软雅黑" pitchFamily="34" charset="-122"/>
                <a:ea typeface="微软雅黑" pitchFamily="34" charset="-122"/>
              </a:rPr>
              <a:t>1</a:t>
            </a:r>
            <a:r>
              <a:rPr lang="zh-CN" altLang="en-US" sz="1400" dirty="0">
                <a:solidFill>
                  <a:schemeClr val="tx1"/>
                </a:solidFill>
                <a:latin typeface="微软雅黑" pitchFamily="34" charset="-122"/>
                <a:ea typeface="微软雅黑" pitchFamily="34" charset="-122"/>
              </a:rPr>
              <a:t>宗，土地面积</a:t>
            </a:r>
            <a:r>
              <a:rPr lang="en-US" altLang="zh-CN" sz="1400" dirty="0">
                <a:solidFill>
                  <a:schemeClr val="tx1"/>
                </a:solidFill>
                <a:latin typeface="微软雅黑" pitchFamily="34" charset="-122"/>
                <a:ea typeface="微软雅黑" pitchFamily="34" charset="-122"/>
              </a:rPr>
              <a:t>0.5</a:t>
            </a:r>
            <a:r>
              <a:rPr lang="zh-CN" altLang="en-US" sz="1400" dirty="0">
                <a:solidFill>
                  <a:schemeClr val="tx1"/>
                </a:solidFill>
                <a:latin typeface="微软雅黑" pitchFamily="34" charset="-122"/>
                <a:ea typeface="微软雅黑" pitchFamily="34" charset="-122"/>
              </a:rPr>
              <a:t>万㎡</a:t>
            </a:r>
            <a:endParaRPr lang="en-US" altLang="zh-CN" sz="1400" dirty="0">
              <a:solidFill>
                <a:schemeClr val="tx1"/>
              </a:solidFill>
              <a:latin typeface="微软雅黑" pitchFamily="34" charset="-122"/>
              <a:ea typeface="微软雅黑" pitchFamily="34" charset="-122"/>
            </a:endParaRPr>
          </a:p>
          <a:p>
            <a:pPr algn="just">
              <a:lnSpc>
                <a:spcPct val="150000"/>
              </a:lnSpc>
              <a:spcBef>
                <a:spcPts val="0"/>
              </a:spcBef>
            </a:pPr>
            <a:r>
              <a:rPr lang="zh-CN" altLang="en-US" sz="1400" dirty="0">
                <a:solidFill>
                  <a:schemeClr val="tx1"/>
                </a:solidFill>
                <a:latin typeface="微软雅黑" pitchFamily="34" charset="-122"/>
                <a:ea typeface="微软雅黑" pitchFamily="34" charset="-122"/>
              </a:rPr>
              <a:t>新华区：</a:t>
            </a:r>
            <a:r>
              <a:rPr lang="en-US" altLang="zh-CN" sz="1400" dirty="0">
                <a:solidFill>
                  <a:schemeClr val="tx1"/>
                </a:solidFill>
                <a:latin typeface="微软雅黑" pitchFamily="34" charset="-122"/>
                <a:ea typeface="微软雅黑" pitchFamily="34" charset="-122"/>
              </a:rPr>
              <a:t>1</a:t>
            </a:r>
            <a:r>
              <a:rPr lang="zh-CN" altLang="en-US" sz="1400" dirty="0">
                <a:solidFill>
                  <a:schemeClr val="tx1"/>
                </a:solidFill>
                <a:latin typeface="微软雅黑" pitchFamily="34" charset="-122"/>
                <a:ea typeface="微软雅黑" pitchFamily="34" charset="-122"/>
              </a:rPr>
              <a:t>宗，土地面积</a:t>
            </a:r>
            <a:r>
              <a:rPr lang="en-US" altLang="zh-CN" sz="1400" dirty="0">
                <a:solidFill>
                  <a:schemeClr val="tx1"/>
                </a:solidFill>
                <a:latin typeface="微软雅黑" pitchFamily="34" charset="-122"/>
                <a:ea typeface="微软雅黑" pitchFamily="34" charset="-122"/>
              </a:rPr>
              <a:t>0.9</a:t>
            </a:r>
            <a:r>
              <a:rPr lang="zh-CN" altLang="en-US" sz="1400" dirty="0">
                <a:solidFill>
                  <a:schemeClr val="tx1"/>
                </a:solidFill>
                <a:latin typeface="微软雅黑" pitchFamily="34" charset="-122"/>
                <a:ea typeface="微软雅黑" pitchFamily="34" charset="-122"/>
              </a:rPr>
              <a:t>万㎡</a:t>
            </a:r>
            <a:endParaRPr lang="en-US" altLang="zh-CN" sz="1400" dirty="0">
              <a:solidFill>
                <a:schemeClr val="tx1"/>
              </a:solidFill>
              <a:latin typeface="微软雅黑" pitchFamily="34" charset="-122"/>
              <a:ea typeface="微软雅黑" pitchFamily="34" charset="-122"/>
            </a:endParaRPr>
          </a:p>
        </p:txBody>
      </p:sp>
      <p:sp>
        <p:nvSpPr>
          <p:cNvPr id="10" name="文本占位符 2"/>
          <p:cNvSpPr txBox="1">
            <a:spLocks/>
          </p:cNvSpPr>
          <p:nvPr/>
        </p:nvSpPr>
        <p:spPr>
          <a:xfrm flipH="1">
            <a:off x="550722" y="4459350"/>
            <a:ext cx="3449777" cy="1548000"/>
          </a:xfrm>
          <a:prstGeom prst="accentCallout1">
            <a:avLst>
              <a:gd name="adj1" fmla="val 18750"/>
              <a:gd name="adj2" fmla="val -8333"/>
              <a:gd name="adj3" fmla="val 38726"/>
              <a:gd name="adj4" fmla="val -32580"/>
            </a:avLst>
          </a:prstGeom>
          <a:ln w="19050"/>
          <a:effectLst>
            <a:outerShdw blurRad="40000" dist="50800" dir="5400000" rotWithShape="0">
              <a:srgbClr val="000000">
                <a:alpha val="38000"/>
              </a:srgbClr>
            </a:outerShdw>
          </a:effectLst>
        </p:spPr>
        <p:style>
          <a:lnRef idx="1">
            <a:schemeClr val="dk1"/>
          </a:lnRef>
          <a:fillRef idx="2">
            <a:schemeClr val="dk1"/>
          </a:fillRef>
          <a:effectRef idx="1">
            <a:schemeClr val="dk1"/>
          </a:effectRef>
          <a:fontRef idx="minor">
            <a:schemeClr val="dk1"/>
          </a:fontRef>
        </p:style>
        <p:txBody>
          <a:bodyPr vert="horz"/>
          <a:lstStyle>
            <a:lvl1pPr marL="0" indent="0" algn="l" defTabSz="457200" rtl="0" eaLnBrk="1" latinLnBrk="0" hangingPunct="1">
              <a:spcBef>
                <a:spcPct val="20000"/>
              </a:spcBef>
              <a:buFont typeface="Arial"/>
              <a:buNone/>
              <a:defRPr sz="1600" kern="1200">
                <a:solidFill>
                  <a:srgbClr val="404040"/>
                </a:solidFill>
                <a:latin typeface="Microsoft YaHei"/>
                <a:ea typeface="+mn-ea"/>
                <a:cs typeface="Microsoft YaHei"/>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lnSpc>
                <a:spcPct val="150000"/>
              </a:lnSpc>
              <a:spcBef>
                <a:spcPts val="0"/>
              </a:spcBef>
            </a:pPr>
            <a:r>
              <a:rPr lang="en-US" altLang="zh-CN" sz="1400" dirty="0">
                <a:solidFill>
                  <a:schemeClr val="tx1"/>
                </a:solidFill>
                <a:latin typeface="微软雅黑" pitchFamily="34" charset="-122"/>
                <a:ea typeface="微软雅黑" pitchFamily="34" charset="-122"/>
              </a:rPr>
              <a:t>2016</a:t>
            </a:r>
            <a:r>
              <a:rPr lang="zh-CN" altLang="en-US" sz="1400" dirty="0">
                <a:solidFill>
                  <a:schemeClr val="tx1"/>
                </a:solidFill>
                <a:latin typeface="微软雅黑" pitchFamily="34" charset="-122"/>
                <a:ea typeface="微软雅黑" pitchFamily="34" charset="-122"/>
              </a:rPr>
              <a:t>年</a:t>
            </a:r>
            <a:r>
              <a:rPr lang="en-US" altLang="zh-CN" sz="1400" dirty="0">
                <a:solidFill>
                  <a:schemeClr val="tx1"/>
                </a:solidFill>
                <a:latin typeface="微软雅黑" pitchFamily="34" charset="-122"/>
                <a:ea typeface="微软雅黑" pitchFamily="34" charset="-122"/>
              </a:rPr>
              <a:t>9</a:t>
            </a:r>
            <a:r>
              <a:rPr lang="zh-CN" altLang="en-US" sz="1400" dirty="0">
                <a:solidFill>
                  <a:schemeClr val="tx1"/>
                </a:solidFill>
                <a:latin typeface="微软雅黑" pitchFamily="34" charset="-122"/>
                <a:ea typeface="微软雅黑" pitchFamily="34" charset="-122"/>
              </a:rPr>
              <a:t>月成交情况</a:t>
            </a:r>
            <a:endParaRPr lang="en-US" altLang="zh-CN" sz="1400" dirty="0">
              <a:solidFill>
                <a:schemeClr val="tx1"/>
              </a:solidFill>
              <a:latin typeface="微软雅黑" pitchFamily="34" charset="-122"/>
              <a:ea typeface="微软雅黑" pitchFamily="34" charset="-122"/>
            </a:endParaRPr>
          </a:p>
          <a:p>
            <a:pPr algn="just">
              <a:lnSpc>
                <a:spcPct val="150000"/>
              </a:lnSpc>
              <a:spcBef>
                <a:spcPts val="0"/>
              </a:spcBef>
            </a:pPr>
            <a:r>
              <a:rPr lang="zh-CN" altLang="en-US" sz="1400" dirty="0">
                <a:solidFill>
                  <a:schemeClr val="tx1"/>
                </a:solidFill>
                <a:latin typeface="微软雅黑" pitchFamily="34" charset="-122"/>
                <a:ea typeface="微软雅黑" pitchFamily="34" charset="-122"/>
              </a:rPr>
              <a:t>住宅用地：裕华区</a:t>
            </a:r>
            <a:r>
              <a:rPr lang="en-US" altLang="zh-CN" sz="1400" dirty="0">
                <a:solidFill>
                  <a:schemeClr val="tx1"/>
                </a:solidFill>
                <a:latin typeface="微软雅黑" pitchFamily="34" charset="-122"/>
                <a:ea typeface="微软雅黑" pitchFamily="34" charset="-122"/>
              </a:rPr>
              <a:t>2</a:t>
            </a:r>
            <a:r>
              <a:rPr lang="zh-CN" altLang="en-US" sz="1400" dirty="0">
                <a:solidFill>
                  <a:schemeClr val="tx1"/>
                </a:solidFill>
                <a:latin typeface="微软雅黑" pitchFamily="34" charset="-122"/>
                <a:ea typeface="微软雅黑" pitchFamily="34" charset="-122"/>
              </a:rPr>
              <a:t>宗，长安区</a:t>
            </a:r>
            <a:r>
              <a:rPr lang="en-US" altLang="zh-CN" sz="1400" dirty="0">
                <a:solidFill>
                  <a:schemeClr val="tx1"/>
                </a:solidFill>
                <a:latin typeface="微软雅黑" pitchFamily="34" charset="-122"/>
                <a:ea typeface="微软雅黑" pitchFamily="34" charset="-122"/>
              </a:rPr>
              <a:t>1</a:t>
            </a:r>
            <a:r>
              <a:rPr lang="zh-CN" altLang="en-US" sz="1400" dirty="0">
                <a:solidFill>
                  <a:schemeClr val="tx1"/>
                </a:solidFill>
                <a:latin typeface="微软雅黑" pitchFamily="34" charset="-122"/>
                <a:ea typeface="微软雅黑" pitchFamily="34" charset="-122"/>
              </a:rPr>
              <a:t>宗</a:t>
            </a:r>
            <a:endParaRPr lang="en-US" altLang="zh-CN" sz="1400" dirty="0">
              <a:solidFill>
                <a:schemeClr val="tx1"/>
              </a:solidFill>
              <a:latin typeface="微软雅黑" pitchFamily="34" charset="-122"/>
              <a:ea typeface="微软雅黑" pitchFamily="34" charset="-122"/>
            </a:endParaRPr>
          </a:p>
          <a:p>
            <a:pPr algn="just">
              <a:lnSpc>
                <a:spcPct val="150000"/>
              </a:lnSpc>
              <a:spcBef>
                <a:spcPts val="0"/>
              </a:spcBef>
            </a:pPr>
            <a:r>
              <a:rPr lang="zh-CN" altLang="en-US" sz="1400" dirty="0">
                <a:solidFill>
                  <a:schemeClr val="tx1"/>
                </a:solidFill>
                <a:latin typeface="微软雅黑" pitchFamily="34" charset="-122"/>
                <a:ea typeface="微软雅黑" pitchFamily="34" charset="-122"/>
              </a:rPr>
              <a:t>商办用地：桥西区</a:t>
            </a:r>
            <a:r>
              <a:rPr lang="en-US" altLang="zh-CN" sz="1400" dirty="0">
                <a:solidFill>
                  <a:schemeClr val="tx1"/>
                </a:solidFill>
                <a:latin typeface="微软雅黑" pitchFamily="34" charset="-122"/>
                <a:ea typeface="微软雅黑" pitchFamily="34" charset="-122"/>
              </a:rPr>
              <a:t>1</a:t>
            </a:r>
            <a:r>
              <a:rPr lang="zh-CN" altLang="en-US" sz="1400" dirty="0">
                <a:solidFill>
                  <a:schemeClr val="tx1"/>
                </a:solidFill>
                <a:latin typeface="微软雅黑" pitchFamily="34" charset="-122"/>
                <a:ea typeface="微软雅黑" pitchFamily="34" charset="-122"/>
              </a:rPr>
              <a:t>宗，新华区</a:t>
            </a:r>
            <a:r>
              <a:rPr lang="en-US" altLang="zh-CN" sz="1400" dirty="0">
                <a:solidFill>
                  <a:schemeClr val="tx1"/>
                </a:solidFill>
                <a:latin typeface="微软雅黑" pitchFamily="34" charset="-122"/>
                <a:ea typeface="微软雅黑" pitchFamily="34" charset="-122"/>
              </a:rPr>
              <a:t>1</a:t>
            </a:r>
            <a:r>
              <a:rPr lang="zh-CN" altLang="en-US" sz="1400" dirty="0">
                <a:solidFill>
                  <a:schemeClr val="tx1"/>
                </a:solidFill>
                <a:latin typeface="微软雅黑" pitchFamily="34" charset="-122"/>
                <a:ea typeface="微软雅黑" pitchFamily="34" charset="-122"/>
              </a:rPr>
              <a:t>宗</a:t>
            </a:r>
            <a:endParaRPr lang="en-US" altLang="zh-CN" sz="1400" dirty="0">
              <a:solidFill>
                <a:schemeClr val="tx1"/>
              </a:solidFill>
              <a:latin typeface="微软雅黑" pitchFamily="34" charset="-122"/>
              <a:ea typeface="微软雅黑" pitchFamily="34" charset="-122"/>
            </a:endParaRPr>
          </a:p>
          <a:p>
            <a:pPr algn="just">
              <a:lnSpc>
                <a:spcPct val="150000"/>
              </a:lnSpc>
              <a:spcBef>
                <a:spcPts val="0"/>
              </a:spcBef>
            </a:pPr>
            <a:r>
              <a:rPr lang="zh-CN" altLang="en-US" sz="1400" dirty="0">
                <a:solidFill>
                  <a:schemeClr val="tx1"/>
                </a:solidFill>
                <a:latin typeface="微软雅黑" pitchFamily="34" charset="-122"/>
                <a:ea typeface="微软雅黑" pitchFamily="34" charset="-122"/>
              </a:rPr>
              <a:t>工业用地：无成交</a:t>
            </a:r>
            <a:endParaRPr lang="en-US" altLang="zh-CN" sz="1400" dirty="0">
              <a:solidFill>
                <a:schemeClr val="tx1"/>
              </a:solidFill>
              <a:latin typeface="微软雅黑" pitchFamily="34" charset="-122"/>
              <a:ea typeface="微软雅黑" pitchFamily="34" charset="-122"/>
            </a:endParaRP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40723" y="4004303"/>
            <a:ext cx="4352925" cy="2255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736780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石家庄（主城区）</a:t>
            </a:r>
            <a:r>
              <a:rPr lang="en-US" altLang="zh-CN" dirty="0"/>
              <a:t>| </a:t>
            </a:r>
            <a:r>
              <a:rPr lang="zh-CN" altLang="en-US" sz="1800" dirty="0">
                <a:solidFill>
                  <a:schemeClr val="tx1">
                    <a:lumMod val="75000"/>
                    <a:lumOff val="25000"/>
                  </a:schemeClr>
                </a:solidFill>
              </a:rPr>
              <a:t>普通住宅市场</a:t>
            </a:r>
            <a:endParaRPr lang="zh-CN" altLang="en-US" dirty="0"/>
          </a:p>
        </p:txBody>
      </p:sp>
      <p:sp>
        <p:nvSpPr>
          <p:cNvPr id="4" name="灯片编号占位符 3"/>
          <p:cNvSpPr>
            <a:spLocks noGrp="1"/>
          </p:cNvSpPr>
          <p:nvPr>
            <p:ph type="sldNum" sz="quarter" idx="4"/>
          </p:nvPr>
        </p:nvSpPr>
        <p:spPr/>
        <p:txBody>
          <a:bodyPr/>
          <a:lstStyle/>
          <a:p>
            <a:pPr>
              <a:defRPr/>
            </a:pPr>
            <a:fld id="{3E8B6F27-EC4F-B34E-9F32-10CC92E9AB18}" type="slidenum">
              <a:rPr lang="zh-CN" altLang="en-US" smtClean="0"/>
              <a:pPr>
                <a:defRPr/>
              </a:pPr>
              <a:t>37</a:t>
            </a:fld>
            <a:endParaRPr lang="zh-CN" altLang="en-US" dirty="0"/>
          </a:p>
        </p:txBody>
      </p:sp>
      <p:sp>
        <p:nvSpPr>
          <p:cNvPr id="7" name="文本占位符 2"/>
          <p:cNvSpPr>
            <a:spLocks noGrp="1"/>
          </p:cNvSpPr>
          <p:nvPr>
            <p:ph type="body" sz="quarter" idx="13"/>
          </p:nvPr>
        </p:nvSpPr>
        <p:spPr>
          <a:xfrm>
            <a:off x="489396" y="697730"/>
            <a:ext cx="4494511" cy="454025"/>
          </a:xfrm>
        </p:spPr>
        <p:txBody>
          <a:bodyPr/>
          <a:lstStyle/>
          <a:p>
            <a:pPr marL="285750" indent="-285750">
              <a:buClr>
                <a:schemeClr val="tx1"/>
              </a:buClr>
              <a:buFont typeface="Wingdings" pitchFamily="2" charset="2"/>
              <a:buChar char="Ø"/>
            </a:pPr>
            <a:r>
              <a:rPr lang="zh-CN" altLang="en-US" sz="1800" b="1" dirty="0">
                <a:solidFill>
                  <a:schemeClr val="tx1"/>
                </a:solidFill>
                <a:latin typeface="微软雅黑" pitchFamily="34" charset="-122"/>
                <a:ea typeface="微软雅黑" pitchFamily="34" charset="-122"/>
              </a:rPr>
              <a:t>成交均价高位稳定，去化依旧加速</a:t>
            </a:r>
            <a:endParaRPr lang="en-US" altLang="zh-CN" sz="1800" b="1" dirty="0">
              <a:solidFill>
                <a:schemeClr val="tx1"/>
              </a:solidFill>
              <a:latin typeface="微软雅黑" pitchFamily="34" charset="-122"/>
              <a:ea typeface="微软雅黑" pitchFamily="34" charset="-122"/>
            </a:endParaRP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5561" y="3998912"/>
            <a:ext cx="6480175" cy="2524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5333" y="1331138"/>
            <a:ext cx="6486525" cy="2524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509518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石家庄（主城区）</a:t>
            </a:r>
            <a:r>
              <a:rPr lang="en-US" altLang="zh-CN" dirty="0"/>
              <a:t>| </a:t>
            </a:r>
            <a:r>
              <a:rPr lang="zh-CN" altLang="en-US" sz="1800" dirty="0">
                <a:solidFill>
                  <a:schemeClr val="tx1">
                    <a:lumMod val="75000"/>
                    <a:lumOff val="25000"/>
                  </a:schemeClr>
                </a:solidFill>
              </a:rPr>
              <a:t>普通住宅市场</a:t>
            </a:r>
            <a:endParaRPr lang="zh-CN" altLang="en-US" dirty="0"/>
          </a:p>
        </p:txBody>
      </p:sp>
      <p:sp>
        <p:nvSpPr>
          <p:cNvPr id="4" name="灯片编号占位符 3"/>
          <p:cNvSpPr>
            <a:spLocks noGrp="1"/>
          </p:cNvSpPr>
          <p:nvPr>
            <p:ph type="sldNum" sz="quarter" idx="4"/>
          </p:nvPr>
        </p:nvSpPr>
        <p:spPr/>
        <p:txBody>
          <a:bodyPr/>
          <a:lstStyle/>
          <a:p>
            <a:pPr>
              <a:defRPr/>
            </a:pPr>
            <a:fld id="{3E8B6F27-EC4F-B34E-9F32-10CC92E9AB18}" type="slidenum">
              <a:rPr lang="zh-CN" altLang="en-US" smtClean="0"/>
              <a:pPr>
                <a:defRPr/>
              </a:pPr>
              <a:t>38</a:t>
            </a:fld>
            <a:endParaRPr lang="zh-CN" altLang="en-US" dirty="0"/>
          </a:p>
        </p:txBody>
      </p:sp>
      <p:sp>
        <p:nvSpPr>
          <p:cNvPr id="8" name="文本占位符 2"/>
          <p:cNvSpPr>
            <a:spLocks noGrp="1"/>
          </p:cNvSpPr>
          <p:nvPr>
            <p:ph type="body" sz="quarter" idx="13"/>
          </p:nvPr>
        </p:nvSpPr>
        <p:spPr>
          <a:xfrm>
            <a:off x="576262" y="728541"/>
            <a:ext cx="6493278" cy="454025"/>
          </a:xfrm>
        </p:spPr>
        <p:txBody>
          <a:bodyPr anchor="ctr"/>
          <a:lstStyle/>
          <a:p>
            <a:pPr marL="285750" indent="-285750">
              <a:buClr>
                <a:schemeClr val="tx1"/>
              </a:buClr>
              <a:buFont typeface="Wingdings" pitchFamily="2" charset="2"/>
              <a:buChar char="Ø"/>
            </a:pPr>
            <a:r>
              <a:rPr lang="zh-CN" altLang="en-US" sz="1800" b="1" dirty="0">
                <a:solidFill>
                  <a:schemeClr val="tx1"/>
                </a:solidFill>
                <a:latin typeface="微软雅黑" pitchFamily="34" charset="-122"/>
                <a:ea typeface="微软雅黑" pitchFamily="34" charset="-122"/>
              </a:rPr>
              <a:t>普通住宅：交易主要集中在大中户型，总金额在百万上下</a:t>
            </a:r>
            <a:endParaRPr lang="en-US" altLang="zh-CN" sz="1800" b="1" dirty="0">
              <a:solidFill>
                <a:schemeClr val="tx1"/>
              </a:solidFill>
              <a:latin typeface="微软雅黑" pitchFamily="34" charset="-122"/>
              <a:ea typeface="微软雅黑" pitchFamily="34" charset="-122"/>
            </a:endParaRPr>
          </a:p>
        </p:txBody>
      </p:sp>
      <p:graphicFrame>
        <p:nvGraphicFramePr>
          <p:cNvPr id="13" name="图表 12"/>
          <p:cNvGraphicFramePr>
            <a:graphicFrameLocks/>
          </p:cNvGraphicFramePr>
          <p:nvPr>
            <p:extLst>
              <p:ext uri="{D42A27DB-BD31-4B8C-83A1-F6EECF244321}">
                <p14:modId xmlns:p14="http://schemas.microsoft.com/office/powerpoint/2010/main" val="1993355549"/>
              </p:ext>
            </p:extLst>
          </p:nvPr>
        </p:nvGraphicFramePr>
        <p:xfrm>
          <a:off x="693699" y="1261420"/>
          <a:ext cx="7920000" cy="270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4" name="图表 13"/>
          <p:cNvGraphicFramePr>
            <a:graphicFrameLocks/>
          </p:cNvGraphicFramePr>
          <p:nvPr>
            <p:extLst>
              <p:ext uri="{D42A27DB-BD31-4B8C-83A1-F6EECF244321}">
                <p14:modId xmlns:p14="http://schemas.microsoft.com/office/powerpoint/2010/main" val="2456943307"/>
              </p:ext>
            </p:extLst>
          </p:nvPr>
        </p:nvGraphicFramePr>
        <p:xfrm>
          <a:off x="627735" y="4092714"/>
          <a:ext cx="7920000" cy="2700000"/>
        </p:xfrm>
        <a:graphic>
          <a:graphicData uri="http://schemas.openxmlformats.org/drawingml/2006/chart">
            <c:chart xmlns:c="http://schemas.openxmlformats.org/drawingml/2006/chart" xmlns:r="http://schemas.openxmlformats.org/officeDocument/2006/relationships" r:id="rId3"/>
          </a:graphicData>
        </a:graphic>
      </p:graphicFrame>
      <p:sp>
        <p:nvSpPr>
          <p:cNvPr id="3" name="矩形 2"/>
          <p:cNvSpPr/>
          <p:nvPr/>
        </p:nvSpPr>
        <p:spPr>
          <a:xfrm>
            <a:off x="7214548" y="4538354"/>
            <a:ext cx="432000" cy="1800000"/>
          </a:xfrm>
          <a:prstGeom prst="rect">
            <a:avLst/>
          </a:prstGeom>
          <a:noFill/>
          <a:ln w="22225">
            <a:solidFill>
              <a:srgbClr val="C00000"/>
            </a:solidFill>
            <a:prstDash val="dash"/>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9" name="矩形 8"/>
          <p:cNvSpPr/>
          <p:nvPr/>
        </p:nvSpPr>
        <p:spPr>
          <a:xfrm>
            <a:off x="7275304" y="1716112"/>
            <a:ext cx="432000" cy="1800000"/>
          </a:xfrm>
          <a:prstGeom prst="rect">
            <a:avLst/>
          </a:prstGeom>
          <a:noFill/>
          <a:ln w="22225">
            <a:solidFill>
              <a:srgbClr val="C00000"/>
            </a:solidFill>
            <a:prstDash val="dash"/>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10" name="KSO_Shape"/>
          <p:cNvSpPr/>
          <p:nvPr/>
        </p:nvSpPr>
        <p:spPr>
          <a:xfrm>
            <a:off x="7436712" y="3914718"/>
            <a:ext cx="1620000" cy="319088"/>
          </a:xfrm>
          <a:prstGeom prst="wedgeRoundRectCallout">
            <a:avLst>
              <a:gd name="adj1" fmla="val -47155"/>
              <a:gd name="adj2" fmla="val 133197"/>
              <a:gd name="adj3" fmla="val 16667"/>
            </a:avLst>
          </a:prstGeom>
          <a:ln/>
        </p:spPr>
        <p:style>
          <a:lnRef idx="1">
            <a:schemeClr val="accent1"/>
          </a:lnRef>
          <a:fillRef idx="3">
            <a:schemeClr val="accent1"/>
          </a:fillRef>
          <a:effectRef idx="2">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7" name="TextBox 6"/>
          <p:cNvSpPr txBox="1"/>
          <p:nvPr/>
        </p:nvSpPr>
        <p:spPr>
          <a:xfrm>
            <a:off x="7378567" y="3902018"/>
            <a:ext cx="1643399" cy="338554"/>
          </a:xfrm>
          <a:prstGeom prst="rect">
            <a:avLst/>
          </a:prstGeom>
          <a:noFill/>
        </p:spPr>
        <p:txBody>
          <a:bodyPr wrap="none" rtlCol="0">
            <a:spAutoFit/>
          </a:bodyPr>
          <a:lstStyle/>
          <a:p>
            <a:r>
              <a:rPr lang="en-US" altLang="zh-CN" sz="1600" dirty="0"/>
              <a:t>90</a:t>
            </a:r>
            <a:r>
              <a:rPr lang="zh-CN" altLang="en-US" sz="1600" dirty="0"/>
              <a:t>㎡以下占</a:t>
            </a:r>
            <a:r>
              <a:rPr lang="en-US" altLang="zh-CN" sz="1600" dirty="0"/>
              <a:t>16%</a:t>
            </a:r>
            <a:endParaRPr lang="zh-CN" altLang="en-US" sz="1600" dirty="0"/>
          </a:p>
        </p:txBody>
      </p:sp>
      <p:sp>
        <p:nvSpPr>
          <p:cNvPr id="11" name="KSO_Shape"/>
          <p:cNvSpPr/>
          <p:nvPr/>
        </p:nvSpPr>
        <p:spPr>
          <a:xfrm>
            <a:off x="7450360" y="1099797"/>
            <a:ext cx="1656000" cy="319088"/>
          </a:xfrm>
          <a:prstGeom prst="wedgeRoundRectCallout">
            <a:avLst>
              <a:gd name="adj1" fmla="val -47155"/>
              <a:gd name="adj2" fmla="val 133197"/>
              <a:gd name="adj3" fmla="val 16667"/>
            </a:avLst>
          </a:prstGeom>
          <a:ln/>
        </p:spPr>
        <p:style>
          <a:lnRef idx="1">
            <a:schemeClr val="accent1"/>
          </a:lnRef>
          <a:fillRef idx="3">
            <a:schemeClr val="accent1"/>
          </a:fillRef>
          <a:effectRef idx="2">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12" name="TextBox 11"/>
          <p:cNvSpPr txBox="1"/>
          <p:nvPr/>
        </p:nvSpPr>
        <p:spPr>
          <a:xfrm>
            <a:off x="7356959" y="1087097"/>
            <a:ext cx="1757212" cy="338554"/>
          </a:xfrm>
          <a:prstGeom prst="rect">
            <a:avLst/>
          </a:prstGeom>
          <a:noFill/>
        </p:spPr>
        <p:txBody>
          <a:bodyPr wrap="none" rtlCol="0">
            <a:spAutoFit/>
          </a:bodyPr>
          <a:lstStyle/>
          <a:p>
            <a:r>
              <a:rPr lang="en-US" altLang="zh-CN" sz="1600" dirty="0"/>
              <a:t>100</a:t>
            </a:r>
            <a:r>
              <a:rPr lang="zh-CN" altLang="en-US" sz="1600" dirty="0"/>
              <a:t>万以下占</a:t>
            </a:r>
            <a:r>
              <a:rPr lang="en-US" altLang="zh-CN" sz="1600" dirty="0"/>
              <a:t>59%</a:t>
            </a:r>
            <a:endParaRPr lang="zh-CN" altLang="en-US" sz="1600" dirty="0"/>
          </a:p>
        </p:txBody>
      </p:sp>
    </p:spTree>
    <p:extLst>
      <p:ext uri="{BB962C8B-B14F-4D97-AF65-F5344CB8AC3E}">
        <p14:creationId xmlns:p14="http://schemas.microsoft.com/office/powerpoint/2010/main" val="13965811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编号占位符 1"/>
          <p:cNvSpPr>
            <a:spLocks noGrp="1"/>
          </p:cNvSpPr>
          <p:nvPr>
            <p:ph type="sldNum" sz="quarter" idx="4"/>
          </p:nvPr>
        </p:nvSpPr>
        <p:spPr/>
        <p:txBody>
          <a:bodyPr/>
          <a:lstStyle/>
          <a:p>
            <a:pPr>
              <a:defRPr/>
            </a:pPr>
            <a:fld id="{3E8B6F27-EC4F-B34E-9F32-10CC92E9AB18}" type="slidenum">
              <a:rPr lang="zh-CN" altLang="en-US" smtClean="0"/>
              <a:t>39</a:t>
            </a:fld>
            <a:endParaRPr lang="zh-CN" altLang="en-US" dirty="0"/>
          </a:p>
        </p:txBody>
      </p:sp>
      <p:sp>
        <p:nvSpPr>
          <p:cNvPr id="4" name="矩形 3"/>
          <p:cNvSpPr/>
          <p:nvPr/>
        </p:nvSpPr>
        <p:spPr>
          <a:xfrm>
            <a:off x="476792" y="1581814"/>
            <a:ext cx="2684518" cy="327546"/>
          </a:xfrm>
          <a:prstGeom prst="rect">
            <a:avLst/>
          </a:prstGeom>
          <a:solidFill>
            <a:schemeClr val="accent6">
              <a:lumMod val="75000"/>
              <a:alpha val="46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400" b="1" dirty="0">
                <a:latin typeface="微软雅黑" pitchFamily="34" charset="-122"/>
                <a:ea typeface="微软雅黑" pitchFamily="34" charset="-122"/>
              </a:rPr>
              <a:t>8</a:t>
            </a:r>
            <a:r>
              <a:rPr lang="zh-CN" altLang="en-US" sz="1400" b="1" dirty="0">
                <a:latin typeface="微软雅黑" pitchFamily="34" charset="-122"/>
                <a:ea typeface="微软雅黑" pitchFamily="34" charset="-122"/>
              </a:rPr>
              <a:t>月普通住宅供应一览表</a:t>
            </a:r>
          </a:p>
        </p:txBody>
      </p:sp>
      <p:graphicFrame>
        <p:nvGraphicFramePr>
          <p:cNvPr id="9" name="表格 8"/>
          <p:cNvGraphicFramePr>
            <a:graphicFrameLocks noGrp="1"/>
          </p:cNvGraphicFramePr>
          <p:nvPr>
            <p:extLst>
              <p:ext uri="{D42A27DB-BD31-4B8C-83A1-F6EECF244321}">
                <p14:modId xmlns:p14="http://schemas.microsoft.com/office/powerpoint/2010/main" val="1528052448"/>
              </p:ext>
            </p:extLst>
          </p:nvPr>
        </p:nvGraphicFramePr>
        <p:xfrm>
          <a:off x="478799" y="2083096"/>
          <a:ext cx="8351999" cy="2592000"/>
        </p:xfrm>
        <a:graphic>
          <a:graphicData uri="http://schemas.openxmlformats.org/drawingml/2006/table">
            <a:tbl>
              <a:tblPr>
                <a:tableStyleId>{5C22544A-7EE6-4342-B048-85BDC9FD1C3A}</a:tableStyleId>
              </a:tblPr>
              <a:tblGrid>
                <a:gridCol w="1792151">
                  <a:extLst>
                    <a:ext uri="{9D8B030D-6E8A-4147-A177-3AD203B41FA5}">
                      <a16:colId xmlns:a16="http://schemas.microsoft.com/office/drawing/2014/main" val="20000"/>
                    </a:ext>
                  </a:extLst>
                </a:gridCol>
                <a:gridCol w="1132650">
                  <a:extLst>
                    <a:ext uri="{9D8B030D-6E8A-4147-A177-3AD203B41FA5}">
                      <a16:colId xmlns:a16="http://schemas.microsoft.com/office/drawing/2014/main" val="20001"/>
                    </a:ext>
                  </a:extLst>
                </a:gridCol>
                <a:gridCol w="2567976">
                  <a:extLst>
                    <a:ext uri="{9D8B030D-6E8A-4147-A177-3AD203B41FA5}">
                      <a16:colId xmlns:a16="http://schemas.microsoft.com/office/drawing/2014/main" val="20002"/>
                    </a:ext>
                  </a:extLst>
                </a:gridCol>
                <a:gridCol w="1229324">
                  <a:extLst>
                    <a:ext uri="{9D8B030D-6E8A-4147-A177-3AD203B41FA5}">
                      <a16:colId xmlns:a16="http://schemas.microsoft.com/office/drawing/2014/main" val="20003"/>
                    </a:ext>
                  </a:extLst>
                </a:gridCol>
                <a:gridCol w="1629898">
                  <a:extLst>
                    <a:ext uri="{9D8B030D-6E8A-4147-A177-3AD203B41FA5}">
                      <a16:colId xmlns:a16="http://schemas.microsoft.com/office/drawing/2014/main" val="20004"/>
                    </a:ext>
                  </a:extLst>
                </a:gridCol>
              </a:tblGrid>
              <a:tr h="432000">
                <a:tc>
                  <a:txBody>
                    <a:bodyPr/>
                    <a:lstStyle/>
                    <a:p>
                      <a:pPr algn="ctr" fontAlgn="ctr"/>
                      <a:r>
                        <a:rPr lang="zh-CN" altLang="en-US" sz="1300" b="1" i="0" u="none" strike="noStrike" dirty="0">
                          <a:solidFill>
                            <a:schemeClr val="bg1"/>
                          </a:solidFill>
                          <a:effectLst/>
                          <a:latin typeface="黑体" pitchFamily="2" charset="-122"/>
                          <a:ea typeface="黑体" pitchFamily="2" charset="-122"/>
                        </a:rPr>
                        <a:t>项目名称</a:t>
                      </a:r>
                    </a:p>
                  </a:txBody>
                  <a:tcPr marL="9525" marR="9525" marT="9525" marB="0" anchor="ctr">
                    <a:solidFill>
                      <a:schemeClr val="tx2">
                        <a:lumMod val="60000"/>
                        <a:lumOff val="40000"/>
                      </a:schemeClr>
                    </a:solidFill>
                  </a:tcPr>
                </a:tc>
                <a:tc>
                  <a:txBody>
                    <a:bodyPr/>
                    <a:lstStyle/>
                    <a:p>
                      <a:pPr algn="ctr" fontAlgn="ctr"/>
                      <a:r>
                        <a:rPr lang="zh-CN" altLang="en-US" sz="1300" b="1" i="0" u="none" strike="noStrike">
                          <a:solidFill>
                            <a:schemeClr val="bg1"/>
                          </a:solidFill>
                          <a:effectLst/>
                          <a:latin typeface="黑体" pitchFamily="2" charset="-122"/>
                          <a:ea typeface="黑体" pitchFamily="2" charset="-122"/>
                        </a:rPr>
                        <a:t>预售开始时间</a:t>
                      </a:r>
                    </a:p>
                  </a:txBody>
                  <a:tcPr marL="9525" marR="9525" marT="9525" marB="0" anchor="ctr">
                    <a:solidFill>
                      <a:schemeClr val="tx2">
                        <a:lumMod val="60000"/>
                        <a:lumOff val="40000"/>
                      </a:schemeClr>
                    </a:solidFill>
                  </a:tcPr>
                </a:tc>
                <a:tc>
                  <a:txBody>
                    <a:bodyPr/>
                    <a:lstStyle/>
                    <a:p>
                      <a:pPr algn="ctr" fontAlgn="ctr"/>
                      <a:r>
                        <a:rPr lang="zh-CN" altLang="en-US" sz="1300" b="1" i="0" u="none" strike="noStrike" dirty="0">
                          <a:solidFill>
                            <a:schemeClr val="bg1"/>
                          </a:solidFill>
                          <a:effectLst/>
                          <a:latin typeface="黑体" pitchFamily="2" charset="-122"/>
                          <a:ea typeface="黑体" pitchFamily="2" charset="-122"/>
                        </a:rPr>
                        <a:t>预售范围</a:t>
                      </a:r>
                    </a:p>
                  </a:txBody>
                  <a:tcPr marL="9525" marR="9525" marT="9525" marB="0" anchor="ctr">
                    <a:solidFill>
                      <a:schemeClr val="tx2">
                        <a:lumMod val="60000"/>
                        <a:lumOff val="40000"/>
                      </a:schemeClr>
                    </a:solidFill>
                  </a:tcPr>
                </a:tc>
                <a:tc>
                  <a:txBody>
                    <a:bodyPr/>
                    <a:lstStyle/>
                    <a:p>
                      <a:pPr algn="ctr" fontAlgn="ctr"/>
                      <a:r>
                        <a:rPr lang="zh-CN" altLang="en-US" sz="1300" b="1" i="0" u="none" strike="noStrike">
                          <a:solidFill>
                            <a:schemeClr val="bg1"/>
                          </a:solidFill>
                          <a:effectLst/>
                          <a:latin typeface="黑体" pitchFamily="2" charset="-122"/>
                          <a:ea typeface="黑体" pitchFamily="2" charset="-122"/>
                        </a:rPr>
                        <a:t>预售证号</a:t>
                      </a:r>
                    </a:p>
                  </a:txBody>
                  <a:tcPr marL="9525" marR="9525" marT="9525" marB="0" anchor="ctr">
                    <a:solidFill>
                      <a:schemeClr val="tx2">
                        <a:lumMod val="60000"/>
                        <a:lumOff val="40000"/>
                      </a:schemeClr>
                    </a:solidFill>
                  </a:tcPr>
                </a:tc>
                <a:tc>
                  <a:txBody>
                    <a:bodyPr/>
                    <a:lstStyle/>
                    <a:p>
                      <a:pPr algn="ctr" fontAlgn="ctr"/>
                      <a:r>
                        <a:rPr lang="zh-CN" altLang="en-US" sz="1300" b="1" i="0" u="none" strike="noStrike" dirty="0">
                          <a:solidFill>
                            <a:schemeClr val="bg1"/>
                          </a:solidFill>
                          <a:effectLst/>
                          <a:latin typeface="黑体" pitchFamily="2" charset="-122"/>
                          <a:ea typeface="黑体" pitchFamily="2" charset="-122"/>
                        </a:rPr>
                        <a:t>住宅供应面积（㎡）</a:t>
                      </a:r>
                    </a:p>
                  </a:txBody>
                  <a:tcPr marL="9525" marR="9525" marT="9525" marB="0" anchor="ctr">
                    <a:solidFill>
                      <a:schemeClr val="tx2">
                        <a:lumMod val="60000"/>
                        <a:lumOff val="40000"/>
                      </a:schemeClr>
                    </a:solidFill>
                  </a:tcPr>
                </a:tc>
                <a:extLst>
                  <a:ext uri="{0D108BD9-81ED-4DB2-BD59-A6C34878D82A}">
                    <a16:rowId xmlns:a16="http://schemas.microsoft.com/office/drawing/2014/main" val="10000"/>
                  </a:ext>
                </a:extLst>
              </a:tr>
              <a:tr h="432000">
                <a:tc>
                  <a:txBody>
                    <a:bodyPr/>
                    <a:lstStyle/>
                    <a:p>
                      <a:pPr algn="ctr" fontAlgn="ctr"/>
                      <a:r>
                        <a:rPr lang="zh-CN" altLang="en-US" sz="1300" b="0" i="0" u="none" strike="noStrike" kern="1200" dirty="0">
                          <a:solidFill>
                            <a:srgbClr val="000000"/>
                          </a:solidFill>
                          <a:effectLst/>
                          <a:latin typeface="黑体" pitchFamily="2" charset="-122"/>
                          <a:ea typeface="黑体" pitchFamily="2" charset="-122"/>
                          <a:cs typeface="+mn-cs"/>
                        </a:rPr>
                        <a:t>东胜紫御府（馨苑）</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20160806</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3-15</a:t>
                      </a:r>
                      <a:r>
                        <a:rPr lang="zh-CN" altLang="en-US" sz="1300" b="0" i="0" u="none" strike="noStrike" kern="1200" dirty="0">
                          <a:solidFill>
                            <a:srgbClr val="000000"/>
                          </a:solidFill>
                          <a:effectLst/>
                          <a:latin typeface="黑体" pitchFamily="2" charset="-122"/>
                          <a:ea typeface="黑体" pitchFamily="2" charset="-122"/>
                          <a:cs typeface="+mn-cs"/>
                        </a:rPr>
                        <a:t>、</a:t>
                      </a:r>
                      <a:r>
                        <a:rPr lang="en-US" altLang="zh-CN" sz="1300" b="0" i="0" u="none" strike="noStrike" kern="1200" dirty="0">
                          <a:solidFill>
                            <a:srgbClr val="000000"/>
                          </a:solidFill>
                          <a:effectLst/>
                          <a:latin typeface="黑体" pitchFamily="2" charset="-122"/>
                          <a:ea typeface="黑体" pitchFamily="2" charset="-122"/>
                          <a:cs typeface="+mn-cs"/>
                        </a:rPr>
                        <a:t>16</a:t>
                      </a:r>
                      <a:r>
                        <a:rPr lang="zh-CN" altLang="en-US" sz="1300" b="0" i="0" u="none" strike="noStrike" kern="1200" dirty="0">
                          <a:solidFill>
                            <a:srgbClr val="000000"/>
                          </a:solidFill>
                          <a:effectLst/>
                          <a:latin typeface="黑体" pitchFamily="2" charset="-122"/>
                          <a:ea typeface="黑体" pitchFamily="2" charset="-122"/>
                          <a:cs typeface="+mn-cs"/>
                        </a:rPr>
                        <a:t>号办公楼</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2016071</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39194.16</a:t>
                      </a:r>
                    </a:p>
                  </a:txBody>
                  <a:tcPr marL="9525" marR="9525" marT="9525" marB="0" anchor="ctr">
                    <a:solidFill>
                      <a:schemeClr val="tx2">
                        <a:lumMod val="20000"/>
                        <a:lumOff val="80000"/>
                      </a:schemeClr>
                    </a:solidFill>
                  </a:tcPr>
                </a:tc>
                <a:extLst>
                  <a:ext uri="{0D108BD9-81ED-4DB2-BD59-A6C34878D82A}">
                    <a16:rowId xmlns:a16="http://schemas.microsoft.com/office/drawing/2014/main" val="10001"/>
                  </a:ext>
                </a:extLst>
              </a:tr>
              <a:tr h="43200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天洲视界城</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20160816</a:t>
                      </a:r>
                    </a:p>
                  </a:txBody>
                  <a:tcPr marL="9525" marR="9525" marT="9525" marB="0" anchor="ctr">
                    <a:solidFill>
                      <a:schemeClr val="tx2">
                        <a:lumMod val="20000"/>
                        <a:lumOff val="80000"/>
                      </a:schemeClr>
                    </a:solidFill>
                  </a:tcPr>
                </a:tc>
                <a:tc>
                  <a:txBody>
                    <a:bodyPr/>
                    <a:lstStyle/>
                    <a:p>
                      <a:pPr algn="ctr" fontAlgn="ctr"/>
                      <a:r>
                        <a:rPr lang="en-US" sz="1300" b="0" i="0" u="none" strike="noStrike" kern="1200">
                          <a:solidFill>
                            <a:srgbClr val="000000"/>
                          </a:solidFill>
                          <a:effectLst/>
                          <a:latin typeface="黑体" pitchFamily="2" charset="-122"/>
                          <a:ea typeface="黑体" pitchFamily="2" charset="-122"/>
                          <a:cs typeface="+mn-cs"/>
                        </a:rPr>
                        <a:t>D11</a:t>
                      </a:r>
                      <a:r>
                        <a:rPr lang="zh-CN" altLang="en-US" sz="1300" b="0" i="0" u="none" strike="noStrike" kern="1200">
                          <a:solidFill>
                            <a:srgbClr val="000000"/>
                          </a:solidFill>
                          <a:effectLst/>
                          <a:latin typeface="黑体" pitchFamily="2" charset="-122"/>
                          <a:ea typeface="黑体" pitchFamily="2" charset="-122"/>
                          <a:cs typeface="+mn-cs"/>
                        </a:rPr>
                        <a:t>号住宅楼</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2016075</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19502.58</a:t>
                      </a:r>
                    </a:p>
                  </a:txBody>
                  <a:tcPr marL="9525" marR="9525" marT="9525" marB="0" anchor="ctr">
                    <a:solidFill>
                      <a:schemeClr val="tx2">
                        <a:lumMod val="20000"/>
                        <a:lumOff val="80000"/>
                      </a:schemeClr>
                    </a:solidFill>
                  </a:tcPr>
                </a:tc>
                <a:extLst>
                  <a:ext uri="{0D108BD9-81ED-4DB2-BD59-A6C34878D82A}">
                    <a16:rowId xmlns:a16="http://schemas.microsoft.com/office/drawing/2014/main" val="10002"/>
                  </a:ext>
                </a:extLst>
              </a:tr>
              <a:tr h="43200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瑞城</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20160818</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低层住宅</a:t>
                      </a:r>
                      <a:r>
                        <a:rPr lang="en-US" altLang="zh-CN" sz="1300" b="0" i="0" u="none" strike="noStrike" kern="1200">
                          <a:solidFill>
                            <a:srgbClr val="000000"/>
                          </a:solidFill>
                          <a:effectLst/>
                          <a:latin typeface="黑体" pitchFamily="2" charset="-122"/>
                          <a:ea typeface="黑体" pitchFamily="2" charset="-122"/>
                          <a:cs typeface="+mn-cs"/>
                        </a:rPr>
                        <a:t>2</a:t>
                      </a:r>
                      <a:r>
                        <a:rPr lang="zh-CN" altLang="en-US" sz="1300" b="0" i="0" u="none" strike="noStrike" kern="1200">
                          <a:solidFill>
                            <a:srgbClr val="000000"/>
                          </a:solidFill>
                          <a:effectLst/>
                          <a:latin typeface="黑体" pitchFamily="2" charset="-122"/>
                          <a:ea typeface="黑体" pitchFamily="2" charset="-122"/>
                          <a:cs typeface="+mn-cs"/>
                        </a:rPr>
                        <a:t>、低层住宅</a:t>
                      </a:r>
                      <a:r>
                        <a:rPr lang="en-US" altLang="zh-CN" sz="1300" b="0" i="0" u="none" strike="noStrike" kern="1200">
                          <a:solidFill>
                            <a:srgbClr val="000000"/>
                          </a:solidFill>
                          <a:effectLst/>
                          <a:latin typeface="黑体" pitchFamily="2" charset="-122"/>
                          <a:ea typeface="黑体" pitchFamily="2" charset="-122"/>
                          <a:cs typeface="+mn-cs"/>
                        </a:rPr>
                        <a:t>3</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2016076</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5169.23</a:t>
                      </a:r>
                    </a:p>
                  </a:txBody>
                  <a:tcPr marL="9525" marR="9525" marT="9525" marB="0" anchor="ctr">
                    <a:solidFill>
                      <a:schemeClr val="tx2">
                        <a:lumMod val="20000"/>
                        <a:lumOff val="80000"/>
                      </a:schemeClr>
                    </a:solidFill>
                  </a:tcPr>
                </a:tc>
                <a:extLst>
                  <a:ext uri="{0D108BD9-81ED-4DB2-BD59-A6C34878D82A}">
                    <a16:rowId xmlns:a16="http://schemas.microsoft.com/office/drawing/2014/main" val="10003"/>
                  </a:ext>
                </a:extLst>
              </a:tr>
              <a:tr h="43200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凤凰城（海棠苑）</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20160825</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21</a:t>
                      </a:r>
                      <a:r>
                        <a:rPr lang="zh-CN" altLang="en-US" sz="1300" b="0" i="0" u="none" strike="noStrike" kern="1200">
                          <a:solidFill>
                            <a:srgbClr val="000000"/>
                          </a:solidFill>
                          <a:effectLst/>
                          <a:latin typeface="黑体" pitchFamily="2" charset="-122"/>
                          <a:ea typeface="黑体" pitchFamily="2" charset="-122"/>
                          <a:cs typeface="+mn-cs"/>
                        </a:rPr>
                        <a:t>号商住楼</a:t>
                      </a:r>
                      <a:r>
                        <a:rPr lang="en-US" altLang="zh-CN" sz="1300" b="0" i="0" u="none" strike="noStrike" kern="1200">
                          <a:solidFill>
                            <a:srgbClr val="000000"/>
                          </a:solidFill>
                          <a:effectLst/>
                          <a:latin typeface="黑体" pitchFamily="2" charset="-122"/>
                          <a:ea typeface="黑体" pitchFamily="2" charset="-122"/>
                          <a:cs typeface="+mn-cs"/>
                        </a:rPr>
                        <a:t>-22</a:t>
                      </a:r>
                      <a:r>
                        <a:rPr lang="zh-CN" altLang="en-US" sz="1300" b="0" i="0" u="none" strike="noStrike" kern="1200">
                          <a:solidFill>
                            <a:srgbClr val="000000"/>
                          </a:solidFill>
                          <a:effectLst/>
                          <a:latin typeface="黑体" pitchFamily="2" charset="-122"/>
                          <a:ea typeface="黑体" pitchFamily="2" charset="-122"/>
                          <a:cs typeface="+mn-cs"/>
                        </a:rPr>
                        <a:t>号楼</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2016077</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8574.17</a:t>
                      </a:r>
                    </a:p>
                  </a:txBody>
                  <a:tcPr marL="9525" marR="9525" marT="9525" marB="0" anchor="ctr">
                    <a:solidFill>
                      <a:schemeClr val="tx2">
                        <a:lumMod val="20000"/>
                        <a:lumOff val="80000"/>
                      </a:schemeClr>
                    </a:solidFill>
                  </a:tcPr>
                </a:tc>
                <a:extLst>
                  <a:ext uri="{0D108BD9-81ED-4DB2-BD59-A6C34878D82A}">
                    <a16:rowId xmlns:a16="http://schemas.microsoft.com/office/drawing/2014/main" val="10004"/>
                  </a:ext>
                </a:extLst>
              </a:tr>
              <a:tr h="43200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凤凰城（海棠苑）</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20160829</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23</a:t>
                      </a:r>
                      <a:r>
                        <a:rPr lang="zh-CN" altLang="en-US" sz="1300" b="0" i="0" u="none" strike="noStrike" kern="1200">
                          <a:solidFill>
                            <a:srgbClr val="000000"/>
                          </a:solidFill>
                          <a:effectLst/>
                          <a:latin typeface="黑体" pitchFamily="2" charset="-122"/>
                          <a:ea typeface="黑体" pitchFamily="2" charset="-122"/>
                          <a:cs typeface="+mn-cs"/>
                        </a:rPr>
                        <a:t>号楼</a:t>
                      </a:r>
                      <a:r>
                        <a:rPr lang="en-US" altLang="zh-CN" sz="1300" b="0" i="0" u="none" strike="noStrike" kern="1200">
                          <a:solidFill>
                            <a:srgbClr val="000000"/>
                          </a:solidFill>
                          <a:effectLst/>
                          <a:latin typeface="黑体" pitchFamily="2" charset="-122"/>
                          <a:ea typeface="黑体" pitchFamily="2" charset="-122"/>
                          <a:cs typeface="+mn-cs"/>
                        </a:rPr>
                        <a:t>-24</a:t>
                      </a:r>
                      <a:r>
                        <a:rPr lang="zh-CN" altLang="en-US" sz="1300" b="0" i="0" u="none" strike="noStrike" kern="1200">
                          <a:solidFill>
                            <a:srgbClr val="000000"/>
                          </a:solidFill>
                          <a:effectLst/>
                          <a:latin typeface="黑体" pitchFamily="2" charset="-122"/>
                          <a:ea typeface="黑体" pitchFamily="2" charset="-122"/>
                          <a:cs typeface="+mn-cs"/>
                        </a:rPr>
                        <a:t>号楼</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2016078</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8965.25</a:t>
                      </a:r>
                    </a:p>
                  </a:txBody>
                  <a:tcPr marL="9525" marR="9525" marT="9525" marB="0" anchor="ctr">
                    <a:solidFill>
                      <a:schemeClr val="tx2">
                        <a:lumMod val="20000"/>
                        <a:lumOff val="80000"/>
                      </a:schemeClr>
                    </a:solidFill>
                  </a:tcPr>
                </a:tc>
                <a:extLst>
                  <a:ext uri="{0D108BD9-81ED-4DB2-BD59-A6C34878D82A}">
                    <a16:rowId xmlns:a16="http://schemas.microsoft.com/office/drawing/2014/main" val="10005"/>
                  </a:ext>
                </a:extLst>
              </a:tr>
            </a:tbl>
          </a:graphicData>
        </a:graphic>
      </p:graphicFrame>
      <p:sp>
        <p:nvSpPr>
          <p:cNvPr id="6" name="标题 1"/>
          <p:cNvSpPr txBox="1">
            <a:spLocks/>
          </p:cNvSpPr>
          <p:nvPr/>
        </p:nvSpPr>
        <p:spPr>
          <a:xfrm>
            <a:off x="162371" y="33484"/>
            <a:ext cx="5462090" cy="474662"/>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2400" b="1" i="0" kern="1200">
                <a:solidFill>
                  <a:srgbClr val="404040"/>
                </a:solidFill>
                <a:latin typeface="Microsoft YaHei"/>
                <a:ea typeface="+mj-ea"/>
                <a:cs typeface="Microsoft YaHei"/>
              </a:defRPr>
            </a:lvl1pPr>
          </a:lstStyle>
          <a:p>
            <a:r>
              <a:rPr lang="zh-CN" altLang="en-US" dirty="0"/>
              <a:t>石家庄（主城区）</a:t>
            </a:r>
            <a:r>
              <a:rPr lang="en-US" altLang="zh-CN" dirty="0"/>
              <a:t>| </a:t>
            </a:r>
            <a:r>
              <a:rPr lang="zh-CN" altLang="en-US" sz="1800" dirty="0">
                <a:solidFill>
                  <a:schemeClr val="tx1">
                    <a:lumMod val="75000"/>
                    <a:lumOff val="25000"/>
                  </a:schemeClr>
                </a:solidFill>
              </a:rPr>
              <a:t>普通住宅市场</a:t>
            </a:r>
            <a:endParaRPr lang="zh-CN" altLang="en-US" dirty="0"/>
          </a:p>
        </p:txBody>
      </p:sp>
    </p:spTree>
    <p:extLst>
      <p:ext uri="{BB962C8B-B14F-4D97-AF65-F5344CB8AC3E}">
        <p14:creationId xmlns:p14="http://schemas.microsoft.com/office/powerpoint/2010/main" val="10776454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3E8B6F27-EC4F-B34E-9F32-10CC92E9AB18}" type="slidenum">
              <a:rPr lang="zh-CN" altLang="en-US" smtClean="0"/>
              <a:pPr>
                <a:defRPr/>
              </a:pPr>
              <a:t>40</a:t>
            </a:fld>
            <a:endParaRPr lang="zh-CN" altLang="en-US" dirty="0"/>
          </a:p>
        </p:txBody>
      </p:sp>
      <p:graphicFrame>
        <p:nvGraphicFramePr>
          <p:cNvPr id="5" name="表格 4"/>
          <p:cNvGraphicFramePr>
            <a:graphicFrameLocks noGrp="1"/>
          </p:cNvGraphicFramePr>
          <p:nvPr>
            <p:extLst>
              <p:ext uri="{D42A27DB-BD31-4B8C-83A1-F6EECF244321}">
                <p14:modId xmlns:p14="http://schemas.microsoft.com/office/powerpoint/2010/main" val="669047063"/>
              </p:ext>
            </p:extLst>
          </p:nvPr>
        </p:nvGraphicFramePr>
        <p:xfrm>
          <a:off x="1062999" y="973594"/>
          <a:ext cx="7091999" cy="2482793"/>
        </p:xfrm>
        <a:graphic>
          <a:graphicData uri="http://schemas.openxmlformats.org/drawingml/2006/table">
            <a:tbl>
              <a:tblPr>
                <a:tableStyleId>{5C22544A-7EE6-4342-B048-85BDC9FD1C3A}</a:tableStyleId>
              </a:tblPr>
              <a:tblGrid>
                <a:gridCol w="2230644">
                  <a:extLst>
                    <a:ext uri="{9D8B030D-6E8A-4147-A177-3AD203B41FA5}">
                      <a16:colId xmlns:a16="http://schemas.microsoft.com/office/drawing/2014/main" val="20000"/>
                    </a:ext>
                  </a:extLst>
                </a:gridCol>
                <a:gridCol w="715263">
                  <a:extLst>
                    <a:ext uri="{9D8B030D-6E8A-4147-A177-3AD203B41FA5}">
                      <a16:colId xmlns:a16="http://schemas.microsoft.com/office/drawing/2014/main" val="20001"/>
                    </a:ext>
                  </a:extLst>
                </a:gridCol>
                <a:gridCol w="1036523">
                  <a:extLst>
                    <a:ext uri="{9D8B030D-6E8A-4147-A177-3AD203B41FA5}">
                      <a16:colId xmlns:a16="http://schemas.microsoft.com/office/drawing/2014/main" val="20002"/>
                    </a:ext>
                  </a:extLst>
                </a:gridCol>
                <a:gridCol w="1036523">
                  <a:extLst>
                    <a:ext uri="{9D8B030D-6E8A-4147-A177-3AD203B41FA5}">
                      <a16:colId xmlns:a16="http://schemas.microsoft.com/office/drawing/2014/main" val="20003"/>
                    </a:ext>
                  </a:extLst>
                </a:gridCol>
                <a:gridCol w="1036523">
                  <a:extLst>
                    <a:ext uri="{9D8B030D-6E8A-4147-A177-3AD203B41FA5}">
                      <a16:colId xmlns:a16="http://schemas.microsoft.com/office/drawing/2014/main" val="20004"/>
                    </a:ext>
                  </a:extLst>
                </a:gridCol>
                <a:gridCol w="1036523">
                  <a:extLst>
                    <a:ext uri="{9D8B030D-6E8A-4147-A177-3AD203B41FA5}">
                      <a16:colId xmlns:a16="http://schemas.microsoft.com/office/drawing/2014/main" val="20005"/>
                    </a:ext>
                  </a:extLst>
                </a:gridCol>
              </a:tblGrid>
              <a:tr h="304800">
                <a:tc>
                  <a:txBody>
                    <a:bodyPr/>
                    <a:lstStyle/>
                    <a:p>
                      <a:pPr algn="ctr" rtl="0" fontAlgn="ctr"/>
                      <a:r>
                        <a:rPr lang="zh-CN" altLang="en-US" sz="1300" b="1" u="none" strike="noStrike" dirty="0">
                          <a:solidFill>
                            <a:schemeClr val="bg1"/>
                          </a:solidFill>
                          <a:effectLst/>
                          <a:latin typeface="微软雅黑" pitchFamily="34" charset="-122"/>
                          <a:ea typeface="微软雅黑" pitchFamily="34" charset="-122"/>
                        </a:rPr>
                        <a:t>项目名称</a:t>
                      </a:r>
                      <a:endParaRPr lang="zh-CN" altLang="en-US" sz="1300" b="1" i="0" u="none" strike="noStrike" dirty="0">
                        <a:solidFill>
                          <a:schemeClr val="bg1"/>
                        </a:solidFill>
                        <a:effectLst/>
                        <a:latin typeface="微软雅黑" pitchFamily="34" charset="-122"/>
                        <a:ea typeface="微软雅黑" pitchFamily="34" charset="-122"/>
                      </a:endParaRPr>
                    </a:p>
                  </a:txBody>
                  <a:tcPr marL="9525" marR="9525" marT="9525" marB="0" anchor="ctr">
                    <a:solidFill>
                      <a:schemeClr val="tx2">
                        <a:lumMod val="60000"/>
                        <a:lumOff val="40000"/>
                      </a:schemeClr>
                    </a:solidFill>
                  </a:tcPr>
                </a:tc>
                <a:tc>
                  <a:txBody>
                    <a:bodyPr/>
                    <a:lstStyle/>
                    <a:p>
                      <a:pPr algn="ctr" rtl="0" fontAlgn="ctr"/>
                      <a:r>
                        <a:rPr lang="zh-CN" altLang="en-US" sz="1300" b="1" u="none" strike="noStrike" dirty="0">
                          <a:solidFill>
                            <a:schemeClr val="bg1"/>
                          </a:solidFill>
                          <a:effectLst/>
                          <a:latin typeface="微软雅黑" pitchFamily="34" charset="-122"/>
                          <a:ea typeface="微软雅黑" pitchFamily="34" charset="-122"/>
                        </a:rPr>
                        <a:t>区县</a:t>
                      </a:r>
                      <a:endParaRPr lang="zh-CN" altLang="en-US" sz="1300" b="1" i="0" u="none" strike="noStrike" dirty="0">
                        <a:solidFill>
                          <a:schemeClr val="bg1"/>
                        </a:solidFill>
                        <a:effectLst/>
                        <a:latin typeface="微软雅黑" pitchFamily="34" charset="-122"/>
                        <a:ea typeface="微软雅黑" pitchFamily="34" charset="-122"/>
                      </a:endParaRPr>
                    </a:p>
                  </a:txBody>
                  <a:tcPr marL="9525" marR="9525" marT="9525" marB="0" anchor="ctr">
                    <a:solidFill>
                      <a:schemeClr val="tx2">
                        <a:lumMod val="60000"/>
                        <a:lumOff val="40000"/>
                      </a:schemeClr>
                    </a:solidFill>
                  </a:tcPr>
                </a:tc>
                <a:tc>
                  <a:txBody>
                    <a:bodyPr/>
                    <a:lstStyle/>
                    <a:p>
                      <a:pPr algn="ctr" rtl="0" fontAlgn="ctr"/>
                      <a:r>
                        <a:rPr lang="zh-CN" altLang="en-US" sz="1300" b="1" u="none" strike="noStrike" dirty="0">
                          <a:solidFill>
                            <a:schemeClr val="bg1"/>
                          </a:solidFill>
                          <a:effectLst/>
                          <a:latin typeface="微软雅黑" pitchFamily="34" charset="-122"/>
                          <a:ea typeface="微软雅黑" pitchFamily="34" charset="-122"/>
                        </a:rPr>
                        <a:t>成交套数</a:t>
                      </a:r>
                      <a:endParaRPr lang="en-US" altLang="zh-CN" sz="1300" b="1" u="none" strike="noStrike" dirty="0">
                        <a:solidFill>
                          <a:schemeClr val="bg1"/>
                        </a:solidFill>
                        <a:effectLst/>
                        <a:latin typeface="微软雅黑" pitchFamily="34" charset="-122"/>
                        <a:ea typeface="微软雅黑" pitchFamily="34" charset="-122"/>
                      </a:endParaRPr>
                    </a:p>
                    <a:p>
                      <a:pPr marL="0" marR="0" indent="0" algn="ctr" defTabSz="457200" rtl="0" eaLnBrk="1" fontAlgn="ctr" latinLnBrk="0" hangingPunct="1">
                        <a:lnSpc>
                          <a:spcPct val="100000"/>
                        </a:lnSpc>
                        <a:spcBef>
                          <a:spcPts val="0"/>
                        </a:spcBef>
                        <a:spcAft>
                          <a:spcPts val="0"/>
                        </a:spcAft>
                        <a:buClrTx/>
                        <a:buSzTx/>
                        <a:buFontTx/>
                        <a:buNone/>
                        <a:tabLst/>
                        <a:defRPr/>
                      </a:pPr>
                      <a:r>
                        <a:rPr lang="zh-CN" altLang="en-US" sz="1300" b="1" u="none" strike="noStrike" dirty="0">
                          <a:solidFill>
                            <a:schemeClr val="bg1"/>
                          </a:solidFill>
                          <a:effectLst/>
                          <a:latin typeface="微软雅黑" pitchFamily="34" charset="-122"/>
                          <a:ea typeface="微软雅黑" pitchFamily="34" charset="-122"/>
                        </a:rPr>
                        <a:t>（套）</a:t>
                      </a:r>
                      <a:r>
                        <a:rPr lang="zh-CN" altLang="en-US" sz="1300" b="1" u="none" strike="noStrike" dirty="0">
                          <a:solidFill>
                            <a:schemeClr val="bg1"/>
                          </a:solidFill>
                          <a:effectLst/>
                          <a:latin typeface="+mn-ea"/>
                          <a:ea typeface="+mn-ea"/>
                        </a:rPr>
                        <a:t>↓</a:t>
                      </a:r>
                      <a:endParaRPr lang="zh-CN" altLang="en-US" sz="1300" b="1" i="0" u="none" strike="noStrike" dirty="0">
                        <a:solidFill>
                          <a:schemeClr val="bg1"/>
                        </a:solidFill>
                        <a:effectLst/>
                        <a:latin typeface="+mn-ea"/>
                        <a:ea typeface="+mn-ea"/>
                      </a:endParaRPr>
                    </a:p>
                  </a:txBody>
                  <a:tcPr marL="9525" marR="9525" marT="9525" marB="0" anchor="ctr">
                    <a:solidFill>
                      <a:schemeClr val="tx2">
                        <a:lumMod val="60000"/>
                        <a:lumOff val="40000"/>
                      </a:schemeClr>
                    </a:solidFill>
                  </a:tcPr>
                </a:tc>
                <a:tc>
                  <a:txBody>
                    <a:bodyPr/>
                    <a:lstStyle/>
                    <a:p>
                      <a:pPr algn="ctr" rtl="0" fontAlgn="ctr"/>
                      <a:r>
                        <a:rPr lang="zh-CN" altLang="en-US" sz="1300" b="1" u="none" strike="noStrike" dirty="0">
                          <a:solidFill>
                            <a:schemeClr val="bg1"/>
                          </a:solidFill>
                          <a:effectLst/>
                          <a:latin typeface="微软雅黑" pitchFamily="34" charset="-122"/>
                          <a:ea typeface="微软雅黑" pitchFamily="34" charset="-122"/>
                        </a:rPr>
                        <a:t>成交面积</a:t>
                      </a:r>
                      <a:endParaRPr lang="en-US" altLang="zh-CN" sz="1300" b="1" u="none" strike="noStrike" dirty="0">
                        <a:solidFill>
                          <a:schemeClr val="bg1"/>
                        </a:solidFill>
                        <a:effectLst/>
                        <a:latin typeface="微软雅黑" pitchFamily="34" charset="-122"/>
                        <a:ea typeface="微软雅黑" pitchFamily="34" charset="-122"/>
                      </a:endParaRPr>
                    </a:p>
                    <a:p>
                      <a:pPr algn="ctr" rtl="0" fontAlgn="ctr"/>
                      <a:r>
                        <a:rPr lang="zh-CN" altLang="en-US" sz="1300" b="1" u="none" strike="noStrike" dirty="0">
                          <a:solidFill>
                            <a:schemeClr val="bg1"/>
                          </a:solidFill>
                          <a:effectLst/>
                          <a:latin typeface="微软雅黑" pitchFamily="34" charset="-122"/>
                          <a:ea typeface="微软雅黑" pitchFamily="34" charset="-122"/>
                        </a:rPr>
                        <a:t>（万㎡）</a:t>
                      </a:r>
                      <a:endParaRPr lang="zh-CN" altLang="en-US" sz="1300" b="1" i="0" u="none" strike="noStrike" dirty="0">
                        <a:solidFill>
                          <a:schemeClr val="bg1"/>
                        </a:solidFill>
                        <a:effectLst/>
                        <a:latin typeface="微软雅黑" pitchFamily="34" charset="-122"/>
                        <a:ea typeface="微软雅黑" pitchFamily="34" charset="-122"/>
                      </a:endParaRPr>
                    </a:p>
                  </a:txBody>
                  <a:tcPr marL="9525" marR="9525" marT="9525" marB="0" anchor="ctr">
                    <a:solidFill>
                      <a:schemeClr val="tx2">
                        <a:lumMod val="60000"/>
                        <a:lumOff val="40000"/>
                      </a:schemeClr>
                    </a:solidFill>
                  </a:tcPr>
                </a:tc>
                <a:tc>
                  <a:txBody>
                    <a:bodyPr/>
                    <a:lstStyle/>
                    <a:p>
                      <a:pPr algn="ctr" rtl="0" fontAlgn="b"/>
                      <a:r>
                        <a:rPr lang="zh-CN" altLang="en-US" sz="1300" b="1" u="none" strike="noStrike" dirty="0">
                          <a:solidFill>
                            <a:schemeClr val="bg1"/>
                          </a:solidFill>
                          <a:effectLst/>
                          <a:latin typeface="微软雅黑" pitchFamily="34" charset="-122"/>
                          <a:ea typeface="微软雅黑" pitchFamily="34" charset="-122"/>
                        </a:rPr>
                        <a:t>成交单价</a:t>
                      </a:r>
                      <a:endParaRPr lang="en-US" altLang="zh-CN" sz="1300" b="1" u="none" strike="noStrike" dirty="0">
                        <a:solidFill>
                          <a:schemeClr val="bg1"/>
                        </a:solidFill>
                        <a:effectLst/>
                        <a:latin typeface="微软雅黑" pitchFamily="34" charset="-122"/>
                        <a:ea typeface="微软雅黑" pitchFamily="34" charset="-122"/>
                      </a:endParaRPr>
                    </a:p>
                    <a:p>
                      <a:pPr algn="ctr" rtl="0" fontAlgn="b"/>
                      <a:r>
                        <a:rPr lang="zh-CN" altLang="en-US" sz="1300" b="1" u="none" strike="noStrike" dirty="0">
                          <a:solidFill>
                            <a:schemeClr val="bg1"/>
                          </a:solidFill>
                          <a:effectLst/>
                          <a:latin typeface="微软雅黑" pitchFamily="34" charset="-122"/>
                          <a:ea typeface="微软雅黑" pitchFamily="34" charset="-122"/>
                        </a:rPr>
                        <a:t>（元</a:t>
                      </a:r>
                      <a:r>
                        <a:rPr lang="en-US" altLang="zh-CN" sz="1300" b="1" u="none" strike="noStrike" dirty="0">
                          <a:solidFill>
                            <a:schemeClr val="bg1"/>
                          </a:solidFill>
                          <a:effectLst/>
                          <a:latin typeface="微软雅黑" pitchFamily="34" charset="-122"/>
                          <a:ea typeface="微软雅黑" pitchFamily="34" charset="-122"/>
                        </a:rPr>
                        <a:t>/㎡</a:t>
                      </a:r>
                      <a:r>
                        <a:rPr lang="zh-CN" altLang="en-US" sz="1300" b="1" u="none" strike="noStrike" dirty="0">
                          <a:solidFill>
                            <a:schemeClr val="bg1"/>
                          </a:solidFill>
                          <a:effectLst/>
                          <a:latin typeface="微软雅黑" pitchFamily="34" charset="-122"/>
                          <a:ea typeface="微软雅黑" pitchFamily="34" charset="-122"/>
                        </a:rPr>
                        <a:t>）</a:t>
                      </a:r>
                      <a:endParaRPr lang="zh-CN" altLang="en-US" sz="1300" b="1" i="0" u="none" strike="noStrike" dirty="0">
                        <a:solidFill>
                          <a:schemeClr val="bg1"/>
                        </a:solidFill>
                        <a:effectLst/>
                        <a:latin typeface="微软雅黑" pitchFamily="34" charset="-122"/>
                        <a:ea typeface="微软雅黑" pitchFamily="34" charset="-122"/>
                      </a:endParaRPr>
                    </a:p>
                  </a:txBody>
                  <a:tcPr marL="9525" marR="9525" marT="9525" marB="0" anchor="ctr">
                    <a:solidFill>
                      <a:schemeClr val="tx2">
                        <a:lumMod val="60000"/>
                        <a:lumOff val="40000"/>
                      </a:schemeClr>
                    </a:solidFill>
                  </a:tcPr>
                </a:tc>
                <a:tc>
                  <a:txBody>
                    <a:bodyPr/>
                    <a:lstStyle/>
                    <a:p>
                      <a:pPr algn="ctr" rtl="0" fontAlgn="b"/>
                      <a:r>
                        <a:rPr lang="zh-CN" altLang="en-US" sz="1300" b="1" u="none" strike="noStrike" dirty="0">
                          <a:solidFill>
                            <a:schemeClr val="bg1"/>
                          </a:solidFill>
                          <a:effectLst/>
                          <a:latin typeface="微软雅黑" pitchFamily="34" charset="-122"/>
                          <a:ea typeface="微软雅黑" pitchFamily="34" charset="-122"/>
                        </a:rPr>
                        <a:t>成交总额</a:t>
                      </a:r>
                      <a:endParaRPr lang="en-US" altLang="zh-CN" sz="1300" b="1" u="none" strike="noStrike" dirty="0">
                        <a:solidFill>
                          <a:schemeClr val="bg1"/>
                        </a:solidFill>
                        <a:effectLst/>
                        <a:latin typeface="微软雅黑" pitchFamily="34" charset="-122"/>
                        <a:ea typeface="微软雅黑" pitchFamily="34" charset="-122"/>
                      </a:endParaRPr>
                    </a:p>
                    <a:p>
                      <a:pPr algn="ctr" rtl="0" fontAlgn="b"/>
                      <a:r>
                        <a:rPr lang="zh-CN" altLang="en-US" sz="1300" b="1" u="none" strike="noStrike" dirty="0">
                          <a:solidFill>
                            <a:schemeClr val="bg1"/>
                          </a:solidFill>
                          <a:effectLst/>
                          <a:latin typeface="微软雅黑" pitchFamily="34" charset="-122"/>
                          <a:ea typeface="微软雅黑" pitchFamily="34" charset="-122"/>
                        </a:rPr>
                        <a:t>（亿元）</a:t>
                      </a:r>
                      <a:endParaRPr lang="zh-CN" altLang="en-US" sz="1300" b="1" i="0" u="none" strike="noStrike" dirty="0">
                        <a:solidFill>
                          <a:schemeClr val="bg1"/>
                        </a:solidFill>
                        <a:effectLst/>
                        <a:latin typeface="微软雅黑" pitchFamily="34" charset="-122"/>
                        <a:ea typeface="微软雅黑" pitchFamily="34" charset="-122"/>
                      </a:endParaRPr>
                    </a:p>
                  </a:txBody>
                  <a:tcPr marL="9525" marR="9525" marT="9525" marB="0" anchor="ctr">
                    <a:solidFill>
                      <a:schemeClr val="tx2">
                        <a:lumMod val="60000"/>
                        <a:lumOff val="40000"/>
                      </a:schemeClr>
                    </a:solidFill>
                  </a:tcPr>
                </a:tc>
                <a:extLst>
                  <a:ext uri="{0D108BD9-81ED-4DB2-BD59-A6C34878D82A}">
                    <a16:rowId xmlns:a16="http://schemas.microsoft.com/office/drawing/2014/main" val="10000"/>
                  </a:ext>
                </a:extLst>
              </a:tr>
              <a:tr h="208223">
                <a:tc>
                  <a:txBody>
                    <a:bodyPr/>
                    <a:lstStyle/>
                    <a:p>
                      <a:pPr algn="ctr" fontAlgn="ctr"/>
                      <a:r>
                        <a:rPr lang="zh-CN" altLang="en-US" sz="1300" b="0" i="0" u="none" strike="noStrike" kern="1200" dirty="0">
                          <a:solidFill>
                            <a:srgbClr val="000000"/>
                          </a:solidFill>
                          <a:effectLst/>
                          <a:latin typeface="+mn-ea"/>
                          <a:ea typeface="+mn-ea"/>
                          <a:cs typeface="+mn-cs"/>
                        </a:rPr>
                        <a:t>林荫大院</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dirty="0">
                          <a:solidFill>
                            <a:srgbClr val="000000"/>
                          </a:solidFill>
                          <a:effectLst/>
                          <a:latin typeface="+mn-ea"/>
                          <a:ea typeface="+mn-ea"/>
                          <a:cs typeface="+mn-cs"/>
                        </a:rPr>
                        <a:t>新华</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359</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4.12</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9985</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4.11</a:t>
                      </a:r>
                    </a:p>
                  </a:txBody>
                  <a:tcPr marL="9525" marR="9525" marT="9525" marB="0" anchor="ctr">
                    <a:solidFill>
                      <a:schemeClr val="tx2">
                        <a:lumMod val="20000"/>
                        <a:lumOff val="80000"/>
                      </a:schemeClr>
                    </a:solidFill>
                  </a:tcPr>
                </a:tc>
                <a:extLst>
                  <a:ext uri="{0D108BD9-81ED-4DB2-BD59-A6C34878D82A}">
                    <a16:rowId xmlns:a16="http://schemas.microsoft.com/office/drawing/2014/main" val="10001"/>
                  </a:ext>
                </a:extLst>
              </a:tr>
              <a:tr h="171450">
                <a:tc>
                  <a:txBody>
                    <a:bodyPr/>
                    <a:lstStyle/>
                    <a:p>
                      <a:pPr algn="ctr" fontAlgn="ctr"/>
                      <a:r>
                        <a:rPr lang="zh-CN" altLang="en-US" sz="1300" b="0" i="0" u="none" strike="noStrike" kern="1200">
                          <a:solidFill>
                            <a:srgbClr val="000000"/>
                          </a:solidFill>
                          <a:effectLst/>
                          <a:latin typeface="+mn-ea"/>
                          <a:ea typeface="+mn-ea"/>
                          <a:cs typeface="+mn-cs"/>
                        </a:rPr>
                        <a:t>锦融尚御</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mn-ea"/>
                          <a:ea typeface="+mn-ea"/>
                          <a:cs typeface="+mn-cs"/>
                        </a:rPr>
                        <a:t>长安</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232</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2.39</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6777</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1.62</a:t>
                      </a:r>
                    </a:p>
                  </a:txBody>
                  <a:tcPr marL="9525" marR="9525" marT="9525" marB="0" anchor="ctr">
                    <a:solidFill>
                      <a:schemeClr val="tx2">
                        <a:lumMod val="20000"/>
                        <a:lumOff val="80000"/>
                      </a:schemeClr>
                    </a:solidFill>
                  </a:tcPr>
                </a:tc>
                <a:extLst>
                  <a:ext uri="{0D108BD9-81ED-4DB2-BD59-A6C34878D82A}">
                    <a16:rowId xmlns:a16="http://schemas.microsoft.com/office/drawing/2014/main" val="10002"/>
                  </a:ext>
                </a:extLst>
              </a:tr>
              <a:tr h="171450">
                <a:tc>
                  <a:txBody>
                    <a:bodyPr/>
                    <a:lstStyle/>
                    <a:p>
                      <a:pPr algn="ctr" fontAlgn="ctr"/>
                      <a:r>
                        <a:rPr lang="zh-CN" altLang="en-US" sz="1300" b="0" i="0" u="none" strike="noStrike" kern="1200">
                          <a:solidFill>
                            <a:srgbClr val="000000"/>
                          </a:solidFill>
                          <a:effectLst/>
                          <a:latin typeface="+mn-ea"/>
                          <a:ea typeface="+mn-ea"/>
                          <a:cs typeface="+mn-cs"/>
                        </a:rPr>
                        <a:t>瑞城</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mn-ea"/>
                          <a:ea typeface="+mn-ea"/>
                          <a:cs typeface="+mn-cs"/>
                        </a:rPr>
                        <a:t>长安</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223</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2.53</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7796</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1.97</a:t>
                      </a:r>
                    </a:p>
                  </a:txBody>
                  <a:tcPr marL="9525" marR="9525" marT="9525" marB="0" anchor="ctr">
                    <a:solidFill>
                      <a:schemeClr val="tx2">
                        <a:lumMod val="20000"/>
                        <a:lumOff val="80000"/>
                      </a:schemeClr>
                    </a:solidFill>
                  </a:tcPr>
                </a:tc>
                <a:extLst>
                  <a:ext uri="{0D108BD9-81ED-4DB2-BD59-A6C34878D82A}">
                    <a16:rowId xmlns:a16="http://schemas.microsoft.com/office/drawing/2014/main" val="10003"/>
                  </a:ext>
                </a:extLst>
              </a:tr>
              <a:tr h="171450">
                <a:tc>
                  <a:txBody>
                    <a:bodyPr/>
                    <a:lstStyle/>
                    <a:p>
                      <a:pPr algn="ctr" fontAlgn="ctr"/>
                      <a:r>
                        <a:rPr lang="zh-CN" altLang="en-US" sz="1300" b="0" i="0" u="none" strike="noStrike" kern="1200">
                          <a:solidFill>
                            <a:srgbClr val="000000"/>
                          </a:solidFill>
                          <a:effectLst/>
                          <a:latin typeface="+mn-ea"/>
                          <a:ea typeface="+mn-ea"/>
                          <a:cs typeface="+mn-cs"/>
                        </a:rPr>
                        <a:t>紫晶悦城</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mn-ea"/>
                          <a:ea typeface="+mn-ea"/>
                          <a:cs typeface="+mn-cs"/>
                        </a:rPr>
                        <a:t>长安</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222</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2.24</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6570</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1.47</a:t>
                      </a:r>
                    </a:p>
                  </a:txBody>
                  <a:tcPr marL="9525" marR="9525" marT="9525" marB="0" anchor="ctr">
                    <a:solidFill>
                      <a:schemeClr val="tx2">
                        <a:lumMod val="20000"/>
                        <a:lumOff val="80000"/>
                      </a:schemeClr>
                    </a:solidFill>
                  </a:tcPr>
                </a:tc>
                <a:extLst>
                  <a:ext uri="{0D108BD9-81ED-4DB2-BD59-A6C34878D82A}">
                    <a16:rowId xmlns:a16="http://schemas.microsoft.com/office/drawing/2014/main" val="10004"/>
                  </a:ext>
                </a:extLst>
              </a:tr>
              <a:tr h="171450">
                <a:tc>
                  <a:txBody>
                    <a:bodyPr/>
                    <a:lstStyle/>
                    <a:p>
                      <a:pPr algn="ctr" fontAlgn="ctr"/>
                      <a:r>
                        <a:rPr lang="zh-CN" altLang="en-US" sz="1300" b="0" i="0" u="none" strike="noStrike" kern="1200">
                          <a:solidFill>
                            <a:srgbClr val="000000"/>
                          </a:solidFill>
                          <a:effectLst/>
                          <a:latin typeface="+mn-ea"/>
                          <a:ea typeface="+mn-ea"/>
                          <a:cs typeface="+mn-cs"/>
                        </a:rPr>
                        <a:t>天洲视界城</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mn-ea"/>
                          <a:ea typeface="+mn-ea"/>
                          <a:cs typeface="+mn-cs"/>
                        </a:rPr>
                        <a:t>长安</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184</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2.04</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5749</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1.17</a:t>
                      </a:r>
                    </a:p>
                  </a:txBody>
                  <a:tcPr marL="9525" marR="9525" marT="9525" marB="0" anchor="ctr">
                    <a:solidFill>
                      <a:schemeClr val="tx2">
                        <a:lumMod val="20000"/>
                        <a:lumOff val="80000"/>
                      </a:schemeClr>
                    </a:solidFill>
                  </a:tcPr>
                </a:tc>
                <a:extLst>
                  <a:ext uri="{0D108BD9-81ED-4DB2-BD59-A6C34878D82A}">
                    <a16:rowId xmlns:a16="http://schemas.microsoft.com/office/drawing/2014/main" val="10005"/>
                  </a:ext>
                </a:extLst>
              </a:tr>
              <a:tr h="171450">
                <a:tc>
                  <a:txBody>
                    <a:bodyPr/>
                    <a:lstStyle/>
                    <a:p>
                      <a:pPr algn="ctr" fontAlgn="ctr"/>
                      <a:r>
                        <a:rPr lang="zh-CN" altLang="en-US" sz="1300" b="0" i="0" u="none" strike="noStrike" kern="1200">
                          <a:solidFill>
                            <a:srgbClr val="000000"/>
                          </a:solidFill>
                          <a:effectLst/>
                          <a:latin typeface="+mn-ea"/>
                          <a:ea typeface="+mn-ea"/>
                          <a:cs typeface="+mn-cs"/>
                        </a:rPr>
                        <a:t>博雅盛世</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mn-ea"/>
                          <a:ea typeface="+mn-ea"/>
                          <a:cs typeface="+mn-cs"/>
                        </a:rPr>
                        <a:t>长安</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143</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1.32</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6264</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0.83</a:t>
                      </a:r>
                    </a:p>
                  </a:txBody>
                  <a:tcPr marL="9525" marR="9525" marT="9525" marB="0" anchor="ctr">
                    <a:solidFill>
                      <a:schemeClr val="tx2">
                        <a:lumMod val="20000"/>
                        <a:lumOff val="80000"/>
                      </a:schemeClr>
                    </a:solidFill>
                  </a:tcPr>
                </a:tc>
                <a:extLst>
                  <a:ext uri="{0D108BD9-81ED-4DB2-BD59-A6C34878D82A}">
                    <a16:rowId xmlns:a16="http://schemas.microsoft.com/office/drawing/2014/main" val="10006"/>
                  </a:ext>
                </a:extLst>
              </a:tr>
              <a:tr h="171450">
                <a:tc>
                  <a:txBody>
                    <a:bodyPr/>
                    <a:lstStyle/>
                    <a:p>
                      <a:pPr algn="ctr" fontAlgn="ctr"/>
                      <a:r>
                        <a:rPr lang="zh-CN" altLang="en-US" sz="1300" b="0" i="0" u="none" strike="noStrike" kern="1200">
                          <a:solidFill>
                            <a:srgbClr val="000000"/>
                          </a:solidFill>
                          <a:effectLst/>
                          <a:latin typeface="+mn-ea"/>
                          <a:ea typeface="+mn-ea"/>
                          <a:cs typeface="+mn-cs"/>
                        </a:rPr>
                        <a:t>汇君城</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mn-ea"/>
                          <a:ea typeface="+mn-ea"/>
                          <a:cs typeface="+mn-cs"/>
                        </a:rPr>
                        <a:t>新华</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137</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1.54</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9590</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1.48</a:t>
                      </a:r>
                    </a:p>
                  </a:txBody>
                  <a:tcPr marL="9525" marR="9525" marT="9525" marB="0" anchor="ctr">
                    <a:solidFill>
                      <a:schemeClr val="tx2">
                        <a:lumMod val="20000"/>
                        <a:lumOff val="80000"/>
                      </a:schemeClr>
                    </a:solidFill>
                  </a:tcPr>
                </a:tc>
                <a:extLst>
                  <a:ext uri="{0D108BD9-81ED-4DB2-BD59-A6C34878D82A}">
                    <a16:rowId xmlns:a16="http://schemas.microsoft.com/office/drawing/2014/main" val="10007"/>
                  </a:ext>
                </a:extLst>
              </a:tr>
              <a:tr h="171450">
                <a:tc>
                  <a:txBody>
                    <a:bodyPr/>
                    <a:lstStyle/>
                    <a:p>
                      <a:pPr algn="ctr" fontAlgn="ctr"/>
                      <a:r>
                        <a:rPr lang="zh-CN" altLang="en-US" sz="1300" b="0" i="0" u="none" strike="noStrike" kern="1200">
                          <a:solidFill>
                            <a:srgbClr val="000000"/>
                          </a:solidFill>
                          <a:effectLst/>
                          <a:latin typeface="+mn-ea"/>
                          <a:ea typeface="+mn-ea"/>
                          <a:cs typeface="+mn-cs"/>
                        </a:rPr>
                        <a:t>云棠家园</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dirty="0">
                          <a:solidFill>
                            <a:srgbClr val="000000"/>
                          </a:solidFill>
                          <a:effectLst/>
                          <a:latin typeface="+mn-ea"/>
                          <a:ea typeface="+mn-ea"/>
                          <a:cs typeface="+mn-cs"/>
                        </a:rPr>
                        <a:t>长安</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125</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1.27</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9036</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1.15</a:t>
                      </a:r>
                    </a:p>
                  </a:txBody>
                  <a:tcPr marL="9525" marR="9525" marT="9525" marB="0" anchor="ctr">
                    <a:solidFill>
                      <a:schemeClr val="tx2">
                        <a:lumMod val="20000"/>
                        <a:lumOff val="80000"/>
                      </a:schemeClr>
                    </a:solidFill>
                  </a:tcPr>
                </a:tc>
                <a:extLst>
                  <a:ext uri="{0D108BD9-81ED-4DB2-BD59-A6C34878D82A}">
                    <a16:rowId xmlns:a16="http://schemas.microsoft.com/office/drawing/2014/main" val="10008"/>
                  </a:ext>
                </a:extLst>
              </a:tr>
              <a:tr h="171450">
                <a:tc>
                  <a:txBody>
                    <a:bodyPr/>
                    <a:lstStyle/>
                    <a:p>
                      <a:pPr algn="ctr" fontAlgn="ctr"/>
                      <a:r>
                        <a:rPr lang="zh-CN" altLang="en-US" sz="1300" b="0" i="0" u="none" strike="noStrike" kern="1200">
                          <a:solidFill>
                            <a:srgbClr val="000000"/>
                          </a:solidFill>
                          <a:effectLst/>
                          <a:latin typeface="+mn-ea"/>
                          <a:ea typeface="+mn-ea"/>
                          <a:cs typeface="+mn-cs"/>
                        </a:rPr>
                        <a:t>众美凤凰城</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mn-ea"/>
                          <a:ea typeface="+mn-ea"/>
                          <a:cs typeface="+mn-cs"/>
                        </a:rPr>
                        <a:t>新华</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122</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0.83</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13345</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1.11</a:t>
                      </a:r>
                    </a:p>
                  </a:txBody>
                  <a:tcPr marL="9525" marR="9525" marT="9525" marB="0" anchor="ctr">
                    <a:solidFill>
                      <a:schemeClr val="tx2">
                        <a:lumMod val="20000"/>
                        <a:lumOff val="80000"/>
                      </a:schemeClr>
                    </a:solidFill>
                  </a:tcPr>
                </a:tc>
                <a:extLst>
                  <a:ext uri="{0D108BD9-81ED-4DB2-BD59-A6C34878D82A}">
                    <a16:rowId xmlns:a16="http://schemas.microsoft.com/office/drawing/2014/main" val="10009"/>
                  </a:ext>
                </a:extLst>
              </a:tr>
              <a:tr h="171450">
                <a:tc>
                  <a:txBody>
                    <a:bodyPr/>
                    <a:lstStyle/>
                    <a:p>
                      <a:pPr algn="ctr" fontAlgn="ctr"/>
                      <a:r>
                        <a:rPr lang="zh-CN" altLang="en-US" sz="1300" b="0" i="0" u="none" strike="noStrike" kern="1200">
                          <a:solidFill>
                            <a:srgbClr val="000000"/>
                          </a:solidFill>
                          <a:effectLst/>
                          <a:latin typeface="+mn-ea"/>
                          <a:ea typeface="+mn-ea"/>
                          <a:cs typeface="+mn-cs"/>
                        </a:rPr>
                        <a:t>天阳御珑湾</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mn-ea"/>
                          <a:ea typeface="+mn-ea"/>
                          <a:cs typeface="+mn-cs"/>
                        </a:rPr>
                        <a:t>裕华</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118</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4.08</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10552</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4.30</a:t>
                      </a:r>
                    </a:p>
                  </a:txBody>
                  <a:tcPr marL="9525" marR="9525" marT="9525" marB="0" anchor="ctr">
                    <a:solidFill>
                      <a:schemeClr val="tx2">
                        <a:lumMod val="20000"/>
                        <a:lumOff val="80000"/>
                      </a:schemeClr>
                    </a:solidFill>
                  </a:tcPr>
                </a:tc>
                <a:extLst>
                  <a:ext uri="{0D108BD9-81ED-4DB2-BD59-A6C34878D82A}">
                    <a16:rowId xmlns:a16="http://schemas.microsoft.com/office/drawing/2014/main" val="10010"/>
                  </a:ext>
                </a:extLst>
              </a:tr>
            </a:tbl>
          </a:graphicData>
        </a:graphic>
      </p:graphicFrame>
      <p:graphicFrame>
        <p:nvGraphicFramePr>
          <p:cNvPr id="7" name="表格 6"/>
          <p:cNvGraphicFramePr>
            <a:graphicFrameLocks noGrp="1"/>
          </p:cNvGraphicFramePr>
          <p:nvPr>
            <p:extLst>
              <p:ext uri="{D42A27DB-BD31-4B8C-83A1-F6EECF244321}">
                <p14:modId xmlns:p14="http://schemas.microsoft.com/office/powerpoint/2010/main" val="276608947"/>
              </p:ext>
            </p:extLst>
          </p:nvPr>
        </p:nvGraphicFramePr>
        <p:xfrm>
          <a:off x="1061857" y="4001310"/>
          <a:ext cx="7090227" cy="2680913"/>
        </p:xfrm>
        <a:graphic>
          <a:graphicData uri="http://schemas.openxmlformats.org/drawingml/2006/table">
            <a:tbl>
              <a:tblPr>
                <a:tableStyleId>{5C22544A-7EE6-4342-B048-85BDC9FD1C3A}</a:tableStyleId>
              </a:tblPr>
              <a:tblGrid>
                <a:gridCol w="2251359">
                  <a:extLst>
                    <a:ext uri="{9D8B030D-6E8A-4147-A177-3AD203B41FA5}">
                      <a16:colId xmlns:a16="http://schemas.microsoft.com/office/drawing/2014/main" val="20000"/>
                    </a:ext>
                  </a:extLst>
                </a:gridCol>
                <a:gridCol w="760020">
                  <a:extLst>
                    <a:ext uri="{9D8B030D-6E8A-4147-A177-3AD203B41FA5}">
                      <a16:colId xmlns:a16="http://schemas.microsoft.com/office/drawing/2014/main" val="20001"/>
                    </a:ext>
                  </a:extLst>
                </a:gridCol>
                <a:gridCol w="961902">
                  <a:extLst>
                    <a:ext uri="{9D8B030D-6E8A-4147-A177-3AD203B41FA5}">
                      <a16:colId xmlns:a16="http://schemas.microsoft.com/office/drawing/2014/main" val="20002"/>
                    </a:ext>
                  </a:extLst>
                </a:gridCol>
                <a:gridCol w="1045028">
                  <a:extLst>
                    <a:ext uri="{9D8B030D-6E8A-4147-A177-3AD203B41FA5}">
                      <a16:colId xmlns:a16="http://schemas.microsoft.com/office/drawing/2014/main" val="20003"/>
                    </a:ext>
                  </a:extLst>
                </a:gridCol>
                <a:gridCol w="1021278">
                  <a:extLst>
                    <a:ext uri="{9D8B030D-6E8A-4147-A177-3AD203B41FA5}">
                      <a16:colId xmlns:a16="http://schemas.microsoft.com/office/drawing/2014/main" val="20004"/>
                    </a:ext>
                  </a:extLst>
                </a:gridCol>
                <a:gridCol w="1050640">
                  <a:extLst>
                    <a:ext uri="{9D8B030D-6E8A-4147-A177-3AD203B41FA5}">
                      <a16:colId xmlns:a16="http://schemas.microsoft.com/office/drawing/2014/main" val="20005"/>
                    </a:ext>
                  </a:extLst>
                </a:gridCol>
              </a:tblGrid>
              <a:tr h="304800">
                <a:tc>
                  <a:txBody>
                    <a:bodyPr/>
                    <a:lstStyle/>
                    <a:p>
                      <a:pPr algn="ctr" rtl="0" fontAlgn="ctr"/>
                      <a:r>
                        <a:rPr lang="zh-CN" altLang="en-US" sz="1300" b="1" u="none" strike="noStrike" dirty="0">
                          <a:solidFill>
                            <a:schemeClr val="bg1"/>
                          </a:solidFill>
                          <a:effectLst/>
                          <a:latin typeface="+mn-ea"/>
                          <a:ea typeface="+mn-ea"/>
                        </a:rPr>
                        <a:t>项目名称</a:t>
                      </a:r>
                      <a:endParaRPr lang="zh-CN" altLang="en-US" sz="1300" b="1" i="0" u="none" strike="noStrike" dirty="0">
                        <a:solidFill>
                          <a:schemeClr val="bg1"/>
                        </a:solidFill>
                        <a:effectLst/>
                        <a:latin typeface="+mn-ea"/>
                        <a:ea typeface="+mn-ea"/>
                      </a:endParaRPr>
                    </a:p>
                  </a:txBody>
                  <a:tcPr marL="9525" marR="9525" marT="9525" marB="0" anchor="ctr">
                    <a:solidFill>
                      <a:schemeClr val="tx2">
                        <a:lumMod val="60000"/>
                        <a:lumOff val="40000"/>
                      </a:schemeClr>
                    </a:solidFill>
                  </a:tcPr>
                </a:tc>
                <a:tc>
                  <a:txBody>
                    <a:bodyPr/>
                    <a:lstStyle/>
                    <a:p>
                      <a:pPr algn="ctr" rtl="0" fontAlgn="ctr"/>
                      <a:r>
                        <a:rPr lang="zh-CN" altLang="en-US" sz="1300" b="1" u="none" strike="noStrike" dirty="0">
                          <a:solidFill>
                            <a:schemeClr val="bg1"/>
                          </a:solidFill>
                          <a:effectLst/>
                          <a:latin typeface="+mn-ea"/>
                          <a:ea typeface="+mn-ea"/>
                        </a:rPr>
                        <a:t>区县</a:t>
                      </a:r>
                      <a:endParaRPr lang="zh-CN" altLang="en-US" sz="1300" b="1" i="0" u="none" strike="noStrike" dirty="0">
                        <a:solidFill>
                          <a:schemeClr val="bg1"/>
                        </a:solidFill>
                        <a:effectLst/>
                        <a:latin typeface="+mn-ea"/>
                        <a:ea typeface="+mn-ea"/>
                      </a:endParaRPr>
                    </a:p>
                  </a:txBody>
                  <a:tcPr marL="9525" marR="9525" marT="9525" marB="0" anchor="ctr">
                    <a:solidFill>
                      <a:schemeClr val="tx2">
                        <a:lumMod val="60000"/>
                        <a:lumOff val="40000"/>
                      </a:schemeClr>
                    </a:solidFill>
                  </a:tcPr>
                </a:tc>
                <a:tc>
                  <a:txBody>
                    <a:bodyPr/>
                    <a:lstStyle/>
                    <a:p>
                      <a:pPr algn="ctr" rtl="0" fontAlgn="ctr"/>
                      <a:r>
                        <a:rPr lang="zh-CN" altLang="en-US" sz="1300" b="1" u="none" strike="noStrike" dirty="0">
                          <a:solidFill>
                            <a:schemeClr val="bg1"/>
                          </a:solidFill>
                          <a:effectLst/>
                          <a:latin typeface="+mn-ea"/>
                          <a:ea typeface="+mn-ea"/>
                        </a:rPr>
                        <a:t>成交套数</a:t>
                      </a:r>
                      <a:endParaRPr lang="en-US" altLang="zh-CN" sz="1300" b="1" u="none" strike="noStrike" dirty="0">
                        <a:solidFill>
                          <a:schemeClr val="bg1"/>
                        </a:solidFill>
                        <a:effectLst/>
                        <a:latin typeface="+mn-ea"/>
                        <a:ea typeface="+mn-ea"/>
                      </a:endParaRPr>
                    </a:p>
                    <a:p>
                      <a:pPr algn="ctr" rtl="0" fontAlgn="ctr"/>
                      <a:r>
                        <a:rPr lang="zh-CN" altLang="en-US" sz="1300" b="1" u="none" strike="noStrike" dirty="0">
                          <a:solidFill>
                            <a:schemeClr val="bg1"/>
                          </a:solidFill>
                          <a:effectLst/>
                          <a:latin typeface="+mn-ea"/>
                          <a:ea typeface="+mn-ea"/>
                        </a:rPr>
                        <a:t>（套）↓</a:t>
                      </a:r>
                      <a:endParaRPr lang="zh-CN" altLang="en-US" sz="1300" b="1" i="0" u="none" strike="noStrike" dirty="0">
                        <a:solidFill>
                          <a:schemeClr val="bg1"/>
                        </a:solidFill>
                        <a:effectLst/>
                        <a:latin typeface="+mn-ea"/>
                        <a:ea typeface="+mn-ea"/>
                      </a:endParaRPr>
                    </a:p>
                  </a:txBody>
                  <a:tcPr marL="9525" marR="9525" marT="9525" marB="0" anchor="ctr">
                    <a:solidFill>
                      <a:schemeClr val="tx2">
                        <a:lumMod val="60000"/>
                        <a:lumOff val="40000"/>
                      </a:schemeClr>
                    </a:solidFill>
                  </a:tcPr>
                </a:tc>
                <a:tc>
                  <a:txBody>
                    <a:bodyPr/>
                    <a:lstStyle/>
                    <a:p>
                      <a:pPr algn="ctr" rtl="0" fontAlgn="ctr"/>
                      <a:r>
                        <a:rPr lang="zh-CN" altLang="en-US" sz="1300" b="1" u="none" strike="noStrike" dirty="0">
                          <a:solidFill>
                            <a:schemeClr val="bg1"/>
                          </a:solidFill>
                          <a:effectLst/>
                          <a:latin typeface="+mn-ea"/>
                          <a:ea typeface="+mn-ea"/>
                        </a:rPr>
                        <a:t>成交面积</a:t>
                      </a:r>
                      <a:endParaRPr lang="en-US" altLang="zh-CN" sz="1300" b="1" u="none" strike="noStrike" dirty="0">
                        <a:solidFill>
                          <a:schemeClr val="bg1"/>
                        </a:solidFill>
                        <a:effectLst/>
                        <a:latin typeface="+mn-ea"/>
                        <a:ea typeface="+mn-ea"/>
                      </a:endParaRPr>
                    </a:p>
                    <a:p>
                      <a:pPr algn="ctr" rtl="0" fontAlgn="ctr"/>
                      <a:r>
                        <a:rPr lang="zh-CN" altLang="en-US" sz="1300" b="1" u="none" strike="noStrike" dirty="0">
                          <a:solidFill>
                            <a:schemeClr val="bg1"/>
                          </a:solidFill>
                          <a:effectLst/>
                          <a:latin typeface="+mn-ea"/>
                          <a:ea typeface="+mn-ea"/>
                        </a:rPr>
                        <a:t>（万㎡）</a:t>
                      </a:r>
                      <a:endParaRPr lang="zh-CN" altLang="en-US" sz="1300" b="1" i="0" u="none" strike="noStrike" dirty="0">
                        <a:solidFill>
                          <a:schemeClr val="bg1"/>
                        </a:solidFill>
                        <a:effectLst/>
                        <a:latin typeface="+mn-ea"/>
                        <a:ea typeface="+mn-ea"/>
                      </a:endParaRPr>
                    </a:p>
                  </a:txBody>
                  <a:tcPr marL="9525" marR="9525" marT="9525" marB="0" anchor="ctr">
                    <a:solidFill>
                      <a:schemeClr val="tx2">
                        <a:lumMod val="60000"/>
                        <a:lumOff val="40000"/>
                      </a:schemeClr>
                    </a:solidFill>
                  </a:tcPr>
                </a:tc>
                <a:tc>
                  <a:txBody>
                    <a:bodyPr/>
                    <a:lstStyle/>
                    <a:p>
                      <a:pPr algn="ctr" rtl="0" fontAlgn="b"/>
                      <a:r>
                        <a:rPr lang="zh-CN" altLang="en-US" sz="1300" b="1" u="none" strike="noStrike" dirty="0">
                          <a:solidFill>
                            <a:schemeClr val="bg1"/>
                          </a:solidFill>
                          <a:effectLst/>
                          <a:latin typeface="+mn-ea"/>
                          <a:ea typeface="+mn-ea"/>
                        </a:rPr>
                        <a:t>成交单价</a:t>
                      </a:r>
                      <a:endParaRPr lang="en-US" altLang="zh-CN" sz="1300" b="1" u="none" strike="noStrike" dirty="0">
                        <a:solidFill>
                          <a:schemeClr val="bg1"/>
                        </a:solidFill>
                        <a:effectLst/>
                        <a:latin typeface="+mn-ea"/>
                        <a:ea typeface="+mn-ea"/>
                      </a:endParaRPr>
                    </a:p>
                    <a:p>
                      <a:pPr algn="ctr" rtl="0" fontAlgn="b"/>
                      <a:r>
                        <a:rPr lang="zh-CN" altLang="en-US" sz="1300" b="1" u="none" strike="noStrike" dirty="0">
                          <a:solidFill>
                            <a:schemeClr val="bg1"/>
                          </a:solidFill>
                          <a:effectLst/>
                          <a:latin typeface="+mn-ea"/>
                          <a:ea typeface="+mn-ea"/>
                        </a:rPr>
                        <a:t>（元</a:t>
                      </a:r>
                      <a:r>
                        <a:rPr lang="en-US" altLang="zh-CN" sz="1300" b="1" u="none" strike="noStrike" dirty="0">
                          <a:solidFill>
                            <a:schemeClr val="bg1"/>
                          </a:solidFill>
                          <a:effectLst/>
                          <a:latin typeface="+mn-ea"/>
                          <a:ea typeface="+mn-ea"/>
                        </a:rPr>
                        <a:t>/㎡</a:t>
                      </a:r>
                      <a:r>
                        <a:rPr lang="zh-CN" altLang="en-US" sz="1300" b="1" u="none" strike="noStrike" dirty="0">
                          <a:solidFill>
                            <a:schemeClr val="bg1"/>
                          </a:solidFill>
                          <a:effectLst/>
                          <a:latin typeface="+mn-ea"/>
                          <a:ea typeface="+mn-ea"/>
                        </a:rPr>
                        <a:t>）</a:t>
                      </a:r>
                      <a:endParaRPr lang="zh-CN" altLang="en-US" sz="1300" b="1" i="0" u="none" strike="noStrike" dirty="0">
                        <a:solidFill>
                          <a:schemeClr val="bg1"/>
                        </a:solidFill>
                        <a:effectLst/>
                        <a:latin typeface="+mn-ea"/>
                        <a:ea typeface="+mn-ea"/>
                      </a:endParaRPr>
                    </a:p>
                  </a:txBody>
                  <a:tcPr marL="9525" marR="9525" marT="9525" marB="0" anchor="ctr">
                    <a:solidFill>
                      <a:schemeClr val="tx2">
                        <a:lumMod val="60000"/>
                        <a:lumOff val="40000"/>
                      </a:schemeClr>
                    </a:solidFill>
                  </a:tcPr>
                </a:tc>
                <a:tc>
                  <a:txBody>
                    <a:bodyPr/>
                    <a:lstStyle/>
                    <a:p>
                      <a:pPr algn="ctr" rtl="0" fontAlgn="b"/>
                      <a:r>
                        <a:rPr lang="zh-CN" altLang="en-US" sz="1300" b="1" u="none" strike="noStrike" dirty="0">
                          <a:solidFill>
                            <a:schemeClr val="bg1"/>
                          </a:solidFill>
                          <a:effectLst/>
                          <a:latin typeface="+mn-ea"/>
                          <a:ea typeface="+mn-ea"/>
                        </a:rPr>
                        <a:t>成交总额</a:t>
                      </a:r>
                      <a:endParaRPr lang="en-US" altLang="zh-CN" sz="1300" b="1" u="none" strike="noStrike" dirty="0">
                        <a:solidFill>
                          <a:schemeClr val="bg1"/>
                        </a:solidFill>
                        <a:effectLst/>
                        <a:latin typeface="+mn-ea"/>
                        <a:ea typeface="+mn-ea"/>
                      </a:endParaRPr>
                    </a:p>
                    <a:p>
                      <a:pPr algn="ctr" rtl="0" fontAlgn="b"/>
                      <a:r>
                        <a:rPr lang="zh-CN" altLang="en-US" sz="1300" b="1" u="none" strike="noStrike" dirty="0">
                          <a:solidFill>
                            <a:schemeClr val="bg1"/>
                          </a:solidFill>
                          <a:effectLst/>
                          <a:latin typeface="+mn-ea"/>
                          <a:ea typeface="+mn-ea"/>
                        </a:rPr>
                        <a:t>（亿元）</a:t>
                      </a:r>
                      <a:endParaRPr lang="zh-CN" altLang="en-US" sz="1300" b="1" i="0" u="none" strike="noStrike" dirty="0">
                        <a:solidFill>
                          <a:schemeClr val="bg1"/>
                        </a:solidFill>
                        <a:effectLst/>
                        <a:latin typeface="+mn-ea"/>
                        <a:ea typeface="+mn-ea"/>
                      </a:endParaRPr>
                    </a:p>
                  </a:txBody>
                  <a:tcPr marL="9525" marR="9525" marT="9525" marB="0" anchor="ctr">
                    <a:solidFill>
                      <a:schemeClr val="tx2">
                        <a:lumMod val="60000"/>
                        <a:lumOff val="40000"/>
                      </a:schemeClr>
                    </a:solidFill>
                  </a:tcPr>
                </a:tc>
                <a:extLst>
                  <a:ext uri="{0D108BD9-81ED-4DB2-BD59-A6C34878D82A}">
                    <a16:rowId xmlns:a16="http://schemas.microsoft.com/office/drawing/2014/main" val="10000"/>
                  </a:ext>
                </a:extLst>
              </a:tr>
              <a:tr h="208223">
                <a:tc>
                  <a:txBody>
                    <a:bodyPr/>
                    <a:lstStyle/>
                    <a:p>
                      <a:pPr algn="ctr" fontAlgn="ctr"/>
                      <a:r>
                        <a:rPr lang="zh-CN" altLang="en-US" sz="1300" b="0" i="0" u="none" strike="noStrike" kern="1200" dirty="0">
                          <a:solidFill>
                            <a:srgbClr val="000000"/>
                          </a:solidFill>
                          <a:effectLst/>
                          <a:latin typeface="+mn-ea"/>
                          <a:ea typeface="+mn-ea"/>
                          <a:cs typeface="+mn-cs"/>
                        </a:rPr>
                        <a:t>润德天悦城</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dirty="0">
                          <a:solidFill>
                            <a:srgbClr val="000000"/>
                          </a:solidFill>
                          <a:effectLst/>
                          <a:latin typeface="+mn-ea"/>
                          <a:ea typeface="+mn-ea"/>
                          <a:cs typeface="+mn-cs"/>
                        </a:rPr>
                        <a:t>桥东</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3043</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30.10</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6304 </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18.98</a:t>
                      </a:r>
                    </a:p>
                  </a:txBody>
                  <a:tcPr marL="9525" marR="9525" marT="9525" marB="0" anchor="ctr">
                    <a:solidFill>
                      <a:schemeClr val="tx2">
                        <a:lumMod val="20000"/>
                        <a:lumOff val="80000"/>
                      </a:schemeClr>
                    </a:solidFill>
                  </a:tcPr>
                </a:tc>
                <a:extLst>
                  <a:ext uri="{0D108BD9-81ED-4DB2-BD59-A6C34878D82A}">
                    <a16:rowId xmlns:a16="http://schemas.microsoft.com/office/drawing/2014/main" val="10001"/>
                  </a:ext>
                </a:extLst>
              </a:tr>
              <a:tr h="171450">
                <a:tc>
                  <a:txBody>
                    <a:bodyPr/>
                    <a:lstStyle/>
                    <a:p>
                      <a:pPr algn="ctr" fontAlgn="ctr"/>
                      <a:r>
                        <a:rPr lang="zh-CN" altLang="en-US" sz="1300" b="0" i="0" u="none" strike="noStrike" kern="1200">
                          <a:solidFill>
                            <a:srgbClr val="000000"/>
                          </a:solidFill>
                          <a:effectLst/>
                          <a:latin typeface="+mn-ea"/>
                          <a:ea typeface="+mn-ea"/>
                          <a:cs typeface="+mn-cs"/>
                        </a:rPr>
                        <a:t>博雅盛世</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mn-ea"/>
                          <a:ea typeface="+mn-ea"/>
                          <a:cs typeface="+mn-cs"/>
                        </a:rPr>
                        <a:t>长安</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2375</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21.32</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5842 </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12.46</a:t>
                      </a:r>
                    </a:p>
                  </a:txBody>
                  <a:tcPr marL="9525" marR="9525" marT="9525" marB="0" anchor="ctr">
                    <a:solidFill>
                      <a:schemeClr val="tx2">
                        <a:lumMod val="20000"/>
                        <a:lumOff val="80000"/>
                      </a:schemeClr>
                    </a:solidFill>
                  </a:tcPr>
                </a:tc>
                <a:extLst>
                  <a:ext uri="{0D108BD9-81ED-4DB2-BD59-A6C34878D82A}">
                    <a16:rowId xmlns:a16="http://schemas.microsoft.com/office/drawing/2014/main" val="10002"/>
                  </a:ext>
                </a:extLst>
              </a:tr>
              <a:tr h="171450">
                <a:tc>
                  <a:txBody>
                    <a:bodyPr/>
                    <a:lstStyle/>
                    <a:p>
                      <a:pPr algn="ctr" fontAlgn="ctr"/>
                      <a:r>
                        <a:rPr lang="zh-CN" altLang="en-US" sz="1300" b="0" i="0" u="none" strike="noStrike" kern="1200">
                          <a:solidFill>
                            <a:srgbClr val="000000"/>
                          </a:solidFill>
                          <a:effectLst/>
                          <a:latin typeface="+mn-ea"/>
                          <a:ea typeface="+mn-ea"/>
                          <a:cs typeface="+mn-cs"/>
                        </a:rPr>
                        <a:t>紫晶悦城</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mn-ea"/>
                          <a:ea typeface="+mn-ea"/>
                          <a:cs typeface="+mn-cs"/>
                        </a:rPr>
                        <a:t>长安</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1966</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19.86</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6112 </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12.14</a:t>
                      </a:r>
                    </a:p>
                  </a:txBody>
                  <a:tcPr marL="9525" marR="9525" marT="9525" marB="0" anchor="ctr">
                    <a:solidFill>
                      <a:schemeClr val="tx2">
                        <a:lumMod val="20000"/>
                        <a:lumOff val="80000"/>
                      </a:schemeClr>
                    </a:solidFill>
                  </a:tcPr>
                </a:tc>
                <a:extLst>
                  <a:ext uri="{0D108BD9-81ED-4DB2-BD59-A6C34878D82A}">
                    <a16:rowId xmlns:a16="http://schemas.microsoft.com/office/drawing/2014/main" val="10003"/>
                  </a:ext>
                </a:extLst>
              </a:tr>
              <a:tr h="171450">
                <a:tc>
                  <a:txBody>
                    <a:bodyPr/>
                    <a:lstStyle/>
                    <a:p>
                      <a:pPr algn="ctr" fontAlgn="ctr"/>
                      <a:r>
                        <a:rPr lang="zh-CN" altLang="en-US" sz="1300" b="0" i="0" u="none" strike="noStrike" kern="1200">
                          <a:solidFill>
                            <a:srgbClr val="000000"/>
                          </a:solidFill>
                          <a:effectLst/>
                          <a:latin typeface="+mn-ea"/>
                          <a:ea typeface="+mn-ea"/>
                          <a:cs typeface="+mn-cs"/>
                        </a:rPr>
                        <a:t>紫林湾</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mn-ea"/>
                          <a:ea typeface="+mn-ea"/>
                          <a:cs typeface="+mn-cs"/>
                        </a:rPr>
                        <a:t>长安</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1888</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19.94</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6544 </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13.05</a:t>
                      </a:r>
                    </a:p>
                  </a:txBody>
                  <a:tcPr marL="9525" marR="9525" marT="9525" marB="0" anchor="ctr">
                    <a:solidFill>
                      <a:schemeClr val="tx2">
                        <a:lumMod val="20000"/>
                        <a:lumOff val="80000"/>
                      </a:schemeClr>
                    </a:solidFill>
                  </a:tcPr>
                </a:tc>
                <a:extLst>
                  <a:ext uri="{0D108BD9-81ED-4DB2-BD59-A6C34878D82A}">
                    <a16:rowId xmlns:a16="http://schemas.microsoft.com/office/drawing/2014/main" val="10004"/>
                  </a:ext>
                </a:extLst>
              </a:tr>
              <a:tr h="171450">
                <a:tc>
                  <a:txBody>
                    <a:bodyPr/>
                    <a:lstStyle/>
                    <a:p>
                      <a:pPr algn="ctr" fontAlgn="ctr"/>
                      <a:r>
                        <a:rPr lang="zh-CN" altLang="en-US" sz="1300" b="0" i="0" u="none" strike="noStrike" kern="1200">
                          <a:solidFill>
                            <a:srgbClr val="000000"/>
                          </a:solidFill>
                          <a:effectLst/>
                          <a:latin typeface="+mn-ea"/>
                          <a:ea typeface="+mn-ea"/>
                          <a:cs typeface="+mn-cs"/>
                        </a:rPr>
                        <a:t>林荫大院</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mn-ea"/>
                          <a:ea typeface="+mn-ea"/>
                          <a:cs typeface="+mn-cs"/>
                        </a:rPr>
                        <a:t>新华</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1424</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16.18</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8594 </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13.91</a:t>
                      </a:r>
                    </a:p>
                  </a:txBody>
                  <a:tcPr marL="9525" marR="9525" marT="9525" marB="0" anchor="ctr">
                    <a:solidFill>
                      <a:schemeClr val="tx2">
                        <a:lumMod val="20000"/>
                        <a:lumOff val="80000"/>
                      </a:schemeClr>
                    </a:solidFill>
                  </a:tcPr>
                </a:tc>
                <a:extLst>
                  <a:ext uri="{0D108BD9-81ED-4DB2-BD59-A6C34878D82A}">
                    <a16:rowId xmlns:a16="http://schemas.microsoft.com/office/drawing/2014/main" val="10005"/>
                  </a:ext>
                </a:extLst>
              </a:tr>
              <a:tr h="171450">
                <a:tc>
                  <a:txBody>
                    <a:bodyPr/>
                    <a:lstStyle/>
                    <a:p>
                      <a:pPr algn="ctr" fontAlgn="ctr"/>
                      <a:r>
                        <a:rPr lang="zh-CN" altLang="en-US" sz="1300" b="0" i="0" u="none" strike="noStrike" kern="1200">
                          <a:solidFill>
                            <a:srgbClr val="000000"/>
                          </a:solidFill>
                          <a:effectLst/>
                          <a:latin typeface="+mn-ea"/>
                          <a:ea typeface="+mn-ea"/>
                          <a:cs typeface="+mn-cs"/>
                        </a:rPr>
                        <a:t>天洲视界城</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mn-ea"/>
                          <a:ea typeface="+mn-ea"/>
                          <a:cs typeface="+mn-cs"/>
                        </a:rPr>
                        <a:t>长安</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1227</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12.62</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5290 </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6.68</a:t>
                      </a:r>
                    </a:p>
                  </a:txBody>
                  <a:tcPr marL="9525" marR="9525" marT="9525" marB="0" anchor="ctr">
                    <a:solidFill>
                      <a:schemeClr val="tx2">
                        <a:lumMod val="20000"/>
                        <a:lumOff val="80000"/>
                      </a:schemeClr>
                    </a:solidFill>
                  </a:tcPr>
                </a:tc>
                <a:extLst>
                  <a:ext uri="{0D108BD9-81ED-4DB2-BD59-A6C34878D82A}">
                    <a16:rowId xmlns:a16="http://schemas.microsoft.com/office/drawing/2014/main" val="10006"/>
                  </a:ext>
                </a:extLst>
              </a:tr>
              <a:tr h="171450">
                <a:tc>
                  <a:txBody>
                    <a:bodyPr/>
                    <a:lstStyle/>
                    <a:p>
                      <a:pPr algn="ctr" fontAlgn="ctr"/>
                      <a:r>
                        <a:rPr lang="zh-CN" altLang="en-US" sz="1300" b="0" i="0" u="none" strike="noStrike" kern="1200">
                          <a:solidFill>
                            <a:srgbClr val="000000"/>
                          </a:solidFill>
                          <a:effectLst/>
                          <a:latin typeface="+mn-ea"/>
                          <a:ea typeface="+mn-ea"/>
                          <a:cs typeface="+mn-cs"/>
                        </a:rPr>
                        <a:t>瑞城</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mn-ea"/>
                          <a:ea typeface="+mn-ea"/>
                          <a:cs typeface="+mn-cs"/>
                        </a:rPr>
                        <a:t>长安</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1220</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12.42</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9331 </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11.59</a:t>
                      </a:r>
                    </a:p>
                  </a:txBody>
                  <a:tcPr marL="9525" marR="9525" marT="9525" marB="0" anchor="ctr">
                    <a:solidFill>
                      <a:schemeClr val="tx2">
                        <a:lumMod val="20000"/>
                        <a:lumOff val="80000"/>
                      </a:schemeClr>
                    </a:solidFill>
                  </a:tcPr>
                </a:tc>
                <a:extLst>
                  <a:ext uri="{0D108BD9-81ED-4DB2-BD59-A6C34878D82A}">
                    <a16:rowId xmlns:a16="http://schemas.microsoft.com/office/drawing/2014/main" val="10007"/>
                  </a:ext>
                </a:extLst>
              </a:tr>
              <a:tr h="171450">
                <a:tc>
                  <a:txBody>
                    <a:bodyPr/>
                    <a:lstStyle/>
                    <a:p>
                      <a:pPr algn="ctr" fontAlgn="ctr"/>
                      <a:r>
                        <a:rPr lang="zh-CN" altLang="en-US" sz="1300" b="0" i="0" u="none" strike="noStrike" kern="1200">
                          <a:solidFill>
                            <a:srgbClr val="000000"/>
                          </a:solidFill>
                          <a:effectLst/>
                          <a:latin typeface="+mn-ea"/>
                          <a:ea typeface="+mn-ea"/>
                          <a:cs typeface="+mn-cs"/>
                        </a:rPr>
                        <a:t>星河盛世城</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mn-ea"/>
                          <a:ea typeface="+mn-ea"/>
                          <a:cs typeface="+mn-cs"/>
                        </a:rPr>
                        <a:t>长安</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974</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11.26</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10812 </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12.18</a:t>
                      </a:r>
                    </a:p>
                  </a:txBody>
                  <a:tcPr marL="9525" marR="9525" marT="9525" marB="0" anchor="ctr">
                    <a:solidFill>
                      <a:schemeClr val="tx2">
                        <a:lumMod val="20000"/>
                        <a:lumOff val="80000"/>
                      </a:schemeClr>
                    </a:solidFill>
                  </a:tcPr>
                </a:tc>
                <a:extLst>
                  <a:ext uri="{0D108BD9-81ED-4DB2-BD59-A6C34878D82A}">
                    <a16:rowId xmlns:a16="http://schemas.microsoft.com/office/drawing/2014/main" val="10008"/>
                  </a:ext>
                </a:extLst>
              </a:tr>
              <a:tr h="171450">
                <a:tc>
                  <a:txBody>
                    <a:bodyPr/>
                    <a:lstStyle/>
                    <a:p>
                      <a:pPr algn="ctr" fontAlgn="ctr"/>
                      <a:r>
                        <a:rPr lang="zh-CN" altLang="en-US" sz="1300" b="0" i="0" u="none" strike="noStrike" kern="1200" dirty="0">
                          <a:solidFill>
                            <a:srgbClr val="000000"/>
                          </a:solidFill>
                          <a:effectLst/>
                          <a:latin typeface="+mn-ea"/>
                          <a:ea typeface="+mn-ea"/>
                          <a:cs typeface="+mn-cs"/>
                        </a:rPr>
                        <a:t>卓达亿嘉盛世春天</a:t>
                      </a:r>
                      <a:endParaRPr lang="en-US" altLang="zh-CN" sz="1300" b="0" i="0" u="none" strike="noStrike" kern="1200" dirty="0">
                        <a:solidFill>
                          <a:srgbClr val="000000"/>
                        </a:solidFill>
                        <a:effectLst/>
                        <a:latin typeface="+mn-ea"/>
                        <a:ea typeface="+mn-ea"/>
                        <a:cs typeface="+mn-cs"/>
                      </a:endParaRPr>
                    </a:p>
                    <a:p>
                      <a:pPr marL="0" marR="0" indent="0" algn="ctr" defTabSz="457200" rtl="0" eaLnBrk="1" fontAlgn="ctr" latinLnBrk="0" hangingPunct="1">
                        <a:lnSpc>
                          <a:spcPct val="100000"/>
                        </a:lnSpc>
                        <a:spcBef>
                          <a:spcPts val="0"/>
                        </a:spcBef>
                        <a:spcAft>
                          <a:spcPts val="0"/>
                        </a:spcAft>
                        <a:buClrTx/>
                        <a:buSzTx/>
                        <a:buFontTx/>
                        <a:buNone/>
                        <a:tabLst/>
                        <a:defRPr/>
                      </a:pPr>
                      <a:r>
                        <a:rPr lang="zh-CN" altLang="en-US" sz="1300" b="0" i="0" u="none" strike="noStrike" kern="1200" dirty="0">
                          <a:solidFill>
                            <a:srgbClr val="000000"/>
                          </a:solidFill>
                          <a:effectLst/>
                          <a:latin typeface="+mn-ea"/>
                          <a:ea typeface="+mn-ea"/>
                          <a:cs typeface="+mn-cs"/>
                        </a:rPr>
                        <a:t>（城中村改造）</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mn-ea"/>
                          <a:ea typeface="+mn-ea"/>
                          <a:cs typeface="+mn-cs"/>
                        </a:rPr>
                        <a:t>长安</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956</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10.22</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2772 </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2.83</a:t>
                      </a:r>
                    </a:p>
                  </a:txBody>
                  <a:tcPr marL="9525" marR="9525" marT="9525" marB="0" anchor="ctr">
                    <a:solidFill>
                      <a:schemeClr val="tx2">
                        <a:lumMod val="20000"/>
                        <a:lumOff val="80000"/>
                      </a:schemeClr>
                    </a:solidFill>
                  </a:tcPr>
                </a:tc>
                <a:extLst>
                  <a:ext uri="{0D108BD9-81ED-4DB2-BD59-A6C34878D82A}">
                    <a16:rowId xmlns:a16="http://schemas.microsoft.com/office/drawing/2014/main" val="10009"/>
                  </a:ext>
                </a:extLst>
              </a:tr>
              <a:tr h="171450">
                <a:tc>
                  <a:txBody>
                    <a:bodyPr/>
                    <a:lstStyle/>
                    <a:p>
                      <a:pPr algn="ctr" fontAlgn="ctr"/>
                      <a:r>
                        <a:rPr lang="zh-CN" altLang="en-US" sz="1300" b="0" i="0" u="none" strike="noStrike" kern="1200">
                          <a:solidFill>
                            <a:srgbClr val="000000"/>
                          </a:solidFill>
                          <a:effectLst/>
                          <a:latin typeface="+mn-ea"/>
                          <a:ea typeface="+mn-ea"/>
                          <a:cs typeface="+mn-cs"/>
                        </a:rPr>
                        <a:t>泰丰观湖</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mn-ea"/>
                          <a:ea typeface="+mn-ea"/>
                          <a:cs typeface="+mn-cs"/>
                        </a:rPr>
                        <a:t>桥西</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929</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11.69</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6914 </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8.08</a:t>
                      </a:r>
                    </a:p>
                  </a:txBody>
                  <a:tcPr marL="9525" marR="9525" marT="9525" marB="0" anchor="ctr">
                    <a:solidFill>
                      <a:schemeClr val="tx2">
                        <a:lumMod val="20000"/>
                        <a:lumOff val="80000"/>
                      </a:schemeClr>
                    </a:solidFill>
                  </a:tcPr>
                </a:tc>
                <a:extLst>
                  <a:ext uri="{0D108BD9-81ED-4DB2-BD59-A6C34878D82A}">
                    <a16:rowId xmlns:a16="http://schemas.microsoft.com/office/drawing/2014/main" val="10010"/>
                  </a:ext>
                </a:extLst>
              </a:tr>
            </a:tbl>
          </a:graphicData>
        </a:graphic>
      </p:graphicFrame>
      <p:sp>
        <p:nvSpPr>
          <p:cNvPr id="10" name="标题 3"/>
          <p:cNvSpPr txBox="1">
            <a:spLocks/>
          </p:cNvSpPr>
          <p:nvPr/>
        </p:nvSpPr>
        <p:spPr>
          <a:xfrm>
            <a:off x="162370" y="33484"/>
            <a:ext cx="8626030" cy="474662"/>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2400" b="1" i="0" kern="1200">
                <a:solidFill>
                  <a:srgbClr val="404040"/>
                </a:solidFill>
                <a:latin typeface="Microsoft YaHei"/>
                <a:ea typeface="+mj-ea"/>
                <a:cs typeface="Microsoft YaHei"/>
              </a:defRPr>
            </a:lvl1pPr>
          </a:lstStyle>
          <a:p>
            <a:r>
              <a:rPr lang="zh-CN" altLang="en-US" dirty="0"/>
              <a:t>石家庄（主城区） </a:t>
            </a:r>
            <a:r>
              <a:rPr lang="en-US" altLang="zh-CN" dirty="0">
                <a:solidFill>
                  <a:schemeClr val="tx1"/>
                </a:solidFill>
              </a:rPr>
              <a:t>|</a:t>
            </a:r>
            <a:r>
              <a:rPr lang="zh-CN" altLang="en-US" sz="1800" dirty="0">
                <a:solidFill>
                  <a:schemeClr val="tx1"/>
                </a:solidFill>
              </a:rPr>
              <a:t>长安区项目成交体量居首</a:t>
            </a:r>
          </a:p>
        </p:txBody>
      </p:sp>
      <p:sp>
        <p:nvSpPr>
          <p:cNvPr id="9" name="矩形 8"/>
          <p:cNvSpPr/>
          <p:nvPr/>
        </p:nvSpPr>
        <p:spPr>
          <a:xfrm>
            <a:off x="1060992" y="609980"/>
            <a:ext cx="2863308" cy="327546"/>
          </a:xfrm>
          <a:prstGeom prst="rect">
            <a:avLst/>
          </a:prstGeom>
          <a:solidFill>
            <a:schemeClr val="accent6">
              <a:lumMod val="75000"/>
              <a:alpha val="46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400" b="1" dirty="0">
                <a:latin typeface="微软雅黑" pitchFamily="34" charset="-122"/>
                <a:ea typeface="微软雅黑" pitchFamily="34" charset="-122"/>
              </a:rPr>
              <a:t>8</a:t>
            </a:r>
            <a:r>
              <a:rPr lang="zh-CN" altLang="en-US" sz="1400" b="1" dirty="0">
                <a:latin typeface="微软雅黑" pitchFamily="34" charset="-122"/>
                <a:ea typeface="微软雅黑" pitchFamily="34" charset="-122"/>
              </a:rPr>
              <a:t>月普通住宅项目成交排行</a:t>
            </a:r>
            <a:r>
              <a:rPr lang="en-US" altLang="zh-CN" sz="1400" b="1" dirty="0">
                <a:latin typeface="微软雅黑" pitchFamily="34" charset="-122"/>
                <a:ea typeface="微软雅黑" pitchFamily="34" charset="-122"/>
              </a:rPr>
              <a:t>TOP10</a:t>
            </a:r>
            <a:endParaRPr lang="zh-CN" altLang="en-US" sz="1400" b="1" dirty="0">
              <a:latin typeface="微软雅黑" pitchFamily="34" charset="-122"/>
              <a:ea typeface="微软雅黑" pitchFamily="34" charset="-122"/>
            </a:endParaRPr>
          </a:p>
        </p:txBody>
      </p:sp>
      <p:sp>
        <p:nvSpPr>
          <p:cNvPr id="11" name="矩形 10"/>
          <p:cNvSpPr/>
          <p:nvPr/>
        </p:nvSpPr>
        <p:spPr>
          <a:xfrm>
            <a:off x="1061856" y="3648451"/>
            <a:ext cx="3091043" cy="327546"/>
          </a:xfrm>
          <a:prstGeom prst="rect">
            <a:avLst/>
          </a:prstGeom>
          <a:solidFill>
            <a:schemeClr val="accent6">
              <a:lumMod val="75000"/>
              <a:alpha val="46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400" b="1" dirty="0">
                <a:latin typeface="微软雅黑" pitchFamily="34" charset="-122"/>
                <a:ea typeface="微软雅黑" pitchFamily="34" charset="-122"/>
              </a:rPr>
              <a:t>1-8</a:t>
            </a:r>
            <a:r>
              <a:rPr lang="zh-CN" altLang="en-US" sz="1400" b="1" dirty="0">
                <a:latin typeface="微软雅黑" pitchFamily="34" charset="-122"/>
                <a:ea typeface="微软雅黑" pitchFamily="34" charset="-122"/>
              </a:rPr>
              <a:t>月普通住宅项目成交排行</a:t>
            </a:r>
            <a:r>
              <a:rPr lang="en-US" altLang="zh-CN" sz="1400" b="1" dirty="0">
                <a:latin typeface="微软雅黑" pitchFamily="34" charset="-122"/>
                <a:ea typeface="微软雅黑" pitchFamily="34" charset="-122"/>
              </a:rPr>
              <a:t>TOP10</a:t>
            </a:r>
            <a:endParaRPr lang="zh-CN" altLang="en-US" sz="1400" b="1" dirty="0">
              <a:latin typeface="微软雅黑" pitchFamily="34" charset="-122"/>
              <a:ea typeface="微软雅黑" pitchFamily="34" charset="-122"/>
            </a:endParaRPr>
          </a:p>
        </p:txBody>
      </p:sp>
    </p:spTree>
    <p:extLst>
      <p:ext uri="{BB962C8B-B14F-4D97-AF65-F5344CB8AC3E}">
        <p14:creationId xmlns:p14="http://schemas.microsoft.com/office/powerpoint/2010/main" val="30943806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3E8B6F27-EC4F-B34E-9F32-10CC92E9AB18}" type="slidenum">
              <a:rPr lang="zh-CN" altLang="en-US" smtClean="0"/>
              <a:pPr>
                <a:defRPr/>
              </a:pPr>
              <a:t>41</a:t>
            </a:fld>
            <a:endParaRPr lang="zh-CN" altLang="en-US" dirty="0"/>
          </a:p>
        </p:txBody>
      </p:sp>
      <p:pic>
        <p:nvPicPr>
          <p:cNvPr id="5" name="Picture 3" descr="C:\Users\dell\Desktop\35b1OOOPIC89.jpg"/>
          <p:cNvPicPr>
            <a:picLocks noChangeAspect="1" noChangeArrowheads="1"/>
          </p:cNvPicPr>
          <p:nvPr/>
        </p:nvPicPr>
        <p:blipFill rotWithShape="1">
          <a:blip r:embed="rId2">
            <a:extLst>
              <a:ext uri="{28A0092B-C50C-407E-A947-70E740481C1C}">
                <a14:useLocalDpi xmlns:a14="http://schemas.microsoft.com/office/drawing/2010/main" val="0"/>
              </a:ext>
            </a:extLst>
          </a:blip>
          <a:srcRect t="33990"/>
          <a:stretch/>
        </p:blipFill>
        <p:spPr bwMode="auto">
          <a:xfrm>
            <a:off x="1389752" y="531584"/>
            <a:ext cx="6629400" cy="4376057"/>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p:cNvSpPr/>
          <p:nvPr/>
        </p:nvSpPr>
        <p:spPr>
          <a:xfrm>
            <a:off x="535349" y="4611168"/>
            <a:ext cx="1950139" cy="523220"/>
          </a:xfrm>
          <a:prstGeom prst="rect">
            <a:avLst/>
          </a:prstGeom>
          <a:noFill/>
        </p:spPr>
        <p:txBody>
          <a:bodyPr wrap="square" lIns="91440" tIns="45720" rIns="91440" bIns="45720">
            <a:spAutoFit/>
          </a:bodyPr>
          <a:lstStyle/>
          <a:p>
            <a:pPr algn="ctr"/>
            <a:r>
              <a:rPr lang="zh-CN" altLang="en-US" sz="2800" b="1"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t>石家庄</a:t>
            </a:r>
          </a:p>
        </p:txBody>
      </p:sp>
      <p:sp>
        <p:nvSpPr>
          <p:cNvPr id="7" name="椭圆 6"/>
          <p:cNvSpPr/>
          <p:nvPr/>
        </p:nvSpPr>
        <p:spPr>
          <a:xfrm>
            <a:off x="1411737" y="4382565"/>
            <a:ext cx="190294" cy="216000"/>
          </a:xfrm>
          <a:prstGeom prst="ellipse">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zh-CN" altLang="en-US"/>
          </a:p>
        </p:txBody>
      </p:sp>
      <p:sp>
        <p:nvSpPr>
          <p:cNvPr id="8" name="矩形 7"/>
          <p:cNvSpPr/>
          <p:nvPr/>
        </p:nvSpPr>
        <p:spPr>
          <a:xfrm>
            <a:off x="6513762" y="1817641"/>
            <a:ext cx="1548685" cy="523220"/>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zh-CN" altLang="en-US" sz="2800" b="1" cap="none" spc="0" dirty="0">
                <a:ln w="11430"/>
                <a:solidFill>
                  <a:srgbClr val="FF0000"/>
                </a:solidFill>
                <a:effectLst>
                  <a:outerShdw blurRad="50800" dist="39000" dir="5460000" algn="tl">
                    <a:srgbClr val="000000">
                      <a:alpha val="38000"/>
                    </a:srgbClr>
                  </a:outerShdw>
                </a:effectLst>
              </a:rPr>
              <a:t>燕郊</a:t>
            </a:r>
          </a:p>
        </p:txBody>
      </p:sp>
      <p:sp>
        <p:nvSpPr>
          <p:cNvPr id="9" name="椭圆 8"/>
          <p:cNvSpPr/>
          <p:nvPr/>
        </p:nvSpPr>
        <p:spPr>
          <a:xfrm>
            <a:off x="6543071" y="1935768"/>
            <a:ext cx="216000" cy="216000"/>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0" name="矩形 9"/>
          <p:cNvSpPr/>
          <p:nvPr/>
        </p:nvSpPr>
        <p:spPr>
          <a:xfrm>
            <a:off x="6892907" y="2744816"/>
            <a:ext cx="1548685" cy="523220"/>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zh-CN" altLang="en-US" sz="2800" b="1" cap="none" spc="0" dirty="0">
                <a:ln w="11430"/>
                <a:solidFill>
                  <a:srgbClr val="FF0000"/>
                </a:solidFill>
                <a:effectLst>
                  <a:outerShdw blurRad="50800" dist="39000" dir="5460000" algn="tl">
                    <a:srgbClr val="000000">
                      <a:alpha val="38000"/>
                    </a:srgbClr>
                  </a:outerShdw>
                </a:effectLst>
              </a:rPr>
              <a:t>香河</a:t>
            </a:r>
          </a:p>
        </p:txBody>
      </p:sp>
      <p:sp>
        <p:nvSpPr>
          <p:cNvPr id="11" name="椭圆 10"/>
          <p:cNvSpPr/>
          <p:nvPr/>
        </p:nvSpPr>
        <p:spPr>
          <a:xfrm>
            <a:off x="6933363" y="2881778"/>
            <a:ext cx="216000" cy="216000"/>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2" name="矩形 11"/>
          <p:cNvSpPr/>
          <p:nvPr/>
        </p:nvSpPr>
        <p:spPr>
          <a:xfrm>
            <a:off x="5289160" y="4095143"/>
            <a:ext cx="2116687" cy="523220"/>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zh-CN" altLang="en-US" sz="2800" b="1" cap="none" spc="0" dirty="0">
                <a:ln w="11430"/>
                <a:solidFill>
                  <a:srgbClr val="FF0000"/>
                </a:solidFill>
                <a:effectLst>
                  <a:outerShdw blurRad="50800" dist="39000" dir="5460000" algn="tl">
                    <a:srgbClr val="000000">
                      <a:alpha val="38000"/>
                    </a:srgbClr>
                  </a:outerShdw>
                </a:effectLst>
              </a:rPr>
              <a:t>安次、广阳</a:t>
            </a:r>
          </a:p>
        </p:txBody>
      </p:sp>
      <p:sp>
        <p:nvSpPr>
          <p:cNvPr id="13" name="椭圆 12"/>
          <p:cNvSpPr/>
          <p:nvPr/>
        </p:nvSpPr>
        <p:spPr>
          <a:xfrm>
            <a:off x="5501802" y="3690650"/>
            <a:ext cx="216000" cy="216000"/>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4" name="矩形 13"/>
          <p:cNvSpPr/>
          <p:nvPr/>
        </p:nvSpPr>
        <p:spPr>
          <a:xfrm>
            <a:off x="3627936" y="4585356"/>
            <a:ext cx="1950139" cy="523220"/>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zh-CN" altLang="en-US" sz="2800" b="1" cap="none" spc="0" dirty="0">
                <a:ln w="11430"/>
                <a:solidFill>
                  <a:srgbClr val="FF0000"/>
                </a:solidFill>
                <a:effectLst>
                  <a:outerShdw blurRad="50800" dist="39000" dir="5460000" algn="tl">
                    <a:srgbClr val="000000">
                      <a:alpha val="38000"/>
                    </a:srgbClr>
                  </a:outerShdw>
                </a:effectLst>
              </a:rPr>
              <a:t>固安</a:t>
            </a:r>
          </a:p>
        </p:txBody>
      </p:sp>
      <p:sp>
        <p:nvSpPr>
          <p:cNvPr id="15" name="椭圆 14"/>
          <p:cNvSpPr/>
          <p:nvPr/>
        </p:nvSpPr>
        <p:spPr>
          <a:xfrm>
            <a:off x="4504324" y="4356753"/>
            <a:ext cx="190294" cy="216000"/>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6" name="矩形 15"/>
          <p:cNvSpPr/>
          <p:nvPr/>
        </p:nvSpPr>
        <p:spPr>
          <a:xfrm>
            <a:off x="5289160" y="5664856"/>
            <a:ext cx="1950139" cy="523220"/>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zh-CN" altLang="en-US" sz="2800" b="1" cap="none" spc="0" dirty="0">
                <a:ln w="11430"/>
                <a:solidFill>
                  <a:srgbClr val="FF0000"/>
                </a:solidFill>
                <a:effectLst>
                  <a:outerShdw blurRad="50800" dist="39000" dir="5460000" algn="tl">
                    <a:srgbClr val="000000">
                      <a:alpha val="38000"/>
                    </a:srgbClr>
                  </a:outerShdw>
                </a:effectLst>
              </a:rPr>
              <a:t>廊坊</a:t>
            </a:r>
          </a:p>
        </p:txBody>
      </p:sp>
      <p:sp>
        <p:nvSpPr>
          <p:cNvPr id="17" name="KSO_Shape"/>
          <p:cNvSpPr>
            <a:spLocks/>
          </p:cNvSpPr>
          <p:nvPr/>
        </p:nvSpPr>
        <p:spPr bwMode="auto">
          <a:xfrm rot="16200000" flipH="1">
            <a:off x="6033247" y="3395010"/>
            <a:ext cx="461963" cy="4134241"/>
          </a:xfrm>
          <a:custGeom>
            <a:avLst/>
            <a:gdLst>
              <a:gd name="T0" fmla="*/ 2147483646 w 41"/>
              <a:gd name="T1" fmla="*/ 2147483646 h 281"/>
              <a:gd name="T2" fmla="*/ 2147483646 w 41"/>
              <a:gd name="T3" fmla="*/ 2147483646 h 281"/>
              <a:gd name="T4" fmla="*/ 0 w 41"/>
              <a:gd name="T5" fmla="*/ 0 h 281"/>
              <a:gd name="T6" fmla="*/ 2147483646 w 41"/>
              <a:gd name="T7" fmla="*/ 2147483646 h 281"/>
              <a:gd name="T8" fmla="*/ 2147483646 w 41"/>
              <a:gd name="T9" fmla="*/ 2147483646 h 281"/>
              <a:gd name="T10" fmla="*/ 2147483646 w 41"/>
              <a:gd name="T11" fmla="*/ 2147483646 h 281"/>
              <a:gd name="T12" fmla="*/ 2147483646 w 41"/>
              <a:gd name="T13" fmla="*/ 2147483646 h 281"/>
              <a:gd name="T14" fmla="*/ 2147483646 w 41"/>
              <a:gd name="T15" fmla="*/ 2147483646 h 281"/>
              <a:gd name="T16" fmla="*/ 2147483646 w 41"/>
              <a:gd name="T17" fmla="*/ 2147483646 h 281"/>
              <a:gd name="T18" fmla="*/ 2147483646 w 41"/>
              <a:gd name="T19" fmla="*/ 2147483646 h 281"/>
              <a:gd name="T20" fmla="*/ 2147483646 w 41"/>
              <a:gd name="T21" fmla="*/ 2147483646 h 281"/>
              <a:gd name="T22" fmla="*/ 2147483646 w 41"/>
              <a:gd name="T23" fmla="*/ 2147483646 h 281"/>
              <a:gd name="T24" fmla="*/ 2147483646 w 41"/>
              <a:gd name="T25" fmla="*/ 2147483646 h 281"/>
              <a:gd name="T26" fmla="*/ 0 w 41"/>
              <a:gd name="T27" fmla="*/ 2147483646 h 281"/>
              <a:gd name="T28" fmla="*/ 2147483646 w 41"/>
              <a:gd name="T29" fmla="*/ 2147483646 h 281"/>
              <a:gd name="T30" fmla="*/ 2147483646 w 41"/>
              <a:gd name="T31" fmla="*/ 2147483646 h 281"/>
              <a:gd name="T32" fmla="*/ 2147483646 w 41"/>
              <a:gd name="T33" fmla="*/ 2147483646 h 281"/>
              <a:gd name="T34" fmla="*/ 2147483646 w 41"/>
              <a:gd name="T35" fmla="*/ 2147483646 h 281"/>
              <a:gd name="T36" fmla="*/ 2147483646 w 41"/>
              <a:gd name="T37" fmla="*/ 2147483646 h 281"/>
              <a:gd name="T38" fmla="*/ 2147483646 w 41"/>
              <a:gd name="T39" fmla="*/ 2147483646 h 281"/>
              <a:gd name="T40" fmla="*/ 2147483646 w 41"/>
              <a:gd name="T41" fmla="*/ 2147483646 h 281"/>
              <a:gd name="T42" fmla="*/ 2147483646 w 41"/>
              <a:gd name="T43" fmla="*/ 2147483646 h 28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 h="281">
                <a:moveTo>
                  <a:pt x="15" y="41"/>
                </a:moveTo>
                <a:cubicBezTo>
                  <a:pt x="15" y="29"/>
                  <a:pt x="13" y="19"/>
                  <a:pt x="11" y="13"/>
                </a:cubicBezTo>
                <a:cubicBezTo>
                  <a:pt x="9" y="7"/>
                  <a:pt x="5" y="2"/>
                  <a:pt x="0" y="0"/>
                </a:cubicBezTo>
                <a:cubicBezTo>
                  <a:pt x="10" y="0"/>
                  <a:pt x="17" y="3"/>
                  <a:pt x="21" y="9"/>
                </a:cubicBezTo>
                <a:cubicBezTo>
                  <a:pt x="25" y="14"/>
                  <a:pt x="27" y="27"/>
                  <a:pt x="27" y="45"/>
                </a:cubicBezTo>
                <a:cubicBezTo>
                  <a:pt x="27" y="103"/>
                  <a:pt x="27" y="103"/>
                  <a:pt x="27" y="103"/>
                </a:cubicBezTo>
                <a:cubicBezTo>
                  <a:pt x="27" y="114"/>
                  <a:pt x="28" y="122"/>
                  <a:pt x="30" y="128"/>
                </a:cubicBezTo>
                <a:cubicBezTo>
                  <a:pt x="32" y="134"/>
                  <a:pt x="35" y="138"/>
                  <a:pt x="41" y="141"/>
                </a:cubicBezTo>
                <a:cubicBezTo>
                  <a:pt x="35" y="143"/>
                  <a:pt x="31" y="147"/>
                  <a:pt x="30" y="153"/>
                </a:cubicBezTo>
                <a:cubicBezTo>
                  <a:pt x="28" y="158"/>
                  <a:pt x="27" y="167"/>
                  <a:pt x="27" y="179"/>
                </a:cubicBezTo>
                <a:cubicBezTo>
                  <a:pt x="27" y="232"/>
                  <a:pt x="27" y="232"/>
                  <a:pt x="27" y="232"/>
                </a:cubicBezTo>
                <a:cubicBezTo>
                  <a:pt x="27" y="245"/>
                  <a:pt x="26" y="255"/>
                  <a:pt x="25" y="262"/>
                </a:cubicBezTo>
                <a:cubicBezTo>
                  <a:pt x="23" y="269"/>
                  <a:pt x="20" y="274"/>
                  <a:pt x="16" y="277"/>
                </a:cubicBezTo>
                <a:cubicBezTo>
                  <a:pt x="12" y="279"/>
                  <a:pt x="7" y="281"/>
                  <a:pt x="0" y="281"/>
                </a:cubicBezTo>
                <a:cubicBezTo>
                  <a:pt x="5" y="279"/>
                  <a:pt x="9" y="274"/>
                  <a:pt x="11" y="268"/>
                </a:cubicBezTo>
                <a:cubicBezTo>
                  <a:pt x="13" y="261"/>
                  <a:pt x="15" y="252"/>
                  <a:pt x="15" y="240"/>
                </a:cubicBezTo>
                <a:cubicBezTo>
                  <a:pt x="15" y="186"/>
                  <a:pt x="15" y="186"/>
                  <a:pt x="15" y="186"/>
                </a:cubicBezTo>
                <a:cubicBezTo>
                  <a:pt x="15" y="172"/>
                  <a:pt x="15" y="162"/>
                  <a:pt x="17" y="155"/>
                </a:cubicBezTo>
                <a:cubicBezTo>
                  <a:pt x="19" y="148"/>
                  <a:pt x="23" y="144"/>
                  <a:pt x="29" y="141"/>
                </a:cubicBezTo>
                <a:cubicBezTo>
                  <a:pt x="23" y="138"/>
                  <a:pt x="19" y="133"/>
                  <a:pt x="17" y="127"/>
                </a:cubicBezTo>
                <a:cubicBezTo>
                  <a:pt x="15" y="121"/>
                  <a:pt x="15" y="111"/>
                  <a:pt x="15" y="98"/>
                </a:cubicBezTo>
                <a:lnTo>
                  <a:pt x="15" y="41"/>
                </a:lnTo>
                <a:close/>
              </a:path>
            </a:pathLst>
          </a:custGeom>
          <a:ln/>
          <a:extLst/>
        </p:spPr>
        <p:style>
          <a:lnRef idx="3">
            <a:schemeClr val="lt1"/>
          </a:lnRef>
          <a:fillRef idx="1">
            <a:schemeClr val="accent2"/>
          </a:fillRef>
          <a:effectRef idx="1">
            <a:schemeClr val="accent2"/>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Tree>
    <p:extLst>
      <p:ext uri="{BB962C8B-B14F-4D97-AF65-F5344CB8AC3E}">
        <p14:creationId xmlns:p14="http://schemas.microsoft.com/office/powerpoint/2010/main" val="5704104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廊坊（安次</a:t>
            </a:r>
            <a:r>
              <a:rPr lang="en-US" altLang="zh-CN" dirty="0"/>
              <a:t>+</a:t>
            </a:r>
            <a:r>
              <a:rPr lang="zh-CN" altLang="en-US" dirty="0"/>
              <a:t>广阳）</a:t>
            </a:r>
            <a:r>
              <a:rPr lang="en-US" altLang="zh-CN" dirty="0"/>
              <a:t>| </a:t>
            </a:r>
            <a:r>
              <a:rPr lang="zh-CN" altLang="en-US" sz="1800" dirty="0">
                <a:solidFill>
                  <a:schemeClr val="tx1">
                    <a:lumMod val="75000"/>
                    <a:lumOff val="25000"/>
                  </a:schemeClr>
                </a:solidFill>
              </a:rPr>
              <a:t>土地市场</a:t>
            </a:r>
            <a:endParaRPr lang="zh-CN" altLang="en-US" dirty="0"/>
          </a:p>
        </p:txBody>
      </p:sp>
      <p:sp>
        <p:nvSpPr>
          <p:cNvPr id="5" name="文本占位符 2"/>
          <p:cNvSpPr txBox="1">
            <a:spLocks/>
          </p:cNvSpPr>
          <p:nvPr/>
        </p:nvSpPr>
        <p:spPr>
          <a:xfrm>
            <a:off x="522865" y="667816"/>
            <a:ext cx="4494511" cy="454025"/>
          </a:xfrm>
          <a:prstGeom prst="rect">
            <a:avLst/>
          </a:prstGeom>
        </p:spPr>
        <p:txBody>
          <a:bodyPr vert="horz"/>
          <a:lstStyle>
            <a:lvl1pPr marL="0" indent="0" algn="l" defTabSz="457200" rtl="0" eaLnBrk="1" latinLnBrk="0" hangingPunct="1">
              <a:spcBef>
                <a:spcPct val="20000"/>
              </a:spcBef>
              <a:buFont typeface="Arial"/>
              <a:buNone/>
              <a:defRPr sz="1600" kern="1200">
                <a:solidFill>
                  <a:schemeClr val="tx1">
                    <a:lumMod val="75000"/>
                    <a:lumOff val="25000"/>
                  </a:schemeClr>
                </a:solidFill>
                <a:latin typeface="Microsoft YaHei"/>
                <a:ea typeface="+mn-ea"/>
                <a:cs typeface="Microsoft YaHei"/>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85750" indent="-285750">
              <a:buClr>
                <a:schemeClr val="tx1"/>
              </a:buClr>
              <a:buFont typeface="Wingdings" pitchFamily="2" charset="2"/>
              <a:buChar char="Ø"/>
            </a:pPr>
            <a:r>
              <a:rPr lang="zh-CN" altLang="en-US" sz="1800" b="1" dirty="0">
                <a:solidFill>
                  <a:schemeClr val="tx1"/>
                </a:solidFill>
                <a:latin typeface="微软雅黑" pitchFamily="34" charset="-122"/>
                <a:ea typeface="微软雅黑" pitchFamily="34" charset="-122"/>
              </a:rPr>
              <a:t>土地市场：本月供应地块均被成交</a:t>
            </a:r>
          </a:p>
        </p:txBody>
      </p:sp>
      <p:sp>
        <p:nvSpPr>
          <p:cNvPr id="10" name="文本占位符 2"/>
          <p:cNvSpPr txBox="1">
            <a:spLocks/>
          </p:cNvSpPr>
          <p:nvPr/>
        </p:nvSpPr>
        <p:spPr>
          <a:xfrm>
            <a:off x="528960" y="1040600"/>
            <a:ext cx="8205128" cy="1201612"/>
          </a:xfrm>
          <a:prstGeom prst="rect">
            <a:avLst/>
          </a:prstGeom>
        </p:spPr>
        <p:txBody>
          <a:bodyPr vert="horz"/>
          <a:lstStyle>
            <a:lvl1pPr marL="0" indent="0" algn="l" defTabSz="457200" rtl="0" eaLnBrk="1" latinLnBrk="0" hangingPunct="1">
              <a:spcBef>
                <a:spcPct val="20000"/>
              </a:spcBef>
              <a:buFont typeface="Arial"/>
              <a:buNone/>
              <a:defRPr sz="1600" kern="1200">
                <a:solidFill>
                  <a:srgbClr val="404040"/>
                </a:solidFill>
                <a:latin typeface="Microsoft YaHei"/>
                <a:ea typeface="+mn-ea"/>
                <a:cs typeface="Microsoft YaHei"/>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85750" indent="-285750" algn="just">
              <a:lnSpc>
                <a:spcPct val="150000"/>
              </a:lnSpc>
              <a:spcBef>
                <a:spcPts val="0"/>
              </a:spcBef>
              <a:buFont typeface="Arial" panose="020B0604020202020204" pitchFamily="34" charset="0"/>
              <a:buChar char="•"/>
            </a:pPr>
            <a:r>
              <a:rPr lang="en-US" altLang="zh-CN" b="1" dirty="0">
                <a:solidFill>
                  <a:schemeClr val="tx1"/>
                </a:solidFill>
                <a:latin typeface="微软雅黑" pitchFamily="34" charset="-122"/>
                <a:ea typeface="微软雅黑" pitchFamily="34" charset="-122"/>
              </a:rPr>
              <a:t>2016</a:t>
            </a:r>
            <a:r>
              <a:rPr lang="zh-CN" altLang="en-US" b="1" dirty="0">
                <a:solidFill>
                  <a:schemeClr val="tx1"/>
                </a:solidFill>
                <a:latin typeface="微软雅黑" pitchFamily="34" charset="-122"/>
                <a:ea typeface="微软雅黑" pitchFamily="34" charset="-122"/>
              </a:rPr>
              <a:t>年</a:t>
            </a:r>
            <a:r>
              <a:rPr lang="en-US" altLang="zh-CN" b="1" dirty="0">
                <a:solidFill>
                  <a:schemeClr val="tx1"/>
                </a:solidFill>
                <a:latin typeface="微软雅黑" pitchFamily="34" charset="-122"/>
                <a:ea typeface="微软雅黑" pitchFamily="34" charset="-122"/>
              </a:rPr>
              <a:t>9</a:t>
            </a:r>
            <a:r>
              <a:rPr lang="zh-CN" altLang="en-US" b="1" dirty="0">
                <a:solidFill>
                  <a:schemeClr val="tx1"/>
                </a:solidFill>
                <a:latin typeface="微软雅黑" pitchFamily="34" charset="-122"/>
                <a:ea typeface="微软雅黑" pitchFamily="34" charset="-122"/>
              </a:rPr>
              <a:t>月：</a:t>
            </a:r>
            <a:r>
              <a:rPr lang="zh-CN" altLang="en-US" dirty="0">
                <a:solidFill>
                  <a:schemeClr val="tx1"/>
                </a:solidFill>
                <a:latin typeface="微软雅黑" pitchFamily="34" charset="-122"/>
                <a:ea typeface="微软雅黑" pitchFamily="34" charset="-122"/>
              </a:rPr>
              <a:t>供应</a:t>
            </a:r>
            <a:r>
              <a:rPr lang="en-US" altLang="zh-CN" dirty="0">
                <a:solidFill>
                  <a:schemeClr val="tx1"/>
                </a:solidFill>
                <a:latin typeface="微软雅黑" pitchFamily="34" charset="-122"/>
                <a:ea typeface="微软雅黑" pitchFamily="34" charset="-122"/>
              </a:rPr>
              <a:t>2</a:t>
            </a:r>
            <a:r>
              <a:rPr lang="zh-CN" altLang="en-US" dirty="0">
                <a:solidFill>
                  <a:schemeClr val="tx1"/>
                </a:solidFill>
                <a:latin typeface="微软雅黑" pitchFamily="34" charset="-122"/>
                <a:ea typeface="微软雅黑" pitchFamily="34" charset="-122"/>
              </a:rPr>
              <a:t>宗住宅用地，均被成交，建设用地面积为</a:t>
            </a:r>
            <a:r>
              <a:rPr lang="en-US" altLang="zh-CN" dirty="0">
                <a:solidFill>
                  <a:schemeClr val="tx1"/>
                </a:solidFill>
                <a:latin typeface="微软雅黑" pitchFamily="34" charset="-122"/>
                <a:ea typeface="微软雅黑" pitchFamily="34" charset="-122"/>
              </a:rPr>
              <a:t>1.9</a:t>
            </a:r>
            <a:r>
              <a:rPr lang="zh-CN" altLang="en-US" dirty="0">
                <a:solidFill>
                  <a:schemeClr val="tx1"/>
                </a:solidFill>
                <a:latin typeface="微软雅黑" pitchFamily="34" charset="-122"/>
                <a:ea typeface="微软雅黑" pitchFamily="34" charset="-122"/>
              </a:rPr>
              <a:t>万㎡，溢价率仅</a:t>
            </a:r>
            <a:r>
              <a:rPr lang="en-US" altLang="zh-CN" dirty="0">
                <a:solidFill>
                  <a:schemeClr val="tx1"/>
                </a:solidFill>
                <a:latin typeface="微软雅黑" pitchFamily="34" charset="-122"/>
                <a:ea typeface="微软雅黑" pitchFamily="34" charset="-122"/>
              </a:rPr>
              <a:t>1.99%</a:t>
            </a:r>
            <a:r>
              <a:rPr lang="zh-CN" altLang="en-US" dirty="0">
                <a:solidFill>
                  <a:schemeClr val="tx1"/>
                </a:solidFill>
                <a:latin typeface="微软雅黑" pitchFamily="34" charset="-122"/>
                <a:ea typeface="微软雅黑" pitchFamily="34" charset="-122"/>
              </a:rPr>
              <a:t>。</a:t>
            </a:r>
            <a:endParaRPr lang="en-US" altLang="zh-CN" dirty="0">
              <a:solidFill>
                <a:schemeClr val="tx1"/>
              </a:solidFill>
              <a:latin typeface="微软雅黑" pitchFamily="34" charset="-122"/>
              <a:ea typeface="微软雅黑" pitchFamily="34" charset="-122"/>
            </a:endParaRPr>
          </a:p>
          <a:p>
            <a:pPr marL="285750" indent="-285750" algn="just">
              <a:lnSpc>
                <a:spcPct val="150000"/>
              </a:lnSpc>
              <a:spcBef>
                <a:spcPts val="0"/>
              </a:spcBef>
              <a:buFont typeface="Arial" panose="020B0604020202020204" pitchFamily="34" charset="0"/>
              <a:buChar char="•"/>
            </a:pPr>
            <a:r>
              <a:rPr lang="en-US" altLang="zh-CN" b="1" dirty="0">
                <a:solidFill>
                  <a:schemeClr val="tx1"/>
                </a:solidFill>
                <a:latin typeface="微软雅黑" pitchFamily="34" charset="-122"/>
                <a:ea typeface="微软雅黑" pitchFamily="34" charset="-122"/>
              </a:rPr>
              <a:t>2016</a:t>
            </a:r>
            <a:r>
              <a:rPr lang="zh-CN" altLang="en-US" b="1" dirty="0">
                <a:solidFill>
                  <a:schemeClr val="tx1"/>
                </a:solidFill>
                <a:latin typeface="微软雅黑" pitchFamily="34" charset="-122"/>
                <a:ea typeface="微软雅黑" pitchFamily="34" charset="-122"/>
              </a:rPr>
              <a:t>年</a:t>
            </a:r>
            <a:r>
              <a:rPr lang="en-US" altLang="zh-CN" b="1" dirty="0">
                <a:solidFill>
                  <a:schemeClr val="tx1"/>
                </a:solidFill>
                <a:latin typeface="微软雅黑" pitchFamily="34" charset="-122"/>
                <a:ea typeface="微软雅黑" pitchFamily="34" charset="-122"/>
              </a:rPr>
              <a:t>1-9</a:t>
            </a:r>
            <a:r>
              <a:rPr lang="zh-CN" altLang="en-US" b="1" dirty="0">
                <a:solidFill>
                  <a:schemeClr val="tx1"/>
                </a:solidFill>
                <a:latin typeface="微软雅黑" pitchFamily="34" charset="-122"/>
                <a:ea typeface="微软雅黑" pitchFamily="34" charset="-122"/>
              </a:rPr>
              <a:t>月：</a:t>
            </a:r>
            <a:r>
              <a:rPr lang="zh-CN" altLang="en-US" dirty="0">
                <a:solidFill>
                  <a:schemeClr val="tx1"/>
                </a:solidFill>
                <a:latin typeface="微软雅黑" pitchFamily="34" charset="-122"/>
                <a:ea typeface="微软雅黑" pitchFamily="34" charset="-122"/>
              </a:rPr>
              <a:t>供应</a:t>
            </a:r>
            <a:r>
              <a:rPr lang="en-US" altLang="zh-CN" dirty="0">
                <a:solidFill>
                  <a:schemeClr val="tx1"/>
                </a:solidFill>
                <a:latin typeface="微软雅黑" pitchFamily="34" charset="-122"/>
                <a:ea typeface="微软雅黑" pitchFamily="34" charset="-122"/>
              </a:rPr>
              <a:t>22</a:t>
            </a:r>
            <a:r>
              <a:rPr lang="zh-CN" altLang="en-US" dirty="0">
                <a:solidFill>
                  <a:schemeClr val="tx1"/>
                </a:solidFill>
                <a:latin typeface="微软雅黑" pitchFamily="34" charset="-122"/>
                <a:ea typeface="微软雅黑" pitchFamily="34" charset="-122"/>
              </a:rPr>
              <a:t>宗，其中</a:t>
            </a:r>
            <a:r>
              <a:rPr lang="en-US" altLang="zh-CN" dirty="0">
                <a:solidFill>
                  <a:schemeClr val="tx1"/>
                </a:solidFill>
                <a:latin typeface="微软雅黑" pitchFamily="34" charset="-122"/>
                <a:ea typeface="微软雅黑" pitchFamily="34" charset="-122"/>
              </a:rPr>
              <a:t>14</a:t>
            </a:r>
            <a:r>
              <a:rPr lang="zh-CN" altLang="en-US" dirty="0">
                <a:solidFill>
                  <a:schemeClr val="tx1"/>
                </a:solidFill>
                <a:latin typeface="微软雅黑" pitchFamily="34" charset="-122"/>
                <a:ea typeface="微软雅黑" pitchFamily="34" charset="-122"/>
              </a:rPr>
              <a:t>宗住宅用地，</a:t>
            </a:r>
            <a:r>
              <a:rPr lang="en-US" altLang="zh-CN" dirty="0">
                <a:solidFill>
                  <a:schemeClr val="tx1"/>
                </a:solidFill>
                <a:latin typeface="微软雅黑" pitchFamily="34" charset="-122"/>
                <a:ea typeface="微软雅黑" pitchFamily="34" charset="-122"/>
              </a:rPr>
              <a:t>1</a:t>
            </a:r>
            <a:r>
              <a:rPr lang="zh-CN" altLang="en-US" dirty="0">
                <a:solidFill>
                  <a:schemeClr val="tx1"/>
                </a:solidFill>
                <a:latin typeface="微软雅黑" pitchFamily="34" charset="-122"/>
                <a:ea typeface="微软雅黑" pitchFamily="34" charset="-122"/>
              </a:rPr>
              <a:t>宗商办用地，</a:t>
            </a:r>
            <a:r>
              <a:rPr lang="en-US" altLang="zh-CN" dirty="0">
                <a:solidFill>
                  <a:schemeClr val="tx1"/>
                </a:solidFill>
                <a:latin typeface="微软雅黑" pitchFamily="34" charset="-122"/>
                <a:ea typeface="微软雅黑" pitchFamily="34" charset="-122"/>
              </a:rPr>
              <a:t>7</a:t>
            </a:r>
            <a:r>
              <a:rPr lang="zh-CN" altLang="en-US" dirty="0">
                <a:solidFill>
                  <a:schemeClr val="tx1"/>
                </a:solidFill>
                <a:latin typeface="微软雅黑" pitchFamily="34" charset="-122"/>
                <a:ea typeface="微软雅黑" pitchFamily="34" charset="-122"/>
              </a:rPr>
              <a:t>宗工业用地。 </a:t>
            </a:r>
            <a:endParaRPr lang="en-US" altLang="zh-CN" dirty="0">
              <a:solidFill>
                <a:schemeClr val="tx1"/>
              </a:solidFill>
              <a:latin typeface="微软雅黑" pitchFamily="34" charset="-122"/>
              <a:ea typeface="微软雅黑" pitchFamily="34" charset="-122"/>
            </a:endParaRPr>
          </a:p>
          <a:p>
            <a:pPr algn="just">
              <a:lnSpc>
                <a:spcPct val="150000"/>
              </a:lnSpc>
              <a:spcBef>
                <a:spcPts val="0"/>
              </a:spcBef>
            </a:pPr>
            <a:r>
              <a:rPr lang="en-US" altLang="zh-CN" dirty="0">
                <a:solidFill>
                  <a:schemeClr val="tx1"/>
                </a:solidFill>
                <a:latin typeface="微软雅黑" pitchFamily="34" charset="-122"/>
                <a:ea typeface="微软雅黑" pitchFamily="34" charset="-122"/>
              </a:rPr>
              <a:t>                             </a:t>
            </a:r>
            <a:r>
              <a:rPr lang="zh-CN" altLang="en-US" dirty="0">
                <a:solidFill>
                  <a:schemeClr val="tx1"/>
                </a:solidFill>
                <a:latin typeface="微软雅黑" pitchFamily="34" charset="-122"/>
                <a:ea typeface="微软雅黑" pitchFamily="34" charset="-122"/>
              </a:rPr>
              <a:t>成交</a:t>
            </a:r>
            <a:r>
              <a:rPr lang="en-US" altLang="zh-CN" b="1" dirty="0">
                <a:solidFill>
                  <a:srgbClr val="C00000"/>
                </a:solidFill>
                <a:latin typeface="微软雅黑" pitchFamily="34" charset="-122"/>
                <a:ea typeface="微软雅黑" pitchFamily="34" charset="-122"/>
              </a:rPr>
              <a:t>17</a:t>
            </a:r>
            <a:r>
              <a:rPr lang="zh-CN" altLang="en-US" b="1" dirty="0">
                <a:solidFill>
                  <a:srgbClr val="C00000"/>
                </a:solidFill>
                <a:latin typeface="微软雅黑" pitchFamily="34" charset="-122"/>
                <a:ea typeface="微软雅黑" pitchFamily="34" charset="-122"/>
              </a:rPr>
              <a:t>宗</a:t>
            </a:r>
            <a:r>
              <a:rPr lang="zh-CN" altLang="en-US" dirty="0">
                <a:solidFill>
                  <a:schemeClr val="tx1"/>
                </a:solidFill>
                <a:latin typeface="微软雅黑" pitchFamily="34" charset="-122"/>
                <a:ea typeface="微软雅黑" pitchFamily="34" charset="-122"/>
              </a:rPr>
              <a:t>，建设用地面积共</a:t>
            </a:r>
            <a:r>
              <a:rPr lang="en-US" altLang="zh-CN" dirty="0">
                <a:solidFill>
                  <a:schemeClr val="tx1"/>
                </a:solidFill>
                <a:latin typeface="微软雅黑" pitchFamily="34" charset="-122"/>
                <a:ea typeface="微软雅黑" pitchFamily="34" charset="-122"/>
              </a:rPr>
              <a:t>46.0</a:t>
            </a:r>
            <a:r>
              <a:rPr lang="zh-CN" altLang="en-US" dirty="0">
                <a:solidFill>
                  <a:schemeClr val="tx1"/>
                </a:solidFill>
                <a:latin typeface="微软雅黑" pitchFamily="34" charset="-122"/>
                <a:ea typeface="微软雅黑" pitchFamily="34" charset="-122"/>
              </a:rPr>
              <a:t>万㎡，金额</a:t>
            </a:r>
            <a:r>
              <a:rPr lang="en-US" altLang="zh-CN" dirty="0">
                <a:solidFill>
                  <a:schemeClr val="tx1"/>
                </a:solidFill>
                <a:latin typeface="微软雅黑" pitchFamily="34" charset="-122"/>
                <a:ea typeface="微软雅黑" pitchFamily="34" charset="-122"/>
              </a:rPr>
              <a:t>12.3</a:t>
            </a:r>
            <a:r>
              <a:rPr lang="zh-CN" altLang="en-US" dirty="0">
                <a:solidFill>
                  <a:schemeClr val="tx1"/>
                </a:solidFill>
                <a:latin typeface="微软雅黑" pitchFamily="34" charset="-122"/>
                <a:ea typeface="微软雅黑" pitchFamily="34" charset="-122"/>
              </a:rPr>
              <a:t>亿元。</a:t>
            </a:r>
            <a:endParaRPr lang="en-US" altLang="zh-CN" dirty="0">
              <a:solidFill>
                <a:schemeClr val="tx1"/>
              </a:solidFill>
              <a:latin typeface="微软雅黑" pitchFamily="34" charset="-122"/>
              <a:ea typeface="微软雅黑" pitchFamily="34" charset="-122"/>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1122" y="2356554"/>
            <a:ext cx="6538711" cy="2199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0386" y="4542176"/>
            <a:ext cx="4359275" cy="2116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8"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65885" y="4538956"/>
            <a:ext cx="4359275" cy="2255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094023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廊坊（安次</a:t>
            </a:r>
            <a:r>
              <a:rPr lang="en-US" altLang="zh-CN" dirty="0"/>
              <a:t>+</a:t>
            </a:r>
            <a:r>
              <a:rPr lang="zh-CN" altLang="en-US" dirty="0"/>
              <a:t>广阳）</a:t>
            </a:r>
            <a:r>
              <a:rPr lang="en-US" altLang="zh-CN" dirty="0"/>
              <a:t>| </a:t>
            </a:r>
            <a:r>
              <a:rPr lang="zh-CN" altLang="en-US" sz="1800" dirty="0">
                <a:solidFill>
                  <a:schemeClr val="tx1">
                    <a:lumMod val="75000"/>
                    <a:lumOff val="25000"/>
                  </a:schemeClr>
                </a:solidFill>
              </a:rPr>
              <a:t>商品房市场</a:t>
            </a:r>
            <a:endParaRPr lang="zh-CN" altLang="en-US" dirty="0"/>
          </a:p>
        </p:txBody>
      </p:sp>
      <p:sp>
        <p:nvSpPr>
          <p:cNvPr id="8" name="文本占位符 2"/>
          <p:cNvSpPr txBox="1">
            <a:spLocks/>
          </p:cNvSpPr>
          <p:nvPr/>
        </p:nvSpPr>
        <p:spPr>
          <a:xfrm>
            <a:off x="484765" y="861739"/>
            <a:ext cx="7059035" cy="454025"/>
          </a:xfrm>
          <a:prstGeom prst="rect">
            <a:avLst/>
          </a:prstGeom>
        </p:spPr>
        <p:txBody>
          <a:bodyPr vert="horz"/>
          <a:lstStyle>
            <a:lvl1pPr marL="0" indent="0" algn="l" defTabSz="457200" rtl="0" eaLnBrk="1" latinLnBrk="0" hangingPunct="1">
              <a:spcBef>
                <a:spcPct val="20000"/>
              </a:spcBef>
              <a:buFont typeface="Arial"/>
              <a:buNone/>
              <a:defRPr sz="1600" kern="1200">
                <a:solidFill>
                  <a:schemeClr val="tx1">
                    <a:lumMod val="75000"/>
                    <a:lumOff val="25000"/>
                  </a:schemeClr>
                </a:solidFill>
                <a:latin typeface="Microsoft YaHei"/>
                <a:ea typeface="+mn-ea"/>
                <a:cs typeface="Microsoft YaHei"/>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85750" indent="-285750">
              <a:buClr>
                <a:schemeClr val="tx1"/>
              </a:buClr>
              <a:buFont typeface="Wingdings" pitchFamily="2" charset="2"/>
              <a:buChar char="Ø"/>
            </a:pPr>
            <a:r>
              <a:rPr lang="zh-CN" altLang="en-US" sz="1800" b="1" dirty="0">
                <a:solidFill>
                  <a:schemeClr val="tx1"/>
                </a:solidFill>
                <a:latin typeface="微软雅黑" pitchFamily="34" charset="-122"/>
                <a:ea typeface="微软雅黑" pitchFamily="34" charset="-122"/>
              </a:rPr>
              <a:t>商品房：价格上涨，市场供不应求，去化周期竟不足</a:t>
            </a:r>
            <a:r>
              <a:rPr lang="en-US" altLang="zh-CN" sz="1800" b="1" dirty="0">
                <a:solidFill>
                  <a:schemeClr val="tx1"/>
                </a:solidFill>
                <a:latin typeface="微软雅黑" pitchFamily="34" charset="-122"/>
                <a:ea typeface="微软雅黑" pitchFamily="34" charset="-122"/>
              </a:rPr>
              <a:t>1</a:t>
            </a:r>
            <a:r>
              <a:rPr lang="zh-CN" altLang="en-US" sz="1800" b="1" dirty="0">
                <a:solidFill>
                  <a:schemeClr val="tx1"/>
                </a:solidFill>
                <a:latin typeface="微软雅黑" pitchFamily="34" charset="-122"/>
                <a:ea typeface="微软雅黑" pitchFamily="34" charset="-122"/>
              </a:rPr>
              <a:t>个月</a:t>
            </a:r>
          </a:p>
        </p:txBody>
      </p:sp>
      <p:sp>
        <p:nvSpPr>
          <p:cNvPr id="10" name="TextBox 9"/>
          <p:cNvSpPr txBox="1"/>
          <p:nvPr/>
        </p:nvSpPr>
        <p:spPr>
          <a:xfrm>
            <a:off x="4744825" y="6599079"/>
            <a:ext cx="4088349" cy="246221"/>
          </a:xfrm>
          <a:prstGeom prst="rect">
            <a:avLst/>
          </a:prstGeom>
          <a:noFill/>
        </p:spPr>
        <p:txBody>
          <a:bodyPr wrap="square" rtlCol="0">
            <a:spAutoFit/>
          </a:bodyPr>
          <a:lstStyle/>
          <a:p>
            <a:r>
              <a:rPr lang="zh-CN" altLang="en-US" sz="1000" spc="100" dirty="0">
                <a:latin typeface="+mj-ea"/>
                <a:ea typeface="+mj-ea"/>
              </a:rPr>
              <a:t>去化周期</a:t>
            </a:r>
            <a:r>
              <a:rPr lang="en-US" altLang="zh-CN" sz="1000" spc="100" dirty="0">
                <a:latin typeface="+mj-ea"/>
                <a:ea typeface="+mj-ea"/>
              </a:rPr>
              <a:t>=</a:t>
            </a:r>
            <a:r>
              <a:rPr lang="zh-CN" altLang="en-US" sz="1000" spc="100" dirty="0">
                <a:latin typeface="+mj-ea"/>
                <a:ea typeface="+mj-ea"/>
              </a:rPr>
              <a:t>可售面积</a:t>
            </a:r>
            <a:r>
              <a:rPr lang="en-US" altLang="zh-CN" sz="1000" spc="100" dirty="0">
                <a:latin typeface="+mj-ea"/>
                <a:ea typeface="+mj-ea"/>
              </a:rPr>
              <a:t>/</a:t>
            </a:r>
            <a:r>
              <a:rPr lang="zh-CN" altLang="en-US" sz="1000" spc="100" dirty="0">
                <a:latin typeface="+mj-ea"/>
                <a:ea typeface="+mj-ea"/>
              </a:rPr>
              <a:t>近</a:t>
            </a:r>
            <a:r>
              <a:rPr lang="en-US" altLang="zh-CN" sz="1000" spc="100" dirty="0">
                <a:latin typeface="+mj-ea"/>
                <a:ea typeface="+mj-ea"/>
              </a:rPr>
              <a:t>12</a:t>
            </a:r>
            <a:r>
              <a:rPr lang="zh-CN" altLang="en-US" sz="1000" spc="100" dirty="0">
                <a:latin typeface="+mj-ea"/>
                <a:ea typeface="+mj-ea"/>
              </a:rPr>
              <a:t>个月月均成交面积</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2098" y="1315764"/>
            <a:ext cx="7002631" cy="2642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59301" y="4124166"/>
            <a:ext cx="4584700" cy="2474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 y="4124166"/>
            <a:ext cx="4559300" cy="2474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091771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廊坊（安次</a:t>
            </a:r>
            <a:r>
              <a:rPr lang="en-US" altLang="zh-CN" dirty="0"/>
              <a:t>+</a:t>
            </a:r>
            <a:r>
              <a:rPr lang="zh-CN" altLang="en-US" dirty="0"/>
              <a:t>广阳）</a:t>
            </a:r>
            <a:r>
              <a:rPr lang="en-US" altLang="zh-CN" dirty="0"/>
              <a:t>| </a:t>
            </a:r>
            <a:r>
              <a:rPr lang="zh-CN" altLang="en-US" sz="1800" dirty="0">
                <a:solidFill>
                  <a:schemeClr val="tx1">
                    <a:lumMod val="75000"/>
                    <a:lumOff val="25000"/>
                  </a:schemeClr>
                </a:solidFill>
              </a:rPr>
              <a:t>商品住宅市场</a:t>
            </a:r>
            <a:endParaRPr lang="zh-CN" altLang="en-US" dirty="0"/>
          </a:p>
        </p:txBody>
      </p:sp>
      <p:sp>
        <p:nvSpPr>
          <p:cNvPr id="4" name="灯片编号占位符 3"/>
          <p:cNvSpPr>
            <a:spLocks noGrp="1"/>
          </p:cNvSpPr>
          <p:nvPr>
            <p:ph type="sldNum" sz="quarter" idx="4"/>
          </p:nvPr>
        </p:nvSpPr>
        <p:spPr/>
        <p:txBody>
          <a:bodyPr/>
          <a:lstStyle/>
          <a:p>
            <a:pPr>
              <a:defRPr/>
            </a:pPr>
            <a:fld id="{3E8B6F27-EC4F-B34E-9F32-10CC92E9AB18}" type="slidenum">
              <a:rPr lang="zh-CN" altLang="en-US" smtClean="0"/>
              <a:pPr>
                <a:defRPr/>
              </a:pPr>
              <a:t>44</a:t>
            </a:fld>
            <a:endParaRPr lang="zh-CN" altLang="en-US" dirty="0"/>
          </a:p>
        </p:txBody>
      </p:sp>
      <p:sp>
        <p:nvSpPr>
          <p:cNvPr id="7" name="文本占位符 2"/>
          <p:cNvSpPr txBox="1">
            <a:spLocks/>
          </p:cNvSpPr>
          <p:nvPr/>
        </p:nvSpPr>
        <p:spPr>
          <a:xfrm>
            <a:off x="573665" y="690160"/>
            <a:ext cx="7059035" cy="487504"/>
          </a:xfrm>
          <a:prstGeom prst="rect">
            <a:avLst/>
          </a:prstGeom>
        </p:spPr>
        <p:txBody>
          <a:bodyPr vert="horz" anchor="ctr"/>
          <a:lstStyle>
            <a:lvl1pPr marL="0" indent="0" algn="l" defTabSz="457200" rtl="0" eaLnBrk="1" latinLnBrk="0" hangingPunct="1">
              <a:spcBef>
                <a:spcPct val="20000"/>
              </a:spcBef>
              <a:buFont typeface="Arial"/>
              <a:buNone/>
              <a:defRPr sz="1600" kern="1200">
                <a:solidFill>
                  <a:schemeClr val="tx1">
                    <a:lumMod val="75000"/>
                    <a:lumOff val="25000"/>
                  </a:schemeClr>
                </a:solidFill>
                <a:latin typeface="Microsoft YaHei"/>
                <a:ea typeface="+mn-ea"/>
                <a:cs typeface="Microsoft YaHei"/>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85750" indent="-285750">
              <a:buClr>
                <a:schemeClr val="tx1"/>
              </a:buClr>
              <a:buFont typeface="Wingdings" pitchFamily="2" charset="2"/>
              <a:buChar char="Ø"/>
            </a:pPr>
            <a:r>
              <a:rPr lang="zh-CN" altLang="en-US" sz="1800" b="1" dirty="0">
                <a:solidFill>
                  <a:schemeClr val="tx1"/>
                </a:solidFill>
                <a:latin typeface="微软雅黑" pitchFamily="34" charset="-122"/>
                <a:ea typeface="微软雅黑" pitchFamily="34" charset="-122"/>
              </a:rPr>
              <a:t>商品住宅：均价持续上涨，低总价成交本月爆发</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890" y="1275576"/>
            <a:ext cx="7193824" cy="28095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4082786"/>
            <a:ext cx="4578098" cy="2510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8099" y="4112455"/>
            <a:ext cx="4565902" cy="2481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654635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廊坊（安次</a:t>
            </a:r>
            <a:r>
              <a:rPr lang="en-US" altLang="zh-CN" dirty="0"/>
              <a:t>+</a:t>
            </a:r>
            <a:r>
              <a:rPr lang="zh-CN" altLang="en-US" dirty="0"/>
              <a:t>广阳）</a:t>
            </a:r>
            <a:r>
              <a:rPr lang="en-US" altLang="zh-CN" dirty="0"/>
              <a:t>| </a:t>
            </a:r>
            <a:r>
              <a:rPr lang="zh-CN" altLang="en-US" sz="1800" dirty="0">
                <a:solidFill>
                  <a:schemeClr val="tx1">
                    <a:lumMod val="75000"/>
                    <a:lumOff val="25000"/>
                  </a:schemeClr>
                </a:solidFill>
              </a:rPr>
              <a:t>办公、商业市场</a:t>
            </a:r>
            <a:endParaRPr lang="zh-CN" altLang="en-US" dirty="0"/>
          </a:p>
        </p:txBody>
      </p:sp>
      <p:sp>
        <p:nvSpPr>
          <p:cNvPr id="4" name="灯片编号占位符 3"/>
          <p:cNvSpPr>
            <a:spLocks noGrp="1"/>
          </p:cNvSpPr>
          <p:nvPr>
            <p:ph type="sldNum" sz="quarter" idx="4"/>
          </p:nvPr>
        </p:nvSpPr>
        <p:spPr/>
        <p:txBody>
          <a:bodyPr/>
          <a:lstStyle/>
          <a:p>
            <a:pPr>
              <a:defRPr/>
            </a:pPr>
            <a:fld id="{3E8B6F27-EC4F-B34E-9F32-10CC92E9AB18}" type="slidenum">
              <a:rPr lang="zh-CN" altLang="en-US" smtClean="0"/>
              <a:pPr>
                <a:defRPr/>
              </a:pPr>
              <a:t>45</a:t>
            </a:fld>
            <a:endParaRPr lang="zh-CN" altLang="en-US" dirty="0"/>
          </a:p>
        </p:txBody>
      </p:sp>
      <p:sp>
        <p:nvSpPr>
          <p:cNvPr id="6" name="文本占位符 2"/>
          <p:cNvSpPr txBox="1">
            <a:spLocks/>
          </p:cNvSpPr>
          <p:nvPr/>
        </p:nvSpPr>
        <p:spPr>
          <a:xfrm>
            <a:off x="162371" y="722106"/>
            <a:ext cx="7059035" cy="454025"/>
          </a:xfrm>
          <a:prstGeom prst="rect">
            <a:avLst/>
          </a:prstGeom>
        </p:spPr>
        <p:txBody>
          <a:bodyPr vert="horz"/>
          <a:lstStyle>
            <a:lvl1pPr marL="0" indent="0" algn="l" defTabSz="457200" rtl="0" eaLnBrk="1" latinLnBrk="0" hangingPunct="1">
              <a:spcBef>
                <a:spcPct val="20000"/>
              </a:spcBef>
              <a:buFont typeface="Arial"/>
              <a:buNone/>
              <a:defRPr sz="1600" kern="1200">
                <a:solidFill>
                  <a:schemeClr val="tx1">
                    <a:lumMod val="75000"/>
                    <a:lumOff val="25000"/>
                  </a:schemeClr>
                </a:solidFill>
                <a:latin typeface="Microsoft YaHei"/>
                <a:ea typeface="+mn-ea"/>
                <a:cs typeface="Microsoft YaHei"/>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85750" indent="-285750">
              <a:buClr>
                <a:schemeClr val="tx1"/>
              </a:buClr>
              <a:buFont typeface="Wingdings" pitchFamily="2" charset="2"/>
              <a:buChar char="Ø"/>
            </a:pPr>
            <a:r>
              <a:rPr lang="zh-CN" altLang="en-US" sz="1800" b="1" dirty="0">
                <a:solidFill>
                  <a:schemeClr val="tx1"/>
                </a:solidFill>
                <a:latin typeface="微软雅黑" pitchFamily="34" charset="-122"/>
                <a:ea typeface="微软雅黑" pitchFamily="34" charset="-122"/>
              </a:rPr>
              <a:t>办公市场：</a:t>
            </a:r>
            <a:r>
              <a:rPr lang="en-US" altLang="zh-CN" sz="1800" b="1" dirty="0">
                <a:solidFill>
                  <a:schemeClr val="tx1"/>
                </a:solidFill>
                <a:latin typeface="微软雅黑" pitchFamily="34" charset="-122"/>
                <a:ea typeface="微软雅黑" pitchFamily="34" charset="-122"/>
              </a:rPr>
              <a:t>8</a:t>
            </a:r>
            <a:r>
              <a:rPr lang="zh-CN" altLang="en-US" sz="1800" b="1" dirty="0">
                <a:solidFill>
                  <a:schemeClr val="tx1"/>
                </a:solidFill>
                <a:latin typeface="微软雅黑" pitchFamily="34" charset="-122"/>
                <a:ea typeface="微软雅黑" pitchFamily="34" charset="-122"/>
              </a:rPr>
              <a:t>月继续量跌价涨</a:t>
            </a:r>
          </a:p>
        </p:txBody>
      </p:sp>
      <p:sp>
        <p:nvSpPr>
          <p:cNvPr id="7" name="文本占位符 2"/>
          <p:cNvSpPr txBox="1">
            <a:spLocks/>
          </p:cNvSpPr>
          <p:nvPr/>
        </p:nvSpPr>
        <p:spPr>
          <a:xfrm>
            <a:off x="162370" y="3685512"/>
            <a:ext cx="7059035" cy="454025"/>
          </a:xfrm>
          <a:prstGeom prst="rect">
            <a:avLst/>
          </a:prstGeom>
        </p:spPr>
        <p:txBody>
          <a:bodyPr vert="horz"/>
          <a:lstStyle>
            <a:lvl1pPr marL="0" indent="0" algn="l" defTabSz="457200" rtl="0" eaLnBrk="1" latinLnBrk="0" hangingPunct="1">
              <a:spcBef>
                <a:spcPct val="20000"/>
              </a:spcBef>
              <a:buFont typeface="Arial"/>
              <a:buNone/>
              <a:defRPr sz="1600" kern="1200">
                <a:solidFill>
                  <a:schemeClr val="tx1">
                    <a:lumMod val="75000"/>
                    <a:lumOff val="25000"/>
                  </a:schemeClr>
                </a:solidFill>
                <a:latin typeface="Microsoft YaHei"/>
                <a:ea typeface="+mn-ea"/>
                <a:cs typeface="Microsoft YaHei"/>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85750" indent="-285750">
              <a:buClr>
                <a:schemeClr val="tx1"/>
              </a:buClr>
              <a:buFont typeface="Wingdings" pitchFamily="2" charset="2"/>
              <a:buChar char="Ø"/>
            </a:pPr>
            <a:r>
              <a:rPr lang="zh-CN" altLang="en-US" sz="1800" b="1" dirty="0">
                <a:solidFill>
                  <a:schemeClr val="tx1"/>
                </a:solidFill>
                <a:latin typeface="微软雅黑" pitchFamily="34" charset="-122"/>
                <a:ea typeface="微软雅黑" pitchFamily="34" charset="-122"/>
              </a:rPr>
              <a:t>商业市场：成交量平稳上升，价格小幅回落</a:t>
            </a:r>
          </a:p>
        </p:txBody>
      </p:sp>
      <p:graphicFrame>
        <p:nvGraphicFramePr>
          <p:cNvPr id="9" name="图表 8"/>
          <p:cNvGraphicFramePr>
            <a:graphicFrameLocks/>
          </p:cNvGraphicFramePr>
          <p:nvPr>
            <p:extLst>
              <p:ext uri="{D42A27DB-BD31-4B8C-83A1-F6EECF244321}">
                <p14:modId xmlns:p14="http://schemas.microsoft.com/office/powerpoint/2010/main" val="891131072"/>
              </p:ext>
            </p:extLst>
          </p:nvPr>
        </p:nvGraphicFramePr>
        <p:xfrm>
          <a:off x="1067882" y="1176131"/>
          <a:ext cx="7066183" cy="24765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图表 10"/>
          <p:cNvGraphicFramePr>
            <a:graphicFrameLocks/>
          </p:cNvGraphicFramePr>
          <p:nvPr>
            <p:extLst>
              <p:ext uri="{D42A27DB-BD31-4B8C-83A1-F6EECF244321}">
                <p14:modId xmlns:p14="http://schemas.microsoft.com/office/powerpoint/2010/main" val="2739634824"/>
              </p:ext>
            </p:extLst>
          </p:nvPr>
        </p:nvGraphicFramePr>
        <p:xfrm>
          <a:off x="987579" y="4244975"/>
          <a:ext cx="7146486" cy="24765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1067768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廊坊（安次</a:t>
            </a:r>
            <a:r>
              <a:rPr lang="en-US" altLang="zh-CN" dirty="0"/>
              <a:t>+</a:t>
            </a:r>
            <a:r>
              <a:rPr lang="zh-CN" altLang="en-US" dirty="0"/>
              <a:t>广阳）</a:t>
            </a:r>
            <a:r>
              <a:rPr lang="en-US" altLang="zh-CN" dirty="0"/>
              <a:t>| </a:t>
            </a:r>
            <a:r>
              <a:rPr lang="zh-CN" altLang="en-US" sz="1800" dirty="0">
                <a:solidFill>
                  <a:schemeClr val="tx1">
                    <a:lumMod val="75000"/>
                    <a:lumOff val="25000"/>
                  </a:schemeClr>
                </a:solidFill>
              </a:rPr>
              <a:t>项目预售情况</a:t>
            </a:r>
          </a:p>
        </p:txBody>
      </p:sp>
      <p:sp>
        <p:nvSpPr>
          <p:cNvPr id="4" name="灯片编号占位符 3"/>
          <p:cNvSpPr>
            <a:spLocks noGrp="1"/>
          </p:cNvSpPr>
          <p:nvPr>
            <p:ph type="sldNum" sz="quarter" idx="4"/>
          </p:nvPr>
        </p:nvSpPr>
        <p:spPr/>
        <p:txBody>
          <a:bodyPr/>
          <a:lstStyle/>
          <a:p>
            <a:pPr>
              <a:defRPr/>
            </a:pPr>
            <a:fld id="{3E8B6F27-EC4F-B34E-9F32-10CC92E9AB18}" type="slidenum">
              <a:rPr lang="zh-CN" altLang="en-US" smtClean="0"/>
              <a:pPr>
                <a:defRPr/>
              </a:pPr>
              <a:t>46</a:t>
            </a:fld>
            <a:endParaRPr lang="zh-CN" altLang="en-US" dirty="0"/>
          </a:p>
        </p:txBody>
      </p:sp>
      <p:graphicFrame>
        <p:nvGraphicFramePr>
          <p:cNvPr id="8" name="表格 7"/>
          <p:cNvGraphicFramePr>
            <a:graphicFrameLocks noGrp="1"/>
          </p:cNvGraphicFramePr>
          <p:nvPr>
            <p:extLst>
              <p:ext uri="{D42A27DB-BD31-4B8C-83A1-F6EECF244321}">
                <p14:modId xmlns:p14="http://schemas.microsoft.com/office/powerpoint/2010/main" val="3062137563"/>
              </p:ext>
            </p:extLst>
          </p:nvPr>
        </p:nvGraphicFramePr>
        <p:xfrm>
          <a:off x="1727839" y="1062520"/>
          <a:ext cx="4999018" cy="2066925"/>
        </p:xfrm>
        <a:graphic>
          <a:graphicData uri="http://schemas.openxmlformats.org/drawingml/2006/table">
            <a:tbl>
              <a:tblPr>
                <a:tableStyleId>{5C22544A-7EE6-4342-B048-85BDC9FD1C3A}</a:tableStyleId>
              </a:tblPr>
              <a:tblGrid>
                <a:gridCol w="1454748">
                  <a:extLst>
                    <a:ext uri="{9D8B030D-6E8A-4147-A177-3AD203B41FA5}">
                      <a16:colId xmlns:a16="http://schemas.microsoft.com/office/drawing/2014/main" val="20000"/>
                    </a:ext>
                  </a:extLst>
                </a:gridCol>
                <a:gridCol w="829855">
                  <a:extLst>
                    <a:ext uri="{9D8B030D-6E8A-4147-A177-3AD203B41FA5}">
                      <a16:colId xmlns:a16="http://schemas.microsoft.com/office/drawing/2014/main" val="20001"/>
                    </a:ext>
                  </a:extLst>
                </a:gridCol>
                <a:gridCol w="1310415">
                  <a:extLst>
                    <a:ext uri="{9D8B030D-6E8A-4147-A177-3AD203B41FA5}">
                      <a16:colId xmlns:a16="http://schemas.microsoft.com/office/drawing/2014/main" val="20002"/>
                    </a:ext>
                  </a:extLst>
                </a:gridCol>
                <a:gridCol w="1404000">
                  <a:extLst>
                    <a:ext uri="{9D8B030D-6E8A-4147-A177-3AD203B41FA5}">
                      <a16:colId xmlns:a16="http://schemas.microsoft.com/office/drawing/2014/main" val="20003"/>
                    </a:ext>
                  </a:extLst>
                </a:gridCol>
              </a:tblGrid>
              <a:tr h="0">
                <a:tc>
                  <a:txBody>
                    <a:bodyPr/>
                    <a:lstStyle/>
                    <a:p>
                      <a:pPr algn="ctr" rtl="0" fontAlgn="ctr"/>
                      <a:r>
                        <a:rPr lang="zh-CN" altLang="en-US" sz="1300" b="1" i="0" u="none" strike="noStrike" dirty="0">
                          <a:solidFill>
                            <a:srgbClr val="FFFFFF"/>
                          </a:solidFill>
                          <a:effectLst/>
                          <a:latin typeface="黑体" pitchFamily="2" charset="-122"/>
                          <a:ea typeface="黑体" pitchFamily="2" charset="-122"/>
                        </a:rPr>
                        <a:t>项目名称</a:t>
                      </a:r>
                    </a:p>
                  </a:txBody>
                  <a:tcPr marL="9525" marR="9525" marT="9525" marB="0" anchor="ctr">
                    <a:solidFill>
                      <a:schemeClr val="tx2">
                        <a:lumMod val="60000"/>
                        <a:lumOff val="40000"/>
                      </a:schemeClr>
                    </a:solidFill>
                  </a:tcPr>
                </a:tc>
                <a:tc>
                  <a:txBody>
                    <a:bodyPr/>
                    <a:lstStyle/>
                    <a:p>
                      <a:pPr algn="ctr" rtl="0" fontAlgn="ctr"/>
                      <a:r>
                        <a:rPr lang="zh-CN" altLang="en-US" sz="1300" b="1" i="0" u="none" strike="noStrike" dirty="0">
                          <a:solidFill>
                            <a:srgbClr val="FFFFFF"/>
                          </a:solidFill>
                          <a:effectLst/>
                          <a:latin typeface="黑体" pitchFamily="2" charset="-122"/>
                          <a:ea typeface="黑体" pitchFamily="2" charset="-122"/>
                        </a:rPr>
                        <a:t>区县</a:t>
                      </a:r>
                    </a:p>
                  </a:txBody>
                  <a:tcPr marL="9525" marR="9525" marT="9525" marB="0" anchor="ctr">
                    <a:solidFill>
                      <a:schemeClr val="tx2">
                        <a:lumMod val="60000"/>
                        <a:lumOff val="40000"/>
                      </a:schemeClr>
                    </a:solidFill>
                  </a:tcPr>
                </a:tc>
                <a:tc>
                  <a:txBody>
                    <a:bodyPr/>
                    <a:lstStyle/>
                    <a:p>
                      <a:pPr algn="ctr" rtl="0" fontAlgn="ctr"/>
                      <a:r>
                        <a:rPr lang="zh-CN" altLang="en-US" sz="1300" b="1" i="0" u="none" strike="noStrike" dirty="0">
                          <a:solidFill>
                            <a:srgbClr val="FFFFFF"/>
                          </a:solidFill>
                          <a:effectLst/>
                          <a:latin typeface="黑体" pitchFamily="2" charset="-122"/>
                          <a:ea typeface="黑体" pitchFamily="2" charset="-122"/>
                        </a:rPr>
                        <a:t>批准销售套数</a:t>
                      </a:r>
                      <a:endParaRPr lang="en-US" altLang="zh-CN" sz="1300" b="1" i="0" u="none" strike="noStrike" dirty="0">
                        <a:solidFill>
                          <a:srgbClr val="FFFFFF"/>
                        </a:solidFill>
                        <a:effectLst/>
                        <a:latin typeface="黑体" pitchFamily="2" charset="-122"/>
                        <a:ea typeface="黑体" pitchFamily="2" charset="-122"/>
                      </a:endParaRPr>
                    </a:p>
                    <a:p>
                      <a:pPr algn="ctr" rtl="0" fontAlgn="ctr"/>
                      <a:r>
                        <a:rPr lang="zh-CN" altLang="en-US" sz="1300" b="1" i="0" u="none" strike="noStrike" dirty="0">
                          <a:solidFill>
                            <a:srgbClr val="FFFFFF"/>
                          </a:solidFill>
                          <a:effectLst/>
                          <a:latin typeface="黑体" pitchFamily="2" charset="-122"/>
                          <a:ea typeface="黑体" pitchFamily="2" charset="-122"/>
                        </a:rPr>
                        <a:t>（套）</a:t>
                      </a:r>
                      <a:r>
                        <a:rPr lang="zh-CN" altLang="en-US" sz="1300" b="1" u="none" strike="noStrike" dirty="0">
                          <a:solidFill>
                            <a:schemeClr val="bg1"/>
                          </a:solidFill>
                          <a:effectLst/>
                          <a:latin typeface="黑体" pitchFamily="2" charset="-122"/>
                          <a:ea typeface="黑体" pitchFamily="2" charset="-122"/>
                        </a:rPr>
                        <a:t>↓</a:t>
                      </a:r>
                      <a:endParaRPr lang="zh-CN" altLang="en-US" sz="1300" b="1" i="0" u="none" strike="noStrike" dirty="0">
                        <a:solidFill>
                          <a:srgbClr val="FFFFFF"/>
                        </a:solidFill>
                        <a:effectLst/>
                        <a:latin typeface="黑体" pitchFamily="2" charset="-122"/>
                        <a:ea typeface="黑体" pitchFamily="2" charset="-122"/>
                      </a:endParaRPr>
                    </a:p>
                  </a:txBody>
                  <a:tcPr marL="9525" marR="9525" marT="9525" marB="0" anchor="ctr">
                    <a:solidFill>
                      <a:schemeClr val="tx2">
                        <a:lumMod val="60000"/>
                        <a:lumOff val="40000"/>
                      </a:schemeClr>
                    </a:solidFill>
                  </a:tcPr>
                </a:tc>
                <a:tc>
                  <a:txBody>
                    <a:bodyPr/>
                    <a:lstStyle/>
                    <a:p>
                      <a:pPr marL="0" marR="0" indent="0" algn="ctr" defTabSz="457200" rtl="0" eaLnBrk="1" fontAlgn="ctr" latinLnBrk="0" hangingPunct="1">
                        <a:lnSpc>
                          <a:spcPct val="100000"/>
                        </a:lnSpc>
                        <a:spcBef>
                          <a:spcPts val="0"/>
                        </a:spcBef>
                        <a:spcAft>
                          <a:spcPts val="0"/>
                        </a:spcAft>
                        <a:buClrTx/>
                        <a:buSzTx/>
                        <a:buFontTx/>
                        <a:buNone/>
                        <a:tabLst/>
                        <a:defRPr/>
                      </a:pPr>
                      <a:r>
                        <a:rPr lang="zh-CN" altLang="en-US" sz="1300" b="1" i="0" u="none" strike="noStrike" dirty="0">
                          <a:solidFill>
                            <a:srgbClr val="FFFFFF"/>
                          </a:solidFill>
                          <a:effectLst/>
                          <a:latin typeface="黑体" pitchFamily="2" charset="-122"/>
                          <a:ea typeface="黑体" pitchFamily="2" charset="-122"/>
                        </a:rPr>
                        <a:t>批准销售面积</a:t>
                      </a:r>
                      <a:endParaRPr lang="en-US" altLang="zh-CN" sz="1300" b="1" i="0" u="none" strike="noStrike" dirty="0">
                        <a:solidFill>
                          <a:srgbClr val="FFFFFF"/>
                        </a:solidFill>
                        <a:effectLst/>
                        <a:latin typeface="黑体" pitchFamily="2" charset="-122"/>
                        <a:ea typeface="黑体" pitchFamily="2" charset="-122"/>
                      </a:endParaRPr>
                    </a:p>
                    <a:p>
                      <a:pPr marL="0" marR="0" indent="0" algn="ctr" defTabSz="457200" rtl="0" eaLnBrk="1" fontAlgn="ctr" latinLnBrk="0" hangingPunct="1">
                        <a:lnSpc>
                          <a:spcPct val="100000"/>
                        </a:lnSpc>
                        <a:spcBef>
                          <a:spcPts val="0"/>
                        </a:spcBef>
                        <a:spcAft>
                          <a:spcPts val="0"/>
                        </a:spcAft>
                        <a:buClrTx/>
                        <a:buSzTx/>
                        <a:buFontTx/>
                        <a:buNone/>
                        <a:tabLst/>
                        <a:defRPr/>
                      </a:pPr>
                      <a:r>
                        <a:rPr lang="zh-CN" altLang="en-US" sz="1300" b="1" i="0" u="none" strike="noStrike" dirty="0">
                          <a:solidFill>
                            <a:srgbClr val="FFFFFF"/>
                          </a:solidFill>
                          <a:effectLst/>
                          <a:latin typeface="黑体" pitchFamily="2" charset="-122"/>
                          <a:ea typeface="黑体" pitchFamily="2" charset="-122"/>
                        </a:rPr>
                        <a:t>（㎡）</a:t>
                      </a:r>
                    </a:p>
                  </a:txBody>
                  <a:tcPr marL="9525" marR="9525" marT="9525" marB="0" anchor="ctr">
                    <a:solidFill>
                      <a:schemeClr val="tx2">
                        <a:lumMod val="60000"/>
                        <a:lumOff val="40000"/>
                      </a:schemeClr>
                    </a:solidFill>
                  </a:tcPr>
                </a:tc>
                <a:extLst>
                  <a:ext uri="{0D108BD9-81ED-4DB2-BD59-A6C34878D82A}">
                    <a16:rowId xmlns:a16="http://schemas.microsoft.com/office/drawing/2014/main" val="10000"/>
                  </a:ext>
                </a:extLst>
              </a:tr>
              <a:tr h="0">
                <a:tc>
                  <a:txBody>
                    <a:bodyPr/>
                    <a:lstStyle/>
                    <a:p>
                      <a:pPr algn="ctr" fontAlgn="ctr"/>
                      <a:r>
                        <a:rPr lang="zh-CN" altLang="en-US" sz="1300" b="0" i="0" u="none" strike="noStrike" kern="1200" dirty="0">
                          <a:solidFill>
                            <a:srgbClr val="000000"/>
                          </a:solidFill>
                          <a:effectLst/>
                          <a:latin typeface="黑体" pitchFamily="2" charset="-122"/>
                          <a:ea typeface="黑体" pitchFamily="2" charset="-122"/>
                          <a:cs typeface="+mn-cs"/>
                        </a:rPr>
                        <a:t>枫景园</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广阳</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335</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20026</a:t>
                      </a:r>
                    </a:p>
                  </a:txBody>
                  <a:tcPr marL="9525" marR="9525" marT="9525" marB="0" anchor="ctr">
                    <a:solidFill>
                      <a:schemeClr val="tx2">
                        <a:lumMod val="20000"/>
                        <a:lumOff val="80000"/>
                      </a:schemeClr>
                    </a:solidFill>
                  </a:tcPr>
                </a:tc>
                <a:extLst>
                  <a:ext uri="{0D108BD9-81ED-4DB2-BD59-A6C34878D82A}">
                    <a16:rowId xmlns:a16="http://schemas.microsoft.com/office/drawing/2014/main" val="10001"/>
                  </a:ext>
                </a:extLst>
              </a:tr>
              <a:tr h="0">
                <a:tc>
                  <a:txBody>
                    <a:bodyPr/>
                    <a:lstStyle/>
                    <a:p>
                      <a:pPr algn="ctr" fontAlgn="ctr"/>
                      <a:r>
                        <a:rPr lang="zh-CN" altLang="en-US" sz="1300" b="0" i="0" u="none" strike="noStrike" kern="1200" dirty="0">
                          <a:solidFill>
                            <a:srgbClr val="000000"/>
                          </a:solidFill>
                          <a:effectLst/>
                          <a:latin typeface="黑体" pitchFamily="2" charset="-122"/>
                          <a:ea typeface="黑体" pitchFamily="2" charset="-122"/>
                          <a:cs typeface="+mn-cs"/>
                        </a:rPr>
                        <a:t>金银湾</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dirty="0">
                          <a:solidFill>
                            <a:srgbClr val="000000"/>
                          </a:solidFill>
                          <a:effectLst/>
                          <a:latin typeface="黑体" pitchFamily="2" charset="-122"/>
                          <a:ea typeface="黑体" pitchFamily="2" charset="-122"/>
                          <a:cs typeface="+mn-cs"/>
                        </a:rPr>
                        <a:t>广阳</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313</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15287</a:t>
                      </a:r>
                    </a:p>
                  </a:txBody>
                  <a:tcPr marL="9525" marR="9525" marT="9525" marB="0" anchor="ctr">
                    <a:solidFill>
                      <a:schemeClr val="tx2">
                        <a:lumMod val="20000"/>
                        <a:lumOff val="80000"/>
                      </a:schemeClr>
                    </a:solidFill>
                  </a:tcPr>
                </a:tc>
                <a:extLst>
                  <a:ext uri="{0D108BD9-81ED-4DB2-BD59-A6C34878D82A}">
                    <a16:rowId xmlns:a16="http://schemas.microsoft.com/office/drawing/2014/main" val="10002"/>
                  </a:ext>
                </a:extLst>
              </a:tr>
              <a:tr h="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上善颐园</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广阳</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223</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32919</a:t>
                      </a:r>
                    </a:p>
                  </a:txBody>
                  <a:tcPr marL="9525" marR="9525" marT="9525" marB="0" anchor="ctr">
                    <a:solidFill>
                      <a:schemeClr val="tx2">
                        <a:lumMod val="20000"/>
                        <a:lumOff val="80000"/>
                      </a:schemeClr>
                    </a:solidFill>
                  </a:tcPr>
                </a:tc>
                <a:extLst>
                  <a:ext uri="{0D108BD9-81ED-4DB2-BD59-A6C34878D82A}">
                    <a16:rowId xmlns:a16="http://schemas.microsoft.com/office/drawing/2014/main" val="10003"/>
                  </a:ext>
                </a:extLst>
              </a:tr>
              <a:tr h="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尊域盛地</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安次</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208</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16446</a:t>
                      </a:r>
                    </a:p>
                  </a:txBody>
                  <a:tcPr marL="9525" marR="9525" marT="9525" marB="0" anchor="ctr">
                    <a:solidFill>
                      <a:schemeClr val="tx2">
                        <a:lumMod val="20000"/>
                        <a:lumOff val="80000"/>
                      </a:schemeClr>
                    </a:solidFill>
                  </a:tcPr>
                </a:tc>
                <a:extLst>
                  <a:ext uri="{0D108BD9-81ED-4DB2-BD59-A6C34878D82A}">
                    <a16:rowId xmlns:a16="http://schemas.microsoft.com/office/drawing/2014/main" val="10004"/>
                  </a:ext>
                </a:extLst>
              </a:tr>
              <a:tr h="0">
                <a:tc>
                  <a:txBody>
                    <a:bodyPr/>
                    <a:lstStyle/>
                    <a:p>
                      <a:pPr algn="ctr" fontAlgn="ctr"/>
                      <a:r>
                        <a:rPr lang="zh-CN" altLang="en-US" sz="1300" b="0" i="0" u="none" strike="noStrike" kern="1200" dirty="0">
                          <a:solidFill>
                            <a:srgbClr val="000000"/>
                          </a:solidFill>
                          <a:effectLst/>
                          <a:latin typeface="黑体" pitchFamily="2" charset="-122"/>
                          <a:ea typeface="黑体" pitchFamily="2" charset="-122"/>
                          <a:cs typeface="+mn-cs"/>
                        </a:rPr>
                        <a:t>宏程华苑</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安次</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84</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6631</a:t>
                      </a:r>
                    </a:p>
                  </a:txBody>
                  <a:tcPr marL="9525" marR="9525" marT="9525" marB="0" anchor="ctr">
                    <a:solidFill>
                      <a:schemeClr val="tx2">
                        <a:lumMod val="20000"/>
                        <a:lumOff val="80000"/>
                      </a:schemeClr>
                    </a:solidFill>
                  </a:tcPr>
                </a:tc>
                <a:extLst>
                  <a:ext uri="{0D108BD9-81ED-4DB2-BD59-A6C34878D82A}">
                    <a16:rowId xmlns:a16="http://schemas.microsoft.com/office/drawing/2014/main" val="10005"/>
                  </a:ext>
                </a:extLst>
              </a:tr>
              <a:tr h="0">
                <a:tc>
                  <a:txBody>
                    <a:bodyPr/>
                    <a:lstStyle/>
                    <a:p>
                      <a:pPr algn="ctr" fontAlgn="ctr"/>
                      <a:r>
                        <a:rPr lang="zh-CN" altLang="en-US" sz="1300" b="0" i="0" u="none" strike="noStrike" kern="1200" dirty="0">
                          <a:solidFill>
                            <a:srgbClr val="000000"/>
                          </a:solidFill>
                          <a:effectLst/>
                          <a:latin typeface="黑体" pitchFamily="2" charset="-122"/>
                          <a:ea typeface="黑体" pitchFamily="2" charset="-122"/>
                          <a:cs typeface="+mn-cs"/>
                        </a:rPr>
                        <a:t>新世界家园</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广阳</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67</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12965</a:t>
                      </a:r>
                    </a:p>
                  </a:txBody>
                  <a:tcPr marL="9525" marR="9525" marT="9525" marB="0" anchor="ctr">
                    <a:solidFill>
                      <a:schemeClr val="tx2">
                        <a:lumMod val="20000"/>
                        <a:lumOff val="80000"/>
                      </a:schemeClr>
                    </a:solidFill>
                  </a:tcPr>
                </a:tc>
                <a:extLst>
                  <a:ext uri="{0D108BD9-81ED-4DB2-BD59-A6C34878D82A}">
                    <a16:rowId xmlns:a16="http://schemas.microsoft.com/office/drawing/2014/main" val="10006"/>
                  </a:ext>
                </a:extLst>
              </a:tr>
              <a:tr h="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龙河枫景</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安次</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45</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4214</a:t>
                      </a:r>
                    </a:p>
                  </a:txBody>
                  <a:tcPr marL="9525" marR="9525" marT="9525" marB="0" anchor="ctr">
                    <a:solidFill>
                      <a:schemeClr val="tx2">
                        <a:lumMod val="20000"/>
                        <a:lumOff val="80000"/>
                      </a:schemeClr>
                    </a:solidFill>
                  </a:tcPr>
                </a:tc>
                <a:extLst>
                  <a:ext uri="{0D108BD9-81ED-4DB2-BD59-A6C34878D82A}">
                    <a16:rowId xmlns:a16="http://schemas.microsoft.com/office/drawing/2014/main" val="10007"/>
                  </a:ext>
                </a:extLst>
              </a:tr>
              <a:tr h="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恒祥家园</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安次</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14</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1292</a:t>
                      </a:r>
                    </a:p>
                  </a:txBody>
                  <a:tcPr marL="9525" marR="9525" marT="9525" marB="0" anchor="ctr">
                    <a:solidFill>
                      <a:schemeClr val="tx2">
                        <a:lumMod val="20000"/>
                        <a:lumOff val="80000"/>
                      </a:schemeClr>
                    </a:solidFill>
                  </a:tcPr>
                </a:tc>
                <a:extLst>
                  <a:ext uri="{0D108BD9-81ED-4DB2-BD59-A6C34878D82A}">
                    <a16:rowId xmlns:a16="http://schemas.microsoft.com/office/drawing/2014/main" val="10008"/>
                  </a:ext>
                </a:extLst>
              </a:tr>
            </a:tbl>
          </a:graphicData>
        </a:graphic>
      </p:graphicFrame>
      <p:graphicFrame>
        <p:nvGraphicFramePr>
          <p:cNvPr id="12" name="表格 11"/>
          <p:cNvGraphicFramePr>
            <a:graphicFrameLocks noGrp="1"/>
          </p:cNvGraphicFramePr>
          <p:nvPr>
            <p:extLst>
              <p:ext uri="{D42A27DB-BD31-4B8C-83A1-F6EECF244321}">
                <p14:modId xmlns:p14="http://schemas.microsoft.com/office/powerpoint/2010/main" val="2561917501"/>
              </p:ext>
            </p:extLst>
          </p:nvPr>
        </p:nvGraphicFramePr>
        <p:xfrm>
          <a:off x="522514" y="3722648"/>
          <a:ext cx="8334882" cy="2897505"/>
        </p:xfrm>
        <a:graphic>
          <a:graphicData uri="http://schemas.openxmlformats.org/drawingml/2006/table">
            <a:tbl>
              <a:tblPr>
                <a:tableStyleId>{5C22544A-7EE6-4342-B048-85BDC9FD1C3A}</a:tableStyleId>
              </a:tblPr>
              <a:tblGrid>
                <a:gridCol w="1147734">
                  <a:extLst>
                    <a:ext uri="{9D8B030D-6E8A-4147-A177-3AD203B41FA5}">
                      <a16:colId xmlns:a16="http://schemas.microsoft.com/office/drawing/2014/main" val="20000"/>
                    </a:ext>
                  </a:extLst>
                </a:gridCol>
                <a:gridCol w="559987">
                  <a:extLst>
                    <a:ext uri="{9D8B030D-6E8A-4147-A177-3AD203B41FA5}">
                      <a16:colId xmlns:a16="http://schemas.microsoft.com/office/drawing/2014/main" val="20001"/>
                    </a:ext>
                  </a:extLst>
                </a:gridCol>
                <a:gridCol w="1231972">
                  <a:extLst>
                    <a:ext uri="{9D8B030D-6E8A-4147-A177-3AD203B41FA5}">
                      <a16:colId xmlns:a16="http://schemas.microsoft.com/office/drawing/2014/main" val="20002"/>
                    </a:ext>
                  </a:extLst>
                </a:gridCol>
                <a:gridCol w="1157307">
                  <a:extLst>
                    <a:ext uri="{9D8B030D-6E8A-4147-A177-3AD203B41FA5}">
                      <a16:colId xmlns:a16="http://schemas.microsoft.com/office/drawing/2014/main" val="20003"/>
                    </a:ext>
                  </a:extLst>
                </a:gridCol>
                <a:gridCol w="1358205">
                  <a:extLst>
                    <a:ext uri="{9D8B030D-6E8A-4147-A177-3AD203B41FA5}">
                      <a16:colId xmlns:a16="http://schemas.microsoft.com/office/drawing/2014/main" val="20004"/>
                    </a:ext>
                  </a:extLst>
                </a:gridCol>
                <a:gridCol w="627797">
                  <a:extLst>
                    <a:ext uri="{9D8B030D-6E8A-4147-A177-3AD203B41FA5}">
                      <a16:colId xmlns:a16="http://schemas.microsoft.com/office/drawing/2014/main" val="20005"/>
                    </a:ext>
                  </a:extLst>
                </a:gridCol>
                <a:gridCol w="1187356">
                  <a:extLst>
                    <a:ext uri="{9D8B030D-6E8A-4147-A177-3AD203B41FA5}">
                      <a16:colId xmlns:a16="http://schemas.microsoft.com/office/drawing/2014/main" val="20006"/>
                    </a:ext>
                  </a:extLst>
                </a:gridCol>
                <a:gridCol w="1064524">
                  <a:extLst>
                    <a:ext uri="{9D8B030D-6E8A-4147-A177-3AD203B41FA5}">
                      <a16:colId xmlns:a16="http://schemas.microsoft.com/office/drawing/2014/main" val="20007"/>
                    </a:ext>
                  </a:extLst>
                </a:gridCol>
              </a:tblGrid>
              <a:tr h="0">
                <a:tc>
                  <a:txBody>
                    <a:bodyPr/>
                    <a:lstStyle/>
                    <a:p>
                      <a:pPr algn="ctr" rtl="0" fontAlgn="ctr"/>
                      <a:r>
                        <a:rPr lang="zh-CN" altLang="en-US" sz="1300" b="1" i="0" u="none" strike="noStrike" dirty="0">
                          <a:solidFill>
                            <a:srgbClr val="FFFFFF"/>
                          </a:solidFill>
                          <a:effectLst/>
                          <a:latin typeface="黑体" pitchFamily="2" charset="-122"/>
                          <a:ea typeface="黑体" pitchFamily="2" charset="-122"/>
                        </a:rPr>
                        <a:t>项目名称</a:t>
                      </a:r>
                    </a:p>
                  </a:txBody>
                  <a:tcPr marL="9525" marR="9525" marT="9525" marB="0" anchor="ctr">
                    <a:solidFill>
                      <a:schemeClr val="tx2">
                        <a:lumMod val="60000"/>
                        <a:lumOff val="40000"/>
                      </a:schemeClr>
                    </a:solidFill>
                  </a:tcPr>
                </a:tc>
                <a:tc>
                  <a:txBody>
                    <a:bodyPr/>
                    <a:lstStyle/>
                    <a:p>
                      <a:pPr algn="ctr" rtl="0" fontAlgn="ctr"/>
                      <a:r>
                        <a:rPr lang="zh-CN" altLang="en-US" sz="1300" b="1" i="0" u="none" strike="noStrike" dirty="0">
                          <a:solidFill>
                            <a:srgbClr val="FFFFFF"/>
                          </a:solidFill>
                          <a:effectLst/>
                          <a:latin typeface="黑体" pitchFamily="2" charset="-122"/>
                          <a:ea typeface="黑体" pitchFamily="2" charset="-122"/>
                        </a:rPr>
                        <a:t>区县</a:t>
                      </a:r>
                    </a:p>
                  </a:txBody>
                  <a:tcPr marL="9525" marR="9525" marT="9525" marB="0" anchor="ctr">
                    <a:solidFill>
                      <a:schemeClr val="tx2">
                        <a:lumMod val="60000"/>
                        <a:lumOff val="40000"/>
                      </a:schemeClr>
                    </a:solidFill>
                  </a:tcPr>
                </a:tc>
                <a:tc>
                  <a:txBody>
                    <a:bodyPr/>
                    <a:lstStyle/>
                    <a:p>
                      <a:pPr algn="ctr" rtl="0" fontAlgn="ctr"/>
                      <a:r>
                        <a:rPr lang="zh-CN" altLang="en-US" sz="1300" b="1" i="0" u="none" strike="noStrike" dirty="0">
                          <a:solidFill>
                            <a:srgbClr val="FFFFFF"/>
                          </a:solidFill>
                          <a:effectLst/>
                          <a:latin typeface="黑体" pitchFamily="2" charset="-122"/>
                          <a:ea typeface="黑体" pitchFamily="2" charset="-122"/>
                        </a:rPr>
                        <a:t>批准销售套数</a:t>
                      </a:r>
                      <a:endParaRPr lang="en-US" altLang="zh-CN" sz="1300" b="1" i="0" u="none" strike="noStrike" dirty="0">
                        <a:solidFill>
                          <a:srgbClr val="FFFFFF"/>
                        </a:solidFill>
                        <a:effectLst/>
                        <a:latin typeface="黑体" pitchFamily="2" charset="-122"/>
                        <a:ea typeface="黑体" pitchFamily="2" charset="-122"/>
                      </a:endParaRPr>
                    </a:p>
                    <a:p>
                      <a:pPr algn="ctr" rtl="0" fontAlgn="ctr"/>
                      <a:r>
                        <a:rPr lang="zh-CN" altLang="en-US" sz="1300" b="1" i="0" u="none" strike="noStrike" dirty="0">
                          <a:solidFill>
                            <a:srgbClr val="FFFFFF"/>
                          </a:solidFill>
                          <a:effectLst/>
                          <a:latin typeface="黑体" pitchFamily="2" charset="-122"/>
                          <a:ea typeface="黑体" pitchFamily="2" charset="-122"/>
                        </a:rPr>
                        <a:t>（套）</a:t>
                      </a:r>
                      <a:r>
                        <a:rPr lang="zh-CN" altLang="en-US" sz="1300" b="1" u="none" strike="noStrike" dirty="0">
                          <a:solidFill>
                            <a:schemeClr val="bg1"/>
                          </a:solidFill>
                          <a:effectLst/>
                          <a:latin typeface="黑体" pitchFamily="2" charset="-122"/>
                          <a:ea typeface="黑体" pitchFamily="2" charset="-122"/>
                        </a:rPr>
                        <a:t>↓</a:t>
                      </a:r>
                      <a:endParaRPr lang="zh-CN" altLang="en-US" sz="1300" b="1" i="0" u="none" strike="noStrike" dirty="0">
                        <a:solidFill>
                          <a:srgbClr val="FFFFFF"/>
                        </a:solidFill>
                        <a:effectLst/>
                        <a:latin typeface="黑体" pitchFamily="2" charset="-122"/>
                        <a:ea typeface="黑体" pitchFamily="2" charset="-122"/>
                      </a:endParaRPr>
                    </a:p>
                  </a:txBody>
                  <a:tcPr marL="9525" marR="9525" marT="9525" marB="0" anchor="ctr">
                    <a:solidFill>
                      <a:schemeClr val="tx2">
                        <a:lumMod val="60000"/>
                        <a:lumOff val="40000"/>
                      </a:schemeClr>
                    </a:solidFill>
                  </a:tcPr>
                </a:tc>
                <a:tc>
                  <a:txBody>
                    <a:bodyPr/>
                    <a:lstStyle/>
                    <a:p>
                      <a:pPr marL="0" marR="0" indent="0" algn="ctr" defTabSz="457200" rtl="0" eaLnBrk="1" fontAlgn="ctr" latinLnBrk="0" hangingPunct="1">
                        <a:lnSpc>
                          <a:spcPct val="100000"/>
                        </a:lnSpc>
                        <a:spcBef>
                          <a:spcPts val="0"/>
                        </a:spcBef>
                        <a:spcAft>
                          <a:spcPts val="0"/>
                        </a:spcAft>
                        <a:buClrTx/>
                        <a:buSzTx/>
                        <a:buFontTx/>
                        <a:buNone/>
                        <a:tabLst/>
                        <a:defRPr/>
                      </a:pPr>
                      <a:r>
                        <a:rPr lang="zh-CN" altLang="en-US" sz="1300" b="1" i="0" u="none" strike="noStrike" dirty="0">
                          <a:solidFill>
                            <a:srgbClr val="FFFFFF"/>
                          </a:solidFill>
                          <a:effectLst/>
                          <a:latin typeface="黑体" pitchFamily="2" charset="-122"/>
                          <a:ea typeface="黑体" pitchFamily="2" charset="-122"/>
                        </a:rPr>
                        <a:t>批准销售面积</a:t>
                      </a:r>
                      <a:endParaRPr lang="en-US" altLang="zh-CN" sz="1300" b="1" i="0" u="none" strike="noStrike" dirty="0">
                        <a:solidFill>
                          <a:srgbClr val="FFFFFF"/>
                        </a:solidFill>
                        <a:effectLst/>
                        <a:latin typeface="黑体" pitchFamily="2" charset="-122"/>
                        <a:ea typeface="黑体" pitchFamily="2" charset="-122"/>
                      </a:endParaRPr>
                    </a:p>
                    <a:p>
                      <a:pPr marL="0" marR="0" indent="0" algn="ctr" defTabSz="457200" rtl="0" eaLnBrk="1" fontAlgn="ctr" latinLnBrk="0" hangingPunct="1">
                        <a:lnSpc>
                          <a:spcPct val="100000"/>
                        </a:lnSpc>
                        <a:spcBef>
                          <a:spcPts val="0"/>
                        </a:spcBef>
                        <a:spcAft>
                          <a:spcPts val="0"/>
                        </a:spcAft>
                        <a:buClrTx/>
                        <a:buSzTx/>
                        <a:buFontTx/>
                        <a:buNone/>
                        <a:tabLst/>
                        <a:defRPr/>
                      </a:pPr>
                      <a:r>
                        <a:rPr lang="zh-CN" altLang="en-US" sz="1300" b="1" i="0" u="none" strike="noStrike" dirty="0">
                          <a:solidFill>
                            <a:srgbClr val="FFFFFF"/>
                          </a:solidFill>
                          <a:effectLst/>
                          <a:latin typeface="黑体" pitchFamily="2" charset="-122"/>
                          <a:ea typeface="黑体" pitchFamily="2" charset="-122"/>
                        </a:rPr>
                        <a:t>（㎡）</a:t>
                      </a:r>
                    </a:p>
                  </a:txBody>
                  <a:tcPr marL="9525" marR="9525" marT="9525" marB="0" anchor="ctr">
                    <a:lnR w="28575" cap="flat" cmpd="sng" algn="ctr">
                      <a:solidFill>
                        <a:schemeClr val="tx1"/>
                      </a:solidFill>
                      <a:prstDash val="solid"/>
                      <a:round/>
                      <a:headEnd type="none" w="med" len="med"/>
                      <a:tailEnd type="none" w="med" len="med"/>
                    </a:lnR>
                    <a:solidFill>
                      <a:schemeClr val="tx2">
                        <a:lumMod val="60000"/>
                        <a:lumOff val="40000"/>
                      </a:schemeClr>
                    </a:solidFill>
                  </a:tcPr>
                </a:tc>
                <a:tc>
                  <a:txBody>
                    <a:bodyPr/>
                    <a:lstStyle/>
                    <a:p>
                      <a:pPr algn="ctr" rtl="0" fontAlgn="ctr"/>
                      <a:r>
                        <a:rPr lang="zh-CN" altLang="en-US" sz="1300" b="1" i="0" u="none" strike="noStrike" dirty="0">
                          <a:solidFill>
                            <a:srgbClr val="FFFFFF"/>
                          </a:solidFill>
                          <a:effectLst/>
                          <a:latin typeface="黑体" pitchFamily="2" charset="-122"/>
                          <a:ea typeface="黑体" pitchFamily="2" charset="-122"/>
                        </a:rPr>
                        <a:t>项目名称</a:t>
                      </a:r>
                    </a:p>
                  </a:txBody>
                  <a:tcPr marL="9525" marR="9525" marT="9525" marB="0" anchor="ctr">
                    <a:lnL w="28575" cap="flat" cmpd="sng" algn="ctr">
                      <a:solidFill>
                        <a:schemeClr val="tx1"/>
                      </a:solidFill>
                      <a:prstDash val="solid"/>
                      <a:round/>
                      <a:headEnd type="none" w="med" len="med"/>
                      <a:tailEnd type="none" w="med" len="med"/>
                    </a:lnL>
                    <a:solidFill>
                      <a:schemeClr val="tx2">
                        <a:lumMod val="60000"/>
                        <a:lumOff val="40000"/>
                      </a:schemeClr>
                    </a:solidFill>
                  </a:tcPr>
                </a:tc>
                <a:tc>
                  <a:txBody>
                    <a:bodyPr/>
                    <a:lstStyle/>
                    <a:p>
                      <a:pPr algn="ctr" rtl="0" fontAlgn="ctr"/>
                      <a:r>
                        <a:rPr lang="zh-CN" altLang="en-US" sz="1300" b="1" i="0" u="none" strike="noStrike" dirty="0">
                          <a:solidFill>
                            <a:srgbClr val="FFFFFF"/>
                          </a:solidFill>
                          <a:effectLst/>
                          <a:latin typeface="黑体" pitchFamily="2" charset="-122"/>
                          <a:ea typeface="黑体" pitchFamily="2" charset="-122"/>
                        </a:rPr>
                        <a:t>区县</a:t>
                      </a:r>
                    </a:p>
                  </a:txBody>
                  <a:tcPr marL="9525" marR="9525" marT="9525" marB="0" anchor="ctr">
                    <a:solidFill>
                      <a:schemeClr val="tx2">
                        <a:lumMod val="60000"/>
                        <a:lumOff val="40000"/>
                      </a:schemeClr>
                    </a:solidFill>
                  </a:tcPr>
                </a:tc>
                <a:tc>
                  <a:txBody>
                    <a:bodyPr/>
                    <a:lstStyle/>
                    <a:p>
                      <a:pPr algn="ctr" rtl="0" fontAlgn="ctr"/>
                      <a:r>
                        <a:rPr lang="zh-CN" altLang="en-US" sz="1300" b="1" i="0" u="none" strike="noStrike" dirty="0">
                          <a:solidFill>
                            <a:srgbClr val="FFFFFF"/>
                          </a:solidFill>
                          <a:effectLst/>
                          <a:latin typeface="黑体" pitchFamily="2" charset="-122"/>
                          <a:ea typeface="黑体" pitchFamily="2" charset="-122"/>
                        </a:rPr>
                        <a:t>批准销售套数</a:t>
                      </a:r>
                      <a:endParaRPr lang="en-US" altLang="zh-CN" sz="1300" b="1" i="0" u="none" strike="noStrike" dirty="0">
                        <a:solidFill>
                          <a:srgbClr val="FFFFFF"/>
                        </a:solidFill>
                        <a:effectLst/>
                        <a:latin typeface="黑体" pitchFamily="2" charset="-122"/>
                        <a:ea typeface="黑体" pitchFamily="2" charset="-122"/>
                      </a:endParaRPr>
                    </a:p>
                    <a:p>
                      <a:pPr algn="ctr" rtl="0" fontAlgn="ctr"/>
                      <a:r>
                        <a:rPr lang="zh-CN" altLang="en-US" sz="1300" b="1" i="0" u="none" strike="noStrike" dirty="0">
                          <a:solidFill>
                            <a:srgbClr val="FFFFFF"/>
                          </a:solidFill>
                          <a:effectLst/>
                          <a:latin typeface="黑体" pitchFamily="2" charset="-122"/>
                          <a:ea typeface="黑体" pitchFamily="2" charset="-122"/>
                        </a:rPr>
                        <a:t>（套）</a:t>
                      </a:r>
                      <a:r>
                        <a:rPr lang="zh-CN" altLang="en-US" sz="1300" b="1" u="none" strike="noStrike" dirty="0">
                          <a:solidFill>
                            <a:schemeClr val="bg1"/>
                          </a:solidFill>
                          <a:effectLst/>
                          <a:latin typeface="黑体" pitchFamily="2" charset="-122"/>
                          <a:ea typeface="黑体" pitchFamily="2" charset="-122"/>
                        </a:rPr>
                        <a:t>↓</a:t>
                      </a:r>
                      <a:endParaRPr lang="zh-CN" altLang="en-US" sz="1300" b="1" i="0" u="none" strike="noStrike" dirty="0">
                        <a:solidFill>
                          <a:srgbClr val="FFFFFF"/>
                        </a:solidFill>
                        <a:effectLst/>
                        <a:latin typeface="黑体" pitchFamily="2" charset="-122"/>
                        <a:ea typeface="黑体" pitchFamily="2" charset="-122"/>
                      </a:endParaRPr>
                    </a:p>
                  </a:txBody>
                  <a:tcPr marL="9525" marR="9525" marT="9525" marB="0" anchor="ctr">
                    <a:solidFill>
                      <a:schemeClr val="tx2">
                        <a:lumMod val="60000"/>
                        <a:lumOff val="40000"/>
                      </a:schemeClr>
                    </a:solidFill>
                  </a:tcPr>
                </a:tc>
                <a:tc>
                  <a:txBody>
                    <a:bodyPr/>
                    <a:lstStyle/>
                    <a:p>
                      <a:pPr marL="0" marR="0" indent="0" algn="ctr" defTabSz="457200" rtl="0" eaLnBrk="1" fontAlgn="ctr" latinLnBrk="0" hangingPunct="1">
                        <a:lnSpc>
                          <a:spcPct val="100000"/>
                        </a:lnSpc>
                        <a:spcBef>
                          <a:spcPts val="0"/>
                        </a:spcBef>
                        <a:spcAft>
                          <a:spcPts val="0"/>
                        </a:spcAft>
                        <a:buClrTx/>
                        <a:buSzTx/>
                        <a:buFontTx/>
                        <a:buNone/>
                        <a:tabLst/>
                        <a:defRPr/>
                      </a:pPr>
                      <a:r>
                        <a:rPr lang="zh-CN" altLang="en-US" sz="1300" b="1" i="0" u="none" strike="noStrike" dirty="0">
                          <a:solidFill>
                            <a:srgbClr val="FFFFFF"/>
                          </a:solidFill>
                          <a:effectLst/>
                          <a:latin typeface="黑体" pitchFamily="2" charset="-122"/>
                          <a:ea typeface="黑体" pitchFamily="2" charset="-122"/>
                        </a:rPr>
                        <a:t>批准销售面积</a:t>
                      </a:r>
                      <a:endParaRPr lang="en-US" altLang="zh-CN" sz="1300" b="1" i="0" u="none" strike="noStrike" dirty="0">
                        <a:solidFill>
                          <a:srgbClr val="FFFFFF"/>
                        </a:solidFill>
                        <a:effectLst/>
                        <a:latin typeface="黑体" pitchFamily="2" charset="-122"/>
                        <a:ea typeface="黑体" pitchFamily="2" charset="-122"/>
                      </a:endParaRPr>
                    </a:p>
                    <a:p>
                      <a:pPr marL="0" marR="0" indent="0" algn="ctr" defTabSz="457200" rtl="0" eaLnBrk="1" fontAlgn="ctr" latinLnBrk="0" hangingPunct="1">
                        <a:lnSpc>
                          <a:spcPct val="100000"/>
                        </a:lnSpc>
                        <a:spcBef>
                          <a:spcPts val="0"/>
                        </a:spcBef>
                        <a:spcAft>
                          <a:spcPts val="0"/>
                        </a:spcAft>
                        <a:buClrTx/>
                        <a:buSzTx/>
                        <a:buFontTx/>
                        <a:buNone/>
                        <a:tabLst/>
                        <a:defRPr/>
                      </a:pPr>
                      <a:r>
                        <a:rPr lang="zh-CN" altLang="en-US" sz="1300" b="1" i="0" u="none" strike="noStrike" dirty="0">
                          <a:solidFill>
                            <a:srgbClr val="FFFFFF"/>
                          </a:solidFill>
                          <a:effectLst/>
                          <a:latin typeface="黑体" pitchFamily="2" charset="-122"/>
                          <a:ea typeface="黑体" pitchFamily="2" charset="-122"/>
                        </a:rPr>
                        <a:t>（㎡）</a:t>
                      </a:r>
                    </a:p>
                  </a:txBody>
                  <a:tcPr marL="9525" marR="9525" marT="9525" marB="0" anchor="ctr">
                    <a:solidFill>
                      <a:schemeClr val="tx2">
                        <a:lumMod val="60000"/>
                        <a:lumOff val="40000"/>
                      </a:schemeClr>
                    </a:solidFill>
                  </a:tcPr>
                </a:tc>
                <a:extLst>
                  <a:ext uri="{0D108BD9-81ED-4DB2-BD59-A6C34878D82A}">
                    <a16:rowId xmlns:a16="http://schemas.microsoft.com/office/drawing/2014/main" val="10000"/>
                  </a:ext>
                </a:extLst>
              </a:tr>
              <a:tr h="0">
                <a:tc>
                  <a:txBody>
                    <a:bodyPr/>
                    <a:lstStyle/>
                    <a:p>
                      <a:pPr algn="ctr" fontAlgn="ctr"/>
                      <a:r>
                        <a:rPr lang="zh-CN" altLang="en-US" sz="1300" b="0" i="0" u="none" strike="noStrike" kern="1200" dirty="0">
                          <a:solidFill>
                            <a:srgbClr val="000000"/>
                          </a:solidFill>
                          <a:effectLst/>
                          <a:latin typeface="黑体" pitchFamily="2" charset="-122"/>
                          <a:ea typeface="黑体" pitchFamily="2" charset="-122"/>
                          <a:cs typeface="+mn-cs"/>
                        </a:rPr>
                        <a:t>枫景园</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dirty="0">
                          <a:solidFill>
                            <a:srgbClr val="000000"/>
                          </a:solidFill>
                          <a:effectLst/>
                          <a:latin typeface="黑体" pitchFamily="2" charset="-122"/>
                          <a:ea typeface="黑体" pitchFamily="2" charset="-122"/>
                          <a:cs typeface="+mn-cs"/>
                        </a:rPr>
                        <a:t>广阳</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964</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88459</a:t>
                      </a:r>
                    </a:p>
                  </a:txBody>
                  <a:tcPr marL="9525" marR="9525" marT="9525" marB="0" anchor="ctr">
                    <a:lnR w="28575" cap="flat" cmpd="sng" algn="ctr">
                      <a:solidFill>
                        <a:schemeClr val="tx1"/>
                      </a:solidFill>
                      <a:prstDash val="solid"/>
                      <a:round/>
                      <a:headEnd type="none" w="med" len="med"/>
                      <a:tailEnd type="none" w="med" len="med"/>
                    </a:lnR>
                    <a:solidFill>
                      <a:schemeClr val="tx2">
                        <a:lumMod val="20000"/>
                        <a:lumOff val="80000"/>
                      </a:schemeClr>
                    </a:solidFill>
                  </a:tcPr>
                </a:tc>
                <a:tc>
                  <a:txBody>
                    <a:bodyPr/>
                    <a:lstStyle/>
                    <a:p>
                      <a:pPr algn="ctr" fontAlgn="ctr"/>
                      <a:r>
                        <a:rPr lang="zh-CN" altLang="en-US" sz="1300" b="0" i="0" u="none" strike="noStrike" kern="1200" dirty="0">
                          <a:solidFill>
                            <a:srgbClr val="000000"/>
                          </a:solidFill>
                          <a:effectLst/>
                          <a:latin typeface="黑体" pitchFamily="2" charset="-122"/>
                          <a:ea typeface="黑体" pitchFamily="2" charset="-122"/>
                          <a:cs typeface="+mn-cs"/>
                        </a:rPr>
                        <a:t>东冠</a:t>
                      </a:r>
                      <a:r>
                        <a:rPr lang="en-US" altLang="zh-CN" sz="1300" b="0" i="0" u="none" strike="noStrike" kern="1200" dirty="0">
                          <a:solidFill>
                            <a:srgbClr val="000000"/>
                          </a:solidFill>
                          <a:effectLst/>
                          <a:latin typeface="黑体" pitchFamily="2" charset="-122"/>
                          <a:ea typeface="黑体" pitchFamily="2" charset="-122"/>
                          <a:cs typeface="+mn-cs"/>
                        </a:rPr>
                        <a:t>·</a:t>
                      </a:r>
                      <a:r>
                        <a:rPr lang="zh-CN" altLang="en-US" sz="1300" b="0" i="0" u="none" strike="noStrike" kern="1200" dirty="0">
                          <a:solidFill>
                            <a:srgbClr val="000000"/>
                          </a:solidFill>
                          <a:effectLst/>
                          <a:latin typeface="黑体" pitchFamily="2" charset="-122"/>
                          <a:ea typeface="黑体" pitchFamily="2" charset="-122"/>
                          <a:cs typeface="+mn-cs"/>
                        </a:rPr>
                        <a:t>逸品龙湾</a:t>
                      </a:r>
                    </a:p>
                  </a:txBody>
                  <a:tcPr marL="9525" marR="9525" marT="9525" marB="0" anchor="ctr">
                    <a:lnL w="28575" cap="flat" cmpd="sng" algn="ctr">
                      <a:solidFill>
                        <a:schemeClr val="tx1"/>
                      </a:solidFill>
                      <a:prstDash val="solid"/>
                      <a:round/>
                      <a:headEnd type="none" w="med" len="med"/>
                      <a:tailEnd type="none" w="med" len="med"/>
                    </a:lnL>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安次</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219</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21105</a:t>
                      </a:r>
                    </a:p>
                  </a:txBody>
                  <a:tcPr marL="9525" marR="9525" marT="9525" marB="0" anchor="ctr">
                    <a:solidFill>
                      <a:schemeClr val="tx2">
                        <a:lumMod val="20000"/>
                        <a:lumOff val="80000"/>
                      </a:schemeClr>
                    </a:solidFill>
                  </a:tcPr>
                </a:tc>
                <a:extLst>
                  <a:ext uri="{0D108BD9-81ED-4DB2-BD59-A6C34878D82A}">
                    <a16:rowId xmlns:a16="http://schemas.microsoft.com/office/drawing/2014/main" val="10001"/>
                  </a:ext>
                </a:extLst>
              </a:tr>
              <a:tr h="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金银湾</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广阳</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637</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44568</a:t>
                      </a:r>
                    </a:p>
                  </a:txBody>
                  <a:tcPr marL="9525" marR="9525" marT="9525" marB="0" anchor="ctr">
                    <a:lnR w="28575" cap="flat" cmpd="sng" algn="ctr">
                      <a:solidFill>
                        <a:schemeClr val="tx1"/>
                      </a:solidFill>
                      <a:prstDash val="solid"/>
                      <a:round/>
                      <a:headEnd type="none" w="med" len="med"/>
                      <a:tailEnd type="none" w="med" len="med"/>
                    </a:ln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紫晶苑小区</a:t>
                      </a:r>
                    </a:p>
                  </a:txBody>
                  <a:tcPr marL="9525" marR="9525" marT="9525" marB="0" anchor="ctr">
                    <a:lnL w="28575" cap="flat" cmpd="sng" algn="ctr">
                      <a:solidFill>
                        <a:schemeClr val="tx1"/>
                      </a:solidFill>
                      <a:prstDash val="solid"/>
                      <a:round/>
                      <a:headEnd type="none" w="med" len="med"/>
                      <a:tailEnd type="none" w="med" len="med"/>
                    </a:lnL>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安次</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194</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17786</a:t>
                      </a:r>
                    </a:p>
                  </a:txBody>
                  <a:tcPr marL="9525" marR="9525" marT="9525" marB="0" anchor="ctr">
                    <a:solidFill>
                      <a:schemeClr val="tx2">
                        <a:lumMod val="20000"/>
                        <a:lumOff val="80000"/>
                      </a:schemeClr>
                    </a:solidFill>
                  </a:tcPr>
                </a:tc>
                <a:extLst>
                  <a:ext uri="{0D108BD9-81ED-4DB2-BD59-A6C34878D82A}">
                    <a16:rowId xmlns:a16="http://schemas.microsoft.com/office/drawing/2014/main" val="10002"/>
                  </a:ext>
                </a:extLst>
              </a:tr>
              <a:tr h="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尊域盛地</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安次</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441</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35723</a:t>
                      </a:r>
                    </a:p>
                  </a:txBody>
                  <a:tcPr marL="9525" marR="9525" marT="9525" marB="0" anchor="ctr">
                    <a:lnR w="28575" cap="flat" cmpd="sng" algn="ctr">
                      <a:solidFill>
                        <a:schemeClr val="tx1"/>
                      </a:solidFill>
                      <a:prstDash val="solid"/>
                      <a:round/>
                      <a:headEnd type="none" w="med" len="med"/>
                      <a:tailEnd type="none" w="med" len="med"/>
                    </a:ln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孔雀公馆</a:t>
                      </a:r>
                    </a:p>
                  </a:txBody>
                  <a:tcPr marL="9525" marR="9525" marT="9525" marB="0" anchor="ctr">
                    <a:lnL w="28575" cap="flat" cmpd="sng" algn="ctr">
                      <a:solidFill>
                        <a:schemeClr val="tx1"/>
                      </a:solidFill>
                      <a:prstDash val="solid"/>
                      <a:round/>
                      <a:headEnd type="none" w="med" len="med"/>
                      <a:tailEnd type="none" w="med" len="med"/>
                    </a:lnL>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广阳</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173</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25193</a:t>
                      </a:r>
                    </a:p>
                  </a:txBody>
                  <a:tcPr marL="9525" marR="9525" marT="9525" marB="0" anchor="ctr">
                    <a:solidFill>
                      <a:schemeClr val="tx2">
                        <a:lumMod val="20000"/>
                        <a:lumOff val="80000"/>
                      </a:schemeClr>
                    </a:solidFill>
                  </a:tcPr>
                </a:tc>
                <a:extLst>
                  <a:ext uri="{0D108BD9-81ED-4DB2-BD59-A6C34878D82A}">
                    <a16:rowId xmlns:a16="http://schemas.microsoft.com/office/drawing/2014/main" val="10003"/>
                  </a:ext>
                </a:extLst>
              </a:tr>
              <a:tr h="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廊坊孔雀城</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广阳</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431</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39841</a:t>
                      </a:r>
                    </a:p>
                  </a:txBody>
                  <a:tcPr marL="9525" marR="9525" marT="9525" marB="0" anchor="ctr">
                    <a:lnR w="28575" cap="flat" cmpd="sng" algn="ctr">
                      <a:solidFill>
                        <a:schemeClr val="tx1"/>
                      </a:solidFill>
                      <a:prstDash val="solid"/>
                      <a:round/>
                      <a:headEnd type="none" w="med" len="med"/>
                      <a:tailEnd type="none" w="med" len="med"/>
                    </a:ln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新城林湾</a:t>
                      </a:r>
                    </a:p>
                  </a:txBody>
                  <a:tcPr marL="9525" marR="9525" marT="9525" marB="0" anchor="ctr">
                    <a:lnL w="28575" cap="flat" cmpd="sng" algn="ctr">
                      <a:solidFill>
                        <a:schemeClr val="tx1"/>
                      </a:solidFill>
                      <a:prstDash val="solid"/>
                      <a:round/>
                      <a:headEnd type="none" w="med" len="med"/>
                      <a:tailEnd type="none" w="med" len="med"/>
                    </a:lnL>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安次</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141</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10272</a:t>
                      </a:r>
                    </a:p>
                  </a:txBody>
                  <a:tcPr marL="9525" marR="9525" marT="9525" marB="0" anchor="ctr">
                    <a:solidFill>
                      <a:schemeClr val="tx2">
                        <a:lumMod val="20000"/>
                        <a:lumOff val="80000"/>
                      </a:schemeClr>
                    </a:solidFill>
                  </a:tcPr>
                </a:tc>
                <a:extLst>
                  <a:ext uri="{0D108BD9-81ED-4DB2-BD59-A6C34878D82A}">
                    <a16:rowId xmlns:a16="http://schemas.microsoft.com/office/drawing/2014/main" val="10004"/>
                  </a:ext>
                </a:extLst>
              </a:tr>
              <a:tr h="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安瑞嘉园</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广阳</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410</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31085</a:t>
                      </a:r>
                    </a:p>
                  </a:txBody>
                  <a:tcPr marL="9525" marR="9525" marT="9525" marB="0" anchor="ctr">
                    <a:lnR w="28575" cap="flat" cmpd="sng" algn="ctr">
                      <a:solidFill>
                        <a:schemeClr val="tx1"/>
                      </a:solidFill>
                      <a:prstDash val="solid"/>
                      <a:round/>
                      <a:headEnd type="none" w="med" len="med"/>
                      <a:tailEnd type="none" w="med" len="med"/>
                    </a:ln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紫荆假日</a:t>
                      </a:r>
                    </a:p>
                  </a:txBody>
                  <a:tcPr marL="9525" marR="9525" marT="9525" marB="0" anchor="ctr">
                    <a:lnL w="28575" cap="flat" cmpd="sng" algn="ctr">
                      <a:solidFill>
                        <a:schemeClr val="tx1"/>
                      </a:solidFill>
                      <a:prstDash val="solid"/>
                      <a:round/>
                      <a:headEnd type="none" w="med" len="med"/>
                      <a:tailEnd type="none" w="med" len="med"/>
                    </a:lnL>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安次</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126</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5885</a:t>
                      </a:r>
                    </a:p>
                  </a:txBody>
                  <a:tcPr marL="9525" marR="9525" marT="9525" marB="0" anchor="ctr">
                    <a:solidFill>
                      <a:schemeClr val="tx2">
                        <a:lumMod val="20000"/>
                        <a:lumOff val="80000"/>
                      </a:schemeClr>
                    </a:solidFill>
                  </a:tcPr>
                </a:tc>
                <a:extLst>
                  <a:ext uri="{0D108BD9-81ED-4DB2-BD59-A6C34878D82A}">
                    <a16:rowId xmlns:a16="http://schemas.microsoft.com/office/drawing/2014/main" val="10005"/>
                  </a:ext>
                </a:extLst>
              </a:tr>
              <a:tr h="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京汉君庭</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安次</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351</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33976</a:t>
                      </a:r>
                    </a:p>
                  </a:txBody>
                  <a:tcPr marL="9525" marR="9525" marT="9525" marB="0" anchor="ctr">
                    <a:lnR w="28575" cap="flat" cmpd="sng" algn="ctr">
                      <a:solidFill>
                        <a:schemeClr val="tx1"/>
                      </a:solidFill>
                      <a:prstDash val="solid"/>
                      <a:round/>
                      <a:headEnd type="none" w="med" len="med"/>
                      <a:tailEnd type="none" w="med" len="med"/>
                    </a:ln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宏程华苑</a:t>
                      </a:r>
                    </a:p>
                  </a:txBody>
                  <a:tcPr marL="9525" marR="9525" marT="9525" marB="0" anchor="ctr">
                    <a:lnL w="28575" cap="flat" cmpd="sng" algn="ctr">
                      <a:solidFill>
                        <a:schemeClr val="tx1"/>
                      </a:solidFill>
                      <a:prstDash val="solid"/>
                      <a:round/>
                      <a:headEnd type="none" w="med" len="med"/>
                      <a:tailEnd type="none" w="med" len="med"/>
                    </a:lnL>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安次</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84</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6631</a:t>
                      </a:r>
                    </a:p>
                  </a:txBody>
                  <a:tcPr marL="9525" marR="9525" marT="9525" marB="0" anchor="ctr">
                    <a:solidFill>
                      <a:schemeClr val="tx2">
                        <a:lumMod val="20000"/>
                        <a:lumOff val="80000"/>
                      </a:schemeClr>
                    </a:solidFill>
                  </a:tcPr>
                </a:tc>
                <a:extLst>
                  <a:ext uri="{0D108BD9-81ED-4DB2-BD59-A6C34878D82A}">
                    <a16:rowId xmlns:a16="http://schemas.microsoft.com/office/drawing/2014/main" val="10006"/>
                  </a:ext>
                </a:extLst>
              </a:tr>
              <a:tr h="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理想家苑</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安次</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322</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29151</a:t>
                      </a:r>
                    </a:p>
                  </a:txBody>
                  <a:tcPr marL="9525" marR="9525" marT="9525" marB="0" anchor="ctr">
                    <a:lnR w="28575" cap="flat" cmpd="sng" algn="ctr">
                      <a:solidFill>
                        <a:schemeClr val="tx1"/>
                      </a:solidFill>
                      <a:prstDash val="solid"/>
                      <a:round/>
                      <a:headEnd type="none" w="med" len="med"/>
                      <a:tailEnd type="none" w="med" len="med"/>
                    </a:ln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新世界家园</a:t>
                      </a:r>
                    </a:p>
                  </a:txBody>
                  <a:tcPr marL="9525" marR="9525" marT="9525" marB="0" anchor="ctr">
                    <a:lnL w="28575" cap="flat" cmpd="sng" algn="ctr">
                      <a:solidFill>
                        <a:schemeClr val="tx1"/>
                      </a:solidFill>
                      <a:prstDash val="solid"/>
                      <a:round/>
                      <a:headEnd type="none" w="med" len="med"/>
                      <a:tailEnd type="none" w="med" len="med"/>
                    </a:lnL>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广阳</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67</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12965</a:t>
                      </a:r>
                    </a:p>
                  </a:txBody>
                  <a:tcPr marL="9525" marR="9525" marT="9525" marB="0" anchor="ctr">
                    <a:solidFill>
                      <a:schemeClr val="tx2">
                        <a:lumMod val="20000"/>
                        <a:lumOff val="80000"/>
                      </a:schemeClr>
                    </a:solidFill>
                  </a:tcPr>
                </a:tc>
                <a:extLst>
                  <a:ext uri="{0D108BD9-81ED-4DB2-BD59-A6C34878D82A}">
                    <a16:rowId xmlns:a16="http://schemas.microsoft.com/office/drawing/2014/main" val="10007"/>
                  </a:ext>
                </a:extLst>
              </a:tr>
              <a:tr h="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枫丹雅苑</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广阳</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313</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30672</a:t>
                      </a:r>
                    </a:p>
                  </a:txBody>
                  <a:tcPr marL="9525" marR="9525" marT="9525" marB="0" anchor="ctr">
                    <a:lnR w="28575" cap="flat" cmpd="sng" algn="ctr">
                      <a:solidFill>
                        <a:schemeClr val="tx1"/>
                      </a:solidFill>
                      <a:prstDash val="solid"/>
                      <a:round/>
                      <a:headEnd type="none" w="med" len="med"/>
                      <a:tailEnd type="none" w="med" len="med"/>
                    </a:ln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证大</a:t>
                      </a:r>
                      <a:r>
                        <a:rPr lang="en-US" altLang="zh-CN" sz="1300" b="0" i="0" u="none" strike="noStrike" kern="1200">
                          <a:solidFill>
                            <a:srgbClr val="000000"/>
                          </a:solidFill>
                          <a:effectLst/>
                          <a:latin typeface="黑体" pitchFamily="2" charset="-122"/>
                          <a:ea typeface="黑体" pitchFamily="2" charset="-122"/>
                          <a:cs typeface="+mn-cs"/>
                        </a:rPr>
                        <a:t>·</a:t>
                      </a:r>
                      <a:r>
                        <a:rPr lang="zh-CN" altLang="en-US" sz="1300" b="0" i="0" u="none" strike="noStrike" kern="1200">
                          <a:solidFill>
                            <a:srgbClr val="000000"/>
                          </a:solidFill>
                          <a:effectLst/>
                          <a:latin typeface="黑体" pitchFamily="2" charset="-122"/>
                          <a:ea typeface="黑体" pitchFamily="2" charset="-122"/>
                          <a:cs typeface="+mn-cs"/>
                        </a:rPr>
                        <a:t>大拇指广场</a:t>
                      </a:r>
                    </a:p>
                  </a:txBody>
                  <a:tcPr marL="9525" marR="9525" marT="9525" marB="0" anchor="ctr">
                    <a:lnL w="28575" cap="flat" cmpd="sng" algn="ctr">
                      <a:solidFill>
                        <a:schemeClr val="tx1"/>
                      </a:solidFill>
                      <a:prstDash val="solid"/>
                      <a:round/>
                      <a:headEnd type="none" w="med" len="med"/>
                      <a:tailEnd type="none" w="med" len="med"/>
                    </a:lnL>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安次</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60</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7595</a:t>
                      </a:r>
                    </a:p>
                  </a:txBody>
                  <a:tcPr marL="9525" marR="9525" marT="9525" marB="0" anchor="ctr">
                    <a:solidFill>
                      <a:schemeClr val="tx2">
                        <a:lumMod val="20000"/>
                        <a:lumOff val="80000"/>
                      </a:schemeClr>
                    </a:solidFill>
                  </a:tcPr>
                </a:tc>
                <a:extLst>
                  <a:ext uri="{0D108BD9-81ED-4DB2-BD59-A6C34878D82A}">
                    <a16:rowId xmlns:a16="http://schemas.microsoft.com/office/drawing/2014/main" val="10008"/>
                  </a:ext>
                </a:extLst>
              </a:tr>
              <a:tr h="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悦安家园</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安次</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288</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26762</a:t>
                      </a:r>
                    </a:p>
                  </a:txBody>
                  <a:tcPr marL="9525" marR="9525" marT="9525" marB="0" anchor="ctr">
                    <a:lnR w="28575" cap="flat" cmpd="sng" algn="ctr">
                      <a:solidFill>
                        <a:schemeClr val="tx1"/>
                      </a:solidFill>
                      <a:prstDash val="solid"/>
                      <a:round/>
                      <a:headEnd type="none" w="med" len="med"/>
                      <a:tailEnd type="none" w="med" len="med"/>
                    </a:ln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龙河枫景</a:t>
                      </a:r>
                    </a:p>
                  </a:txBody>
                  <a:tcPr marL="9525" marR="9525" marT="9525" marB="0" anchor="ctr">
                    <a:lnL w="28575" cap="flat" cmpd="sng" algn="ctr">
                      <a:solidFill>
                        <a:schemeClr val="tx1"/>
                      </a:solidFill>
                      <a:prstDash val="solid"/>
                      <a:round/>
                      <a:headEnd type="none" w="med" len="med"/>
                      <a:tailEnd type="none" w="med" len="med"/>
                    </a:lnL>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安次</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45</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4214</a:t>
                      </a:r>
                    </a:p>
                  </a:txBody>
                  <a:tcPr marL="9525" marR="9525" marT="9525" marB="0" anchor="ctr">
                    <a:solidFill>
                      <a:schemeClr val="tx2">
                        <a:lumMod val="20000"/>
                        <a:lumOff val="80000"/>
                      </a:schemeClr>
                    </a:solidFill>
                  </a:tcPr>
                </a:tc>
                <a:extLst>
                  <a:ext uri="{0D108BD9-81ED-4DB2-BD59-A6C34878D82A}">
                    <a16:rowId xmlns:a16="http://schemas.microsoft.com/office/drawing/2014/main" val="10009"/>
                  </a:ext>
                </a:extLst>
              </a:tr>
              <a:tr h="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瑞景嘉园</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安次</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228</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18060</a:t>
                      </a:r>
                    </a:p>
                  </a:txBody>
                  <a:tcPr marL="9525" marR="9525" marT="9525" marB="0" anchor="ctr">
                    <a:lnR w="28575" cap="flat" cmpd="sng" algn="ctr">
                      <a:solidFill>
                        <a:schemeClr val="tx1"/>
                      </a:solidFill>
                      <a:prstDash val="solid"/>
                      <a:round/>
                      <a:headEnd type="none" w="med" len="med"/>
                      <a:tailEnd type="none" w="med" len="med"/>
                    </a:ln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盛泽花城</a:t>
                      </a:r>
                    </a:p>
                  </a:txBody>
                  <a:tcPr marL="9525" marR="9525" marT="9525" marB="0" anchor="ctr">
                    <a:lnL w="28575" cap="flat" cmpd="sng" algn="ctr">
                      <a:solidFill>
                        <a:schemeClr val="tx1"/>
                      </a:solidFill>
                      <a:prstDash val="solid"/>
                      <a:round/>
                      <a:headEnd type="none" w="med" len="med"/>
                      <a:tailEnd type="none" w="med" len="med"/>
                    </a:lnL>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广阳</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41</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5240</a:t>
                      </a:r>
                    </a:p>
                  </a:txBody>
                  <a:tcPr marL="9525" marR="9525" marT="9525" marB="0" anchor="ctr">
                    <a:solidFill>
                      <a:schemeClr val="tx2">
                        <a:lumMod val="20000"/>
                        <a:lumOff val="80000"/>
                      </a:schemeClr>
                    </a:solidFill>
                  </a:tcPr>
                </a:tc>
                <a:extLst>
                  <a:ext uri="{0D108BD9-81ED-4DB2-BD59-A6C34878D82A}">
                    <a16:rowId xmlns:a16="http://schemas.microsoft.com/office/drawing/2014/main" val="10010"/>
                  </a:ext>
                </a:extLst>
              </a:tr>
              <a:tr h="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恒祥家园</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安次</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226</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23334</a:t>
                      </a:r>
                    </a:p>
                  </a:txBody>
                  <a:tcPr marL="9525" marR="9525" marT="9525" marB="0" anchor="ctr">
                    <a:lnR w="28575" cap="flat" cmpd="sng" algn="ctr">
                      <a:solidFill>
                        <a:schemeClr val="tx1"/>
                      </a:solidFill>
                      <a:prstDash val="solid"/>
                      <a:round/>
                      <a:headEnd type="none" w="med" len="med"/>
                      <a:tailEnd type="none" w="med" len="med"/>
                    </a:ln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锦绣蓝苑</a:t>
                      </a:r>
                    </a:p>
                  </a:txBody>
                  <a:tcPr marL="9525" marR="9525" marT="9525" marB="0" anchor="ctr">
                    <a:lnL w="28575" cap="flat" cmpd="sng" algn="ctr">
                      <a:solidFill>
                        <a:schemeClr val="tx1"/>
                      </a:solidFill>
                      <a:prstDash val="solid"/>
                      <a:round/>
                      <a:headEnd type="none" w="med" len="med"/>
                      <a:tailEnd type="none" w="med" len="med"/>
                    </a:lnL>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广阳</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33</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4502</a:t>
                      </a:r>
                    </a:p>
                  </a:txBody>
                  <a:tcPr marL="9525" marR="9525" marT="9525" marB="0" anchor="ctr">
                    <a:solidFill>
                      <a:schemeClr val="tx2">
                        <a:lumMod val="20000"/>
                        <a:lumOff val="80000"/>
                      </a:schemeClr>
                    </a:solidFill>
                  </a:tcPr>
                </a:tc>
                <a:extLst>
                  <a:ext uri="{0D108BD9-81ED-4DB2-BD59-A6C34878D82A}">
                    <a16:rowId xmlns:a16="http://schemas.microsoft.com/office/drawing/2014/main" val="10011"/>
                  </a:ext>
                </a:extLst>
              </a:tr>
              <a:tr h="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上善颐园</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广阳</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223</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32919</a:t>
                      </a:r>
                    </a:p>
                  </a:txBody>
                  <a:tcPr marL="9525" marR="9525" marT="9525" marB="0" anchor="ctr">
                    <a:lnR w="28575" cap="flat" cmpd="sng" algn="ctr">
                      <a:solidFill>
                        <a:schemeClr val="tx1"/>
                      </a:solidFill>
                      <a:prstDash val="solid"/>
                      <a:round/>
                      <a:headEnd type="none" w="med" len="med"/>
                      <a:tailEnd type="none" w="med" len="med"/>
                    </a:ln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银河领域</a:t>
                      </a:r>
                    </a:p>
                  </a:txBody>
                  <a:tcPr marL="9525" marR="9525" marT="9525" marB="0" anchor="ctr">
                    <a:lnL w="28575" cap="flat" cmpd="sng" algn="ctr">
                      <a:solidFill>
                        <a:schemeClr val="tx1"/>
                      </a:solidFill>
                      <a:prstDash val="solid"/>
                      <a:round/>
                      <a:headEnd type="none" w="med" len="med"/>
                      <a:tailEnd type="none" w="med" len="med"/>
                    </a:lnL>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广阳</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1</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128</a:t>
                      </a:r>
                    </a:p>
                  </a:txBody>
                  <a:tcPr marL="9525" marR="9525" marT="9525" marB="0" anchor="ctr">
                    <a:solidFill>
                      <a:schemeClr val="tx2">
                        <a:lumMod val="20000"/>
                        <a:lumOff val="80000"/>
                      </a:schemeClr>
                    </a:solidFill>
                  </a:tcPr>
                </a:tc>
                <a:extLst>
                  <a:ext uri="{0D108BD9-81ED-4DB2-BD59-A6C34878D82A}">
                    <a16:rowId xmlns:a16="http://schemas.microsoft.com/office/drawing/2014/main" val="10012"/>
                  </a:ext>
                </a:extLst>
              </a:tr>
            </a:tbl>
          </a:graphicData>
        </a:graphic>
      </p:graphicFrame>
      <p:sp>
        <p:nvSpPr>
          <p:cNvPr id="11" name="矩形 10"/>
          <p:cNvSpPr/>
          <p:nvPr/>
        </p:nvSpPr>
        <p:spPr>
          <a:xfrm>
            <a:off x="1727839" y="682324"/>
            <a:ext cx="2684518" cy="327546"/>
          </a:xfrm>
          <a:prstGeom prst="rect">
            <a:avLst/>
          </a:prstGeom>
          <a:solidFill>
            <a:schemeClr val="accent6">
              <a:lumMod val="75000"/>
              <a:alpha val="46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400" b="1" dirty="0">
                <a:latin typeface="微软雅黑" pitchFamily="34" charset="-122"/>
                <a:ea typeface="微软雅黑" pitchFamily="34" charset="-122"/>
              </a:rPr>
              <a:t>8</a:t>
            </a:r>
            <a:r>
              <a:rPr lang="zh-CN" altLang="en-US" sz="1400" b="1" dirty="0">
                <a:latin typeface="微软雅黑" pitchFamily="34" charset="-122"/>
                <a:ea typeface="微软雅黑" pitchFamily="34" charset="-122"/>
              </a:rPr>
              <a:t>月项目预售情况</a:t>
            </a:r>
          </a:p>
        </p:txBody>
      </p:sp>
      <p:sp>
        <p:nvSpPr>
          <p:cNvPr id="14" name="矩形 13"/>
          <p:cNvSpPr/>
          <p:nvPr/>
        </p:nvSpPr>
        <p:spPr>
          <a:xfrm>
            <a:off x="522514" y="3327807"/>
            <a:ext cx="2684518" cy="327546"/>
          </a:xfrm>
          <a:prstGeom prst="rect">
            <a:avLst/>
          </a:prstGeom>
          <a:solidFill>
            <a:schemeClr val="accent6">
              <a:lumMod val="75000"/>
              <a:alpha val="46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400" b="1" dirty="0">
                <a:latin typeface="微软雅黑" pitchFamily="34" charset="-122"/>
                <a:ea typeface="微软雅黑" pitchFamily="34" charset="-122"/>
              </a:rPr>
              <a:t>1-8</a:t>
            </a:r>
            <a:r>
              <a:rPr lang="zh-CN" altLang="en-US" sz="1400" b="1" dirty="0">
                <a:latin typeface="微软雅黑" pitchFamily="34" charset="-122"/>
                <a:ea typeface="微软雅黑" pitchFamily="34" charset="-122"/>
              </a:rPr>
              <a:t>月项目预售情况</a:t>
            </a:r>
          </a:p>
        </p:txBody>
      </p:sp>
    </p:spTree>
    <p:extLst>
      <p:ext uri="{BB962C8B-B14F-4D97-AF65-F5344CB8AC3E}">
        <p14:creationId xmlns:p14="http://schemas.microsoft.com/office/powerpoint/2010/main" val="17291046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3E8B6F27-EC4F-B34E-9F32-10CC92E9AB18}" type="slidenum">
              <a:rPr lang="zh-CN" altLang="en-US" smtClean="0"/>
              <a:pPr>
                <a:defRPr/>
              </a:pPr>
              <a:t>47</a:t>
            </a:fld>
            <a:endParaRPr lang="zh-CN" altLang="en-US" dirty="0"/>
          </a:p>
        </p:txBody>
      </p:sp>
      <p:sp>
        <p:nvSpPr>
          <p:cNvPr id="5" name="标题 1"/>
          <p:cNvSpPr>
            <a:spLocks noGrp="1"/>
          </p:cNvSpPr>
          <p:nvPr>
            <p:ph type="title"/>
          </p:nvPr>
        </p:nvSpPr>
        <p:spPr>
          <a:xfrm>
            <a:off x="162371" y="33484"/>
            <a:ext cx="5462090" cy="474662"/>
          </a:xfrm>
        </p:spPr>
        <p:txBody>
          <a:bodyPr>
            <a:normAutofit/>
          </a:bodyPr>
          <a:lstStyle/>
          <a:p>
            <a:r>
              <a:rPr lang="zh-CN" altLang="en-US" dirty="0"/>
              <a:t>廊坊（安次</a:t>
            </a:r>
            <a:r>
              <a:rPr lang="en-US" altLang="zh-CN" dirty="0"/>
              <a:t>+</a:t>
            </a:r>
            <a:r>
              <a:rPr lang="zh-CN" altLang="en-US" dirty="0"/>
              <a:t>广阳）</a:t>
            </a:r>
            <a:r>
              <a:rPr lang="en-US" altLang="zh-CN" dirty="0"/>
              <a:t>| </a:t>
            </a:r>
            <a:r>
              <a:rPr lang="zh-CN" altLang="en-US" sz="1800" dirty="0">
                <a:solidFill>
                  <a:schemeClr val="tx1">
                    <a:lumMod val="75000"/>
                    <a:lumOff val="25000"/>
                  </a:schemeClr>
                </a:solidFill>
              </a:rPr>
              <a:t>项目成交情况</a:t>
            </a:r>
          </a:p>
        </p:txBody>
      </p:sp>
      <p:graphicFrame>
        <p:nvGraphicFramePr>
          <p:cNvPr id="6" name="表格 5"/>
          <p:cNvGraphicFramePr>
            <a:graphicFrameLocks noGrp="1"/>
          </p:cNvGraphicFramePr>
          <p:nvPr>
            <p:extLst>
              <p:ext uri="{D42A27DB-BD31-4B8C-83A1-F6EECF244321}">
                <p14:modId xmlns:p14="http://schemas.microsoft.com/office/powerpoint/2010/main" val="3668271795"/>
              </p:ext>
            </p:extLst>
          </p:nvPr>
        </p:nvGraphicFramePr>
        <p:xfrm>
          <a:off x="825500" y="1047898"/>
          <a:ext cx="7362209" cy="2482793"/>
        </p:xfrm>
        <a:graphic>
          <a:graphicData uri="http://schemas.openxmlformats.org/drawingml/2006/table">
            <a:tbl>
              <a:tblPr>
                <a:tableStyleId>{5C22544A-7EE6-4342-B048-85BDC9FD1C3A}</a:tableStyleId>
              </a:tblPr>
              <a:tblGrid>
                <a:gridCol w="1706797">
                  <a:extLst>
                    <a:ext uri="{9D8B030D-6E8A-4147-A177-3AD203B41FA5}">
                      <a16:colId xmlns:a16="http://schemas.microsoft.com/office/drawing/2014/main" val="20000"/>
                    </a:ext>
                  </a:extLst>
                </a:gridCol>
                <a:gridCol w="949476">
                  <a:extLst>
                    <a:ext uri="{9D8B030D-6E8A-4147-A177-3AD203B41FA5}">
                      <a16:colId xmlns:a16="http://schemas.microsoft.com/office/drawing/2014/main" val="20001"/>
                    </a:ext>
                  </a:extLst>
                </a:gridCol>
                <a:gridCol w="1116964">
                  <a:extLst>
                    <a:ext uri="{9D8B030D-6E8A-4147-A177-3AD203B41FA5}">
                      <a16:colId xmlns:a16="http://schemas.microsoft.com/office/drawing/2014/main" val="20002"/>
                    </a:ext>
                  </a:extLst>
                </a:gridCol>
                <a:gridCol w="1196324">
                  <a:extLst>
                    <a:ext uri="{9D8B030D-6E8A-4147-A177-3AD203B41FA5}">
                      <a16:colId xmlns:a16="http://schemas.microsoft.com/office/drawing/2014/main" val="20003"/>
                    </a:ext>
                  </a:extLst>
                </a:gridCol>
                <a:gridCol w="1196324">
                  <a:extLst>
                    <a:ext uri="{9D8B030D-6E8A-4147-A177-3AD203B41FA5}">
                      <a16:colId xmlns:a16="http://schemas.microsoft.com/office/drawing/2014/main" val="20004"/>
                    </a:ext>
                  </a:extLst>
                </a:gridCol>
                <a:gridCol w="1196324">
                  <a:extLst>
                    <a:ext uri="{9D8B030D-6E8A-4147-A177-3AD203B41FA5}">
                      <a16:colId xmlns:a16="http://schemas.microsoft.com/office/drawing/2014/main" val="20005"/>
                    </a:ext>
                  </a:extLst>
                </a:gridCol>
              </a:tblGrid>
              <a:tr h="304800">
                <a:tc>
                  <a:txBody>
                    <a:bodyPr/>
                    <a:lstStyle/>
                    <a:p>
                      <a:pPr algn="ctr" rtl="0" fontAlgn="ctr"/>
                      <a:r>
                        <a:rPr lang="zh-CN" altLang="en-US" sz="1300" b="1" u="none" strike="noStrike" dirty="0">
                          <a:solidFill>
                            <a:schemeClr val="bg1"/>
                          </a:solidFill>
                          <a:effectLst/>
                          <a:latin typeface="微软雅黑" pitchFamily="34" charset="-122"/>
                          <a:ea typeface="微软雅黑" pitchFamily="34" charset="-122"/>
                        </a:rPr>
                        <a:t>项目名称</a:t>
                      </a:r>
                      <a:endParaRPr lang="zh-CN" altLang="en-US" sz="1300" b="1" i="0" u="none" strike="noStrike" dirty="0">
                        <a:solidFill>
                          <a:schemeClr val="bg1"/>
                        </a:solidFill>
                        <a:effectLst/>
                        <a:latin typeface="微软雅黑" pitchFamily="34" charset="-122"/>
                        <a:ea typeface="微软雅黑" pitchFamily="34" charset="-122"/>
                      </a:endParaRPr>
                    </a:p>
                  </a:txBody>
                  <a:tcPr marL="9525" marR="9525" marT="9525" marB="0" anchor="ctr">
                    <a:solidFill>
                      <a:schemeClr val="tx2">
                        <a:lumMod val="60000"/>
                        <a:lumOff val="40000"/>
                      </a:schemeClr>
                    </a:solidFill>
                  </a:tcPr>
                </a:tc>
                <a:tc>
                  <a:txBody>
                    <a:bodyPr/>
                    <a:lstStyle/>
                    <a:p>
                      <a:pPr algn="ctr" rtl="0" fontAlgn="ctr"/>
                      <a:r>
                        <a:rPr lang="zh-CN" altLang="en-US" sz="1300" b="1" u="none" strike="noStrike" dirty="0">
                          <a:solidFill>
                            <a:schemeClr val="bg1"/>
                          </a:solidFill>
                          <a:effectLst/>
                          <a:latin typeface="微软雅黑" pitchFamily="34" charset="-122"/>
                          <a:ea typeface="微软雅黑" pitchFamily="34" charset="-122"/>
                        </a:rPr>
                        <a:t>区县</a:t>
                      </a:r>
                      <a:endParaRPr lang="zh-CN" altLang="en-US" sz="1300" b="1" i="0" u="none" strike="noStrike" dirty="0">
                        <a:solidFill>
                          <a:schemeClr val="bg1"/>
                        </a:solidFill>
                        <a:effectLst/>
                        <a:latin typeface="微软雅黑" pitchFamily="34" charset="-122"/>
                        <a:ea typeface="微软雅黑" pitchFamily="34" charset="-122"/>
                      </a:endParaRPr>
                    </a:p>
                  </a:txBody>
                  <a:tcPr marL="9525" marR="9525" marT="9525" marB="0" anchor="ctr">
                    <a:solidFill>
                      <a:schemeClr val="tx2">
                        <a:lumMod val="60000"/>
                        <a:lumOff val="40000"/>
                      </a:schemeClr>
                    </a:solidFill>
                  </a:tcPr>
                </a:tc>
                <a:tc>
                  <a:txBody>
                    <a:bodyPr/>
                    <a:lstStyle/>
                    <a:p>
                      <a:pPr algn="ctr" rtl="0" fontAlgn="ctr"/>
                      <a:r>
                        <a:rPr lang="zh-CN" altLang="en-US" sz="1300" b="1" u="none" strike="noStrike" dirty="0">
                          <a:solidFill>
                            <a:schemeClr val="bg1"/>
                          </a:solidFill>
                          <a:effectLst/>
                          <a:latin typeface="微软雅黑" pitchFamily="34" charset="-122"/>
                          <a:ea typeface="微软雅黑" pitchFamily="34" charset="-122"/>
                        </a:rPr>
                        <a:t>成交套数</a:t>
                      </a:r>
                      <a:endParaRPr lang="en-US" altLang="zh-CN" sz="1300" b="1" u="none" strike="noStrike" dirty="0">
                        <a:solidFill>
                          <a:schemeClr val="bg1"/>
                        </a:solidFill>
                        <a:effectLst/>
                        <a:latin typeface="微软雅黑" pitchFamily="34" charset="-122"/>
                        <a:ea typeface="微软雅黑" pitchFamily="34" charset="-122"/>
                      </a:endParaRPr>
                    </a:p>
                    <a:p>
                      <a:pPr marL="0" marR="0" indent="0" algn="ctr" defTabSz="457200" rtl="0" eaLnBrk="1" fontAlgn="ctr" latinLnBrk="0" hangingPunct="1">
                        <a:lnSpc>
                          <a:spcPct val="100000"/>
                        </a:lnSpc>
                        <a:spcBef>
                          <a:spcPts val="0"/>
                        </a:spcBef>
                        <a:spcAft>
                          <a:spcPts val="0"/>
                        </a:spcAft>
                        <a:buClrTx/>
                        <a:buSzTx/>
                        <a:buFontTx/>
                        <a:buNone/>
                        <a:tabLst/>
                        <a:defRPr/>
                      </a:pPr>
                      <a:r>
                        <a:rPr lang="zh-CN" altLang="en-US" sz="1300" b="1" u="none" strike="noStrike" dirty="0">
                          <a:solidFill>
                            <a:schemeClr val="bg1"/>
                          </a:solidFill>
                          <a:effectLst/>
                          <a:latin typeface="微软雅黑" pitchFamily="34" charset="-122"/>
                          <a:ea typeface="微软雅黑" pitchFamily="34" charset="-122"/>
                        </a:rPr>
                        <a:t>（套）</a:t>
                      </a:r>
                      <a:r>
                        <a:rPr lang="zh-CN" altLang="en-US" sz="1300" b="1" u="none" strike="noStrike" dirty="0">
                          <a:solidFill>
                            <a:schemeClr val="bg1"/>
                          </a:solidFill>
                          <a:effectLst/>
                          <a:latin typeface="+mn-ea"/>
                          <a:ea typeface="+mn-ea"/>
                        </a:rPr>
                        <a:t>↓</a:t>
                      </a:r>
                      <a:endParaRPr lang="zh-CN" altLang="en-US" sz="1300" b="1" i="0" u="none" strike="noStrike" dirty="0">
                        <a:solidFill>
                          <a:schemeClr val="bg1"/>
                        </a:solidFill>
                        <a:effectLst/>
                        <a:latin typeface="+mn-ea"/>
                        <a:ea typeface="+mn-ea"/>
                      </a:endParaRPr>
                    </a:p>
                  </a:txBody>
                  <a:tcPr marL="9525" marR="9525" marT="9525" marB="0" anchor="ctr">
                    <a:solidFill>
                      <a:schemeClr val="tx2">
                        <a:lumMod val="60000"/>
                        <a:lumOff val="40000"/>
                      </a:schemeClr>
                    </a:solidFill>
                  </a:tcPr>
                </a:tc>
                <a:tc>
                  <a:txBody>
                    <a:bodyPr/>
                    <a:lstStyle/>
                    <a:p>
                      <a:pPr algn="ctr" rtl="0" fontAlgn="ctr"/>
                      <a:r>
                        <a:rPr lang="zh-CN" altLang="en-US" sz="1300" b="1" u="none" strike="noStrike" dirty="0">
                          <a:solidFill>
                            <a:schemeClr val="bg1"/>
                          </a:solidFill>
                          <a:effectLst/>
                          <a:latin typeface="微软雅黑" pitchFamily="34" charset="-122"/>
                          <a:ea typeface="微软雅黑" pitchFamily="34" charset="-122"/>
                        </a:rPr>
                        <a:t>成交面积</a:t>
                      </a:r>
                      <a:endParaRPr lang="en-US" altLang="zh-CN" sz="1300" b="1" u="none" strike="noStrike" dirty="0">
                        <a:solidFill>
                          <a:schemeClr val="bg1"/>
                        </a:solidFill>
                        <a:effectLst/>
                        <a:latin typeface="微软雅黑" pitchFamily="34" charset="-122"/>
                        <a:ea typeface="微软雅黑" pitchFamily="34" charset="-122"/>
                      </a:endParaRPr>
                    </a:p>
                    <a:p>
                      <a:pPr algn="ctr" rtl="0" fontAlgn="ctr"/>
                      <a:r>
                        <a:rPr lang="zh-CN" altLang="en-US" sz="1300" b="1" u="none" strike="noStrike" dirty="0">
                          <a:solidFill>
                            <a:schemeClr val="bg1"/>
                          </a:solidFill>
                          <a:effectLst/>
                          <a:latin typeface="微软雅黑" pitchFamily="34" charset="-122"/>
                          <a:ea typeface="微软雅黑" pitchFamily="34" charset="-122"/>
                        </a:rPr>
                        <a:t>（万㎡）</a:t>
                      </a:r>
                      <a:endParaRPr lang="zh-CN" altLang="en-US" sz="1300" b="1" i="0" u="none" strike="noStrike" dirty="0">
                        <a:solidFill>
                          <a:schemeClr val="bg1"/>
                        </a:solidFill>
                        <a:effectLst/>
                        <a:latin typeface="微软雅黑" pitchFamily="34" charset="-122"/>
                        <a:ea typeface="微软雅黑" pitchFamily="34" charset="-122"/>
                      </a:endParaRPr>
                    </a:p>
                  </a:txBody>
                  <a:tcPr marL="9525" marR="9525" marT="9525" marB="0" anchor="ctr">
                    <a:solidFill>
                      <a:schemeClr val="tx2">
                        <a:lumMod val="60000"/>
                        <a:lumOff val="40000"/>
                      </a:schemeClr>
                    </a:solidFill>
                  </a:tcPr>
                </a:tc>
                <a:tc>
                  <a:txBody>
                    <a:bodyPr/>
                    <a:lstStyle/>
                    <a:p>
                      <a:pPr algn="ctr" rtl="0" fontAlgn="b"/>
                      <a:r>
                        <a:rPr lang="zh-CN" altLang="en-US" sz="1300" b="1" u="none" strike="noStrike" dirty="0">
                          <a:solidFill>
                            <a:schemeClr val="bg1"/>
                          </a:solidFill>
                          <a:effectLst/>
                          <a:latin typeface="微软雅黑" pitchFamily="34" charset="-122"/>
                          <a:ea typeface="微软雅黑" pitchFamily="34" charset="-122"/>
                        </a:rPr>
                        <a:t>成交单价</a:t>
                      </a:r>
                      <a:endParaRPr lang="en-US" altLang="zh-CN" sz="1300" b="1" u="none" strike="noStrike" dirty="0">
                        <a:solidFill>
                          <a:schemeClr val="bg1"/>
                        </a:solidFill>
                        <a:effectLst/>
                        <a:latin typeface="微软雅黑" pitchFamily="34" charset="-122"/>
                        <a:ea typeface="微软雅黑" pitchFamily="34" charset="-122"/>
                      </a:endParaRPr>
                    </a:p>
                    <a:p>
                      <a:pPr algn="ctr" rtl="0" fontAlgn="b"/>
                      <a:r>
                        <a:rPr lang="zh-CN" altLang="en-US" sz="1300" b="1" u="none" strike="noStrike" dirty="0">
                          <a:solidFill>
                            <a:schemeClr val="bg1"/>
                          </a:solidFill>
                          <a:effectLst/>
                          <a:latin typeface="微软雅黑" pitchFamily="34" charset="-122"/>
                          <a:ea typeface="微软雅黑" pitchFamily="34" charset="-122"/>
                        </a:rPr>
                        <a:t>（元</a:t>
                      </a:r>
                      <a:r>
                        <a:rPr lang="en-US" altLang="zh-CN" sz="1300" b="1" u="none" strike="noStrike" dirty="0">
                          <a:solidFill>
                            <a:schemeClr val="bg1"/>
                          </a:solidFill>
                          <a:effectLst/>
                          <a:latin typeface="微软雅黑" pitchFamily="34" charset="-122"/>
                          <a:ea typeface="微软雅黑" pitchFamily="34" charset="-122"/>
                        </a:rPr>
                        <a:t>/㎡</a:t>
                      </a:r>
                      <a:r>
                        <a:rPr lang="zh-CN" altLang="en-US" sz="1300" b="1" u="none" strike="noStrike" dirty="0">
                          <a:solidFill>
                            <a:schemeClr val="bg1"/>
                          </a:solidFill>
                          <a:effectLst/>
                          <a:latin typeface="微软雅黑" pitchFamily="34" charset="-122"/>
                          <a:ea typeface="微软雅黑" pitchFamily="34" charset="-122"/>
                        </a:rPr>
                        <a:t>）</a:t>
                      </a:r>
                      <a:endParaRPr lang="zh-CN" altLang="en-US" sz="1300" b="1" i="0" u="none" strike="noStrike" dirty="0">
                        <a:solidFill>
                          <a:schemeClr val="bg1"/>
                        </a:solidFill>
                        <a:effectLst/>
                        <a:latin typeface="微软雅黑" pitchFamily="34" charset="-122"/>
                        <a:ea typeface="微软雅黑" pitchFamily="34" charset="-122"/>
                      </a:endParaRPr>
                    </a:p>
                  </a:txBody>
                  <a:tcPr marL="9525" marR="9525" marT="9525" marB="0" anchor="ctr">
                    <a:solidFill>
                      <a:schemeClr val="tx2">
                        <a:lumMod val="60000"/>
                        <a:lumOff val="40000"/>
                      </a:schemeClr>
                    </a:solidFill>
                  </a:tcPr>
                </a:tc>
                <a:tc>
                  <a:txBody>
                    <a:bodyPr/>
                    <a:lstStyle/>
                    <a:p>
                      <a:pPr algn="ctr" rtl="0" fontAlgn="b"/>
                      <a:r>
                        <a:rPr lang="zh-CN" altLang="en-US" sz="1300" b="1" u="none" strike="noStrike" dirty="0">
                          <a:solidFill>
                            <a:schemeClr val="bg1"/>
                          </a:solidFill>
                          <a:effectLst/>
                          <a:latin typeface="微软雅黑" pitchFamily="34" charset="-122"/>
                          <a:ea typeface="微软雅黑" pitchFamily="34" charset="-122"/>
                        </a:rPr>
                        <a:t>成交总额</a:t>
                      </a:r>
                      <a:endParaRPr lang="en-US" altLang="zh-CN" sz="1300" b="1" u="none" strike="noStrike" dirty="0">
                        <a:solidFill>
                          <a:schemeClr val="bg1"/>
                        </a:solidFill>
                        <a:effectLst/>
                        <a:latin typeface="微软雅黑" pitchFamily="34" charset="-122"/>
                        <a:ea typeface="微软雅黑" pitchFamily="34" charset="-122"/>
                      </a:endParaRPr>
                    </a:p>
                    <a:p>
                      <a:pPr algn="ctr" rtl="0" fontAlgn="b"/>
                      <a:r>
                        <a:rPr lang="zh-CN" altLang="en-US" sz="1300" b="1" u="none" strike="noStrike" dirty="0">
                          <a:solidFill>
                            <a:schemeClr val="bg1"/>
                          </a:solidFill>
                          <a:effectLst/>
                          <a:latin typeface="微软雅黑" pitchFamily="34" charset="-122"/>
                          <a:ea typeface="微软雅黑" pitchFamily="34" charset="-122"/>
                        </a:rPr>
                        <a:t>（亿元）</a:t>
                      </a:r>
                      <a:endParaRPr lang="zh-CN" altLang="en-US" sz="1300" b="1" i="0" u="none" strike="noStrike" dirty="0">
                        <a:solidFill>
                          <a:schemeClr val="bg1"/>
                        </a:solidFill>
                        <a:effectLst/>
                        <a:latin typeface="微软雅黑" pitchFamily="34" charset="-122"/>
                        <a:ea typeface="微软雅黑" pitchFamily="34" charset="-122"/>
                      </a:endParaRPr>
                    </a:p>
                  </a:txBody>
                  <a:tcPr marL="9525" marR="9525" marT="9525" marB="0" anchor="ctr">
                    <a:solidFill>
                      <a:schemeClr val="tx2">
                        <a:lumMod val="60000"/>
                        <a:lumOff val="40000"/>
                      </a:schemeClr>
                    </a:solidFill>
                  </a:tcPr>
                </a:tc>
                <a:extLst>
                  <a:ext uri="{0D108BD9-81ED-4DB2-BD59-A6C34878D82A}">
                    <a16:rowId xmlns:a16="http://schemas.microsoft.com/office/drawing/2014/main" val="10000"/>
                  </a:ext>
                </a:extLst>
              </a:tr>
              <a:tr h="208223">
                <a:tc>
                  <a:txBody>
                    <a:bodyPr/>
                    <a:lstStyle/>
                    <a:p>
                      <a:pPr algn="ctr" fontAlgn="ctr"/>
                      <a:r>
                        <a:rPr lang="zh-CN" altLang="en-US" sz="1300" b="0" i="0" u="none" strike="noStrike" kern="1200" dirty="0">
                          <a:solidFill>
                            <a:srgbClr val="000000"/>
                          </a:solidFill>
                          <a:effectLst/>
                          <a:latin typeface="+mn-ea"/>
                          <a:ea typeface="+mn-ea"/>
                          <a:cs typeface="+mn-cs"/>
                        </a:rPr>
                        <a:t>上善颐园</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dirty="0">
                          <a:solidFill>
                            <a:srgbClr val="000000"/>
                          </a:solidFill>
                          <a:effectLst/>
                          <a:latin typeface="+mn-ea"/>
                          <a:ea typeface="+mn-ea"/>
                          <a:cs typeface="+mn-cs"/>
                        </a:rPr>
                        <a:t>广阳</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413</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4.45</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8359</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3.72 </a:t>
                      </a:r>
                    </a:p>
                  </a:txBody>
                  <a:tcPr marL="9525" marR="9525" marT="9525" marB="0" anchor="ctr">
                    <a:solidFill>
                      <a:schemeClr val="tx2">
                        <a:lumMod val="20000"/>
                        <a:lumOff val="80000"/>
                      </a:schemeClr>
                    </a:solidFill>
                  </a:tcPr>
                </a:tc>
                <a:extLst>
                  <a:ext uri="{0D108BD9-81ED-4DB2-BD59-A6C34878D82A}">
                    <a16:rowId xmlns:a16="http://schemas.microsoft.com/office/drawing/2014/main" val="10001"/>
                  </a:ext>
                </a:extLst>
              </a:tr>
              <a:tr h="171450">
                <a:tc>
                  <a:txBody>
                    <a:bodyPr/>
                    <a:lstStyle/>
                    <a:p>
                      <a:pPr algn="ctr" fontAlgn="ctr"/>
                      <a:r>
                        <a:rPr lang="zh-CN" altLang="en-US" sz="1300" b="0" i="0" u="none" strike="noStrike" kern="1200">
                          <a:solidFill>
                            <a:srgbClr val="000000"/>
                          </a:solidFill>
                          <a:effectLst/>
                          <a:latin typeface="+mn-ea"/>
                          <a:ea typeface="+mn-ea"/>
                          <a:cs typeface="+mn-cs"/>
                        </a:rPr>
                        <a:t>京汉君庭</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dirty="0">
                          <a:solidFill>
                            <a:srgbClr val="000000"/>
                          </a:solidFill>
                          <a:effectLst/>
                          <a:latin typeface="+mn-ea"/>
                          <a:ea typeface="+mn-ea"/>
                          <a:cs typeface="+mn-cs"/>
                        </a:rPr>
                        <a:t>安次</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325</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3.10</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7837</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2.43 </a:t>
                      </a:r>
                    </a:p>
                  </a:txBody>
                  <a:tcPr marL="9525" marR="9525" marT="9525" marB="0" anchor="ctr">
                    <a:solidFill>
                      <a:schemeClr val="tx2">
                        <a:lumMod val="20000"/>
                        <a:lumOff val="80000"/>
                      </a:schemeClr>
                    </a:solidFill>
                  </a:tcPr>
                </a:tc>
                <a:extLst>
                  <a:ext uri="{0D108BD9-81ED-4DB2-BD59-A6C34878D82A}">
                    <a16:rowId xmlns:a16="http://schemas.microsoft.com/office/drawing/2014/main" val="10002"/>
                  </a:ext>
                </a:extLst>
              </a:tr>
              <a:tr h="171450">
                <a:tc>
                  <a:txBody>
                    <a:bodyPr/>
                    <a:lstStyle/>
                    <a:p>
                      <a:pPr algn="ctr" fontAlgn="ctr"/>
                      <a:r>
                        <a:rPr lang="zh-CN" altLang="en-US" sz="1300" b="0" i="0" u="none" strike="noStrike" kern="1200">
                          <a:solidFill>
                            <a:srgbClr val="000000"/>
                          </a:solidFill>
                          <a:effectLst/>
                          <a:latin typeface="+mn-ea"/>
                          <a:ea typeface="+mn-ea"/>
                          <a:cs typeface="+mn-cs"/>
                        </a:rPr>
                        <a:t>枫景园</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mn-ea"/>
                          <a:ea typeface="+mn-ea"/>
                          <a:cs typeface="+mn-cs"/>
                        </a:rPr>
                        <a:t>广阳</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240</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2.25</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7584</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1.70 </a:t>
                      </a:r>
                    </a:p>
                  </a:txBody>
                  <a:tcPr marL="9525" marR="9525" marT="9525" marB="0" anchor="ctr">
                    <a:solidFill>
                      <a:schemeClr val="tx2">
                        <a:lumMod val="20000"/>
                        <a:lumOff val="80000"/>
                      </a:schemeClr>
                    </a:solidFill>
                  </a:tcPr>
                </a:tc>
                <a:extLst>
                  <a:ext uri="{0D108BD9-81ED-4DB2-BD59-A6C34878D82A}">
                    <a16:rowId xmlns:a16="http://schemas.microsoft.com/office/drawing/2014/main" val="10003"/>
                  </a:ext>
                </a:extLst>
              </a:tr>
              <a:tr h="171450">
                <a:tc>
                  <a:txBody>
                    <a:bodyPr/>
                    <a:lstStyle/>
                    <a:p>
                      <a:pPr algn="ctr" fontAlgn="ctr"/>
                      <a:r>
                        <a:rPr lang="zh-CN" altLang="en-US" sz="1300" b="0" i="0" u="none" strike="noStrike" kern="1200">
                          <a:solidFill>
                            <a:srgbClr val="000000"/>
                          </a:solidFill>
                          <a:effectLst/>
                          <a:latin typeface="+mn-ea"/>
                          <a:ea typeface="+mn-ea"/>
                          <a:cs typeface="+mn-cs"/>
                        </a:rPr>
                        <a:t>悦安家园</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mn-ea"/>
                          <a:ea typeface="+mn-ea"/>
                          <a:cs typeface="+mn-cs"/>
                        </a:rPr>
                        <a:t>安次</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217</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2.01</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8055</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1.62 </a:t>
                      </a:r>
                    </a:p>
                  </a:txBody>
                  <a:tcPr marL="9525" marR="9525" marT="9525" marB="0" anchor="ctr">
                    <a:solidFill>
                      <a:schemeClr val="tx2">
                        <a:lumMod val="20000"/>
                        <a:lumOff val="80000"/>
                      </a:schemeClr>
                    </a:solidFill>
                  </a:tcPr>
                </a:tc>
                <a:extLst>
                  <a:ext uri="{0D108BD9-81ED-4DB2-BD59-A6C34878D82A}">
                    <a16:rowId xmlns:a16="http://schemas.microsoft.com/office/drawing/2014/main" val="10004"/>
                  </a:ext>
                </a:extLst>
              </a:tr>
              <a:tr h="171450">
                <a:tc>
                  <a:txBody>
                    <a:bodyPr/>
                    <a:lstStyle/>
                    <a:p>
                      <a:pPr algn="ctr" fontAlgn="ctr"/>
                      <a:r>
                        <a:rPr lang="zh-CN" altLang="en-US" sz="1300" b="0" i="0" u="none" strike="noStrike" kern="1200">
                          <a:solidFill>
                            <a:srgbClr val="000000"/>
                          </a:solidFill>
                          <a:effectLst/>
                          <a:latin typeface="+mn-ea"/>
                          <a:ea typeface="+mn-ea"/>
                          <a:cs typeface="+mn-cs"/>
                        </a:rPr>
                        <a:t>枫丹雅苑</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mn-ea"/>
                          <a:ea typeface="+mn-ea"/>
                          <a:cs typeface="+mn-cs"/>
                        </a:rPr>
                        <a:t>广阳</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215</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2.09</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8156</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1.70 </a:t>
                      </a:r>
                    </a:p>
                  </a:txBody>
                  <a:tcPr marL="9525" marR="9525" marT="9525" marB="0" anchor="ctr">
                    <a:solidFill>
                      <a:schemeClr val="tx2">
                        <a:lumMod val="20000"/>
                        <a:lumOff val="80000"/>
                      </a:schemeClr>
                    </a:solidFill>
                  </a:tcPr>
                </a:tc>
                <a:extLst>
                  <a:ext uri="{0D108BD9-81ED-4DB2-BD59-A6C34878D82A}">
                    <a16:rowId xmlns:a16="http://schemas.microsoft.com/office/drawing/2014/main" val="10005"/>
                  </a:ext>
                </a:extLst>
              </a:tr>
              <a:tr h="171450">
                <a:tc>
                  <a:txBody>
                    <a:bodyPr/>
                    <a:lstStyle/>
                    <a:p>
                      <a:pPr algn="ctr" fontAlgn="ctr"/>
                      <a:r>
                        <a:rPr lang="zh-CN" altLang="en-US" sz="1300" b="0" i="0" u="none" strike="noStrike" kern="1200" dirty="0">
                          <a:solidFill>
                            <a:srgbClr val="000000"/>
                          </a:solidFill>
                          <a:effectLst/>
                          <a:latin typeface="+mn-ea"/>
                          <a:ea typeface="+mn-ea"/>
                          <a:cs typeface="+mn-cs"/>
                        </a:rPr>
                        <a:t>龙河盛都小区</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mn-ea"/>
                          <a:ea typeface="+mn-ea"/>
                          <a:cs typeface="+mn-cs"/>
                        </a:rPr>
                        <a:t>安次</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186</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1.74</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10185</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1.77 </a:t>
                      </a:r>
                    </a:p>
                  </a:txBody>
                  <a:tcPr marL="9525" marR="9525" marT="9525" marB="0" anchor="ctr">
                    <a:solidFill>
                      <a:schemeClr val="tx2">
                        <a:lumMod val="20000"/>
                        <a:lumOff val="80000"/>
                      </a:schemeClr>
                    </a:solidFill>
                  </a:tcPr>
                </a:tc>
                <a:extLst>
                  <a:ext uri="{0D108BD9-81ED-4DB2-BD59-A6C34878D82A}">
                    <a16:rowId xmlns:a16="http://schemas.microsoft.com/office/drawing/2014/main" val="10006"/>
                  </a:ext>
                </a:extLst>
              </a:tr>
              <a:tr h="171450">
                <a:tc>
                  <a:txBody>
                    <a:bodyPr/>
                    <a:lstStyle/>
                    <a:p>
                      <a:pPr algn="ctr" fontAlgn="ctr"/>
                      <a:r>
                        <a:rPr lang="zh-CN" altLang="en-US" sz="1300" b="0" i="0" u="none" strike="noStrike" kern="1200">
                          <a:solidFill>
                            <a:srgbClr val="000000"/>
                          </a:solidFill>
                          <a:effectLst/>
                          <a:latin typeface="+mn-ea"/>
                          <a:ea typeface="+mn-ea"/>
                          <a:cs typeface="+mn-cs"/>
                        </a:rPr>
                        <a:t>新世界家园</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mn-ea"/>
                          <a:ea typeface="+mn-ea"/>
                          <a:cs typeface="+mn-cs"/>
                        </a:rPr>
                        <a:t>广阳</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133</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2.06</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10996</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2.27 </a:t>
                      </a:r>
                    </a:p>
                  </a:txBody>
                  <a:tcPr marL="9525" marR="9525" marT="9525" marB="0" anchor="ctr">
                    <a:solidFill>
                      <a:schemeClr val="tx2">
                        <a:lumMod val="20000"/>
                        <a:lumOff val="80000"/>
                      </a:schemeClr>
                    </a:solidFill>
                  </a:tcPr>
                </a:tc>
                <a:extLst>
                  <a:ext uri="{0D108BD9-81ED-4DB2-BD59-A6C34878D82A}">
                    <a16:rowId xmlns:a16="http://schemas.microsoft.com/office/drawing/2014/main" val="10007"/>
                  </a:ext>
                </a:extLst>
              </a:tr>
              <a:tr h="171450">
                <a:tc>
                  <a:txBody>
                    <a:bodyPr/>
                    <a:lstStyle/>
                    <a:p>
                      <a:pPr algn="ctr" fontAlgn="ctr"/>
                      <a:r>
                        <a:rPr lang="zh-CN" altLang="en-US" sz="1300" b="0" i="0" u="none" strike="noStrike" kern="1200">
                          <a:solidFill>
                            <a:srgbClr val="000000"/>
                          </a:solidFill>
                          <a:effectLst/>
                          <a:latin typeface="+mn-ea"/>
                          <a:ea typeface="+mn-ea"/>
                          <a:cs typeface="+mn-cs"/>
                        </a:rPr>
                        <a:t>紫荆假日</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mn-ea"/>
                          <a:ea typeface="+mn-ea"/>
                          <a:cs typeface="+mn-cs"/>
                        </a:rPr>
                        <a:t>安次</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89</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0.45</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7536</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0.34 </a:t>
                      </a:r>
                    </a:p>
                  </a:txBody>
                  <a:tcPr marL="9525" marR="9525" marT="9525" marB="0" anchor="ctr">
                    <a:solidFill>
                      <a:schemeClr val="tx2">
                        <a:lumMod val="20000"/>
                        <a:lumOff val="80000"/>
                      </a:schemeClr>
                    </a:solidFill>
                  </a:tcPr>
                </a:tc>
                <a:extLst>
                  <a:ext uri="{0D108BD9-81ED-4DB2-BD59-A6C34878D82A}">
                    <a16:rowId xmlns:a16="http://schemas.microsoft.com/office/drawing/2014/main" val="10008"/>
                  </a:ext>
                </a:extLst>
              </a:tr>
              <a:tr h="171450">
                <a:tc>
                  <a:txBody>
                    <a:bodyPr/>
                    <a:lstStyle/>
                    <a:p>
                      <a:pPr algn="ctr" fontAlgn="ctr"/>
                      <a:r>
                        <a:rPr lang="en-US" sz="1300" b="0" i="0" u="none" strike="noStrike" kern="1200">
                          <a:solidFill>
                            <a:srgbClr val="000000"/>
                          </a:solidFill>
                          <a:effectLst/>
                          <a:latin typeface="+mn-ea"/>
                          <a:ea typeface="+mn-ea"/>
                          <a:cs typeface="+mn-cs"/>
                        </a:rPr>
                        <a:t>K2·</a:t>
                      </a:r>
                      <a:r>
                        <a:rPr lang="zh-CN" altLang="en-US" sz="1300" b="0" i="0" u="none" strike="noStrike" kern="1200">
                          <a:solidFill>
                            <a:srgbClr val="000000"/>
                          </a:solidFill>
                          <a:effectLst/>
                          <a:latin typeface="+mn-ea"/>
                          <a:ea typeface="+mn-ea"/>
                          <a:cs typeface="+mn-cs"/>
                        </a:rPr>
                        <a:t>狮子城</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mn-ea"/>
                          <a:ea typeface="+mn-ea"/>
                          <a:cs typeface="+mn-cs"/>
                        </a:rPr>
                        <a:t>安次</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76</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0.51</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7877</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0.40 </a:t>
                      </a:r>
                    </a:p>
                  </a:txBody>
                  <a:tcPr marL="9525" marR="9525" marT="9525" marB="0" anchor="ctr">
                    <a:solidFill>
                      <a:schemeClr val="tx2">
                        <a:lumMod val="20000"/>
                        <a:lumOff val="80000"/>
                      </a:schemeClr>
                    </a:solidFill>
                  </a:tcPr>
                </a:tc>
                <a:extLst>
                  <a:ext uri="{0D108BD9-81ED-4DB2-BD59-A6C34878D82A}">
                    <a16:rowId xmlns:a16="http://schemas.microsoft.com/office/drawing/2014/main" val="10009"/>
                  </a:ext>
                </a:extLst>
              </a:tr>
              <a:tr h="171450">
                <a:tc>
                  <a:txBody>
                    <a:bodyPr/>
                    <a:lstStyle/>
                    <a:p>
                      <a:pPr algn="ctr" fontAlgn="ctr"/>
                      <a:r>
                        <a:rPr lang="zh-CN" altLang="en-US" sz="1300" b="0" i="0" u="none" strike="noStrike" kern="1200">
                          <a:solidFill>
                            <a:srgbClr val="000000"/>
                          </a:solidFill>
                          <a:effectLst/>
                          <a:latin typeface="+mn-ea"/>
                          <a:ea typeface="+mn-ea"/>
                          <a:cs typeface="+mn-cs"/>
                        </a:rPr>
                        <a:t>新中家园</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mn-ea"/>
                          <a:ea typeface="+mn-ea"/>
                          <a:cs typeface="+mn-cs"/>
                        </a:rPr>
                        <a:t>广阳</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71</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1.22</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10828</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1.32 </a:t>
                      </a:r>
                    </a:p>
                  </a:txBody>
                  <a:tcPr marL="9525" marR="9525" marT="9525" marB="0" anchor="ctr">
                    <a:solidFill>
                      <a:schemeClr val="tx2">
                        <a:lumMod val="20000"/>
                        <a:lumOff val="80000"/>
                      </a:schemeClr>
                    </a:solidFill>
                  </a:tcPr>
                </a:tc>
                <a:extLst>
                  <a:ext uri="{0D108BD9-81ED-4DB2-BD59-A6C34878D82A}">
                    <a16:rowId xmlns:a16="http://schemas.microsoft.com/office/drawing/2014/main" val="10010"/>
                  </a:ext>
                </a:extLst>
              </a:tr>
            </a:tbl>
          </a:graphicData>
        </a:graphic>
      </p:graphicFrame>
      <p:graphicFrame>
        <p:nvGraphicFramePr>
          <p:cNvPr id="8" name="表格 7"/>
          <p:cNvGraphicFramePr>
            <a:graphicFrameLocks noGrp="1"/>
          </p:cNvGraphicFramePr>
          <p:nvPr>
            <p:extLst>
              <p:ext uri="{D42A27DB-BD31-4B8C-83A1-F6EECF244321}">
                <p14:modId xmlns:p14="http://schemas.microsoft.com/office/powerpoint/2010/main" val="1379250805"/>
              </p:ext>
            </p:extLst>
          </p:nvPr>
        </p:nvGraphicFramePr>
        <p:xfrm>
          <a:off x="927100" y="4159398"/>
          <a:ext cx="7260609" cy="2482793"/>
        </p:xfrm>
        <a:graphic>
          <a:graphicData uri="http://schemas.openxmlformats.org/drawingml/2006/table">
            <a:tbl>
              <a:tblPr>
                <a:tableStyleId>{5C22544A-7EE6-4342-B048-85BDC9FD1C3A}</a:tableStyleId>
              </a:tblPr>
              <a:tblGrid>
                <a:gridCol w="1683243">
                  <a:extLst>
                    <a:ext uri="{9D8B030D-6E8A-4147-A177-3AD203B41FA5}">
                      <a16:colId xmlns:a16="http://schemas.microsoft.com/office/drawing/2014/main" val="20000"/>
                    </a:ext>
                  </a:extLst>
                </a:gridCol>
                <a:gridCol w="936374">
                  <a:extLst>
                    <a:ext uri="{9D8B030D-6E8A-4147-A177-3AD203B41FA5}">
                      <a16:colId xmlns:a16="http://schemas.microsoft.com/office/drawing/2014/main" val="20001"/>
                    </a:ext>
                  </a:extLst>
                </a:gridCol>
                <a:gridCol w="1101550">
                  <a:extLst>
                    <a:ext uri="{9D8B030D-6E8A-4147-A177-3AD203B41FA5}">
                      <a16:colId xmlns:a16="http://schemas.microsoft.com/office/drawing/2014/main" val="20002"/>
                    </a:ext>
                  </a:extLst>
                </a:gridCol>
                <a:gridCol w="1179814">
                  <a:extLst>
                    <a:ext uri="{9D8B030D-6E8A-4147-A177-3AD203B41FA5}">
                      <a16:colId xmlns:a16="http://schemas.microsoft.com/office/drawing/2014/main" val="20003"/>
                    </a:ext>
                  </a:extLst>
                </a:gridCol>
                <a:gridCol w="1179814">
                  <a:extLst>
                    <a:ext uri="{9D8B030D-6E8A-4147-A177-3AD203B41FA5}">
                      <a16:colId xmlns:a16="http://schemas.microsoft.com/office/drawing/2014/main" val="20004"/>
                    </a:ext>
                  </a:extLst>
                </a:gridCol>
                <a:gridCol w="1179814">
                  <a:extLst>
                    <a:ext uri="{9D8B030D-6E8A-4147-A177-3AD203B41FA5}">
                      <a16:colId xmlns:a16="http://schemas.microsoft.com/office/drawing/2014/main" val="20005"/>
                    </a:ext>
                  </a:extLst>
                </a:gridCol>
              </a:tblGrid>
              <a:tr h="304800">
                <a:tc>
                  <a:txBody>
                    <a:bodyPr/>
                    <a:lstStyle/>
                    <a:p>
                      <a:pPr algn="ctr" rtl="0" fontAlgn="ctr"/>
                      <a:r>
                        <a:rPr lang="zh-CN" altLang="en-US" sz="1300" b="1" u="none" strike="noStrike" dirty="0">
                          <a:solidFill>
                            <a:schemeClr val="bg1"/>
                          </a:solidFill>
                          <a:effectLst/>
                          <a:latin typeface="+mn-ea"/>
                          <a:ea typeface="+mn-ea"/>
                        </a:rPr>
                        <a:t>项目名称</a:t>
                      </a:r>
                      <a:endParaRPr lang="zh-CN" altLang="en-US" sz="1300" b="1" i="0" u="none" strike="noStrike" dirty="0">
                        <a:solidFill>
                          <a:schemeClr val="bg1"/>
                        </a:solidFill>
                        <a:effectLst/>
                        <a:latin typeface="+mn-ea"/>
                        <a:ea typeface="+mn-ea"/>
                      </a:endParaRPr>
                    </a:p>
                  </a:txBody>
                  <a:tcPr marL="9525" marR="9525" marT="9525" marB="0" anchor="ctr">
                    <a:solidFill>
                      <a:schemeClr val="tx2">
                        <a:lumMod val="60000"/>
                        <a:lumOff val="40000"/>
                      </a:schemeClr>
                    </a:solidFill>
                  </a:tcPr>
                </a:tc>
                <a:tc>
                  <a:txBody>
                    <a:bodyPr/>
                    <a:lstStyle/>
                    <a:p>
                      <a:pPr algn="ctr" rtl="0" fontAlgn="ctr"/>
                      <a:r>
                        <a:rPr lang="zh-CN" altLang="en-US" sz="1300" b="1" u="none" strike="noStrike" dirty="0">
                          <a:solidFill>
                            <a:schemeClr val="bg1"/>
                          </a:solidFill>
                          <a:effectLst/>
                          <a:latin typeface="+mn-ea"/>
                          <a:ea typeface="+mn-ea"/>
                        </a:rPr>
                        <a:t>区县</a:t>
                      </a:r>
                      <a:endParaRPr lang="zh-CN" altLang="en-US" sz="1300" b="1" i="0" u="none" strike="noStrike" dirty="0">
                        <a:solidFill>
                          <a:schemeClr val="bg1"/>
                        </a:solidFill>
                        <a:effectLst/>
                        <a:latin typeface="+mn-ea"/>
                        <a:ea typeface="+mn-ea"/>
                      </a:endParaRPr>
                    </a:p>
                  </a:txBody>
                  <a:tcPr marL="9525" marR="9525" marT="9525" marB="0" anchor="ctr">
                    <a:solidFill>
                      <a:schemeClr val="tx2">
                        <a:lumMod val="60000"/>
                        <a:lumOff val="40000"/>
                      </a:schemeClr>
                    </a:solidFill>
                  </a:tcPr>
                </a:tc>
                <a:tc>
                  <a:txBody>
                    <a:bodyPr/>
                    <a:lstStyle/>
                    <a:p>
                      <a:pPr algn="ctr" rtl="0" fontAlgn="ctr"/>
                      <a:r>
                        <a:rPr lang="zh-CN" altLang="en-US" sz="1300" b="1" u="none" strike="noStrike" dirty="0">
                          <a:solidFill>
                            <a:schemeClr val="bg1"/>
                          </a:solidFill>
                          <a:effectLst/>
                          <a:latin typeface="+mn-ea"/>
                          <a:ea typeface="+mn-ea"/>
                        </a:rPr>
                        <a:t>成交套数</a:t>
                      </a:r>
                      <a:endParaRPr lang="en-US" altLang="zh-CN" sz="1300" b="1" u="none" strike="noStrike" dirty="0">
                        <a:solidFill>
                          <a:schemeClr val="bg1"/>
                        </a:solidFill>
                        <a:effectLst/>
                        <a:latin typeface="+mn-ea"/>
                        <a:ea typeface="+mn-ea"/>
                      </a:endParaRPr>
                    </a:p>
                    <a:p>
                      <a:pPr algn="ctr" rtl="0" fontAlgn="ctr"/>
                      <a:r>
                        <a:rPr lang="zh-CN" altLang="en-US" sz="1300" b="1" u="none" strike="noStrike" dirty="0">
                          <a:solidFill>
                            <a:schemeClr val="bg1"/>
                          </a:solidFill>
                          <a:effectLst/>
                          <a:latin typeface="+mn-ea"/>
                          <a:ea typeface="+mn-ea"/>
                        </a:rPr>
                        <a:t>（套）↓</a:t>
                      </a:r>
                      <a:endParaRPr lang="zh-CN" altLang="en-US" sz="1300" b="1" i="0" u="none" strike="noStrike" dirty="0">
                        <a:solidFill>
                          <a:schemeClr val="bg1"/>
                        </a:solidFill>
                        <a:effectLst/>
                        <a:latin typeface="+mn-ea"/>
                        <a:ea typeface="+mn-ea"/>
                      </a:endParaRPr>
                    </a:p>
                  </a:txBody>
                  <a:tcPr marL="9525" marR="9525" marT="9525" marB="0" anchor="ctr">
                    <a:solidFill>
                      <a:schemeClr val="tx2">
                        <a:lumMod val="60000"/>
                        <a:lumOff val="40000"/>
                      </a:schemeClr>
                    </a:solidFill>
                  </a:tcPr>
                </a:tc>
                <a:tc>
                  <a:txBody>
                    <a:bodyPr/>
                    <a:lstStyle/>
                    <a:p>
                      <a:pPr algn="ctr" rtl="0" fontAlgn="ctr"/>
                      <a:r>
                        <a:rPr lang="zh-CN" altLang="en-US" sz="1300" b="1" u="none" strike="noStrike" dirty="0">
                          <a:solidFill>
                            <a:schemeClr val="bg1"/>
                          </a:solidFill>
                          <a:effectLst/>
                          <a:latin typeface="+mn-ea"/>
                          <a:ea typeface="+mn-ea"/>
                        </a:rPr>
                        <a:t>成交面积</a:t>
                      </a:r>
                      <a:endParaRPr lang="en-US" altLang="zh-CN" sz="1300" b="1" u="none" strike="noStrike" dirty="0">
                        <a:solidFill>
                          <a:schemeClr val="bg1"/>
                        </a:solidFill>
                        <a:effectLst/>
                        <a:latin typeface="+mn-ea"/>
                        <a:ea typeface="+mn-ea"/>
                      </a:endParaRPr>
                    </a:p>
                    <a:p>
                      <a:pPr algn="ctr" rtl="0" fontAlgn="ctr"/>
                      <a:r>
                        <a:rPr lang="zh-CN" altLang="en-US" sz="1300" b="1" u="none" strike="noStrike" dirty="0">
                          <a:solidFill>
                            <a:schemeClr val="bg1"/>
                          </a:solidFill>
                          <a:effectLst/>
                          <a:latin typeface="+mn-ea"/>
                          <a:ea typeface="+mn-ea"/>
                        </a:rPr>
                        <a:t>（万㎡）</a:t>
                      </a:r>
                      <a:endParaRPr lang="zh-CN" altLang="en-US" sz="1300" b="1" i="0" u="none" strike="noStrike" dirty="0">
                        <a:solidFill>
                          <a:schemeClr val="bg1"/>
                        </a:solidFill>
                        <a:effectLst/>
                        <a:latin typeface="+mn-ea"/>
                        <a:ea typeface="+mn-ea"/>
                      </a:endParaRPr>
                    </a:p>
                  </a:txBody>
                  <a:tcPr marL="9525" marR="9525" marT="9525" marB="0" anchor="ctr">
                    <a:solidFill>
                      <a:schemeClr val="tx2">
                        <a:lumMod val="60000"/>
                        <a:lumOff val="40000"/>
                      </a:schemeClr>
                    </a:solidFill>
                  </a:tcPr>
                </a:tc>
                <a:tc>
                  <a:txBody>
                    <a:bodyPr/>
                    <a:lstStyle/>
                    <a:p>
                      <a:pPr algn="ctr" rtl="0" fontAlgn="b"/>
                      <a:r>
                        <a:rPr lang="zh-CN" altLang="en-US" sz="1300" b="1" u="none" strike="noStrike" dirty="0">
                          <a:solidFill>
                            <a:schemeClr val="bg1"/>
                          </a:solidFill>
                          <a:effectLst/>
                          <a:latin typeface="+mn-ea"/>
                          <a:ea typeface="+mn-ea"/>
                        </a:rPr>
                        <a:t>成交单价</a:t>
                      </a:r>
                      <a:endParaRPr lang="en-US" altLang="zh-CN" sz="1300" b="1" u="none" strike="noStrike" dirty="0">
                        <a:solidFill>
                          <a:schemeClr val="bg1"/>
                        </a:solidFill>
                        <a:effectLst/>
                        <a:latin typeface="+mn-ea"/>
                        <a:ea typeface="+mn-ea"/>
                      </a:endParaRPr>
                    </a:p>
                    <a:p>
                      <a:pPr algn="ctr" rtl="0" fontAlgn="b"/>
                      <a:r>
                        <a:rPr lang="zh-CN" altLang="en-US" sz="1300" b="1" u="none" strike="noStrike" dirty="0">
                          <a:solidFill>
                            <a:schemeClr val="bg1"/>
                          </a:solidFill>
                          <a:effectLst/>
                          <a:latin typeface="+mn-ea"/>
                          <a:ea typeface="+mn-ea"/>
                        </a:rPr>
                        <a:t>（元</a:t>
                      </a:r>
                      <a:r>
                        <a:rPr lang="en-US" altLang="zh-CN" sz="1300" b="1" u="none" strike="noStrike" dirty="0">
                          <a:solidFill>
                            <a:schemeClr val="bg1"/>
                          </a:solidFill>
                          <a:effectLst/>
                          <a:latin typeface="+mn-ea"/>
                          <a:ea typeface="+mn-ea"/>
                        </a:rPr>
                        <a:t>/㎡</a:t>
                      </a:r>
                      <a:r>
                        <a:rPr lang="zh-CN" altLang="en-US" sz="1300" b="1" u="none" strike="noStrike" dirty="0">
                          <a:solidFill>
                            <a:schemeClr val="bg1"/>
                          </a:solidFill>
                          <a:effectLst/>
                          <a:latin typeface="+mn-ea"/>
                          <a:ea typeface="+mn-ea"/>
                        </a:rPr>
                        <a:t>）</a:t>
                      </a:r>
                      <a:endParaRPr lang="zh-CN" altLang="en-US" sz="1300" b="1" i="0" u="none" strike="noStrike" dirty="0">
                        <a:solidFill>
                          <a:schemeClr val="bg1"/>
                        </a:solidFill>
                        <a:effectLst/>
                        <a:latin typeface="+mn-ea"/>
                        <a:ea typeface="+mn-ea"/>
                      </a:endParaRPr>
                    </a:p>
                  </a:txBody>
                  <a:tcPr marL="9525" marR="9525" marT="9525" marB="0" anchor="ctr">
                    <a:solidFill>
                      <a:schemeClr val="tx2">
                        <a:lumMod val="60000"/>
                        <a:lumOff val="40000"/>
                      </a:schemeClr>
                    </a:solidFill>
                  </a:tcPr>
                </a:tc>
                <a:tc>
                  <a:txBody>
                    <a:bodyPr/>
                    <a:lstStyle/>
                    <a:p>
                      <a:pPr algn="ctr" rtl="0" fontAlgn="b"/>
                      <a:r>
                        <a:rPr lang="zh-CN" altLang="en-US" sz="1300" b="1" u="none" strike="noStrike" dirty="0">
                          <a:solidFill>
                            <a:schemeClr val="bg1"/>
                          </a:solidFill>
                          <a:effectLst/>
                          <a:latin typeface="+mn-ea"/>
                          <a:ea typeface="+mn-ea"/>
                        </a:rPr>
                        <a:t>成交总额</a:t>
                      </a:r>
                      <a:endParaRPr lang="en-US" altLang="zh-CN" sz="1300" b="1" u="none" strike="noStrike" dirty="0">
                        <a:solidFill>
                          <a:schemeClr val="bg1"/>
                        </a:solidFill>
                        <a:effectLst/>
                        <a:latin typeface="+mn-ea"/>
                        <a:ea typeface="+mn-ea"/>
                      </a:endParaRPr>
                    </a:p>
                    <a:p>
                      <a:pPr algn="ctr" rtl="0" fontAlgn="b"/>
                      <a:r>
                        <a:rPr lang="zh-CN" altLang="en-US" sz="1300" b="1" u="none" strike="noStrike" dirty="0">
                          <a:solidFill>
                            <a:schemeClr val="bg1"/>
                          </a:solidFill>
                          <a:effectLst/>
                          <a:latin typeface="+mn-ea"/>
                          <a:ea typeface="+mn-ea"/>
                        </a:rPr>
                        <a:t>（亿元）</a:t>
                      </a:r>
                      <a:endParaRPr lang="zh-CN" altLang="en-US" sz="1300" b="1" i="0" u="none" strike="noStrike" dirty="0">
                        <a:solidFill>
                          <a:schemeClr val="bg1"/>
                        </a:solidFill>
                        <a:effectLst/>
                        <a:latin typeface="+mn-ea"/>
                        <a:ea typeface="+mn-ea"/>
                      </a:endParaRPr>
                    </a:p>
                  </a:txBody>
                  <a:tcPr marL="9525" marR="9525" marT="9525" marB="0" anchor="ctr">
                    <a:solidFill>
                      <a:schemeClr val="tx2">
                        <a:lumMod val="60000"/>
                        <a:lumOff val="40000"/>
                      </a:schemeClr>
                    </a:solidFill>
                  </a:tcPr>
                </a:tc>
                <a:extLst>
                  <a:ext uri="{0D108BD9-81ED-4DB2-BD59-A6C34878D82A}">
                    <a16:rowId xmlns:a16="http://schemas.microsoft.com/office/drawing/2014/main" val="10000"/>
                  </a:ext>
                </a:extLst>
              </a:tr>
              <a:tr h="208223">
                <a:tc>
                  <a:txBody>
                    <a:bodyPr/>
                    <a:lstStyle/>
                    <a:p>
                      <a:pPr algn="ctr" fontAlgn="ctr"/>
                      <a:r>
                        <a:rPr lang="zh-CN" altLang="en-US" sz="1300" b="0" i="0" u="none" strike="noStrike" kern="1200" dirty="0">
                          <a:solidFill>
                            <a:srgbClr val="000000"/>
                          </a:solidFill>
                          <a:effectLst/>
                          <a:latin typeface="+mn-ea"/>
                          <a:ea typeface="+mn-ea"/>
                          <a:cs typeface="+mn-cs"/>
                        </a:rPr>
                        <a:t>廊坊孔雀城</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dirty="0">
                          <a:solidFill>
                            <a:srgbClr val="000000"/>
                          </a:solidFill>
                          <a:effectLst/>
                          <a:latin typeface="+mn-ea"/>
                          <a:ea typeface="+mn-ea"/>
                          <a:cs typeface="+mn-cs"/>
                        </a:rPr>
                        <a:t>广阳</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2302</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25.08</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7732</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19.39</a:t>
                      </a:r>
                    </a:p>
                  </a:txBody>
                  <a:tcPr marL="9525" marR="9525" marT="9525" marB="0" anchor="ctr">
                    <a:solidFill>
                      <a:schemeClr val="tx2">
                        <a:lumMod val="20000"/>
                        <a:lumOff val="80000"/>
                      </a:schemeClr>
                    </a:solidFill>
                  </a:tcPr>
                </a:tc>
                <a:extLst>
                  <a:ext uri="{0D108BD9-81ED-4DB2-BD59-A6C34878D82A}">
                    <a16:rowId xmlns:a16="http://schemas.microsoft.com/office/drawing/2014/main" val="10001"/>
                  </a:ext>
                </a:extLst>
              </a:tr>
              <a:tr h="171450">
                <a:tc>
                  <a:txBody>
                    <a:bodyPr/>
                    <a:lstStyle/>
                    <a:p>
                      <a:pPr algn="ctr" fontAlgn="ctr"/>
                      <a:r>
                        <a:rPr lang="zh-CN" altLang="en-US" sz="1300" b="0" i="0" u="none" strike="noStrike" kern="1200">
                          <a:solidFill>
                            <a:srgbClr val="000000"/>
                          </a:solidFill>
                          <a:effectLst/>
                          <a:latin typeface="+mn-ea"/>
                          <a:ea typeface="+mn-ea"/>
                          <a:cs typeface="+mn-cs"/>
                        </a:rPr>
                        <a:t>枫景园</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mn-ea"/>
                          <a:ea typeface="+mn-ea"/>
                          <a:cs typeface="+mn-cs"/>
                        </a:rPr>
                        <a:t>广阳</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1827</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17.96</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7753</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13.92</a:t>
                      </a:r>
                    </a:p>
                  </a:txBody>
                  <a:tcPr marL="9525" marR="9525" marT="9525" marB="0" anchor="ctr">
                    <a:solidFill>
                      <a:schemeClr val="tx2">
                        <a:lumMod val="20000"/>
                        <a:lumOff val="80000"/>
                      </a:schemeClr>
                    </a:solidFill>
                  </a:tcPr>
                </a:tc>
                <a:extLst>
                  <a:ext uri="{0D108BD9-81ED-4DB2-BD59-A6C34878D82A}">
                    <a16:rowId xmlns:a16="http://schemas.microsoft.com/office/drawing/2014/main" val="10002"/>
                  </a:ext>
                </a:extLst>
              </a:tr>
              <a:tr h="171450">
                <a:tc>
                  <a:txBody>
                    <a:bodyPr/>
                    <a:lstStyle/>
                    <a:p>
                      <a:pPr algn="ctr" fontAlgn="ctr"/>
                      <a:r>
                        <a:rPr lang="zh-CN" altLang="en-US" sz="1300" b="0" i="0" u="none" strike="noStrike" kern="1200">
                          <a:solidFill>
                            <a:srgbClr val="000000"/>
                          </a:solidFill>
                          <a:effectLst/>
                          <a:latin typeface="+mn-ea"/>
                          <a:ea typeface="+mn-ea"/>
                          <a:cs typeface="+mn-cs"/>
                        </a:rPr>
                        <a:t>上善颐园</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mn-ea"/>
                          <a:ea typeface="+mn-ea"/>
                          <a:cs typeface="+mn-cs"/>
                        </a:rPr>
                        <a:t>广阳</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1093</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11.26</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7853</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8.84</a:t>
                      </a:r>
                    </a:p>
                  </a:txBody>
                  <a:tcPr marL="9525" marR="9525" marT="9525" marB="0" anchor="ctr">
                    <a:solidFill>
                      <a:schemeClr val="tx2">
                        <a:lumMod val="20000"/>
                        <a:lumOff val="80000"/>
                      </a:schemeClr>
                    </a:solidFill>
                  </a:tcPr>
                </a:tc>
                <a:extLst>
                  <a:ext uri="{0D108BD9-81ED-4DB2-BD59-A6C34878D82A}">
                    <a16:rowId xmlns:a16="http://schemas.microsoft.com/office/drawing/2014/main" val="10003"/>
                  </a:ext>
                </a:extLst>
              </a:tr>
              <a:tr h="171450">
                <a:tc>
                  <a:txBody>
                    <a:bodyPr/>
                    <a:lstStyle/>
                    <a:p>
                      <a:pPr algn="ctr" fontAlgn="ctr"/>
                      <a:r>
                        <a:rPr lang="zh-CN" altLang="en-US" sz="1300" b="0" i="0" u="none" strike="noStrike" kern="1200">
                          <a:solidFill>
                            <a:srgbClr val="000000"/>
                          </a:solidFill>
                          <a:effectLst/>
                          <a:latin typeface="+mn-ea"/>
                          <a:ea typeface="+mn-ea"/>
                          <a:cs typeface="+mn-cs"/>
                        </a:rPr>
                        <a:t>紫晶苑小区</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mn-ea"/>
                          <a:ea typeface="+mn-ea"/>
                          <a:cs typeface="+mn-cs"/>
                        </a:rPr>
                        <a:t>安次</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1004</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9.97</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7783</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7.76</a:t>
                      </a:r>
                    </a:p>
                  </a:txBody>
                  <a:tcPr marL="9525" marR="9525" marT="9525" marB="0" anchor="ctr">
                    <a:solidFill>
                      <a:schemeClr val="tx2">
                        <a:lumMod val="20000"/>
                        <a:lumOff val="80000"/>
                      </a:schemeClr>
                    </a:solidFill>
                  </a:tcPr>
                </a:tc>
                <a:extLst>
                  <a:ext uri="{0D108BD9-81ED-4DB2-BD59-A6C34878D82A}">
                    <a16:rowId xmlns:a16="http://schemas.microsoft.com/office/drawing/2014/main" val="10004"/>
                  </a:ext>
                </a:extLst>
              </a:tr>
              <a:tr h="171450">
                <a:tc>
                  <a:txBody>
                    <a:bodyPr/>
                    <a:lstStyle/>
                    <a:p>
                      <a:pPr algn="ctr" fontAlgn="ctr"/>
                      <a:r>
                        <a:rPr lang="zh-CN" altLang="en-US" sz="1300" b="0" i="0" u="none" strike="noStrike" kern="1200">
                          <a:solidFill>
                            <a:srgbClr val="000000"/>
                          </a:solidFill>
                          <a:effectLst/>
                          <a:latin typeface="+mn-ea"/>
                          <a:ea typeface="+mn-ea"/>
                          <a:cs typeface="+mn-cs"/>
                        </a:rPr>
                        <a:t>龙河盛都小区</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mn-ea"/>
                          <a:ea typeface="+mn-ea"/>
                          <a:cs typeface="+mn-cs"/>
                        </a:rPr>
                        <a:t>安次</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924</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9.18</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8392</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7.70</a:t>
                      </a:r>
                    </a:p>
                  </a:txBody>
                  <a:tcPr marL="9525" marR="9525" marT="9525" marB="0" anchor="ctr">
                    <a:solidFill>
                      <a:schemeClr val="tx2">
                        <a:lumMod val="20000"/>
                        <a:lumOff val="80000"/>
                      </a:schemeClr>
                    </a:solidFill>
                  </a:tcPr>
                </a:tc>
                <a:extLst>
                  <a:ext uri="{0D108BD9-81ED-4DB2-BD59-A6C34878D82A}">
                    <a16:rowId xmlns:a16="http://schemas.microsoft.com/office/drawing/2014/main" val="10005"/>
                  </a:ext>
                </a:extLst>
              </a:tr>
              <a:tr h="171450">
                <a:tc>
                  <a:txBody>
                    <a:bodyPr/>
                    <a:lstStyle/>
                    <a:p>
                      <a:pPr algn="ctr" fontAlgn="ctr"/>
                      <a:r>
                        <a:rPr lang="zh-CN" altLang="en-US" sz="1300" b="0" i="0" u="none" strike="noStrike" kern="1200">
                          <a:solidFill>
                            <a:srgbClr val="000000"/>
                          </a:solidFill>
                          <a:effectLst/>
                          <a:latin typeface="+mn-ea"/>
                          <a:ea typeface="+mn-ea"/>
                          <a:cs typeface="+mn-cs"/>
                        </a:rPr>
                        <a:t>京汉君庭</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mn-ea"/>
                          <a:ea typeface="+mn-ea"/>
                          <a:cs typeface="+mn-cs"/>
                        </a:rPr>
                        <a:t>安次</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911</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8.81</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6885</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6.07</a:t>
                      </a:r>
                    </a:p>
                  </a:txBody>
                  <a:tcPr marL="9525" marR="9525" marT="9525" marB="0" anchor="ctr">
                    <a:solidFill>
                      <a:schemeClr val="tx2">
                        <a:lumMod val="20000"/>
                        <a:lumOff val="80000"/>
                      </a:schemeClr>
                    </a:solidFill>
                  </a:tcPr>
                </a:tc>
                <a:extLst>
                  <a:ext uri="{0D108BD9-81ED-4DB2-BD59-A6C34878D82A}">
                    <a16:rowId xmlns:a16="http://schemas.microsoft.com/office/drawing/2014/main" val="10006"/>
                  </a:ext>
                </a:extLst>
              </a:tr>
              <a:tr h="171450">
                <a:tc>
                  <a:txBody>
                    <a:bodyPr/>
                    <a:lstStyle/>
                    <a:p>
                      <a:pPr algn="ctr" fontAlgn="ctr"/>
                      <a:r>
                        <a:rPr lang="zh-CN" altLang="en-US" sz="1300" b="0" i="0" u="none" strike="noStrike" kern="1200">
                          <a:solidFill>
                            <a:srgbClr val="000000"/>
                          </a:solidFill>
                          <a:effectLst/>
                          <a:latin typeface="+mn-ea"/>
                          <a:ea typeface="+mn-ea"/>
                          <a:cs typeface="+mn-cs"/>
                        </a:rPr>
                        <a:t>悦安家园</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mn-ea"/>
                          <a:ea typeface="+mn-ea"/>
                          <a:cs typeface="+mn-cs"/>
                        </a:rPr>
                        <a:t>安次</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824</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7.76</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6777</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5.26</a:t>
                      </a:r>
                    </a:p>
                  </a:txBody>
                  <a:tcPr marL="9525" marR="9525" marT="9525" marB="0" anchor="ctr">
                    <a:solidFill>
                      <a:schemeClr val="tx2">
                        <a:lumMod val="20000"/>
                        <a:lumOff val="80000"/>
                      </a:schemeClr>
                    </a:solidFill>
                  </a:tcPr>
                </a:tc>
                <a:extLst>
                  <a:ext uri="{0D108BD9-81ED-4DB2-BD59-A6C34878D82A}">
                    <a16:rowId xmlns:a16="http://schemas.microsoft.com/office/drawing/2014/main" val="10007"/>
                  </a:ext>
                </a:extLst>
              </a:tr>
              <a:tr h="171450">
                <a:tc>
                  <a:txBody>
                    <a:bodyPr/>
                    <a:lstStyle/>
                    <a:p>
                      <a:pPr algn="ctr" fontAlgn="ctr"/>
                      <a:r>
                        <a:rPr lang="zh-CN" altLang="en-US" sz="1300" b="0" i="0" u="none" strike="noStrike" kern="1200">
                          <a:solidFill>
                            <a:srgbClr val="000000"/>
                          </a:solidFill>
                          <a:effectLst/>
                          <a:latin typeface="+mn-ea"/>
                          <a:ea typeface="+mn-ea"/>
                          <a:cs typeface="+mn-cs"/>
                        </a:rPr>
                        <a:t>新城林湾</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mn-ea"/>
                          <a:ea typeface="+mn-ea"/>
                          <a:cs typeface="+mn-cs"/>
                        </a:rPr>
                        <a:t>安次</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822</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6.89</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5473</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3.77</a:t>
                      </a:r>
                    </a:p>
                  </a:txBody>
                  <a:tcPr marL="9525" marR="9525" marT="9525" marB="0" anchor="ctr">
                    <a:solidFill>
                      <a:schemeClr val="tx2">
                        <a:lumMod val="20000"/>
                        <a:lumOff val="80000"/>
                      </a:schemeClr>
                    </a:solidFill>
                  </a:tcPr>
                </a:tc>
                <a:extLst>
                  <a:ext uri="{0D108BD9-81ED-4DB2-BD59-A6C34878D82A}">
                    <a16:rowId xmlns:a16="http://schemas.microsoft.com/office/drawing/2014/main" val="10008"/>
                  </a:ext>
                </a:extLst>
              </a:tr>
              <a:tr h="171450">
                <a:tc>
                  <a:txBody>
                    <a:bodyPr/>
                    <a:lstStyle/>
                    <a:p>
                      <a:pPr algn="ctr" fontAlgn="ctr"/>
                      <a:r>
                        <a:rPr lang="zh-CN" altLang="en-US" sz="1300" b="0" i="0" u="none" strike="noStrike" kern="1200">
                          <a:solidFill>
                            <a:srgbClr val="000000"/>
                          </a:solidFill>
                          <a:effectLst/>
                          <a:latin typeface="+mn-ea"/>
                          <a:ea typeface="+mn-ea"/>
                          <a:cs typeface="+mn-cs"/>
                        </a:rPr>
                        <a:t>四季花语</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mn-ea"/>
                          <a:ea typeface="+mn-ea"/>
                          <a:cs typeface="+mn-cs"/>
                        </a:rPr>
                        <a:t>安次</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806</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8.01</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6638</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5.32</a:t>
                      </a:r>
                    </a:p>
                  </a:txBody>
                  <a:tcPr marL="9525" marR="9525" marT="9525" marB="0" anchor="ctr">
                    <a:solidFill>
                      <a:schemeClr val="tx2">
                        <a:lumMod val="20000"/>
                        <a:lumOff val="80000"/>
                      </a:schemeClr>
                    </a:solidFill>
                  </a:tcPr>
                </a:tc>
                <a:extLst>
                  <a:ext uri="{0D108BD9-81ED-4DB2-BD59-A6C34878D82A}">
                    <a16:rowId xmlns:a16="http://schemas.microsoft.com/office/drawing/2014/main" val="10009"/>
                  </a:ext>
                </a:extLst>
              </a:tr>
              <a:tr h="171450">
                <a:tc>
                  <a:txBody>
                    <a:bodyPr/>
                    <a:lstStyle/>
                    <a:p>
                      <a:pPr algn="ctr" fontAlgn="ctr"/>
                      <a:r>
                        <a:rPr lang="zh-CN" altLang="en-US" sz="1300" b="0" i="0" u="none" strike="noStrike" kern="1200">
                          <a:solidFill>
                            <a:srgbClr val="000000"/>
                          </a:solidFill>
                          <a:effectLst/>
                          <a:latin typeface="+mn-ea"/>
                          <a:ea typeface="+mn-ea"/>
                          <a:cs typeface="+mn-cs"/>
                        </a:rPr>
                        <a:t>嘉都</a:t>
                      </a:r>
                      <a:r>
                        <a:rPr lang="en-US" sz="1300" b="0" i="0" u="none" strike="noStrike" kern="1200">
                          <a:solidFill>
                            <a:srgbClr val="000000"/>
                          </a:solidFill>
                          <a:effectLst/>
                          <a:latin typeface="+mn-ea"/>
                          <a:ea typeface="+mn-ea"/>
                          <a:cs typeface="+mn-cs"/>
                        </a:rPr>
                        <a:t>TIME</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mn-ea"/>
                          <a:ea typeface="+mn-ea"/>
                          <a:cs typeface="+mn-cs"/>
                        </a:rPr>
                        <a:t>广阳</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669</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6.35</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7645</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4.86</a:t>
                      </a:r>
                    </a:p>
                  </a:txBody>
                  <a:tcPr marL="9525" marR="9525" marT="9525" marB="0" anchor="ctr">
                    <a:solidFill>
                      <a:schemeClr val="tx2">
                        <a:lumMod val="20000"/>
                        <a:lumOff val="80000"/>
                      </a:schemeClr>
                    </a:solidFill>
                  </a:tcPr>
                </a:tc>
                <a:extLst>
                  <a:ext uri="{0D108BD9-81ED-4DB2-BD59-A6C34878D82A}">
                    <a16:rowId xmlns:a16="http://schemas.microsoft.com/office/drawing/2014/main" val="10010"/>
                  </a:ext>
                </a:extLst>
              </a:tr>
            </a:tbl>
          </a:graphicData>
        </a:graphic>
      </p:graphicFrame>
      <p:sp>
        <p:nvSpPr>
          <p:cNvPr id="10" name="矩形 9"/>
          <p:cNvSpPr/>
          <p:nvPr/>
        </p:nvSpPr>
        <p:spPr>
          <a:xfrm>
            <a:off x="825500" y="658884"/>
            <a:ext cx="2684518" cy="327546"/>
          </a:xfrm>
          <a:prstGeom prst="rect">
            <a:avLst/>
          </a:prstGeom>
          <a:solidFill>
            <a:schemeClr val="accent6">
              <a:lumMod val="75000"/>
              <a:alpha val="46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400" b="1" dirty="0">
                <a:latin typeface="微软雅黑" pitchFamily="34" charset="-122"/>
                <a:ea typeface="微软雅黑" pitchFamily="34" charset="-122"/>
              </a:rPr>
              <a:t>8</a:t>
            </a:r>
            <a:r>
              <a:rPr lang="zh-CN" altLang="en-US" sz="1400" b="1" dirty="0">
                <a:latin typeface="微软雅黑" pitchFamily="34" charset="-122"/>
                <a:ea typeface="微软雅黑" pitchFamily="34" charset="-122"/>
              </a:rPr>
              <a:t>月项目成交排行</a:t>
            </a:r>
            <a:r>
              <a:rPr lang="en-US" altLang="zh-CN" sz="1400" b="1" dirty="0">
                <a:latin typeface="微软雅黑" pitchFamily="34" charset="-122"/>
                <a:ea typeface="微软雅黑" pitchFamily="34" charset="-122"/>
              </a:rPr>
              <a:t>TOP10</a:t>
            </a:r>
            <a:endParaRPr lang="zh-CN" altLang="en-US" sz="1400" b="1" dirty="0">
              <a:latin typeface="微软雅黑" pitchFamily="34" charset="-122"/>
              <a:ea typeface="微软雅黑" pitchFamily="34" charset="-122"/>
            </a:endParaRPr>
          </a:p>
        </p:txBody>
      </p:sp>
      <p:sp>
        <p:nvSpPr>
          <p:cNvPr id="11" name="矩形 10"/>
          <p:cNvSpPr/>
          <p:nvPr/>
        </p:nvSpPr>
        <p:spPr>
          <a:xfrm>
            <a:off x="927100" y="3768439"/>
            <a:ext cx="2684518" cy="327546"/>
          </a:xfrm>
          <a:prstGeom prst="rect">
            <a:avLst/>
          </a:prstGeom>
          <a:solidFill>
            <a:schemeClr val="accent6">
              <a:lumMod val="75000"/>
              <a:alpha val="46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400" b="1" dirty="0">
                <a:latin typeface="微软雅黑" pitchFamily="34" charset="-122"/>
                <a:ea typeface="微软雅黑" pitchFamily="34" charset="-122"/>
              </a:rPr>
              <a:t>1-8</a:t>
            </a:r>
            <a:r>
              <a:rPr lang="zh-CN" altLang="en-US" sz="1400" b="1" dirty="0">
                <a:latin typeface="微软雅黑" pitchFamily="34" charset="-122"/>
                <a:ea typeface="微软雅黑" pitchFamily="34" charset="-122"/>
              </a:rPr>
              <a:t>月项目成交排行</a:t>
            </a:r>
            <a:r>
              <a:rPr lang="en-US" altLang="zh-CN" sz="1400" b="1" dirty="0">
                <a:latin typeface="微软雅黑" pitchFamily="34" charset="-122"/>
                <a:ea typeface="微软雅黑" pitchFamily="34" charset="-122"/>
              </a:rPr>
              <a:t>TOP10</a:t>
            </a:r>
            <a:endParaRPr lang="zh-CN" altLang="en-US" sz="1400" b="1" dirty="0">
              <a:latin typeface="微软雅黑" pitchFamily="34" charset="-122"/>
              <a:ea typeface="微软雅黑" pitchFamily="34" charset="-122"/>
            </a:endParaRPr>
          </a:p>
        </p:txBody>
      </p:sp>
    </p:spTree>
    <p:extLst>
      <p:ext uri="{BB962C8B-B14F-4D97-AF65-F5344CB8AC3E}">
        <p14:creationId xmlns:p14="http://schemas.microsoft.com/office/powerpoint/2010/main" val="421404905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燕郊</a:t>
            </a:r>
            <a:r>
              <a:rPr lang="en-US" altLang="zh-CN" dirty="0"/>
              <a:t>| </a:t>
            </a:r>
            <a:r>
              <a:rPr lang="zh-CN" altLang="en-US" sz="1800" dirty="0">
                <a:solidFill>
                  <a:schemeClr val="tx1">
                    <a:lumMod val="75000"/>
                    <a:lumOff val="25000"/>
                  </a:schemeClr>
                </a:solidFill>
              </a:rPr>
              <a:t>土地市场</a:t>
            </a:r>
          </a:p>
        </p:txBody>
      </p:sp>
      <p:sp>
        <p:nvSpPr>
          <p:cNvPr id="4" name="灯片编号占位符 3"/>
          <p:cNvSpPr>
            <a:spLocks noGrp="1"/>
          </p:cNvSpPr>
          <p:nvPr>
            <p:ph type="sldNum" sz="quarter" idx="4"/>
          </p:nvPr>
        </p:nvSpPr>
        <p:spPr/>
        <p:txBody>
          <a:bodyPr/>
          <a:lstStyle/>
          <a:p>
            <a:pPr>
              <a:defRPr/>
            </a:pPr>
            <a:fld id="{3E8B6F27-EC4F-B34E-9F32-10CC92E9AB18}" type="slidenum">
              <a:rPr lang="zh-CN" altLang="en-US" smtClean="0"/>
              <a:pPr>
                <a:defRPr/>
              </a:pPr>
              <a:t>48</a:t>
            </a:fld>
            <a:endParaRPr lang="zh-CN" altLang="en-US" dirty="0"/>
          </a:p>
        </p:txBody>
      </p:sp>
      <p:graphicFrame>
        <p:nvGraphicFramePr>
          <p:cNvPr id="11" name="表格 10"/>
          <p:cNvGraphicFramePr>
            <a:graphicFrameLocks noGrp="1"/>
          </p:cNvGraphicFramePr>
          <p:nvPr>
            <p:extLst>
              <p:ext uri="{D42A27DB-BD31-4B8C-83A1-F6EECF244321}">
                <p14:modId xmlns:p14="http://schemas.microsoft.com/office/powerpoint/2010/main" val="4026462663"/>
              </p:ext>
            </p:extLst>
          </p:nvPr>
        </p:nvGraphicFramePr>
        <p:xfrm>
          <a:off x="314464" y="4504779"/>
          <a:ext cx="8396087" cy="1282520"/>
        </p:xfrm>
        <a:graphic>
          <a:graphicData uri="http://schemas.openxmlformats.org/drawingml/2006/table">
            <a:tbl>
              <a:tblPr>
                <a:tableStyleId>{5C22544A-7EE6-4342-B048-85BDC9FD1C3A}</a:tableStyleId>
              </a:tblPr>
              <a:tblGrid>
                <a:gridCol w="1115177">
                  <a:extLst>
                    <a:ext uri="{9D8B030D-6E8A-4147-A177-3AD203B41FA5}">
                      <a16:colId xmlns:a16="http://schemas.microsoft.com/office/drawing/2014/main" val="20000"/>
                    </a:ext>
                  </a:extLst>
                </a:gridCol>
                <a:gridCol w="808990">
                  <a:extLst>
                    <a:ext uri="{9D8B030D-6E8A-4147-A177-3AD203B41FA5}">
                      <a16:colId xmlns:a16="http://schemas.microsoft.com/office/drawing/2014/main" val="20001"/>
                    </a:ext>
                  </a:extLst>
                </a:gridCol>
                <a:gridCol w="808990">
                  <a:extLst>
                    <a:ext uri="{9D8B030D-6E8A-4147-A177-3AD203B41FA5}">
                      <a16:colId xmlns:a16="http://schemas.microsoft.com/office/drawing/2014/main" val="20002"/>
                    </a:ext>
                  </a:extLst>
                </a:gridCol>
                <a:gridCol w="808990">
                  <a:extLst>
                    <a:ext uri="{9D8B030D-6E8A-4147-A177-3AD203B41FA5}">
                      <a16:colId xmlns:a16="http://schemas.microsoft.com/office/drawing/2014/main" val="20003"/>
                    </a:ext>
                  </a:extLst>
                </a:gridCol>
                <a:gridCol w="808990">
                  <a:extLst>
                    <a:ext uri="{9D8B030D-6E8A-4147-A177-3AD203B41FA5}">
                      <a16:colId xmlns:a16="http://schemas.microsoft.com/office/drawing/2014/main" val="20004"/>
                    </a:ext>
                  </a:extLst>
                </a:gridCol>
                <a:gridCol w="808990">
                  <a:extLst>
                    <a:ext uri="{9D8B030D-6E8A-4147-A177-3AD203B41FA5}">
                      <a16:colId xmlns:a16="http://schemas.microsoft.com/office/drawing/2014/main" val="20005"/>
                    </a:ext>
                  </a:extLst>
                </a:gridCol>
                <a:gridCol w="808990">
                  <a:extLst>
                    <a:ext uri="{9D8B030D-6E8A-4147-A177-3AD203B41FA5}">
                      <a16:colId xmlns:a16="http://schemas.microsoft.com/office/drawing/2014/main" val="20006"/>
                    </a:ext>
                  </a:extLst>
                </a:gridCol>
                <a:gridCol w="808990">
                  <a:extLst>
                    <a:ext uri="{9D8B030D-6E8A-4147-A177-3AD203B41FA5}">
                      <a16:colId xmlns:a16="http://schemas.microsoft.com/office/drawing/2014/main" val="20007"/>
                    </a:ext>
                  </a:extLst>
                </a:gridCol>
                <a:gridCol w="808990">
                  <a:extLst>
                    <a:ext uri="{9D8B030D-6E8A-4147-A177-3AD203B41FA5}">
                      <a16:colId xmlns:a16="http://schemas.microsoft.com/office/drawing/2014/main" val="20008"/>
                    </a:ext>
                  </a:extLst>
                </a:gridCol>
                <a:gridCol w="808990">
                  <a:extLst>
                    <a:ext uri="{9D8B030D-6E8A-4147-A177-3AD203B41FA5}">
                      <a16:colId xmlns:a16="http://schemas.microsoft.com/office/drawing/2014/main" val="20009"/>
                    </a:ext>
                  </a:extLst>
                </a:gridCol>
              </a:tblGrid>
              <a:tr h="256504">
                <a:tc>
                  <a:txBody>
                    <a:bodyPr/>
                    <a:lstStyle/>
                    <a:p>
                      <a:pPr algn="ctr" fontAlgn="ctr"/>
                      <a:r>
                        <a:rPr lang="zh-CN" altLang="en-US" sz="1300" b="1" u="none" strike="noStrike" dirty="0">
                          <a:solidFill>
                            <a:schemeClr val="bg1"/>
                          </a:solidFill>
                          <a:effectLst/>
                          <a:latin typeface="微软雅黑" pitchFamily="34" charset="-122"/>
                          <a:ea typeface="微软雅黑" pitchFamily="34" charset="-122"/>
                        </a:rPr>
                        <a:t>　</a:t>
                      </a:r>
                      <a:endParaRPr lang="zh-CN" altLang="en-US" sz="1300" b="1" i="0" u="none" strike="noStrike" dirty="0">
                        <a:solidFill>
                          <a:schemeClr val="bg1"/>
                        </a:solidFill>
                        <a:effectLst/>
                        <a:latin typeface="微软雅黑" pitchFamily="34" charset="-122"/>
                        <a:ea typeface="微软雅黑" pitchFamily="34" charset="-122"/>
                      </a:endParaRPr>
                    </a:p>
                  </a:txBody>
                  <a:tcPr marL="8166" marR="8166" marT="8166" marB="0" anchor="ctr">
                    <a:solidFill>
                      <a:schemeClr val="tx2">
                        <a:lumMod val="60000"/>
                        <a:lumOff val="40000"/>
                      </a:schemeClr>
                    </a:solidFill>
                  </a:tcPr>
                </a:tc>
                <a:tc gridSpan="3">
                  <a:txBody>
                    <a:bodyPr/>
                    <a:lstStyle/>
                    <a:p>
                      <a:pPr algn="ctr" fontAlgn="b"/>
                      <a:r>
                        <a:rPr lang="zh-CN" altLang="en-US" sz="1300" b="1" u="none" strike="noStrike" dirty="0">
                          <a:solidFill>
                            <a:schemeClr val="bg1"/>
                          </a:solidFill>
                          <a:effectLst/>
                          <a:latin typeface="微软雅黑" pitchFamily="34" charset="-122"/>
                          <a:ea typeface="微软雅黑" pitchFamily="34" charset="-122"/>
                        </a:rPr>
                        <a:t>宗数</a:t>
                      </a:r>
                      <a:endParaRPr lang="zh-CN" altLang="en-US" sz="1300" b="1" i="0" u="none" strike="noStrike" dirty="0">
                        <a:solidFill>
                          <a:schemeClr val="bg1"/>
                        </a:solidFill>
                        <a:effectLst/>
                        <a:latin typeface="微软雅黑" pitchFamily="34" charset="-122"/>
                        <a:ea typeface="微软雅黑" pitchFamily="34" charset="-122"/>
                      </a:endParaRPr>
                    </a:p>
                  </a:txBody>
                  <a:tcPr marL="8166" marR="8166" marT="8166" marB="0" anchor="ctr">
                    <a:solidFill>
                      <a:schemeClr val="tx2">
                        <a:lumMod val="60000"/>
                        <a:lumOff val="40000"/>
                      </a:schemeClr>
                    </a:solidFill>
                  </a:tcPr>
                </a:tc>
                <a:tc hMerge="1">
                  <a:txBody>
                    <a:bodyPr/>
                    <a:lstStyle/>
                    <a:p>
                      <a:endParaRPr lang="zh-CN" altLang="en-US"/>
                    </a:p>
                  </a:txBody>
                  <a:tcPr/>
                </a:tc>
                <a:tc hMerge="1">
                  <a:txBody>
                    <a:bodyPr/>
                    <a:lstStyle/>
                    <a:p>
                      <a:endParaRPr lang="zh-CN" altLang="en-US"/>
                    </a:p>
                  </a:txBody>
                  <a:tcPr/>
                </a:tc>
                <a:tc gridSpan="3">
                  <a:txBody>
                    <a:bodyPr/>
                    <a:lstStyle/>
                    <a:p>
                      <a:pPr algn="ctr" fontAlgn="b"/>
                      <a:r>
                        <a:rPr lang="zh-CN" altLang="en-US" sz="1300" b="1" u="none" strike="noStrike" dirty="0">
                          <a:solidFill>
                            <a:schemeClr val="bg1"/>
                          </a:solidFill>
                          <a:effectLst/>
                          <a:latin typeface="微软雅黑" pitchFamily="34" charset="-122"/>
                          <a:ea typeface="微软雅黑" pitchFamily="34" charset="-122"/>
                        </a:rPr>
                        <a:t>建设用地面积（万㎡）</a:t>
                      </a:r>
                      <a:endParaRPr lang="zh-CN" altLang="en-US" sz="1300" b="1" i="0" u="none" strike="noStrike" dirty="0">
                        <a:solidFill>
                          <a:schemeClr val="bg1"/>
                        </a:solidFill>
                        <a:effectLst/>
                        <a:latin typeface="微软雅黑" pitchFamily="34" charset="-122"/>
                        <a:ea typeface="微软雅黑" pitchFamily="34" charset="-122"/>
                      </a:endParaRPr>
                    </a:p>
                  </a:txBody>
                  <a:tcPr marL="8166" marR="8166" marT="8166" marB="0" anchor="ctr">
                    <a:solidFill>
                      <a:schemeClr val="tx2">
                        <a:lumMod val="60000"/>
                        <a:lumOff val="40000"/>
                      </a:schemeClr>
                    </a:solidFill>
                  </a:tcPr>
                </a:tc>
                <a:tc hMerge="1">
                  <a:txBody>
                    <a:bodyPr/>
                    <a:lstStyle/>
                    <a:p>
                      <a:endParaRPr lang="zh-CN" altLang="en-US"/>
                    </a:p>
                  </a:txBody>
                  <a:tcPr/>
                </a:tc>
                <a:tc hMerge="1">
                  <a:txBody>
                    <a:bodyPr/>
                    <a:lstStyle/>
                    <a:p>
                      <a:endParaRPr lang="zh-CN" altLang="en-US"/>
                    </a:p>
                  </a:txBody>
                  <a:tcPr/>
                </a:tc>
                <a:tc gridSpan="3">
                  <a:txBody>
                    <a:bodyPr/>
                    <a:lstStyle/>
                    <a:p>
                      <a:pPr algn="ctr" fontAlgn="b"/>
                      <a:r>
                        <a:rPr lang="zh-CN" altLang="en-US" sz="1300" b="1" u="none" strike="noStrike" dirty="0">
                          <a:solidFill>
                            <a:schemeClr val="bg1"/>
                          </a:solidFill>
                          <a:effectLst/>
                          <a:latin typeface="微软雅黑" pitchFamily="34" charset="-122"/>
                          <a:ea typeface="微软雅黑" pitchFamily="34" charset="-122"/>
                        </a:rPr>
                        <a:t>成交楼面地价（元</a:t>
                      </a:r>
                      <a:r>
                        <a:rPr lang="en-US" altLang="zh-CN" sz="1300" b="1" u="none" strike="noStrike" dirty="0">
                          <a:solidFill>
                            <a:schemeClr val="bg1"/>
                          </a:solidFill>
                          <a:effectLst/>
                          <a:latin typeface="微软雅黑" pitchFamily="34" charset="-122"/>
                          <a:ea typeface="微软雅黑" pitchFamily="34" charset="-122"/>
                        </a:rPr>
                        <a:t>/㎡</a:t>
                      </a:r>
                      <a:r>
                        <a:rPr lang="zh-CN" altLang="en-US" sz="1300" b="1" u="none" strike="noStrike" dirty="0">
                          <a:solidFill>
                            <a:schemeClr val="bg1"/>
                          </a:solidFill>
                          <a:effectLst/>
                          <a:latin typeface="微软雅黑" pitchFamily="34" charset="-122"/>
                          <a:ea typeface="微软雅黑" pitchFamily="34" charset="-122"/>
                        </a:rPr>
                        <a:t>）</a:t>
                      </a:r>
                      <a:endParaRPr lang="zh-CN" altLang="en-US" sz="1300" b="1" i="0" u="none" strike="noStrike" dirty="0">
                        <a:solidFill>
                          <a:schemeClr val="bg1"/>
                        </a:solidFill>
                        <a:effectLst/>
                        <a:latin typeface="微软雅黑" pitchFamily="34" charset="-122"/>
                        <a:ea typeface="微软雅黑" pitchFamily="34" charset="-122"/>
                      </a:endParaRPr>
                    </a:p>
                  </a:txBody>
                  <a:tcPr marL="8166" marR="8166" marT="8166" marB="0" anchor="ctr">
                    <a:solidFill>
                      <a:schemeClr val="tx2">
                        <a:lumMod val="60000"/>
                        <a:lumOff val="40000"/>
                      </a:schemeClr>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256504">
                <a:tc>
                  <a:txBody>
                    <a:bodyPr/>
                    <a:lstStyle/>
                    <a:p>
                      <a:pPr algn="ctr" fontAlgn="ctr"/>
                      <a:r>
                        <a:rPr lang="zh-CN" altLang="en-US" sz="1300" b="1" u="none" strike="noStrike">
                          <a:solidFill>
                            <a:schemeClr val="bg1"/>
                          </a:solidFill>
                          <a:effectLst/>
                          <a:latin typeface="微软雅黑" pitchFamily="34" charset="-122"/>
                          <a:ea typeface="微软雅黑" pitchFamily="34" charset="-122"/>
                        </a:rPr>
                        <a:t>　</a:t>
                      </a:r>
                      <a:endParaRPr lang="zh-CN" altLang="en-US" sz="1300" b="1" i="0" u="none" strike="noStrike">
                        <a:solidFill>
                          <a:schemeClr val="bg1"/>
                        </a:solidFill>
                        <a:effectLst/>
                        <a:latin typeface="微软雅黑" pitchFamily="34" charset="-122"/>
                        <a:ea typeface="微软雅黑" pitchFamily="34" charset="-122"/>
                      </a:endParaRPr>
                    </a:p>
                  </a:txBody>
                  <a:tcPr marL="8166" marR="8166" marT="8166" marB="0" anchor="ctr">
                    <a:solidFill>
                      <a:schemeClr val="tx2">
                        <a:lumMod val="60000"/>
                        <a:lumOff val="40000"/>
                      </a:schemeClr>
                    </a:solidFill>
                  </a:tcPr>
                </a:tc>
                <a:tc>
                  <a:txBody>
                    <a:bodyPr/>
                    <a:lstStyle/>
                    <a:p>
                      <a:pPr algn="ctr" fontAlgn="ctr"/>
                      <a:r>
                        <a:rPr lang="zh-CN" altLang="en-US" sz="1300" b="1" u="none" strike="noStrike" dirty="0">
                          <a:solidFill>
                            <a:schemeClr val="bg1"/>
                          </a:solidFill>
                          <a:effectLst/>
                          <a:latin typeface="微软雅黑" pitchFamily="34" charset="-122"/>
                          <a:ea typeface="微软雅黑" pitchFamily="34" charset="-122"/>
                        </a:rPr>
                        <a:t>住宅</a:t>
                      </a:r>
                      <a:endParaRPr lang="zh-CN" altLang="en-US" sz="1300" b="1" i="0" u="none" strike="noStrike" dirty="0">
                        <a:solidFill>
                          <a:schemeClr val="bg1"/>
                        </a:solidFill>
                        <a:effectLst/>
                        <a:latin typeface="微软雅黑" pitchFamily="34" charset="-122"/>
                        <a:ea typeface="微软雅黑" pitchFamily="34" charset="-122"/>
                      </a:endParaRPr>
                    </a:p>
                  </a:txBody>
                  <a:tcPr marL="8166" marR="8166" marT="8166" marB="0" anchor="ctr">
                    <a:solidFill>
                      <a:schemeClr val="tx2">
                        <a:lumMod val="60000"/>
                        <a:lumOff val="40000"/>
                      </a:schemeClr>
                    </a:solidFill>
                  </a:tcPr>
                </a:tc>
                <a:tc>
                  <a:txBody>
                    <a:bodyPr/>
                    <a:lstStyle/>
                    <a:p>
                      <a:pPr algn="ctr" fontAlgn="ctr"/>
                      <a:r>
                        <a:rPr lang="zh-CN" altLang="en-US" sz="1300" b="1" u="none" strike="noStrike" dirty="0">
                          <a:solidFill>
                            <a:schemeClr val="bg1"/>
                          </a:solidFill>
                          <a:effectLst/>
                          <a:latin typeface="微软雅黑" pitchFamily="34" charset="-122"/>
                          <a:ea typeface="微软雅黑" pitchFamily="34" charset="-122"/>
                        </a:rPr>
                        <a:t>商办</a:t>
                      </a:r>
                      <a:endParaRPr lang="zh-CN" altLang="en-US" sz="1300" b="1" i="0" u="none" strike="noStrike" dirty="0">
                        <a:solidFill>
                          <a:schemeClr val="bg1"/>
                        </a:solidFill>
                        <a:effectLst/>
                        <a:latin typeface="微软雅黑" pitchFamily="34" charset="-122"/>
                        <a:ea typeface="微软雅黑" pitchFamily="34" charset="-122"/>
                      </a:endParaRPr>
                    </a:p>
                  </a:txBody>
                  <a:tcPr marL="8166" marR="8166" marT="8166" marB="0" anchor="ctr">
                    <a:solidFill>
                      <a:schemeClr val="tx2">
                        <a:lumMod val="60000"/>
                        <a:lumOff val="40000"/>
                      </a:schemeClr>
                    </a:solidFill>
                  </a:tcPr>
                </a:tc>
                <a:tc>
                  <a:txBody>
                    <a:bodyPr/>
                    <a:lstStyle/>
                    <a:p>
                      <a:pPr algn="ctr" fontAlgn="ctr"/>
                      <a:r>
                        <a:rPr lang="zh-CN" altLang="en-US" sz="1300" b="1" u="none" strike="noStrike" dirty="0">
                          <a:solidFill>
                            <a:schemeClr val="bg1"/>
                          </a:solidFill>
                          <a:effectLst/>
                          <a:latin typeface="微软雅黑" pitchFamily="34" charset="-122"/>
                          <a:ea typeface="微软雅黑" pitchFamily="34" charset="-122"/>
                        </a:rPr>
                        <a:t>工业</a:t>
                      </a:r>
                      <a:endParaRPr lang="zh-CN" altLang="en-US" sz="1300" b="1" i="0" u="none" strike="noStrike" dirty="0">
                        <a:solidFill>
                          <a:schemeClr val="bg1"/>
                        </a:solidFill>
                        <a:effectLst/>
                        <a:latin typeface="微软雅黑" pitchFamily="34" charset="-122"/>
                        <a:ea typeface="微软雅黑" pitchFamily="34" charset="-122"/>
                      </a:endParaRPr>
                    </a:p>
                  </a:txBody>
                  <a:tcPr marL="8166" marR="8166" marT="8166" marB="0" anchor="ctr">
                    <a:solidFill>
                      <a:schemeClr val="tx2">
                        <a:lumMod val="60000"/>
                        <a:lumOff val="40000"/>
                      </a:schemeClr>
                    </a:solidFill>
                  </a:tcPr>
                </a:tc>
                <a:tc>
                  <a:txBody>
                    <a:bodyPr/>
                    <a:lstStyle/>
                    <a:p>
                      <a:pPr algn="ctr" fontAlgn="ctr"/>
                      <a:r>
                        <a:rPr lang="zh-CN" altLang="en-US" sz="1300" b="1" u="none" strike="noStrike" dirty="0">
                          <a:solidFill>
                            <a:schemeClr val="bg1"/>
                          </a:solidFill>
                          <a:effectLst/>
                          <a:latin typeface="微软雅黑" pitchFamily="34" charset="-122"/>
                          <a:ea typeface="微软雅黑" pitchFamily="34" charset="-122"/>
                        </a:rPr>
                        <a:t>住宅</a:t>
                      </a:r>
                      <a:endParaRPr lang="zh-CN" altLang="en-US" sz="1300" b="1" i="0" u="none" strike="noStrike" dirty="0">
                        <a:solidFill>
                          <a:schemeClr val="bg1"/>
                        </a:solidFill>
                        <a:effectLst/>
                        <a:latin typeface="微软雅黑" pitchFamily="34" charset="-122"/>
                        <a:ea typeface="微软雅黑" pitchFamily="34" charset="-122"/>
                      </a:endParaRPr>
                    </a:p>
                  </a:txBody>
                  <a:tcPr marL="8166" marR="8166" marT="8166" marB="0" anchor="ctr">
                    <a:solidFill>
                      <a:schemeClr val="tx2">
                        <a:lumMod val="60000"/>
                        <a:lumOff val="40000"/>
                      </a:schemeClr>
                    </a:solidFill>
                  </a:tcPr>
                </a:tc>
                <a:tc>
                  <a:txBody>
                    <a:bodyPr/>
                    <a:lstStyle/>
                    <a:p>
                      <a:pPr algn="ctr" fontAlgn="ctr"/>
                      <a:r>
                        <a:rPr lang="zh-CN" altLang="en-US" sz="1300" b="1" u="none" strike="noStrike" dirty="0">
                          <a:solidFill>
                            <a:schemeClr val="bg1"/>
                          </a:solidFill>
                          <a:effectLst/>
                          <a:latin typeface="微软雅黑" pitchFamily="34" charset="-122"/>
                          <a:ea typeface="微软雅黑" pitchFamily="34" charset="-122"/>
                        </a:rPr>
                        <a:t>商办</a:t>
                      </a:r>
                      <a:endParaRPr lang="zh-CN" altLang="en-US" sz="1300" b="1" i="0" u="none" strike="noStrike" dirty="0">
                        <a:solidFill>
                          <a:schemeClr val="bg1"/>
                        </a:solidFill>
                        <a:effectLst/>
                        <a:latin typeface="微软雅黑" pitchFamily="34" charset="-122"/>
                        <a:ea typeface="微软雅黑" pitchFamily="34" charset="-122"/>
                      </a:endParaRPr>
                    </a:p>
                  </a:txBody>
                  <a:tcPr marL="8166" marR="8166" marT="8166" marB="0" anchor="ctr">
                    <a:solidFill>
                      <a:schemeClr val="tx2">
                        <a:lumMod val="60000"/>
                        <a:lumOff val="40000"/>
                      </a:schemeClr>
                    </a:solidFill>
                  </a:tcPr>
                </a:tc>
                <a:tc>
                  <a:txBody>
                    <a:bodyPr/>
                    <a:lstStyle/>
                    <a:p>
                      <a:pPr algn="ctr" fontAlgn="ctr"/>
                      <a:r>
                        <a:rPr lang="zh-CN" altLang="en-US" sz="1300" b="1" u="none" strike="noStrike" dirty="0">
                          <a:solidFill>
                            <a:schemeClr val="bg1"/>
                          </a:solidFill>
                          <a:effectLst/>
                          <a:latin typeface="微软雅黑" pitchFamily="34" charset="-122"/>
                          <a:ea typeface="微软雅黑" pitchFamily="34" charset="-122"/>
                        </a:rPr>
                        <a:t>工业</a:t>
                      </a:r>
                      <a:endParaRPr lang="zh-CN" altLang="en-US" sz="1300" b="1" i="0" u="none" strike="noStrike" dirty="0">
                        <a:solidFill>
                          <a:schemeClr val="bg1"/>
                        </a:solidFill>
                        <a:effectLst/>
                        <a:latin typeface="微软雅黑" pitchFamily="34" charset="-122"/>
                        <a:ea typeface="微软雅黑" pitchFamily="34" charset="-122"/>
                      </a:endParaRPr>
                    </a:p>
                  </a:txBody>
                  <a:tcPr marL="8166" marR="8166" marT="8166" marB="0" anchor="ctr">
                    <a:solidFill>
                      <a:schemeClr val="tx2">
                        <a:lumMod val="60000"/>
                        <a:lumOff val="40000"/>
                      </a:schemeClr>
                    </a:solidFill>
                  </a:tcPr>
                </a:tc>
                <a:tc>
                  <a:txBody>
                    <a:bodyPr/>
                    <a:lstStyle/>
                    <a:p>
                      <a:pPr algn="ctr" fontAlgn="ctr"/>
                      <a:r>
                        <a:rPr lang="zh-CN" altLang="en-US" sz="1300" b="1" u="none" strike="noStrike" dirty="0">
                          <a:solidFill>
                            <a:schemeClr val="bg1"/>
                          </a:solidFill>
                          <a:effectLst/>
                          <a:latin typeface="微软雅黑" pitchFamily="34" charset="-122"/>
                          <a:ea typeface="微软雅黑" pitchFamily="34" charset="-122"/>
                        </a:rPr>
                        <a:t>住宅</a:t>
                      </a:r>
                      <a:endParaRPr lang="zh-CN" altLang="en-US" sz="1300" b="1" i="0" u="none" strike="noStrike" dirty="0">
                        <a:solidFill>
                          <a:schemeClr val="bg1"/>
                        </a:solidFill>
                        <a:effectLst/>
                        <a:latin typeface="微软雅黑" pitchFamily="34" charset="-122"/>
                        <a:ea typeface="微软雅黑" pitchFamily="34" charset="-122"/>
                      </a:endParaRPr>
                    </a:p>
                  </a:txBody>
                  <a:tcPr marL="8166" marR="8166" marT="8166" marB="0" anchor="ctr">
                    <a:solidFill>
                      <a:schemeClr val="tx2">
                        <a:lumMod val="60000"/>
                        <a:lumOff val="40000"/>
                      </a:schemeClr>
                    </a:solidFill>
                  </a:tcPr>
                </a:tc>
                <a:tc>
                  <a:txBody>
                    <a:bodyPr/>
                    <a:lstStyle/>
                    <a:p>
                      <a:pPr algn="ctr" fontAlgn="ctr"/>
                      <a:r>
                        <a:rPr lang="zh-CN" altLang="en-US" sz="1300" b="1" u="none" strike="noStrike" dirty="0">
                          <a:solidFill>
                            <a:schemeClr val="bg1"/>
                          </a:solidFill>
                          <a:effectLst/>
                          <a:latin typeface="微软雅黑" pitchFamily="34" charset="-122"/>
                          <a:ea typeface="微软雅黑" pitchFamily="34" charset="-122"/>
                        </a:rPr>
                        <a:t>商办</a:t>
                      </a:r>
                      <a:endParaRPr lang="zh-CN" altLang="en-US" sz="1300" b="1" i="0" u="none" strike="noStrike" dirty="0">
                        <a:solidFill>
                          <a:schemeClr val="bg1"/>
                        </a:solidFill>
                        <a:effectLst/>
                        <a:latin typeface="微软雅黑" pitchFamily="34" charset="-122"/>
                        <a:ea typeface="微软雅黑" pitchFamily="34" charset="-122"/>
                      </a:endParaRPr>
                    </a:p>
                  </a:txBody>
                  <a:tcPr marL="8166" marR="8166" marT="8166" marB="0" anchor="ctr">
                    <a:solidFill>
                      <a:schemeClr val="tx2">
                        <a:lumMod val="60000"/>
                        <a:lumOff val="40000"/>
                      </a:schemeClr>
                    </a:solidFill>
                  </a:tcPr>
                </a:tc>
                <a:tc>
                  <a:txBody>
                    <a:bodyPr/>
                    <a:lstStyle/>
                    <a:p>
                      <a:pPr algn="ctr" fontAlgn="ctr"/>
                      <a:r>
                        <a:rPr lang="zh-CN" altLang="en-US" sz="1300" b="1" u="none" strike="noStrike" dirty="0">
                          <a:solidFill>
                            <a:schemeClr val="bg1"/>
                          </a:solidFill>
                          <a:effectLst/>
                          <a:latin typeface="微软雅黑" pitchFamily="34" charset="-122"/>
                          <a:ea typeface="微软雅黑" pitchFamily="34" charset="-122"/>
                        </a:rPr>
                        <a:t>工业</a:t>
                      </a:r>
                      <a:endParaRPr lang="zh-CN" altLang="en-US" sz="1300" b="1" i="0" u="none" strike="noStrike" dirty="0">
                        <a:solidFill>
                          <a:schemeClr val="bg1"/>
                        </a:solidFill>
                        <a:effectLst/>
                        <a:latin typeface="微软雅黑" pitchFamily="34" charset="-122"/>
                        <a:ea typeface="微软雅黑" pitchFamily="34" charset="-122"/>
                      </a:endParaRPr>
                    </a:p>
                  </a:txBody>
                  <a:tcPr marL="8166" marR="8166" marT="8166" marB="0" anchor="ctr">
                    <a:solidFill>
                      <a:schemeClr val="tx2">
                        <a:lumMod val="60000"/>
                        <a:lumOff val="40000"/>
                      </a:schemeClr>
                    </a:solidFill>
                  </a:tcPr>
                </a:tc>
                <a:extLst>
                  <a:ext uri="{0D108BD9-81ED-4DB2-BD59-A6C34878D82A}">
                    <a16:rowId xmlns:a16="http://schemas.microsoft.com/office/drawing/2014/main" val="10001"/>
                  </a:ext>
                </a:extLst>
              </a:tr>
              <a:tr h="256504">
                <a:tc>
                  <a:txBody>
                    <a:bodyPr/>
                    <a:lstStyle/>
                    <a:p>
                      <a:pPr algn="ctr" fontAlgn="ctr"/>
                      <a:r>
                        <a:rPr lang="en-US" altLang="zh-CN" sz="1300" u="none" strike="noStrike" dirty="0">
                          <a:solidFill>
                            <a:schemeClr val="tx1">
                              <a:lumMod val="50000"/>
                            </a:schemeClr>
                          </a:solidFill>
                          <a:effectLst/>
                          <a:latin typeface="微软雅黑" pitchFamily="34" charset="-122"/>
                          <a:ea typeface="微软雅黑" pitchFamily="34" charset="-122"/>
                        </a:rPr>
                        <a:t>2014</a:t>
                      </a:r>
                      <a:r>
                        <a:rPr lang="zh-CN" altLang="en-US" sz="1300" u="none" strike="noStrike" dirty="0">
                          <a:solidFill>
                            <a:schemeClr val="tx1">
                              <a:lumMod val="50000"/>
                            </a:schemeClr>
                          </a:solidFill>
                          <a:effectLst/>
                          <a:latin typeface="微软雅黑" pitchFamily="34" charset="-122"/>
                          <a:ea typeface="微软雅黑" pitchFamily="34" charset="-122"/>
                        </a:rPr>
                        <a:t>年</a:t>
                      </a:r>
                      <a:endParaRPr lang="zh-CN" altLang="en-US" sz="1300" b="0" i="0" u="none" strike="noStrike" dirty="0">
                        <a:solidFill>
                          <a:schemeClr val="tx1">
                            <a:lumMod val="50000"/>
                          </a:schemeClr>
                        </a:solidFill>
                        <a:effectLst/>
                        <a:latin typeface="微软雅黑" pitchFamily="34" charset="-122"/>
                        <a:ea typeface="微软雅黑" pitchFamily="34" charset="-122"/>
                      </a:endParaRPr>
                    </a:p>
                  </a:txBody>
                  <a:tcPr marL="8166" marR="8166" marT="8166" marB="0" anchor="ctr">
                    <a:solidFill>
                      <a:schemeClr val="tx2">
                        <a:lumMod val="20000"/>
                        <a:lumOff val="80000"/>
                      </a:schemeClr>
                    </a:solidFill>
                  </a:tcPr>
                </a:tc>
                <a:tc>
                  <a:txBody>
                    <a:bodyPr/>
                    <a:lstStyle/>
                    <a:p>
                      <a:pPr algn="ctr" fontAlgn="ctr"/>
                      <a:r>
                        <a:rPr lang="en-US" altLang="zh-CN" sz="1300" u="none" strike="noStrike" dirty="0">
                          <a:solidFill>
                            <a:schemeClr val="tx1">
                              <a:lumMod val="50000"/>
                            </a:schemeClr>
                          </a:solidFill>
                          <a:effectLst/>
                          <a:latin typeface="微软雅黑" pitchFamily="34" charset="-122"/>
                          <a:ea typeface="微软雅黑" pitchFamily="34" charset="-122"/>
                        </a:rPr>
                        <a:t>2</a:t>
                      </a:r>
                      <a:endParaRPr lang="en-US" altLang="zh-CN" sz="1300" b="0" i="0" u="none" strike="noStrike" dirty="0">
                        <a:solidFill>
                          <a:schemeClr val="tx1">
                            <a:lumMod val="50000"/>
                          </a:schemeClr>
                        </a:solidFill>
                        <a:effectLst/>
                        <a:latin typeface="微软雅黑" pitchFamily="34" charset="-122"/>
                        <a:ea typeface="微软雅黑" pitchFamily="34" charset="-122"/>
                      </a:endParaRPr>
                    </a:p>
                  </a:txBody>
                  <a:tcPr marL="8166" marR="8166" marT="8166" marB="0" anchor="ctr">
                    <a:solidFill>
                      <a:schemeClr val="tx2">
                        <a:lumMod val="20000"/>
                        <a:lumOff val="80000"/>
                      </a:schemeClr>
                    </a:solidFill>
                  </a:tcPr>
                </a:tc>
                <a:tc>
                  <a:txBody>
                    <a:bodyPr/>
                    <a:lstStyle/>
                    <a:p>
                      <a:pPr algn="ctr" fontAlgn="ctr"/>
                      <a:r>
                        <a:rPr lang="en-US" altLang="zh-CN" sz="1300" u="none" strike="noStrike" dirty="0">
                          <a:solidFill>
                            <a:schemeClr val="tx1">
                              <a:lumMod val="50000"/>
                            </a:schemeClr>
                          </a:solidFill>
                          <a:effectLst/>
                          <a:latin typeface="微软雅黑" pitchFamily="34" charset="-122"/>
                          <a:ea typeface="微软雅黑" pitchFamily="34" charset="-122"/>
                        </a:rPr>
                        <a:t>2</a:t>
                      </a:r>
                      <a:endParaRPr lang="en-US" altLang="zh-CN" sz="1300" b="0" i="0" u="none" strike="noStrike" dirty="0">
                        <a:solidFill>
                          <a:schemeClr val="tx1">
                            <a:lumMod val="50000"/>
                          </a:schemeClr>
                        </a:solidFill>
                        <a:effectLst/>
                        <a:latin typeface="微软雅黑" pitchFamily="34" charset="-122"/>
                        <a:ea typeface="微软雅黑" pitchFamily="34" charset="-122"/>
                      </a:endParaRPr>
                    </a:p>
                  </a:txBody>
                  <a:tcPr marL="8166" marR="8166" marT="8166" marB="0" anchor="ctr">
                    <a:solidFill>
                      <a:schemeClr val="tx2">
                        <a:lumMod val="20000"/>
                        <a:lumOff val="80000"/>
                      </a:schemeClr>
                    </a:solidFill>
                  </a:tcPr>
                </a:tc>
                <a:tc>
                  <a:txBody>
                    <a:bodyPr/>
                    <a:lstStyle/>
                    <a:p>
                      <a:pPr algn="ctr" fontAlgn="ctr"/>
                      <a:r>
                        <a:rPr lang="en-US" altLang="zh-CN" sz="1300" u="none" strike="noStrike" dirty="0">
                          <a:solidFill>
                            <a:schemeClr val="tx1">
                              <a:lumMod val="50000"/>
                            </a:schemeClr>
                          </a:solidFill>
                          <a:effectLst/>
                          <a:latin typeface="微软雅黑" pitchFamily="34" charset="-122"/>
                          <a:ea typeface="微软雅黑" pitchFamily="34" charset="-122"/>
                        </a:rPr>
                        <a:t>2</a:t>
                      </a:r>
                      <a:endParaRPr lang="en-US" altLang="zh-CN" sz="1300" b="0" i="0" u="none" strike="noStrike" dirty="0">
                        <a:solidFill>
                          <a:schemeClr val="tx1">
                            <a:lumMod val="50000"/>
                          </a:schemeClr>
                        </a:solidFill>
                        <a:effectLst/>
                        <a:latin typeface="微软雅黑" pitchFamily="34" charset="-122"/>
                        <a:ea typeface="微软雅黑" pitchFamily="34" charset="-122"/>
                      </a:endParaRPr>
                    </a:p>
                  </a:txBody>
                  <a:tcPr marL="8166" marR="8166" marT="8166" marB="0" anchor="ctr">
                    <a:solidFill>
                      <a:schemeClr val="tx2">
                        <a:lumMod val="20000"/>
                        <a:lumOff val="80000"/>
                      </a:schemeClr>
                    </a:solidFill>
                  </a:tcPr>
                </a:tc>
                <a:tc>
                  <a:txBody>
                    <a:bodyPr/>
                    <a:lstStyle/>
                    <a:p>
                      <a:pPr algn="ctr" fontAlgn="ctr"/>
                      <a:r>
                        <a:rPr lang="en-US" altLang="zh-CN" sz="1300" u="none" strike="noStrike" dirty="0">
                          <a:solidFill>
                            <a:schemeClr val="tx1">
                              <a:lumMod val="50000"/>
                            </a:schemeClr>
                          </a:solidFill>
                          <a:effectLst/>
                          <a:latin typeface="微软雅黑" pitchFamily="34" charset="-122"/>
                          <a:ea typeface="微软雅黑" pitchFamily="34" charset="-122"/>
                        </a:rPr>
                        <a:t>14.0</a:t>
                      </a:r>
                      <a:endParaRPr lang="en-US" altLang="zh-CN" sz="1300" b="0" i="0" u="none" strike="noStrike" dirty="0">
                        <a:solidFill>
                          <a:schemeClr val="tx1">
                            <a:lumMod val="50000"/>
                          </a:schemeClr>
                        </a:solidFill>
                        <a:effectLst/>
                        <a:latin typeface="微软雅黑" pitchFamily="34" charset="-122"/>
                        <a:ea typeface="微软雅黑" pitchFamily="34" charset="-122"/>
                      </a:endParaRPr>
                    </a:p>
                  </a:txBody>
                  <a:tcPr marL="8166" marR="8166" marT="8166" marB="0" anchor="ctr">
                    <a:solidFill>
                      <a:schemeClr val="tx2">
                        <a:lumMod val="20000"/>
                        <a:lumOff val="80000"/>
                      </a:schemeClr>
                    </a:solidFill>
                  </a:tcPr>
                </a:tc>
                <a:tc>
                  <a:txBody>
                    <a:bodyPr/>
                    <a:lstStyle/>
                    <a:p>
                      <a:pPr algn="ctr" fontAlgn="ctr"/>
                      <a:r>
                        <a:rPr lang="en-US" altLang="zh-CN" sz="1300" u="none" strike="noStrike" dirty="0">
                          <a:solidFill>
                            <a:schemeClr val="tx1">
                              <a:lumMod val="50000"/>
                            </a:schemeClr>
                          </a:solidFill>
                          <a:effectLst/>
                          <a:latin typeface="微软雅黑" pitchFamily="34" charset="-122"/>
                          <a:ea typeface="微软雅黑" pitchFamily="34" charset="-122"/>
                        </a:rPr>
                        <a:t>19.5</a:t>
                      </a:r>
                      <a:endParaRPr lang="en-US" altLang="zh-CN" sz="1300" b="0" i="0" u="none" strike="noStrike" dirty="0">
                        <a:solidFill>
                          <a:schemeClr val="tx1">
                            <a:lumMod val="50000"/>
                          </a:schemeClr>
                        </a:solidFill>
                        <a:effectLst/>
                        <a:latin typeface="微软雅黑" pitchFamily="34" charset="-122"/>
                        <a:ea typeface="微软雅黑" pitchFamily="34" charset="-122"/>
                      </a:endParaRPr>
                    </a:p>
                  </a:txBody>
                  <a:tcPr marL="8166" marR="8166" marT="8166" marB="0" anchor="ctr">
                    <a:solidFill>
                      <a:schemeClr val="tx2">
                        <a:lumMod val="20000"/>
                        <a:lumOff val="80000"/>
                      </a:schemeClr>
                    </a:solidFill>
                  </a:tcPr>
                </a:tc>
                <a:tc>
                  <a:txBody>
                    <a:bodyPr/>
                    <a:lstStyle/>
                    <a:p>
                      <a:pPr algn="ctr" fontAlgn="ctr"/>
                      <a:r>
                        <a:rPr lang="en-US" altLang="zh-CN" sz="1300" u="none" strike="noStrike" dirty="0">
                          <a:solidFill>
                            <a:schemeClr val="tx1">
                              <a:lumMod val="50000"/>
                            </a:schemeClr>
                          </a:solidFill>
                          <a:effectLst/>
                          <a:latin typeface="微软雅黑" pitchFamily="34" charset="-122"/>
                          <a:ea typeface="微软雅黑" pitchFamily="34" charset="-122"/>
                        </a:rPr>
                        <a:t>9.9</a:t>
                      </a:r>
                      <a:endParaRPr lang="en-US" altLang="zh-CN" sz="1300" b="0" i="0" u="none" strike="noStrike" dirty="0">
                        <a:solidFill>
                          <a:schemeClr val="tx1">
                            <a:lumMod val="50000"/>
                          </a:schemeClr>
                        </a:solidFill>
                        <a:effectLst/>
                        <a:latin typeface="微软雅黑" pitchFamily="34" charset="-122"/>
                        <a:ea typeface="微软雅黑" pitchFamily="34" charset="-122"/>
                      </a:endParaRPr>
                    </a:p>
                  </a:txBody>
                  <a:tcPr marL="8166" marR="8166" marT="8166" marB="0" anchor="ctr">
                    <a:solidFill>
                      <a:schemeClr val="tx2">
                        <a:lumMod val="20000"/>
                        <a:lumOff val="80000"/>
                      </a:schemeClr>
                    </a:solidFill>
                  </a:tcPr>
                </a:tc>
                <a:tc>
                  <a:txBody>
                    <a:bodyPr/>
                    <a:lstStyle/>
                    <a:p>
                      <a:pPr algn="ctr" fontAlgn="ctr"/>
                      <a:r>
                        <a:rPr lang="en-US" altLang="zh-CN" sz="1300" u="none" strike="noStrike" dirty="0">
                          <a:solidFill>
                            <a:schemeClr val="tx1">
                              <a:lumMod val="50000"/>
                            </a:schemeClr>
                          </a:solidFill>
                          <a:effectLst/>
                          <a:latin typeface="微软雅黑" pitchFamily="34" charset="-122"/>
                          <a:ea typeface="微软雅黑" pitchFamily="34" charset="-122"/>
                        </a:rPr>
                        <a:t>1488.3</a:t>
                      </a:r>
                      <a:endParaRPr lang="en-US" altLang="zh-CN" sz="1300" b="0" i="0" u="none" strike="noStrike" dirty="0">
                        <a:solidFill>
                          <a:schemeClr val="tx1">
                            <a:lumMod val="50000"/>
                          </a:schemeClr>
                        </a:solidFill>
                        <a:effectLst/>
                        <a:latin typeface="微软雅黑" pitchFamily="34" charset="-122"/>
                        <a:ea typeface="微软雅黑" pitchFamily="34" charset="-122"/>
                      </a:endParaRPr>
                    </a:p>
                  </a:txBody>
                  <a:tcPr marL="8166" marR="8166" marT="8166" marB="0" anchor="ctr">
                    <a:solidFill>
                      <a:schemeClr val="tx2">
                        <a:lumMod val="20000"/>
                        <a:lumOff val="80000"/>
                      </a:schemeClr>
                    </a:solidFill>
                  </a:tcPr>
                </a:tc>
                <a:tc>
                  <a:txBody>
                    <a:bodyPr/>
                    <a:lstStyle/>
                    <a:p>
                      <a:pPr algn="ctr" fontAlgn="ctr"/>
                      <a:r>
                        <a:rPr lang="en-US" altLang="zh-CN" sz="1300" u="none" strike="noStrike" dirty="0">
                          <a:solidFill>
                            <a:schemeClr val="tx1">
                              <a:lumMod val="50000"/>
                            </a:schemeClr>
                          </a:solidFill>
                          <a:effectLst/>
                          <a:latin typeface="微软雅黑" pitchFamily="34" charset="-122"/>
                          <a:ea typeface="微软雅黑" pitchFamily="34" charset="-122"/>
                        </a:rPr>
                        <a:t>803.1</a:t>
                      </a:r>
                      <a:endParaRPr lang="en-US" altLang="zh-CN" sz="1300" b="0" i="0" u="none" strike="noStrike" dirty="0">
                        <a:solidFill>
                          <a:schemeClr val="tx1">
                            <a:lumMod val="50000"/>
                          </a:schemeClr>
                        </a:solidFill>
                        <a:effectLst/>
                        <a:latin typeface="微软雅黑" pitchFamily="34" charset="-122"/>
                        <a:ea typeface="微软雅黑" pitchFamily="34" charset="-122"/>
                      </a:endParaRPr>
                    </a:p>
                  </a:txBody>
                  <a:tcPr marL="8166" marR="8166" marT="8166" marB="0" anchor="ctr">
                    <a:solidFill>
                      <a:schemeClr val="tx2">
                        <a:lumMod val="20000"/>
                        <a:lumOff val="80000"/>
                      </a:schemeClr>
                    </a:solidFill>
                  </a:tcPr>
                </a:tc>
                <a:tc>
                  <a:txBody>
                    <a:bodyPr/>
                    <a:lstStyle/>
                    <a:p>
                      <a:pPr algn="ctr" fontAlgn="ctr"/>
                      <a:r>
                        <a:rPr lang="en-US" altLang="zh-CN" sz="1300" u="none" strike="noStrike" dirty="0">
                          <a:solidFill>
                            <a:schemeClr val="tx1">
                              <a:lumMod val="50000"/>
                            </a:schemeClr>
                          </a:solidFill>
                          <a:effectLst/>
                          <a:latin typeface="微软雅黑" pitchFamily="34" charset="-122"/>
                          <a:ea typeface="微软雅黑" pitchFamily="34" charset="-122"/>
                        </a:rPr>
                        <a:t>137.5</a:t>
                      </a:r>
                      <a:endParaRPr lang="en-US" altLang="zh-CN" sz="1300" b="0" i="0" u="none" strike="noStrike" dirty="0">
                        <a:solidFill>
                          <a:schemeClr val="tx1">
                            <a:lumMod val="50000"/>
                          </a:schemeClr>
                        </a:solidFill>
                        <a:effectLst/>
                        <a:latin typeface="微软雅黑" pitchFamily="34" charset="-122"/>
                        <a:ea typeface="微软雅黑" pitchFamily="34" charset="-122"/>
                      </a:endParaRPr>
                    </a:p>
                  </a:txBody>
                  <a:tcPr marL="8166" marR="8166" marT="8166" marB="0" anchor="ctr">
                    <a:solidFill>
                      <a:schemeClr val="tx2">
                        <a:lumMod val="20000"/>
                        <a:lumOff val="80000"/>
                      </a:schemeClr>
                    </a:solidFill>
                  </a:tcPr>
                </a:tc>
                <a:extLst>
                  <a:ext uri="{0D108BD9-81ED-4DB2-BD59-A6C34878D82A}">
                    <a16:rowId xmlns:a16="http://schemas.microsoft.com/office/drawing/2014/main" val="10002"/>
                  </a:ext>
                </a:extLst>
              </a:tr>
              <a:tr h="256504">
                <a:tc>
                  <a:txBody>
                    <a:bodyPr/>
                    <a:lstStyle/>
                    <a:p>
                      <a:pPr algn="ctr" fontAlgn="ctr"/>
                      <a:r>
                        <a:rPr lang="en-US" altLang="zh-CN" sz="1300" u="none" strike="noStrike" dirty="0">
                          <a:solidFill>
                            <a:schemeClr val="tx1">
                              <a:lumMod val="50000"/>
                            </a:schemeClr>
                          </a:solidFill>
                          <a:effectLst/>
                          <a:latin typeface="微软雅黑" pitchFamily="34" charset="-122"/>
                          <a:ea typeface="微软雅黑" pitchFamily="34" charset="-122"/>
                        </a:rPr>
                        <a:t>2015</a:t>
                      </a:r>
                      <a:r>
                        <a:rPr lang="zh-CN" altLang="en-US" sz="1300" u="none" strike="noStrike" dirty="0">
                          <a:solidFill>
                            <a:schemeClr val="tx1">
                              <a:lumMod val="50000"/>
                            </a:schemeClr>
                          </a:solidFill>
                          <a:effectLst/>
                          <a:latin typeface="微软雅黑" pitchFamily="34" charset="-122"/>
                          <a:ea typeface="微软雅黑" pitchFamily="34" charset="-122"/>
                        </a:rPr>
                        <a:t>年</a:t>
                      </a:r>
                      <a:endParaRPr lang="zh-CN" altLang="en-US" sz="1300" b="0" i="0" u="none" strike="noStrike" dirty="0">
                        <a:solidFill>
                          <a:schemeClr val="tx1">
                            <a:lumMod val="50000"/>
                          </a:schemeClr>
                        </a:solidFill>
                        <a:effectLst/>
                        <a:latin typeface="微软雅黑" pitchFamily="34" charset="-122"/>
                        <a:ea typeface="微软雅黑" pitchFamily="34" charset="-122"/>
                      </a:endParaRPr>
                    </a:p>
                  </a:txBody>
                  <a:tcPr marL="8166" marR="8166" marT="8166" marB="0" anchor="ctr">
                    <a:solidFill>
                      <a:schemeClr val="tx2">
                        <a:lumMod val="20000"/>
                        <a:lumOff val="80000"/>
                      </a:schemeClr>
                    </a:solidFill>
                  </a:tcPr>
                </a:tc>
                <a:tc>
                  <a:txBody>
                    <a:bodyPr/>
                    <a:lstStyle/>
                    <a:p>
                      <a:pPr algn="ctr" fontAlgn="ctr"/>
                      <a:r>
                        <a:rPr lang="en-US" altLang="zh-CN" sz="1300" u="none" strike="noStrike" dirty="0">
                          <a:solidFill>
                            <a:schemeClr val="tx1">
                              <a:lumMod val="50000"/>
                            </a:schemeClr>
                          </a:solidFill>
                          <a:effectLst/>
                          <a:latin typeface="微软雅黑" pitchFamily="34" charset="-122"/>
                          <a:ea typeface="微软雅黑" pitchFamily="34" charset="-122"/>
                        </a:rPr>
                        <a:t>4</a:t>
                      </a:r>
                      <a:endParaRPr lang="en-US" altLang="zh-CN" sz="1300" b="0" i="0" u="none" strike="noStrike" dirty="0">
                        <a:solidFill>
                          <a:schemeClr val="tx1">
                            <a:lumMod val="50000"/>
                          </a:schemeClr>
                        </a:solidFill>
                        <a:effectLst/>
                        <a:latin typeface="微软雅黑" pitchFamily="34" charset="-122"/>
                        <a:ea typeface="微软雅黑" pitchFamily="34" charset="-122"/>
                      </a:endParaRPr>
                    </a:p>
                  </a:txBody>
                  <a:tcPr marL="8166" marR="8166" marT="8166" marB="0" anchor="ctr">
                    <a:solidFill>
                      <a:schemeClr val="tx2">
                        <a:lumMod val="20000"/>
                        <a:lumOff val="80000"/>
                      </a:schemeClr>
                    </a:solidFill>
                  </a:tcPr>
                </a:tc>
                <a:tc>
                  <a:txBody>
                    <a:bodyPr/>
                    <a:lstStyle/>
                    <a:p>
                      <a:pPr algn="ctr" fontAlgn="ctr"/>
                      <a:r>
                        <a:rPr lang="en-US" altLang="zh-CN" sz="1300" u="none" strike="noStrike">
                          <a:solidFill>
                            <a:schemeClr val="tx1">
                              <a:lumMod val="50000"/>
                            </a:schemeClr>
                          </a:solidFill>
                          <a:effectLst/>
                          <a:latin typeface="微软雅黑" pitchFamily="34" charset="-122"/>
                          <a:ea typeface="微软雅黑" pitchFamily="34" charset="-122"/>
                        </a:rPr>
                        <a:t>3</a:t>
                      </a:r>
                      <a:endParaRPr lang="en-US" altLang="zh-CN" sz="1300" b="0" i="0" u="none" strike="noStrike">
                        <a:solidFill>
                          <a:schemeClr val="tx1">
                            <a:lumMod val="50000"/>
                          </a:schemeClr>
                        </a:solidFill>
                        <a:effectLst/>
                        <a:latin typeface="微软雅黑" pitchFamily="34" charset="-122"/>
                        <a:ea typeface="微软雅黑" pitchFamily="34" charset="-122"/>
                      </a:endParaRPr>
                    </a:p>
                  </a:txBody>
                  <a:tcPr marL="8166" marR="8166" marT="8166" marB="0" anchor="ctr">
                    <a:solidFill>
                      <a:schemeClr val="tx2">
                        <a:lumMod val="20000"/>
                        <a:lumOff val="80000"/>
                      </a:schemeClr>
                    </a:solidFill>
                  </a:tcPr>
                </a:tc>
                <a:tc>
                  <a:txBody>
                    <a:bodyPr/>
                    <a:lstStyle/>
                    <a:p>
                      <a:pPr algn="ctr" fontAlgn="ctr"/>
                      <a:r>
                        <a:rPr lang="en-US" altLang="zh-CN" sz="1300" u="none" strike="noStrike">
                          <a:solidFill>
                            <a:schemeClr val="tx1">
                              <a:lumMod val="50000"/>
                            </a:schemeClr>
                          </a:solidFill>
                          <a:effectLst/>
                          <a:latin typeface="微软雅黑" pitchFamily="34" charset="-122"/>
                          <a:ea typeface="微软雅黑" pitchFamily="34" charset="-122"/>
                        </a:rPr>
                        <a:t>3</a:t>
                      </a:r>
                      <a:endParaRPr lang="en-US" altLang="zh-CN" sz="1300" b="0" i="0" u="none" strike="noStrike">
                        <a:solidFill>
                          <a:schemeClr val="tx1">
                            <a:lumMod val="50000"/>
                          </a:schemeClr>
                        </a:solidFill>
                        <a:effectLst/>
                        <a:latin typeface="微软雅黑" pitchFamily="34" charset="-122"/>
                        <a:ea typeface="微软雅黑" pitchFamily="34" charset="-122"/>
                      </a:endParaRPr>
                    </a:p>
                  </a:txBody>
                  <a:tcPr marL="8166" marR="8166" marT="8166" marB="0" anchor="ctr">
                    <a:solidFill>
                      <a:schemeClr val="tx2">
                        <a:lumMod val="20000"/>
                        <a:lumOff val="80000"/>
                      </a:schemeClr>
                    </a:solidFill>
                  </a:tcPr>
                </a:tc>
                <a:tc>
                  <a:txBody>
                    <a:bodyPr/>
                    <a:lstStyle/>
                    <a:p>
                      <a:pPr algn="ctr" fontAlgn="ctr"/>
                      <a:r>
                        <a:rPr lang="en-US" altLang="zh-CN" sz="1300" u="none" strike="noStrike" dirty="0">
                          <a:solidFill>
                            <a:schemeClr val="tx1">
                              <a:lumMod val="50000"/>
                            </a:schemeClr>
                          </a:solidFill>
                          <a:effectLst/>
                          <a:latin typeface="微软雅黑" pitchFamily="34" charset="-122"/>
                          <a:ea typeface="微软雅黑" pitchFamily="34" charset="-122"/>
                        </a:rPr>
                        <a:t>10.5</a:t>
                      </a:r>
                      <a:endParaRPr lang="en-US" altLang="zh-CN" sz="1300" b="0" i="0" u="none" strike="noStrike" dirty="0">
                        <a:solidFill>
                          <a:schemeClr val="tx1">
                            <a:lumMod val="50000"/>
                          </a:schemeClr>
                        </a:solidFill>
                        <a:effectLst/>
                        <a:latin typeface="微软雅黑" pitchFamily="34" charset="-122"/>
                        <a:ea typeface="微软雅黑" pitchFamily="34" charset="-122"/>
                      </a:endParaRPr>
                    </a:p>
                  </a:txBody>
                  <a:tcPr marL="8166" marR="8166" marT="8166" marB="0" anchor="ctr">
                    <a:solidFill>
                      <a:schemeClr val="tx2">
                        <a:lumMod val="20000"/>
                        <a:lumOff val="80000"/>
                      </a:schemeClr>
                    </a:solidFill>
                  </a:tcPr>
                </a:tc>
                <a:tc>
                  <a:txBody>
                    <a:bodyPr/>
                    <a:lstStyle/>
                    <a:p>
                      <a:pPr algn="ctr" fontAlgn="ctr"/>
                      <a:r>
                        <a:rPr lang="en-US" altLang="zh-CN" sz="1300" u="none" strike="noStrike" dirty="0">
                          <a:solidFill>
                            <a:schemeClr val="tx1">
                              <a:lumMod val="50000"/>
                            </a:schemeClr>
                          </a:solidFill>
                          <a:effectLst/>
                          <a:latin typeface="微软雅黑" pitchFamily="34" charset="-122"/>
                          <a:ea typeface="微软雅黑" pitchFamily="34" charset="-122"/>
                        </a:rPr>
                        <a:t>10.3</a:t>
                      </a:r>
                      <a:endParaRPr lang="en-US" altLang="zh-CN" sz="1300" b="0" i="0" u="none" strike="noStrike" dirty="0">
                        <a:solidFill>
                          <a:schemeClr val="tx1">
                            <a:lumMod val="50000"/>
                          </a:schemeClr>
                        </a:solidFill>
                        <a:effectLst/>
                        <a:latin typeface="微软雅黑" pitchFamily="34" charset="-122"/>
                        <a:ea typeface="微软雅黑" pitchFamily="34" charset="-122"/>
                      </a:endParaRPr>
                    </a:p>
                  </a:txBody>
                  <a:tcPr marL="8166" marR="8166" marT="8166" marB="0" anchor="ctr">
                    <a:solidFill>
                      <a:schemeClr val="tx2">
                        <a:lumMod val="20000"/>
                        <a:lumOff val="80000"/>
                      </a:schemeClr>
                    </a:solidFill>
                  </a:tcPr>
                </a:tc>
                <a:tc>
                  <a:txBody>
                    <a:bodyPr/>
                    <a:lstStyle/>
                    <a:p>
                      <a:pPr algn="ctr" fontAlgn="ctr"/>
                      <a:r>
                        <a:rPr lang="en-US" altLang="zh-CN" sz="1300" u="none" strike="noStrike" dirty="0">
                          <a:solidFill>
                            <a:schemeClr val="tx1">
                              <a:lumMod val="50000"/>
                            </a:schemeClr>
                          </a:solidFill>
                          <a:effectLst/>
                          <a:latin typeface="微软雅黑" pitchFamily="34" charset="-122"/>
                          <a:ea typeface="微软雅黑" pitchFamily="34" charset="-122"/>
                        </a:rPr>
                        <a:t>15.4</a:t>
                      </a:r>
                      <a:endParaRPr lang="en-US" altLang="zh-CN" sz="1300" b="0" i="0" u="none" strike="noStrike" dirty="0">
                        <a:solidFill>
                          <a:schemeClr val="tx1">
                            <a:lumMod val="50000"/>
                          </a:schemeClr>
                        </a:solidFill>
                        <a:effectLst/>
                        <a:latin typeface="微软雅黑" pitchFamily="34" charset="-122"/>
                        <a:ea typeface="微软雅黑" pitchFamily="34" charset="-122"/>
                      </a:endParaRPr>
                    </a:p>
                  </a:txBody>
                  <a:tcPr marL="8166" marR="8166" marT="8166" marB="0" anchor="ctr">
                    <a:solidFill>
                      <a:schemeClr val="tx2">
                        <a:lumMod val="20000"/>
                        <a:lumOff val="80000"/>
                      </a:schemeClr>
                    </a:solidFill>
                  </a:tcPr>
                </a:tc>
                <a:tc>
                  <a:txBody>
                    <a:bodyPr/>
                    <a:lstStyle/>
                    <a:p>
                      <a:pPr algn="ctr" fontAlgn="ctr"/>
                      <a:r>
                        <a:rPr lang="en-US" altLang="zh-CN" sz="1300" u="none" strike="noStrike" dirty="0">
                          <a:solidFill>
                            <a:schemeClr val="tx1">
                              <a:lumMod val="50000"/>
                            </a:schemeClr>
                          </a:solidFill>
                          <a:effectLst/>
                          <a:latin typeface="微软雅黑" pitchFamily="34" charset="-122"/>
                          <a:ea typeface="微软雅黑" pitchFamily="34" charset="-122"/>
                        </a:rPr>
                        <a:t>3114.4</a:t>
                      </a:r>
                      <a:endParaRPr lang="en-US" altLang="zh-CN" sz="1300" b="0" i="0" u="none" strike="noStrike" dirty="0">
                        <a:solidFill>
                          <a:schemeClr val="tx1">
                            <a:lumMod val="50000"/>
                          </a:schemeClr>
                        </a:solidFill>
                        <a:effectLst/>
                        <a:latin typeface="微软雅黑" pitchFamily="34" charset="-122"/>
                        <a:ea typeface="微软雅黑" pitchFamily="34" charset="-122"/>
                      </a:endParaRPr>
                    </a:p>
                  </a:txBody>
                  <a:tcPr marL="8166" marR="8166" marT="8166" marB="0" anchor="ctr">
                    <a:solidFill>
                      <a:schemeClr val="tx2">
                        <a:lumMod val="20000"/>
                        <a:lumOff val="80000"/>
                      </a:schemeClr>
                    </a:solidFill>
                  </a:tcPr>
                </a:tc>
                <a:tc>
                  <a:txBody>
                    <a:bodyPr/>
                    <a:lstStyle/>
                    <a:p>
                      <a:pPr algn="ctr" fontAlgn="ctr"/>
                      <a:r>
                        <a:rPr lang="en-US" altLang="zh-CN" sz="1300" u="none" strike="noStrike" dirty="0">
                          <a:solidFill>
                            <a:schemeClr val="tx1">
                              <a:lumMod val="50000"/>
                            </a:schemeClr>
                          </a:solidFill>
                          <a:effectLst/>
                          <a:latin typeface="微软雅黑" pitchFamily="34" charset="-122"/>
                          <a:ea typeface="微软雅黑" pitchFamily="34" charset="-122"/>
                        </a:rPr>
                        <a:t>3005.7</a:t>
                      </a:r>
                      <a:endParaRPr lang="en-US" altLang="zh-CN" sz="1300" b="0" i="0" u="none" strike="noStrike" dirty="0">
                        <a:solidFill>
                          <a:schemeClr val="tx1">
                            <a:lumMod val="50000"/>
                          </a:schemeClr>
                        </a:solidFill>
                        <a:effectLst/>
                        <a:latin typeface="微软雅黑" pitchFamily="34" charset="-122"/>
                        <a:ea typeface="微软雅黑" pitchFamily="34" charset="-122"/>
                      </a:endParaRPr>
                    </a:p>
                  </a:txBody>
                  <a:tcPr marL="8166" marR="8166" marT="8166" marB="0" anchor="ctr">
                    <a:solidFill>
                      <a:schemeClr val="tx2">
                        <a:lumMod val="20000"/>
                        <a:lumOff val="80000"/>
                      </a:schemeClr>
                    </a:solidFill>
                  </a:tcPr>
                </a:tc>
                <a:tc>
                  <a:txBody>
                    <a:bodyPr/>
                    <a:lstStyle/>
                    <a:p>
                      <a:pPr algn="ctr" fontAlgn="ctr"/>
                      <a:r>
                        <a:rPr lang="en-US" altLang="zh-CN" sz="1300" u="none" strike="noStrike" dirty="0">
                          <a:solidFill>
                            <a:schemeClr val="tx1">
                              <a:lumMod val="50000"/>
                            </a:schemeClr>
                          </a:solidFill>
                          <a:effectLst/>
                          <a:latin typeface="微软雅黑" pitchFamily="34" charset="-122"/>
                          <a:ea typeface="微软雅黑" pitchFamily="34" charset="-122"/>
                        </a:rPr>
                        <a:t>207.7</a:t>
                      </a:r>
                      <a:endParaRPr lang="en-US" altLang="zh-CN" sz="1300" b="0" i="0" u="none" strike="noStrike" dirty="0">
                        <a:solidFill>
                          <a:schemeClr val="tx1">
                            <a:lumMod val="50000"/>
                          </a:schemeClr>
                        </a:solidFill>
                        <a:effectLst/>
                        <a:latin typeface="微软雅黑" pitchFamily="34" charset="-122"/>
                        <a:ea typeface="微软雅黑" pitchFamily="34" charset="-122"/>
                      </a:endParaRPr>
                    </a:p>
                  </a:txBody>
                  <a:tcPr marL="8166" marR="8166" marT="8166" marB="0" anchor="ctr">
                    <a:solidFill>
                      <a:schemeClr val="tx2">
                        <a:lumMod val="20000"/>
                        <a:lumOff val="80000"/>
                      </a:schemeClr>
                    </a:solidFill>
                  </a:tcPr>
                </a:tc>
                <a:extLst>
                  <a:ext uri="{0D108BD9-81ED-4DB2-BD59-A6C34878D82A}">
                    <a16:rowId xmlns:a16="http://schemas.microsoft.com/office/drawing/2014/main" val="10003"/>
                  </a:ext>
                </a:extLst>
              </a:tr>
              <a:tr h="256504">
                <a:tc>
                  <a:txBody>
                    <a:bodyPr/>
                    <a:lstStyle/>
                    <a:p>
                      <a:pPr algn="ctr" fontAlgn="ctr"/>
                      <a:r>
                        <a:rPr lang="en-US" altLang="zh-CN" sz="1300" b="0" i="0" u="none" strike="noStrike" dirty="0">
                          <a:solidFill>
                            <a:schemeClr val="tx1">
                              <a:lumMod val="50000"/>
                            </a:schemeClr>
                          </a:solidFill>
                          <a:effectLst/>
                          <a:latin typeface="微软雅黑" pitchFamily="34" charset="-122"/>
                          <a:ea typeface="微软雅黑" pitchFamily="34" charset="-122"/>
                        </a:rPr>
                        <a:t>2016</a:t>
                      </a:r>
                      <a:r>
                        <a:rPr lang="zh-CN" altLang="en-US" sz="1300" b="0" i="0" u="none" strike="noStrike" dirty="0">
                          <a:solidFill>
                            <a:schemeClr val="tx1">
                              <a:lumMod val="50000"/>
                            </a:schemeClr>
                          </a:solidFill>
                          <a:effectLst/>
                          <a:latin typeface="微软雅黑" pitchFamily="34" charset="-122"/>
                          <a:ea typeface="微软雅黑" pitchFamily="34" charset="-122"/>
                        </a:rPr>
                        <a:t>年</a:t>
                      </a:r>
                      <a:r>
                        <a:rPr lang="en-US" altLang="zh-CN" sz="1300" b="0" i="0" u="none" strike="noStrike" dirty="0">
                          <a:solidFill>
                            <a:schemeClr val="tx1">
                              <a:lumMod val="50000"/>
                            </a:schemeClr>
                          </a:solidFill>
                          <a:effectLst/>
                          <a:latin typeface="微软雅黑" pitchFamily="34" charset="-122"/>
                          <a:ea typeface="微软雅黑" pitchFamily="34" charset="-122"/>
                        </a:rPr>
                        <a:t>1-9</a:t>
                      </a:r>
                      <a:r>
                        <a:rPr lang="zh-CN" altLang="en-US" sz="1300" b="0" i="0" u="none" strike="noStrike" dirty="0">
                          <a:solidFill>
                            <a:schemeClr val="tx1">
                              <a:lumMod val="50000"/>
                            </a:schemeClr>
                          </a:solidFill>
                          <a:effectLst/>
                          <a:latin typeface="微软雅黑" pitchFamily="34" charset="-122"/>
                          <a:ea typeface="微软雅黑" pitchFamily="34" charset="-122"/>
                        </a:rPr>
                        <a:t>月</a:t>
                      </a:r>
                    </a:p>
                  </a:txBody>
                  <a:tcPr marL="8166" marR="8166" marT="8166" marB="0" anchor="ctr">
                    <a:solidFill>
                      <a:schemeClr val="tx2">
                        <a:lumMod val="20000"/>
                        <a:lumOff val="80000"/>
                      </a:schemeClr>
                    </a:solidFill>
                  </a:tcPr>
                </a:tc>
                <a:tc>
                  <a:txBody>
                    <a:bodyPr/>
                    <a:lstStyle/>
                    <a:p>
                      <a:pPr algn="ctr" fontAlgn="ctr"/>
                      <a:r>
                        <a:rPr lang="en-US" altLang="zh-CN" sz="1300" b="0" i="0" u="none" strike="noStrike" dirty="0">
                          <a:solidFill>
                            <a:schemeClr val="tx1">
                              <a:lumMod val="50000"/>
                            </a:schemeClr>
                          </a:solidFill>
                          <a:effectLst/>
                          <a:latin typeface="微软雅黑" pitchFamily="34" charset="-122"/>
                          <a:ea typeface="微软雅黑" pitchFamily="34" charset="-122"/>
                        </a:rPr>
                        <a:t>0</a:t>
                      </a:r>
                    </a:p>
                  </a:txBody>
                  <a:tcPr marL="8166" marR="8166" marT="8166" marB="0" anchor="ctr">
                    <a:solidFill>
                      <a:schemeClr val="tx2">
                        <a:lumMod val="20000"/>
                        <a:lumOff val="80000"/>
                      </a:schemeClr>
                    </a:solidFill>
                  </a:tcPr>
                </a:tc>
                <a:tc>
                  <a:txBody>
                    <a:bodyPr/>
                    <a:lstStyle/>
                    <a:p>
                      <a:pPr algn="ctr" fontAlgn="ctr"/>
                      <a:r>
                        <a:rPr lang="en-US" altLang="zh-CN" sz="1300" b="0" i="0" u="none" strike="noStrike" dirty="0">
                          <a:solidFill>
                            <a:schemeClr val="tx1">
                              <a:lumMod val="50000"/>
                            </a:schemeClr>
                          </a:solidFill>
                          <a:effectLst/>
                          <a:latin typeface="微软雅黑" pitchFamily="34" charset="-122"/>
                          <a:ea typeface="微软雅黑" pitchFamily="34" charset="-122"/>
                        </a:rPr>
                        <a:t>0</a:t>
                      </a:r>
                    </a:p>
                  </a:txBody>
                  <a:tcPr marL="8166" marR="8166" marT="8166" marB="0" anchor="ctr">
                    <a:solidFill>
                      <a:schemeClr val="tx2">
                        <a:lumMod val="20000"/>
                        <a:lumOff val="80000"/>
                      </a:schemeClr>
                    </a:solidFill>
                  </a:tcPr>
                </a:tc>
                <a:tc>
                  <a:txBody>
                    <a:bodyPr/>
                    <a:lstStyle/>
                    <a:p>
                      <a:pPr algn="ctr" fontAlgn="ctr"/>
                      <a:r>
                        <a:rPr lang="en-US" altLang="zh-CN" sz="1300" b="0" i="0" u="none" strike="noStrike" dirty="0">
                          <a:solidFill>
                            <a:schemeClr val="tx1">
                              <a:lumMod val="50000"/>
                            </a:schemeClr>
                          </a:solidFill>
                          <a:effectLst/>
                          <a:latin typeface="微软雅黑" pitchFamily="34" charset="-122"/>
                          <a:ea typeface="微软雅黑" pitchFamily="34" charset="-122"/>
                        </a:rPr>
                        <a:t>0</a:t>
                      </a:r>
                    </a:p>
                  </a:txBody>
                  <a:tcPr marL="8166" marR="8166" marT="8166" marB="0" anchor="ctr">
                    <a:solidFill>
                      <a:schemeClr val="tx2">
                        <a:lumMod val="20000"/>
                        <a:lumOff val="80000"/>
                      </a:schemeClr>
                    </a:solidFill>
                  </a:tcPr>
                </a:tc>
                <a:tc>
                  <a:txBody>
                    <a:bodyPr/>
                    <a:lstStyle/>
                    <a:p>
                      <a:pPr algn="ctr" fontAlgn="ctr"/>
                      <a:r>
                        <a:rPr lang="en-US" altLang="zh-CN" sz="1300" b="0" i="0" u="none" strike="noStrike" dirty="0">
                          <a:solidFill>
                            <a:schemeClr val="tx1">
                              <a:lumMod val="50000"/>
                            </a:schemeClr>
                          </a:solidFill>
                          <a:effectLst/>
                          <a:latin typeface="微软雅黑" pitchFamily="34" charset="-122"/>
                          <a:ea typeface="微软雅黑" pitchFamily="34" charset="-122"/>
                        </a:rPr>
                        <a:t>0</a:t>
                      </a:r>
                    </a:p>
                  </a:txBody>
                  <a:tcPr marL="8166" marR="8166" marT="8166" marB="0" anchor="ctr">
                    <a:solidFill>
                      <a:schemeClr val="tx2">
                        <a:lumMod val="20000"/>
                        <a:lumOff val="80000"/>
                      </a:schemeClr>
                    </a:solidFill>
                  </a:tcPr>
                </a:tc>
                <a:tc>
                  <a:txBody>
                    <a:bodyPr/>
                    <a:lstStyle/>
                    <a:p>
                      <a:pPr algn="ctr" fontAlgn="ctr"/>
                      <a:r>
                        <a:rPr lang="en-US" altLang="zh-CN" sz="1300" b="0" i="0" u="none" strike="noStrike" dirty="0">
                          <a:solidFill>
                            <a:schemeClr val="tx1">
                              <a:lumMod val="50000"/>
                            </a:schemeClr>
                          </a:solidFill>
                          <a:effectLst/>
                          <a:latin typeface="微软雅黑" pitchFamily="34" charset="-122"/>
                          <a:ea typeface="微软雅黑" pitchFamily="34" charset="-122"/>
                        </a:rPr>
                        <a:t>0</a:t>
                      </a:r>
                    </a:p>
                  </a:txBody>
                  <a:tcPr marL="8166" marR="8166" marT="8166" marB="0" anchor="ctr">
                    <a:solidFill>
                      <a:schemeClr val="tx2">
                        <a:lumMod val="20000"/>
                        <a:lumOff val="80000"/>
                      </a:schemeClr>
                    </a:solidFill>
                  </a:tcPr>
                </a:tc>
                <a:tc>
                  <a:txBody>
                    <a:bodyPr/>
                    <a:lstStyle/>
                    <a:p>
                      <a:pPr algn="ctr" fontAlgn="ctr"/>
                      <a:r>
                        <a:rPr lang="en-US" altLang="zh-CN" sz="1300" b="0" i="0" u="none" strike="noStrike" dirty="0">
                          <a:solidFill>
                            <a:schemeClr val="tx1">
                              <a:lumMod val="50000"/>
                            </a:schemeClr>
                          </a:solidFill>
                          <a:effectLst/>
                          <a:latin typeface="微软雅黑" pitchFamily="34" charset="-122"/>
                          <a:ea typeface="微软雅黑" pitchFamily="34" charset="-122"/>
                        </a:rPr>
                        <a:t>0</a:t>
                      </a:r>
                    </a:p>
                  </a:txBody>
                  <a:tcPr marL="8166" marR="8166" marT="8166" marB="0" anchor="ctr">
                    <a:solidFill>
                      <a:schemeClr val="tx2">
                        <a:lumMod val="20000"/>
                        <a:lumOff val="80000"/>
                      </a:schemeClr>
                    </a:solidFill>
                  </a:tcPr>
                </a:tc>
                <a:tc>
                  <a:txBody>
                    <a:bodyPr/>
                    <a:lstStyle/>
                    <a:p>
                      <a:pPr algn="ctr" fontAlgn="ctr"/>
                      <a:r>
                        <a:rPr lang="en-US" altLang="zh-CN" sz="1300" b="0" i="0" u="none" strike="noStrike" dirty="0">
                          <a:solidFill>
                            <a:schemeClr val="tx1">
                              <a:lumMod val="50000"/>
                            </a:schemeClr>
                          </a:solidFill>
                          <a:effectLst/>
                          <a:latin typeface="微软雅黑" pitchFamily="34" charset="-122"/>
                          <a:ea typeface="微软雅黑" pitchFamily="34" charset="-122"/>
                        </a:rPr>
                        <a:t>0</a:t>
                      </a:r>
                    </a:p>
                  </a:txBody>
                  <a:tcPr marL="8166" marR="8166" marT="8166" marB="0" anchor="ctr">
                    <a:solidFill>
                      <a:schemeClr val="tx2">
                        <a:lumMod val="20000"/>
                        <a:lumOff val="80000"/>
                      </a:schemeClr>
                    </a:solidFill>
                  </a:tcPr>
                </a:tc>
                <a:tc>
                  <a:txBody>
                    <a:bodyPr/>
                    <a:lstStyle/>
                    <a:p>
                      <a:pPr algn="ctr" fontAlgn="ctr"/>
                      <a:r>
                        <a:rPr lang="en-US" altLang="zh-CN" sz="1300" b="0" i="0" u="none" strike="noStrike" dirty="0">
                          <a:solidFill>
                            <a:schemeClr val="tx1">
                              <a:lumMod val="50000"/>
                            </a:schemeClr>
                          </a:solidFill>
                          <a:effectLst/>
                          <a:latin typeface="微软雅黑" pitchFamily="34" charset="-122"/>
                          <a:ea typeface="微软雅黑" pitchFamily="34" charset="-122"/>
                        </a:rPr>
                        <a:t>0</a:t>
                      </a:r>
                    </a:p>
                  </a:txBody>
                  <a:tcPr marL="8166" marR="8166" marT="8166" marB="0" anchor="ctr">
                    <a:solidFill>
                      <a:schemeClr val="tx2">
                        <a:lumMod val="20000"/>
                        <a:lumOff val="80000"/>
                      </a:schemeClr>
                    </a:solidFill>
                  </a:tcPr>
                </a:tc>
                <a:tc>
                  <a:txBody>
                    <a:bodyPr/>
                    <a:lstStyle/>
                    <a:p>
                      <a:pPr algn="ctr" fontAlgn="ctr"/>
                      <a:r>
                        <a:rPr lang="en-US" altLang="zh-CN" sz="1300" b="0" i="0" u="none" strike="noStrike" dirty="0">
                          <a:solidFill>
                            <a:schemeClr val="tx1">
                              <a:lumMod val="50000"/>
                            </a:schemeClr>
                          </a:solidFill>
                          <a:effectLst/>
                          <a:latin typeface="微软雅黑" pitchFamily="34" charset="-122"/>
                          <a:ea typeface="微软雅黑" pitchFamily="34" charset="-122"/>
                        </a:rPr>
                        <a:t>0</a:t>
                      </a:r>
                    </a:p>
                  </a:txBody>
                  <a:tcPr marL="8166" marR="8166" marT="8166" marB="0" anchor="ctr">
                    <a:solidFill>
                      <a:schemeClr val="tx2">
                        <a:lumMod val="20000"/>
                        <a:lumOff val="80000"/>
                      </a:schemeClr>
                    </a:solidFill>
                  </a:tcPr>
                </a:tc>
                <a:extLst>
                  <a:ext uri="{0D108BD9-81ED-4DB2-BD59-A6C34878D82A}">
                    <a16:rowId xmlns:a16="http://schemas.microsoft.com/office/drawing/2014/main" val="10004"/>
                  </a:ext>
                </a:extLst>
              </a:tr>
            </a:tbl>
          </a:graphicData>
        </a:graphic>
      </p:graphicFrame>
      <p:sp>
        <p:nvSpPr>
          <p:cNvPr id="14" name="TextBox 13"/>
          <p:cNvSpPr txBox="1"/>
          <p:nvPr/>
        </p:nvSpPr>
        <p:spPr>
          <a:xfrm>
            <a:off x="498764" y="1829638"/>
            <a:ext cx="3013765" cy="1569660"/>
          </a:xfrm>
          <a:prstGeom prst="rect">
            <a:avLst/>
          </a:prstGeom>
          <a:noFill/>
        </p:spPr>
        <p:txBody>
          <a:bodyPr wrap="square" rtlCol="0">
            <a:spAutoFit/>
          </a:bodyPr>
          <a:lstStyle/>
          <a:p>
            <a:pPr indent="457200" algn="just">
              <a:lnSpc>
                <a:spcPct val="150000"/>
              </a:lnSpc>
            </a:pPr>
            <a:r>
              <a:rPr lang="zh-CN" altLang="en-US" sz="1600" dirty="0">
                <a:solidFill>
                  <a:schemeClr val="tx1">
                    <a:lumMod val="50000"/>
                  </a:schemeClr>
                </a:solidFill>
                <a:latin typeface="微软雅黑" pitchFamily="34" charset="-122"/>
                <a:ea typeface="微软雅黑" pitchFamily="34" charset="-122"/>
              </a:rPr>
              <a:t>燕郊</a:t>
            </a:r>
            <a:r>
              <a:rPr lang="zh-CN" altLang="en-US" sz="1600" b="1" dirty="0">
                <a:solidFill>
                  <a:srgbClr val="C00000"/>
                </a:solidFill>
                <a:latin typeface="微软雅黑" pitchFamily="34" charset="-122"/>
                <a:ea typeface="微软雅黑" pitchFamily="34" charset="-122"/>
              </a:rPr>
              <a:t>本年度无住宅用地的供应计划</a:t>
            </a:r>
            <a:r>
              <a:rPr lang="zh-CN" altLang="en-US" sz="1600" dirty="0">
                <a:solidFill>
                  <a:schemeClr val="tx1">
                    <a:lumMod val="50000"/>
                  </a:schemeClr>
                </a:solidFill>
                <a:latin typeface="微软雅黑" pitchFamily="34" charset="-122"/>
                <a:ea typeface="微软雅黑" pitchFamily="34" charset="-122"/>
              </a:rPr>
              <a:t>，而商办用地计划供应</a:t>
            </a:r>
            <a:r>
              <a:rPr lang="en-US" altLang="zh-CN" sz="1600" dirty="0">
                <a:solidFill>
                  <a:schemeClr val="tx1">
                    <a:lumMod val="50000"/>
                  </a:schemeClr>
                </a:solidFill>
                <a:latin typeface="微软雅黑" pitchFamily="34" charset="-122"/>
                <a:ea typeface="微软雅黑" pitchFamily="34" charset="-122"/>
              </a:rPr>
              <a:t>60.1</a:t>
            </a:r>
            <a:r>
              <a:rPr lang="zh-CN" altLang="en-US" sz="1600" dirty="0">
                <a:solidFill>
                  <a:schemeClr val="tx1">
                    <a:lumMod val="50000"/>
                  </a:schemeClr>
                </a:solidFill>
                <a:latin typeface="微软雅黑" pitchFamily="34" charset="-122"/>
                <a:ea typeface="微软雅黑" pitchFamily="34" charset="-122"/>
              </a:rPr>
              <a:t>万㎡，暂时尚未出现土地供应。</a:t>
            </a:r>
            <a:endParaRPr lang="en-US" altLang="zh-CN" sz="1600" dirty="0">
              <a:solidFill>
                <a:schemeClr val="tx1">
                  <a:lumMod val="50000"/>
                </a:schemeClr>
              </a:solidFill>
              <a:latin typeface="微软雅黑" pitchFamily="34" charset="-122"/>
              <a:ea typeface="微软雅黑" pitchFamily="34" charset="-122"/>
            </a:endParaRPr>
          </a:p>
        </p:txBody>
      </p:sp>
      <p:sp>
        <p:nvSpPr>
          <p:cNvPr id="15" name="文本占位符 2"/>
          <p:cNvSpPr txBox="1">
            <a:spLocks/>
          </p:cNvSpPr>
          <p:nvPr/>
        </p:nvSpPr>
        <p:spPr>
          <a:xfrm>
            <a:off x="162371" y="958785"/>
            <a:ext cx="4494511" cy="454025"/>
          </a:xfrm>
          <a:prstGeom prst="rect">
            <a:avLst/>
          </a:prstGeom>
        </p:spPr>
        <p:txBody>
          <a:bodyPr vert="horz"/>
          <a:lstStyle>
            <a:lvl1pPr marL="0" indent="0" algn="l" defTabSz="457200" rtl="0" eaLnBrk="1" latinLnBrk="0" hangingPunct="1">
              <a:spcBef>
                <a:spcPct val="20000"/>
              </a:spcBef>
              <a:buFont typeface="Arial"/>
              <a:buNone/>
              <a:defRPr sz="1600" kern="1200">
                <a:solidFill>
                  <a:schemeClr val="tx1">
                    <a:lumMod val="75000"/>
                    <a:lumOff val="25000"/>
                  </a:schemeClr>
                </a:solidFill>
                <a:latin typeface="Microsoft YaHei"/>
                <a:ea typeface="+mn-ea"/>
                <a:cs typeface="Microsoft YaHei"/>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85750" indent="-285750">
              <a:buClr>
                <a:schemeClr val="tx1"/>
              </a:buClr>
              <a:buFont typeface="Wingdings" pitchFamily="2" charset="2"/>
              <a:buChar char="Ø"/>
            </a:pPr>
            <a:r>
              <a:rPr lang="zh-CN" altLang="en-US" sz="1800" b="1" dirty="0">
                <a:solidFill>
                  <a:schemeClr val="tx1"/>
                </a:solidFill>
                <a:latin typeface="微软雅黑" pitchFamily="34" charset="-122"/>
                <a:ea typeface="微软雅黑" pitchFamily="34" charset="-122"/>
              </a:rPr>
              <a:t>土地市场：暂无供应和成交</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81495" y="1617544"/>
            <a:ext cx="4870450" cy="2481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644058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燕郊</a:t>
            </a:r>
            <a:r>
              <a:rPr lang="en-US" altLang="zh-CN" dirty="0"/>
              <a:t>| </a:t>
            </a:r>
            <a:r>
              <a:rPr lang="zh-CN" altLang="en-US" sz="1800" dirty="0">
                <a:solidFill>
                  <a:schemeClr val="tx1">
                    <a:lumMod val="75000"/>
                    <a:lumOff val="25000"/>
                  </a:schemeClr>
                </a:solidFill>
              </a:rPr>
              <a:t>商品房市场</a:t>
            </a:r>
            <a:endParaRPr lang="zh-CN" altLang="en-US" sz="1800" dirty="0"/>
          </a:p>
        </p:txBody>
      </p:sp>
      <p:sp>
        <p:nvSpPr>
          <p:cNvPr id="4" name="灯片编号占位符 3"/>
          <p:cNvSpPr>
            <a:spLocks noGrp="1"/>
          </p:cNvSpPr>
          <p:nvPr>
            <p:ph type="sldNum" sz="quarter" idx="4"/>
          </p:nvPr>
        </p:nvSpPr>
        <p:spPr/>
        <p:txBody>
          <a:bodyPr/>
          <a:lstStyle/>
          <a:p>
            <a:pPr>
              <a:defRPr/>
            </a:pPr>
            <a:fld id="{3E8B6F27-EC4F-B34E-9F32-10CC92E9AB18}" type="slidenum">
              <a:rPr lang="zh-CN" altLang="en-US" smtClean="0"/>
              <a:pPr>
                <a:defRPr/>
              </a:pPr>
              <a:t>49</a:t>
            </a:fld>
            <a:endParaRPr lang="zh-CN" altLang="en-US" dirty="0"/>
          </a:p>
        </p:txBody>
      </p:sp>
      <p:sp>
        <p:nvSpPr>
          <p:cNvPr id="6" name="文本占位符 2"/>
          <p:cNvSpPr txBox="1">
            <a:spLocks/>
          </p:cNvSpPr>
          <p:nvPr/>
        </p:nvSpPr>
        <p:spPr>
          <a:xfrm>
            <a:off x="302071" y="895061"/>
            <a:ext cx="8113135" cy="454025"/>
          </a:xfrm>
          <a:prstGeom prst="rect">
            <a:avLst/>
          </a:prstGeom>
        </p:spPr>
        <p:txBody>
          <a:bodyPr vert="horz" anchor="ctr"/>
          <a:lstStyle>
            <a:lvl1pPr marL="0" indent="0" algn="l" defTabSz="457200" rtl="0" eaLnBrk="1" latinLnBrk="0" hangingPunct="1">
              <a:spcBef>
                <a:spcPct val="20000"/>
              </a:spcBef>
              <a:buFont typeface="Arial"/>
              <a:buNone/>
              <a:defRPr sz="1600" kern="1200">
                <a:solidFill>
                  <a:schemeClr val="tx1">
                    <a:lumMod val="75000"/>
                    <a:lumOff val="25000"/>
                  </a:schemeClr>
                </a:solidFill>
                <a:latin typeface="Microsoft YaHei"/>
                <a:ea typeface="+mn-ea"/>
                <a:cs typeface="Microsoft YaHei"/>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85750" indent="-285750">
              <a:buClr>
                <a:schemeClr val="tx1"/>
              </a:buClr>
              <a:buFont typeface="Wingdings" pitchFamily="2" charset="2"/>
              <a:buChar char="Ø"/>
            </a:pPr>
            <a:r>
              <a:rPr lang="zh-CN" altLang="en-US" sz="1800" b="1" dirty="0">
                <a:solidFill>
                  <a:schemeClr val="tx1"/>
                </a:solidFill>
                <a:latin typeface="微软雅黑" pitchFamily="34" charset="-122"/>
                <a:ea typeface="微软雅黑" pitchFamily="34" charset="-122"/>
              </a:rPr>
              <a:t>商品房：价格高位稳定，去化周期不足</a:t>
            </a:r>
            <a:r>
              <a:rPr lang="en-US" altLang="zh-CN" sz="1800" b="1" dirty="0">
                <a:solidFill>
                  <a:schemeClr val="tx1"/>
                </a:solidFill>
                <a:latin typeface="微软雅黑" pitchFamily="34" charset="-122"/>
                <a:ea typeface="微软雅黑" pitchFamily="34" charset="-122"/>
              </a:rPr>
              <a:t>1</a:t>
            </a:r>
            <a:r>
              <a:rPr lang="zh-CN" altLang="en-US" sz="1800" b="1" dirty="0">
                <a:solidFill>
                  <a:schemeClr val="tx1"/>
                </a:solidFill>
                <a:latin typeface="微软雅黑" pitchFamily="34" charset="-122"/>
                <a:ea typeface="微软雅黑" pitchFamily="34" charset="-122"/>
              </a:rPr>
              <a:t>个月</a:t>
            </a:r>
          </a:p>
        </p:txBody>
      </p:sp>
      <p:graphicFrame>
        <p:nvGraphicFramePr>
          <p:cNvPr id="8" name="图表 7"/>
          <p:cNvGraphicFramePr>
            <a:graphicFrameLocks/>
          </p:cNvGraphicFramePr>
          <p:nvPr>
            <p:extLst>
              <p:ext uri="{D42A27DB-BD31-4B8C-83A1-F6EECF244321}">
                <p14:modId xmlns:p14="http://schemas.microsoft.com/office/powerpoint/2010/main" val="4157441903"/>
              </p:ext>
            </p:extLst>
          </p:nvPr>
        </p:nvGraphicFramePr>
        <p:xfrm>
          <a:off x="1011977" y="1562953"/>
          <a:ext cx="7156782" cy="24765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图表 8"/>
          <p:cNvGraphicFramePr>
            <a:graphicFrameLocks/>
          </p:cNvGraphicFramePr>
          <p:nvPr>
            <p:extLst>
              <p:ext uri="{D42A27DB-BD31-4B8C-83A1-F6EECF244321}">
                <p14:modId xmlns:p14="http://schemas.microsoft.com/office/powerpoint/2010/main" val="3612102783"/>
              </p:ext>
            </p:extLst>
          </p:nvPr>
        </p:nvGraphicFramePr>
        <p:xfrm>
          <a:off x="1011977" y="4244675"/>
          <a:ext cx="7156782" cy="24768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8588661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燕郊</a:t>
            </a:r>
            <a:r>
              <a:rPr lang="en-US" altLang="zh-CN" dirty="0"/>
              <a:t>| </a:t>
            </a:r>
            <a:r>
              <a:rPr lang="zh-CN" altLang="en-US" sz="1800" dirty="0">
                <a:solidFill>
                  <a:schemeClr val="tx1">
                    <a:lumMod val="75000"/>
                    <a:lumOff val="25000"/>
                  </a:schemeClr>
                </a:solidFill>
              </a:rPr>
              <a:t>商品住宅市场</a:t>
            </a:r>
            <a:endParaRPr lang="zh-CN" altLang="en-US" sz="1800" dirty="0"/>
          </a:p>
        </p:txBody>
      </p:sp>
      <p:sp>
        <p:nvSpPr>
          <p:cNvPr id="4" name="灯片编号占位符 3"/>
          <p:cNvSpPr>
            <a:spLocks noGrp="1"/>
          </p:cNvSpPr>
          <p:nvPr>
            <p:ph type="sldNum" sz="quarter" idx="4"/>
          </p:nvPr>
        </p:nvSpPr>
        <p:spPr/>
        <p:txBody>
          <a:bodyPr/>
          <a:lstStyle/>
          <a:p>
            <a:pPr>
              <a:defRPr/>
            </a:pPr>
            <a:fld id="{3E8B6F27-EC4F-B34E-9F32-10CC92E9AB18}" type="slidenum">
              <a:rPr lang="zh-CN" altLang="en-US" smtClean="0"/>
              <a:pPr>
                <a:defRPr/>
              </a:pPr>
              <a:t>50</a:t>
            </a:fld>
            <a:endParaRPr lang="zh-CN" altLang="en-US" dirty="0"/>
          </a:p>
        </p:txBody>
      </p:sp>
      <p:sp>
        <p:nvSpPr>
          <p:cNvPr id="8" name="文本占位符 2"/>
          <p:cNvSpPr txBox="1">
            <a:spLocks/>
          </p:cNvSpPr>
          <p:nvPr/>
        </p:nvSpPr>
        <p:spPr>
          <a:xfrm>
            <a:off x="421265" y="737899"/>
            <a:ext cx="7262235" cy="454025"/>
          </a:xfrm>
          <a:prstGeom prst="rect">
            <a:avLst/>
          </a:prstGeom>
        </p:spPr>
        <p:txBody>
          <a:bodyPr vert="horz" anchor="ctr"/>
          <a:lstStyle>
            <a:lvl1pPr marL="0" indent="0" algn="l" defTabSz="457200" rtl="0" eaLnBrk="1" latinLnBrk="0" hangingPunct="1">
              <a:spcBef>
                <a:spcPct val="20000"/>
              </a:spcBef>
              <a:buFont typeface="Arial"/>
              <a:buNone/>
              <a:defRPr sz="1600" kern="1200">
                <a:solidFill>
                  <a:schemeClr val="tx1">
                    <a:lumMod val="75000"/>
                    <a:lumOff val="25000"/>
                  </a:schemeClr>
                </a:solidFill>
                <a:latin typeface="Microsoft YaHei"/>
                <a:ea typeface="+mn-ea"/>
                <a:cs typeface="Microsoft YaHei"/>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85750" indent="-285750">
              <a:buClr>
                <a:schemeClr val="tx1"/>
              </a:buClr>
              <a:buFont typeface="Wingdings" pitchFamily="2" charset="2"/>
              <a:buChar char="Ø"/>
            </a:pPr>
            <a:r>
              <a:rPr lang="zh-CN" altLang="en-US" sz="1800" b="1" dirty="0">
                <a:solidFill>
                  <a:schemeClr val="tx1"/>
                </a:solidFill>
                <a:latin typeface="微软雅黑" pitchFamily="34" charset="-122"/>
                <a:ea typeface="微软雅黑" pitchFamily="34" charset="-122"/>
              </a:rPr>
              <a:t>商品住宅：</a:t>
            </a:r>
            <a:r>
              <a:rPr lang="en-US" altLang="zh-CN" sz="1800" b="1" dirty="0">
                <a:solidFill>
                  <a:schemeClr val="tx1"/>
                </a:solidFill>
                <a:latin typeface="微软雅黑" pitchFamily="34" charset="-122"/>
                <a:ea typeface="微软雅黑" pitchFamily="34" charset="-122"/>
              </a:rPr>
              <a:t>8</a:t>
            </a:r>
            <a:r>
              <a:rPr lang="zh-CN" altLang="en-US" sz="1800" b="1" dirty="0">
                <a:solidFill>
                  <a:schemeClr val="tx1"/>
                </a:solidFill>
                <a:latin typeface="微软雅黑" pitchFamily="34" charset="-122"/>
                <a:ea typeface="微软雅黑" pitchFamily="34" charset="-122"/>
              </a:rPr>
              <a:t>月成交均为住宅，总价低于</a:t>
            </a:r>
            <a:r>
              <a:rPr lang="en-US" altLang="zh-CN" sz="1800" b="1" dirty="0">
                <a:solidFill>
                  <a:schemeClr val="tx1"/>
                </a:solidFill>
                <a:latin typeface="微软雅黑" pitchFamily="34" charset="-122"/>
                <a:ea typeface="微软雅黑" pitchFamily="34" charset="-122"/>
              </a:rPr>
              <a:t>100</a:t>
            </a:r>
            <a:r>
              <a:rPr lang="zh-CN" altLang="en-US" sz="1800" b="1" dirty="0">
                <a:solidFill>
                  <a:schemeClr val="tx1"/>
                </a:solidFill>
                <a:latin typeface="微软雅黑" pitchFamily="34" charset="-122"/>
                <a:ea typeface="微软雅黑" pitchFamily="34" charset="-122"/>
              </a:rPr>
              <a:t>万的仅占</a:t>
            </a:r>
            <a:r>
              <a:rPr lang="en-US" altLang="zh-CN" sz="1800" b="1" dirty="0">
                <a:solidFill>
                  <a:schemeClr val="tx1"/>
                </a:solidFill>
                <a:latin typeface="微软雅黑" pitchFamily="34" charset="-122"/>
                <a:ea typeface="微软雅黑" pitchFamily="34" charset="-122"/>
              </a:rPr>
              <a:t>12%</a:t>
            </a:r>
            <a:endParaRPr lang="zh-CN" altLang="en-US" sz="1800" b="1" dirty="0">
              <a:solidFill>
                <a:schemeClr val="tx1"/>
              </a:solidFill>
              <a:latin typeface="微软雅黑" pitchFamily="34" charset="-122"/>
              <a:ea typeface="微软雅黑" pitchFamily="34" charset="-122"/>
            </a:endParaRPr>
          </a:p>
        </p:txBody>
      </p:sp>
      <p:graphicFrame>
        <p:nvGraphicFramePr>
          <p:cNvPr id="9" name="图表 8"/>
          <p:cNvGraphicFramePr>
            <a:graphicFrameLocks/>
          </p:cNvGraphicFramePr>
          <p:nvPr>
            <p:extLst>
              <p:ext uri="{D42A27DB-BD31-4B8C-83A1-F6EECF244321}">
                <p14:modId xmlns:p14="http://schemas.microsoft.com/office/powerpoint/2010/main" val="3430601785"/>
              </p:ext>
            </p:extLst>
          </p:nvPr>
        </p:nvGraphicFramePr>
        <p:xfrm>
          <a:off x="952927" y="1433441"/>
          <a:ext cx="7194786" cy="2571750"/>
        </p:xfrm>
        <a:graphic>
          <a:graphicData uri="http://schemas.openxmlformats.org/drawingml/2006/chart">
            <c:chart xmlns:c="http://schemas.openxmlformats.org/drawingml/2006/chart" xmlns:r="http://schemas.openxmlformats.org/officeDocument/2006/relationships" r:id="rId2"/>
          </a:graphicData>
        </a:graphic>
      </p:graphicFrame>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158324"/>
            <a:ext cx="4749421" cy="2481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1207" y="4133815"/>
            <a:ext cx="4572794" cy="2481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241285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燕郊</a:t>
            </a:r>
            <a:r>
              <a:rPr lang="en-US" altLang="zh-CN" dirty="0"/>
              <a:t>| </a:t>
            </a:r>
            <a:r>
              <a:rPr lang="zh-CN" altLang="en-US" sz="1800" dirty="0">
                <a:solidFill>
                  <a:schemeClr val="tx1">
                    <a:lumMod val="75000"/>
                    <a:lumOff val="25000"/>
                  </a:schemeClr>
                </a:solidFill>
              </a:rPr>
              <a:t>项目预售情况</a:t>
            </a:r>
          </a:p>
        </p:txBody>
      </p:sp>
      <p:sp>
        <p:nvSpPr>
          <p:cNvPr id="4" name="灯片编号占位符 3"/>
          <p:cNvSpPr>
            <a:spLocks noGrp="1"/>
          </p:cNvSpPr>
          <p:nvPr>
            <p:ph type="sldNum" sz="quarter" idx="4"/>
          </p:nvPr>
        </p:nvSpPr>
        <p:spPr/>
        <p:txBody>
          <a:bodyPr/>
          <a:lstStyle/>
          <a:p>
            <a:pPr>
              <a:defRPr/>
            </a:pPr>
            <a:fld id="{3E8B6F27-EC4F-B34E-9F32-10CC92E9AB18}" type="slidenum">
              <a:rPr lang="zh-CN" altLang="en-US" smtClean="0"/>
              <a:pPr>
                <a:defRPr/>
              </a:pPr>
              <a:t>51</a:t>
            </a:fld>
            <a:endParaRPr lang="zh-CN" altLang="en-US" dirty="0"/>
          </a:p>
        </p:txBody>
      </p:sp>
      <p:graphicFrame>
        <p:nvGraphicFramePr>
          <p:cNvPr id="5" name="表格 4"/>
          <p:cNvGraphicFramePr>
            <a:graphicFrameLocks noGrp="1"/>
          </p:cNvGraphicFramePr>
          <p:nvPr>
            <p:extLst>
              <p:ext uri="{D42A27DB-BD31-4B8C-83A1-F6EECF244321}">
                <p14:modId xmlns:p14="http://schemas.microsoft.com/office/powerpoint/2010/main" val="2164523205"/>
              </p:ext>
            </p:extLst>
          </p:nvPr>
        </p:nvGraphicFramePr>
        <p:xfrm>
          <a:off x="1941184" y="2970239"/>
          <a:ext cx="5043600" cy="3652567"/>
        </p:xfrm>
        <a:graphic>
          <a:graphicData uri="http://schemas.openxmlformats.org/drawingml/2006/table">
            <a:tbl>
              <a:tblPr firstRow="1">
                <a:tableStyleId>{93296810-A885-4BE3-A3E7-6D5BEEA58F35}</a:tableStyleId>
              </a:tblPr>
              <a:tblGrid>
                <a:gridCol w="1638000">
                  <a:extLst>
                    <a:ext uri="{9D8B030D-6E8A-4147-A177-3AD203B41FA5}">
                      <a16:colId xmlns:a16="http://schemas.microsoft.com/office/drawing/2014/main" val="20000"/>
                    </a:ext>
                  </a:extLst>
                </a:gridCol>
                <a:gridCol w="1558800">
                  <a:extLst>
                    <a:ext uri="{9D8B030D-6E8A-4147-A177-3AD203B41FA5}">
                      <a16:colId xmlns:a16="http://schemas.microsoft.com/office/drawing/2014/main" val="20001"/>
                    </a:ext>
                  </a:extLst>
                </a:gridCol>
                <a:gridCol w="1846800">
                  <a:extLst>
                    <a:ext uri="{9D8B030D-6E8A-4147-A177-3AD203B41FA5}">
                      <a16:colId xmlns:a16="http://schemas.microsoft.com/office/drawing/2014/main" val="20002"/>
                    </a:ext>
                  </a:extLst>
                </a:gridCol>
              </a:tblGrid>
              <a:tr h="484567">
                <a:tc>
                  <a:txBody>
                    <a:bodyPr/>
                    <a:lstStyle/>
                    <a:p>
                      <a:pPr algn="ctr" rtl="0" fontAlgn="ctr"/>
                      <a:r>
                        <a:rPr lang="zh-CN" altLang="en-US" sz="1300" u="none" strike="noStrike" dirty="0">
                          <a:solidFill>
                            <a:schemeClr val="bg1"/>
                          </a:solidFill>
                          <a:effectLst/>
                          <a:latin typeface="黑体" pitchFamily="2" charset="-122"/>
                          <a:ea typeface="黑体" pitchFamily="2" charset="-122"/>
                        </a:rPr>
                        <a:t>项目名称</a:t>
                      </a:r>
                      <a:endParaRPr lang="zh-CN" altLang="en-US" sz="1300" b="1" i="0" u="none" strike="noStrike" dirty="0">
                        <a:solidFill>
                          <a:schemeClr val="bg1"/>
                        </a:solidFill>
                        <a:effectLst/>
                        <a:latin typeface="黑体" pitchFamily="2" charset="-122"/>
                        <a:ea typeface="黑体" pitchFamily="2" charset="-122"/>
                      </a:endParaRPr>
                    </a:p>
                  </a:txBody>
                  <a:tcPr marL="9525" marR="9525" marT="9525" marB="0" anchor="ctr">
                    <a:solidFill>
                      <a:schemeClr val="tx2">
                        <a:lumMod val="60000"/>
                        <a:lumOff val="40000"/>
                      </a:schemeClr>
                    </a:solidFill>
                  </a:tcPr>
                </a:tc>
                <a:tc>
                  <a:txBody>
                    <a:bodyPr/>
                    <a:lstStyle/>
                    <a:p>
                      <a:pPr algn="ctr" rtl="0" fontAlgn="ctr"/>
                      <a:r>
                        <a:rPr lang="zh-CN" altLang="en-US" sz="1300" b="1" u="none" strike="noStrike" dirty="0">
                          <a:solidFill>
                            <a:schemeClr val="bg1"/>
                          </a:solidFill>
                          <a:effectLst/>
                          <a:latin typeface="黑体" pitchFamily="2" charset="-122"/>
                          <a:ea typeface="黑体" pitchFamily="2" charset="-122"/>
                        </a:rPr>
                        <a:t>批准销售套数</a:t>
                      </a:r>
                      <a:endParaRPr lang="en-US" altLang="zh-CN" sz="1300" b="1" u="none" strike="noStrike" dirty="0">
                        <a:solidFill>
                          <a:schemeClr val="bg1"/>
                        </a:solidFill>
                        <a:effectLst/>
                        <a:latin typeface="黑体" pitchFamily="2" charset="-122"/>
                        <a:ea typeface="黑体" pitchFamily="2" charset="-122"/>
                      </a:endParaRPr>
                    </a:p>
                    <a:p>
                      <a:pPr algn="ctr" rtl="0" fontAlgn="ctr"/>
                      <a:r>
                        <a:rPr lang="zh-CN" altLang="en-US" sz="1300" b="1" u="none" strike="noStrike" dirty="0">
                          <a:solidFill>
                            <a:schemeClr val="bg1"/>
                          </a:solidFill>
                          <a:effectLst/>
                          <a:latin typeface="黑体" pitchFamily="2" charset="-122"/>
                          <a:ea typeface="黑体" pitchFamily="2" charset="-122"/>
                        </a:rPr>
                        <a:t>（套）</a:t>
                      </a:r>
                      <a:endParaRPr lang="zh-CN" altLang="en-US" sz="1300" b="1" i="0" u="none" strike="noStrike" dirty="0">
                        <a:solidFill>
                          <a:schemeClr val="bg1"/>
                        </a:solidFill>
                        <a:effectLst/>
                        <a:latin typeface="黑体" pitchFamily="2" charset="-122"/>
                        <a:ea typeface="黑体" pitchFamily="2" charset="-122"/>
                      </a:endParaRPr>
                    </a:p>
                  </a:txBody>
                  <a:tcPr marL="9525" marR="9525" marT="9525" marB="0" anchor="ctr">
                    <a:solidFill>
                      <a:schemeClr val="tx2">
                        <a:lumMod val="60000"/>
                        <a:lumOff val="40000"/>
                      </a:schemeClr>
                    </a:solidFill>
                  </a:tcPr>
                </a:tc>
                <a:tc>
                  <a:txBody>
                    <a:bodyPr/>
                    <a:lstStyle/>
                    <a:p>
                      <a:pPr algn="ctr" rtl="0" fontAlgn="ctr"/>
                      <a:r>
                        <a:rPr lang="zh-CN" altLang="en-US" sz="1300" b="1" u="none" strike="noStrike" dirty="0">
                          <a:solidFill>
                            <a:schemeClr val="bg1"/>
                          </a:solidFill>
                          <a:effectLst/>
                          <a:latin typeface="黑体" pitchFamily="2" charset="-122"/>
                          <a:ea typeface="黑体" pitchFamily="2" charset="-122"/>
                        </a:rPr>
                        <a:t>准许销售面积</a:t>
                      </a:r>
                      <a:endParaRPr lang="en-US" altLang="zh-CN" sz="1300" b="1" u="none" strike="noStrike" dirty="0">
                        <a:solidFill>
                          <a:schemeClr val="bg1"/>
                        </a:solidFill>
                        <a:effectLst/>
                        <a:latin typeface="黑体" pitchFamily="2" charset="-122"/>
                        <a:ea typeface="黑体" pitchFamily="2" charset="-122"/>
                      </a:endParaRPr>
                    </a:p>
                    <a:p>
                      <a:pPr algn="ctr" rtl="0" fontAlgn="ctr"/>
                      <a:r>
                        <a:rPr lang="zh-CN" altLang="en-US" sz="1300" b="1" u="none" strike="noStrike" dirty="0">
                          <a:solidFill>
                            <a:schemeClr val="bg1"/>
                          </a:solidFill>
                          <a:effectLst/>
                          <a:latin typeface="黑体" pitchFamily="2" charset="-122"/>
                          <a:ea typeface="黑体" pitchFamily="2" charset="-122"/>
                        </a:rPr>
                        <a:t>（㎡）</a:t>
                      </a:r>
                      <a:endParaRPr lang="zh-CN" altLang="en-US" sz="1300" b="1" i="0" u="none" strike="noStrike" dirty="0">
                        <a:solidFill>
                          <a:schemeClr val="bg1"/>
                        </a:solidFill>
                        <a:effectLst/>
                        <a:latin typeface="黑体" pitchFamily="2" charset="-122"/>
                        <a:ea typeface="黑体" pitchFamily="2" charset="-122"/>
                      </a:endParaRPr>
                    </a:p>
                  </a:txBody>
                  <a:tcPr marL="9525" marR="9525" marT="9525" marB="0" anchor="ctr">
                    <a:solidFill>
                      <a:schemeClr val="tx2">
                        <a:lumMod val="60000"/>
                        <a:lumOff val="40000"/>
                      </a:schemeClr>
                    </a:solidFill>
                  </a:tcPr>
                </a:tc>
                <a:extLst>
                  <a:ext uri="{0D108BD9-81ED-4DB2-BD59-A6C34878D82A}">
                    <a16:rowId xmlns:a16="http://schemas.microsoft.com/office/drawing/2014/main" val="10000"/>
                  </a:ext>
                </a:extLst>
              </a:tr>
              <a:tr h="288000">
                <a:tc>
                  <a:txBody>
                    <a:bodyPr/>
                    <a:lstStyle/>
                    <a:p>
                      <a:pPr algn="ctr" fontAlgn="ctr"/>
                      <a:r>
                        <a:rPr lang="zh-CN" altLang="en-US" sz="1300" b="0" i="0" u="none" strike="noStrike" kern="1200" dirty="0">
                          <a:solidFill>
                            <a:srgbClr val="000000"/>
                          </a:solidFill>
                          <a:effectLst/>
                          <a:latin typeface="黑体" pitchFamily="2" charset="-122"/>
                          <a:ea typeface="黑体" pitchFamily="2" charset="-122"/>
                          <a:cs typeface="+mn-cs"/>
                        </a:rPr>
                        <a:t>嘉都</a:t>
                      </a:r>
                      <a:r>
                        <a:rPr lang="en-US" altLang="zh-CN" sz="1300" b="0" i="0" u="none" strike="noStrike" kern="1200" dirty="0">
                          <a:solidFill>
                            <a:srgbClr val="000000"/>
                          </a:solidFill>
                          <a:effectLst/>
                          <a:latin typeface="黑体" pitchFamily="2" charset="-122"/>
                          <a:ea typeface="黑体" pitchFamily="2" charset="-122"/>
                          <a:cs typeface="+mn-cs"/>
                        </a:rPr>
                        <a:t>·</a:t>
                      </a:r>
                      <a:r>
                        <a:rPr lang="zh-CN" altLang="en-US" sz="1300" b="0" i="0" u="none" strike="noStrike" kern="1200" dirty="0">
                          <a:solidFill>
                            <a:srgbClr val="000000"/>
                          </a:solidFill>
                          <a:effectLst/>
                          <a:latin typeface="黑体" pitchFamily="2" charset="-122"/>
                          <a:ea typeface="黑体" pitchFamily="2" charset="-122"/>
                          <a:cs typeface="+mn-cs"/>
                        </a:rPr>
                        <a:t>嘉茂苑</a:t>
                      </a:r>
                    </a:p>
                  </a:txBody>
                  <a:tcPr marL="9525" marR="9525" marT="9525" marB="0" anchor="ctr">
                    <a:solidFill>
                      <a:schemeClr val="tx2">
                        <a:lumMod val="20000"/>
                        <a:lumOff val="80000"/>
                      </a:schemeClr>
                    </a:solidFill>
                  </a:tcPr>
                </a:tc>
                <a:tc>
                  <a:txBody>
                    <a:bodyPr/>
                    <a:lstStyle/>
                    <a:p>
                      <a:pPr algn="ctr" rtl="0" fontAlgn="b"/>
                      <a:r>
                        <a:rPr lang="en-US" altLang="zh-CN" sz="1300" b="0" i="0" u="none" strike="noStrike" kern="1200" dirty="0">
                          <a:solidFill>
                            <a:srgbClr val="000000"/>
                          </a:solidFill>
                          <a:effectLst/>
                          <a:latin typeface="黑体" pitchFamily="2" charset="-122"/>
                          <a:ea typeface="黑体" pitchFamily="2" charset="-122"/>
                          <a:cs typeface="+mn-cs"/>
                        </a:rPr>
                        <a:t>1254</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110840</a:t>
                      </a:r>
                    </a:p>
                  </a:txBody>
                  <a:tcPr marL="9525" marR="9525" marT="9525" marB="0" anchor="ctr">
                    <a:solidFill>
                      <a:schemeClr val="tx2">
                        <a:lumMod val="20000"/>
                        <a:lumOff val="80000"/>
                      </a:schemeClr>
                    </a:solidFill>
                  </a:tcPr>
                </a:tc>
                <a:extLst>
                  <a:ext uri="{0D108BD9-81ED-4DB2-BD59-A6C34878D82A}">
                    <a16:rowId xmlns:a16="http://schemas.microsoft.com/office/drawing/2014/main" val="10001"/>
                  </a:ext>
                </a:extLst>
              </a:tr>
              <a:tr h="28800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欣水湾</a:t>
                      </a:r>
                      <a:r>
                        <a:rPr lang="en-US" altLang="zh-CN" sz="1300" b="0" i="0" u="none" strike="noStrike" kern="1200">
                          <a:solidFill>
                            <a:srgbClr val="000000"/>
                          </a:solidFill>
                          <a:effectLst/>
                          <a:latin typeface="黑体" pitchFamily="2" charset="-122"/>
                          <a:ea typeface="黑体" pitchFamily="2" charset="-122"/>
                          <a:cs typeface="+mn-cs"/>
                        </a:rPr>
                        <a:t>·</a:t>
                      </a:r>
                      <a:r>
                        <a:rPr lang="zh-CN" altLang="en-US" sz="1300" b="0" i="0" u="none" strike="noStrike" kern="1200">
                          <a:solidFill>
                            <a:srgbClr val="000000"/>
                          </a:solidFill>
                          <a:effectLst/>
                          <a:latin typeface="黑体" pitchFamily="2" charset="-122"/>
                          <a:ea typeface="黑体" pitchFamily="2" charset="-122"/>
                          <a:cs typeface="+mn-cs"/>
                        </a:rPr>
                        <a:t>华庭</a:t>
                      </a:r>
                    </a:p>
                  </a:txBody>
                  <a:tcPr marL="9525" marR="9525" marT="9525" marB="0" anchor="ctr">
                    <a:solidFill>
                      <a:schemeClr val="tx2">
                        <a:lumMod val="20000"/>
                        <a:lumOff val="80000"/>
                      </a:schemeClr>
                    </a:solidFill>
                  </a:tcPr>
                </a:tc>
                <a:tc>
                  <a:txBody>
                    <a:bodyPr/>
                    <a:lstStyle/>
                    <a:p>
                      <a:pPr algn="ctr" rtl="0" fontAlgn="b"/>
                      <a:r>
                        <a:rPr lang="en-US" altLang="zh-CN" sz="1300" b="0" i="0" u="none" strike="noStrike" kern="1200" dirty="0">
                          <a:solidFill>
                            <a:srgbClr val="000000"/>
                          </a:solidFill>
                          <a:effectLst/>
                          <a:latin typeface="黑体" pitchFamily="2" charset="-122"/>
                          <a:ea typeface="黑体" pitchFamily="2" charset="-122"/>
                          <a:cs typeface="+mn-cs"/>
                        </a:rPr>
                        <a:t>839</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76918</a:t>
                      </a:r>
                    </a:p>
                  </a:txBody>
                  <a:tcPr marL="9525" marR="9525" marT="9525" marB="0" anchor="ctr">
                    <a:solidFill>
                      <a:schemeClr val="tx2">
                        <a:lumMod val="20000"/>
                        <a:lumOff val="80000"/>
                      </a:schemeClr>
                    </a:solidFill>
                  </a:tcPr>
                </a:tc>
                <a:extLst>
                  <a:ext uri="{0D108BD9-81ED-4DB2-BD59-A6C34878D82A}">
                    <a16:rowId xmlns:a16="http://schemas.microsoft.com/office/drawing/2014/main" val="10002"/>
                  </a:ext>
                </a:extLst>
              </a:tr>
              <a:tr h="28800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港中旅</a:t>
                      </a:r>
                      <a:r>
                        <a:rPr lang="en-US" altLang="zh-CN" sz="1300" b="0" i="0" u="none" strike="noStrike" kern="1200">
                          <a:solidFill>
                            <a:srgbClr val="000000"/>
                          </a:solidFill>
                          <a:effectLst/>
                          <a:latin typeface="黑体" pitchFamily="2" charset="-122"/>
                          <a:ea typeface="黑体" pitchFamily="2" charset="-122"/>
                          <a:cs typeface="+mn-cs"/>
                        </a:rPr>
                        <a:t>·</a:t>
                      </a:r>
                      <a:r>
                        <a:rPr lang="zh-CN" altLang="en-US" sz="1300" b="0" i="0" u="none" strike="noStrike" kern="1200">
                          <a:solidFill>
                            <a:srgbClr val="000000"/>
                          </a:solidFill>
                          <a:effectLst/>
                          <a:latin typeface="黑体" pitchFamily="2" charset="-122"/>
                          <a:ea typeface="黑体" pitchFamily="2" charset="-122"/>
                          <a:cs typeface="+mn-cs"/>
                        </a:rPr>
                        <a:t>海泉湾</a:t>
                      </a:r>
                    </a:p>
                  </a:txBody>
                  <a:tcPr marL="9525" marR="9525" marT="9525" marB="0" anchor="ctr">
                    <a:solidFill>
                      <a:schemeClr val="tx2">
                        <a:lumMod val="20000"/>
                        <a:lumOff val="80000"/>
                      </a:schemeClr>
                    </a:solidFill>
                  </a:tcPr>
                </a:tc>
                <a:tc>
                  <a:txBody>
                    <a:bodyPr/>
                    <a:lstStyle/>
                    <a:p>
                      <a:pPr algn="ctr" rtl="0" fontAlgn="b"/>
                      <a:r>
                        <a:rPr lang="en-US" altLang="zh-CN" sz="1300" b="0" i="0" u="none" strike="noStrike" kern="1200" dirty="0">
                          <a:solidFill>
                            <a:srgbClr val="000000"/>
                          </a:solidFill>
                          <a:effectLst/>
                          <a:latin typeface="黑体" pitchFamily="2" charset="-122"/>
                          <a:ea typeface="黑体" pitchFamily="2" charset="-122"/>
                          <a:cs typeface="+mn-cs"/>
                        </a:rPr>
                        <a:t>482</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37634</a:t>
                      </a:r>
                    </a:p>
                  </a:txBody>
                  <a:tcPr marL="9525" marR="9525" marT="9525" marB="0" anchor="ctr">
                    <a:solidFill>
                      <a:schemeClr val="tx2">
                        <a:lumMod val="20000"/>
                        <a:lumOff val="80000"/>
                      </a:schemeClr>
                    </a:solidFill>
                  </a:tcPr>
                </a:tc>
                <a:extLst>
                  <a:ext uri="{0D108BD9-81ED-4DB2-BD59-A6C34878D82A}">
                    <a16:rowId xmlns:a16="http://schemas.microsoft.com/office/drawing/2014/main" val="10003"/>
                  </a:ext>
                </a:extLst>
              </a:tr>
              <a:tr h="28800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中骏</a:t>
                      </a:r>
                      <a:r>
                        <a:rPr lang="en-US" altLang="zh-CN" sz="1300" b="0" i="0" u="none" strike="noStrike" kern="1200">
                          <a:solidFill>
                            <a:srgbClr val="000000"/>
                          </a:solidFill>
                          <a:effectLst/>
                          <a:latin typeface="黑体" pitchFamily="2" charset="-122"/>
                          <a:ea typeface="黑体" pitchFamily="2" charset="-122"/>
                          <a:cs typeface="+mn-cs"/>
                        </a:rPr>
                        <a:t>·</a:t>
                      </a:r>
                      <a:r>
                        <a:rPr lang="zh-CN" altLang="en-US" sz="1300" b="0" i="0" u="none" strike="noStrike" kern="1200">
                          <a:solidFill>
                            <a:srgbClr val="000000"/>
                          </a:solidFill>
                          <a:effectLst/>
                          <a:latin typeface="黑体" pitchFamily="2" charset="-122"/>
                          <a:ea typeface="黑体" pitchFamily="2" charset="-122"/>
                          <a:cs typeface="+mn-cs"/>
                        </a:rPr>
                        <a:t>蓝湾香郡</a:t>
                      </a:r>
                    </a:p>
                  </a:txBody>
                  <a:tcPr marL="9525" marR="9525" marT="9525" marB="0" anchor="ctr">
                    <a:solidFill>
                      <a:schemeClr val="tx2">
                        <a:lumMod val="20000"/>
                        <a:lumOff val="80000"/>
                      </a:schemeClr>
                    </a:solidFill>
                  </a:tcPr>
                </a:tc>
                <a:tc>
                  <a:txBody>
                    <a:bodyPr/>
                    <a:lstStyle/>
                    <a:p>
                      <a:pPr algn="ctr" rtl="0" fontAlgn="b"/>
                      <a:r>
                        <a:rPr lang="en-US" altLang="zh-CN" sz="1300" b="0" i="0" u="none" strike="noStrike" kern="1200">
                          <a:solidFill>
                            <a:srgbClr val="000000"/>
                          </a:solidFill>
                          <a:effectLst/>
                          <a:latin typeface="黑体" pitchFamily="2" charset="-122"/>
                          <a:ea typeface="黑体" pitchFamily="2" charset="-122"/>
                          <a:cs typeface="+mn-cs"/>
                        </a:rPr>
                        <a:t>256</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23232</a:t>
                      </a:r>
                    </a:p>
                  </a:txBody>
                  <a:tcPr marL="9525" marR="9525" marT="9525" marB="0" anchor="ctr">
                    <a:solidFill>
                      <a:schemeClr val="tx2">
                        <a:lumMod val="20000"/>
                        <a:lumOff val="80000"/>
                      </a:schemeClr>
                    </a:solidFill>
                  </a:tcPr>
                </a:tc>
                <a:extLst>
                  <a:ext uri="{0D108BD9-81ED-4DB2-BD59-A6C34878D82A}">
                    <a16:rowId xmlns:a16="http://schemas.microsoft.com/office/drawing/2014/main" val="10004"/>
                  </a:ext>
                </a:extLst>
              </a:tr>
              <a:tr h="28800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莱蒙顺泽</a:t>
                      </a:r>
                      <a:r>
                        <a:rPr lang="en-US" altLang="zh-CN" sz="1300" b="0" i="0" u="none" strike="noStrike" kern="1200">
                          <a:solidFill>
                            <a:srgbClr val="000000"/>
                          </a:solidFill>
                          <a:effectLst/>
                          <a:latin typeface="黑体" pitchFamily="2" charset="-122"/>
                          <a:ea typeface="黑体" pitchFamily="2" charset="-122"/>
                          <a:cs typeface="+mn-cs"/>
                        </a:rPr>
                        <a:t>·</a:t>
                      </a:r>
                      <a:r>
                        <a:rPr lang="zh-CN" altLang="en-US" sz="1300" b="0" i="0" u="none" strike="noStrike" kern="1200">
                          <a:solidFill>
                            <a:srgbClr val="000000"/>
                          </a:solidFill>
                          <a:effectLst/>
                          <a:latin typeface="黑体" pitchFamily="2" charset="-122"/>
                          <a:ea typeface="黑体" pitchFamily="2" charset="-122"/>
                          <a:cs typeface="+mn-cs"/>
                        </a:rPr>
                        <a:t>水榭花城</a:t>
                      </a:r>
                    </a:p>
                  </a:txBody>
                  <a:tcPr marL="9525" marR="9525" marT="9525" marB="0" anchor="ctr">
                    <a:solidFill>
                      <a:schemeClr val="tx2">
                        <a:lumMod val="20000"/>
                        <a:lumOff val="80000"/>
                      </a:schemeClr>
                    </a:solidFill>
                  </a:tcPr>
                </a:tc>
                <a:tc>
                  <a:txBody>
                    <a:bodyPr/>
                    <a:lstStyle/>
                    <a:p>
                      <a:pPr algn="ctr" rtl="0" fontAlgn="b"/>
                      <a:r>
                        <a:rPr lang="en-US" altLang="zh-CN" sz="1300" b="0" i="0" u="none" strike="noStrike" kern="1200">
                          <a:solidFill>
                            <a:srgbClr val="000000"/>
                          </a:solidFill>
                          <a:effectLst/>
                          <a:latin typeface="黑体" pitchFamily="2" charset="-122"/>
                          <a:ea typeface="黑体" pitchFamily="2" charset="-122"/>
                          <a:cs typeface="+mn-cs"/>
                        </a:rPr>
                        <a:t>191</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15965</a:t>
                      </a:r>
                    </a:p>
                  </a:txBody>
                  <a:tcPr marL="9525" marR="9525" marT="9525" marB="0" anchor="ctr">
                    <a:solidFill>
                      <a:schemeClr val="tx2">
                        <a:lumMod val="20000"/>
                        <a:lumOff val="80000"/>
                      </a:schemeClr>
                    </a:solidFill>
                  </a:tcPr>
                </a:tc>
                <a:extLst>
                  <a:ext uri="{0D108BD9-81ED-4DB2-BD59-A6C34878D82A}">
                    <a16:rowId xmlns:a16="http://schemas.microsoft.com/office/drawing/2014/main" val="10005"/>
                  </a:ext>
                </a:extLst>
              </a:tr>
              <a:tr h="28800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御东郡</a:t>
                      </a:r>
                    </a:p>
                  </a:txBody>
                  <a:tcPr marL="9525" marR="9525" marT="9525" marB="0" anchor="ctr">
                    <a:solidFill>
                      <a:schemeClr val="tx2">
                        <a:lumMod val="20000"/>
                        <a:lumOff val="80000"/>
                      </a:schemeClr>
                    </a:solidFill>
                  </a:tcPr>
                </a:tc>
                <a:tc>
                  <a:txBody>
                    <a:bodyPr/>
                    <a:lstStyle/>
                    <a:p>
                      <a:pPr algn="ctr" rtl="0" fontAlgn="b"/>
                      <a:r>
                        <a:rPr lang="en-US" altLang="zh-CN" sz="1300" b="0" i="0" u="none" strike="noStrike" kern="1200">
                          <a:solidFill>
                            <a:srgbClr val="000000"/>
                          </a:solidFill>
                          <a:effectLst/>
                          <a:latin typeface="黑体" pitchFamily="2" charset="-122"/>
                          <a:ea typeface="黑体" pitchFamily="2" charset="-122"/>
                          <a:cs typeface="+mn-cs"/>
                        </a:rPr>
                        <a:t>168</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14556</a:t>
                      </a:r>
                    </a:p>
                  </a:txBody>
                  <a:tcPr marL="9525" marR="9525" marT="9525" marB="0" anchor="ctr">
                    <a:solidFill>
                      <a:schemeClr val="tx2">
                        <a:lumMod val="20000"/>
                        <a:lumOff val="80000"/>
                      </a:schemeClr>
                    </a:solidFill>
                  </a:tcPr>
                </a:tc>
                <a:extLst>
                  <a:ext uri="{0D108BD9-81ED-4DB2-BD59-A6C34878D82A}">
                    <a16:rowId xmlns:a16="http://schemas.microsoft.com/office/drawing/2014/main" val="10006"/>
                  </a:ext>
                </a:extLst>
              </a:tr>
              <a:tr h="28800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黄金蓝湾</a:t>
                      </a:r>
                    </a:p>
                  </a:txBody>
                  <a:tcPr marL="9525" marR="9525" marT="9525" marB="0" anchor="ctr">
                    <a:solidFill>
                      <a:schemeClr val="tx2">
                        <a:lumMod val="20000"/>
                        <a:lumOff val="80000"/>
                      </a:schemeClr>
                    </a:solidFill>
                  </a:tcPr>
                </a:tc>
                <a:tc>
                  <a:txBody>
                    <a:bodyPr/>
                    <a:lstStyle/>
                    <a:p>
                      <a:pPr algn="ctr" rtl="0" fontAlgn="b"/>
                      <a:r>
                        <a:rPr lang="en-US" altLang="zh-CN" sz="1300" b="0" i="0" u="none" strike="noStrike" kern="1200">
                          <a:solidFill>
                            <a:srgbClr val="000000"/>
                          </a:solidFill>
                          <a:effectLst/>
                          <a:latin typeface="黑体" pitchFamily="2" charset="-122"/>
                          <a:ea typeface="黑体" pitchFamily="2" charset="-122"/>
                          <a:cs typeface="+mn-cs"/>
                        </a:rPr>
                        <a:t>131</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12971</a:t>
                      </a:r>
                    </a:p>
                  </a:txBody>
                  <a:tcPr marL="9525" marR="9525" marT="9525" marB="0" anchor="ctr">
                    <a:solidFill>
                      <a:schemeClr val="tx2">
                        <a:lumMod val="20000"/>
                        <a:lumOff val="80000"/>
                      </a:schemeClr>
                    </a:solidFill>
                  </a:tcPr>
                </a:tc>
                <a:extLst>
                  <a:ext uri="{0D108BD9-81ED-4DB2-BD59-A6C34878D82A}">
                    <a16:rowId xmlns:a16="http://schemas.microsoft.com/office/drawing/2014/main" val="10007"/>
                  </a:ext>
                </a:extLst>
              </a:tr>
              <a:tr h="28800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天佑家园</a:t>
                      </a:r>
                    </a:p>
                  </a:txBody>
                  <a:tcPr marL="9525" marR="9525" marT="9525" marB="0" anchor="ctr">
                    <a:solidFill>
                      <a:schemeClr val="tx2">
                        <a:lumMod val="20000"/>
                        <a:lumOff val="80000"/>
                      </a:schemeClr>
                    </a:solidFill>
                  </a:tcPr>
                </a:tc>
                <a:tc>
                  <a:txBody>
                    <a:bodyPr/>
                    <a:lstStyle/>
                    <a:p>
                      <a:pPr algn="ctr" rtl="0" fontAlgn="b"/>
                      <a:r>
                        <a:rPr lang="en-US" altLang="zh-CN" sz="1300" b="0" i="0" u="none" strike="noStrike" kern="1200">
                          <a:solidFill>
                            <a:srgbClr val="000000"/>
                          </a:solidFill>
                          <a:effectLst/>
                          <a:latin typeface="黑体" pitchFamily="2" charset="-122"/>
                          <a:ea typeface="黑体" pitchFamily="2" charset="-122"/>
                          <a:cs typeface="+mn-cs"/>
                        </a:rPr>
                        <a:t>95</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7272</a:t>
                      </a:r>
                    </a:p>
                  </a:txBody>
                  <a:tcPr marL="9525" marR="9525" marT="9525" marB="0" anchor="ctr">
                    <a:solidFill>
                      <a:schemeClr val="tx2">
                        <a:lumMod val="20000"/>
                        <a:lumOff val="80000"/>
                      </a:schemeClr>
                    </a:solidFill>
                  </a:tcPr>
                </a:tc>
                <a:extLst>
                  <a:ext uri="{0D108BD9-81ED-4DB2-BD59-A6C34878D82A}">
                    <a16:rowId xmlns:a16="http://schemas.microsoft.com/office/drawing/2014/main" val="10008"/>
                  </a:ext>
                </a:extLst>
              </a:tr>
              <a:tr h="28800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碧桂园时代城</a:t>
                      </a:r>
                    </a:p>
                  </a:txBody>
                  <a:tcPr marL="9525" marR="9525" marT="9525" marB="0" anchor="ctr">
                    <a:solidFill>
                      <a:schemeClr val="tx2">
                        <a:lumMod val="20000"/>
                        <a:lumOff val="80000"/>
                      </a:schemeClr>
                    </a:solidFill>
                  </a:tcPr>
                </a:tc>
                <a:tc>
                  <a:txBody>
                    <a:bodyPr/>
                    <a:lstStyle/>
                    <a:p>
                      <a:pPr algn="ctr" rtl="0" fontAlgn="b"/>
                      <a:r>
                        <a:rPr lang="en-US" altLang="zh-CN" sz="1300" b="0" i="0" u="none" strike="noStrike" kern="1200">
                          <a:solidFill>
                            <a:srgbClr val="000000"/>
                          </a:solidFill>
                          <a:effectLst/>
                          <a:latin typeface="黑体" pitchFamily="2" charset="-122"/>
                          <a:ea typeface="黑体" pitchFamily="2" charset="-122"/>
                          <a:cs typeface="+mn-cs"/>
                        </a:rPr>
                        <a:t>76</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6924</a:t>
                      </a:r>
                    </a:p>
                  </a:txBody>
                  <a:tcPr marL="9525" marR="9525" marT="9525" marB="0" anchor="ctr">
                    <a:solidFill>
                      <a:schemeClr val="tx2">
                        <a:lumMod val="20000"/>
                        <a:lumOff val="80000"/>
                      </a:schemeClr>
                    </a:solidFill>
                  </a:tcPr>
                </a:tc>
                <a:extLst>
                  <a:ext uri="{0D108BD9-81ED-4DB2-BD59-A6C34878D82A}">
                    <a16:rowId xmlns:a16="http://schemas.microsoft.com/office/drawing/2014/main" val="10009"/>
                  </a:ext>
                </a:extLst>
              </a:tr>
              <a:tr h="28800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首尔</a:t>
                      </a:r>
                      <a:r>
                        <a:rPr lang="en-US" altLang="zh-CN" sz="1300" b="0" i="0" u="none" strike="noStrike" kern="1200">
                          <a:solidFill>
                            <a:srgbClr val="000000"/>
                          </a:solidFill>
                          <a:effectLst/>
                          <a:latin typeface="黑体" pitchFamily="2" charset="-122"/>
                          <a:ea typeface="黑体" pitchFamily="2" charset="-122"/>
                          <a:cs typeface="+mn-cs"/>
                        </a:rPr>
                        <a:t>·</a:t>
                      </a:r>
                      <a:r>
                        <a:rPr lang="zh-CN" altLang="en-US" sz="1300" b="0" i="0" u="none" strike="noStrike" kern="1200">
                          <a:solidFill>
                            <a:srgbClr val="000000"/>
                          </a:solidFill>
                          <a:effectLst/>
                          <a:latin typeface="黑体" pitchFamily="2" charset="-122"/>
                          <a:ea typeface="黑体" pitchFamily="2" charset="-122"/>
                          <a:cs typeface="+mn-cs"/>
                        </a:rPr>
                        <a:t>甜城</a:t>
                      </a:r>
                    </a:p>
                  </a:txBody>
                  <a:tcPr marL="9525" marR="9525" marT="9525" marB="0" anchor="ctr">
                    <a:solidFill>
                      <a:schemeClr val="tx2">
                        <a:lumMod val="20000"/>
                        <a:lumOff val="80000"/>
                      </a:schemeClr>
                    </a:solidFill>
                  </a:tcPr>
                </a:tc>
                <a:tc>
                  <a:txBody>
                    <a:bodyPr/>
                    <a:lstStyle/>
                    <a:p>
                      <a:pPr algn="ctr" rtl="0" fontAlgn="b"/>
                      <a:r>
                        <a:rPr lang="en-US" altLang="zh-CN" sz="1300" b="0" i="0" u="none" strike="noStrike" kern="1200">
                          <a:solidFill>
                            <a:srgbClr val="000000"/>
                          </a:solidFill>
                          <a:effectLst/>
                          <a:latin typeface="黑体" pitchFamily="2" charset="-122"/>
                          <a:ea typeface="黑体" pitchFamily="2" charset="-122"/>
                          <a:cs typeface="+mn-cs"/>
                        </a:rPr>
                        <a:t>74</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6962</a:t>
                      </a:r>
                    </a:p>
                  </a:txBody>
                  <a:tcPr marL="9525" marR="9525" marT="9525" marB="0" anchor="ctr">
                    <a:solidFill>
                      <a:schemeClr val="tx2">
                        <a:lumMod val="20000"/>
                        <a:lumOff val="80000"/>
                      </a:schemeClr>
                    </a:solidFill>
                  </a:tcPr>
                </a:tc>
                <a:extLst>
                  <a:ext uri="{0D108BD9-81ED-4DB2-BD59-A6C34878D82A}">
                    <a16:rowId xmlns:a16="http://schemas.microsoft.com/office/drawing/2014/main" val="10010"/>
                  </a:ext>
                </a:extLst>
              </a:tr>
              <a:tr h="288000">
                <a:tc>
                  <a:txBody>
                    <a:bodyPr/>
                    <a:lstStyle/>
                    <a:p>
                      <a:pPr algn="ctr" fontAlgn="ctr"/>
                      <a:r>
                        <a:rPr lang="zh-CN" altLang="en-US" sz="1300" b="0" i="0" u="none" strike="noStrike" kern="1200" dirty="0">
                          <a:solidFill>
                            <a:srgbClr val="000000"/>
                          </a:solidFill>
                          <a:effectLst/>
                          <a:latin typeface="黑体" pitchFamily="2" charset="-122"/>
                          <a:ea typeface="黑体" pitchFamily="2" charset="-122"/>
                          <a:cs typeface="+mn-cs"/>
                        </a:rPr>
                        <a:t>天洋城</a:t>
                      </a:r>
                    </a:p>
                  </a:txBody>
                  <a:tcPr marL="9525" marR="9525" marT="9525" marB="0" anchor="ctr">
                    <a:solidFill>
                      <a:schemeClr val="tx2">
                        <a:lumMod val="20000"/>
                        <a:lumOff val="80000"/>
                      </a:schemeClr>
                    </a:solidFill>
                  </a:tcPr>
                </a:tc>
                <a:tc>
                  <a:txBody>
                    <a:bodyPr/>
                    <a:lstStyle/>
                    <a:p>
                      <a:pPr algn="ctr" rtl="0" fontAlgn="b"/>
                      <a:r>
                        <a:rPr lang="en-US" altLang="zh-CN" sz="1300" b="0" i="0" u="none" strike="noStrike" kern="1200">
                          <a:solidFill>
                            <a:srgbClr val="000000"/>
                          </a:solidFill>
                          <a:effectLst/>
                          <a:latin typeface="黑体" pitchFamily="2" charset="-122"/>
                          <a:ea typeface="黑体" pitchFamily="2" charset="-122"/>
                          <a:cs typeface="+mn-cs"/>
                        </a:rPr>
                        <a:t>59</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4895</a:t>
                      </a:r>
                    </a:p>
                  </a:txBody>
                  <a:tcPr marL="9525" marR="9525" marT="9525" marB="0" anchor="ctr">
                    <a:solidFill>
                      <a:schemeClr val="tx2">
                        <a:lumMod val="20000"/>
                        <a:lumOff val="80000"/>
                      </a:schemeClr>
                    </a:solidFill>
                  </a:tcPr>
                </a:tc>
                <a:extLst>
                  <a:ext uri="{0D108BD9-81ED-4DB2-BD59-A6C34878D82A}">
                    <a16:rowId xmlns:a16="http://schemas.microsoft.com/office/drawing/2014/main" val="10011"/>
                  </a:ext>
                </a:extLst>
              </a:tr>
            </a:tbl>
          </a:graphicData>
        </a:graphic>
      </p:graphicFrame>
      <p:graphicFrame>
        <p:nvGraphicFramePr>
          <p:cNvPr id="8" name="表格 7"/>
          <p:cNvGraphicFramePr>
            <a:graphicFrameLocks noGrp="1"/>
          </p:cNvGraphicFramePr>
          <p:nvPr>
            <p:extLst>
              <p:ext uri="{D42A27DB-BD31-4B8C-83A1-F6EECF244321}">
                <p14:modId xmlns:p14="http://schemas.microsoft.com/office/powerpoint/2010/main" val="831143673"/>
              </p:ext>
            </p:extLst>
          </p:nvPr>
        </p:nvGraphicFramePr>
        <p:xfrm>
          <a:off x="1977185" y="1171025"/>
          <a:ext cx="5040000" cy="1269765"/>
        </p:xfrm>
        <a:graphic>
          <a:graphicData uri="http://schemas.openxmlformats.org/drawingml/2006/table">
            <a:tbl>
              <a:tblPr>
                <a:tableStyleId>{5C22544A-7EE6-4342-B048-85BDC9FD1C3A}</a:tableStyleId>
              </a:tblPr>
              <a:tblGrid>
                <a:gridCol w="1636534">
                  <a:extLst>
                    <a:ext uri="{9D8B030D-6E8A-4147-A177-3AD203B41FA5}">
                      <a16:colId xmlns:a16="http://schemas.microsoft.com/office/drawing/2014/main" val="20000"/>
                    </a:ext>
                  </a:extLst>
                </a:gridCol>
                <a:gridCol w="1558556">
                  <a:extLst>
                    <a:ext uri="{9D8B030D-6E8A-4147-A177-3AD203B41FA5}">
                      <a16:colId xmlns:a16="http://schemas.microsoft.com/office/drawing/2014/main" val="20001"/>
                    </a:ext>
                  </a:extLst>
                </a:gridCol>
                <a:gridCol w="1844910">
                  <a:extLst>
                    <a:ext uri="{9D8B030D-6E8A-4147-A177-3AD203B41FA5}">
                      <a16:colId xmlns:a16="http://schemas.microsoft.com/office/drawing/2014/main" val="20002"/>
                    </a:ext>
                  </a:extLst>
                </a:gridCol>
              </a:tblGrid>
              <a:tr h="387310">
                <a:tc>
                  <a:txBody>
                    <a:bodyPr/>
                    <a:lstStyle/>
                    <a:p>
                      <a:pPr algn="ctr" rtl="0" fontAlgn="ctr"/>
                      <a:r>
                        <a:rPr lang="zh-CN" altLang="en-US" sz="1300" b="1" u="none" strike="noStrike" dirty="0">
                          <a:solidFill>
                            <a:schemeClr val="bg1"/>
                          </a:solidFill>
                          <a:effectLst/>
                          <a:latin typeface="黑体" pitchFamily="2" charset="-122"/>
                          <a:ea typeface="黑体" pitchFamily="2" charset="-122"/>
                        </a:rPr>
                        <a:t>项目名称</a:t>
                      </a:r>
                      <a:endParaRPr lang="zh-CN" altLang="en-US" sz="1300" b="1" i="0" u="none" strike="noStrike" dirty="0">
                        <a:solidFill>
                          <a:schemeClr val="bg1"/>
                        </a:solidFill>
                        <a:effectLst/>
                        <a:latin typeface="黑体" pitchFamily="2" charset="-122"/>
                        <a:ea typeface="黑体" pitchFamily="2" charset="-122"/>
                      </a:endParaRPr>
                    </a:p>
                  </a:txBody>
                  <a:tcPr marL="9525" marR="9525" marT="9525" marB="0" anchor="ctr">
                    <a:solidFill>
                      <a:schemeClr val="tx2">
                        <a:lumMod val="60000"/>
                        <a:lumOff val="40000"/>
                      </a:schemeClr>
                    </a:solidFill>
                  </a:tcPr>
                </a:tc>
                <a:tc>
                  <a:txBody>
                    <a:bodyPr/>
                    <a:lstStyle/>
                    <a:p>
                      <a:pPr algn="ctr" rtl="0" fontAlgn="ctr"/>
                      <a:r>
                        <a:rPr lang="zh-CN" altLang="en-US" sz="1300" b="1" u="none" strike="noStrike" dirty="0">
                          <a:solidFill>
                            <a:schemeClr val="bg1"/>
                          </a:solidFill>
                          <a:effectLst/>
                          <a:latin typeface="黑体" pitchFamily="2" charset="-122"/>
                          <a:ea typeface="黑体" pitchFamily="2" charset="-122"/>
                        </a:rPr>
                        <a:t>批准销售套数</a:t>
                      </a:r>
                      <a:endParaRPr lang="en-US" altLang="zh-CN" sz="1300" b="1" u="none" strike="noStrike" dirty="0">
                        <a:solidFill>
                          <a:schemeClr val="bg1"/>
                        </a:solidFill>
                        <a:effectLst/>
                        <a:latin typeface="黑体" pitchFamily="2" charset="-122"/>
                        <a:ea typeface="黑体" pitchFamily="2" charset="-122"/>
                      </a:endParaRPr>
                    </a:p>
                    <a:p>
                      <a:pPr algn="ctr" rtl="0" fontAlgn="ctr"/>
                      <a:r>
                        <a:rPr lang="zh-CN" altLang="en-US" sz="1300" b="1" u="none" strike="noStrike" dirty="0">
                          <a:solidFill>
                            <a:schemeClr val="bg1"/>
                          </a:solidFill>
                          <a:effectLst/>
                          <a:latin typeface="黑体" pitchFamily="2" charset="-122"/>
                          <a:ea typeface="黑体" pitchFamily="2" charset="-122"/>
                        </a:rPr>
                        <a:t>（套）</a:t>
                      </a:r>
                      <a:endParaRPr lang="zh-CN" altLang="en-US" sz="1300" b="1" i="0" u="none" strike="noStrike" dirty="0">
                        <a:solidFill>
                          <a:schemeClr val="bg1"/>
                        </a:solidFill>
                        <a:effectLst/>
                        <a:latin typeface="黑体" pitchFamily="2" charset="-122"/>
                        <a:ea typeface="黑体" pitchFamily="2" charset="-122"/>
                      </a:endParaRPr>
                    </a:p>
                  </a:txBody>
                  <a:tcPr marL="9525" marR="9525" marT="9525" marB="0" anchor="ctr">
                    <a:solidFill>
                      <a:schemeClr val="tx2">
                        <a:lumMod val="60000"/>
                        <a:lumOff val="40000"/>
                      </a:schemeClr>
                    </a:solidFill>
                  </a:tcPr>
                </a:tc>
                <a:tc>
                  <a:txBody>
                    <a:bodyPr/>
                    <a:lstStyle/>
                    <a:p>
                      <a:pPr algn="ctr" rtl="0" fontAlgn="ctr"/>
                      <a:r>
                        <a:rPr lang="zh-CN" altLang="en-US" sz="1300" b="1" u="none" strike="noStrike" dirty="0">
                          <a:solidFill>
                            <a:schemeClr val="bg1"/>
                          </a:solidFill>
                          <a:effectLst/>
                          <a:latin typeface="黑体" pitchFamily="2" charset="-122"/>
                          <a:ea typeface="黑体" pitchFamily="2" charset="-122"/>
                        </a:rPr>
                        <a:t>准许销售面积</a:t>
                      </a:r>
                      <a:endParaRPr lang="en-US" altLang="zh-CN" sz="1300" b="1" u="none" strike="noStrike" dirty="0">
                        <a:solidFill>
                          <a:schemeClr val="bg1"/>
                        </a:solidFill>
                        <a:effectLst/>
                        <a:latin typeface="黑体" pitchFamily="2" charset="-122"/>
                        <a:ea typeface="黑体" pitchFamily="2" charset="-122"/>
                      </a:endParaRPr>
                    </a:p>
                    <a:p>
                      <a:pPr algn="ctr" rtl="0" fontAlgn="ctr"/>
                      <a:r>
                        <a:rPr lang="zh-CN" altLang="en-US" sz="1300" b="1" u="none" strike="noStrike" dirty="0">
                          <a:solidFill>
                            <a:schemeClr val="bg1"/>
                          </a:solidFill>
                          <a:effectLst/>
                          <a:latin typeface="黑体" pitchFamily="2" charset="-122"/>
                          <a:ea typeface="黑体" pitchFamily="2" charset="-122"/>
                        </a:rPr>
                        <a:t>（㎡）</a:t>
                      </a:r>
                      <a:endParaRPr lang="zh-CN" altLang="en-US" sz="1300" b="1" i="0" u="none" strike="noStrike" dirty="0">
                        <a:solidFill>
                          <a:schemeClr val="bg1"/>
                        </a:solidFill>
                        <a:effectLst/>
                        <a:latin typeface="黑体" pitchFamily="2" charset="-122"/>
                        <a:ea typeface="黑体" pitchFamily="2" charset="-122"/>
                      </a:endParaRPr>
                    </a:p>
                  </a:txBody>
                  <a:tcPr marL="9525" marR="9525" marT="9525" marB="0" anchor="ctr">
                    <a:solidFill>
                      <a:schemeClr val="tx2">
                        <a:lumMod val="60000"/>
                        <a:lumOff val="40000"/>
                      </a:schemeClr>
                    </a:solidFill>
                  </a:tcPr>
                </a:tc>
                <a:extLst>
                  <a:ext uri="{0D108BD9-81ED-4DB2-BD59-A6C34878D82A}">
                    <a16:rowId xmlns:a16="http://schemas.microsoft.com/office/drawing/2014/main" val="10000"/>
                  </a:ext>
                </a:extLst>
              </a:tr>
              <a:tr h="288000">
                <a:tc>
                  <a:txBody>
                    <a:bodyPr/>
                    <a:lstStyle/>
                    <a:p>
                      <a:pPr algn="ctr" fontAlgn="ctr"/>
                      <a:r>
                        <a:rPr lang="zh-CN" altLang="en-US" sz="1300" b="0" i="0" u="none" strike="noStrike" kern="1200" dirty="0">
                          <a:solidFill>
                            <a:srgbClr val="000000"/>
                          </a:solidFill>
                          <a:effectLst/>
                          <a:latin typeface="黑体" pitchFamily="2" charset="-122"/>
                          <a:ea typeface="黑体" pitchFamily="2" charset="-122"/>
                          <a:cs typeface="+mn-cs"/>
                        </a:rPr>
                        <a:t>莱蒙顺泽</a:t>
                      </a:r>
                      <a:r>
                        <a:rPr lang="en-US" altLang="zh-CN" sz="1300" b="0" i="0" u="none" strike="noStrike" kern="1200" dirty="0">
                          <a:solidFill>
                            <a:srgbClr val="000000"/>
                          </a:solidFill>
                          <a:effectLst/>
                          <a:latin typeface="黑体" pitchFamily="2" charset="-122"/>
                          <a:ea typeface="黑体" pitchFamily="2" charset="-122"/>
                          <a:cs typeface="+mn-cs"/>
                        </a:rPr>
                        <a:t>·</a:t>
                      </a:r>
                      <a:r>
                        <a:rPr lang="zh-CN" altLang="en-US" sz="1300" b="0" i="0" u="none" strike="noStrike" kern="1200" dirty="0">
                          <a:solidFill>
                            <a:srgbClr val="000000"/>
                          </a:solidFill>
                          <a:effectLst/>
                          <a:latin typeface="黑体" pitchFamily="2" charset="-122"/>
                          <a:ea typeface="黑体" pitchFamily="2" charset="-122"/>
                          <a:cs typeface="+mn-cs"/>
                        </a:rPr>
                        <a:t>水榭花城</a:t>
                      </a:r>
                    </a:p>
                  </a:txBody>
                  <a:tcPr marL="9525" marR="9525" marT="9525" marB="0" anchor="ctr">
                    <a:solidFill>
                      <a:schemeClr val="tx2">
                        <a:lumMod val="20000"/>
                        <a:lumOff val="80000"/>
                      </a:schemeClr>
                    </a:solidFill>
                  </a:tcPr>
                </a:tc>
                <a:tc>
                  <a:txBody>
                    <a:bodyPr/>
                    <a:lstStyle/>
                    <a:p>
                      <a:pPr algn="ctr" rtl="0" fontAlgn="b"/>
                      <a:r>
                        <a:rPr lang="en-US" altLang="zh-CN" sz="1300" b="0" i="0" u="none" strike="noStrike" kern="1200" dirty="0">
                          <a:solidFill>
                            <a:srgbClr val="000000"/>
                          </a:solidFill>
                          <a:effectLst/>
                          <a:latin typeface="黑体" pitchFamily="2" charset="-122"/>
                          <a:ea typeface="黑体" pitchFamily="2" charset="-122"/>
                          <a:cs typeface="+mn-cs"/>
                        </a:rPr>
                        <a:t>191</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15965</a:t>
                      </a:r>
                    </a:p>
                  </a:txBody>
                  <a:tcPr marL="9525" marR="9525" marT="9525" marB="0" anchor="ctr">
                    <a:solidFill>
                      <a:schemeClr val="tx2">
                        <a:lumMod val="20000"/>
                        <a:lumOff val="80000"/>
                      </a:schemeClr>
                    </a:solidFill>
                  </a:tcPr>
                </a:tc>
                <a:extLst>
                  <a:ext uri="{0D108BD9-81ED-4DB2-BD59-A6C34878D82A}">
                    <a16:rowId xmlns:a16="http://schemas.microsoft.com/office/drawing/2014/main" val="10001"/>
                  </a:ext>
                </a:extLst>
              </a:tr>
              <a:tr h="288000">
                <a:tc>
                  <a:txBody>
                    <a:bodyPr/>
                    <a:lstStyle/>
                    <a:p>
                      <a:pPr algn="ctr" fontAlgn="ctr"/>
                      <a:r>
                        <a:rPr lang="zh-CN" altLang="en-US" sz="1300" b="0" i="0" u="none" strike="noStrike" kern="1200" dirty="0">
                          <a:solidFill>
                            <a:srgbClr val="000000"/>
                          </a:solidFill>
                          <a:effectLst/>
                          <a:latin typeface="黑体" pitchFamily="2" charset="-122"/>
                          <a:ea typeface="黑体" pitchFamily="2" charset="-122"/>
                          <a:cs typeface="+mn-cs"/>
                        </a:rPr>
                        <a:t>碧桂园时代城</a:t>
                      </a:r>
                    </a:p>
                  </a:txBody>
                  <a:tcPr marL="9525" marR="9525" marT="9525" marB="0" anchor="ctr">
                    <a:solidFill>
                      <a:schemeClr val="tx2">
                        <a:lumMod val="20000"/>
                        <a:lumOff val="80000"/>
                      </a:schemeClr>
                    </a:solidFill>
                  </a:tcPr>
                </a:tc>
                <a:tc>
                  <a:txBody>
                    <a:bodyPr/>
                    <a:lstStyle/>
                    <a:p>
                      <a:pPr algn="ctr" rtl="0" fontAlgn="b"/>
                      <a:r>
                        <a:rPr lang="en-US" altLang="zh-CN" sz="1300" b="0" i="0" u="none" strike="noStrike" kern="1200">
                          <a:solidFill>
                            <a:srgbClr val="000000"/>
                          </a:solidFill>
                          <a:effectLst/>
                          <a:latin typeface="黑体" pitchFamily="2" charset="-122"/>
                          <a:ea typeface="黑体" pitchFamily="2" charset="-122"/>
                          <a:cs typeface="+mn-cs"/>
                        </a:rPr>
                        <a:t>76</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6924</a:t>
                      </a:r>
                    </a:p>
                  </a:txBody>
                  <a:tcPr marL="9525" marR="9525" marT="9525" marB="0" anchor="ctr">
                    <a:solidFill>
                      <a:schemeClr val="tx2">
                        <a:lumMod val="20000"/>
                        <a:lumOff val="80000"/>
                      </a:schemeClr>
                    </a:solidFill>
                  </a:tcPr>
                </a:tc>
                <a:extLst>
                  <a:ext uri="{0D108BD9-81ED-4DB2-BD59-A6C34878D82A}">
                    <a16:rowId xmlns:a16="http://schemas.microsoft.com/office/drawing/2014/main" val="10002"/>
                  </a:ext>
                </a:extLst>
              </a:tr>
              <a:tr h="288000">
                <a:tc>
                  <a:txBody>
                    <a:bodyPr/>
                    <a:lstStyle/>
                    <a:p>
                      <a:pPr algn="ctr" fontAlgn="ctr"/>
                      <a:r>
                        <a:rPr lang="zh-CN" altLang="en-US" sz="1300" b="0" i="0" u="none" strike="noStrike" kern="1200" dirty="0">
                          <a:solidFill>
                            <a:srgbClr val="000000"/>
                          </a:solidFill>
                          <a:effectLst/>
                          <a:latin typeface="黑体" pitchFamily="2" charset="-122"/>
                          <a:ea typeface="黑体" pitchFamily="2" charset="-122"/>
                          <a:cs typeface="+mn-cs"/>
                        </a:rPr>
                        <a:t>黄金蓝湾</a:t>
                      </a:r>
                    </a:p>
                  </a:txBody>
                  <a:tcPr marL="9525" marR="9525" marT="9525" marB="0" anchor="ctr">
                    <a:solidFill>
                      <a:schemeClr val="tx2">
                        <a:lumMod val="20000"/>
                        <a:lumOff val="80000"/>
                      </a:schemeClr>
                    </a:solidFill>
                  </a:tcPr>
                </a:tc>
                <a:tc>
                  <a:txBody>
                    <a:bodyPr/>
                    <a:lstStyle/>
                    <a:p>
                      <a:pPr algn="ctr" rtl="0" fontAlgn="b"/>
                      <a:r>
                        <a:rPr lang="en-US" altLang="zh-CN" sz="1300" b="0" i="0" u="none" strike="noStrike" kern="1200">
                          <a:solidFill>
                            <a:srgbClr val="000000"/>
                          </a:solidFill>
                          <a:effectLst/>
                          <a:latin typeface="黑体" pitchFamily="2" charset="-122"/>
                          <a:ea typeface="黑体" pitchFamily="2" charset="-122"/>
                          <a:cs typeface="+mn-cs"/>
                        </a:rPr>
                        <a:t>49</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4091</a:t>
                      </a:r>
                    </a:p>
                  </a:txBody>
                  <a:tcPr marL="9525" marR="9525" marT="9525" marB="0" anchor="ctr">
                    <a:solidFill>
                      <a:schemeClr val="tx2">
                        <a:lumMod val="20000"/>
                        <a:lumOff val="80000"/>
                      </a:schemeClr>
                    </a:solidFill>
                  </a:tcPr>
                </a:tc>
                <a:extLst>
                  <a:ext uri="{0D108BD9-81ED-4DB2-BD59-A6C34878D82A}">
                    <a16:rowId xmlns:a16="http://schemas.microsoft.com/office/drawing/2014/main" val="10003"/>
                  </a:ext>
                </a:extLst>
              </a:tr>
            </a:tbl>
          </a:graphicData>
        </a:graphic>
      </p:graphicFrame>
      <p:sp>
        <p:nvSpPr>
          <p:cNvPr id="9" name="矩形 8"/>
          <p:cNvSpPr/>
          <p:nvPr/>
        </p:nvSpPr>
        <p:spPr>
          <a:xfrm>
            <a:off x="1977185" y="781586"/>
            <a:ext cx="2684518" cy="327546"/>
          </a:xfrm>
          <a:prstGeom prst="rect">
            <a:avLst/>
          </a:prstGeom>
          <a:solidFill>
            <a:schemeClr val="accent6">
              <a:lumMod val="75000"/>
              <a:alpha val="46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400" b="1" dirty="0">
                <a:latin typeface="微软雅黑" pitchFamily="34" charset="-122"/>
                <a:ea typeface="微软雅黑" pitchFamily="34" charset="-122"/>
              </a:rPr>
              <a:t>8</a:t>
            </a:r>
            <a:r>
              <a:rPr lang="zh-CN" altLang="en-US" sz="1400" b="1" dirty="0">
                <a:latin typeface="微软雅黑" pitchFamily="34" charset="-122"/>
                <a:ea typeface="微软雅黑" pitchFamily="34" charset="-122"/>
              </a:rPr>
              <a:t>月项目预售情况</a:t>
            </a:r>
          </a:p>
        </p:txBody>
      </p:sp>
      <p:sp>
        <p:nvSpPr>
          <p:cNvPr id="10" name="矩形 9"/>
          <p:cNvSpPr/>
          <p:nvPr/>
        </p:nvSpPr>
        <p:spPr>
          <a:xfrm>
            <a:off x="1941184" y="2578845"/>
            <a:ext cx="2684518" cy="327546"/>
          </a:xfrm>
          <a:prstGeom prst="rect">
            <a:avLst/>
          </a:prstGeom>
          <a:solidFill>
            <a:schemeClr val="accent6">
              <a:lumMod val="75000"/>
              <a:alpha val="46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400" b="1" dirty="0">
                <a:latin typeface="微软雅黑" pitchFamily="34" charset="-122"/>
                <a:ea typeface="微软雅黑" pitchFamily="34" charset="-122"/>
              </a:rPr>
              <a:t>1-8</a:t>
            </a:r>
            <a:r>
              <a:rPr lang="zh-CN" altLang="en-US" sz="1400" b="1" dirty="0">
                <a:latin typeface="微软雅黑" pitchFamily="34" charset="-122"/>
                <a:ea typeface="微软雅黑" pitchFamily="34" charset="-122"/>
              </a:rPr>
              <a:t>月项目预售情况</a:t>
            </a:r>
          </a:p>
        </p:txBody>
      </p:sp>
    </p:spTree>
    <p:extLst>
      <p:ext uri="{BB962C8B-B14F-4D97-AF65-F5344CB8AC3E}">
        <p14:creationId xmlns:p14="http://schemas.microsoft.com/office/powerpoint/2010/main" val="31435614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燕郊</a:t>
            </a:r>
            <a:r>
              <a:rPr lang="en-US" altLang="zh-CN" dirty="0"/>
              <a:t>| </a:t>
            </a:r>
            <a:r>
              <a:rPr lang="zh-CN" altLang="en-US" sz="1800" dirty="0">
                <a:solidFill>
                  <a:schemeClr val="tx1">
                    <a:lumMod val="75000"/>
                    <a:lumOff val="25000"/>
                  </a:schemeClr>
                </a:solidFill>
              </a:rPr>
              <a:t>项目成交情况</a:t>
            </a:r>
          </a:p>
        </p:txBody>
      </p:sp>
      <p:sp>
        <p:nvSpPr>
          <p:cNvPr id="4" name="灯片编号占位符 3"/>
          <p:cNvSpPr>
            <a:spLocks noGrp="1"/>
          </p:cNvSpPr>
          <p:nvPr>
            <p:ph type="sldNum" sz="quarter" idx="4"/>
          </p:nvPr>
        </p:nvSpPr>
        <p:spPr/>
        <p:txBody>
          <a:bodyPr/>
          <a:lstStyle/>
          <a:p>
            <a:pPr>
              <a:defRPr/>
            </a:pPr>
            <a:fld id="{3E8B6F27-EC4F-B34E-9F32-10CC92E9AB18}" type="slidenum">
              <a:rPr lang="zh-CN" altLang="en-US" smtClean="0"/>
              <a:pPr>
                <a:defRPr/>
              </a:pPr>
              <a:t>52</a:t>
            </a:fld>
            <a:endParaRPr lang="zh-CN" altLang="en-US" dirty="0"/>
          </a:p>
        </p:txBody>
      </p:sp>
      <p:graphicFrame>
        <p:nvGraphicFramePr>
          <p:cNvPr id="9" name="表格 8"/>
          <p:cNvGraphicFramePr>
            <a:graphicFrameLocks noGrp="1"/>
          </p:cNvGraphicFramePr>
          <p:nvPr>
            <p:extLst>
              <p:ext uri="{D42A27DB-BD31-4B8C-83A1-F6EECF244321}">
                <p14:modId xmlns:p14="http://schemas.microsoft.com/office/powerpoint/2010/main" val="1351541287"/>
              </p:ext>
            </p:extLst>
          </p:nvPr>
        </p:nvGraphicFramePr>
        <p:xfrm>
          <a:off x="1536857" y="1000398"/>
          <a:ext cx="6175827" cy="2482793"/>
        </p:xfrm>
        <a:graphic>
          <a:graphicData uri="http://schemas.openxmlformats.org/drawingml/2006/table">
            <a:tbl>
              <a:tblPr>
                <a:tableStyleId>{5C22544A-7EE6-4342-B048-85BDC9FD1C3A}</a:tableStyleId>
              </a:tblPr>
              <a:tblGrid>
                <a:gridCol w="1643743">
                  <a:extLst>
                    <a:ext uri="{9D8B030D-6E8A-4147-A177-3AD203B41FA5}">
                      <a16:colId xmlns:a16="http://schemas.microsoft.com/office/drawing/2014/main" val="20000"/>
                    </a:ext>
                  </a:extLst>
                </a:gridCol>
                <a:gridCol w="1075700">
                  <a:extLst>
                    <a:ext uri="{9D8B030D-6E8A-4147-A177-3AD203B41FA5}">
                      <a16:colId xmlns:a16="http://schemas.microsoft.com/office/drawing/2014/main" val="20001"/>
                    </a:ext>
                  </a:extLst>
                </a:gridCol>
                <a:gridCol w="1152128">
                  <a:extLst>
                    <a:ext uri="{9D8B030D-6E8A-4147-A177-3AD203B41FA5}">
                      <a16:colId xmlns:a16="http://schemas.microsoft.com/office/drawing/2014/main" val="20002"/>
                    </a:ext>
                  </a:extLst>
                </a:gridCol>
                <a:gridCol w="1152128">
                  <a:extLst>
                    <a:ext uri="{9D8B030D-6E8A-4147-A177-3AD203B41FA5}">
                      <a16:colId xmlns:a16="http://schemas.microsoft.com/office/drawing/2014/main" val="20003"/>
                    </a:ext>
                  </a:extLst>
                </a:gridCol>
                <a:gridCol w="1152128">
                  <a:extLst>
                    <a:ext uri="{9D8B030D-6E8A-4147-A177-3AD203B41FA5}">
                      <a16:colId xmlns:a16="http://schemas.microsoft.com/office/drawing/2014/main" val="20004"/>
                    </a:ext>
                  </a:extLst>
                </a:gridCol>
              </a:tblGrid>
              <a:tr h="304800">
                <a:tc>
                  <a:txBody>
                    <a:bodyPr/>
                    <a:lstStyle/>
                    <a:p>
                      <a:pPr algn="ctr" rtl="0" fontAlgn="ctr"/>
                      <a:r>
                        <a:rPr lang="zh-CN" altLang="en-US" sz="1300" b="1" u="none" strike="noStrike" dirty="0">
                          <a:solidFill>
                            <a:schemeClr val="bg1"/>
                          </a:solidFill>
                          <a:effectLst/>
                          <a:latin typeface="黑体" pitchFamily="2" charset="-122"/>
                          <a:ea typeface="黑体" pitchFamily="2" charset="-122"/>
                        </a:rPr>
                        <a:t>项目名称</a:t>
                      </a:r>
                      <a:endParaRPr lang="zh-CN" altLang="en-US" sz="1300" b="1" i="0" u="none" strike="noStrike" dirty="0">
                        <a:solidFill>
                          <a:schemeClr val="bg1"/>
                        </a:solidFill>
                        <a:effectLst/>
                        <a:latin typeface="黑体" pitchFamily="2" charset="-122"/>
                        <a:ea typeface="黑体" pitchFamily="2" charset="-122"/>
                      </a:endParaRPr>
                    </a:p>
                  </a:txBody>
                  <a:tcPr marL="9525" marR="9525" marT="9525" marB="0" anchor="ctr">
                    <a:solidFill>
                      <a:schemeClr val="tx2">
                        <a:lumMod val="60000"/>
                        <a:lumOff val="40000"/>
                      </a:schemeClr>
                    </a:solidFill>
                  </a:tcPr>
                </a:tc>
                <a:tc>
                  <a:txBody>
                    <a:bodyPr/>
                    <a:lstStyle/>
                    <a:p>
                      <a:pPr algn="ctr" rtl="0" fontAlgn="ctr"/>
                      <a:r>
                        <a:rPr lang="zh-CN" altLang="en-US" sz="1300" b="1" u="none" strike="noStrike" dirty="0">
                          <a:solidFill>
                            <a:schemeClr val="bg1"/>
                          </a:solidFill>
                          <a:effectLst/>
                          <a:latin typeface="黑体" pitchFamily="2" charset="-122"/>
                          <a:ea typeface="黑体" pitchFamily="2" charset="-122"/>
                        </a:rPr>
                        <a:t>成交套数</a:t>
                      </a:r>
                      <a:endParaRPr lang="en-US" altLang="zh-CN" sz="1300" b="1" u="none" strike="noStrike" dirty="0">
                        <a:solidFill>
                          <a:schemeClr val="bg1"/>
                        </a:solidFill>
                        <a:effectLst/>
                        <a:latin typeface="黑体" pitchFamily="2" charset="-122"/>
                        <a:ea typeface="黑体" pitchFamily="2" charset="-122"/>
                      </a:endParaRPr>
                    </a:p>
                    <a:p>
                      <a:pPr marL="0" marR="0" indent="0" algn="ctr" defTabSz="457200" rtl="0" eaLnBrk="1" fontAlgn="ctr" latinLnBrk="0" hangingPunct="1">
                        <a:lnSpc>
                          <a:spcPct val="100000"/>
                        </a:lnSpc>
                        <a:spcBef>
                          <a:spcPts val="0"/>
                        </a:spcBef>
                        <a:spcAft>
                          <a:spcPts val="0"/>
                        </a:spcAft>
                        <a:buClrTx/>
                        <a:buSzTx/>
                        <a:buFontTx/>
                        <a:buNone/>
                        <a:tabLst/>
                        <a:defRPr/>
                      </a:pPr>
                      <a:r>
                        <a:rPr lang="zh-CN" altLang="en-US" sz="1300" b="1" u="none" strike="noStrike" dirty="0">
                          <a:solidFill>
                            <a:schemeClr val="bg1"/>
                          </a:solidFill>
                          <a:effectLst/>
                          <a:latin typeface="黑体" pitchFamily="2" charset="-122"/>
                          <a:ea typeface="黑体" pitchFamily="2" charset="-122"/>
                        </a:rPr>
                        <a:t>（套）↓</a:t>
                      </a:r>
                      <a:endParaRPr lang="zh-CN" altLang="en-US" sz="1300" b="1" i="0" u="none" strike="noStrike" dirty="0">
                        <a:solidFill>
                          <a:schemeClr val="bg1"/>
                        </a:solidFill>
                        <a:effectLst/>
                        <a:latin typeface="黑体" pitchFamily="2" charset="-122"/>
                        <a:ea typeface="黑体" pitchFamily="2" charset="-122"/>
                      </a:endParaRPr>
                    </a:p>
                  </a:txBody>
                  <a:tcPr marL="9525" marR="9525" marT="9525" marB="0" anchor="ctr">
                    <a:solidFill>
                      <a:schemeClr val="tx2">
                        <a:lumMod val="60000"/>
                        <a:lumOff val="40000"/>
                      </a:schemeClr>
                    </a:solidFill>
                  </a:tcPr>
                </a:tc>
                <a:tc>
                  <a:txBody>
                    <a:bodyPr/>
                    <a:lstStyle/>
                    <a:p>
                      <a:pPr algn="ctr" rtl="0" fontAlgn="ctr"/>
                      <a:r>
                        <a:rPr lang="zh-CN" altLang="en-US" sz="1300" b="1" u="none" strike="noStrike" dirty="0">
                          <a:solidFill>
                            <a:schemeClr val="bg1"/>
                          </a:solidFill>
                          <a:effectLst/>
                          <a:latin typeface="黑体" pitchFamily="2" charset="-122"/>
                          <a:ea typeface="黑体" pitchFamily="2" charset="-122"/>
                        </a:rPr>
                        <a:t>成交面积</a:t>
                      </a:r>
                      <a:endParaRPr lang="en-US" altLang="zh-CN" sz="1300" b="1" u="none" strike="noStrike" dirty="0">
                        <a:solidFill>
                          <a:schemeClr val="bg1"/>
                        </a:solidFill>
                        <a:effectLst/>
                        <a:latin typeface="黑体" pitchFamily="2" charset="-122"/>
                        <a:ea typeface="黑体" pitchFamily="2" charset="-122"/>
                      </a:endParaRPr>
                    </a:p>
                    <a:p>
                      <a:pPr algn="ctr" rtl="0" fontAlgn="ctr"/>
                      <a:r>
                        <a:rPr lang="zh-CN" altLang="en-US" sz="1300" b="1" u="none" strike="noStrike" dirty="0">
                          <a:solidFill>
                            <a:schemeClr val="bg1"/>
                          </a:solidFill>
                          <a:effectLst/>
                          <a:latin typeface="黑体" pitchFamily="2" charset="-122"/>
                          <a:ea typeface="黑体" pitchFamily="2" charset="-122"/>
                        </a:rPr>
                        <a:t>（万㎡）</a:t>
                      </a:r>
                      <a:endParaRPr lang="zh-CN" altLang="en-US" sz="1300" b="1" i="0" u="none" strike="noStrike" dirty="0">
                        <a:solidFill>
                          <a:schemeClr val="bg1"/>
                        </a:solidFill>
                        <a:effectLst/>
                        <a:latin typeface="黑体" pitchFamily="2" charset="-122"/>
                        <a:ea typeface="黑体" pitchFamily="2" charset="-122"/>
                      </a:endParaRPr>
                    </a:p>
                  </a:txBody>
                  <a:tcPr marL="9525" marR="9525" marT="9525" marB="0" anchor="ctr">
                    <a:solidFill>
                      <a:schemeClr val="tx2">
                        <a:lumMod val="60000"/>
                        <a:lumOff val="40000"/>
                      </a:schemeClr>
                    </a:solidFill>
                  </a:tcPr>
                </a:tc>
                <a:tc>
                  <a:txBody>
                    <a:bodyPr/>
                    <a:lstStyle/>
                    <a:p>
                      <a:pPr algn="ctr" rtl="0" fontAlgn="b"/>
                      <a:r>
                        <a:rPr lang="zh-CN" altLang="en-US" sz="1300" b="1" u="none" strike="noStrike" dirty="0">
                          <a:solidFill>
                            <a:schemeClr val="bg1"/>
                          </a:solidFill>
                          <a:effectLst/>
                          <a:latin typeface="黑体" pitchFamily="2" charset="-122"/>
                          <a:ea typeface="黑体" pitchFamily="2" charset="-122"/>
                        </a:rPr>
                        <a:t>成交单价</a:t>
                      </a:r>
                      <a:endParaRPr lang="en-US" altLang="zh-CN" sz="1300" b="1" u="none" strike="noStrike" dirty="0">
                        <a:solidFill>
                          <a:schemeClr val="bg1"/>
                        </a:solidFill>
                        <a:effectLst/>
                        <a:latin typeface="黑体" pitchFamily="2" charset="-122"/>
                        <a:ea typeface="黑体" pitchFamily="2" charset="-122"/>
                      </a:endParaRPr>
                    </a:p>
                    <a:p>
                      <a:pPr algn="ctr" rtl="0" fontAlgn="b"/>
                      <a:r>
                        <a:rPr lang="zh-CN" altLang="en-US" sz="1300" b="1" u="none" strike="noStrike" dirty="0">
                          <a:solidFill>
                            <a:schemeClr val="bg1"/>
                          </a:solidFill>
                          <a:effectLst/>
                          <a:latin typeface="黑体" pitchFamily="2" charset="-122"/>
                          <a:ea typeface="黑体" pitchFamily="2" charset="-122"/>
                        </a:rPr>
                        <a:t>（元</a:t>
                      </a:r>
                      <a:r>
                        <a:rPr lang="en-US" altLang="zh-CN" sz="1300" b="1" u="none" strike="noStrike" dirty="0">
                          <a:solidFill>
                            <a:schemeClr val="bg1"/>
                          </a:solidFill>
                          <a:effectLst/>
                          <a:latin typeface="黑体" pitchFamily="2" charset="-122"/>
                          <a:ea typeface="黑体" pitchFamily="2" charset="-122"/>
                        </a:rPr>
                        <a:t>/㎡</a:t>
                      </a:r>
                      <a:r>
                        <a:rPr lang="zh-CN" altLang="en-US" sz="1300" b="1" u="none" strike="noStrike" dirty="0">
                          <a:solidFill>
                            <a:schemeClr val="bg1"/>
                          </a:solidFill>
                          <a:effectLst/>
                          <a:latin typeface="黑体" pitchFamily="2" charset="-122"/>
                          <a:ea typeface="黑体" pitchFamily="2" charset="-122"/>
                        </a:rPr>
                        <a:t>）</a:t>
                      </a:r>
                      <a:endParaRPr lang="zh-CN" altLang="en-US" sz="1300" b="1" i="0" u="none" strike="noStrike" dirty="0">
                        <a:solidFill>
                          <a:schemeClr val="bg1"/>
                        </a:solidFill>
                        <a:effectLst/>
                        <a:latin typeface="黑体" pitchFamily="2" charset="-122"/>
                        <a:ea typeface="黑体" pitchFamily="2" charset="-122"/>
                      </a:endParaRPr>
                    </a:p>
                  </a:txBody>
                  <a:tcPr marL="9525" marR="9525" marT="9525" marB="0" anchor="ctr">
                    <a:solidFill>
                      <a:schemeClr val="tx2">
                        <a:lumMod val="60000"/>
                        <a:lumOff val="40000"/>
                      </a:schemeClr>
                    </a:solidFill>
                  </a:tcPr>
                </a:tc>
                <a:tc>
                  <a:txBody>
                    <a:bodyPr/>
                    <a:lstStyle/>
                    <a:p>
                      <a:pPr algn="ctr" rtl="0" fontAlgn="b"/>
                      <a:r>
                        <a:rPr lang="zh-CN" altLang="en-US" sz="1300" b="1" u="none" strike="noStrike" dirty="0">
                          <a:solidFill>
                            <a:schemeClr val="bg1"/>
                          </a:solidFill>
                          <a:effectLst/>
                          <a:latin typeface="黑体" pitchFamily="2" charset="-122"/>
                          <a:ea typeface="黑体" pitchFamily="2" charset="-122"/>
                        </a:rPr>
                        <a:t>成交总额</a:t>
                      </a:r>
                      <a:endParaRPr lang="en-US" altLang="zh-CN" sz="1300" b="1" u="none" strike="noStrike" dirty="0">
                        <a:solidFill>
                          <a:schemeClr val="bg1"/>
                        </a:solidFill>
                        <a:effectLst/>
                        <a:latin typeface="黑体" pitchFamily="2" charset="-122"/>
                        <a:ea typeface="黑体" pitchFamily="2" charset="-122"/>
                      </a:endParaRPr>
                    </a:p>
                    <a:p>
                      <a:pPr algn="ctr" rtl="0" fontAlgn="b"/>
                      <a:r>
                        <a:rPr lang="zh-CN" altLang="en-US" sz="1300" b="1" u="none" strike="noStrike" dirty="0">
                          <a:solidFill>
                            <a:schemeClr val="bg1"/>
                          </a:solidFill>
                          <a:effectLst/>
                          <a:latin typeface="黑体" pitchFamily="2" charset="-122"/>
                          <a:ea typeface="黑体" pitchFamily="2" charset="-122"/>
                        </a:rPr>
                        <a:t>（亿元）</a:t>
                      </a:r>
                      <a:endParaRPr lang="zh-CN" altLang="en-US" sz="1300" b="1" i="0" u="none" strike="noStrike" dirty="0">
                        <a:solidFill>
                          <a:schemeClr val="bg1"/>
                        </a:solidFill>
                        <a:effectLst/>
                        <a:latin typeface="黑体" pitchFamily="2" charset="-122"/>
                        <a:ea typeface="黑体" pitchFamily="2" charset="-122"/>
                      </a:endParaRPr>
                    </a:p>
                  </a:txBody>
                  <a:tcPr marL="9525" marR="9525" marT="9525" marB="0" anchor="ctr">
                    <a:solidFill>
                      <a:schemeClr val="tx2">
                        <a:lumMod val="60000"/>
                        <a:lumOff val="40000"/>
                      </a:schemeClr>
                    </a:solidFill>
                  </a:tcPr>
                </a:tc>
                <a:extLst>
                  <a:ext uri="{0D108BD9-81ED-4DB2-BD59-A6C34878D82A}">
                    <a16:rowId xmlns:a16="http://schemas.microsoft.com/office/drawing/2014/main" val="10000"/>
                  </a:ext>
                </a:extLst>
              </a:tr>
              <a:tr h="208223">
                <a:tc>
                  <a:txBody>
                    <a:bodyPr/>
                    <a:lstStyle/>
                    <a:p>
                      <a:pPr algn="ctr" fontAlgn="ctr"/>
                      <a:r>
                        <a:rPr lang="zh-CN" altLang="en-US" sz="1300" b="0" i="0" u="none" strike="noStrike" kern="1200" dirty="0">
                          <a:solidFill>
                            <a:srgbClr val="000000"/>
                          </a:solidFill>
                          <a:effectLst/>
                          <a:latin typeface="黑体" pitchFamily="2" charset="-122"/>
                          <a:ea typeface="黑体" pitchFamily="2" charset="-122"/>
                          <a:cs typeface="+mn-cs"/>
                        </a:rPr>
                        <a:t>莱蒙顺泽</a:t>
                      </a:r>
                      <a:r>
                        <a:rPr lang="en-US" altLang="zh-CN" sz="1300" b="0" i="0" u="none" strike="noStrike" kern="1200" dirty="0">
                          <a:solidFill>
                            <a:srgbClr val="000000"/>
                          </a:solidFill>
                          <a:effectLst/>
                          <a:latin typeface="黑体" pitchFamily="2" charset="-122"/>
                          <a:ea typeface="黑体" pitchFamily="2" charset="-122"/>
                          <a:cs typeface="+mn-cs"/>
                        </a:rPr>
                        <a:t>·</a:t>
                      </a:r>
                      <a:r>
                        <a:rPr lang="zh-CN" altLang="en-US" sz="1300" b="0" i="0" u="none" strike="noStrike" kern="1200" dirty="0">
                          <a:solidFill>
                            <a:srgbClr val="000000"/>
                          </a:solidFill>
                          <a:effectLst/>
                          <a:latin typeface="黑体" pitchFamily="2" charset="-122"/>
                          <a:ea typeface="黑体" pitchFamily="2" charset="-122"/>
                          <a:cs typeface="+mn-cs"/>
                        </a:rPr>
                        <a:t>水榭花城</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374</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3.33</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18713</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6.23 </a:t>
                      </a:r>
                    </a:p>
                  </a:txBody>
                  <a:tcPr marL="9525" marR="9525" marT="9525" marB="0" anchor="ctr">
                    <a:solidFill>
                      <a:schemeClr val="tx2">
                        <a:lumMod val="20000"/>
                        <a:lumOff val="80000"/>
                      </a:schemeClr>
                    </a:solidFill>
                  </a:tcPr>
                </a:tc>
                <a:extLst>
                  <a:ext uri="{0D108BD9-81ED-4DB2-BD59-A6C34878D82A}">
                    <a16:rowId xmlns:a16="http://schemas.microsoft.com/office/drawing/2014/main" val="10001"/>
                  </a:ext>
                </a:extLst>
              </a:tr>
              <a:tr h="171450">
                <a:tc>
                  <a:txBody>
                    <a:bodyPr/>
                    <a:lstStyle/>
                    <a:p>
                      <a:pPr algn="ctr" fontAlgn="ctr"/>
                      <a:r>
                        <a:rPr lang="zh-CN" altLang="en-US" sz="1300" b="0" i="0" u="none" strike="noStrike" kern="1200" dirty="0">
                          <a:solidFill>
                            <a:srgbClr val="000000"/>
                          </a:solidFill>
                          <a:effectLst/>
                          <a:latin typeface="黑体" pitchFamily="2" charset="-122"/>
                          <a:ea typeface="黑体" pitchFamily="2" charset="-122"/>
                          <a:cs typeface="+mn-cs"/>
                        </a:rPr>
                        <a:t>港中旅</a:t>
                      </a:r>
                      <a:r>
                        <a:rPr lang="en-US" altLang="zh-CN" sz="1300" b="0" i="0" u="none" strike="noStrike" kern="1200" dirty="0">
                          <a:solidFill>
                            <a:srgbClr val="000000"/>
                          </a:solidFill>
                          <a:effectLst/>
                          <a:latin typeface="黑体" pitchFamily="2" charset="-122"/>
                          <a:ea typeface="黑体" pitchFamily="2" charset="-122"/>
                          <a:cs typeface="+mn-cs"/>
                        </a:rPr>
                        <a:t>·</a:t>
                      </a:r>
                      <a:r>
                        <a:rPr lang="zh-CN" altLang="en-US" sz="1300" b="0" i="0" u="none" strike="noStrike" kern="1200" dirty="0">
                          <a:solidFill>
                            <a:srgbClr val="000000"/>
                          </a:solidFill>
                          <a:effectLst/>
                          <a:latin typeface="黑体" pitchFamily="2" charset="-122"/>
                          <a:ea typeface="黑体" pitchFamily="2" charset="-122"/>
                          <a:cs typeface="+mn-cs"/>
                        </a:rPr>
                        <a:t>海泉湾</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243</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1.95</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20004</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3.91 </a:t>
                      </a:r>
                    </a:p>
                  </a:txBody>
                  <a:tcPr marL="9525" marR="9525" marT="9525" marB="0" anchor="ctr">
                    <a:solidFill>
                      <a:schemeClr val="tx2">
                        <a:lumMod val="20000"/>
                        <a:lumOff val="80000"/>
                      </a:schemeClr>
                    </a:solidFill>
                  </a:tcPr>
                </a:tc>
                <a:extLst>
                  <a:ext uri="{0D108BD9-81ED-4DB2-BD59-A6C34878D82A}">
                    <a16:rowId xmlns:a16="http://schemas.microsoft.com/office/drawing/2014/main" val="10002"/>
                  </a:ext>
                </a:extLst>
              </a:tr>
              <a:tr h="17145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嘉都</a:t>
                      </a:r>
                      <a:r>
                        <a:rPr lang="en-US" altLang="zh-CN" sz="1300" b="0" i="0" u="none" strike="noStrike" kern="1200">
                          <a:solidFill>
                            <a:srgbClr val="000000"/>
                          </a:solidFill>
                          <a:effectLst/>
                          <a:latin typeface="黑体" pitchFamily="2" charset="-122"/>
                          <a:ea typeface="黑体" pitchFamily="2" charset="-122"/>
                          <a:cs typeface="+mn-cs"/>
                        </a:rPr>
                        <a:t>·</a:t>
                      </a:r>
                      <a:r>
                        <a:rPr lang="zh-CN" altLang="en-US" sz="1300" b="0" i="0" u="none" strike="noStrike" kern="1200">
                          <a:solidFill>
                            <a:srgbClr val="000000"/>
                          </a:solidFill>
                          <a:effectLst/>
                          <a:latin typeface="黑体" pitchFamily="2" charset="-122"/>
                          <a:ea typeface="黑体" pitchFamily="2" charset="-122"/>
                          <a:cs typeface="+mn-cs"/>
                        </a:rPr>
                        <a:t>嘉茂苑</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197</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1.79</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16618</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2.97 </a:t>
                      </a:r>
                    </a:p>
                  </a:txBody>
                  <a:tcPr marL="9525" marR="9525" marT="9525" marB="0" anchor="ctr">
                    <a:solidFill>
                      <a:schemeClr val="tx2">
                        <a:lumMod val="20000"/>
                        <a:lumOff val="80000"/>
                      </a:schemeClr>
                    </a:solidFill>
                  </a:tcPr>
                </a:tc>
                <a:extLst>
                  <a:ext uri="{0D108BD9-81ED-4DB2-BD59-A6C34878D82A}">
                    <a16:rowId xmlns:a16="http://schemas.microsoft.com/office/drawing/2014/main" val="10003"/>
                  </a:ext>
                </a:extLst>
              </a:tr>
              <a:tr h="17145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碧桂园时代城</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152</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1.43</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15254</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2.18 </a:t>
                      </a:r>
                    </a:p>
                  </a:txBody>
                  <a:tcPr marL="9525" marR="9525" marT="9525" marB="0" anchor="ctr">
                    <a:solidFill>
                      <a:schemeClr val="tx2">
                        <a:lumMod val="20000"/>
                        <a:lumOff val="80000"/>
                      </a:schemeClr>
                    </a:solidFill>
                  </a:tcPr>
                </a:tc>
                <a:extLst>
                  <a:ext uri="{0D108BD9-81ED-4DB2-BD59-A6C34878D82A}">
                    <a16:rowId xmlns:a16="http://schemas.microsoft.com/office/drawing/2014/main" val="10004"/>
                  </a:ext>
                </a:extLst>
              </a:tr>
              <a:tr h="17145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首尔</a:t>
                      </a:r>
                      <a:r>
                        <a:rPr lang="en-US" altLang="zh-CN" sz="1300" b="0" i="0" u="none" strike="noStrike" kern="1200">
                          <a:solidFill>
                            <a:srgbClr val="000000"/>
                          </a:solidFill>
                          <a:effectLst/>
                          <a:latin typeface="黑体" pitchFamily="2" charset="-122"/>
                          <a:ea typeface="黑体" pitchFamily="2" charset="-122"/>
                          <a:cs typeface="+mn-cs"/>
                        </a:rPr>
                        <a:t>·</a:t>
                      </a:r>
                      <a:r>
                        <a:rPr lang="zh-CN" altLang="en-US" sz="1300" b="0" i="0" u="none" strike="noStrike" kern="1200">
                          <a:solidFill>
                            <a:srgbClr val="000000"/>
                          </a:solidFill>
                          <a:effectLst/>
                          <a:latin typeface="黑体" pitchFamily="2" charset="-122"/>
                          <a:ea typeface="黑体" pitchFamily="2" charset="-122"/>
                          <a:cs typeface="+mn-cs"/>
                        </a:rPr>
                        <a:t>甜城</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91</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1.12</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21940</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2.46 </a:t>
                      </a:r>
                    </a:p>
                  </a:txBody>
                  <a:tcPr marL="9525" marR="9525" marT="9525" marB="0" anchor="ctr">
                    <a:solidFill>
                      <a:schemeClr val="tx2">
                        <a:lumMod val="20000"/>
                        <a:lumOff val="80000"/>
                      </a:schemeClr>
                    </a:solidFill>
                  </a:tcPr>
                </a:tc>
                <a:extLst>
                  <a:ext uri="{0D108BD9-81ED-4DB2-BD59-A6C34878D82A}">
                    <a16:rowId xmlns:a16="http://schemas.microsoft.com/office/drawing/2014/main" val="10005"/>
                  </a:ext>
                </a:extLst>
              </a:tr>
              <a:tr h="171450">
                <a:tc>
                  <a:txBody>
                    <a:bodyPr/>
                    <a:lstStyle/>
                    <a:p>
                      <a:pPr algn="ctr" fontAlgn="ctr"/>
                      <a:r>
                        <a:rPr lang="zh-CN" altLang="en-US" sz="1300" b="0" i="0" u="none" strike="noStrike" kern="1200" dirty="0">
                          <a:solidFill>
                            <a:srgbClr val="000000"/>
                          </a:solidFill>
                          <a:effectLst/>
                          <a:latin typeface="黑体" pitchFamily="2" charset="-122"/>
                          <a:ea typeface="黑体" pitchFamily="2" charset="-122"/>
                          <a:cs typeface="+mn-cs"/>
                        </a:rPr>
                        <a:t>上上城（回迁房）</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80</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0.64</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1656</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0.11 </a:t>
                      </a:r>
                    </a:p>
                  </a:txBody>
                  <a:tcPr marL="9525" marR="9525" marT="9525" marB="0" anchor="ctr">
                    <a:solidFill>
                      <a:schemeClr val="tx2">
                        <a:lumMod val="20000"/>
                        <a:lumOff val="80000"/>
                      </a:schemeClr>
                    </a:solidFill>
                  </a:tcPr>
                </a:tc>
                <a:extLst>
                  <a:ext uri="{0D108BD9-81ED-4DB2-BD59-A6C34878D82A}">
                    <a16:rowId xmlns:a16="http://schemas.microsoft.com/office/drawing/2014/main" val="10006"/>
                  </a:ext>
                </a:extLst>
              </a:tr>
              <a:tr h="17145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黄金蓝湾</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43</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0.42</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20912</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0.87 </a:t>
                      </a:r>
                    </a:p>
                  </a:txBody>
                  <a:tcPr marL="9525" marR="9525" marT="9525" marB="0" anchor="ctr">
                    <a:solidFill>
                      <a:schemeClr val="tx2">
                        <a:lumMod val="20000"/>
                        <a:lumOff val="80000"/>
                      </a:schemeClr>
                    </a:solidFill>
                  </a:tcPr>
                </a:tc>
                <a:extLst>
                  <a:ext uri="{0D108BD9-81ED-4DB2-BD59-A6C34878D82A}">
                    <a16:rowId xmlns:a16="http://schemas.microsoft.com/office/drawing/2014/main" val="10007"/>
                  </a:ext>
                </a:extLst>
              </a:tr>
              <a:tr h="17145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欧逸丽庭</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31</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0.44</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17082</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0.76 </a:t>
                      </a:r>
                    </a:p>
                  </a:txBody>
                  <a:tcPr marL="9525" marR="9525" marT="9525" marB="0" anchor="ctr">
                    <a:solidFill>
                      <a:schemeClr val="tx2">
                        <a:lumMod val="20000"/>
                        <a:lumOff val="80000"/>
                      </a:schemeClr>
                    </a:solidFill>
                  </a:tcPr>
                </a:tc>
                <a:extLst>
                  <a:ext uri="{0D108BD9-81ED-4DB2-BD59-A6C34878D82A}">
                    <a16:rowId xmlns:a16="http://schemas.microsoft.com/office/drawing/2014/main" val="10008"/>
                  </a:ext>
                </a:extLst>
              </a:tr>
              <a:tr h="17145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欣水湾</a:t>
                      </a:r>
                      <a:r>
                        <a:rPr lang="en-US" altLang="zh-CN" sz="1300" b="0" i="0" u="none" strike="noStrike" kern="1200">
                          <a:solidFill>
                            <a:srgbClr val="000000"/>
                          </a:solidFill>
                          <a:effectLst/>
                          <a:latin typeface="黑体" pitchFamily="2" charset="-122"/>
                          <a:ea typeface="黑体" pitchFamily="2" charset="-122"/>
                          <a:cs typeface="+mn-cs"/>
                        </a:rPr>
                        <a:t>·</a:t>
                      </a:r>
                      <a:r>
                        <a:rPr lang="zh-CN" altLang="en-US" sz="1300" b="0" i="0" u="none" strike="noStrike" kern="1200">
                          <a:solidFill>
                            <a:srgbClr val="000000"/>
                          </a:solidFill>
                          <a:effectLst/>
                          <a:latin typeface="黑体" pitchFamily="2" charset="-122"/>
                          <a:ea typeface="黑体" pitchFamily="2" charset="-122"/>
                          <a:cs typeface="+mn-cs"/>
                        </a:rPr>
                        <a:t>华庭</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25</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0.29</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19331</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0.55 </a:t>
                      </a:r>
                    </a:p>
                  </a:txBody>
                  <a:tcPr marL="9525" marR="9525" marT="9525" marB="0" anchor="ctr">
                    <a:solidFill>
                      <a:schemeClr val="tx2">
                        <a:lumMod val="20000"/>
                        <a:lumOff val="80000"/>
                      </a:schemeClr>
                    </a:solidFill>
                  </a:tcPr>
                </a:tc>
                <a:extLst>
                  <a:ext uri="{0D108BD9-81ED-4DB2-BD59-A6C34878D82A}">
                    <a16:rowId xmlns:a16="http://schemas.microsoft.com/office/drawing/2014/main" val="10009"/>
                  </a:ext>
                </a:extLst>
              </a:tr>
              <a:tr h="171450">
                <a:tc>
                  <a:txBody>
                    <a:bodyPr/>
                    <a:lstStyle/>
                    <a:p>
                      <a:pPr algn="ctr" fontAlgn="ctr"/>
                      <a:r>
                        <a:rPr lang="zh-CN" altLang="en-US" sz="1300" b="0" i="0" u="none" strike="noStrike" kern="1200" dirty="0">
                          <a:solidFill>
                            <a:srgbClr val="000000"/>
                          </a:solidFill>
                          <a:effectLst/>
                          <a:latin typeface="黑体" pitchFamily="2" charset="-122"/>
                          <a:ea typeface="黑体" pitchFamily="2" charset="-122"/>
                          <a:cs typeface="+mn-cs"/>
                        </a:rPr>
                        <a:t>中赵甫回迁楼</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22</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0.18</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2760</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0.05 </a:t>
                      </a:r>
                    </a:p>
                  </a:txBody>
                  <a:tcPr marL="9525" marR="9525" marT="9525" marB="0" anchor="ctr">
                    <a:solidFill>
                      <a:schemeClr val="tx2">
                        <a:lumMod val="20000"/>
                        <a:lumOff val="80000"/>
                      </a:schemeClr>
                    </a:solidFill>
                  </a:tcPr>
                </a:tc>
                <a:extLst>
                  <a:ext uri="{0D108BD9-81ED-4DB2-BD59-A6C34878D82A}">
                    <a16:rowId xmlns:a16="http://schemas.microsoft.com/office/drawing/2014/main" val="10010"/>
                  </a:ext>
                </a:extLst>
              </a:tr>
            </a:tbl>
          </a:graphicData>
        </a:graphic>
      </p:graphicFrame>
      <p:graphicFrame>
        <p:nvGraphicFramePr>
          <p:cNvPr id="10" name="表格 9"/>
          <p:cNvGraphicFramePr>
            <a:graphicFrameLocks noGrp="1"/>
          </p:cNvGraphicFramePr>
          <p:nvPr>
            <p:extLst>
              <p:ext uri="{D42A27DB-BD31-4B8C-83A1-F6EECF244321}">
                <p14:modId xmlns:p14="http://schemas.microsoft.com/office/powerpoint/2010/main" val="2754608718"/>
              </p:ext>
            </p:extLst>
          </p:nvPr>
        </p:nvGraphicFramePr>
        <p:xfrm>
          <a:off x="1536857" y="4037406"/>
          <a:ext cx="6175827" cy="2482793"/>
        </p:xfrm>
        <a:graphic>
          <a:graphicData uri="http://schemas.openxmlformats.org/drawingml/2006/table">
            <a:tbl>
              <a:tblPr>
                <a:tableStyleId>{5C22544A-7EE6-4342-B048-85BDC9FD1C3A}</a:tableStyleId>
              </a:tblPr>
              <a:tblGrid>
                <a:gridCol w="1643743">
                  <a:extLst>
                    <a:ext uri="{9D8B030D-6E8A-4147-A177-3AD203B41FA5}">
                      <a16:colId xmlns:a16="http://schemas.microsoft.com/office/drawing/2014/main" val="20000"/>
                    </a:ext>
                  </a:extLst>
                </a:gridCol>
                <a:gridCol w="1075700">
                  <a:extLst>
                    <a:ext uri="{9D8B030D-6E8A-4147-A177-3AD203B41FA5}">
                      <a16:colId xmlns:a16="http://schemas.microsoft.com/office/drawing/2014/main" val="20001"/>
                    </a:ext>
                  </a:extLst>
                </a:gridCol>
                <a:gridCol w="1152128">
                  <a:extLst>
                    <a:ext uri="{9D8B030D-6E8A-4147-A177-3AD203B41FA5}">
                      <a16:colId xmlns:a16="http://schemas.microsoft.com/office/drawing/2014/main" val="20002"/>
                    </a:ext>
                  </a:extLst>
                </a:gridCol>
                <a:gridCol w="1152128">
                  <a:extLst>
                    <a:ext uri="{9D8B030D-6E8A-4147-A177-3AD203B41FA5}">
                      <a16:colId xmlns:a16="http://schemas.microsoft.com/office/drawing/2014/main" val="20003"/>
                    </a:ext>
                  </a:extLst>
                </a:gridCol>
                <a:gridCol w="1152128">
                  <a:extLst>
                    <a:ext uri="{9D8B030D-6E8A-4147-A177-3AD203B41FA5}">
                      <a16:colId xmlns:a16="http://schemas.microsoft.com/office/drawing/2014/main" val="20004"/>
                    </a:ext>
                  </a:extLst>
                </a:gridCol>
              </a:tblGrid>
              <a:tr h="304800">
                <a:tc>
                  <a:txBody>
                    <a:bodyPr/>
                    <a:lstStyle/>
                    <a:p>
                      <a:pPr algn="ctr" rtl="0" fontAlgn="ctr"/>
                      <a:r>
                        <a:rPr lang="zh-CN" altLang="en-US" sz="1300" b="1" u="none" strike="noStrike" dirty="0">
                          <a:solidFill>
                            <a:schemeClr val="bg1"/>
                          </a:solidFill>
                          <a:effectLst/>
                          <a:latin typeface="黑体" pitchFamily="2" charset="-122"/>
                          <a:ea typeface="黑体" pitchFamily="2" charset="-122"/>
                        </a:rPr>
                        <a:t>项目名称</a:t>
                      </a:r>
                      <a:endParaRPr lang="zh-CN" altLang="en-US" sz="1300" b="1" i="0" u="none" strike="noStrike" dirty="0">
                        <a:solidFill>
                          <a:schemeClr val="bg1"/>
                        </a:solidFill>
                        <a:effectLst/>
                        <a:latin typeface="黑体" pitchFamily="2" charset="-122"/>
                        <a:ea typeface="黑体" pitchFamily="2" charset="-122"/>
                      </a:endParaRPr>
                    </a:p>
                  </a:txBody>
                  <a:tcPr marL="9525" marR="9525" marT="9525" marB="0" anchor="ctr">
                    <a:solidFill>
                      <a:schemeClr val="tx2">
                        <a:lumMod val="60000"/>
                        <a:lumOff val="40000"/>
                      </a:schemeClr>
                    </a:solidFill>
                  </a:tcPr>
                </a:tc>
                <a:tc>
                  <a:txBody>
                    <a:bodyPr/>
                    <a:lstStyle/>
                    <a:p>
                      <a:pPr algn="ctr" rtl="0" fontAlgn="ctr"/>
                      <a:r>
                        <a:rPr lang="zh-CN" altLang="en-US" sz="1300" b="1" u="none" strike="noStrike" dirty="0">
                          <a:solidFill>
                            <a:schemeClr val="bg1"/>
                          </a:solidFill>
                          <a:effectLst/>
                          <a:latin typeface="黑体" pitchFamily="2" charset="-122"/>
                          <a:ea typeface="黑体" pitchFamily="2" charset="-122"/>
                        </a:rPr>
                        <a:t>成交套数</a:t>
                      </a:r>
                      <a:endParaRPr lang="en-US" altLang="zh-CN" sz="1300" b="1" u="none" strike="noStrike" dirty="0">
                        <a:solidFill>
                          <a:schemeClr val="bg1"/>
                        </a:solidFill>
                        <a:effectLst/>
                        <a:latin typeface="黑体" pitchFamily="2" charset="-122"/>
                        <a:ea typeface="黑体" pitchFamily="2" charset="-122"/>
                      </a:endParaRPr>
                    </a:p>
                    <a:p>
                      <a:pPr marL="0" marR="0" indent="0" algn="ctr" defTabSz="457200" rtl="0" eaLnBrk="1" fontAlgn="ctr" latinLnBrk="0" hangingPunct="1">
                        <a:lnSpc>
                          <a:spcPct val="100000"/>
                        </a:lnSpc>
                        <a:spcBef>
                          <a:spcPts val="0"/>
                        </a:spcBef>
                        <a:spcAft>
                          <a:spcPts val="0"/>
                        </a:spcAft>
                        <a:buClrTx/>
                        <a:buSzTx/>
                        <a:buFontTx/>
                        <a:buNone/>
                        <a:tabLst/>
                        <a:defRPr/>
                      </a:pPr>
                      <a:r>
                        <a:rPr lang="zh-CN" altLang="en-US" sz="1300" b="1" u="none" strike="noStrike" dirty="0">
                          <a:solidFill>
                            <a:schemeClr val="bg1"/>
                          </a:solidFill>
                          <a:effectLst/>
                          <a:latin typeface="黑体" pitchFamily="2" charset="-122"/>
                          <a:ea typeface="黑体" pitchFamily="2" charset="-122"/>
                        </a:rPr>
                        <a:t>（套）↓</a:t>
                      </a:r>
                      <a:endParaRPr lang="zh-CN" altLang="en-US" sz="1300" b="1" i="0" u="none" strike="noStrike" dirty="0">
                        <a:solidFill>
                          <a:schemeClr val="bg1"/>
                        </a:solidFill>
                        <a:effectLst/>
                        <a:latin typeface="黑体" pitchFamily="2" charset="-122"/>
                        <a:ea typeface="黑体" pitchFamily="2" charset="-122"/>
                      </a:endParaRPr>
                    </a:p>
                  </a:txBody>
                  <a:tcPr marL="9525" marR="9525" marT="9525" marB="0" anchor="ctr">
                    <a:solidFill>
                      <a:schemeClr val="tx2">
                        <a:lumMod val="60000"/>
                        <a:lumOff val="40000"/>
                      </a:schemeClr>
                    </a:solidFill>
                  </a:tcPr>
                </a:tc>
                <a:tc>
                  <a:txBody>
                    <a:bodyPr/>
                    <a:lstStyle/>
                    <a:p>
                      <a:pPr algn="ctr" rtl="0" fontAlgn="ctr"/>
                      <a:r>
                        <a:rPr lang="zh-CN" altLang="en-US" sz="1300" b="1" u="none" strike="noStrike" dirty="0">
                          <a:solidFill>
                            <a:schemeClr val="bg1"/>
                          </a:solidFill>
                          <a:effectLst/>
                          <a:latin typeface="黑体" pitchFamily="2" charset="-122"/>
                          <a:ea typeface="黑体" pitchFamily="2" charset="-122"/>
                        </a:rPr>
                        <a:t>成交面积</a:t>
                      </a:r>
                      <a:endParaRPr lang="en-US" altLang="zh-CN" sz="1300" b="1" u="none" strike="noStrike" dirty="0">
                        <a:solidFill>
                          <a:schemeClr val="bg1"/>
                        </a:solidFill>
                        <a:effectLst/>
                        <a:latin typeface="黑体" pitchFamily="2" charset="-122"/>
                        <a:ea typeface="黑体" pitchFamily="2" charset="-122"/>
                      </a:endParaRPr>
                    </a:p>
                    <a:p>
                      <a:pPr algn="ctr" rtl="0" fontAlgn="ctr"/>
                      <a:r>
                        <a:rPr lang="zh-CN" altLang="en-US" sz="1300" b="1" u="none" strike="noStrike" dirty="0">
                          <a:solidFill>
                            <a:schemeClr val="bg1"/>
                          </a:solidFill>
                          <a:effectLst/>
                          <a:latin typeface="黑体" pitchFamily="2" charset="-122"/>
                          <a:ea typeface="黑体" pitchFamily="2" charset="-122"/>
                        </a:rPr>
                        <a:t>（万㎡）</a:t>
                      </a:r>
                      <a:endParaRPr lang="zh-CN" altLang="en-US" sz="1300" b="1" i="0" u="none" strike="noStrike" dirty="0">
                        <a:solidFill>
                          <a:schemeClr val="bg1"/>
                        </a:solidFill>
                        <a:effectLst/>
                        <a:latin typeface="黑体" pitchFamily="2" charset="-122"/>
                        <a:ea typeface="黑体" pitchFamily="2" charset="-122"/>
                      </a:endParaRPr>
                    </a:p>
                  </a:txBody>
                  <a:tcPr marL="9525" marR="9525" marT="9525" marB="0" anchor="ctr">
                    <a:solidFill>
                      <a:schemeClr val="tx2">
                        <a:lumMod val="60000"/>
                        <a:lumOff val="40000"/>
                      </a:schemeClr>
                    </a:solidFill>
                  </a:tcPr>
                </a:tc>
                <a:tc>
                  <a:txBody>
                    <a:bodyPr/>
                    <a:lstStyle/>
                    <a:p>
                      <a:pPr algn="ctr" rtl="0" fontAlgn="b"/>
                      <a:r>
                        <a:rPr lang="zh-CN" altLang="en-US" sz="1300" b="1" u="none" strike="noStrike" dirty="0">
                          <a:solidFill>
                            <a:schemeClr val="bg1"/>
                          </a:solidFill>
                          <a:effectLst/>
                          <a:latin typeface="黑体" pitchFamily="2" charset="-122"/>
                          <a:ea typeface="黑体" pitchFamily="2" charset="-122"/>
                        </a:rPr>
                        <a:t>成交单价</a:t>
                      </a:r>
                      <a:endParaRPr lang="en-US" altLang="zh-CN" sz="1300" b="1" u="none" strike="noStrike" dirty="0">
                        <a:solidFill>
                          <a:schemeClr val="bg1"/>
                        </a:solidFill>
                        <a:effectLst/>
                        <a:latin typeface="黑体" pitchFamily="2" charset="-122"/>
                        <a:ea typeface="黑体" pitchFamily="2" charset="-122"/>
                      </a:endParaRPr>
                    </a:p>
                    <a:p>
                      <a:pPr algn="ctr" rtl="0" fontAlgn="b"/>
                      <a:r>
                        <a:rPr lang="zh-CN" altLang="en-US" sz="1300" b="1" u="none" strike="noStrike" dirty="0">
                          <a:solidFill>
                            <a:schemeClr val="bg1"/>
                          </a:solidFill>
                          <a:effectLst/>
                          <a:latin typeface="黑体" pitchFamily="2" charset="-122"/>
                          <a:ea typeface="黑体" pitchFamily="2" charset="-122"/>
                        </a:rPr>
                        <a:t>（元</a:t>
                      </a:r>
                      <a:r>
                        <a:rPr lang="en-US" altLang="zh-CN" sz="1300" b="1" u="none" strike="noStrike" dirty="0">
                          <a:solidFill>
                            <a:schemeClr val="bg1"/>
                          </a:solidFill>
                          <a:effectLst/>
                          <a:latin typeface="黑体" pitchFamily="2" charset="-122"/>
                          <a:ea typeface="黑体" pitchFamily="2" charset="-122"/>
                        </a:rPr>
                        <a:t>/㎡</a:t>
                      </a:r>
                      <a:r>
                        <a:rPr lang="zh-CN" altLang="en-US" sz="1300" b="1" u="none" strike="noStrike" dirty="0">
                          <a:solidFill>
                            <a:schemeClr val="bg1"/>
                          </a:solidFill>
                          <a:effectLst/>
                          <a:latin typeface="黑体" pitchFamily="2" charset="-122"/>
                          <a:ea typeface="黑体" pitchFamily="2" charset="-122"/>
                        </a:rPr>
                        <a:t>）</a:t>
                      </a:r>
                      <a:endParaRPr lang="zh-CN" altLang="en-US" sz="1300" b="1" i="0" u="none" strike="noStrike" dirty="0">
                        <a:solidFill>
                          <a:schemeClr val="bg1"/>
                        </a:solidFill>
                        <a:effectLst/>
                        <a:latin typeface="黑体" pitchFamily="2" charset="-122"/>
                        <a:ea typeface="黑体" pitchFamily="2" charset="-122"/>
                      </a:endParaRPr>
                    </a:p>
                  </a:txBody>
                  <a:tcPr marL="9525" marR="9525" marT="9525" marB="0" anchor="ctr">
                    <a:solidFill>
                      <a:schemeClr val="tx2">
                        <a:lumMod val="60000"/>
                        <a:lumOff val="40000"/>
                      </a:schemeClr>
                    </a:solidFill>
                  </a:tcPr>
                </a:tc>
                <a:tc>
                  <a:txBody>
                    <a:bodyPr/>
                    <a:lstStyle/>
                    <a:p>
                      <a:pPr algn="ctr" rtl="0" fontAlgn="b"/>
                      <a:r>
                        <a:rPr lang="zh-CN" altLang="en-US" sz="1300" b="1" u="none" strike="noStrike" dirty="0">
                          <a:solidFill>
                            <a:schemeClr val="bg1"/>
                          </a:solidFill>
                          <a:effectLst/>
                          <a:latin typeface="黑体" pitchFamily="2" charset="-122"/>
                          <a:ea typeface="黑体" pitchFamily="2" charset="-122"/>
                        </a:rPr>
                        <a:t>成交总额</a:t>
                      </a:r>
                      <a:endParaRPr lang="en-US" altLang="zh-CN" sz="1300" b="1" u="none" strike="noStrike" dirty="0">
                        <a:solidFill>
                          <a:schemeClr val="bg1"/>
                        </a:solidFill>
                        <a:effectLst/>
                        <a:latin typeface="黑体" pitchFamily="2" charset="-122"/>
                        <a:ea typeface="黑体" pitchFamily="2" charset="-122"/>
                      </a:endParaRPr>
                    </a:p>
                    <a:p>
                      <a:pPr algn="ctr" rtl="0" fontAlgn="b"/>
                      <a:r>
                        <a:rPr lang="zh-CN" altLang="en-US" sz="1300" b="1" u="none" strike="noStrike" dirty="0">
                          <a:solidFill>
                            <a:schemeClr val="bg1"/>
                          </a:solidFill>
                          <a:effectLst/>
                          <a:latin typeface="黑体" pitchFamily="2" charset="-122"/>
                          <a:ea typeface="黑体" pitchFamily="2" charset="-122"/>
                        </a:rPr>
                        <a:t>（亿元）</a:t>
                      </a:r>
                      <a:endParaRPr lang="zh-CN" altLang="en-US" sz="1300" b="1" i="0" u="none" strike="noStrike" dirty="0">
                        <a:solidFill>
                          <a:schemeClr val="bg1"/>
                        </a:solidFill>
                        <a:effectLst/>
                        <a:latin typeface="黑体" pitchFamily="2" charset="-122"/>
                        <a:ea typeface="黑体" pitchFamily="2" charset="-122"/>
                      </a:endParaRPr>
                    </a:p>
                  </a:txBody>
                  <a:tcPr marL="9525" marR="9525" marT="9525" marB="0" anchor="ctr">
                    <a:solidFill>
                      <a:schemeClr val="tx2">
                        <a:lumMod val="60000"/>
                        <a:lumOff val="40000"/>
                      </a:schemeClr>
                    </a:solidFill>
                  </a:tcPr>
                </a:tc>
                <a:extLst>
                  <a:ext uri="{0D108BD9-81ED-4DB2-BD59-A6C34878D82A}">
                    <a16:rowId xmlns:a16="http://schemas.microsoft.com/office/drawing/2014/main" val="10000"/>
                  </a:ext>
                </a:extLst>
              </a:tr>
              <a:tr h="208223">
                <a:tc>
                  <a:txBody>
                    <a:bodyPr/>
                    <a:lstStyle/>
                    <a:p>
                      <a:pPr algn="ctr" fontAlgn="ctr"/>
                      <a:r>
                        <a:rPr lang="zh-CN" altLang="en-US" sz="1300" b="0" i="0" u="none" strike="noStrike" kern="1200" dirty="0">
                          <a:solidFill>
                            <a:srgbClr val="000000"/>
                          </a:solidFill>
                          <a:effectLst/>
                          <a:latin typeface="黑体" pitchFamily="2" charset="-122"/>
                          <a:ea typeface="黑体" pitchFamily="2" charset="-122"/>
                          <a:cs typeface="+mn-cs"/>
                        </a:rPr>
                        <a:t>欣水湾</a:t>
                      </a:r>
                      <a:r>
                        <a:rPr lang="en-US" altLang="zh-CN" sz="1300" b="0" i="0" u="none" strike="noStrike" kern="1200" dirty="0">
                          <a:solidFill>
                            <a:srgbClr val="000000"/>
                          </a:solidFill>
                          <a:effectLst/>
                          <a:latin typeface="黑体" pitchFamily="2" charset="-122"/>
                          <a:ea typeface="黑体" pitchFamily="2" charset="-122"/>
                          <a:cs typeface="+mn-cs"/>
                        </a:rPr>
                        <a:t>·</a:t>
                      </a:r>
                      <a:r>
                        <a:rPr lang="zh-CN" altLang="en-US" sz="1300" b="0" i="0" u="none" strike="noStrike" kern="1200" dirty="0">
                          <a:solidFill>
                            <a:srgbClr val="000000"/>
                          </a:solidFill>
                          <a:effectLst/>
                          <a:latin typeface="黑体" pitchFamily="2" charset="-122"/>
                          <a:ea typeface="黑体" pitchFamily="2" charset="-122"/>
                          <a:cs typeface="+mn-cs"/>
                        </a:rPr>
                        <a:t>华庭</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2796</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25.57</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17500</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44.75</a:t>
                      </a:r>
                    </a:p>
                  </a:txBody>
                  <a:tcPr marL="9525" marR="9525" marT="9525" marB="0" anchor="ctr">
                    <a:solidFill>
                      <a:schemeClr val="tx2">
                        <a:lumMod val="20000"/>
                        <a:lumOff val="80000"/>
                      </a:schemeClr>
                    </a:solidFill>
                  </a:tcPr>
                </a:tc>
                <a:extLst>
                  <a:ext uri="{0D108BD9-81ED-4DB2-BD59-A6C34878D82A}">
                    <a16:rowId xmlns:a16="http://schemas.microsoft.com/office/drawing/2014/main" val="10001"/>
                  </a:ext>
                </a:extLst>
              </a:tr>
              <a:tr h="17145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嘉都</a:t>
                      </a:r>
                      <a:r>
                        <a:rPr lang="en-US" altLang="zh-CN" sz="1300" b="0" i="0" u="none" strike="noStrike" kern="1200">
                          <a:solidFill>
                            <a:srgbClr val="000000"/>
                          </a:solidFill>
                          <a:effectLst/>
                          <a:latin typeface="黑体" pitchFamily="2" charset="-122"/>
                          <a:ea typeface="黑体" pitchFamily="2" charset="-122"/>
                          <a:cs typeface="+mn-cs"/>
                        </a:rPr>
                        <a:t>·</a:t>
                      </a:r>
                      <a:r>
                        <a:rPr lang="zh-CN" altLang="en-US" sz="1300" b="0" i="0" u="none" strike="noStrike" kern="1200">
                          <a:solidFill>
                            <a:srgbClr val="000000"/>
                          </a:solidFill>
                          <a:effectLst/>
                          <a:latin typeface="黑体" pitchFamily="2" charset="-122"/>
                          <a:ea typeface="黑体" pitchFamily="2" charset="-122"/>
                          <a:cs typeface="+mn-cs"/>
                        </a:rPr>
                        <a:t>嘉茂苑</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1636</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14.53</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16557</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24.05</a:t>
                      </a:r>
                    </a:p>
                  </a:txBody>
                  <a:tcPr marL="9525" marR="9525" marT="9525" marB="0" anchor="ctr">
                    <a:solidFill>
                      <a:schemeClr val="tx2">
                        <a:lumMod val="20000"/>
                        <a:lumOff val="80000"/>
                      </a:schemeClr>
                    </a:solidFill>
                  </a:tcPr>
                </a:tc>
                <a:extLst>
                  <a:ext uri="{0D108BD9-81ED-4DB2-BD59-A6C34878D82A}">
                    <a16:rowId xmlns:a16="http://schemas.microsoft.com/office/drawing/2014/main" val="10002"/>
                  </a:ext>
                </a:extLst>
              </a:tr>
              <a:tr h="17145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港中旅</a:t>
                      </a:r>
                      <a:r>
                        <a:rPr lang="en-US" altLang="zh-CN" sz="1300" b="0" i="0" u="none" strike="noStrike" kern="1200">
                          <a:solidFill>
                            <a:srgbClr val="000000"/>
                          </a:solidFill>
                          <a:effectLst/>
                          <a:latin typeface="黑体" pitchFamily="2" charset="-122"/>
                          <a:ea typeface="黑体" pitchFamily="2" charset="-122"/>
                          <a:cs typeface="+mn-cs"/>
                        </a:rPr>
                        <a:t>·</a:t>
                      </a:r>
                      <a:r>
                        <a:rPr lang="zh-CN" altLang="en-US" sz="1300" b="0" i="0" u="none" strike="noStrike" kern="1200">
                          <a:solidFill>
                            <a:srgbClr val="000000"/>
                          </a:solidFill>
                          <a:effectLst/>
                          <a:latin typeface="黑体" pitchFamily="2" charset="-122"/>
                          <a:ea typeface="黑体" pitchFamily="2" charset="-122"/>
                          <a:cs typeface="+mn-cs"/>
                        </a:rPr>
                        <a:t>海泉湾</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1092</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9.48</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19476</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18.46</a:t>
                      </a:r>
                    </a:p>
                  </a:txBody>
                  <a:tcPr marL="9525" marR="9525" marT="9525" marB="0" anchor="ctr">
                    <a:solidFill>
                      <a:schemeClr val="tx2">
                        <a:lumMod val="20000"/>
                        <a:lumOff val="80000"/>
                      </a:schemeClr>
                    </a:solidFill>
                  </a:tcPr>
                </a:tc>
                <a:extLst>
                  <a:ext uri="{0D108BD9-81ED-4DB2-BD59-A6C34878D82A}">
                    <a16:rowId xmlns:a16="http://schemas.microsoft.com/office/drawing/2014/main" val="10003"/>
                  </a:ext>
                </a:extLst>
              </a:tr>
              <a:tr h="17145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碧桂园时代城</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978</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9.10</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14720</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13.40</a:t>
                      </a:r>
                    </a:p>
                  </a:txBody>
                  <a:tcPr marL="9525" marR="9525" marT="9525" marB="0" anchor="ctr">
                    <a:solidFill>
                      <a:schemeClr val="tx2">
                        <a:lumMod val="20000"/>
                        <a:lumOff val="80000"/>
                      </a:schemeClr>
                    </a:solidFill>
                  </a:tcPr>
                </a:tc>
                <a:extLst>
                  <a:ext uri="{0D108BD9-81ED-4DB2-BD59-A6C34878D82A}">
                    <a16:rowId xmlns:a16="http://schemas.microsoft.com/office/drawing/2014/main" val="10004"/>
                  </a:ext>
                </a:extLst>
              </a:tr>
              <a:tr h="17145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首尔</a:t>
                      </a:r>
                      <a:r>
                        <a:rPr lang="en-US" altLang="zh-CN" sz="1300" b="0" i="0" u="none" strike="noStrike" kern="1200">
                          <a:solidFill>
                            <a:srgbClr val="000000"/>
                          </a:solidFill>
                          <a:effectLst/>
                          <a:latin typeface="黑体" pitchFamily="2" charset="-122"/>
                          <a:ea typeface="黑体" pitchFamily="2" charset="-122"/>
                          <a:cs typeface="+mn-cs"/>
                        </a:rPr>
                        <a:t>·</a:t>
                      </a:r>
                      <a:r>
                        <a:rPr lang="zh-CN" altLang="en-US" sz="1300" b="0" i="0" u="none" strike="noStrike" kern="1200">
                          <a:solidFill>
                            <a:srgbClr val="000000"/>
                          </a:solidFill>
                          <a:effectLst/>
                          <a:latin typeface="黑体" pitchFamily="2" charset="-122"/>
                          <a:ea typeface="黑体" pitchFamily="2" charset="-122"/>
                          <a:cs typeface="+mn-cs"/>
                        </a:rPr>
                        <a:t>甜城</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919</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9.62</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20269</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19.50</a:t>
                      </a:r>
                    </a:p>
                  </a:txBody>
                  <a:tcPr marL="9525" marR="9525" marT="9525" marB="0" anchor="ctr">
                    <a:solidFill>
                      <a:schemeClr val="tx2">
                        <a:lumMod val="20000"/>
                        <a:lumOff val="80000"/>
                      </a:schemeClr>
                    </a:solidFill>
                  </a:tcPr>
                </a:tc>
                <a:extLst>
                  <a:ext uri="{0D108BD9-81ED-4DB2-BD59-A6C34878D82A}">
                    <a16:rowId xmlns:a16="http://schemas.microsoft.com/office/drawing/2014/main" val="10005"/>
                  </a:ext>
                </a:extLst>
              </a:tr>
              <a:tr h="17145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中骏</a:t>
                      </a:r>
                      <a:r>
                        <a:rPr lang="en-US" altLang="zh-CN" sz="1300" b="0" i="0" u="none" strike="noStrike" kern="1200">
                          <a:solidFill>
                            <a:srgbClr val="000000"/>
                          </a:solidFill>
                          <a:effectLst/>
                          <a:latin typeface="黑体" pitchFamily="2" charset="-122"/>
                          <a:ea typeface="黑体" pitchFamily="2" charset="-122"/>
                          <a:cs typeface="+mn-cs"/>
                        </a:rPr>
                        <a:t>·</a:t>
                      </a:r>
                      <a:r>
                        <a:rPr lang="zh-CN" altLang="en-US" sz="1300" b="0" i="0" u="none" strike="noStrike" kern="1200">
                          <a:solidFill>
                            <a:srgbClr val="000000"/>
                          </a:solidFill>
                          <a:effectLst/>
                          <a:latin typeface="黑体" pitchFamily="2" charset="-122"/>
                          <a:ea typeface="黑体" pitchFamily="2" charset="-122"/>
                          <a:cs typeface="+mn-cs"/>
                        </a:rPr>
                        <a:t>蓝湾香郡</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880</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7.63</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16261</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12.42</a:t>
                      </a:r>
                    </a:p>
                  </a:txBody>
                  <a:tcPr marL="9525" marR="9525" marT="9525" marB="0" anchor="ctr">
                    <a:solidFill>
                      <a:schemeClr val="tx2">
                        <a:lumMod val="20000"/>
                        <a:lumOff val="80000"/>
                      </a:schemeClr>
                    </a:solidFill>
                  </a:tcPr>
                </a:tc>
                <a:extLst>
                  <a:ext uri="{0D108BD9-81ED-4DB2-BD59-A6C34878D82A}">
                    <a16:rowId xmlns:a16="http://schemas.microsoft.com/office/drawing/2014/main" val="10006"/>
                  </a:ext>
                </a:extLst>
              </a:tr>
              <a:tr h="17145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中赵甫回迁楼</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748</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6.87</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2762</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1.90</a:t>
                      </a:r>
                    </a:p>
                  </a:txBody>
                  <a:tcPr marL="9525" marR="9525" marT="9525" marB="0" anchor="ctr">
                    <a:solidFill>
                      <a:schemeClr val="tx2">
                        <a:lumMod val="20000"/>
                        <a:lumOff val="80000"/>
                      </a:schemeClr>
                    </a:solidFill>
                  </a:tcPr>
                </a:tc>
                <a:extLst>
                  <a:ext uri="{0D108BD9-81ED-4DB2-BD59-A6C34878D82A}">
                    <a16:rowId xmlns:a16="http://schemas.microsoft.com/office/drawing/2014/main" val="10007"/>
                  </a:ext>
                </a:extLst>
              </a:tr>
              <a:tr h="17145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嘉都</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735</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6.66</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11828</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7.88</a:t>
                      </a:r>
                    </a:p>
                  </a:txBody>
                  <a:tcPr marL="9525" marR="9525" marT="9525" marB="0" anchor="ctr">
                    <a:solidFill>
                      <a:schemeClr val="tx2">
                        <a:lumMod val="20000"/>
                        <a:lumOff val="80000"/>
                      </a:schemeClr>
                    </a:solidFill>
                  </a:tcPr>
                </a:tc>
                <a:extLst>
                  <a:ext uri="{0D108BD9-81ED-4DB2-BD59-A6C34878D82A}">
                    <a16:rowId xmlns:a16="http://schemas.microsoft.com/office/drawing/2014/main" val="10008"/>
                  </a:ext>
                </a:extLst>
              </a:tr>
              <a:tr h="17145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天佑家园</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672</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5.43</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16444</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8.92</a:t>
                      </a:r>
                    </a:p>
                  </a:txBody>
                  <a:tcPr marL="9525" marR="9525" marT="9525" marB="0" anchor="ctr">
                    <a:solidFill>
                      <a:schemeClr val="tx2">
                        <a:lumMod val="20000"/>
                        <a:lumOff val="80000"/>
                      </a:schemeClr>
                    </a:solidFill>
                  </a:tcPr>
                </a:tc>
                <a:extLst>
                  <a:ext uri="{0D108BD9-81ED-4DB2-BD59-A6C34878D82A}">
                    <a16:rowId xmlns:a16="http://schemas.microsoft.com/office/drawing/2014/main" val="10009"/>
                  </a:ext>
                </a:extLst>
              </a:tr>
              <a:tr h="171450">
                <a:tc>
                  <a:txBody>
                    <a:bodyPr/>
                    <a:lstStyle/>
                    <a:p>
                      <a:pPr algn="ctr" fontAlgn="ctr"/>
                      <a:r>
                        <a:rPr lang="zh-CN" altLang="en-US" sz="1300" b="0" i="0" u="none" strike="noStrike" kern="1200" dirty="0">
                          <a:solidFill>
                            <a:srgbClr val="000000"/>
                          </a:solidFill>
                          <a:effectLst/>
                          <a:latin typeface="黑体" pitchFamily="2" charset="-122"/>
                          <a:ea typeface="黑体" pitchFamily="2" charset="-122"/>
                          <a:cs typeface="+mn-cs"/>
                        </a:rPr>
                        <a:t>莱蒙顺泽</a:t>
                      </a:r>
                      <a:r>
                        <a:rPr lang="en-US" altLang="zh-CN" sz="1300" b="0" i="0" u="none" strike="noStrike" kern="1200" dirty="0">
                          <a:solidFill>
                            <a:srgbClr val="000000"/>
                          </a:solidFill>
                          <a:effectLst/>
                          <a:latin typeface="黑体" pitchFamily="2" charset="-122"/>
                          <a:ea typeface="黑体" pitchFamily="2" charset="-122"/>
                          <a:cs typeface="+mn-cs"/>
                        </a:rPr>
                        <a:t>·</a:t>
                      </a:r>
                      <a:r>
                        <a:rPr lang="zh-CN" altLang="en-US" sz="1300" b="0" i="0" u="none" strike="noStrike" kern="1200" dirty="0">
                          <a:solidFill>
                            <a:srgbClr val="000000"/>
                          </a:solidFill>
                          <a:effectLst/>
                          <a:latin typeface="黑体" pitchFamily="2" charset="-122"/>
                          <a:ea typeface="黑体" pitchFamily="2" charset="-122"/>
                          <a:cs typeface="+mn-cs"/>
                        </a:rPr>
                        <a:t>水榭花城</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503</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4.54</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17269</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7.85</a:t>
                      </a:r>
                    </a:p>
                  </a:txBody>
                  <a:tcPr marL="9525" marR="9525" marT="9525" marB="0" anchor="ctr">
                    <a:solidFill>
                      <a:schemeClr val="tx2">
                        <a:lumMod val="20000"/>
                        <a:lumOff val="80000"/>
                      </a:schemeClr>
                    </a:solidFill>
                  </a:tcPr>
                </a:tc>
                <a:extLst>
                  <a:ext uri="{0D108BD9-81ED-4DB2-BD59-A6C34878D82A}">
                    <a16:rowId xmlns:a16="http://schemas.microsoft.com/office/drawing/2014/main" val="10010"/>
                  </a:ext>
                </a:extLst>
              </a:tr>
            </a:tbl>
          </a:graphicData>
        </a:graphic>
      </p:graphicFrame>
      <p:sp>
        <p:nvSpPr>
          <p:cNvPr id="8" name="矩形 7"/>
          <p:cNvSpPr/>
          <p:nvPr/>
        </p:nvSpPr>
        <p:spPr>
          <a:xfrm>
            <a:off x="1536857" y="606903"/>
            <a:ext cx="2684518" cy="327546"/>
          </a:xfrm>
          <a:prstGeom prst="rect">
            <a:avLst/>
          </a:prstGeom>
          <a:solidFill>
            <a:schemeClr val="accent6">
              <a:lumMod val="75000"/>
              <a:alpha val="46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400" b="1" dirty="0">
                <a:latin typeface="微软雅黑" pitchFamily="34" charset="-122"/>
                <a:ea typeface="微软雅黑" pitchFamily="34" charset="-122"/>
              </a:rPr>
              <a:t>8</a:t>
            </a:r>
            <a:r>
              <a:rPr lang="zh-CN" altLang="en-US" sz="1400" b="1" dirty="0">
                <a:latin typeface="微软雅黑" pitchFamily="34" charset="-122"/>
                <a:ea typeface="微软雅黑" pitchFamily="34" charset="-122"/>
              </a:rPr>
              <a:t>月项目成交排行</a:t>
            </a:r>
            <a:r>
              <a:rPr lang="en-US" altLang="zh-CN" sz="1400" b="1" dirty="0">
                <a:latin typeface="微软雅黑" pitchFamily="34" charset="-122"/>
                <a:ea typeface="微软雅黑" pitchFamily="34" charset="-122"/>
              </a:rPr>
              <a:t>TOP10</a:t>
            </a:r>
            <a:endParaRPr lang="zh-CN" altLang="en-US" sz="1400" b="1" dirty="0">
              <a:latin typeface="微软雅黑" pitchFamily="34" charset="-122"/>
              <a:ea typeface="微软雅黑" pitchFamily="34" charset="-122"/>
            </a:endParaRPr>
          </a:p>
        </p:txBody>
      </p:sp>
      <p:sp>
        <p:nvSpPr>
          <p:cNvPr id="11" name="矩形 10"/>
          <p:cNvSpPr/>
          <p:nvPr/>
        </p:nvSpPr>
        <p:spPr>
          <a:xfrm>
            <a:off x="1536857" y="3660991"/>
            <a:ext cx="2684518" cy="327546"/>
          </a:xfrm>
          <a:prstGeom prst="rect">
            <a:avLst/>
          </a:prstGeom>
          <a:solidFill>
            <a:schemeClr val="accent6">
              <a:lumMod val="75000"/>
              <a:alpha val="46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400" b="1" dirty="0">
                <a:latin typeface="微软雅黑" pitchFamily="34" charset="-122"/>
                <a:ea typeface="微软雅黑" pitchFamily="34" charset="-122"/>
              </a:rPr>
              <a:t>1-8</a:t>
            </a:r>
            <a:r>
              <a:rPr lang="zh-CN" altLang="en-US" sz="1400" b="1" dirty="0">
                <a:latin typeface="微软雅黑" pitchFamily="34" charset="-122"/>
                <a:ea typeface="微软雅黑" pitchFamily="34" charset="-122"/>
              </a:rPr>
              <a:t>月项目成交排行</a:t>
            </a:r>
            <a:r>
              <a:rPr lang="en-US" altLang="zh-CN" sz="1400" b="1" dirty="0">
                <a:latin typeface="微软雅黑" pitchFamily="34" charset="-122"/>
                <a:ea typeface="微软雅黑" pitchFamily="34" charset="-122"/>
              </a:rPr>
              <a:t>TOP10</a:t>
            </a:r>
            <a:endParaRPr lang="zh-CN" altLang="en-US" sz="1400" b="1" dirty="0">
              <a:latin typeface="微软雅黑" pitchFamily="34" charset="-122"/>
              <a:ea typeface="微软雅黑" pitchFamily="34" charset="-122"/>
            </a:endParaRPr>
          </a:p>
        </p:txBody>
      </p:sp>
    </p:spTree>
    <p:extLst>
      <p:ext uri="{BB962C8B-B14F-4D97-AF65-F5344CB8AC3E}">
        <p14:creationId xmlns:p14="http://schemas.microsoft.com/office/powerpoint/2010/main" val="110065733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固安</a:t>
            </a:r>
            <a:r>
              <a:rPr lang="en-US" altLang="zh-CN" dirty="0"/>
              <a:t>| </a:t>
            </a:r>
            <a:r>
              <a:rPr lang="zh-CN" altLang="en-US" sz="1800" dirty="0">
                <a:solidFill>
                  <a:schemeClr val="tx1">
                    <a:lumMod val="75000"/>
                    <a:lumOff val="25000"/>
                  </a:schemeClr>
                </a:solidFill>
              </a:rPr>
              <a:t>土地市场</a:t>
            </a:r>
          </a:p>
        </p:txBody>
      </p:sp>
      <p:sp>
        <p:nvSpPr>
          <p:cNvPr id="4" name="灯片编号占位符 3"/>
          <p:cNvSpPr>
            <a:spLocks noGrp="1"/>
          </p:cNvSpPr>
          <p:nvPr>
            <p:ph type="sldNum" sz="quarter" idx="4"/>
          </p:nvPr>
        </p:nvSpPr>
        <p:spPr/>
        <p:txBody>
          <a:bodyPr/>
          <a:lstStyle/>
          <a:p>
            <a:pPr>
              <a:defRPr/>
            </a:pPr>
            <a:fld id="{3E8B6F27-EC4F-B34E-9F32-10CC92E9AB18}" type="slidenum">
              <a:rPr lang="zh-CN" altLang="en-US" smtClean="0"/>
              <a:pPr>
                <a:defRPr/>
              </a:pPr>
              <a:t>53</a:t>
            </a:fld>
            <a:endParaRPr lang="zh-CN" altLang="en-US" dirty="0"/>
          </a:p>
        </p:txBody>
      </p:sp>
      <p:graphicFrame>
        <p:nvGraphicFramePr>
          <p:cNvPr id="10" name="表格 9"/>
          <p:cNvGraphicFramePr>
            <a:graphicFrameLocks noGrp="1"/>
          </p:cNvGraphicFramePr>
          <p:nvPr>
            <p:extLst>
              <p:ext uri="{D42A27DB-BD31-4B8C-83A1-F6EECF244321}">
                <p14:modId xmlns:p14="http://schemas.microsoft.com/office/powerpoint/2010/main" val="1720965857"/>
              </p:ext>
            </p:extLst>
          </p:nvPr>
        </p:nvGraphicFramePr>
        <p:xfrm>
          <a:off x="765076" y="4821763"/>
          <a:ext cx="7669529" cy="2002059"/>
        </p:xfrm>
        <a:graphic>
          <a:graphicData uri="http://schemas.openxmlformats.org/drawingml/2006/table">
            <a:tbl>
              <a:tblPr>
                <a:tableStyleId>{5C22544A-7EE6-4342-B048-85BDC9FD1C3A}</a:tableStyleId>
              </a:tblPr>
              <a:tblGrid>
                <a:gridCol w="1051846">
                  <a:extLst>
                    <a:ext uri="{9D8B030D-6E8A-4147-A177-3AD203B41FA5}">
                      <a16:colId xmlns:a16="http://schemas.microsoft.com/office/drawing/2014/main" val="20000"/>
                    </a:ext>
                  </a:extLst>
                </a:gridCol>
                <a:gridCol w="653143">
                  <a:extLst>
                    <a:ext uri="{9D8B030D-6E8A-4147-A177-3AD203B41FA5}">
                      <a16:colId xmlns:a16="http://schemas.microsoft.com/office/drawing/2014/main" val="20001"/>
                    </a:ext>
                  </a:extLst>
                </a:gridCol>
                <a:gridCol w="1235034">
                  <a:extLst>
                    <a:ext uri="{9D8B030D-6E8A-4147-A177-3AD203B41FA5}">
                      <a16:colId xmlns:a16="http://schemas.microsoft.com/office/drawing/2014/main" val="20002"/>
                    </a:ext>
                  </a:extLst>
                </a:gridCol>
                <a:gridCol w="1235034">
                  <a:extLst>
                    <a:ext uri="{9D8B030D-6E8A-4147-A177-3AD203B41FA5}">
                      <a16:colId xmlns:a16="http://schemas.microsoft.com/office/drawing/2014/main" val="20003"/>
                    </a:ext>
                  </a:extLst>
                </a:gridCol>
                <a:gridCol w="1235034">
                  <a:extLst>
                    <a:ext uri="{9D8B030D-6E8A-4147-A177-3AD203B41FA5}">
                      <a16:colId xmlns:a16="http://schemas.microsoft.com/office/drawing/2014/main" val="20004"/>
                    </a:ext>
                  </a:extLst>
                </a:gridCol>
                <a:gridCol w="1235034">
                  <a:extLst>
                    <a:ext uri="{9D8B030D-6E8A-4147-A177-3AD203B41FA5}">
                      <a16:colId xmlns:a16="http://schemas.microsoft.com/office/drawing/2014/main" val="20005"/>
                    </a:ext>
                  </a:extLst>
                </a:gridCol>
                <a:gridCol w="1024404">
                  <a:extLst>
                    <a:ext uri="{9D8B030D-6E8A-4147-A177-3AD203B41FA5}">
                      <a16:colId xmlns:a16="http://schemas.microsoft.com/office/drawing/2014/main" val="20006"/>
                    </a:ext>
                  </a:extLst>
                </a:gridCol>
              </a:tblGrid>
              <a:tr h="252000">
                <a:tc>
                  <a:txBody>
                    <a:bodyPr/>
                    <a:lstStyle/>
                    <a:p>
                      <a:pPr algn="ctr" fontAlgn="ctr"/>
                      <a:r>
                        <a:rPr lang="zh-CN" altLang="en-US" sz="1200" b="1" u="none" strike="noStrike" dirty="0">
                          <a:solidFill>
                            <a:schemeClr val="bg1"/>
                          </a:solidFill>
                          <a:effectLst/>
                          <a:latin typeface="微软雅黑" panose="020B0503020204020204" pitchFamily="34" charset="-122"/>
                          <a:ea typeface="微软雅黑" panose="020B0503020204020204" pitchFamily="34" charset="-122"/>
                        </a:rPr>
                        <a:t>　</a:t>
                      </a:r>
                      <a:endParaRPr lang="zh-CN" altLang="en-US" sz="1200" b="1" i="0" u="none" strike="noStrike" dirty="0">
                        <a:solidFill>
                          <a:schemeClr val="bg1"/>
                        </a:solidFill>
                        <a:effectLst/>
                        <a:latin typeface="微软雅黑" panose="020B0503020204020204" pitchFamily="34" charset="-122"/>
                        <a:ea typeface="微软雅黑" panose="020B0503020204020204" pitchFamily="34" charset="-122"/>
                      </a:endParaRPr>
                    </a:p>
                  </a:txBody>
                  <a:tcPr marL="9525" marR="9525" marT="9525" marB="0" anchor="ctr">
                    <a:solidFill>
                      <a:schemeClr val="tx2">
                        <a:lumMod val="60000"/>
                        <a:lumOff val="40000"/>
                      </a:schemeClr>
                    </a:solidFill>
                  </a:tcPr>
                </a:tc>
                <a:tc>
                  <a:txBody>
                    <a:bodyPr/>
                    <a:lstStyle/>
                    <a:p>
                      <a:pPr algn="ctr" fontAlgn="ctr"/>
                      <a:r>
                        <a:rPr lang="zh-CN" altLang="en-US" sz="1200" b="1" u="none" strike="noStrike" dirty="0">
                          <a:solidFill>
                            <a:schemeClr val="bg1"/>
                          </a:solidFill>
                          <a:effectLst/>
                          <a:latin typeface="微软雅黑" panose="020B0503020204020204" pitchFamily="34" charset="-122"/>
                          <a:ea typeface="微软雅黑" panose="020B0503020204020204" pitchFamily="34" charset="-122"/>
                        </a:rPr>
                        <a:t>宗数</a:t>
                      </a:r>
                      <a:endParaRPr lang="zh-CN" altLang="en-US" sz="1200" b="1" i="0" u="none" strike="noStrike" dirty="0">
                        <a:solidFill>
                          <a:schemeClr val="bg1"/>
                        </a:solidFill>
                        <a:effectLst/>
                        <a:latin typeface="微软雅黑" panose="020B0503020204020204" pitchFamily="34" charset="-122"/>
                        <a:ea typeface="微软雅黑" panose="020B0503020204020204" pitchFamily="34" charset="-122"/>
                      </a:endParaRPr>
                    </a:p>
                  </a:txBody>
                  <a:tcPr marL="9525" marR="9525" marT="9525" marB="0" anchor="ctr">
                    <a:solidFill>
                      <a:schemeClr val="tx2">
                        <a:lumMod val="60000"/>
                        <a:lumOff val="40000"/>
                      </a:schemeClr>
                    </a:solidFill>
                  </a:tcPr>
                </a:tc>
                <a:tc>
                  <a:txBody>
                    <a:bodyPr/>
                    <a:lstStyle/>
                    <a:p>
                      <a:pPr algn="ctr" fontAlgn="ctr"/>
                      <a:r>
                        <a:rPr lang="zh-CN" altLang="en-US" sz="1200" b="1" u="none" strike="noStrike" dirty="0">
                          <a:solidFill>
                            <a:schemeClr val="bg1"/>
                          </a:solidFill>
                          <a:effectLst/>
                          <a:latin typeface="微软雅黑" panose="020B0503020204020204" pitchFamily="34" charset="-122"/>
                          <a:ea typeface="微软雅黑" panose="020B0503020204020204" pitchFamily="34" charset="-122"/>
                        </a:rPr>
                        <a:t>土地出让金</a:t>
                      </a:r>
                      <a:endParaRPr lang="en-US" altLang="zh-CN" sz="1200" b="1" u="none" strike="noStrike" dirty="0">
                        <a:solidFill>
                          <a:schemeClr val="bg1"/>
                        </a:solidFill>
                        <a:effectLst/>
                        <a:latin typeface="微软雅黑" panose="020B0503020204020204" pitchFamily="34" charset="-122"/>
                        <a:ea typeface="微软雅黑" panose="020B0503020204020204" pitchFamily="34" charset="-122"/>
                      </a:endParaRPr>
                    </a:p>
                    <a:p>
                      <a:pPr algn="ctr" fontAlgn="ctr"/>
                      <a:r>
                        <a:rPr lang="zh-CN" altLang="en-US" sz="1200" b="1" u="none" strike="noStrike" dirty="0">
                          <a:solidFill>
                            <a:schemeClr val="bg1"/>
                          </a:solidFill>
                          <a:effectLst/>
                          <a:latin typeface="微软雅黑" panose="020B0503020204020204" pitchFamily="34" charset="-122"/>
                          <a:ea typeface="微软雅黑" panose="020B0503020204020204" pitchFamily="34" charset="-122"/>
                        </a:rPr>
                        <a:t>（亿元）</a:t>
                      </a:r>
                      <a:endParaRPr lang="zh-CN" altLang="en-US" sz="1200" b="1" i="0" u="none" strike="noStrike" dirty="0">
                        <a:solidFill>
                          <a:schemeClr val="bg1"/>
                        </a:solidFill>
                        <a:effectLst/>
                        <a:latin typeface="微软雅黑" panose="020B0503020204020204" pitchFamily="34" charset="-122"/>
                        <a:ea typeface="微软雅黑" panose="020B0503020204020204" pitchFamily="34" charset="-122"/>
                      </a:endParaRPr>
                    </a:p>
                  </a:txBody>
                  <a:tcPr marL="9525" marR="9525" marT="9525" marB="0" anchor="ctr">
                    <a:solidFill>
                      <a:schemeClr val="tx2">
                        <a:lumMod val="60000"/>
                        <a:lumOff val="40000"/>
                      </a:schemeClr>
                    </a:solidFill>
                  </a:tcPr>
                </a:tc>
                <a:tc>
                  <a:txBody>
                    <a:bodyPr/>
                    <a:lstStyle/>
                    <a:p>
                      <a:pPr algn="ctr" fontAlgn="ctr"/>
                      <a:r>
                        <a:rPr lang="zh-CN" altLang="en-US" sz="1200" b="1" u="none" strike="noStrike" dirty="0">
                          <a:solidFill>
                            <a:schemeClr val="bg1"/>
                          </a:solidFill>
                          <a:effectLst/>
                          <a:latin typeface="微软雅黑" panose="020B0503020204020204" pitchFamily="34" charset="-122"/>
                          <a:ea typeface="微软雅黑" panose="020B0503020204020204" pitchFamily="34" charset="-122"/>
                        </a:rPr>
                        <a:t>建设用地面积</a:t>
                      </a:r>
                      <a:endParaRPr lang="en-US" altLang="zh-CN" sz="1200" b="1" u="none" strike="noStrike" dirty="0">
                        <a:solidFill>
                          <a:schemeClr val="bg1"/>
                        </a:solidFill>
                        <a:effectLst/>
                        <a:latin typeface="微软雅黑" panose="020B0503020204020204" pitchFamily="34" charset="-122"/>
                        <a:ea typeface="微软雅黑" panose="020B0503020204020204" pitchFamily="34" charset="-122"/>
                      </a:endParaRPr>
                    </a:p>
                    <a:p>
                      <a:pPr algn="ctr" fontAlgn="ctr"/>
                      <a:r>
                        <a:rPr lang="en-US" altLang="zh-CN" sz="1200" b="1" u="none" strike="noStrike" dirty="0">
                          <a:solidFill>
                            <a:schemeClr val="bg1"/>
                          </a:solidFill>
                          <a:effectLst/>
                          <a:latin typeface="微软雅黑" panose="020B0503020204020204" pitchFamily="34" charset="-122"/>
                          <a:ea typeface="微软雅黑" panose="020B0503020204020204" pitchFamily="34" charset="-122"/>
                        </a:rPr>
                        <a:t>(</a:t>
                      </a:r>
                      <a:r>
                        <a:rPr lang="zh-CN" altLang="en-US" sz="1200" b="1" u="none" strike="noStrike" dirty="0">
                          <a:solidFill>
                            <a:schemeClr val="bg1"/>
                          </a:solidFill>
                          <a:effectLst/>
                          <a:latin typeface="微软雅黑" panose="020B0503020204020204" pitchFamily="34" charset="-122"/>
                          <a:ea typeface="微软雅黑" panose="020B0503020204020204" pitchFamily="34" charset="-122"/>
                        </a:rPr>
                        <a:t>万㎡</a:t>
                      </a:r>
                      <a:r>
                        <a:rPr lang="en-US" altLang="zh-CN" sz="1200" b="1" u="none" strike="noStrike" dirty="0">
                          <a:solidFill>
                            <a:schemeClr val="bg1"/>
                          </a:solidFill>
                          <a:effectLst/>
                          <a:latin typeface="微软雅黑" panose="020B0503020204020204" pitchFamily="34" charset="-122"/>
                          <a:ea typeface="微软雅黑" panose="020B0503020204020204" pitchFamily="34" charset="-122"/>
                        </a:rPr>
                        <a:t>)</a:t>
                      </a:r>
                      <a:endParaRPr lang="en-US" altLang="zh-CN" sz="1200" b="1" i="0" u="none" strike="noStrike" dirty="0">
                        <a:solidFill>
                          <a:schemeClr val="bg1"/>
                        </a:solidFill>
                        <a:effectLst/>
                        <a:latin typeface="微软雅黑" panose="020B0503020204020204" pitchFamily="34" charset="-122"/>
                        <a:ea typeface="微软雅黑" panose="020B0503020204020204" pitchFamily="34" charset="-122"/>
                      </a:endParaRPr>
                    </a:p>
                  </a:txBody>
                  <a:tcPr marL="9525" marR="9525" marT="9525" marB="0" anchor="ctr">
                    <a:solidFill>
                      <a:schemeClr val="tx2">
                        <a:lumMod val="60000"/>
                        <a:lumOff val="40000"/>
                      </a:schemeClr>
                    </a:solidFill>
                  </a:tcPr>
                </a:tc>
                <a:tc>
                  <a:txBody>
                    <a:bodyPr/>
                    <a:lstStyle/>
                    <a:p>
                      <a:pPr algn="ctr" fontAlgn="ctr"/>
                      <a:r>
                        <a:rPr lang="zh-CN" altLang="en-US" sz="1200" b="1" u="none" strike="noStrike" dirty="0">
                          <a:solidFill>
                            <a:schemeClr val="bg1"/>
                          </a:solidFill>
                          <a:effectLst/>
                          <a:latin typeface="微软雅黑" panose="020B0503020204020204" pitchFamily="34" charset="-122"/>
                          <a:ea typeface="微软雅黑" panose="020B0503020204020204" pitchFamily="34" charset="-122"/>
                        </a:rPr>
                        <a:t>规划建筑面积</a:t>
                      </a:r>
                      <a:endParaRPr lang="en-US" altLang="zh-CN" sz="1200" b="1" u="none" strike="noStrike" dirty="0">
                        <a:solidFill>
                          <a:schemeClr val="bg1"/>
                        </a:solidFill>
                        <a:effectLst/>
                        <a:latin typeface="微软雅黑" panose="020B0503020204020204" pitchFamily="34" charset="-122"/>
                        <a:ea typeface="微软雅黑" panose="020B0503020204020204" pitchFamily="34" charset="-122"/>
                      </a:endParaRPr>
                    </a:p>
                    <a:p>
                      <a:pPr algn="ctr" fontAlgn="ctr"/>
                      <a:r>
                        <a:rPr lang="en-US" altLang="zh-CN" sz="1200" b="1" u="none" strike="noStrike" dirty="0">
                          <a:solidFill>
                            <a:schemeClr val="bg1"/>
                          </a:solidFill>
                          <a:effectLst/>
                          <a:latin typeface="微软雅黑" panose="020B0503020204020204" pitchFamily="34" charset="-122"/>
                          <a:ea typeface="微软雅黑" panose="020B0503020204020204" pitchFamily="34" charset="-122"/>
                        </a:rPr>
                        <a:t>(</a:t>
                      </a:r>
                      <a:r>
                        <a:rPr lang="zh-CN" altLang="en-US" sz="1200" b="1" u="none" strike="noStrike" dirty="0">
                          <a:solidFill>
                            <a:schemeClr val="bg1"/>
                          </a:solidFill>
                          <a:effectLst/>
                          <a:latin typeface="微软雅黑" panose="020B0503020204020204" pitchFamily="34" charset="-122"/>
                          <a:ea typeface="微软雅黑" panose="020B0503020204020204" pitchFamily="34" charset="-122"/>
                        </a:rPr>
                        <a:t>万㎡</a:t>
                      </a:r>
                      <a:r>
                        <a:rPr lang="en-US" altLang="zh-CN" sz="1200" b="1" u="none" strike="noStrike" dirty="0">
                          <a:solidFill>
                            <a:schemeClr val="bg1"/>
                          </a:solidFill>
                          <a:effectLst/>
                          <a:latin typeface="微软雅黑" panose="020B0503020204020204" pitchFamily="34" charset="-122"/>
                          <a:ea typeface="微软雅黑" panose="020B0503020204020204" pitchFamily="34" charset="-122"/>
                        </a:rPr>
                        <a:t>)</a:t>
                      </a:r>
                      <a:endParaRPr lang="en-US" altLang="zh-CN" sz="1200" b="1" i="0" u="none" strike="noStrike" dirty="0">
                        <a:solidFill>
                          <a:schemeClr val="bg1"/>
                        </a:solidFill>
                        <a:effectLst/>
                        <a:latin typeface="微软雅黑" panose="020B0503020204020204" pitchFamily="34" charset="-122"/>
                        <a:ea typeface="微软雅黑" panose="020B0503020204020204" pitchFamily="34" charset="-122"/>
                      </a:endParaRPr>
                    </a:p>
                  </a:txBody>
                  <a:tcPr marL="9525" marR="9525" marT="9525" marB="0" anchor="ctr">
                    <a:solidFill>
                      <a:schemeClr val="tx2">
                        <a:lumMod val="60000"/>
                        <a:lumOff val="40000"/>
                      </a:schemeClr>
                    </a:solidFill>
                  </a:tcPr>
                </a:tc>
                <a:tc>
                  <a:txBody>
                    <a:bodyPr/>
                    <a:lstStyle/>
                    <a:p>
                      <a:pPr algn="ctr" fontAlgn="ctr"/>
                      <a:r>
                        <a:rPr lang="zh-CN" altLang="en-US" sz="1200" b="1" u="none" strike="noStrike" dirty="0">
                          <a:solidFill>
                            <a:schemeClr val="bg1"/>
                          </a:solidFill>
                          <a:effectLst/>
                          <a:latin typeface="微软雅黑" panose="020B0503020204020204" pitchFamily="34" charset="-122"/>
                          <a:ea typeface="微软雅黑" panose="020B0503020204020204" pitchFamily="34" charset="-122"/>
                        </a:rPr>
                        <a:t>成交楼面地价</a:t>
                      </a:r>
                      <a:endParaRPr lang="en-US" altLang="zh-CN" sz="1200" b="1" u="none" strike="noStrike" dirty="0">
                        <a:solidFill>
                          <a:schemeClr val="bg1"/>
                        </a:solidFill>
                        <a:effectLst/>
                        <a:latin typeface="微软雅黑" panose="020B0503020204020204" pitchFamily="34" charset="-122"/>
                        <a:ea typeface="微软雅黑" panose="020B0503020204020204" pitchFamily="34" charset="-122"/>
                      </a:endParaRPr>
                    </a:p>
                    <a:p>
                      <a:pPr algn="ctr" fontAlgn="ctr"/>
                      <a:r>
                        <a:rPr lang="en-US" altLang="zh-CN" sz="1200" b="1" u="none" strike="noStrike" dirty="0">
                          <a:solidFill>
                            <a:schemeClr val="bg1"/>
                          </a:solidFill>
                          <a:effectLst/>
                          <a:latin typeface="微软雅黑" panose="020B0503020204020204" pitchFamily="34" charset="-122"/>
                          <a:ea typeface="微软雅黑" panose="020B0503020204020204" pitchFamily="34" charset="-122"/>
                        </a:rPr>
                        <a:t>(</a:t>
                      </a:r>
                      <a:r>
                        <a:rPr lang="zh-CN" altLang="en-US" sz="1200" b="1" u="none" strike="noStrike" dirty="0">
                          <a:solidFill>
                            <a:schemeClr val="bg1"/>
                          </a:solidFill>
                          <a:effectLst/>
                          <a:latin typeface="微软雅黑" panose="020B0503020204020204" pitchFamily="34" charset="-122"/>
                          <a:ea typeface="微软雅黑" panose="020B0503020204020204" pitchFamily="34" charset="-122"/>
                        </a:rPr>
                        <a:t>元</a:t>
                      </a:r>
                      <a:r>
                        <a:rPr lang="en-US" altLang="zh-CN" sz="1200" b="1" u="none" strike="noStrike" dirty="0">
                          <a:solidFill>
                            <a:schemeClr val="bg1"/>
                          </a:solidFill>
                          <a:effectLst/>
                          <a:latin typeface="微软雅黑" panose="020B0503020204020204" pitchFamily="34" charset="-122"/>
                          <a:ea typeface="微软雅黑" panose="020B0503020204020204" pitchFamily="34" charset="-122"/>
                        </a:rPr>
                        <a:t>/㎡)</a:t>
                      </a:r>
                      <a:endParaRPr lang="en-US" altLang="zh-CN" sz="1200" b="1" i="0" u="none" strike="noStrike" dirty="0">
                        <a:solidFill>
                          <a:schemeClr val="bg1"/>
                        </a:solidFill>
                        <a:effectLst/>
                        <a:latin typeface="微软雅黑" panose="020B0503020204020204" pitchFamily="34" charset="-122"/>
                        <a:ea typeface="微软雅黑" panose="020B0503020204020204" pitchFamily="34" charset="-122"/>
                      </a:endParaRPr>
                    </a:p>
                  </a:txBody>
                  <a:tcPr marL="9525" marR="9525" marT="9525" marB="0" anchor="ctr">
                    <a:solidFill>
                      <a:schemeClr val="tx2">
                        <a:lumMod val="60000"/>
                        <a:lumOff val="40000"/>
                      </a:schemeClr>
                    </a:solidFill>
                  </a:tcPr>
                </a:tc>
                <a:tc>
                  <a:txBody>
                    <a:bodyPr/>
                    <a:lstStyle/>
                    <a:p>
                      <a:pPr algn="ctr" fontAlgn="ctr"/>
                      <a:r>
                        <a:rPr lang="zh-CN" altLang="en-US" sz="1200" b="1" u="none" strike="noStrike" dirty="0">
                          <a:solidFill>
                            <a:schemeClr val="bg1"/>
                          </a:solidFill>
                          <a:effectLst/>
                          <a:latin typeface="微软雅黑" panose="020B0503020204020204" pitchFamily="34" charset="-122"/>
                          <a:ea typeface="微软雅黑" panose="020B0503020204020204" pitchFamily="34" charset="-122"/>
                        </a:rPr>
                        <a:t>平均溢价率</a:t>
                      </a:r>
                      <a:endParaRPr lang="zh-CN" altLang="en-US" sz="1200" b="1" i="0" u="none" strike="noStrike" dirty="0">
                        <a:solidFill>
                          <a:schemeClr val="bg1"/>
                        </a:solidFill>
                        <a:effectLst/>
                        <a:latin typeface="微软雅黑" panose="020B0503020204020204" pitchFamily="34" charset="-122"/>
                        <a:ea typeface="微软雅黑" panose="020B0503020204020204" pitchFamily="34" charset="-122"/>
                      </a:endParaRPr>
                    </a:p>
                  </a:txBody>
                  <a:tcPr marL="9525" marR="9525" marT="9525" marB="0" anchor="ctr">
                    <a:solidFill>
                      <a:schemeClr val="tx2">
                        <a:lumMod val="60000"/>
                        <a:lumOff val="40000"/>
                      </a:schemeClr>
                    </a:solidFill>
                  </a:tcPr>
                </a:tc>
                <a:extLst>
                  <a:ext uri="{0D108BD9-81ED-4DB2-BD59-A6C34878D82A}">
                    <a16:rowId xmlns:a16="http://schemas.microsoft.com/office/drawing/2014/main" val="10000"/>
                  </a:ext>
                </a:extLst>
              </a:tr>
              <a:tr h="206994">
                <a:tc>
                  <a:txBody>
                    <a:bodyPr/>
                    <a:lstStyle/>
                    <a:p>
                      <a:pPr marL="0" marR="0" indent="0" algn="ctr" defTabSz="457200" rtl="0" eaLnBrk="1" fontAlgn="b" latinLnBrk="0" hangingPunct="1">
                        <a:lnSpc>
                          <a:spcPct val="100000"/>
                        </a:lnSpc>
                        <a:spcBef>
                          <a:spcPts val="0"/>
                        </a:spcBef>
                        <a:spcAft>
                          <a:spcPts val="0"/>
                        </a:spcAft>
                        <a:buClrTx/>
                        <a:buSzTx/>
                        <a:buFontTx/>
                        <a:buNone/>
                        <a:tabLst/>
                        <a:defRPr/>
                      </a:pPr>
                      <a:r>
                        <a:rPr lang="en-US" altLang="zh-CN" sz="1200" u="none" strike="noStrike" dirty="0">
                          <a:solidFill>
                            <a:schemeClr val="tx1">
                              <a:lumMod val="50000"/>
                            </a:schemeClr>
                          </a:solidFill>
                          <a:effectLst/>
                          <a:latin typeface="微软雅黑" panose="020B0503020204020204" pitchFamily="34" charset="-122"/>
                          <a:ea typeface="微软雅黑" panose="020B0503020204020204" pitchFamily="34" charset="-122"/>
                        </a:rPr>
                        <a:t>2016</a:t>
                      </a:r>
                      <a:r>
                        <a:rPr lang="zh-CN" altLang="en-US" sz="1200" u="none" strike="noStrike" dirty="0">
                          <a:solidFill>
                            <a:schemeClr val="tx1">
                              <a:lumMod val="50000"/>
                            </a:schemeClr>
                          </a:solidFill>
                          <a:effectLst/>
                          <a:latin typeface="微软雅黑" panose="020B0503020204020204" pitchFamily="34" charset="-122"/>
                          <a:ea typeface="微软雅黑" panose="020B0503020204020204" pitchFamily="34" charset="-122"/>
                        </a:rPr>
                        <a:t>年</a:t>
                      </a:r>
                      <a:r>
                        <a:rPr lang="en-US" altLang="zh-CN" sz="1200" u="none" strike="noStrike" dirty="0">
                          <a:solidFill>
                            <a:schemeClr val="tx1">
                              <a:lumMod val="50000"/>
                            </a:schemeClr>
                          </a:solidFill>
                          <a:effectLst/>
                          <a:latin typeface="微软雅黑" panose="020B0503020204020204" pitchFamily="34" charset="-122"/>
                          <a:ea typeface="微软雅黑" panose="020B0503020204020204" pitchFamily="34" charset="-122"/>
                        </a:rPr>
                        <a:t>1</a:t>
                      </a:r>
                      <a:r>
                        <a:rPr lang="zh-CN" altLang="en-US" sz="1200" u="none" strike="noStrike" dirty="0">
                          <a:solidFill>
                            <a:schemeClr val="tx1">
                              <a:lumMod val="50000"/>
                            </a:schemeClr>
                          </a:solidFill>
                          <a:effectLst/>
                          <a:latin typeface="微软雅黑" panose="020B0503020204020204" pitchFamily="34" charset="-122"/>
                          <a:ea typeface="微软雅黑" panose="020B0503020204020204" pitchFamily="34" charset="-122"/>
                        </a:rPr>
                        <a:t>月</a:t>
                      </a:r>
                      <a:endParaRPr lang="zh-CN" altLang="en-US" sz="1200" b="0" i="0" u="none" strike="noStrike" dirty="0">
                        <a:solidFill>
                          <a:schemeClr val="tx1">
                            <a:lumMod val="50000"/>
                          </a:schemeClr>
                        </a:solidFill>
                        <a:effectLst/>
                        <a:latin typeface="微软雅黑" panose="020B0503020204020204" pitchFamily="34" charset="-122"/>
                        <a:ea typeface="微软雅黑" panose="020B0503020204020204" pitchFamily="34" charset="-122"/>
                      </a:endParaRPr>
                    </a:p>
                  </a:txBody>
                  <a:tcPr marL="9525" marR="9525" marT="9525" marB="0" anchor="ctr">
                    <a:solidFill>
                      <a:schemeClr val="tx2">
                        <a:lumMod val="20000"/>
                        <a:lumOff val="80000"/>
                      </a:schemeClr>
                    </a:solidFill>
                  </a:tcPr>
                </a:tc>
                <a:tc>
                  <a:txBody>
                    <a:bodyPr/>
                    <a:lstStyle/>
                    <a:p>
                      <a:pPr algn="ctr" fontAlgn="b"/>
                      <a:r>
                        <a:rPr lang="en-US" altLang="zh-CN" sz="1200" u="none" strike="noStrike" kern="1200" dirty="0">
                          <a:solidFill>
                            <a:schemeClr val="tx1">
                              <a:lumMod val="50000"/>
                            </a:schemeClr>
                          </a:solidFill>
                          <a:effectLst/>
                          <a:latin typeface="微软雅黑" panose="020B0503020204020204" pitchFamily="34" charset="-122"/>
                          <a:ea typeface="微软雅黑" panose="020B0503020204020204" pitchFamily="34" charset="-122"/>
                          <a:cs typeface="+mn-cs"/>
                        </a:rPr>
                        <a:t>11</a:t>
                      </a:r>
                    </a:p>
                  </a:txBody>
                  <a:tcPr marL="9525" marR="9525" marT="9525" marB="0" anchor="b">
                    <a:solidFill>
                      <a:schemeClr val="tx2">
                        <a:lumMod val="20000"/>
                        <a:lumOff val="80000"/>
                      </a:schemeClr>
                    </a:solidFill>
                  </a:tcPr>
                </a:tc>
                <a:tc>
                  <a:txBody>
                    <a:bodyPr/>
                    <a:lstStyle/>
                    <a:p>
                      <a:pPr algn="ctr" fontAlgn="b"/>
                      <a:r>
                        <a:rPr lang="en-US" altLang="zh-CN" sz="1200" u="none" strike="noStrike" kern="1200" dirty="0">
                          <a:solidFill>
                            <a:schemeClr val="tx1">
                              <a:lumMod val="50000"/>
                            </a:schemeClr>
                          </a:solidFill>
                          <a:effectLst/>
                          <a:latin typeface="微软雅黑" panose="020B0503020204020204" pitchFamily="34" charset="-122"/>
                          <a:ea typeface="微软雅黑" panose="020B0503020204020204" pitchFamily="34" charset="-122"/>
                          <a:cs typeface="+mn-cs"/>
                        </a:rPr>
                        <a:t>1.6 </a:t>
                      </a:r>
                    </a:p>
                  </a:txBody>
                  <a:tcPr marL="9525" marR="9525" marT="9525" marB="0" anchor="b">
                    <a:solidFill>
                      <a:schemeClr val="tx2">
                        <a:lumMod val="20000"/>
                        <a:lumOff val="80000"/>
                      </a:schemeClr>
                    </a:solidFill>
                  </a:tcPr>
                </a:tc>
                <a:tc>
                  <a:txBody>
                    <a:bodyPr/>
                    <a:lstStyle/>
                    <a:p>
                      <a:pPr algn="ctr" fontAlgn="b"/>
                      <a:r>
                        <a:rPr lang="en-US" altLang="zh-CN" sz="1200" u="none" strike="noStrike" kern="1200" dirty="0">
                          <a:solidFill>
                            <a:schemeClr val="tx1">
                              <a:lumMod val="50000"/>
                            </a:schemeClr>
                          </a:solidFill>
                          <a:effectLst/>
                          <a:latin typeface="微软雅黑" panose="020B0503020204020204" pitchFamily="34" charset="-122"/>
                          <a:ea typeface="微软雅黑" panose="020B0503020204020204" pitchFamily="34" charset="-122"/>
                          <a:cs typeface="+mn-cs"/>
                        </a:rPr>
                        <a:t>4.8 </a:t>
                      </a:r>
                    </a:p>
                  </a:txBody>
                  <a:tcPr marL="9525" marR="9525" marT="9525" marB="0" anchor="b">
                    <a:solidFill>
                      <a:schemeClr val="tx2">
                        <a:lumMod val="20000"/>
                        <a:lumOff val="80000"/>
                      </a:schemeClr>
                    </a:solidFill>
                  </a:tcPr>
                </a:tc>
                <a:tc>
                  <a:txBody>
                    <a:bodyPr/>
                    <a:lstStyle/>
                    <a:p>
                      <a:pPr algn="ctr" fontAlgn="b"/>
                      <a:r>
                        <a:rPr lang="en-US" altLang="zh-CN" sz="1200" u="none" strike="noStrike" kern="1200" dirty="0">
                          <a:solidFill>
                            <a:schemeClr val="tx1">
                              <a:lumMod val="50000"/>
                            </a:schemeClr>
                          </a:solidFill>
                          <a:effectLst/>
                          <a:latin typeface="微软雅黑" panose="020B0503020204020204" pitchFamily="34" charset="-122"/>
                          <a:ea typeface="微软雅黑" panose="020B0503020204020204" pitchFamily="34" charset="-122"/>
                          <a:cs typeface="+mn-cs"/>
                        </a:rPr>
                        <a:t>12.2 </a:t>
                      </a:r>
                    </a:p>
                  </a:txBody>
                  <a:tcPr marL="9525" marR="9525" marT="9525" marB="0" anchor="b">
                    <a:solidFill>
                      <a:schemeClr val="tx2">
                        <a:lumMod val="20000"/>
                        <a:lumOff val="80000"/>
                      </a:schemeClr>
                    </a:solidFill>
                  </a:tcPr>
                </a:tc>
                <a:tc>
                  <a:txBody>
                    <a:bodyPr/>
                    <a:lstStyle/>
                    <a:p>
                      <a:pPr algn="ctr" fontAlgn="b"/>
                      <a:r>
                        <a:rPr lang="en-US" altLang="zh-CN" sz="1200" u="none" strike="noStrike" kern="1200" dirty="0">
                          <a:solidFill>
                            <a:schemeClr val="tx1">
                              <a:lumMod val="50000"/>
                            </a:schemeClr>
                          </a:solidFill>
                          <a:effectLst/>
                          <a:latin typeface="微软雅黑" panose="020B0503020204020204" pitchFamily="34" charset="-122"/>
                          <a:ea typeface="微软雅黑" panose="020B0503020204020204" pitchFamily="34" charset="-122"/>
                          <a:cs typeface="+mn-cs"/>
                        </a:rPr>
                        <a:t>1329</a:t>
                      </a:r>
                    </a:p>
                  </a:txBody>
                  <a:tcPr marL="9525" marR="9525" marT="9525" marB="0" anchor="b">
                    <a:solidFill>
                      <a:schemeClr val="tx2">
                        <a:lumMod val="20000"/>
                        <a:lumOff val="80000"/>
                      </a:schemeClr>
                    </a:solidFill>
                  </a:tcPr>
                </a:tc>
                <a:tc>
                  <a:txBody>
                    <a:bodyPr/>
                    <a:lstStyle/>
                    <a:p>
                      <a:pPr algn="ctr" fontAlgn="b"/>
                      <a:r>
                        <a:rPr lang="en-US" altLang="zh-CN" sz="1200" u="none" strike="noStrike" kern="1200" dirty="0">
                          <a:solidFill>
                            <a:schemeClr val="tx1">
                              <a:lumMod val="50000"/>
                            </a:schemeClr>
                          </a:solidFill>
                          <a:effectLst/>
                          <a:latin typeface="微软雅黑" panose="020B0503020204020204" pitchFamily="34" charset="-122"/>
                          <a:ea typeface="微软雅黑" panose="020B0503020204020204" pitchFamily="34" charset="-122"/>
                          <a:cs typeface="+mn-cs"/>
                        </a:rPr>
                        <a:t>0.0%</a:t>
                      </a:r>
                    </a:p>
                  </a:txBody>
                  <a:tcPr marL="9525" marR="9525" marT="9525" marB="0" anchor="b">
                    <a:solidFill>
                      <a:schemeClr val="tx2">
                        <a:lumMod val="20000"/>
                        <a:lumOff val="80000"/>
                      </a:schemeClr>
                    </a:solidFill>
                  </a:tcPr>
                </a:tc>
                <a:extLst>
                  <a:ext uri="{0D108BD9-81ED-4DB2-BD59-A6C34878D82A}">
                    <a16:rowId xmlns:a16="http://schemas.microsoft.com/office/drawing/2014/main" val="10001"/>
                  </a:ext>
                </a:extLst>
              </a:tr>
              <a:tr h="206994">
                <a:tc>
                  <a:txBody>
                    <a:bodyPr/>
                    <a:lstStyle/>
                    <a:p>
                      <a:pPr algn="ctr" fontAlgn="b"/>
                      <a:r>
                        <a:rPr lang="en-US" altLang="zh-CN" sz="1200" u="none" strike="noStrike" dirty="0">
                          <a:solidFill>
                            <a:schemeClr val="tx1">
                              <a:lumMod val="50000"/>
                            </a:schemeClr>
                          </a:solidFill>
                          <a:effectLst/>
                          <a:latin typeface="微软雅黑" panose="020B0503020204020204" pitchFamily="34" charset="-122"/>
                          <a:ea typeface="微软雅黑" panose="020B0503020204020204" pitchFamily="34" charset="-122"/>
                        </a:rPr>
                        <a:t>2016</a:t>
                      </a:r>
                      <a:r>
                        <a:rPr lang="zh-CN" altLang="en-US" sz="1200" u="none" strike="noStrike" dirty="0">
                          <a:solidFill>
                            <a:schemeClr val="tx1">
                              <a:lumMod val="50000"/>
                            </a:schemeClr>
                          </a:solidFill>
                          <a:effectLst/>
                          <a:latin typeface="微软雅黑" panose="020B0503020204020204" pitchFamily="34" charset="-122"/>
                          <a:ea typeface="微软雅黑" panose="020B0503020204020204" pitchFamily="34" charset="-122"/>
                        </a:rPr>
                        <a:t>年</a:t>
                      </a:r>
                      <a:r>
                        <a:rPr lang="en-US" altLang="zh-CN" sz="1200" u="none" strike="noStrike" dirty="0">
                          <a:solidFill>
                            <a:schemeClr val="tx1">
                              <a:lumMod val="50000"/>
                            </a:schemeClr>
                          </a:solidFill>
                          <a:effectLst/>
                          <a:latin typeface="微软雅黑" panose="020B0503020204020204" pitchFamily="34" charset="-122"/>
                          <a:ea typeface="微软雅黑" panose="020B0503020204020204" pitchFamily="34" charset="-122"/>
                        </a:rPr>
                        <a:t>3</a:t>
                      </a:r>
                      <a:r>
                        <a:rPr lang="zh-CN" altLang="en-US" sz="1200" u="none" strike="noStrike" dirty="0">
                          <a:solidFill>
                            <a:schemeClr val="tx1">
                              <a:lumMod val="50000"/>
                            </a:schemeClr>
                          </a:solidFill>
                          <a:effectLst/>
                          <a:latin typeface="微软雅黑" panose="020B0503020204020204" pitchFamily="34" charset="-122"/>
                          <a:ea typeface="微软雅黑" panose="020B0503020204020204" pitchFamily="34" charset="-122"/>
                        </a:rPr>
                        <a:t>月</a:t>
                      </a:r>
                      <a:endParaRPr lang="zh-CN" altLang="en-US" sz="1200" b="0" i="0" u="none" strike="noStrike" dirty="0">
                        <a:solidFill>
                          <a:schemeClr val="tx1">
                            <a:lumMod val="50000"/>
                          </a:schemeClr>
                        </a:solidFill>
                        <a:effectLst/>
                        <a:latin typeface="微软雅黑" panose="020B0503020204020204" pitchFamily="34" charset="-122"/>
                        <a:ea typeface="微软雅黑" panose="020B0503020204020204" pitchFamily="34" charset="-122"/>
                      </a:endParaRPr>
                    </a:p>
                  </a:txBody>
                  <a:tcPr marL="9525" marR="9525" marT="9525" marB="0" anchor="ctr">
                    <a:solidFill>
                      <a:schemeClr val="tx2">
                        <a:lumMod val="20000"/>
                        <a:lumOff val="80000"/>
                      </a:schemeClr>
                    </a:solidFill>
                  </a:tcPr>
                </a:tc>
                <a:tc>
                  <a:txBody>
                    <a:bodyPr/>
                    <a:lstStyle/>
                    <a:p>
                      <a:pPr algn="ctr" fontAlgn="b"/>
                      <a:r>
                        <a:rPr lang="en-US" altLang="zh-CN" sz="1200" u="none" strike="noStrike" kern="1200" dirty="0">
                          <a:solidFill>
                            <a:schemeClr val="tx1">
                              <a:lumMod val="50000"/>
                            </a:schemeClr>
                          </a:solidFill>
                          <a:effectLst/>
                          <a:latin typeface="微软雅黑" panose="020B0503020204020204" pitchFamily="34" charset="-122"/>
                          <a:ea typeface="微软雅黑" panose="020B0503020204020204" pitchFamily="34" charset="-122"/>
                          <a:cs typeface="+mn-cs"/>
                        </a:rPr>
                        <a:t>8</a:t>
                      </a:r>
                    </a:p>
                  </a:txBody>
                  <a:tcPr marL="9525" marR="9525" marT="9525" marB="0" anchor="ctr">
                    <a:solidFill>
                      <a:schemeClr val="tx2">
                        <a:lumMod val="20000"/>
                        <a:lumOff val="80000"/>
                      </a:schemeClr>
                    </a:solidFill>
                  </a:tcPr>
                </a:tc>
                <a:tc>
                  <a:txBody>
                    <a:bodyPr/>
                    <a:lstStyle/>
                    <a:p>
                      <a:pPr algn="ctr" fontAlgn="b"/>
                      <a:r>
                        <a:rPr lang="en-US" altLang="zh-CN" sz="1200" u="none" strike="noStrike" kern="1200">
                          <a:solidFill>
                            <a:schemeClr val="tx1">
                              <a:lumMod val="50000"/>
                            </a:schemeClr>
                          </a:solidFill>
                          <a:effectLst/>
                          <a:latin typeface="微软雅黑" panose="020B0503020204020204" pitchFamily="34" charset="-122"/>
                          <a:ea typeface="微软雅黑" panose="020B0503020204020204" pitchFamily="34" charset="-122"/>
                          <a:cs typeface="+mn-cs"/>
                        </a:rPr>
                        <a:t>9.2 </a:t>
                      </a:r>
                    </a:p>
                  </a:txBody>
                  <a:tcPr marL="9525" marR="9525" marT="9525" marB="0" anchor="ctr">
                    <a:solidFill>
                      <a:schemeClr val="tx2">
                        <a:lumMod val="20000"/>
                        <a:lumOff val="80000"/>
                      </a:schemeClr>
                    </a:solidFill>
                  </a:tcPr>
                </a:tc>
                <a:tc>
                  <a:txBody>
                    <a:bodyPr/>
                    <a:lstStyle/>
                    <a:p>
                      <a:pPr algn="ctr" fontAlgn="b"/>
                      <a:r>
                        <a:rPr lang="en-US" altLang="zh-CN" sz="1200" u="none" strike="noStrike" kern="1200" dirty="0">
                          <a:solidFill>
                            <a:schemeClr val="tx1">
                              <a:lumMod val="50000"/>
                            </a:schemeClr>
                          </a:solidFill>
                          <a:effectLst/>
                          <a:latin typeface="微软雅黑" panose="020B0503020204020204" pitchFamily="34" charset="-122"/>
                          <a:ea typeface="微软雅黑" panose="020B0503020204020204" pitchFamily="34" charset="-122"/>
                          <a:cs typeface="+mn-cs"/>
                        </a:rPr>
                        <a:t>34.7 </a:t>
                      </a:r>
                    </a:p>
                  </a:txBody>
                  <a:tcPr marL="9525" marR="9525" marT="9525" marB="0" anchor="ctr">
                    <a:solidFill>
                      <a:schemeClr val="tx2">
                        <a:lumMod val="20000"/>
                        <a:lumOff val="80000"/>
                      </a:schemeClr>
                    </a:solidFill>
                  </a:tcPr>
                </a:tc>
                <a:tc>
                  <a:txBody>
                    <a:bodyPr/>
                    <a:lstStyle/>
                    <a:p>
                      <a:pPr algn="ctr" fontAlgn="b"/>
                      <a:r>
                        <a:rPr lang="en-US" altLang="zh-CN" sz="1200" u="none" strike="noStrike" kern="1200" dirty="0">
                          <a:solidFill>
                            <a:schemeClr val="tx1">
                              <a:lumMod val="50000"/>
                            </a:schemeClr>
                          </a:solidFill>
                          <a:effectLst/>
                          <a:latin typeface="微软雅黑" panose="020B0503020204020204" pitchFamily="34" charset="-122"/>
                          <a:ea typeface="微软雅黑" panose="020B0503020204020204" pitchFamily="34" charset="-122"/>
                          <a:cs typeface="+mn-cs"/>
                        </a:rPr>
                        <a:t>64.9 </a:t>
                      </a:r>
                    </a:p>
                  </a:txBody>
                  <a:tcPr marL="9525" marR="9525" marT="9525" marB="0" anchor="ctr">
                    <a:solidFill>
                      <a:schemeClr val="tx2">
                        <a:lumMod val="20000"/>
                        <a:lumOff val="80000"/>
                      </a:schemeClr>
                    </a:solidFill>
                  </a:tcPr>
                </a:tc>
                <a:tc>
                  <a:txBody>
                    <a:bodyPr/>
                    <a:lstStyle/>
                    <a:p>
                      <a:pPr algn="ctr" fontAlgn="b"/>
                      <a:r>
                        <a:rPr lang="en-US" altLang="zh-CN" sz="1200" u="none" strike="noStrike" kern="1200" dirty="0">
                          <a:solidFill>
                            <a:schemeClr val="tx1">
                              <a:lumMod val="50000"/>
                            </a:schemeClr>
                          </a:solidFill>
                          <a:effectLst/>
                          <a:latin typeface="微软雅黑" panose="020B0503020204020204" pitchFamily="34" charset="-122"/>
                          <a:ea typeface="微软雅黑" panose="020B0503020204020204" pitchFamily="34" charset="-122"/>
                          <a:cs typeface="+mn-cs"/>
                        </a:rPr>
                        <a:t>1424</a:t>
                      </a:r>
                    </a:p>
                  </a:txBody>
                  <a:tcPr marL="9525" marR="9525" marT="9525" marB="0" anchor="ctr">
                    <a:solidFill>
                      <a:schemeClr val="tx2">
                        <a:lumMod val="20000"/>
                        <a:lumOff val="80000"/>
                      </a:schemeClr>
                    </a:solidFill>
                  </a:tcPr>
                </a:tc>
                <a:tc>
                  <a:txBody>
                    <a:bodyPr/>
                    <a:lstStyle/>
                    <a:p>
                      <a:pPr algn="ctr" fontAlgn="b"/>
                      <a:r>
                        <a:rPr lang="en-US" altLang="zh-CN" sz="1200" u="none" strike="noStrike" kern="1200" dirty="0">
                          <a:solidFill>
                            <a:schemeClr val="tx1">
                              <a:lumMod val="50000"/>
                            </a:schemeClr>
                          </a:solidFill>
                          <a:effectLst/>
                          <a:latin typeface="微软雅黑" panose="020B0503020204020204" pitchFamily="34" charset="-122"/>
                          <a:ea typeface="微软雅黑" panose="020B0503020204020204" pitchFamily="34" charset="-122"/>
                          <a:cs typeface="+mn-cs"/>
                        </a:rPr>
                        <a:t>10.0%</a:t>
                      </a:r>
                    </a:p>
                  </a:txBody>
                  <a:tcPr marL="9525" marR="9525" marT="9525" marB="0" anchor="ctr">
                    <a:solidFill>
                      <a:schemeClr val="tx2">
                        <a:lumMod val="20000"/>
                        <a:lumOff val="80000"/>
                      </a:schemeClr>
                    </a:solidFill>
                  </a:tcPr>
                </a:tc>
                <a:extLst>
                  <a:ext uri="{0D108BD9-81ED-4DB2-BD59-A6C34878D82A}">
                    <a16:rowId xmlns:a16="http://schemas.microsoft.com/office/drawing/2014/main" val="10002"/>
                  </a:ext>
                </a:extLst>
              </a:tr>
              <a:tr h="206994">
                <a:tc>
                  <a:txBody>
                    <a:bodyPr/>
                    <a:lstStyle/>
                    <a:p>
                      <a:pPr marL="0" marR="0" indent="0" algn="ctr" defTabSz="457200" rtl="0" eaLnBrk="1" fontAlgn="b" latinLnBrk="0" hangingPunct="1">
                        <a:lnSpc>
                          <a:spcPct val="100000"/>
                        </a:lnSpc>
                        <a:spcBef>
                          <a:spcPts val="0"/>
                        </a:spcBef>
                        <a:spcAft>
                          <a:spcPts val="0"/>
                        </a:spcAft>
                        <a:buClrTx/>
                        <a:buSzTx/>
                        <a:buFontTx/>
                        <a:buNone/>
                        <a:tabLst/>
                        <a:defRPr/>
                      </a:pPr>
                      <a:r>
                        <a:rPr lang="en-US" altLang="zh-CN" sz="1200" u="none" strike="noStrike" dirty="0">
                          <a:solidFill>
                            <a:schemeClr val="tx1">
                              <a:lumMod val="50000"/>
                            </a:schemeClr>
                          </a:solidFill>
                          <a:effectLst/>
                          <a:latin typeface="微软雅黑" panose="020B0503020204020204" pitchFamily="34" charset="-122"/>
                          <a:ea typeface="微软雅黑" panose="020B0503020204020204" pitchFamily="34" charset="-122"/>
                        </a:rPr>
                        <a:t>2016</a:t>
                      </a:r>
                      <a:r>
                        <a:rPr lang="zh-CN" altLang="en-US" sz="1200" u="none" strike="noStrike" dirty="0">
                          <a:solidFill>
                            <a:schemeClr val="tx1">
                              <a:lumMod val="50000"/>
                            </a:schemeClr>
                          </a:solidFill>
                          <a:effectLst/>
                          <a:latin typeface="微软雅黑" panose="020B0503020204020204" pitchFamily="34" charset="-122"/>
                          <a:ea typeface="微软雅黑" panose="020B0503020204020204" pitchFamily="34" charset="-122"/>
                        </a:rPr>
                        <a:t>年</a:t>
                      </a:r>
                      <a:r>
                        <a:rPr lang="en-US" altLang="zh-CN" sz="1200" u="none" strike="noStrike" dirty="0">
                          <a:solidFill>
                            <a:schemeClr val="tx1">
                              <a:lumMod val="50000"/>
                            </a:schemeClr>
                          </a:solidFill>
                          <a:effectLst/>
                          <a:latin typeface="微软雅黑" panose="020B0503020204020204" pitchFamily="34" charset="-122"/>
                          <a:ea typeface="微软雅黑" panose="020B0503020204020204" pitchFamily="34" charset="-122"/>
                        </a:rPr>
                        <a:t>4</a:t>
                      </a:r>
                      <a:r>
                        <a:rPr lang="zh-CN" altLang="en-US" sz="1200" u="none" strike="noStrike" dirty="0">
                          <a:solidFill>
                            <a:schemeClr val="tx1">
                              <a:lumMod val="50000"/>
                            </a:schemeClr>
                          </a:solidFill>
                          <a:effectLst/>
                          <a:latin typeface="微软雅黑" panose="020B0503020204020204" pitchFamily="34" charset="-122"/>
                          <a:ea typeface="微软雅黑" panose="020B0503020204020204" pitchFamily="34" charset="-122"/>
                        </a:rPr>
                        <a:t>月</a:t>
                      </a:r>
                      <a:endParaRPr lang="zh-CN" altLang="en-US" sz="1200" b="0" i="0" u="none" strike="noStrike" dirty="0">
                        <a:solidFill>
                          <a:schemeClr val="tx1">
                            <a:lumMod val="50000"/>
                          </a:schemeClr>
                        </a:solidFill>
                        <a:effectLst/>
                        <a:latin typeface="微软雅黑" panose="020B0503020204020204" pitchFamily="34" charset="-122"/>
                        <a:ea typeface="微软雅黑" panose="020B0503020204020204" pitchFamily="34" charset="-122"/>
                      </a:endParaRPr>
                    </a:p>
                  </a:txBody>
                  <a:tcPr marL="9525" marR="9525" marT="9525" marB="0" anchor="ctr">
                    <a:solidFill>
                      <a:schemeClr val="tx2">
                        <a:lumMod val="20000"/>
                        <a:lumOff val="80000"/>
                      </a:schemeClr>
                    </a:solidFill>
                  </a:tcPr>
                </a:tc>
                <a:tc>
                  <a:txBody>
                    <a:bodyPr/>
                    <a:lstStyle/>
                    <a:p>
                      <a:pPr algn="ctr" fontAlgn="b"/>
                      <a:r>
                        <a:rPr lang="en-US" altLang="zh-CN" sz="1200" u="none" strike="noStrike" kern="1200">
                          <a:solidFill>
                            <a:schemeClr val="tx1">
                              <a:lumMod val="50000"/>
                            </a:schemeClr>
                          </a:solidFill>
                          <a:effectLst/>
                          <a:latin typeface="微软雅黑" panose="020B0503020204020204" pitchFamily="34" charset="-122"/>
                          <a:ea typeface="微软雅黑" panose="020B0503020204020204" pitchFamily="34" charset="-122"/>
                          <a:cs typeface="+mn-cs"/>
                        </a:rPr>
                        <a:t>8</a:t>
                      </a:r>
                    </a:p>
                  </a:txBody>
                  <a:tcPr marL="9525" marR="9525" marT="9525" marB="0" anchor="b">
                    <a:solidFill>
                      <a:schemeClr val="tx2">
                        <a:lumMod val="20000"/>
                        <a:lumOff val="80000"/>
                      </a:schemeClr>
                    </a:solidFill>
                  </a:tcPr>
                </a:tc>
                <a:tc>
                  <a:txBody>
                    <a:bodyPr/>
                    <a:lstStyle/>
                    <a:p>
                      <a:pPr algn="ctr" fontAlgn="b"/>
                      <a:r>
                        <a:rPr lang="en-US" altLang="zh-CN" sz="1200" u="none" strike="noStrike" kern="1200">
                          <a:solidFill>
                            <a:schemeClr val="tx1">
                              <a:lumMod val="50000"/>
                            </a:schemeClr>
                          </a:solidFill>
                          <a:effectLst/>
                          <a:latin typeface="微软雅黑" panose="020B0503020204020204" pitchFamily="34" charset="-122"/>
                          <a:ea typeface="微软雅黑" panose="020B0503020204020204" pitchFamily="34" charset="-122"/>
                          <a:cs typeface="+mn-cs"/>
                        </a:rPr>
                        <a:t>0.8 </a:t>
                      </a:r>
                    </a:p>
                  </a:txBody>
                  <a:tcPr marL="9525" marR="9525" marT="9525" marB="0" anchor="b">
                    <a:solidFill>
                      <a:schemeClr val="tx2">
                        <a:lumMod val="20000"/>
                        <a:lumOff val="80000"/>
                      </a:schemeClr>
                    </a:solidFill>
                  </a:tcPr>
                </a:tc>
                <a:tc>
                  <a:txBody>
                    <a:bodyPr/>
                    <a:lstStyle/>
                    <a:p>
                      <a:pPr algn="ctr" fontAlgn="b"/>
                      <a:r>
                        <a:rPr lang="en-US" altLang="zh-CN" sz="1200" u="none" strike="noStrike" kern="1200">
                          <a:solidFill>
                            <a:schemeClr val="tx1">
                              <a:lumMod val="50000"/>
                            </a:schemeClr>
                          </a:solidFill>
                          <a:effectLst/>
                          <a:latin typeface="微软雅黑" panose="020B0503020204020204" pitchFamily="34" charset="-122"/>
                          <a:ea typeface="微软雅黑" panose="020B0503020204020204" pitchFamily="34" charset="-122"/>
                          <a:cs typeface="+mn-cs"/>
                        </a:rPr>
                        <a:t>6.5 </a:t>
                      </a:r>
                    </a:p>
                  </a:txBody>
                  <a:tcPr marL="9525" marR="9525" marT="9525" marB="0" anchor="b">
                    <a:solidFill>
                      <a:schemeClr val="tx2">
                        <a:lumMod val="20000"/>
                        <a:lumOff val="80000"/>
                      </a:schemeClr>
                    </a:solidFill>
                  </a:tcPr>
                </a:tc>
                <a:tc>
                  <a:txBody>
                    <a:bodyPr/>
                    <a:lstStyle/>
                    <a:p>
                      <a:pPr algn="ctr" fontAlgn="b"/>
                      <a:r>
                        <a:rPr lang="en-US" altLang="zh-CN" sz="1200" u="none" strike="noStrike" kern="1200">
                          <a:solidFill>
                            <a:schemeClr val="tx1">
                              <a:lumMod val="50000"/>
                            </a:schemeClr>
                          </a:solidFill>
                          <a:effectLst/>
                          <a:latin typeface="微软雅黑" panose="020B0503020204020204" pitchFamily="34" charset="-122"/>
                          <a:ea typeface="微软雅黑" panose="020B0503020204020204" pitchFamily="34" charset="-122"/>
                          <a:cs typeface="+mn-cs"/>
                        </a:rPr>
                        <a:t>10.4 </a:t>
                      </a:r>
                    </a:p>
                  </a:txBody>
                  <a:tcPr marL="9525" marR="9525" marT="9525" marB="0" anchor="b">
                    <a:solidFill>
                      <a:schemeClr val="tx2">
                        <a:lumMod val="20000"/>
                        <a:lumOff val="80000"/>
                      </a:schemeClr>
                    </a:solidFill>
                  </a:tcPr>
                </a:tc>
                <a:tc>
                  <a:txBody>
                    <a:bodyPr/>
                    <a:lstStyle/>
                    <a:p>
                      <a:pPr algn="ctr" fontAlgn="b"/>
                      <a:r>
                        <a:rPr lang="en-US" altLang="zh-CN" sz="1200" u="none" strike="noStrike" kern="1200" dirty="0">
                          <a:solidFill>
                            <a:schemeClr val="tx1">
                              <a:lumMod val="50000"/>
                            </a:schemeClr>
                          </a:solidFill>
                          <a:effectLst/>
                          <a:latin typeface="微软雅黑" panose="020B0503020204020204" pitchFamily="34" charset="-122"/>
                          <a:ea typeface="微软雅黑" panose="020B0503020204020204" pitchFamily="34" charset="-122"/>
                          <a:cs typeface="+mn-cs"/>
                        </a:rPr>
                        <a:t>732</a:t>
                      </a:r>
                    </a:p>
                  </a:txBody>
                  <a:tcPr marL="9525" marR="9525" marT="9525" marB="0" anchor="b">
                    <a:solidFill>
                      <a:schemeClr val="tx2">
                        <a:lumMod val="20000"/>
                        <a:lumOff val="80000"/>
                      </a:schemeClr>
                    </a:solidFill>
                  </a:tcPr>
                </a:tc>
                <a:tc>
                  <a:txBody>
                    <a:bodyPr/>
                    <a:lstStyle/>
                    <a:p>
                      <a:pPr algn="ctr" fontAlgn="b"/>
                      <a:r>
                        <a:rPr lang="en-US" altLang="zh-CN" sz="1200" u="none" strike="noStrike" kern="1200" dirty="0">
                          <a:solidFill>
                            <a:schemeClr val="tx1">
                              <a:lumMod val="50000"/>
                            </a:schemeClr>
                          </a:solidFill>
                          <a:effectLst/>
                          <a:latin typeface="微软雅黑" panose="020B0503020204020204" pitchFamily="34" charset="-122"/>
                          <a:ea typeface="微软雅黑" panose="020B0503020204020204" pitchFamily="34" charset="-122"/>
                          <a:cs typeface="+mn-cs"/>
                        </a:rPr>
                        <a:t>0.0%</a:t>
                      </a:r>
                    </a:p>
                  </a:txBody>
                  <a:tcPr marL="9525" marR="9525" marT="9525" marB="0" anchor="b">
                    <a:solidFill>
                      <a:schemeClr val="tx2">
                        <a:lumMod val="20000"/>
                        <a:lumOff val="80000"/>
                      </a:schemeClr>
                    </a:solidFill>
                  </a:tcPr>
                </a:tc>
                <a:extLst>
                  <a:ext uri="{0D108BD9-81ED-4DB2-BD59-A6C34878D82A}">
                    <a16:rowId xmlns:a16="http://schemas.microsoft.com/office/drawing/2014/main" val="10003"/>
                  </a:ext>
                </a:extLst>
              </a:tr>
              <a:tr h="206994">
                <a:tc>
                  <a:txBody>
                    <a:bodyPr/>
                    <a:lstStyle/>
                    <a:p>
                      <a:pPr marL="0" marR="0" indent="0" algn="ctr" defTabSz="457200" rtl="0" eaLnBrk="1" fontAlgn="b" latinLnBrk="0" hangingPunct="1">
                        <a:lnSpc>
                          <a:spcPct val="100000"/>
                        </a:lnSpc>
                        <a:spcBef>
                          <a:spcPts val="0"/>
                        </a:spcBef>
                        <a:spcAft>
                          <a:spcPts val="0"/>
                        </a:spcAft>
                        <a:buClrTx/>
                        <a:buSzTx/>
                        <a:buFontTx/>
                        <a:buNone/>
                        <a:tabLst/>
                        <a:defRPr/>
                      </a:pPr>
                      <a:r>
                        <a:rPr lang="en-US" altLang="zh-CN" sz="1200" u="none" strike="noStrike" dirty="0">
                          <a:solidFill>
                            <a:schemeClr val="tx1">
                              <a:lumMod val="50000"/>
                            </a:schemeClr>
                          </a:solidFill>
                          <a:effectLst/>
                          <a:latin typeface="微软雅黑" panose="020B0503020204020204" pitchFamily="34" charset="-122"/>
                          <a:ea typeface="微软雅黑" panose="020B0503020204020204" pitchFamily="34" charset="-122"/>
                        </a:rPr>
                        <a:t>2016</a:t>
                      </a:r>
                      <a:r>
                        <a:rPr lang="zh-CN" altLang="en-US" sz="1200" u="none" strike="noStrike" dirty="0">
                          <a:solidFill>
                            <a:schemeClr val="tx1">
                              <a:lumMod val="50000"/>
                            </a:schemeClr>
                          </a:solidFill>
                          <a:effectLst/>
                          <a:latin typeface="微软雅黑" panose="020B0503020204020204" pitchFamily="34" charset="-122"/>
                          <a:ea typeface="微软雅黑" panose="020B0503020204020204" pitchFamily="34" charset="-122"/>
                        </a:rPr>
                        <a:t>年</a:t>
                      </a:r>
                      <a:r>
                        <a:rPr lang="en-US" altLang="zh-CN" sz="1200" u="none" strike="noStrike" dirty="0">
                          <a:solidFill>
                            <a:schemeClr val="tx1">
                              <a:lumMod val="50000"/>
                            </a:schemeClr>
                          </a:solidFill>
                          <a:effectLst/>
                          <a:latin typeface="微软雅黑" panose="020B0503020204020204" pitchFamily="34" charset="-122"/>
                          <a:ea typeface="微软雅黑" panose="020B0503020204020204" pitchFamily="34" charset="-122"/>
                        </a:rPr>
                        <a:t>5</a:t>
                      </a:r>
                      <a:r>
                        <a:rPr lang="zh-CN" altLang="en-US" sz="1200" u="none" strike="noStrike" dirty="0">
                          <a:solidFill>
                            <a:schemeClr val="tx1">
                              <a:lumMod val="50000"/>
                            </a:schemeClr>
                          </a:solidFill>
                          <a:effectLst/>
                          <a:latin typeface="微软雅黑" panose="020B0503020204020204" pitchFamily="34" charset="-122"/>
                          <a:ea typeface="微软雅黑" panose="020B0503020204020204" pitchFamily="34" charset="-122"/>
                        </a:rPr>
                        <a:t>月</a:t>
                      </a:r>
                      <a:endParaRPr lang="zh-CN" altLang="en-US" sz="1200" b="0" i="0" u="none" strike="noStrike" dirty="0">
                        <a:solidFill>
                          <a:schemeClr val="tx1">
                            <a:lumMod val="50000"/>
                          </a:schemeClr>
                        </a:solidFill>
                        <a:effectLst/>
                        <a:latin typeface="微软雅黑" panose="020B0503020204020204" pitchFamily="34" charset="-122"/>
                        <a:ea typeface="微软雅黑" panose="020B0503020204020204" pitchFamily="34" charset="-122"/>
                      </a:endParaRPr>
                    </a:p>
                  </a:txBody>
                  <a:tcPr marL="9525" marR="9525" marT="9525" marB="0" anchor="ctr">
                    <a:solidFill>
                      <a:schemeClr val="tx2">
                        <a:lumMod val="20000"/>
                        <a:lumOff val="80000"/>
                      </a:schemeClr>
                    </a:solidFill>
                  </a:tcPr>
                </a:tc>
                <a:tc>
                  <a:txBody>
                    <a:bodyPr/>
                    <a:lstStyle/>
                    <a:p>
                      <a:pPr algn="ctr" fontAlgn="b"/>
                      <a:r>
                        <a:rPr lang="en-US" altLang="zh-CN" sz="1200" u="none" strike="noStrike" kern="1200">
                          <a:solidFill>
                            <a:schemeClr val="tx1">
                              <a:lumMod val="50000"/>
                            </a:schemeClr>
                          </a:solidFill>
                          <a:effectLst/>
                          <a:latin typeface="微软雅黑" panose="020B0503020204020204" pitchFamily="34" charset="-122"/>
                          <a:ea typeface="微软雅黑" panose="020B0503020204020204" pitchFamily="34" charset="-122"/>
                          <a:cs typeface="+mn-cs"/>
                        </a:rPr>
                        <a:t>24</a:t>
                      </a:r>
                    </a:p>
                  </a:txBody>
                  <a:tcPr marL="9525" marR="9525" marT="9525" marB="0" anchor="b">
                    <a:solidFill>
                      <a:schemeClr val="tx2">
                        <a:lumMod val="20000"/>
                        <a:lumOff val="80000"/>
                      </a:schemeClr>
                    </a:solidFill>
                  </a:tcPr>
                </a:tc>
                <a:tc>
                  <a:txBody>
                    <a:bodyPr/>
                    <a:lstStyle/>
                    <a:p>
                      <a:pPr algn="ctr" fontAlgn="b"/>
                      <a:r>
                        <a:rPr lang="en-US" altLang="zh-CN" sz="1200" u="none" strike="noStrike" kern="1200" dirty="0">
                          <a:solidFill>
                            <a:schemeClr val="tx1">
                              <a:lumMod val="50000"/>
                            </a:schemeClr>
                          </a:solidFill>
                          <a:effectLst/>
                          <a:latin typeface="微软雅黑" panose="020B0503020204020204" pitchFamily="34" charset="-122"/>
                          <a:ea typeface="微软雅黑" panose="020B0503020204020204" pitchFamily="34" charset="-122"/>
                          <a:cs typeface="+mn-cs"/>
                        </a:rPr>
                        <a:t>23.3 </a:t>
                      </a:r>
                    </a:p>
                  </a:txBody>
                  <a:tcPr marL="9525" marR="9525" marT="9525" marB="0" anchor="b">
                    <a:solidFill>
                      <a:schemeClr val="tx2">
                        <a:lumMod val="20000"/>
                        <a:lumOff val="80000"/>
                      </a:schemeClr>
                    </a:solidFill>
                  </a:tcPr>
                </a:tc>
                <a:tc>
                  <a:txBody>
                    <a:bodyPr/>
                    <a:lstStyle/>
                    <a:p>
                      <a:pPr algn="ctr" fontAlgn="b"/>
                      <a:r>
                        <a:rPr lang="en-US" altLang="zh-CN" sz="1200" u="none" strike="noStrike" kern="1200">
                          <a:solidFill>
                            <a:schemeClr val="tx1">
                              <a:lumMod val="50000"/>
                            </a:schemeClr>
                          </a:solidFill>
                          <a:effectLst/>
                          <a:latin typeface="微软雅黑" panose="020B0503020204020204" pitchFamily="34" charset="-122"/>
                          <a:ea typeface="微软雅黑" panose="020B0503020204020204" pitchFamily="34" charset="-122"/>
                          <a:cs typeface="+mn-cs"/>
                        </a:rPr>
                        <a:t>69.8 </a:t>
                      </a:r>
                    </a:p>
                  </a:txBody>
                  <a:tcPr marL="9525" marR="9525" marT="9525" marB="0" anchor="b">
                    <a:solidFill>
                      <a:schemeClr val="tx2">
                        <a:lumMod val="20000"/>
                        <a:lumOff val="80000"/>
                      </a:schemeClr>
                    </a:solidFill>
                  </a:tcPr>
                </a:tc>
                <a:tc>
                  <a:txBody>
                    <a:bodyPr/>
                    <a:lstStyle/>
                    <a:p>
                      <a:pPr algn="ctr" fontAlgn="b"/>
                      <a:r>
                        <a:rPr lang="en-US" altLang="zh-CN" sz="1200" u="none" strike="noStrike" kern="1200">
                          <a:solidFill>
                            <a:schemeClr val="tx1">
                              <a:lumMod val="50000"/>
                            </a:schemeClr>
                          </a:solidFill>
                          <a:effectLst/>
                          <a:latin typeface="微软雅黑" panose="020B0503020204020204" pitchFamily="34" charset="-122"/>
                          <a:ea typeface="微软雅黑" panose="020B0503020204020204" pitchFamily="34" charset="-122"/>
                          <a:cs typeface="+mn-cs"/>
                        </a:rPr>
                        <a:t>135.8 </a:t>
                      </a:r>
                    </a:p>
                  </a:txBody>
                  <a:tcPr marL="9525" marR="9525" marT="9525" marB="0" anchor="b">
                    <a:solidFill>
                      <a:schemeClr val="tx2">
                        <a:lumMod val="20000"/>
                        <a:lumOff val="80000"/>
                      </a:schemeClr>
                    </a:solidFill>
                  </a:tcPr>
                </a:tc>
                <a:tc>
                  <a:txBody>
                    <a:bodyPr/>
                    <a:lstStyle/>
                    <a:p>
                      <a:pPr algn="ctr" fontAlgn="b"/>
                      <a:r>
                        <a:rPr lang="en-US" altLang="zh-CN" sz="1200" u="none" strike="noStrike" kern="1200" dirty="0">
                          <a:solidFill>
                            <a:schemeClr val="tx1">
                              <a:lumMod val="50000"/>
                            </a:schemeClr>
                          </a:solidFill>
                          <a:effectLst/>
                          <a:latin typeface="微软雅黑" panose="020B0503020204020204" pitchFamily="34" charset="-122"/>
                          <a:ea typeface="微软雅黑" panose="020B0503020204020204" pitchFamily="34" charset="-122"/>
                          <a:cs typeface="+mn-cs"/>
                        </a:rPr>
                        <a:t>1717</a:t>
                      </a:r>
                    </a:p>
                  </a:txBody>
                  <a:tcPr marL="9525" marR="9525" marT="9525" marB="0" anchor="b">
                    <a:solidFill>
                      <a:schemeClr val="tx2">
                        <a:lumMod val="20000"/>
                        <a:lumOff val="80000"/>
                      </a:schemeClr>
                    </a:solidFill>
                  </a:tcPr>
                </a:tc>
                <a:tc>
                  <a:txBody>
                    <a:bodyPr/>
                    <a:lstStyle/>
                    <a:p>
                      <a:pPr algn="ctr" fontAlgn="b"/>
                      <a:r>
                        <a:rPr lang="en-US" altLang="zh-CN" sz="1200" u="none" strike="noStrike" kern="1200" dirty="0">
                          <a:solidFill>
                            <a:schemeClr val="tx1">
                              <a:lumMod val="50000"/>
                            </a:schemeClr>
                          </a:solidFill>
                          <a:effectLst/>
                          <a:latin typeface="微软雅黑" panose="020B0503020204020204" pitchFamily="34" charset="-122"/>
                          <a:ea typeface="微软雅黑" panose="020B0503020204020204" pitchFamily="34" charset="-122"/>
                          <a:cs typeface="+mn-cs"/>
                        </a:rPr>
                        <a:t>18.8%</a:t>
                      </a:r>
                    </a:p>
                  </a:txBody>
                  <a:tcPr marL="9525" marR="9525" marT="9525" marB="0" anchor="b">
                    <a:solidFill>
                      <a:schemeClr val="tx2">
                        <a:lumMod val="20000"/>
                        <a:lumOff val="80000"/>
                      </a:schemeClr>
                    </a:solidFill>
                  </a:tcPr>
                </a:tc>
                <a:extLst>
                  <a:ext uri="{0D108BD9-81ED-4DB2-BD59-A6C34878D82A}">
                    <a16:rowId xmlns:a16="http://schemas.microsoft.com/office/drawing/2014/main" val="10004"/>
                  </a:ext>
                </a:extLst>
              </a:tr>
              <a:tr h="206994">
                <a:tc>
                  <a:txBody>
                    <a:bodyPr/>
                    <a:lstStyle/>
                    <a:p>
                      <a:pPr marL="0" marR="0" indent="0" algn="ctr" defTabSz="457200" rtl="0" eaLnBrk="1" fontAlgn="b" latinLnBrk="0" hangingPunct="1">
                        <a:lnSpc>
                          <a:spcPct val="100000"/>
                        </a:lnSpc>
                        <a:spcBef>
                          <a:spcPts val="0"/>
                        </a:spcBef>
                        <a:spcAft>
                          <a:spcPts val="0"/>
                        </a:spcAft>
                        <a:buClrTx/>
                        <a:buSzTx/>
                        <a:buFontTx/>
                        <a:buNone/>
                        <a:tabLst/>
                        <a:defRPr/>
                      </a:pPr>
                      <a:r>
                        <a:rPr lang="en-US" altLang="zh-CN" sz="1200" u="none" strike="noStrike" dirty="0">
                          <a:solidFill>
                            <a:schemeClr val="tx1">
                              <a:lumMod val="50000"/>
                            </a:schemeClr>
                          </a:solidFill>
                          <a:effectLst/>
                          <a:latin typeface="微软雅黑" panose="020B0503020204020204" pitchFamily="34" charset="-122"/>
                          <a:ea typeface="微软雅黑" panose="020B0503020204020204" pitchFamily="34" charset="-122"/>
                        </a:rPr>
                        <a:t>2016</a:t>
                      </a:r>
                      <a:r>
                        <a:rPr lang="zh-CN" altLang="en-US" sz="1200" u="none" strike="noStrike" dirty="0">
                          <a:solidFill>
                            <a:schemeClr val="tx1">
                              <a:lumMod val="50000"/>
                            </a:schemeClr>
                          </a:solidFill>
                          <a:effectLst/>
                          <a:latin typeface="微软雅黑" panose="020B0503020204020204" pitchFamily="34" charset="-122"/>
                          <a:ea typeface="微软雅黑" panose="020B0503020204020204" pitchFamily="34" charset="-122"/>
                        </a:rPr>
                        <a:t>年</a:t>
                      </a:r>
                      <a:r>
                        <a:rPr lang="en-US" altLang="zh-CN" sz="1200" u="none" strike="noStrike" dirty="0">
                          <a:solidFill>
                            <a:schemeClr val="tx1">
                              <a:lumMod val="50000"/>
                            </a:schemeClr>
                          </a:solidFill>
                          <a:effectLst/>
                          <a:latin typeface="微软雅黑" panose="020B0503020204020204" pitchFamily="34" charset="-122"/>
                          <a:ea typeface="微软雅黑" panose="020B0503020204020204" pitchFamily="34" charset="-122"/>
                        </a:rPr>
                        <a:t>6</a:t>
                      </a:r>
                      <a:r>
                        <a:rPr lang="zh-CN" altLang="en-US" sz="1200" u="none" strike="noStrike" dirty="0">
                          <a:solidFill>
                            <a:schemeClr val="tx1">
                              <a:lumMod val="50000"/>
                            </a:schemeClr>
                          </a:solidFill>
                          <a:effectLst/>
                          <a:latin typeface="微软雅黑" panose="020B0503020204020204" pitchFamily="34" charset="-122"/>
                          <a:ea typeface="微软雅黑" panose="020B0503020204020204" pitchFamily="34" charset="-122"/>
                        </a:rPr>
                        <a:t>月</a:t>
                      </a:r>
                      <a:endParaRPr lang="zh-CN" altLang="en-US" sz="1200" b="0" i="0" u="none" strike="noStrike" dirty="0">
                        <a:solidFill>
                          <a:schemeClr val="tx1">
                            <a:lumMod val="50000"/>
                          </a:schemeClr>
                        </a:solidFill>
                        <a:effectLst/>
                        <a:latin typeface="微软雅黑" panose="020B0503020204020204" pitchFamily="34" charset="-122"/>
                        <a:ea typeface="微软雅黑" panose="020B0503020204020204" pitchFamily="34" charset="-122"/>
                      </a:endParaRPr>
                    </a:p>
                  </a:txBody>
                  <a:tcPr marL="9525" marR="9525" marT="9525" marB="0" anchor="ctr">
                    <a:solidFill>
                      <a:schemeClr val="tx2">
                        <a:lumMod val="20000"/>
                        <a:lumOff val="80000"/>
                      </a:schemeClr>
                    </a:solidFill>
                  </a:tcPr>
                </a:tc>
                <a:tc>
                  <a:txBody>
                    <a:bodyPr/>
                    <a:lstStyle/>
                    <a:p>
                      <a:pPr algn="ctr" fontAlgn="b"/>
                      <a:r>
                        <a:rPr lang="en-US" altLang="zh-CN" sz="1200" u="none" strike="noStrike" kern="1200" dirty="0">
                          <a:solidFill>
                            <a:schemeClr val="tx1">
                              <a:lumMod val="50000"/>
                            </a:schemeClr>
                          </a:solidFill>
                          <a:effectLst/>
                          <a:latin typeface="微软雅黑" panose="020B0503020204020204" pitchFamily="34" charset="-122"/>
                          <a:ea typeface="微软雅黑" panose="020B0503020204020204" pitchFamily="34" charset="-122"/>
                          <a:cs typeface="+mn-cs"/>
                        </a:rPr>
                        <a:t>6</a:t>
                      </a:r>
                    </a:p>
                  </a:txBody>
                  <a:tcPr marL="9525" marR="9525" marT="9525" marB="0" anchor="b">
                    <a:solidFill>
                      <a:schemeClr val="tx2">
                        <a:lumMod val="20000"/>
                        <a:lumOff val="80000"/>
                      </a:schemeClr>
                    </a:solidFill>
                  </a:tcPr>
                </a:tc>
                <a:tc>
                  <a:txBody>
                    <a:bodyPr/>
                    <a:lstStyle/>
                    <a:p>
                      <a:pPr algn="ctr" fontAlgn="b"/>
                      <a:r>
                        <a:rPr lang="en-US" altLang="zh-CN" sz="1200" u="none" strike="noStrike" kern="1200" dirty="0">
                          <a:solidFill>
                            <a:schemeClr val="tx1">
                              <a:lumMod val="50000"/>
                            </a:schemeClr>
                          </a:solidFill>
                          <a:effectLst/>
                          <a:latin typeface="微软雅黑" panose="020B0503020204020204" pitchFamily="34" charset="-122"/>
                          <a:ea typeface="微软雅黑" panose="020B0503020204020204" pitchFamily="34" charset="-122"/>
                          <a:cs typeface="+mn-cs"/>
                        </a:rPr>
                        <a:t>2.3 </a:t>
                      </a:r>
                    </a:p>
                  </a:txBody>
                  <a:tcPr marL="9525" marR="9525" marT="9525" marB="0" anchor="b">
                    <a:solidFill>
                      <a:schemeClr val="tx2">
                        <a:lumMod val="20000"/>
                        <a:lumOff val="80000"/>
                      </a:schemeClr>
                    </a:solidFill>
                  </a:tcPr>
                </a:tc>
                <a:tc>
                  <a:txBody>
                    <a:bodyPr/>
                    <a:lstStyle/>
                    <a:p>
                      <a:pPr algn="ctr" fontAlgn="b"/>
                      <a:r>
                        <a:rPr lang="en-US" altLang="zh-CN" sz="1200" u="none" strike="noStrike" kern="1200" dirty="0">
                          <a:solidFill>
                            <a:schemeClr val="tx1">
                              <a:lumMod val="50000"/>
                            </a:schemeClr>
                          </a:solidFill>
                          <a:effectLst/>
                          <a:latin typeface="微软雅黑" panose="020B0503020204020204" pitchFamily="34" charset="-122"/>
                          <a:ea typeface="微软雅黑" panose="020B0503020204020204" pitchFamily="34" charset="-122"/>
                          <a:cs typeface="+mn-cs"/>
                        </a:rPr>
                        <a:t>11.5 </a:t>
                      </a:r>
                    </a:p>
                  </a:txBody>
                  <a:tcPr marL="9525" marR="9525" marT="9525" marB="0" anchor="b">
                    <a:solidFill>
                      <a:schemeClr val="tx2">
                        <a:lumMod val="20000"/>
                        <a:lumOff val="80000"/>
                      </a:schemeClr>
                    </a:solidFill>
                  </a:tcPr>
                </a:tc>
                <a:tc>
                  <a:txBody>
                    <a:bodyPr/>
                    <a:lstStyle/>
                    <a:p>
                      <a:pPr algn="ctr" fontAlgn="b"/>
                      <a:r>
                        <a:rPr lang="en-US" altLang="zh-CN" sz="1200" u="none" strike="noStrike" kern="1200" dirty="0">
                          <a:solidFill>
                            <a:schemeClr val="tx1">
                              <a:lumMod val="50000"/>
                            </a:schemeClr>
                          </a:solidFill>
                          <a:effectLst/>
                          <a:latin typeface="微软雅黑" panose="020B0503020204020204" pitchFamily="34" charset="-122"/>
                          <a:ea typeface="微软雅黑" panose="020B0503020204020204" pitchFamily="34" charset="-122"/>
                          <a:cs typeface="+mn-cs"/>
                        </a:rPr>
                        <a:t>19.2 </a:t>
                      </a:r>
                    </a:p>
                  </a:txBody>
                  <a:tcPr marL="9525" marR="9525" marT="9525" marB="0" anchor="b">
                    <a:solidFill>
                      <a:schemeClr val="tx2">
                        <a:lumMod val="20000"/>
                        <a:lumOff val="80000"/>
                      </a:schemeClr>
                    </a:solidFill>
                  </a:tcPr>
                </a:tc>
                <a:tc>
                  <a:txBody>
                    <a:bodyPr/>
                    <a:lstStyle/>
                    <a:p>
                      <a:pPr algn="ctr" fontAlgn="b"/>
                      <a:r>
                        <a:rPr lang="en-US" altLang="zh-CN" sz="1200" u="none" strike="noStrike" kern="1200" dirty="0">
                          <a:solidFill>
                            <a:schemeClr val="tx1">
                              <a:lumMod val="50000"/>
                            </a:schemeClr>
                          </a:solidFill>
                          <a:effectLst/>
                          <a:latin typeface="微软雅黑" panose="020B0503020204020204" pitchFamily="34" charset="-122"/>
                          <a:ea typeface="微软雅黑" panose="020B0503020204020204" pitchFamily="34" charset="-122"/>
                          <a:cs typeface="+mn-cs"/>
                        </a:rPr>
                        <a:t>1184</a:t>
                      </a:r>
                    </a:p>
                  </a:txBody>
                  <a:tcPr marL="9525" marR="9525" marT="9525" marB="0" anchor="b">
                    <a:solidFill>
                      <a:schemeClr val="tx2">
                        <a:lumMod val="20000"/>
                        <a:lumOff val="80000"/>
                      </a:schemeClr>
                    </a:solidFill>
                  </a:tcPr>
                </a:tc>
                <a:tc>
                  <a:txBody>
                    <a:bodyPr/>
                    <a:lstStyle/>
                    <a:p>
                      <a:pPr algn="ctr" fontAlgn="b"/>
                      <a:r>
                        <a:rPr lang="en-US" altLang="zh-CN" sz="1200" u="none" strike="noStrike" kern="1200" dirty="0">
                          <a:solidFill>
                            <a:schemeClr val="tx1">
                              <a:lumMod val="50000"/>
                            </a:schemeClr>
                          </a:solidFill>
                          <a:effectLst/>
                          <a:latin typeface="微软雅黑" panose="020B0503020204020204" pitchFamily="34" charset="-122"/>
                          <a:ea typeface="微软雅黑" panose="020B0503020204020204" pitchFamily="34" charset="-122"/>
                          <a:cs typeface="+mn-cs"/>
                        </a:rPr>
                        <a:t>26.6%</a:t>
                      </a:r>
                    </a:p>
                  </a:txBody>
                  <a:tcPr marL="9525" marR="9525" marT="9525" marB="0" anchor="b">
                    <a:solidFill>
                      <a:schemeClr val="tx2">
                        <a:lumMod val="20000"/>
                        <a:lumOff val="80000"/>
                      </a:schemeClr>
                    </a:solidFill>
                  </a:tcPr>
                </a:tc>
                <a:extLst>
                  <a:ext uri="{0D108BD9-81ED-4DB2-BD59-A6C34878D82A}">
                    <a16:rowId xmlns:a16="http://schemas.microsoft.com/office/drawing/2014/main" val="10005"/>
                  </a:ext>
                </a:extLst>
              </a:tr>
              <a:tr h="206994">
                <a:tc>
                  <a:txBody>
                    <a:bodyPr/>
                    <a:lstStyle/>
                    <a:p>
                      <a:pPr marL="0" marR="0" indent="0" algn="ctr" defTabSz="457200" rtl="0" eaLnBrk="1" fontAlgn="b" latinLnBrk="0" hangingPunct="1">
                        <a:lnSpc>
                          <a:spcPct val="100000"/>
                        </a:lnSpc>
                        <a:spcBef>
                          <a:spcPts val="0"/>
                        </a:spcBef>
                        <a:spcAft>
                          <a:spcPts val="0"/>
                        </a:spcAft>
                        <a:buClrTx/>
                        <a:buSzTx/>
                        <a:buFontTx/>
                        <a:buNone/>
                        <a:tabLst/>
                        <a:defRPr/>
                      </a:pPr>
                      <a:r>
                        <a:rPr lang="en-US" altLang="zh-CN" sz="1200" u="none" strike="noStrike" dirty="0">
                          <a:solidFill>
                            <a:schemeClr val="tx1">
                              <a:lumMod val="50000"/>
                            </a:schemeClr>
                          </a:solidFill>
                          <a:effectLst/>
                          <a:latin typeface="微软雅黑" panose="020B0503020204020204" pitchFamily="34" charset="-122"/>
                          <a:ea typeface="微软雅黑" panose="020B0503020204020204" pitchFamily="34" charset="-122"/>
                        </a:rPr>
                        <a:t>2016</a:t>
                      </a:r>
                      <a:r>
                        <a:rPr lang="zh-CN" altLang="en-US" sz="1200" u="none" strike="noStrike" dirty="0">
                          <a:solidFill>
                            <a:schemeClr val="tx1">
                              <a:lumMod val="50000"/>
                            </a:schemeClr>
                          </a:solidFill>
                          <a:effectLst/>
                          <a:latin typeface="微软雅黑" panose="020B0503020204020204" pitchFamily="34" charset="-122"/>
                          <a:ea typeface="微软雅黑" panose="020B0503020204020204" pitchFamily="34" charset="-122"/>
                        </a:rPr>
                        <a:t>年</a:t>
                      </a:r>
                      <a:r>
                        <a:rPr lang="en-US" altLang="zh-CN" sz="1200" u="none" strike="noStrike" dirty="0">
                          <a:solidFill>
                            <a:schemeClr val="tx1">
                              <a:lumMod val="50000"/>
                            </a:schemeClr>
                          </a:solidFill>
                          <a:effectLst/>
                          <a:latin typeface="微软雅黑" panose="020B0503020204020204" pitchFamily="34" charset="-122"/>
                          <a:ea typeface="微软雅黑" panose="020B0503020204020204" pitchFamily="34" charset="-122"/>
                        </a:rPr>
                        <a:t>7</a:t>
                      </a:r>
                      <a:r>
                        <a:rPr lang="zh-CN" altLang="en-US" sz="1200" u="none" strike="noStrike" dirty="0">
                          <a:solidFill>
                            <a:schemeClr val="tx1">
                              <a:lumMod val="50000"/>
                            </a:schemeClr>
                          </a:solidFill>
                          <a:effectLst/>
                          <a:latin typeface="微软雅黑" panose="020B0503020204020204" pitchFamily="34" charset="-122"/>
                          <a:ea typeface="微软雅黑" panose="020B0503020204020204" pitchFamily="34" charset="-122"/>
                        </a:rPr>
                        <a:t>月</a:t>
                      </a:r>
                      <a:endParaRPr lang="zh-CN" altLang="en-US" sz="1200" b="0" i="0" u="none" strike="noStrike" dirty="0">
                        <a:solidFill>
                          <a:schemeClr val="tx1">
                            <a:lumMod val="50000"/>
                          </a:schemeClr>
                        </a:solidFill>
                        <a:effectLst/>
                        <a:latin typeface="微软雅黑" panose="020B0503020204020204" pitchFamily="34" charset="-122"/>
                        <a:ea typeface="微软雅黑" panose="020B0503020204020204" pitchFamily="34" charset="-122"/>
                      </a:endParaRPr>
                    </a:p>
                  </a:txBody>
                  <a:tcPr marL="9525" marR="9525" marT="9525" marB="0" anchor="ctr">
                    <a:solidFill>
                      <a:schemeClr val="tx2">
                        <a:lumMod val="20000"/>
                        <a:lumOff val="80000"/>
                      </a:schemeClr>
                    </a:solidFill>
                  </a:tcPr>
                </a:tc>
                <a:tc>
                  <a:txBody>
                    <a:bodyPr/>
                    <a:lstStyle/>
                    <a:p>
                      <a:pPr algn="ctr" fontAlgn="b"/>
                      <a:r>
                        <a:rPr lang="en-US" altLang="zh-CN" sz="1200" u="none" strike="noStrike" kern="1200" dirty="0">
                          <a:solidFill>
                            <a:schemeClr val="tx1">
                              <a:lumMod val="50000"/>
                            </a:schemeClr>
                          </a:solidFill>
                          <a:effectLst/>
                          <a:latin typeface="微软雅黑" panose="020B0503020204020204" pitchFamily="34" charset="-122"/>
                          <a:ea typeface="微软雅黑" panose="020B0503020204020204" pitchFamily="34" charset="-122"/>
                          <a:cs typeface="+mn-cs"/>
                        </a:rPr>
                        <a:t>3</a:t>
                      </a:r>
                    </a:p>
                  </a:txBody>
                  <a:tcPr marL="9525" marR="9525" marT="9525" marB="0" anchor="b">
                    <a:solidFill>
                      <a:schemeClr val="tx2">
                        <a:lumMod val="20000"/>
                        <a:lumOff val="80000"/>
                      </a:schemeClr>
                    </a:solidFill>
                  </a:tcPr>
                </a:tc>
                <a:tc>
                  <a:txBody>
                    <a:bodyPr/>
                    <a:lstStyle/>
                    <a:p>
                      <a:pPr algn="ctr" fontAlgn="b"/>
                      <a:r>
                        <a:rPr lang="en-US" altLang="zh-CN" sz="1200" u="none" strike="noStrike" kern="1200">
                          <a:solidFill>
                            <a:schemeClr val="tx1">
                              <a:lumMod val="50000"/>
                            </a:schemeClr>
                          </a:solidFill>
                          <a:effectLst/>
                          <a:latin typeface="微软雅黑" panose="020B0503020204020204" pitchFamily="34" charset="-122"/>
                          <a:ea typeface="微软雅黑" panose="020B0503020204020204" pitchFamily="34" charset="-122"/>
                          <a:cs typeface="+mn-cs"/>
                        </a:rPr>
                        <a:t>0.6 </a:t>
                      </a:r>
                    </a:p>
                  </a:txBody>
                  <a:tcPr marL="9525" marR="9525" marT="9525" marB="0" anchor="b">
                    <a:solidFill>
                      <a:schemeClr val="tx2">
                        <a:lumMod val="20000"/>
                        <a:lumOff val="80000"/>
                      </a:schemeClr>
                    </a:solidFill>
                  </a:tcPr>
                </a:tc>
                <a:tc>
                  <a:txBody>
                    <a:bodyPr/>
                    <a:lstStyle/>
                    <a:p>
                      <a:pPr algn="ctr" fontAlgn="b"/>
                      <a:r>
                        <a:rPr lang="en-US" altLang="zh-CN" sz="1200" u="none" strike="noStrike" kern="1200">
                          <a:solidFill>
                            <a:schemeClr val="tx1">
                              <a:lumMod val="50000"/>
                            </a:schemeClr>
                          </a:solidFill>
                          <a:effectLst/>
                          <a:latin typeface="微软雅黑" panose="020B0503020204020204" pitchFamily="34" charset="-122"/>
                          <a:ea typeface="微软雅黑" panose="020B0503020204020204" pitchFamily="34" charset="-122"/>
                          <a:cs typeface="+mn-cs"/>
                        </a:rPr>
                        <a:t>6.7 </a:t>
                      </a:r>
                    </a:p>
                  </a:txBody>
                  <a:tcPr marL="9525" marR="9525" marT="9525" marB="0" anchor="b">
                    <a:solidFill>
                      <a:schemeClr val="tx2">
                        <a:lumMod val="20000"/>
                        <a:lumOff val="80000"/>
                      </a:schemeClr>
                    </a:solidFill>
                  </a:tcPr>
                </a:tc>
                <a:tc>
                  <a:txBody>
                    <a:bodyPr/>
                    <a:lstStyle/>
                    <a:p>
                      <a:pPr algn="ctr" fontAlgn="b"/>
                      <a:r>
                        <a:rPr lang="en-US" altLang="zh-CN" sz="1200" u="none" strike="noStrike" kern="1200" dirty="0">
                          <a:solidFill>
                            <a:schemeClr val="tx1">
                              <a:lumMod val="50000"/>
                            </a:schemeClr>
                          </a:solidFill>
                          <a:effectLst/>
                          <a:latin typeface="微软雅黑" panose="020B0503020204020204" pitchFamily="34" charset="-122"/>
                          <a:ea typeface="微软雅黑" panose="020B0503020204020204" pitchFamily="34" charset="-122"/>
                          <a:cs typeface="+mn-cs"/>
                        </a:rPr>
                        <a:t>5.8 </a:t>
                      </a:r>
                    </a:p>
                  </a:txBody>
                  <a:tcPr marL="9525" marR="9525" marT="9525" marB="0" anchor="b">
                    <a:solidFill>
                      <a:schemeClr val="tx2">
                        <a:lumMod val="20000"/>
                        <a:lumOff val="80000"/>
                      </a:schemeClr>
                    </a:solidFill>
                  </a:tcPr>
                </a:tc>
                <a:tc>
                  <a:txBody>
                    <a:bodyPr/>
                    <a:lstStyle/>
                    <a:p>
                      <a:pPr algn="ctr" fontAlgn="b"/>
                      <a:r>
                        <a:rPr lang="en-US" altLang="zh-CN" sz="1200" u="none" strike="noStrike" kern="1200" dirty="0">
                          <a:solidFill>
                            <a:schemeClr val="tx1">
                              <a:lumMod val="50000"/>
                            </a:schemeClr>
                          </a:solidFill>
                          <a:effectLst/>
                          <a:latin typeface="微软雅黑" panose="020B0503020204020204" pitchFamily="34" charset="-122"/>
                          <a:ea typeface="微软雅黑" panose="020B0503020204020204" pitchFamily="34" charset="-122"/>
                          <a:cs typeface="+mn-cs"/>
                        </a:rPr>
                        <a:t>1007</a:t>
                      </a:r>
                    </a:p>
                  </a:txBody>
                  <a:tcPr marL="9525" marR="9525" marT="9525" marB="0" anchor="b">
                    <a:solidFill>
                      <a:schemeClr val="tx2">
                        <a:lumMod val="20000"/>
                        <a:lumOff val="80000"/>
                      </a:schemeClr>
                    </a:solidFill>
                  </a:tcPr>
                </a:tc>
                <a:tc>
                  <a:txBody>
                    <a:bodyPr/>
                    <a:lstStyle/>
                    <a:p>
                      <a:pPr algn="ctr" fontAlgn="b"/>
                      <a:r>
                        <a:rPr lang="en-US" altLang="zh-CN" sz="1200" u="none" strike="noStrike" kern="1200" dirty="0">
                          <a:solidFill>
                            <a:schemeClr val="tx1">
                              <a:lumMod val="50000"/>
                            </a:schemeClr>
                          </a:solidFill>
                          <a:effectLst/>
                          <a:latin typeface="微软雅黑" panose="020B0503020204020204" pitchFamily="34" charset="-122"/>
                          <a:ea typeface="微软雅黑" panose="020B0503020204020204" pitchFamily="34" charset="-122"/>
                          <a:cs typeface="+mn-cs"/>
                        </a:rPr>
                        <a:t>0.0%</a:t>
                      </a:r>
                    </a:p>
                  </a:txBody>
                  <a:tcPr marL="9525" marR="9525" marT="9525" marB="0" anchor="b">
                    <a:solidFill>
                      <a:schemeClr val="tx2">
                        <a:lumMod val="20000"/>
                        <a:lumOff val="80000"/>
                      </a:schemeClr>
                    </a:solidFill>
                  </a:tcPr>
                </a:tc>
                <a:extLst>
                  <a:ext uri="{0D108BD9-81ED-4DB2-BD59-A6C34878D82A}">
                    <a16:rowId xmlns:a16="http://schemas.microsoft.com/office/drawing/2014/main" val="10006"/>
                  </a:ext>
                </a:extLst>
              </a:tr>
              <a:tr h="36551">
                <a:tc>
                  <a:txBody>
                    <a:bodyPr/>
                    <a:lstStyle/>
                    <a:p>
                      <a:pPr marL="0" marR="0" indent="0" algn="ctr" defTabSz="457200" rtl="0" eaLnBrk="1" fontAlgn="b" latinLnBrk="0" hangingPunct="1">
                        <a:lnSpc>
                          <a:spcPct val="100000"/>
                        </a:lnSpc>
                        <a:spcBef>
                          <a:spcPts val="0"/>
                        </a:spcBef>
                        <a:spcAft>
                          <a:spcPts val="0"/>
                        </a:spcAft>
                        <a:buClrTx/>
                        <a:buSzTx/>
                        <a:buFontTx/>
                        <a:buNone/>
                        <a:tabLst/>
                        <a:defRPr/>
                      </a:pPr>
                      <a:r>
                        <a:rPr lang="en-US" altLang="zh-CN" sz="1200" b="0" i="0" u="none" strike="noStrike" dirty="0">
                          <a:solidFill>
                            <a:schemeClr val="tx1">
                              <a:lumMod val="50000"/>
                            </a:schemeClr>
                          </a:solidFill>
                          <a:effectLst/>
                          <a:latin typeface="微软雅黑" panose="020B0503020204020204" pitchFamily="34" charset="-122"/>
                          <a:ea typeface="微软雅黑" panose="020B0503020204020204" pitchFamily="34" charset="-122"/>
                        </a:rPr>
                        <a:t>2016</a:t>
                      </a:r>
                      <a:r>
                        <a:rPr lang="zh-CN" altLang="en-US" sz="1200" b="0" i="0" u="none" strike="noStrike" dirty="0">
                          <a:solidFill>
                            <a:schemeClr val="tx1">
                              <a:lumMod val="50000"/>
                            </a:schemeClr>
                          </a:solidFill>
                          <a:effectLst/>
                          <a:latin typeface="微软雅黑" panose="020B0503020204020204" pitchFamily="34" charset="-122"/>
                          <a:ea typeface="微软雅黑" panose="020B0503020204020204" pitchFamily="34" charset="-122"/>
                        </a:rPr>
                        <a:t>年</a:t>
                      </a:r>
                      <a:r>
                        <a:rPr lang="en-US" altLang="zh-CN" sz="1200" b="0" i="0" u="none" strike="noStrike" dirty="0">
                          <a:solidFill>
                            <a:schemeClr val="tx1">
                              <a:lumMod val="50000"/>
                            </a:schemeClr>
                          </a:solidFill>
                          <a:effectLst/>
                          <a:latin typeface="微软雅黑" panose="020B0503020204020204" pitchFamily="34" charset="-122"/>
                          <a:ea typeface="微软雅黑" panose="020B0503020204020204" pitchFamily="34" charset="-122"/>
                        </a:rPr>
                        <a:t>8</a:t>
                      </a:r>
                      <a:r>
                        <a:rPr lang="zh-CN" altLang="en-US" sz="1200" b="0" i="0" u="none" strike="noStrike" dirty="0">
                          <a:solidFill>
                            <a:schemeClr val="tx1">
                              <a:lumMod val="50000"/>
                            </a:schemeClr>
                          </a:solidFill>
                          <a:effectLst/>
                          <a:latin typeface="微软雅黑" panose="020B0503020204020204" pitchFamily="34" charset="-122"/>
                          <a:ea typeface="微软雅黑" panose="020B0503020204020204" pitchFamily="34" charset="-122"/>
                        </a:rPr>
                        <a:t>月</a:t>
                      </a:r>
                    </a:p>
                  </a:txBody>
                  <a:tcPr marL="9525" marR="9525" marT="9525" marB="0" anchor="ctr">
                    <a:solidFill>
                      <a:schemeClr val="tx2">
                        <a:lumMod val="20000"/>
                        <a:lumOff val="80000"/>
                      </a:schemeClr>
                    </a:solidFill>
                  </a:tcPr>
                </a:tc>
                <a:tc>
                  <a:txBody>
                    <a:bodyPr/>
                    <a:lstStyle/>
                    <a:p>
                      <a:pPr algn="ctr" fontAlgn="b"/>
                      <a:r>
                        <a:rPr lang="en-US" altLang="zh-CN" sz="1200" u="none" strike="noStrike" kern="1200" dirty="0">
                          <a:solidFill>
                            <a:schemeClr val="tx1">
                              <a:lumMod val="50000"/>
                            </a:schemeClr>
                          </a:solidFill>
                          <a:effectLst/>
                          <a:latin typeface="微软雅黑" panose="020B0503020204020204" pitchFamily="34" charset="-122"/>
                          <a:ea typeface="微软雅黑" panose="020B0503020204020204" pitchFamily="34" charset="-122"/>
                          <a:cs typeface="+mn-cs"/>
                        </a:rPr>
                        <a:t>3</a:t>
                      </a:r>
                    </a:p>
                  </a:txBody>
                  <a:tcPr marL="9525" marR="9525" marT="9525" marB="0" anchor="ctr">
                    <a:solidFill>
                      <a:schemeClr val="tx2">
                        <a:lumMod val="20000"/>
                        <a:lumOff val="80000"/>
                      </a:schemeClr>
                    </a:solidFill>
                  </a:tcPr>
                </a:tc>
                <a:tc>
                  <a:txBody>
                    <a:bodyPr/>
                    <a:lstStyle/>
                    <a:p>
                      <a:pPr algn="ctr" fontAlgn="b"/>
                      <a:r>
                        <a:rPr lang="en-US" altLang="zh-CN" sz="1200" u="none" strike="noStrike" kern="1200" dirty="0">
                          <a:solidFill>
                            <a:schemeClr val="tx1">
                              <a:lumMod val="50000"/>
                            </a:schemeClr>
                          </a:solidFill>
                          <a:effectLst/>
                          <a:latin typeface="微软雅黑" panose="020B0503020204020204" pitchFamily="34" charset="-122"/>
                          <a:ea typeface="微软雅黑" panose="020B0503020204020204" pitchFamily="34" charset="-122"/>
                          <a:cs typeface="+mn-cs"/>
                        </a:rPr>
                        <a:t>1.8307</a:t>
                      </a:r>
                    </a:p>
                  </a:txBody>
                  <a:tcPr marL="9525" marR="9525" marT="9525" marB="0" anchor="ctr">
                    <a:solidFill>
                      <a:schemeClr val="tx2">
                        <a:lumMod val="20000"/>
                        <a:lumOff val="80000"/>
                      </a:schemeClr>
                    </a:solidFill>
                  </a:tcPr>
                </a:tc>
                <a:tc>
                  <a:txBody>
                    <a:bodyPr/>
                    <a:lstStyle/>
                    <a:p>
                      <a:pPr algn="ctr" fontAlgn="b"/>
                      <a:r>
                        <a:rPr lang="en-US" altLang="zh-CN" sz="1200" u="none" strike="noStrike" kern="1200" dirty="0">
                          <a:solidFill>
                            <a:schemeClr val="tx1">
                              <a:lumMod val="50000"/>
                            </a:schemeClr>
                          </a:solidFill>
                          <a:effectLst/>
                          <a:latin typeface="微软雅黑" panose="020B0503020204020204" pitchFamily="34" charset="-122"/>
                          <a:ea typeface="微软雅黑" panose="020B0503020204020204" pitchFamily="34" charset="-122"/>
                          <a:cs typeface="+mn-cs"/>
                        </a:rPr>
                        <a:t>4.6</a:t>
                      </a:r>
                    </a:p>
                  </a:txBody>
                  <a:tcPr marL="9525" marR="9525" marT="9525" marB="0" anchor="ctr">
                    <a:solidFill>
                      <a:schemeClr val="tx2">
                        <a:lumMod val="20000"/>
                        <a:lumOff val="80000"/>
                      </a:schemeClr>
                    </a:solidFill>
                  </a:tcPr>
                </a:tc>
                <a:tc>
                  <a:txBody>
                    <a:bodyPr/>
                    <a:lstStyle/>
                    <a:p>
                      <a:pPr algn="ctr" fontAlgn="b"/>
                      <a:r>
                        <a:rPr lang="en-US" altLang="zh-CN" sz="1200" u="none" strike="noStrike" kern="1200" dirty="0">
                          <a:solidFill>
                            <a:schemeClr val="tx1">
                              <a:lumMod val="50000"/>
                            </a:schemeClr>
                          </a:solidFill>
                          <a:effectLst/>
                          <a:latin typeface="微软雅黑" panose="020B0503020204020204" pitchFamily="34" charset="-122"/>
                          <a:ea typeface="微软雅黑" panose="020B0503020204020204" pitchFamily="34" charset="-122"/>
                          <a:cs typeface="+mn-cs"/>
                        </a:rPr>
                        <a:t>10.7</a:t>
                      </a:r>
                    </a:p>
                  </a:txBody>
                  <a:tcPr marL="9525" marR="9525" marT="9525" marB="0" anchor="ctr">
                    <a:solidFill>
                      <a:schemeClr val="tx2">
                        <a:lumMod val="20000"/>
                        <a:lumOff val="80000"/>
                      </a:schemeClr>
                    </a:solidFill>
                  </a:tcPr>
                </a:tc>
                <a:tc>
                  <a:txBody>
                    <a:bodyPr/>
                    <a:lstStyle/>
                    <a:p>
                      <a:pPr algn="ctr" fontAlgn="b"/>
                      <a:r>
                        <a:rPr lang="en-US" altLang="zh-CN" sz="1200" u="none" strike="noStrike" kern="1200" dirty="0">
                          <a:solidFill>
                            <a:schemeClr val="tx1">
                              <a:lumMod val="50000"/>
                            </a:schemeClr>
                          </a:solidFill>
                          <a:effectLst/>
                          <a:latin typeface="微软雅黑" panose="020B0503020204020204" pitchFamily="34" charset="-122"/>
                          <a:ea typeface="微软雅黑" panose="020B0503020204020204" pitchFamily="34" charset="-122"/>
                          <a:cs typeface="+mn-cs"/>
                        </a:rPr>
                        <a:t>1712</a:t>
                      </a:r>
                    </a:p>
                  </a:txBody>
                  <a:tcPr marL="9525" marR="9525" marT="9525" marB="0" anchor="ctr">
                    <a:solidFill>
                      <a:schemeClr val="tx2">
                        <a:lumMod val="20000"/>
                        <a:lumOff val="80000"/>
                      </a:schemeClr>
                    </a:solidFill>
                  </a:tcPr>
                </a:tc>
                <a:tc>
                  <a:txBody>
                    <a:bodyPr/>
                    <a:lstStyle/>
                    <a:p>
                      <a:pPr algn="ctr" fontAlgn="b"/>
                      <a:r>
                        <a:rPr lang="en-US" altLang="zh-CN" sz="1200" u="none" strike="noStrike" kern="1200" dirty="0">
                          <a:solidFill>
                            <a:schemeClr val="tx1">
                              <a:lumMod val="50000"/>
                            </a:schemeClr>
                          </a:solidFill>
                          <a:effectLst/>
                          <a:latin typeface="微软雅黑" panose="020B0503020204020204" pitchFamily="34" charset="-122"/>
                          <a:ea typeface="微软雅黑" panose="020B0503020204020204" pitchFamily="34" charset="-122"/>
                          <a:cs typeface="+mn-cs"/>
                        </a:rPr>
                        <a:t>1.8%</a:t>
                      </a:r>
                    </a:p>
                  </a:txBody>
                  <a:tcPr marL="9525" marR="9525" marT="9525" marB="0" anchor="ctr">
                    <a:solidFill>
                      <a:schemeClr val="tx2">
                        <a:lumMod val="20000"/>
                        <a:lumOff val="80000"/>
                      </a:schemeClr>
                    </a:solidFill>
                  </a:tcPr>
                </a:tc>
                <a:extLst>
                  <a:ext uri="{0D108BD9-81ED-4DB2-BD59-A6C34878D82A}">
                    <a16:rowId xmlns:a16="http://schemas.microsoft.com/office/drawing/2014/main" val="10007"/>
                  </a:ext>
                </a:extLst>
              </a:tr>
              <a:tr h="36551">
                <a:tc>
                  <a:txBody>
                    <a:bodyPr/>
                    <a:lstStyle/>
                    <a:p>
                      <a:pPr marL="0" marR="0" indent="0" algn="ctr" defTabSz="457200" rtl="0" eaLnBrk="1" fontAlgn="b" latinLnBrk="0" hangingPunct="1">
                        <a:lnSpc>
                          <a:spcPct val="100000"/>
                        </a:lnSpc>
                        <a:spcBef>
                          <a:spcPts val="0"/>
                        </a:spcBef>
                        <a:spcAft>
                          <a:spcPts val="0"/>
                        </a:spcAft>
                        <a:buClrTx/>
                        <a:buSzTx/>
                        <a:buFontTx/>
                        <a:buNone/>
                        <a:tabLst/>
                        <a:defRPr/>
                      </a:pPr>
                      <a:r>
                        <a:rPr lang="en-US" altLang="zh-CN" sz="1200" b="0" i="0" u="none" strike="noStrike" dirty="0">
                          <a:solidFill>
                            <a:schemeClr val="tx1">
                              <a:lumMod val="50000"/>
                            </a:schemeClr>
                          </a:solidFill>
                          <a:effectLst/>
                          <a:latin typeface="微软雅黑" panose="020B0503020204020204" pitchFamily="34" charset="-122"/>
                          <a:ea typeface="微软雅黑" panose="020B0503020204020204" pitchFamily="34" charset="-122"/>
                        </a:rPr>
                        <a:t>2016</a:t>
                      </a:r>
                      <a:r>
                        <a:rPr lang="zh-CN" altLang="en-US" sz="1200" b="0" i="0" u="none" strike="noStrike" dirty="0">
                          <a:solidFill>
                            <a:schemeClr val="tx1">
                              <a:lumMod val="50000"/>
                            </a:schemeClr>
                          </a:solidFill>
                          <a:effectLst/>
                          <a:latin typeface="微软雅黑" panose="020B0503020204020204" pitchFamily="34" charset="-122"/>
                          <a:ea typeface="微软雅黑" panose="020B0503020204020204" pitchFamily="34" charset="-122"/>
                        </a:rPr>
                        <a:t>年</a:t>
                      </a:r>
                      <a:r>
                        <a:rPr lang="en-US" altLang="zh-CN" sz="1200" b="0" i="0" u="none" strike="noStrike" dirty="0">
                          <a:solidFill>
                            <a:schemeClr val="tx1">
                              <a:lumMod val="50000"/>
                            </a:schemeClr>
                          </a:solidFill>
                          <a:effectLst/>
                          <a:latin typeface="微软雅黑" panose="020B0503020204020204" pitchFamily="34" charset="-122"/>
                          <a:ea typeface="微软雅黑" panose="020B0503020204020204" pitchFamily="34" charset="-122"/>
                        </a:rPr>
                        <a:t>9</a:t>
                      </a:r>
                      <a:r>
                        <a:rPr lang="zh-CN" altLang="en-US" sz="1200" b="0" i="0" u="none" strike="noStrike" dirty="0">
                          <a:solidFill>
                            <a:schemeClr val="tx1">
                              <a:lumMod val="50000"/>
                            </a:schemeClr>
                          </a:solidFill>
                          <a:effectLst/>
                          <a:latin typeface="微软雅黑" panose="020B0503020204020204" pitchFamily="34" charset="-122"/>
                          <a:ea typeface="微软雅黑" panose="020B0503020204020204" pitchFamily="34" charset="-122"/>
                        </a:rPr>
                        <a:t>月</a:t>
                      </a:r>
                    </a:p>
                  </a:txBody>
                  <a:tcPr marL="9525" marR="9525" marT="9525" marB="0" anchor="ctr">
                    <a:solidFill>
                      <a:schemeClr val="tx2">
                        <a:lumMod val="20000"/>
                        <a:lumOff val="80000"/>
                      </a:schemeClr>
                    </a:solidFill>
                  </a:tcPr>
                </a:tc>
                <a:tc>
                  <a:txBody>
                    <a:bodyPr/>
                    <a:lstStyle/>
                    <a:p>
                      <a:pPr algn="ctr" fontAlgn="b"/>
                      <a:r>
                        <a:rPr lang="en-US" altLang="zh-CN" sz="1200" u="none" strike="noStrike" kern="1200" dirty="0">
                          <a:solidFill>
                            <a:schemeClr val="tx1">
                              <a:lumMod val="50000"/>
                            </a:schemeClr>
                          </a:solidFill>
                          <a:effectLst/>
                          <a:latin typeface="微软雅黑" panose="020B0503020204020204" pitchFamily="34" charset="-122"/>
                          <a:ea typeface="微软雅黑" panose="020B0503020204020204" pitchFamily="34" charset="-122"/>
                          <a:cs typeface="+mn-cs"/>
                        </a:rPr>
                        <a:t>0</a:t>
                      </a:r>
                    </a:p>
                  </a:txBody>
                  <a:tcPr marL="9525" marR="9525" marT="9525" marB="0" anchor="ctr">
                    <a:solidFill>
                      <a:schemeClr val="tx2">
                        <a:lumMod val="20000"/>
                        <a:lumOff val="80000"/>
                      </a:schemeClr>
                    </a:solidFill>
                  </a:tcPr>
                </a:tc>
                <a:tc>
                  <a:txBody>
                    <a:bodyPr/>
                    <a:lstStyle/>
                    <a:p>
                      <a:pPr algn="ctr" fontAlgn="b"/>
                      <a:r>
                        <a:rPr lang="en-US" altLang="zh-CN" sz="1200" u="none" strike="noStrike" kern="1200" dirty="0">
                          <a:solidFill>
                            <a:schemeClr val="tx1">
                              <a:lumMod val="50000"/>
                            </a:schemeClr>
                          </a:solidFill>
                          <a:effectLst/>
                          <a:latin typeface="微软雅黑" panose="020B0503020204020204" pitchFamily="34" charset="-122"/>
                          <a:ea typeface="微软雅黑" panose="020B0503020204020204" pitchFamily="34" charset="-122"/>
                          <a:cs typeface="+mn-cs"/>
                        </a:rPr>
                        <a:t>——</a:t>
                      </a:r>
                    </a:p>
                  </a:txBody>
                  <a:tcPr marL="9525" marR="9525" marT="9525" marB="0" anchor="ctr">
                    <a:solidFill>
                      <a:schemeClr val="tx2">
                        <a:lumMod val="20000"/>
                        <a:lumOff val="80000"/>
                      </a:schemeClr>
                    </a:solidFill>
                  </a:tcPr>
                </a:tc>
                <a:tc>
                  <a:txBody>
                    <a:bodyPr/>
                    <a:lstStyle/>
                    <a:p>
                      <a:pPr algn="ctr" fontAlgn="b"/>
                      <a:r>
                        <a:rPr lang="en-US" altLang="zh-CN" sz="1200" u="none" strike="noStrike" kern="1200" dirty="0">
                          <a:solidFill>
                            <a:schemeClr val="tx1">
                              <a:lumMod val="50000"/>
                            </a:schemeClr>
                          </a:solidFill>
                          <a:effectLst/>
                          <a:latin typeface="微软雅黑" panose="020B0503020204020204" pitchFamily="34" charset="-122"/>
                          <a:ea typeface="微软雅黑" panose="020B0503020204020204" pitchFamily="34" charset="-122"/>
                          <a:cs typeface="+mn-cs"/>
                        </a:rPr>
                        <a:t>——</a:t>
                      </a:r>
                    </a:p>
                  </a:txBody>
                  <a:tcPr marL="9525" marR="9525" marT="9525" marB="0" anchor="ctr">
                    <a:solidFill>
                      <a:schemeClr val="tx2">
                        <a:lumMod val="20000"/>
                        <a:lumOff val="80000"/>
                      </a:schemeClr>
                    </a:solidFill>
                  </a:tcPr>
                </a:tc>
                <a:tc>
                  <a:txBody>
                    <a:bodyPr/>
                    <a:lstStyle/>
                    <a:p>
                      <a:pPr algn="ctr" fontAlgn="b"/>
                      <a:r>
                        <a:rPr lang="en-US" altLang="zh-CN" sz="1200" u="none" strike="noStrike" kern="1200" dirty="0">
                          <a:solidFill>
                            <a:schemeClr val="tx1">
                              <a:lumMod val="50000"/>
                            </a:schemeClr>
                          </a:solidFill>
                          <a:effectLst/>
                          <a:latin typeface="微软雅黑" panose="020B0503020204020204" pitchFamily="34" charset="-122"/>
                          <a:ea typeface="微软雅黑" panose="020B0503020204020204" pitchFamily="34" charset="-122"/>
                          <a:cs typeface="+mn-cs"/>
                        </a:rPr>
                        <a:t>——</a:t>
                      </a:r>
                    </a:p>
                  </a:txBody>
                  <a:tcPr marL="9525" marR="9525" marT="9525" marB="0" anchor="ctr">
                    <a:solidFill>
                      <a:schemeClr val="tx2">
                        <a:lumMod val="20000"/>
                        <a:lumOff val="80000"/>
                      </a:schemeClr>
                    </a:solidFill>
                  </a:tcPr>
                </a:tc>
                <a:tc>
                  <a:txBody>
                    <a:bodyPr/>
                    <a:lstStyle/>
                    <a:p>
                      <a:pPr algn="ctr" fontAlgn="b"/>
                      <a:r>
                        <a:rPr lang="en-US" altLang="zh-CN" sz="1200" u="none" strike="noStrike" kern="1200" dirty="0">
                          <a:solidFill>
                            <a:schemeClr val="tx1">
                              <a:lumMod val="50000"/>
                            </a:schemeClr>
                          </a:solidFill>
                          <a:effectLst/>
                          <a:latin typeface="微软雅黑" panose="020B0503020204020204" pitchFamily="34" charset="-122"/>
                          <a:ea typeface="微软雅黑" panose="020B0503020204020204" pitchFamily="34" charset="-122"/>
                          <a:cs typeface="+mn-cs"/>
                        </a:rPr>
                        <a:t>——</a:t>
                      </a:r>
                    </a:p>
                  </a:txBody>
                  <a:tcPr marL="9525" marR="9525" marT="9525" marB="0" anchor="ctr">
                    <a:solidFill>
                      <a:schemeClr val="tx2">
                        <a:lumMod val="20000"/>
                        <a:lumOff val="80000"/>
                      </a:schemeClr>
                    </a:solidFill>
                  </a:tcPr>
                </a:tc>
                <a:tc>
                  <a:txBody>
                    <a:bodyPr/>
                    <a:lstStyle/>
                    <a:p>
                      <a:pPr algn="ctr" fontAlgn="b"/>
                      <a:r>
                        <a:rPr lang="en-US" altLang="zh-CN" sz="1200" u="none" strike="noStrike" kern="1200" dirty="0">
                          <a:solidFill>
                            <a:schemeClr val="tx1">
                              <a:lumMod val="50000"/>
                            </a:schemeClr>
                          </a:solidFill>
                          <a:effectLst/>
                          <a:latin typeface="微软雅黑" panose="020B0503020204020204" pitchFamily="34" charset="-122"/>
                          <a:ea typeface="微软雅黑" panose="020B0503020204020204" pitchFamily="34" charset="-122"/>
                          <a:cs typeface="+mn-cs"/>
                        </a:rPr>
                        <a:t>——</a:t>
                      </a:r>
                    </a:p>
                  </a:txBody>
                  <a:tcPr marL="9525" marR="9525" marT="9525" marB="0" anchor="ctr">
                    <a:solidFill>
                      <a:schemeClr val="tx2">
                        <a:lumMod val="20000"/>
                        <a:lumOff val="80000"/>
                      </a:schemeClr>
                    </a:solidFill>
                  </a:tcPr>
                </a:tc>
                <a:extLst>
                  <a:ext uri="{0D108BD9-81ED-4DB2-BD59-A6C34878D82A}">
                    <a16:rowId xmlns:a16="http://schemas.microsoft.com/office/drawing/2014/main" val="10008"/>
                  </a:ext>
                </a:extLst>
              </a:tr>
            </a:tbl>
          </a:graphicData>
        </a:graphic>
      </p:graphicFrame>
      <p:sp>
        <p:nvSpPr>
          <p:cNvPr id="11" name="TextBox 10"/>
          <p:cNvSpPr txBox="1"/>
          <p:nvPr/>
        </p:nvSpPr>
        <p:spPr>
          <a:xfrm>
            <a:off x="2157571" y="4513986"/>
            <a:ext cx="4884539" cy="307777"/>
          </a:xfrm>
          <a:prstGeom prst="rect">
            <a:avLst/>
          </a:prstGeom>
          <a:noFill/>
        </p:spPr>
        <p:txBody>
          <a:bodyPr wrap="square" rtlCol="0">
            <a:spAutoFit/>
          </a:bodyPr>
          <a:lstStyle/>
          <a:p>
            <a:pPr algn="ctr"/>
            <a:r>
              <a:rPr lang="en-US" altLang="zh-CN" sz="1400" b="1" dirty="0">
                <a:solidFill>
                  <a:schemeClr val="tx1">
                    <a:lumMod val="50000"/>
                  </a:schemeClr>
                </a:solidFill>
                <a:latin typeface="微软雅黑" pitchFamily="34" charset="-122"/>
                <a:ea typeface="微软雅黑" pitchFamily="34" charset="-122"/>
              </a:rPr>
              <a:t>2016.01-2016.09</a:t>
            </a:r>
            <a:r>
              <a:rPr lang="zh-CN" altLang="en-US" sz="1400" b="1" dirty="0">
                <a:solidFill>
                  <a:schemeClr val="tx1">
                    <a:lumMod val="50000"/>
                  </a:schemeClr>
                </a:solidFill>
                <a:latin typeface="微软雅黑" pitchFamily="34" charset="-122"/>
                <a:ea typeface="微软雅黑" pitchFamily="34" charset="-122"/>
              </a:rPr>
              <a:t>固安土地市场成交情况</a:t>
            </a:r>
          </a:p>
        </p:txBody>
      </p:sp>
      <p:sp>
        <p:nvSpPr>
          <p:cNvPr id="13" name="TextBox 12"/>
          <p:cNvSpPr txBox="1"/>
          <p:nvPr/>
        </p:nvSpPr>
        <p:spPr>
          <a:xfrm>
            <a:off x="552277" y="897578"/>
            <a:ext cx="8034727" cy="1523494"/>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altLang="zh-CN" sz="1600" dirty="0">
                <a:solidFill>
                  <a:schemeClr val="tx1">
                    <a:lumMod val="50000"/>
                  </a:schemeClr>
                </a:solidFill>
                <a:latin typeface="微软雅黑" pitchFamily="34" charset="-122"/>
                <a:ea typeface="微软雅黑" pitchFamily="34" charset="-122"/>
              </a:rPr>
              <a:t>2016</a:t>
            </a:r>
            <a:r>
              <a:rPr lang="zh-CN" altLang="en-US" sz="1600" dirty="0">
                <a:solidFill>
                  <a:schemeClr val="tx1">
                    <a:lumMod val="50000"/>
                  </a:schemeClr>
                </a:solidFill>
                <a:latin typeface="微软雅黑" pitchFamily="34" charset="-122"/>
                <a:ea typeface="微软雅黑" pitchFamily="34" charset="-122"/>
              </a:rPr>
              <a:t>年</a:t>
            </a:r>
            <a:r>
              <a:rPr lang="en-US" altLang="zh-CN" sz="1600" dirty="0">
                <a:solidFill>
                  <a:schemeClr val="tx1">
                    <a:lumMod val="50000"/>
                  </a:schemeClr>
                </a:solidFill>
                <a:latin typeface="微软雅黑" pitchFamily="34" charset="-122"/>
                <a:ea typeface="微软雅黑" pitchFamily="34" charset="-122"/>
              </a:rPr>
              <a:t>9</a:t>
            </a:r>
            <a:r>
              <a:rPr lang="zh-CN" altLang="en-US" sz="1600" dirty="0">
                <a:solidFill>
                  <a:schemeClr val="tx1">
                    <a:lumMod val="50000"/>
                  </a:schemeClr>
                </a:solidFill>
                <a:latin typeface="微软雅黑" pitchFamily="34" charset="-122"/>
                <a:ea typeface="微软雅黑" pitchFamily="34" charset="-122"/>
              </a:rPr>
              <a:t>月：固安土地市场零成交，但有大量供应</a:t>
            </a:r>
            <a:r>
              <a:rPr lang="en-US" altLang="zh-CN" sz="1600" dirty="0">
                <a:solidFill>
                  <a:schemeClr val="tx1">
                    <a:lumMod val="50000"/>
                  </a:schemeClr>
                </a:solidFill>
                <a:latin typeface="微软雅黑" pitchFamily="34" charset="-122"/>
                <a:ea typeface="微软雅黑" pitchFamily="34" charset="-122"/>
              </a:rPr>
              <a:t>12</a:t>
            </a:r>
            <a:r>
              <a:rPr lang="zh-CN" altLang="en-US" sz="1600" dirty="0">
                <a:solidFill>
                  <a:schemeClr val="tx1">
                    <a:lumMod val="50000"/>
                  </a:schemeClr>
                </a:solidFill>
                <a:latin typeface="微软雅黑" pitchFamily="34" charset="-122"/>
                <a:ea typeface="微软雅黑" pitchFamily="34" charset="-122"/>
              </a:rPr>
              <a:t>宗，土地面积共</a:t>
            </a:r>
            <a:r>
              <a:rPr lang="en-US" altLang="zh-CN" sz="1600" dirty="0">
                <a:solidFill>
                  <a:schemeClr val="tx1">
                    <a:lumMod val="50000"/>
                  </a:schemeClr>
                </a:solidFill>
                <a:latin typeface="微软雅黑" pitchFamily="34" charset="-122"/>
                <a:ea typeface="微软雅黑" pitchFamily="34" charset="-122"/>
              </a:rPr>
              <a:t>22.7</a:t>
            </a:r>
            <a:r>
              <a:rPr lang="zh-CN" altLang="en-US" sz="1600" dirty="0">
                <a:solidFill>
                  <a:schemeClr val="tx1">
                    <a:lumMod val="50000"/>
                  </a:schemeClr>
                </a:solidFill>
                <a:latin typeface="微软雅黑" pitchFamily="34" charset="-122"/>
                <a:ea typeface="微软雅黑" pitchFamily="34" charset="-122"/>
              </a:rPr>
              <a:t>万㎡，</a:t>
            </a:r>
            <a:endParaRPr lang="en-US" altLang="zh-CN" sz="1600" dirty="0">
              <a:solidFill>
                <a:schemeClr val="tx1">
                  <a:lumMod val="50000"/>
                </a:schemeClr>
              </a:solidFill>
              <a:latin typeface="微软雅黑" pitchFamily="34" charset="-122"/>
              <a:ea typeface="微软雅黑" pitchFamily="34" charset="-122"/>
            </a:endParaRPr>
          </a:p>
          <a:p>
            <a:pPr algn="just">
              <a:lnSpc>
                <a:spcPct val="150000"/>
              </a:lnSpc>
            </a:pPr>
            <a:r>
              <a:rPr lang="zh-CN" altLang="en-US" sz="1600" dirty="0">
                <a:solidFill>
                  <a:schemeClr val="tx1">
                    <a:lumMod val="50000"/>
                  </a:schemeClr>
                </a:solidFill>
                <a:latin typeface="微软雅黑" pitchFamily="34" charset="-122"/>
                <a:ea typeface="微软雅黑" pitchFamily="34" charset="-122"/>
              </a:rPr>
              <a:t>                         其中有</a:t>
            </a:r>
            <a:r>
              <a:rPr lang="en-US" altLang="zh-CN" sz="1600" dirty="0">
                <a:solidFill>
                  <a:schemeClr val="tx1">
                    <a:lumMod val="50000"/>
                  </a:schemeClr>
                </a:solidFill>
                <a:latin typeface="微软雅黑" pitchFamily="34" charset="-122"/>
                <a:ea typeface="微软雅黑" pitchFamily="34" charset="-122"/>
              </a:rPr>
              <a:t>10</a:t>
            </a:r>
            <a:r>
              <a:rPr lang="zh-CN" altLang="en-US" sz="1600" dirty="0">
                <a:solidFill>
                  <a:schemeClr val="tx1">
                    <a:lumMod val="50000"/>
                  </a:schemeClr>
                </a:solidFill>
                <a:latin typeface="微软雅黑" pitchFamily="34" charset="-122"/>
                <a:ea typeface="微软雅黑" pitchFamily="34" charset="-122"/>
              </a:rPr>
              <a:t>宗是住宅用地。</a:t>
            </a:r>
            <a:endParaRPr lang="en-US" altLang="zh-CN" sz="1600" dirty="0">
              <a:solidFill>
                <a:schemeClr val="tx1">
                  <a:lumMod val="50000"/>
                </a:schemeClr>
              </a:solidFill>
              <a:latin typeface="微软雅黑" pitchFamily="34" charset="-122"/>
              <a:ea typeface="微软雅黑" pitchFamily="34" charset="-122"/>
            </a:endParaRPr>
          </a:p>
          <a:p>
            <a:pPr marL="285750" indent="-285750" algn="just">
              <a:lnSpc>
                <a:spcPct val="150000"/>
              </a:lnSpc>
              <a:buFont typeface="Arial" panose="020B0604020202020204" pitchFamily="34" charset="0"/>
              <a:buChar char="•"/>
            </a:pPr>
            <a:r>
              <a:rPr lang="en-US" altLang="zh-CN" sz="1600" dirty="0">
                <a:solidFill>
                  <a:schemeClr val="tx1">
                    <a:lumMod val="50000"/>
                  </a:schemeClr>
                </a:solidFill>
                <a:latin typeface="微软雅黑" pitchFamily="34" charset="-122"/>
                <a:ea typeface="微软雅黑" pitchFamily="34" charset="-122"/>
              </a:rPr>
              <a:t>2016</a:t>
            </a:r>
            <a:r>
              <a:rPr lang="zh-CN" altLang="en-US" sz="1600" dirty="0">
                <a:solidFill>
                  <a:schemeClr val="tx1">
                    <a:lumMod val="50000"/>
                  </a:schemeClr>
                </a:solidFill>
                <a:latin typeface="微软雅黑" pitchFamily="34" charset="-122"/>
                <a:ea typeface="微软雅黑" pitchFamily="34" charset="-122"/>
              </a:rPr>
              <a:t>年</a:t>
            </a:r>
            <a:r>
              <a:rPr lang="en-US" altLang="zh-CN" sz="1600" dirty="0">
                <a:solidFill>
                  <a:schemeClr val="tx1">
                    <a:lumMod val="50000"/>
                  </a:schemeClr>
                </a:solidFill>
                <a:latin typeface="微软雅黑" pitchFamily="34" charset="-122"/>
                <a:ea typeface="微软雅黑" pitchFamily="34" charset="-122"/>
              </a:rPr>
              <a:t>1-9</a:t>
            </a:r>
            <a:r>
              <a:rPr lang="zh-CN" altLang="en-US" sz="1600" dirty="0">
                <a:solidFill>
                  <a:schemeClr val="tx1">
                    <a:lumMod val="50000"/>
                  </a:schemeClr>
                </a:solidFill>
                <a:latin typeface="微软雅黑" pitchFamily="34" charset="-122"/>
                <a:ea typeface="微软雅黑" pitchFamily="34" charset="-122"/>
              </a:rPr>
              <a:t>月：共成交土地</a:t>
            </a:r>
            <a:r>
              <a:rPr lang="en-US" altLang="zh-CN" sz="1600" dirty="0">
                <a:solidFill>
                  <a:schemeClr val="tx1">
                    <a:lumMod val="50000"/>
                  </a:schemeClr>
                </a:solidFill>
                <a:latin typeface="微软雅黑" pitchFamily="34" charset="-122"/>
                <a:ea typeface="微软雅黑" pitchFamily="34" charset="-122"/>
              </a:rPr>
              <a:t>68</a:t>
            </a:r>
            <a:r>
              <a:rPr lang="zh-CN" altLang="en-US" sz="1600" dirty="0">
                <a:solidFill>
                  <a:schemeClr val="tx1">
                    <a:lumMod val="50000"/>
                  </a:schemeClr>
                </a:solidFill>
                <a:latin typeface="微软雅黑" pitchFamily="34" charset="-122"/>
                <a:ea typeface="微软雅黑" pitchFamily="34" charset="-122"/>
              </a:rPr>
              <a:t>宗，成交总面积</a:t>
            </a:r>
            <a:r>
              <a:rPr lang="en-US" altLang="zh-CN" sz="1600" dirty="0">
                <a:solidFill>
                  <a:schemeClr val="tx1">
                    <a:lumMod val="50000"/>
                  </a:schemeClr>
                </a:solidFill>
                <a:latin typeface="微软雅黑" pitchFamily="34" charset="-122"/>
                <a:ea typeface="微软雅黑" pitchFamily="34" charset="-122"/>
              </a:rPr>
              <a:t>142.3</a:t>
            </a:r>
            <a:r>
              <a:rPr lang="zh-CN" altLang="en-US" sz="1600" dirty="0">
                <a:solidFill>
                  <a:schemeClr val="tx1">
                    <a:lumMod val="50000"/>
                  </a:schemeClr>
                </a:solidFill>
                <a:latin typeface="微软雅黑" pitchFamily="34" charset="-122"/>
                <a:ea typeface="微软雅黑" pitchFamily="34" charset="-122"/>
              </a:rPr>
              <a:t>万㎡，其中，</a:t>
            </a:r>
            <a:r>
              <a:rPr lang="zh-CN" altLang="en-US" sz="1600" b="1" dirty="0">
                <a:solidFill>
                  <a:srgbClr val="C00000"/>
                </a:solidFill>
                <a:latin typeface="微软雅黑" pitchFamily="34" charset="-122"/>
                <a:ea typeface="微软雅黑" pitchFamily="34" charset="-122"/>
              </a:rPr>
              <a:t>住宅用地成交数量</a:t>
            </a:r>
            <a:endParaRPr lang="en-US" altLang="zh-CN" sz="1600" b="1" dirty="0">
              <a:solidFill>
                <a:srgbClr val="C00000"/>
              </a:solidFill>
              <a:latin typeface="微软雅黑" pitchFamily="34" charset="-122"/>
              <a:ea typeface="微软雅黑" pitchFamily="34" charset="-122"/>
            </a:endParaRPr>
          </a:p>
          <a:p>
            <a:pPr algn="just">
              <a:lnSpc>
                <a:spcPct val="150000"/>
              </a:lnSpc>
            </a:pPr>
            <a:r>
              <a:rPr lang="en-US" altLang="zh-CN" sz="1600" b="1" dirty="0">
                <a:solidFill>
                  <a:srgbClr val="C00000"/>
                </a:solidFill>
                <a:latin typeface="微软雅黑" pitchFamily="34" charset="-122"/>
                <a:ea typeface="微软雅黑" pitchFamily="34" charset="-122"/>
              </a:rPr>
              <a:t>                            </a:t>
            </a:r>
            <a:r>
              <a:rPr lang="zh-CN" altLang="en-US" sz="1600" b="1" dirty="0">
                <a:solidFill>
                  <a:srgbClr val="C00000"/>
                </a:solidFill>
                <a:latin typeface="微软雅黑" pitchFamily="34" charset="-122"/>
                <a:ea typeface="微软雅黑" pitchFamily="34" charset="-122"/>
              </a:rPr>
              <a:t>最多</a:t>
            </a:r>
            <a:r>
              <a:rPr lang="zh-CN" altLang="en-US" sz="1600" dirty="0">
                <a:solidFill>
                  <a:schemeClr val="tx1">
                    <a:lumMod val="50000"/>
                  </a:schemeClr>
                </a:solidFill>
                <a:latin typeface="微软雅黑" pitchFamily="34" charset="-122"/>
                <a:ea typeface="微软雅黑" pitchFamily="34" charset="-122"/>
              </a:rPr>
              <a:t>，为</a:t>
            </a:r>
            <a:r>
              <a:rPr lang="en-US" altLang="zh-CN" sz="1600" dirty="0">
                <a:solidFill>
                  <a:schemeClr val="tx1">
                    <a:lumMod val="50000"/>
                  </a:schemeClr>
                </a:solidFill>
                <a:latin typeface="微软雅黑" pitchFamily="34" charset="-122"/>
                <a:ea typeface="微软雅黑" pitchFamily="34" charset="-122"/>
              </a:rPr>
              <a:t>43</a:t>
            </a:r>
            <a:r>
              <a:rPr lang="zh-CN" altLang="en-US" sz="1600" dirty="0">
                <a:solidFill>
                  <a:schemeClr val="tx1">
                    <a:lumMod val="50000"/>
                  </a:schemeClr>
                </a:solidFill>
                <a:latin typeface="微软雅黑" pitchFamily="34" charset="-122"/>
                <a:ea typeface="微软雅黑" pitchFamily="34" charset="-122"/>
              </a:rPr>
              <a:t>宗，土地面积共</a:t>
            </a:r>
            <a:r>
              <a:rPr lang="en-US" altLang="zh-CN" sz="1600" dirty="0">
                <a:solidFill>
                  <a:schemeClr val="tx1">
                    <a:lumMod val="50000"/>
                  </a:schemeClr>
                </a:solidFill>
                <a:latin typeface="微软雅黑" pitchFamily="34" charset="-122"/>
                <a:ea typeface="微软雅黑" pitchFamily="34" charset="-122"/>
              </a:rPr>
              <a:t>96.3</a:t>
            </a:r>
            <a:r>
              <a:rPr lang="zh-CN" altLang="en-US" sz="1600" dirty="0">
                <a:solidFill>
                  <a:schemeClr val="tx1">
                    <a:lumMod val="50000"/>
                  </a:schemeClr>
                </a:solidFill>
                <a:latin typeface="微软雅黑" pitchFamily="34" charset="-122"/>
                <a:ea typeface="微软雅黑" pitchFamily="34" charset="-122"/>
              </a:rPr>
              <a:t>万㎡ 。</a:t>
            </a:r>
            <a:endParaRPr lang="en-US" altLang="zh-CN" sz="1600" dirty="0">
              <a:solidFill>
                <a:schemeClr val="tx1">
                  <a:lumMod val="50000"/>
                </a:schemeClr>
              </a:solidFill>
              <a:latin typeface="微软雅黑" pitchFamily="34" charset="-122"/>
              <a:ea typeface="微软雅黑" pitchFamily="34" charset="-122"/>
            </a:endParaRPr>
          </a:p>
        </p:txBody>
      </p:sp>
      <p:sp>
        <p:nvSpPr>
          <p:cNvPr id="14" name="文本占位符 2"/>
          <p:cNvSpPr txBox="1">
            <a:spLocks/>
          </p:cNvSpPr>
          <p:nvPr/>
        </p:nvSpPr>
        <p:spPr>
          <a:xfrm>
            <a:off x="399878" y="542651"/>
            <a:ext cx="5981254" cy="454025"/>
          </a:xfrm>
          <a:prstGeom prst="rect">
            <a:avLst/>
          </a:prstGeom>
        </p:spPr>
        <p:txBody>
          <a:bodyPr vert="horz"/>
          <a:lstStyle>
            <a:lvl1pPr marL="0" indent="0" algn="l" defTabSz="457200" rtl="0" eaLnBrk="1" latinLnBrk="0" hangingPunct="1">
              <a:spcBef>
                <a:spcPct val="20000"/>
              </a:spcBef>
              <a:buFont typeface="Arial"/>
              <a:buNone/>
              <a:defRPr sz="1600" kern="1200">
                <a:solidFill>
                  <a:schemeClr val="tx1">
                    <a:lumMod val="75000"/>
                    <a:lumOff val="25000"/>
                  </a:schemeClr>
                </a:solidFill>
                <a:latin typeface="Microsoft YaHei"/>
                <a:ea typeface="+mn-ea"/>
                <a:cs typeface="Microsoft YaHei"/>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85750" indent="-285750">
              <a:buClr>
                <a:schemeClr val="tx1"/>
              </a:buClr>
              <a:buFont typeface="Wingdings" pitchFamily="2" charset="2"/>
              <a:buChar char="Ø"/>
            </a:pPr>
            <a:r>
              <a:rPr lang="zh-CN" altLang="en-US" sz="1800" b="1" dirty="0">
                <a:solidFill>
                  <a:schemeClr val="tx1"/>
                </a:solidFill>
                <a:latin typeface="微软雅黑" pitchFamily="34" charset="-122"/>
                <a:ea typeface="微软雅黑" pitchFamily="34" charset="-122"/>
              </a:rPr>
              <a:t>土地市场：</a:t>
            </a:r>
            <a:r>
              <a:rPr lang="en-US" altLang="zh-CN" sz="1800" b="1" dirty="0">
                <a:solidFill>
                  <a:schemeClr val="tx1"/>
                </a:solidFill>
                <a:latin typeface="微软雅黑" pitchFamily="34" charset="-122"/>
                <a:ea typeface="微软雅黑" pitchFamily="34" charset="-122"/>
              </a:rPr>
              <a:t>9</a:t>
            </a:r>
            <a:r>
              <a:rPr lang="zh-CN" altLang="en-US" sz="1800" b="1" dirty="0">
                <a:solidFill>
                  <a:schemeClr val="tx1"/>
                </a:solidFill>
                <a:latin typeface="微软雅黑" pitchFamily="34" charset="-122"/>
                <a:ea typeface="微软雅黑" pitchFamily="34" charset="-122"/>
              </a:rPr>
              <a:t>月零成交</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4919" y="2318038"/>
            <a:ext cx="6491642" cy="2221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474065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固安</a:t>
            </a:r>
            <a:r>
              <a:rPr lang="en-US" altLang="zh-CN" dirty="0"/>
              <a:t>| </a:t>
            </a:r>
            <a:r>
              <a:rPr lang="zh-CN" altLang="en-US" sz="1800" dirty="0">
                <a:solidFill>
                  <a:schemeClr val="tx1">
                    <a:lumMod val="75000"/>
                    <a:lumOff val="25000"/>
                  </a:schemeClr>
                </a:solidFill>
              </a:rPr>
              <a:t>商品房市场</a:t>
            </a:r>
            <a:endParaRPr lang="zh-CN" altLang="en-US" sz="1800" dirty="0"/>
          </a:p>
        </p:txBody>
      </p:sp>
      <p:sp>
        <p:nvSpPr>
          <p:cNvPr id="4" name="灯片编号占位符 3"/>
          <p:cNvSpPr>
            <a:spLocks noGrp="1"/>
          </p:cNvSpPr>
          <p:nvPr>
            <p:ph type="sldNum" sz="quarter" idx="4"/>
          </p:nvPr>
        </p:nvSpPr>
        <p:spPr/>
        <p:txBody>
          <a:bodyPr/>
          <a:lstStyle/>
          <a:p>
            <a:pPr>
              <a:defRPr/>
            </a:pPr>
            <a:fld id="{3E8B6F27-EC4F-B34E-9F32-10CC92E9AB18}" type="slidenum">
              <a:rPr lang="zh-CN" altLang="en-US" smtClean="0"/>
              <a:pPr>
                <a:defRPr/>
              </a:pPr>
              <a:t>54</a:t>
            </a:fld>
            <a:endParaRPr lang="zh-CN" altLang="en-US" dirty="0"/>
          </a:p>
        </p:txBody>
      </p:sp>
      <p:sp>
        <p:nvSpPr>
          <p:cNvPr id="5" name="文本占位符 2"/>
          <p:cNvSpPr txBox="1">
            <a:spLocks/>
          </p:cNvSpPr>
          <p:nvPr/>
        </p:nvSpPr>
        <p:spPr>
          <a:xfrm>
            <a:off x="535565" y="798426"/>
            <a:ext cx="5457196" cy="454025"/>
          </a:xfrm>
          <a:prstGeom prst="rect">
            <a:avLst/>
          </a:prstGeom>
        </p:spPr>
        <p:txBody>
          <a:bodyPr vert="horz"/>
          <a:lstStyle>
            <a:lvl1pPr marL="0" indent="0" algn="l" defTabSz="457200" rtl="0" eaLnBrk="1" latinLnBrk="0" hangingPunct="1">
              <a:spcBef>
                <a:spcPct val="20000"/>
              </a:spcBef>
              <a:buFont typeface="Arial"/>
              <a:buNone/>
              <a:defRPr sz="1600" kern="1200">
                <a:solidFill>
                  <a:schemeClr val="tx1">
                    <a:lumMod val="75000"/>
                    <a:lumOff val="25000"/>
                  </a:schemeClr>
                </a:solidFill>
                <a:latin typeface="Microsoft YaHei"/>
                <a:ea typeface="+mn-ea"/>
                <a:cs typeface="Microsoft YaHei"/>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85750" indent="-285750">
              <a:buClr>
                <a:schemeClr val="tx1"/>
              </a:buClr>
              <a:buFont typeface="Wingdings" pitchFamily="2" charset="2"/>
              <a:buChar char="Ø"/>
            </a:pPr>
            <a:r>
              <a:rPr lang="zh-CN" altLang="en-US" sz="1800" b="1" dirty="0">
                <a:solidFill>
                  <a:schemeClr val="tx1"/>
                </a:solidFill>
                <a:latin typeface="微软雅黑" pitchFamily="34" charset="-122"/>
                <a:ea typeface="微软雅黑" pitchFamily="34" charset="-122"/>
              </a:rPr>
              <a:t>商品房：价格依旧高涨，去化周期仅</a:t>
            </a:r>
            <a:r>
              <a:rPr lang="en-US" altLang="zh-CN" sz="1800" b="1" dirty="0">
                <a:solidFill>
                  <a:schemeClr val="tx1"/>
                </a:solidFill>
                <a:latin typeface="微软雅黑" pitchFamily="34" charset="-122"/>
                <a:ea typeface="微软雅黑" pitchFamily="34" charset="-122"/>
              </a:rPr>
              <a:t>1</a:t>
            </a:r>
            <a:r>
              <a:rPr lang="zh-CN" altLang="en-US" sz="1800" b="1" dirty="0">
                <a:solidFill>
                  <a:schemeClr val="tx1"/>
                </a:solidFill>
                <a:latin typeface="微软雅黑" pitchFamily="34" charset="-122"/>
                <a:ea typeface="微软雅黑" pitchFamily="34" charset="-122"/>
              </a:rPr>
              <a:t>个月</a:t>
            </a:r>
          </a:p>
        </p:txBody>
      </p:sp>
      <p:graphicFrame>
        <p:nvGraphicFramePr>
          <p:cNvPr id="8" name="图表 7"/>
          <p:cNvGraphicFramePr>
            <a:graphicFrameLocks/>
          </p:cNvGraphicFramePr>
          <p:nvPr>
            <p:extLst>
              <p:ext uri="{D42A27DB-BD31-4B8C-83A1-F6EECF244321}">
                <p14:modId xmlns:p14="http://schemas.microsoft.com/office/powerpoint/2010/main" val="164516612"/>
              </p:ext>
            </p:extLst>
          </p:nvPr>
        </p:nvGraphicFramePr>
        <p:xfrm>
          <a:off x="999271" y="1426475"/>
          <a:ext cx="7148441" cy="24765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图表 8"/>
          <p:cNvGraphicFramePr>
            <a:graphicFrameLocks/>
          </p:cNvGraphicFramePr>
          <p:nvPr>
            <p:extLst>
              <p:ext uri="{D42A27DB-BD31-4B8C-83A1-F6EECF244321}">
                <p14:modId xmlns:p14="http://schemas.microsoft.com/office/powerpoint/2010/main" val="879143861"/>
              </p:ext>
            </p:extLst>
          </p:nvPr>
        </p:nvGraphicFramePr>
        <p:xfrm>
          <a:off x="999271" y="4088977"/>
          <a:ext cx="7148441" cy="254793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08614889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固安</a:t>
            </a:r>
            <a:r>
              <a:rPr lang="en-US" altLang="zh-CN" dirty="0"/>
              <a:t>| </a:t>
            </a:r>
            <a:r>
              <a:rPr lang="zh-CN" altLang="en-US" sz="1800" dirty="0">
                <a:solidFill>
                  <a:schemeClr val="tx1">
                    <a:lumMod val="75000"/>
                    <a:lumOff val="25000"/>
                  </a:schemeClr>
                </a:solidFill>
              </a:rPr>
              <a:t>商品住宅市场</a:t>
            </a:r>
            <a:endParaRPr lang="zh-CN" altLang="en-US" sz="1800" dirty="0"/>
          </a:p>
        </p:txBody>
      </p:sp>
      <p:sp>
        <p:nvSpPr>
          <p:cNvPr id="4" name="灯片编号占位符 3"/>
          <p:cNvSpPr>
            <a:spLocks noGrp="1"/>
          </p:cNvSpPr>
          <p:nvPr>
            <p:ph type="sldNum" sz="quarter" idx="4"/>
          </p:nvPr>
        </p:nvSpPr>
        <p:spPr/>
        <p:txBody>
          <a:bodyPr/>
          <a:lstStyle/>
          <a:p>
            <a:pPr>
              <a:defRPr/>
            </a:pPr>
            <a:fld id="{3E8B6F27-EC4F-B34E-9F32-10CC92E9AB18}" type="slidenum">
              <a:rPr lang="zh-CN" altLang="en-US" smtClean="0"/>
              <a:pPr>
                <a:defRPr/>
              </a:pPr>
              <a:t>55</a:t>
            </a:fld>
            <a:endParaRPr lang="zh-CN" altLang="en-US" dirty="0"/>
          </a:p>
        </p:txBody>
      </p:sp>
      <p:sp>
        <p:nvSpPr>
          <p:cNvPr id="8" name="文本占位符 2"/>
          <p:cNvSpPr txBox="1">
            <a:spLocks/>
          </p:cNvSpPr>
          <p:nvPr/>
        </p:nvSpPr>
        <p:spPr>
          <a:xfrm>
            <a:off x="426533" y="736613"/>
            <a:ext cx="7980868" cy="454025"/>
          </a:xfrm>
          <a:prstGeom prst="rect">
            <a:avLst/>
          </a:prstGeom>
        </p:spPr>
        <p:txBody>
          <a:bodyPr vert="horz"/>
          <a:lstStyle>
            <a:lvl1pPr marL="0" indent="0" algn="l" defTabSz="457200" rtl="0" eaLnBrk="1" latinLnBrk="0" hangingPunct="1">
              <a:spcBef>
                <a:spcPct val="20000"/>
              </a:spcBef>
              <a:buFont typeface="Arial"/>
              <a:buNone/>
              <a:defRPr sz="1600" kern="1200">
                <a:solidFill>
                  <a:schemeClr val="tx1">
                    <a:lumMod val="75000"/>
                    <a:lumOff val="25000"/>
                  </a:schemeClr>
                </a:solidFill>
                <a:latin typeface="Microsoft YaHei"/>
                <a:ea typeface="+mn-ea"/>
                <a:cs typeface="Microsoft YaHei"/>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85750" indent="-285750">
              <a:buClr>
                <a:schemeClr val="tx1"/>
              </a:buClr>
              <a:buFont typeface="Wingdings" pitchFamily="2" charset="2"/>
              <a:buChar char="Ø"/>
            </a:pPr>
            <a:r>
              <a:rPr lang="zh-CN" altLang="en-US" sz="1800" b="1" dirty="0">
                <a:solidFill>
                  <a:schemeClr val="tx1"/>
                </a:solidFill>
                <a:latin typeface="微软雅黑" pitchFamily="34" charset="-122"/>
                <a:ea typeface="微软雅黑" pitchFamily="34" charset="-122"/>
              </a:rPr>
              <a:t>商品住宅：总价</a:t>
            </a:r>
            <a:r>
              <a:rPr lang="en-US" altLang="zh-CN" sz="1800" b="1" dirty="0">
                <a:solidFill>
                  <a:schemeClr val="tx1"/>
                </a:solidFill>
                <a:latin typeface="微软雅黑" pitchFamily="34" charset="-122"/>
                <a:ea typeface="微软雅黑" pitchFamily="34" charset="-122"/>
              </a:rPr>
              <a:t>70</a:t>
            </a:r>
            <a:r>
              <a:rPr lang="zh-CN" altLang="en-US" sz="1800" b="1" dirty="0">
                <a:solidFill>
                  <a:schemeClr val="tx1"/>
                </a:solidFill>
                <a:latin typeface="微软雅黑" pitchFamily="34" charset="-122"/>
                <a:ea typeface="微软雅黑" pitchFamily="34" charset="-122"/>
              </a:rPr>
              <a:t>万以上的成交占比达</a:t>
            </a:r>
            <a:r>
              <a:rPr lang="en-US" altLang="zh-CN" sz="1800" b="1" dirty="0">
                <a:solidFill>
                  <a:schemeClr val="tx1"/>
                </a:solidFill>
                <a:latin typeface="微软雅黑" pitchFamily="34" charset="-122"/>
                <a:ea typeface="微软雅黑" pitchFamily="34" charset="-122"/>
              </a:rPr>
              <a:t>7</a:t>
            </a:r>
            <a:r>
              <a:rPr lang="zh-CN" altLang="en-US" sz="1800" b="1" dirty="0">
                <a:solidFill>
                  <a:schemeClr val="tx1"/>
                </a:solidFill>
                <a:latin typeface="微软雅黑" pitchFamily="34" charset="-122"/>
                <a:ea typeface="微软雅黑" pitchFamily="34" charset="-122"/>
              </a:rPr>
              <a:t>成以上</a:t>
            </a:r>
          </a:p>
        </p:txBody>
      </p:sp>
      <p:graphicFrame>
        <p:nvGraphicFramePr>
          <p:cNvPr id="9" name="图表 8"/>
          <p:cNvGraphicFramePr>
            <a:graphicFrameLocks/>
          </p:cNvGraphicFramePr>
          <p:nvPr>
            <p:extLst>
              <p:ext uri="{D42A27DB-BD31-4B8C-83A1-F6EECF244321}">
                <p14:modId xmlns:p14="http://schemas.microsoft.com/office/powerpoint/2010/main" val="2305356747"/>
              </p:ext>
            </p:extLst>
          </p:nvPr>
        </p:nvGraphicFramePr>
        <p:xfrm>
          <a:off x="980861" y="1344439"/>
          <a:ext cx="7207795" cy="2476800"/>
        </p:xfrm>
        <a:graphic>
          <a:graphicData uri="http://schemas.openxmlformats.org/drawingml/2006/chart">
            <c:chart xmlns:c="http://schemas.openxmlformats.org/drawingml/2006/chart" xmlns:r="http://schemas.openxmlformats.org/officeDocument/2006/relationships" r:id="rId2"/>
          </a:graphicData>
        </a:graphic>
      </p:graphicFrame>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145247"/>
            <a:ext cx="4749421" cy="2451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58352" y="4142380"/>
            <a:ext cx="4585648" cy="2481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9161654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固安</a:t>
            </a:r>
            <a:r>
              <a:rPr lang="en-US" altLang="zh-CN" dirty="0"/>
              <a:t>| </a:t>
            </a:r>
            <a:r>
              <a:rPr lang="zh-CN" altLang="en-US" sz="1800" dirty="0">
                <a:solidFill>
                  <a:schemeClr val="tx1">
                    <a:lumMod val="75000"/>
                    <a:lumOff val="25000"/>
                  </a:schemeClr>
                </a:solidFill>
              </a:rPr>
              <a:t>项目预售情况</a:t>
            </a:r>
          </a:p>
        </p:txBody>
      </p:sp>
      <p:sp>
        <p:nvSpPr>
          <p:cNvPr id="4" name="灯片编号占位符 3"/>
          <p:cNvSpPr>
            <a:spLocks noGrp="1"/>
          </p:cNvSpPr>
          <p:nvPr>
            <p:ph type="sldNum" sz="quarter" idx="4"/>
          </p:nvPr>
        </p:nvSpPr>
        <p:spPr/>
        <p:txBody>
          <a:bodyPr/>
          <a:lstStyle/>
          <a:p>
            <a:pPr>
              <a:defRPr/>
            </a:pPr>
            <a:fld id="{3E8B6F27-EC4F-B34E-9F32-10CC92E9AB18}" type="slidenum">
              <a:rPr lang="zh-CN" altLang="en-US" smtClean="0"/>
              <a:pPr>
                <a:defRPr/>
              </a:pPr>
              <a:t>56</a:t>
            </a:fld>
            <a:endParaRPr lang="zh-CN" altLang="en-US" dirty="0"/>
          </a:p>
        </p:txBody>
      </p:sp>
      <p:graphicFrame>
        <p:nvGraphicFramePr>
          <p:cNvPr id="13" name="表格 12"/>
          <p:cNvGraphicFramePr>
            <a:graphicFrameLocks noGrp="1"/>
          </p:cNvGraphicFramePr>
          <p:nvPr>
            <p:extLst>
              <p:ext uri="{D42A27DB-BD31-4B8C-83A1-F6EECF244321}">
                <p14:modId xmlns:p14="http://schemas.microsoft.com/office/powerpoint/2010/main" val="1630202737"/>
              </p:ext>
            </p:extLst>
          </p:nvPr>
        </p:nvGraphicFramePr>
        <p:xfrm>
          <a:off x="2026010" y="1474018"/>
          <a:ext cx="5040000" cy="1290225"/>
        </p:xfrm>
        <a:graphic>
          <a:graphicData uri="http://schemas.openxmlformats.org/drawingml/2006/table">
            <a:tbl>
              <a:tblPr>
                <a:tableStyleId>{5C22544A-7EE6-4342-B048-85BDC9FD1C3A}</a:tableStyleId>
              </a:tblPr>
              <a:tblGrid>
                <a:gridCol w="1692286">
                  <a:extLst>
                    <a:ext uri="{9D8B030D-6E8A-4147-A177-3AD203B41FA5}">
                      <a16:colId xmlns:a16="http://schemas.microsoft.com/office/drawing/2014/main" val="20000"/>
                    </a:ext>
                  </a:extLst>
                </a:gridCol>
                <a:gridCol w="1673857">
                  <a:extLst>
                    <a:ext uri="{9D8B030D-6E8A-4147-A177-3AD203B41FA5}">
                      <a16:colId xmlns:a16="http://schemas.microsoft.com/office/drawing/2014/main" val="20001"/>
                    </a:ext>
                  </a:extLst>
                </a:gridCol>
                <a:gridCol w="1673857">
                  <a:extLst>
                    <a:ext uri="{9D8B030D-6E8A-4147-A177-3AD203B41FA5}">
                      <a16:colId xmlns:a16="http://schemas.microsoft.com/office/drawing/2014/main" val="20002"/>
                    </a:ext>
                  </a:extLst>
                </a:gridCol>
              </a:tblGrid>
              <a:tr h="252000">
                <a:tc>
                  <a:txBody>
                    <a:bodyPr/>
                    <a:lstStyle/>
                    <a:p>
                      <a:pPr algn="ctr" rtl="0" fontAlgn="ctr"/>
                      <a:r>
                        <a:rPr lang="zh-CN" altLang="en-US" sz="1300" b="1" u="none" strike="noStrike" dirty="0">
                          <a:solidFill>
                            <a:schemeClr val="bg1"/>
                          </a:solidFill>
                          <a:effectLst/>
                          <a:latin typeface="黑体" pitchFamily="2" charset="-122"/>
                          <a:ea typeface="黑体" pitchFamily="2" charset="-122"/>
                        </a:rPr>
                        <a:t>项目名称</a:t>
                      </a:r>
                      <a:endParaRPr lang="zh-CN" altLang="en-US" sz="1300" b="1" i="0" u="none" strike="noStrike" dirty="0">
                        <a:solidFill>
                          <a:schemeClr val="bg1"/>
                        </a:solidFill>
                        <a:effectLst/>
                        <a:latin typeface="黑体" pitchFamily="2" charset="-122"/>
                        <a:ea typeface="黑体" pitchFamily="2" charset="-122"/>
                      </a:endParaRPr>
                    </a:p>
                  </a:txBody>
                  <a:tcPr marL="9525" marR="9525" marT="9525" marB="0" anchor="ctr">
                    <a:solidFill>
                      <a:schemeClr val="tx2">
                        <a:lumMod val="60000"/>
                        <a:lumOff val="40000"/>
                      </a:schemeClr>
                    </a:solidFill>
                  </a:tcPr>
                </a:tc>
                <a:tc>
                  <a:txBody>
                    <a:bodyPr/>
                    <a:lstStyle/>
                    <a:p>
                      <a:pPr algn="ctr" rtl="0" fontAlgn="ctr"/>
                      <a:r>
                        <a:rPr lang="zh-CN" altLang="en-US" sz="1300" b="1" i="0" u="none" strike="noStrike" dirty="0">
                          <a:solidFill>
                            <a:srgbClr val="FFFFFF"/>
                          </a:solidFill>
                          <a:effectLst/>
                          <a:latin typeface="黑体" pitchFamily="2" charset="-122"/>
                          <a:ea typeface="黑体" pitchFamily="2" charset="-122"/>
                        </a:rPr>
                        <a:t>批准销售套数（套）</a:t>
                      </a:r>
                    </a:p>
                  </a:txBody>
                  <a:tcPr marL="9525" marR="9525" marT="9525" marB="0" anchor="ctr">
                    <a:solidFill>
                      <a:schemeClr val="tx2">
                        <a:lumMod val="60000"/>
                        <a:lumOff val="40000"/>
                      </a:schemeClr>
                    </a:solidFill>
                  </a:tcPr>
                </a:tc>
                <a:tc>
                  <a:txBody>
                    <a:bodyPr/>
                    <a:lstStyle/>
                    <a:p>
                      <a:pPr marL="0" marR="0" indent="0" algn="ctr" defTabSz="457200" rtl="0" eaLnBrk="1" fontAlgn="ctr" latinLnBrk="0" hangingPunct="1">
                        <a:lnSpc>
                          <a:spcPct val="100000"/>
                        </a:lnSpc>
                        <a:spcBef>
                          <a:spcPts val="0"/>
                        </a:spcBef>
                        <a:spcAft>
                          <a:spcPts val="0"/>
                        </a:spcAft>
                        <a:buClrTx/>
                        <a:buSzTx/>
                        <a:buFontTx/>
                        <a:buNone/>
                        <a:tabLst/>
                        <a:defRPr/>
                      </a:pPr>
                      <a:r>
                        <a:rPr lang="zh-CN" altLang="en-US" sz="1300" b="1" i="0" u="none" strike="noStrike" dirty="0">
                          <a:solidFill>
                            <a:srgbClr val="FFFFFF"/>
                          </a:solidFill>
                          <a:effectLst/>
                          <a:latin typeface="黑体" pitchFamily="2" charset="-122"/>
                          <a:ea typeface="黑体" pitchFamily="2" charset="-122"/>
                        </a:rPr>
                        <a:t>批准销售面积（㎡）</a:t>
                      </a:r>
                    </a:p>
                  </a:txBody>
                  <a:tcPr marL="9525" marR="9525" marT="9525" marB="0" anchor="ctr">
                    <a:solidFill>
                      <a:schemeClr val="tx2">
                        <a:lumMod val="60000"/>
                        <a:lumOff val="40000"/>
                      </a:schemeClr>
                    </a:solidFill>
                  </a:tcPr>
                </a:tc>
                <a:extLst>
                  <a:ext uri="{0D108BD9-81ED-4DB2-BD59-A6C34878D82A}">
                    <a16:rowId xmlns:a16="http://schemas.microsoft.com/office/drawing/2014/main" val="10000"/>
                  </a:ext>
                </a:extLst>
              </a:tr>
              <a:tr h="0">
                <a:tc>
                  <a:txBody>
                    <a:bodyPr/>
                    <a:lstStyle/>
                    <a:p>
                      <a:pPr algn="ctr" fontAlgn="ctr"/>
                      <a:r>
                        <a:rPr lang="zh-CN" altLang="en-US" sz="1300" b="0" i="0" u="none" strike="noStrike" kern="1200" dirty="0">
                          <a:solidFill>
                            <a:srgbClr val="000000"/>
                          </a:solidFill>
                          <a:effectLst/>
                          <a:latin typeface="黑体" pitchFamily="2" charset="-122"/>
                          <a:ea typeface="黑体" pitchFamily="2" charset="-122"/>
                          <a:cs typeface="+mn-cs"/>
                        </a:rPr>
                        <a:t>永定河孔雀城剑桥郡</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451</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41229</a:t>
                      </a:r>
                    </a:p>
                  </a:txBody>
                  <a:tcPr marL="9525" marR="9525" marT="9525" marB="0" anchor="ctr">
                    <a:solidFill>
                      <a:schemeClr val="tx2">
                        <a:lumMod val="20000"/>
                        <a:lumOff val="80000"/>
                      </a:schemeClr>
                    </a:solidFill>
                  </a:tcPr>
                </a:tc>
                <a:extLst>
                  <a:ext uri="{0D108BD9-81ED-4DB2-BD59-A6C34878D82A}">
                    <a16:rowId xmlns:a16="http://schemas.microsoft.com/office/drawing/2014/main" val="10001"/>
                  </a:ext>
                </a:extLst>
              </a:tr>
              <a:tr h="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牛驼温泉孔雀城</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417</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38222</a:t>
                      </a:r>
                    </a:p>
                  </a:txBody>
                  <a:tcPr marL="9525" marR="9525" marT="9525" marB="0" anchor="ctr">
                    <a:solidFill>
                      <a:schemeClr val="tx2">
                        <a:lumMod val="20000"/>
                        <a:lumOff val="80000"/>
                      </a:schemeClr>
                    </a:solidFill>
                  </a:tcPr>
                </a:tc>
                <a:extLst>
                  <a:ext uri="{0D108BD9-81ED-4DB2-BD59-A6C34878D82A}">
                    <a16:rowId xmlns:a16="http://schemas.microsoft.com/office/drawing/2014/main" val="10002"/>
                  </a:ext>
                </a:extLst>
              </a:tr>
              <a:tr h="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红城小区</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323</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29864</a:t>
                      </a:r>
                    </a:p>
                  </a:txBody>
                  <a:tcPr marL="9525" marR="9525" marT="9525" marB="0" anchor="ctr">
                    <a:solidFill>
                      <a:schemeClr val="tx2">
                        <a:lumMod val="20000"/>
                        <a:lumOff val="80000"/>
                      </a:schemeClr>
                    </a:solidFill>
                  </a:tcPr>
                </a:tc>
                <a:extLst>
                  <a:ext uri="{0D108BD9-81ED-4DB2-BD59-A6C34878D82A}">
                    <a16:rowId xmlns:a16="http://schemas.microsoft.com/office/drawing/2014/main" val="10003"/>
                  </a:ext>
                </a:extLst>
              </a:tr>
              <a:tr h="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浩庭花园</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250</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21521</a:t>
                      </a:r>
                    </a:p>
                  </a:txBody>
                  <a:tcPr marL="9525" marR="9525" marT="9525" marB="0" anchor="ctr">
                    <a:solidFill>
                      <a:schemeClr val="tx2">
                        <a:lumMod val="20000"/>
                        <a:lumOff val="80000"/>
                      </a:schemeClr>
                    </a:solidFill>
                  </a:tcPr>
                </a:tc>
                <a:extLst>
                  <a:ext uri="{0D108BD9-81ED-4DB2-BD59-A6C34878D82A}">
                    <a16:rowId xmlns:a16="http://schemas.microsoft.com/office/drawing/2014/main" val="10004"/>
                  </a:ext>
                </a:extLst>
              </a:tr>
              <a:tr h="0">
                <a:tc>
                  <a:txBody>
                    <a:bodyPr/>
                    <a:lstStyle/>
                    <a:p>
                      <a:pPr algn="ctr" fontAlgn="ctr"/>
                      <a:r>
                        <a:rPr lang="zh-CN" altLang="en-US" sz="1300" b="0" i="0" u="none" strike="noStrike" kern="1200" dirty="0">
                          <a:solidFill>
                            <a:srgbClr val="000000"/>
                          </a:solidFill>
                          <a:effectLst/>
                          <a:latin typeface="黑体" pitchFamily="2" charset="-122"/>
                          <a:ea typeface="黑体" pitchFamily="2" charset="-122"/>
                          <a:cs typeface="+mn-cs"/>
                        </a:rPr>
                        <a:t>福缘小区</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57</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4765</a:t>
                      </a:r>
                    </a:p>
                  </a:txBody>
                  <a:tcPr marL="9525" marR="9525" marT="9525" marB="0" anchor="ctr">
                    <a:solidFill>
                      <a:schemeClr val="tx2">
                        <a:lumMod val="20000"/>
                        <a:lumOff val="80000"/>
                      </a:schemeClr>
                    </a:solidFill>
                  </a:tcPr>
                </a:tc>
                <a:extLst>
                  <a:ext uri="{0D108BD9-81ED-4DB2-BD59-A6C34878D82A}">
                    <a16:rowId xmlns:a16="http://schemas.microsoft.com/office/drawing/2014/main" val="10005"/>
                  </a:ext>
                </a:extLst>
              </a:tr>
            </a:tbl>
          </a:graphicData>
        </a:graphic>
      </p:graphicFrame>
      <p:sp>
        <p:nvSpPr>
          <p:cNvPr id="8" name="矩形 7"/>
          <p:cNvSpPr/>
          <p:nvPr/>
        </p:nvSpPr>
        <p:spPr>
          <a:xfrm>
            <a:off x="2026010" y="1101676"/>
            <a:ext cx="2684518" cy="327546"/>
          </a:xfrm>
          <a:prstGeom prst="rect">
            <a:avLst/>
          </a:prstGeom>
          <a:solidFill>
            <a:schemeClr val="accent6">
              <a:lumMod val="75000"/>
              <a:alpha val="46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400" b="1" dirty="0">
                <a:latin typeface="微软雅黑" pitchFamily="34" charset="-122"/>
                <a:ea typeface="微软雅黑" pitchFamily="34" charset="-122"/>
              </a:rPr>
              <a:t>8</a:t>
            </a:r>
            <a:r>
              <a:rPr lang="zh-CN" altLang="en-US" sz="1400" b="1" dirty="0">
                <a:latin typeface="微软雅黑" pitchFamily="34" charset="-122"/>
                <a:ea typeface="微软雅黑" pitchFamily="34" charset="-122"/>
              </a:rPr>
              <a:t>月项目预售情况</a:t>
            </a:r>
          </a:p>
        </p:txBody>
      </p:sp>
      <p:graphicFrame>
        <p:nvGraphicFramePr>
          <p:cNvPr id="11" name="表格 10"/>
          <p:cNvGraphicFramePr>
            <a:graphicFrameLocks noGrp="1"/>
          </p:cNvGraphicFramePr>
          <p:nvPr>
            <p:extLst>
              <p:ext uri="{D42A27DB-BD31-4B8C-83A1-F6EECF244321}">
                <p14:modId xmlns:p14="http://schemas.microsoft.com/office/powerpoint/2010/main" val="1972595497"/>
              </p:ext>
            </p:extLst>
          </p:nvPr>
        </p:nvGraphicFramePr>
        <p:xfrm>
          <a:off x="725714" y="3532720"/>
          <a:ext cx="7704000" cy="2482215"/>
        </p:xfrm>
        <a:graphic>
          <a:graphicData uri="http://schemas.openxmlformats.org/drawingml/2006/table">
            <a:tbl>
              <a:tblPr>
                <a:tableStyleId>{5C22544A-7EE6-4342-B048-85BDC9FD1C3A}</a:tableStyleId>
              </a:tblPr>
              <a:tblGrid>
                <a:gridCol w="1548000">
                  <a:extLst>
                    <a:ext uri="{9D8B030D-6E8A-4147-A177-3AD203B41FA5}">
                      <a16:colId xmlns:a16="http://schemas.microsoft.com/office/drawing/2014/main" val="20000"/>
                    </a:ext>
                  </a:extLst>
                </a:gridCol>
                <a:gridCol w="1188000">
                  <a:extLst>
                    <a:ext uri="{9D8B030D-6E8A-4147-A177-3AD203B41FA5}">
                      <a16:colId xmlns:a16="http://schemas.microsoft.com/office/drawing/2014/main" val="20001"/>
                    </a:ext>
                  </a:extLst>
                </a:gridCol>
                <a:gridCol w="1116000">
                  <a:extLst>
                    <a:ext uri="{9D8B030D-6E8A-4147-A177-3AD203B41FA5}">
                      <a16:colId xmlns:a16="http://schemas.microsoft.com/office/drawing/2014/main" val="20002"/>
                    </a:ext>
                  </a:extLst>
                </a:gridCol>
                <a:gridCol w="1548000">
                  <a:extLst>
                    <a:ext uri="{9D8B030D-6E8A-4147-A177-3AD203B41FA5}">
                      <a16:colId xmlns:a16="http://schemas.microsoft.com/office/drawing/2014/main" val="20003"/>
                    </a:ext>
                  </a:extLst>
                </a:gridCol>
                <a:gridCol w="1188000">
                  <a:extLst>
                    <a:ext uri="{9D8B030D-6E8A-4147-A177-3AD203B41FA5}">
                      <a16:colId xmlns:a16="http://schemas.microsoft.com/office/drawing/2014/main" val="20004"/>
                    </a:ext>
                  </a:extLst>
                </a:gridCol>
                <a:gridCol w="1116000">
                  <a:extLst>
                    <a:ext uri="{9D8B030D-6E8A-4147-A177-3AD203B41FA5}">
                      <a16:colId xmlns:a16="http://schemas.microsoft.com/office/drawing/2014/main" val="20005"/>
                    </a:ext>
                  </a:extLst>
                </a:gridCol>
              </a:tblGrid>
              <a:tr h="0">
                <a:tc>
                  <a:txBody>
                    <a:bodyPr/>
                    <a:lstStyle/>
                    <a:p>
                      <a:pPr algn="ctr" rtl="0" fontAlgn="ctr"/>
                      <a:r>
                        <a:rPr lang="zh-CN" altLang="en-US" sz="1300" b="1" i="0" u="none" strike="noStrike" dirty="0">
                          <a:solidFill>
                            <a:srgbClr val="FFFFFF"/>
                          </a:solidFill>
                          <a:effectLst/>
                          <a:latin typeface="黑体" pitchFamily="2" charset="-122"/>
                          <a:ea typeface="黑体" pitchFamily="2" charset="-122"/>
                        </a:rPr>
                        <a:t>项目名称</a:t>
                      </a:r>
                    </a:p>
                  </a:txBody>
                  <a:tcPr marL="9525" marR="9525" marT="9525" marB="0" anchor="ctr">
                    <a:solidFill>
                      <a:schemeClr val="tx2">
                        <a:lumMod val="60000"/>
                        <a:lumOff val="40000"/>
                      </a:schemeClr>
                    </a:solidFill>
                  </a:tcPr>
                </a:tc>
                <a:tc>
                  <a:txBody>
                    <a:bodyPr/>
                    <a:lstStyle/>
                    <a:p>
                      <a:pPr algn="ctr" rtl="0" fontAlgn="ctr"/>
                      <a:r>
                        <a:rPr lang="zh-CN" altLang="en-US" sz="1300" b="1" i="0" u="none" strike="noStrike" dirty="0">
                          <a:solidFill>
                            <a:srgbClr val="FFFFFF"/>
                          </a:solidFill>
                          <a:effectLst/>
                          <a:latin typeface="黑体" pitchFamily="2" charset="-122"/>
                          <a:ea typeface="黑体" pitchFamily="2" charset="-122"/>
                        </a:rPr>
                        <a:t>批准销售套数</a:t>
                      </a:r>
                      <a:endParaRPr lang="en-US" altLang="zh-CN" sz="1300" b="1" i="0" u="none" strike="noStrike" dirty="0">
                        <a:solidFill>
                          <a:srgbClr val="FFFFFF"/>
                        </a:solidFill>
                        <a:effectLst/>
                        <a:latin typeface="黑体" pitchFamily="2" charset="-122"/>
                        <a:ea typeface="黑体" pitchFamily="2" charset="-122"/>
                      </a:endParaRPr>
                    </a:p>
                    <a:p>
                      <a:pPr algn="ctr" rtl="0" fontAlgn="ctr"/>
                      <a:r>
                        <a:rPr lang="zh-CN" altLang="en-US" sz="1300" b="1" i="0" u="none" strike="noStrike" dirty="0">
                          <a:solidFill>
                            <a:srgbClr val="FFFFFF"/>
                          </a:solidFill>
                          <a:effectLst/>
                          <a:latin typeface="黑体" pitchFamily="2" charset="-122"/>
                          <a:ea typeface="黑体" pitchFamily="2" charset="-122"/>
                        </a:rPr>
                        <a:t>（套）</a:t>
                      </a:r>
                      <a:r>
                        <a:rPr lang="zh-CN" altLang="en-US" sz="1300" b="1" u="none" strike="noStrike" dirty="0">
                          <a:solidFill>
                            <a:schemeClr val="bg1"/>
                          </a:solidFill>
                          <a:effectLst/>
                          <a:latin typeface="黑体" pitchFamily="2" charset="-122"/>
                          <a:ea typeface="黑体" pitchFamily="2" charset="-122"/>
                        </a:rPr>
                        <a:t>↓</a:t>
                      </a:r>
                      <a:endParaRPr lang="zh-CN" altLang="en-US" sz="1300" b="1" i="0" u="none" strike="noStrike" dirty="0">
                        <a:solidFill>
                          <a:srgbClr val="FFFFFF"/>
                        </a:solidFill>
                        <a:effectLst/>
                        <a:latin typeface="黑体" pitchFamily="2" charset="-122"/>
                        <a:ea typeface="黑体" pitchFamily="2" charset="-122"/>
                      </a:endParaRPr>
                    </a:p>
                  </a:txBody>
                  <a:tcPr marL="9525" marR="9525" marT="9525" marB="0" anchor="ctr">
                    <a:solidFill>
                      <a:schemeClr val="tx2">
                        <a:lumMod val="60000"/>
                        <a:lumOff val="40000"/>
                      </a:schemeClr>
                    </a:solidFill>
                  </a:tcPr>
                </a:tc>
                <a:tc>
                  <a:txBody>
                    <a:bodyPr/>
                    <a:lstStyle/>
                    <a:p>
                      <a:pPr marL="0" marR="0" indent="0" algn="ctr" defTabSz="457200" rtl="0" eaLnBrk="1" fontAlgn="ctr" latinLnBrk="0" hangingPunct="1">
                        <a:lnSpc>
                          <a:spcPct val="100000"/>
                        </a:lnSpc>
                        <a:spcBef>
                          <a:spcPts val="0"/>
                        </a:spcBef>
                        <a:spcAft>
                          <a:spcPts val="0"/>
                        </a:spcAft>
                        <a:buClrTx/>
                        <a:buSzTx/>
                        <a:buFontTx/>
                        <a:buNone/>
                        <a:tabLst/>
                        <a:defRPr/>
                      </a:pPr>
                      <a:r>
                        <a:rPr lang="zh-CN" altLang="en-US" sz="1300" b="1" i="0" u="none" strike="noStrike" dirty="0">
                          <a:solidFill>
                            <a:srgbClr val="FFFFFF"/>
                          </a:solidFill>
                          <a:effectLst/>
                          <a:latin typeface="黑体" pitchFamily="2" charset="-122"/>
                          <a:ea typeface="黑体" pitchFamily="2" charset="-122"/>
                        </a:rPr>
                        <a:t>批准销售面积</a:t>
                      </a:r>
                      <a:endParaRPr lang="en-US" altLang="zh-CN" sz="1300" b="1" i="0" u="none" strike="noStrike" dirty="0">
                        <a:solidFill>
                          <a:srgbClr val="FFFFFF"/>
                        </a:solidFill>
                        <a:effectLst/>
                        <a:latin typeface="黑体" pitchFamily="2" charset="-122"/>
                        <a:ea typeface="黑体" pitchFamily="2" charset="-122"/>
                      </a:endParaRPr>
                    </a:p>
                    <a:p>
                      <a:pPr marL="0" marR="0" indent="0" algn="ctr" defTabSz="457200" rtl="0" eaLnBrk="1" fontAlgn="ctr" latinLnBrk="0" hangingPunct="1">
                        <a:lnSpc>
                          <a:spcPct val="100000"/>
                        </a:lnSpc>
                        <a:spcBef>
                          <a:spcPts val="0"/>
                        </a:spcBef>
                        <a:spcAft>
                          <a:spcPts val="0"/>
                        </a:spcAft>
                        <a:buClrTx/>
                        <a:buSzTx/>
                        <a:buFontTx/>
                        <a:buNone/>
                        <a:tabLst/>
                        <a:defRPr/>
                      </a:pPr>
                      <a:r>
                        <a:rPr lang="zh-CN" altLang="en-US" sz="1300" b="1" i="0" u="none" strike="noStrike" dirty="0">
                          <a:solidFill>
                            <a:srgbClr val="FFFFFF"/>
                          </a:solidFill>
                          <a:effectLst/>
                          <a:latin typeface="黑体" pitchFamily="2" charset="-122"/>
                          <a:ea typeface="黑体" pitchFamily="2" charset="-122"/>
                        </a:rPr>
                        <a:t>（㎡）</a:t>
                      </a:r>
                    </a:p>
                  </a:txBody>
                  <a:tcPr marL="9525" marR="9525" marT="9525" marB="0" anchor="ctr">
                    <a:solidFill>
                      <a:schemeClr val="tx2">
                        <a:lumMod val="60000"/>
                        <a:lumOff val="40000"/>
                      </a:schemeClr>
                    </a:solidFill>
                  </a:tcPr>
                </a:tc>
                <a:tc>
                  <a:txBody>
                    <a:bodyPr/>
                    <a:lstStyle/>
                    <a:p>
                      <a:pPr algn="ctr" rtl="0" fontAlgn="ctr"/>
                      <a:r>
                        <a:rPr lang="zh-CN" altLang="en-US" sz="1300" b="1" i="0" u="none" strike="noStrike" dirty="0">
                          <a:solidFill>
                            <a:srgbClr val="FFFFFF"/>
                          </a:solidFill>
                          <a:effectLst/>
                          <a:latin typeface="黑体" pitchFamily="2" charset="-122"/>
                          <a:ea typeface="黑体" pitchFamily="2" charset="-122"/>
                        </a:rPr>
                        <a:t>项目名称</a:t>
                      </a:r>
                    </a:p>
                  </a:txBody>
                  <a:tcPr marL="9525" marR="9525" marT="9525" marB="0" anchor="ctr">
                    <a:solidFill>
                      <a:schemeClr val="tx2">
                        <a:lumMod val="60000"/>
                        <a:lumOff val="40000"/>
                      </a:schemeClr>
                    </a:solidFill>
                  </a:tcPr>
                </a:tc>
                <a:tc>
                  <a:txBody>
                    <a:bodyPr/>
                    <a:lstStyle/>
                    <a:p>
                      <a:pPr algn="ctr" rtl="0" fontAlgn="ctr"/>
                      <a:r>
                        <a:rPr lang="zh-CN" altLang="en-US" sz="1300" b="1" i="0" u="none" strike="noStrike" dirty="0">
                          <a:solidFill>
                            <a:srgbClr val="FFFFFF"/>
                          </a:solidFill>
                          <a:effectLst/>
                          <a:latin typeface="黑体" pitchFamily="2" charset="-122"/>
                          <a:ea typeface="黑体" pitchFamily="2" charset="-122"/>
                        </a:rPr>
                        <a:t>批准销售套数</a:t>
                      </a:r>
                      <a:endParaRPr lang="en-US" altLang="zh-CN" sz="1300" b="1" i="0" u="none" strike="noStrike" dirty="0">
                        <a:solidFill>
                          <a:srgbClr val="FFFFFF"/>
                        </a:solidFill>
                        <a:effectLst/>
                        <a:latin typeface="黑体" pitchFamily="2" charset="-122"/>
                        <a:ea typeface="黑体" pitchFamily="2" charset="-122"/>
                      </a:endParaRPr>
                    </a:p>
                    <a:p>
                      <a:pPr algn="ctr" rtl="0" fontAlgn="ctr"/>
                      <a:r>
                        <a:rPr lang="zh-CN" altLang="en-US" sz="1300" b="1" i="0" u="none" strike="noStrike" dirty="0">
                          <a:solidFill>
                            <a:srgbClr val="FFFFFF"/>
                          </a:solidFill>
                          <a:effectLst/>
                          <a:latin typeface="黑体" pitchFamily="2" charset="-122"/>
                          <a:ea typeface="黑体" pitchFamily="2" charset="-122"/>
                        </a:rPr>
                        <a:t>（套）</a:t>
                      </a:r>
                      <a:r>
                        <a:rPr lang="zh-CN" altLang="en-US" sz="1300" b="1" u="none" strike="noStrike" dirty="0">
                          <a:solidFill>
                            <a:schemeClr val="bg1"/>
                          </a:solidFill>
                          <a:effectLst/>
                          <a:latin typeface="黑体" pitchFamily="2" charset="-122"/>
                          <a:ea typeface="黑体" pitchFamily="2" charset="-122"/>
                        </a:rPr>
                        <a:t>↓</a:t>
                      </a:r>
                      <a:endParaRPr lang="zh-CN" altLang="en-US" sz="1300" b="1" i="0" u="none" strike="noStrike" dirty="0">
                        <a:solidFill>
                          <a:srgbClr val="FFFFFF"/>
                        </a:solidFill>
                        <a:effectLst/>
                        <a:latin typeface="黑体" pitchFamily="2" charset="-122"/>
                        <a:ea typeface="黑体" pitchFamily="2" charset="-122"/>
                      </a:endParaRPr>
                    </a:p>
                  </a:txBody>
                  <a:tcPr marL="9525" marR="9525" marT="9525" marB="0" anchor="ctr">
                    <a:solidFill>
                      <a:schemeClr val="tx2">
                        <a:lumMod val="60000"/>
                        <a:lumOff val="40000"/>
                      </a:schemeClr>
                    </a:solidFill>
                  </a:tcPr>
                </a:tc>
                <a:tc>
                  <a:txBody>
                    <a:bodyPr/>
                    <a:lstStyle/>
                    <a:p>
                      <a:pPr marL="0" marR="0" indent="0" algn="ctr" defTabSz="457200" rtl="0" eaLnBrk="1" fontAlgn="ctr" latinLnBrk="0" hangingPunct="1">
                        <a:lnSpc>
                          <a:spcPct val="100000"/>
                        </a:lnSpc>
                        <a:spcBef>
                          <a:spcPts val="0"/>
                        </a:spcBef>
                        <a:spcAft>
                          <a:spcPts val="0"/>
                        </a:spcAft>
                        <a:buClrTx/>
                        <a:buSzTx/>
                        <a:buFontTx/>
                        <a:buNone/>
                        <a:tabLst/>
                        <a:defRPr/>
                      </a:pPr>
                      <a:r>
                        <a:rPr lang="zh-CN" altLang="en-US" sz="1300" b="1" i="0" u="none" strike="noStrike" dirty="0">
                          <a:solidFill>
                            <a:srgbClr val="FFFFFF"/>
                          </a:solidFill>
                          <a:effectLst/>
                          <a:latin typeface="黑体" pitchFamily="2" charset="-122"/>
                          <a:ea typeface="黑体" pitchFamily="2" charset="-122"/>
                        </a:rPr>
                        <a:t>批准销售面积</a:t>
                      </a:r>
                      <a:endParaRPr lang="en-US" altLang="zh-CN" sz="1300" b="1" i="0" u="none" strike="noStrike" dirty="0">
                        <a:solidFill>
                          <a:srgbClr val="FFFFFF"/>
                        </a:solidFill>
                        <a:effectLst/>
                        <a:latin typeface="黑体" pitchFamily="2" charset="-122"/>
                        <a:ea typeface="黑体" pitchFamily="2" charset="-122"/>
                      </a:endParaRPr>
                    </a:p>
                    <a:p>
                      <a:pPr marL="0" marR="0" indent="0" algn="ctr" defTabSz="457200" rtl="0" eaLnBrk="1" fontAlgn="ctr" latinLnBrk="0" hangingPunct="1">
                        <a:lnSpc>
                          <a:spcPct val="100000"/>
                        </a:lnSpc>
                        <a:spcBef>
                          <a:spcPts val="0"/>
                        </a:spcBef>
                        <a:spcAft>
                          <a:spcPts val="0"/>
                        </a:spcAft>
                        <a:buClrTx/>
                        <a:buSzTx/>
                        <a:buFontTx/>
                        <a:buNone/>
                        <a:tabLst/>
                        <a:defRPr/>
                      </a:pPr>
                      <a:r>
                        <a:rPr lang="zh-CN" altLang="en-US" sz="1300" b="1" i="0" u="none" strike="noStrike" dirty="0">
                          <a:solidFill>
                            <a:srgbClr val="FFFFFF"/>
                          </a:solidFill>
                          <a:effectLst/>
                          <a:latin typeface="黑体" pitchFamily="2" charset="-122"/>
                          <a:ea typeface="黑体" pitchFamily="2" charset="-122"/>
                        </a:rPr>
                        <a:t>（㎡）</a:t>
                      </a:r>
                    </a:p>
                  </a:txBody>
                  <a:tcPr marL="9525" marR="9525" marT="9525" marB="0" anchor="ctr">
                    <a:solidFill>
                      <a:schemeClr val="tx2">
                        <a:lumMod val="60000"/>
                        <a:lumOff val="40000"/>
                      </a:schemeClr>
                    </a:solidFill>
                  </a:tcPr>
                </a:tc>
                <a:extLst>
                  <a:ext uri="{0D108BD9-81ED-4DB2-BD59-A6C34878D82A}">
                    <a16:rowId xmlns:a16="http://schemas.microsoft.com/office/drawing/2014/main" val="10000"/>
                  </a:ext>
                </a:extLst>
              </a:tr>
              <a:tr h="0">
                <a:tc>
                  <a:txBody>
                    <a:bodyPr/>
                    <a:lstStyle/>
                    <a:p>
                      <a:pPr algn="ctr" fontAlgn="ctr"/>
                      <a:r>
                        <a:rPr lang="zh-CN" altLang="en-US" sz="1300" b="0" i="0" u="none" strike="noStrike" kern="1200" dirty="0">
                          <a:solidFill>
                            <a:srgbClr val="000000"/>
                          </a:solidFill>
                          <a:effectLst/>
                          <a:latin typeface="黑体" pitchFamily="2" charset="-122"/>
                          <a:ea typeface="黑体" pitchFamily="2" charset="-122"/>
                          <a:cs typeface="+mn-cs"/>
                        </a:rPr>
                        <a:t>永定河孔雀城剑桥郡</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1791</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171831</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dirty="0">
                          <a:solidFill>
                            <a:srgbClr val="000000"/>
                          </a:solidFill>
                          <a:effectLst/>
                          <a:latin typeface="黑体" pitchFamily="2" charset="-122"/>
                          <a:ea typeface="黑体" pitchFamily="2" charset="-122"/>
                          <a:cs typeface="+mn-cs"/>
                        </a:rPr>
                        <a:t>永定河</a:t>
                      </a:r>
                      <a:r>
                        <a:rPr lang="en-US" altLang="zh-CN" sz="1300" b="0" i="0" u="none" strike="noStrike" kern="1200" dirty="0">
                          <a:solidFill>
                            <a:srgbClr val="000000"/>
                          </a:solidFill>
                          <a:effectLst/>
                          <a:latin typeface="黑体" pitchFamily="2" charset="-122"/>
                          <a:ea typeface="黑体" pitchFamily="2" charset="-122"/>
                          <a:cs typeface="+mn-cs"/>
                        </a:rPr>
                        <a:t>·</a:t>
                      </a:r>
                      <a:r>
                        <a:rPr lang="zh-CN" altLang="en-US" sz="1300" b="0" i="0" u="none" strike="noStrike" kern="1200" dirty="0">
                          <a:solidFill>
                            <a:srgbClr val="000000"/>
                          </a:solidFill>
                          <a:effectLst/>
                          <a:latin typeface="黑体" pitchFamily="2" charset="-122"/>
                          <a:ea typeface="黑体" pitchFamily="2" charset="-122"/>
                          <a:cs typeface="+mn-cs"/>
                        </a:rPr>
                        <a:t>孔雀英国宫</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307</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31560</a:t>
                      </a:r>
                    </a:p>
                  </a:txBody>
                  <a:tcPr marL="9525" marR="9525" marT="9525" marB="0" anchor="ctr">
                    <a:solidFill>
                      <a:schemeClr val="tx2">
                        <a:lumMod val="20000"/>
                        <a:lumOff val="80000"/>
                      </a:schemeClr>
                    </a:solidFill>
                  </a:tcPr>
                </a:tc>
                <a:extLst>
                  <a:ext uri="{0D108BD9-81ED-4DB2-BD59-A6C34878D82A}">
                    <a16:rowId xmlns:a16="http://schemas.microsoft.com/office/drawing/2014/main" val="10001"/>
                  </a:ext>
                </a:extLst>
              </a:tr>
              <a:tr h="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牛驼温泉孔雀城</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1048</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114607</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浩庭花园</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250</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21521</a:t>
                      </a:r>
                    </a:p>
                  </a:txBody>
                  <a:tcPr marL="9525" marR="9525" marT="9525" marB="0" anchor="ctr">
                    <a:solidFill>
                      <a:schemeClr val="tx2">
                        <a:lumMod val="20000"/>
                        <a:lumOff val="80000"/>
                      </a:schemeClr>
                    </a:solidFill>
                  </a:tcPr>
                </a:tc>
                <a:extLst>
                  <a:ext uri="{0D108BD9-81ED-4DB2-BD59-A6C34878D82A}">
                    <a16:rowId xmlns:a16="http://schemas.microsoft.com/office/drawing/2014/main" val="10002"/>
                  </a:ext>
                </a:extLst>
              </a:tr>
              <a:tr h="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绿宸万华城</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526</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49744</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中鼎</a:t>
                      </a:r>
                      <a:r>
                        <a:rPr lang="en-US" altLang="zh-CN" sz="1300" b="0" i="0" u="none" strike="noStrike" kern="1200">
                          <a:solidFill>
                            <a:srgbClr val="000000"/>
                          </a:solidFill>
                          <a:effectLst/>
                          <a:latin typeface="黑体" pitchFamily="2" charset="-122"/>
                          <a:ea typeface="黑体" pitchFamily="2" charset="-122"/>
                          <a:cs typeface="+mn-cs"/>
                        </a:rPr>
                        <a:t>·</a:t>
                      </a:r>
                      <a:r>
                        <a:rPr lang="zh-CN" altLang="en-US" sz="1300" b="0" i="0" u="none" strike="noStrike" kern="1200">
                          <a:solidFill>
                            <a:srgbClr val="000000"/>
                          </a:solidFill>
                          <a:effectLst/>
                          <a:latin typeface="黑体" pitchFamily="2" charset="-122"/>
                          <a:ea typeface="黑体" pitchFamily="2" charset="-122"/>
                          <a:cs typeface="+mn-cs"/>
                        </a:rPr>
                        <a:t>凤凰城</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243</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24083</a:t>
                      </a:r>
                    </a:p>
                  </a:txBody>
                  <a:tcPr marL="9525" marR="9525" marT="9525" marB="0" anchor="ctr">
                    <a:solidFill>
                      <a:schemeClr val="tx2">
                        <a:lumMod val="20000"/>
                        <a:lumOff val="80000"/>
                      </a:schemeClr>
                    </a:solidFill>
                  </a:tcPr>
                </a:tc>
                <a:extLst>
                  <a:ext uri="{0D108BD9-81ED-4DB2-BD59-A6C34878D82A}">
                    <a16:rowId xmlns:a16="http://schemas.microsoft.com/office/drawing/2014/main" val="10003"/>
                  </a:ext>
                </a:extLst>
              </a:tr>
              <a:tr h="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金海太阳公园</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498</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49108</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金正小区</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232</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20632</a:t>
                      </a:r>
                    </a:p>
                  </a:txBody>
                  <a:tcPr marL="9525" marR="9525" marT="9525" marB="0" anchor="ctr">
                    <a:solidFill>
                      <a:schemeClr val="tx2">
                        <a:lumMod val="20000"/>
                        <a:lumOff val="80000"/>
                      </a:schemeClr>
                    </a:solidFill>
                  </a:tcPr>
                </a:tc>
                <a:extLst>
                  <a:ext uri="{0D108BD9-81ED-4DB2-BD59-A6C34878D82A}">
                    <a16:rowId xmlns:a16="http://schemas.microsoft.com/office/drawing/2014/main" val="10004"/>
                  </a:ext>
                </a:extLst>
              </a:tr>
              <a:tr h="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春辉时代</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484</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54675</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丰舟熹园</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199</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16708</a:t>
                      </a:r>
                    </a:p>
                  </a:txBody>
                  <a:tcPr marL="9525" marR="9525" marT="9525" marB="0" anchor="ctr">
                    <a:solidFill>
                      <a:schemeClr val="tx2">
                        <a:lumMod val="20000"/>
                        <a:lumOff val="80000"/>
                      </a:schemeClr>
                    </a:solidFill>
                  </a:tcPr>
                </a:tc>
                <a:extLst>
                  <a:ext uri="{0D108BD9-81ED-4DB2-BD59-A6C34878D82A}">
                    <a16:rowId xmlns:a16="http://schemas.microsoft.com/office/drawing/2014/main" val="10005"/>
                  </a:ext>
                </a:extLst>
              </a:tr>
              <a:tr h="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福缘小区</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464</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39378</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学府锦园</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157</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13582</a:t>
                      </a:r>
                    </a:p>
                  </a:txBody>
                  <a:tcPr marL="9525" marR="9525" marT="9525" marB="0" anchor="ctr">
                    <a:solidFill>
                      <a:schemeClr val="tx2">
                        <a:lumMod val="20000"/>
                        <a:lumOff val="80000"/>
                      </a:schemeClr>
                    </a:solidFill>
                  </a:tcPr>
                </a:tc>
                <a:extLst>
                  <a:ext uri="{0D108BD9-81ED-4DB2-BD59-A6C34878D82A}">
                    <a16:rowId xmlns:a16="http://schemas.microsoft.com/office/drawing/2014/main" val="10006"/>
                  </a:ext>
                </a:extLst>
              </a:tr>
              <a:tr h="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龙华城</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456</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38932</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尚品馨界</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126</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14359</a:t>
                      </a:r>
                    </a:p>
                  </a:txBody>
                  <a:tcPr marL="9525" marR="9525" marT="9525" marB="0" anchor="ctr">
                    <a:solidFill>
                      <a:schemeClr val="tx2">
                        <a:lumMod val="20000"/>
                        <a:lumOff val="80000"/>
                      </a:schemeClr>
                    </a:solidFill>
                  </a:tcPr>
                </a:tc>
                <a:extLst>
                  <a:ext uri="{0D108BD9-81ED-4DB2-BD59-A6C34878D82A}">
                    <a16:rowId xmlns:a16="http://schemas.microsoft.com/office/drawing/2014/main" val="10007"/>
                  </a:ext>
                </a:extLst>
              </a:tr>
              <a:tr h="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天顺家园</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337</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31842</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金海太阳城</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55</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6055</a:t>
                      </a:r>
                    </a:p>
                  </a:txBody>
                  <a:tcPr marL="9525" marR="9525" marT="9525" marB="0" anchor="ctr">
                    <a:solidFill>
                      <a:schemeClr val="tx2">
                        <a:lumMod val="20000"/>
                        <a:lumOff val="80000"/>
                      </a:schemeClr>
                    </a:solidFill>
                  </a:tcPr>
                </a:tc>
                <a:extLst>
                  <a:ext uri="{0D108BD9-81ED-4DB2-BD59-A6C34878D82A}">
                    <a16:rowId xmlns:a16="http://schemas.microsoft.com/office/drawing/2014/main" val="10008"/>
                  </a:ext>
                </a:extLst>
              </a:tr>
              <a:tr h="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红城小区</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323</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29864</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空港温泉</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48</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9921</a:t>
                      </a:r>
                    </a:p>
                  </a:txBody>
                  <a:tcPr marL="9525" marR="9525" marT="9525" marB="0" anchor="ctr">
                    <a:solidFill>
                      <a:schemeClr val="tx2">
                        <a:lumMod val="20000"/>
                        <a:lumOff val="80000"/>
                      </a:schemeClr>
                    </a:solidFill>
                  </a:tcPr>
                </a:tc>
                <a:extLst>
                  <a:ext uri="{0D108BD9-81ED-4DB2-BD59-A6C34878D82A}">
                    <a16:rowId xmlns:a16="http://schemas.microsoft.com/office/drawing/2014/main" val="10009"/>
                  </a:ext>
                </a:extLst>
              </a:tr>
              <a:tr h="0">
                <a:tc>
                  <a:txBody>
                    <a:bodyPr/>
                    <a:lstStyle/>
                    <a:p>
                      <a:pPr algn="ctr" fontAlgn="ctr"/>
                      <a:r>
                        <a:rPr lang="zh-CN" altLang="en-US" sz="1300" b="0" i="0" u="none" strike="noStrike" kern="1200" dirty="0">
                          <a:solidFill>
                            <a:srgbClr val="000000"/>
                          </a:solidFill>
                          <a:effectLst/>
                          <a:latin typeface="黑体" pitchFamily="2" charset="-122"/>
                          <a:ea typeface="黑体" pitchFamily="2" charset="-122"/>
                          <a:cs typeface="+mn-cs"/>
                        </a:rPr>
                        <a:t>孔雀城</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310</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29653</a:t>
                      </a:r>
                    </a:p>
                  </a:txBody>
                  <a:tcPr marL="9525" marR="9525" marT="9525" marB="0" anchor="ctr">
                    <a:solidFill>
                      <a:schemeClr val="tx2">
                        <a:lumMod val="20000"/>
                        <a:lumOff val="80000"/>
                      </a:schemeClr>
                    </a:solidFill>
                  </a:tcPr>
                </a:tc>
                <a:tc>
                  <a:txBody>
                    <a:bodyPr/>
                    <a:lstStyle/>
                    <a:p>
                      <a:pPr algn="ctr" fontAlgn="ctr"/>
                      <a:r>
                        <a:rPr lang="zh-CN" altLang="en-US" sz="1300" b="0" i="0" u="none" strike="noStrike" kern="1200" dirty="0">
                          <a:solidFill>
                            <a:srgbClr val="000000"/>
                          </a:solidFill>
                          <a:effectLst/>
                          <a:latin typeface="黑体" pitchFamily="2" charset="-122"/>
                          <a:ea typeface="黑体" pitchFamily="2" charset="-122"/>
                          <a:cs typeface="+mn-cs"/>
                        </a:rPr>
                        <a:t>东郦湖</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38</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2783</a:t>
                      </a:r>
                    </a:p>
                  </a:txBody>
                  <a:tcPr marL="9525" marR="9525" marT="9525" marB="0" anchor="ctr">
                    <a:solidFill>
                      <a:schemeClr val="tx2">
                        <a:lumMod val="20000"/>
                        <a:lumOff val="80000"/>
                      </a:schemeClr>
                    </a:solidFill>
                  </a:tcPr>
                </a:tc>
                <a:extLst>
                  <a:ext uri="{0D108BD9-81ED-4DB2-BD59-A6C34878D82A}">
                    <a16:rowId xmlns:a16="http://schemas.microsoft.com/office/drawing/2014/main" val="10010"/>
                  </a:ext>
                </a:extLst>
              </a:tr>
            </a:tbl>
          </a:graphicData>
        </a:graphic>
      </p:graphicFrame>
      <p:cxnSp>
        <p:nvCxnSpPr>
          <p:cNvPr id="12" name="直接连接符 11"/>
          <p:cNvCxnSpPr/>
          <p:nvPr/>
        </p:nvCxnSpPr>
        <p:spPr>
          <a:xfrm>
            <a:off x="4579423" y="3529667"/>
            <a:ext cx="0" cy="2484000"/>
          </a:xfrm>
          <a:prstGeom prst="line">
            <a:avLst/>
          </a:prstGeom>
          <a:ln/>
        </p:spPr>
        <p:style>
          <a:lnRef idx="2">
            <a:schemeClr val="dk1"/>
          </a:lnRef>
          <a:fillRef idx="0">
            <a:schemeClr val="dk1"/>
          </a:fillRef>
          <a:effectRef idx="1">
            <a:schemeClr val="dk1"/>
          </a:effectRef>
          <a:fontRef idx="minor">
            <a:schemeClr val="tx1"/>
          </a:fontRef>
        </p:style>
      </p:cxnSp>
      <p:sp>
        <p:nvSpPr>
          <p:cNvPr id="14" name="矩形 13"/>
          <p:cNvSpPr/>
          <p:nvPr/>
        </p:nvSpPr>
        <p:spPr>
          <a:xfrm>
            <a:off x="725714" y="3137879"/>
            <a:ext cx="2684518" cy="327546"/>
          </a:xfrm>
          <a:prstGeom prst="rect">
            <a:avLst/>
          </a:prstGeom>
          <a:solidFill>
            <a:schemeClr val="accent6">
              <a:lumMod val="75000"/>
              <a:alpha val="46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400" b="1" dirty="0">
                <a:latin typeface="微软雅黑" pitchFamily="34" charset="-122"/>
                <a:ea typeface="微软雅黑" pitchFamily="34" charset="-122"/>
              </a:rPr>
              <a:t>1-8</a:t>
            </a:r>
            <a:r>
              <a:rPr lang="zh-CN" altLang="en-US" sz="1400" b="1" dirty="0">
                <a:latin typeface="微软雅黑" pitchFamily="34" charset="-122"/>
                <a:ea typeface="微软雅黑" pitchFamily="34" charset="-122"/>
              </a:rPr>
              <a:t>月项目预售情况</a:t>
            </a:r>
          </a:p>
        </p:txBody>
      </p:sp>
    </p:spTree>
    <p:extLst>
      <p:ext uri="{BB962C8B-B14F-4D97-AF65-F5344CB8AC3E}">
        <p14:creationId xmlns:p14="http://schemas.microsoft.com/office/powerpoint/2010/main" val="129639004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固安</a:t>
            </a:r>
            <a:r>
              <a:rPr lang="en-US" altLang="zh-CN" dirty="0"/>
              <a:t>| </a:t>
            </a:r>
            <a:r>
              <a:rPr lang="zh-CN" altLang="en-US" sz="1800" dirty="0">
                <a:solidFill>
                  <a:schemeClr val="tx1">
                    <a:lumMod val="75000"/>
                    <a:lumOff val="25000"/>
                  </a:schemeClr>
                </a:solidFill>
              </a:rPr>
              <a:t>项目成交情况</a:t>
            </a:r>
          </a:p>
        </p:txBody>
      </p:sp>
      <p:sp>
        <p:nvSpPr>
          <p:cNvPr id="4" name="灯片编号占位符 3"/>
          <p:cNvSpPr>
            <a:spLocks noGrp="1"/>
          </p:cNvSpPr>
          <p:nvPr>
            <p:ph type="sldNum" sz="quarter" idx="4"/>
          </p:nvPr>
        </p:nvSpPr>
        <p:spPr/>
        <p:txBody>
          <a:bodyPr/>
          <a:lstStyle/>
          <a:p>
            <a:pPr>
              <a:defRPr/>
            </a:pPr>
            <a:fld id="{3E8B6F27-EC4F-B34E-9F32-10CC92E9AB18}" type="slidenum">
              <a:rPr lang="zh-CN" altLang="en-US" smtClean="0"/>
              <a:pPr>
                <a:defRPr/>
              </a:pPr>
              <a:t>57</a:t>
            </a:fld>
            <a:endParaRPr lang="zh-CN" altLang="en-US" dirty="0"/>
          </a:p>
        </p:txBody>
      </p:sp>
      <p:graphicFrame>
        <p:nvGraphicFramePr>
          <p:cNvPr id="12" name="表格 11"/>
          <p:cNvGraphicFramePr>
            <a:graphicFrameLocks noGrp="1"/>
          </p:cNvGraphicFramePr>
          <p:nvPr>
            <p:extLst>
              <p:ext uri="{D42A27DB-BD31-4B8C-83A1-F6EECF244321}">
                <p14:modId xmlns:p14="http://schemas.microsoft.com/office/powerpoint/2010/main" val="3606227526"/>
              </p:ext>
            </p:extLst>
          </p:nvPr>
        </p:nvGraphicFramePr>
        <p:xfrm>
          <a:off x="1536857" y="1000398"/>
          <a:ext cx="6175827" cy="2534372"/>
        </p:xfrm>
        <a:graphic>
          <a:graphicData uri="http://schemas.openxmlformats.org/drawingml/2006/table">
            <a:tbl>
              <a:tblPr>
                <a:tableStyleId>{5C22544A-7EE6-4342-B048-85BDC9FD1C3A}</a:tableStyleId>
              </a:tblPr>
              <a:tblGrid>
                <a:gridCol w="1765901">
                  <a:extLst>
                    <a:ext uri="{9D8B030D-6E8A-4147-A177-3AD203B41FA5}">
                      <a16:colId xmlns:a16="http://schemas.microsoft.com/office/drawing/2014/main" val="20000"/>
                    </a:ext>
                  </a:extLst>
                </a:gridCol>
                <a:gridCol w="953542">
                  <a:extLst>
                    <a:ext uri="{9D8B030D-6E8A-4147-A177-3AD203B41FA5}">
                      <a16:colId xmlns:a16="http://schemas.microsoft.com/office/drawing/2014/main" val="20001"/>
                    </a:ext>
                  </a:extLst>
                </a:gridCol>
                <a:gridCol w="1152128">
                  <a:extLst>
                    <a:ext uri="{9D8B030D-6E8A-4147-A177-3AD203B41FA5}">
                      <a16:colId xmlns:a16="http://schemas.microsoft.com/office/drawing/2014/main" val="20002"/>
                    </a:ext>
                  </a:extLst>
                </a:gridCol>
                <a:gridCol w="1152128">
                  <a:extLst>
                    <a:ext uri="{9D8B030D-6E8A-4147-A177-3AD203B41FA5}">
                      <a16:colId xmlns:a16="http://schemas.microsoft.com/office/drawing/2014/main" val="20003"/>
                    </a:ext>
                  </a:extLst>
                </a:gridCol>
                <a:gridCol w="1152128">
                  <a:extLst>
                    <a:ext uri="{9D8B030D-6E8A-4147-A177-3AD203B41FA5}">
                      <a16:colId xmlns:a16="http://schemas.microsoft.com/office/drawing/2014/main" val="20004"/>
                    </a:ext>
                  </a:extLst>
                </a:gridCol>
              </a:tblGrid>
              <a:tr h="304800">
                <a:tc>
                  <a:txBody>
                    <a:bodyPr/>
                    <a:lstStyle/>
                    <a:p>
                      <a:pPr algn="ctr" rtl="0" fontAlgn="ctr"/>
                      <a:r>
                        <a:rPr lang="zh-CN" altLang="en-US" sz="1300" b="1" u="none" strike="noStrike" dirty="0">
                          <a:solidFill>
                            <a:schemeClr val="bg1"/>
                          </a:solidFill>
                          <a:effectLst/>
                          <a:latin typeface="微软雅黑" pitchFamily="34" charset="-122"/>
                          <a:ea typeface="微软雅黑" pitchFamily="34" charset="-122"/>
                        </a:rPr>
                        <a:t>项目名称</a:t>
                      </a:r>
                      <a:endParaRPr lang="zh-CN" altLang="en-US" sz="1300" b="1" i="0" u="none" strike="noStrike" dirty="0">
                        <a:solidFill>
                          <a:schemeClr val="bg1"/>
                        </a:solidFill>
                        <a:effectLst/>
                        <a:latin typeface="微软雅黑" pitchFamily="34" charset="-122"/>
                        <a:ea typeface="微软雅黑" pitchFamily="34" charset="-122"/>
                      </a:endParaRPr>
                    </a:p>
                  </a:txBody>
                  <a:tcPr marL="9525" marR="9525" marT="9525" marB="0" anchor="ctr">
                    <a:solidFill>
                      <a:schemeClr val="tx2">
                        <a:lumMod val="60000"/>
                        <a:lumOff val="40000"/>
                      </a:schemeClr>
                    </a:solidFill>
                  </a:tcPr>
                </a:tc>
                <a:tc>
                  <a:txBody>
                    <a:bodyPr/>
                    <a:lstStyle/>
                    <a:p>
                      <a:pPr algn="ctr" rtl="0" fontAlgn="ctr"/>
                      <a:r>
                        <a:rPr lang="zh-CN" altLang="en-US" sz="1300" b="1" u="none" strike="noStrike" dirty="0">
                          <a:solidFill>
                            <a:schemeClr val="bg1"/>
                          </a:solidFill>
                          <a:effectLst/>
                          <a:latin typeface="微软雅黑" pitchFamily="34" charset="-122"/>
                          <a:ea typeface="微软雅黑" pitchFamily="34" charset="-122"/>
                        </a:rPr>
                        <a:t>成交套数</a:t>
                      </a:r>
                      <a:endParaRPr lang="en-US" altLang="zh-CN" sz="1300" b="1" u="none" strike="noStrike" dirty="0">
                        <a:solidFill>
                          <a:schemeClr val="bg1"/>
                        </a:solidFill>
                        <a:effectLst/>
                        <a:latin typeface="微软雅黑" pitchFamily="34" charset="-122"/>
                        <a:ea typeface="微软雅黑" pitchFamily="34" charset="-122"/>
                      </a:endParaRPr>
                    </a:p>
                    <a:p>
                      <a:pPr marL="0" marR="0" indent="0" algn="ctr" defTabSz="457200" rtl="0" eaLnBrk="1" fontAlgn="ctr" latinLnBrk="0" hangingPunct="1">
                        <a:lnSpc>
                          <a:spcPct val="100000"/>
                        </a:lnSpc>
                        <a:spcBef>
                          <a:spcPts val="0"/>
                        </a:spcBef>
                        <a:spcAft>
                          <a:spcPts val="0"/>
                        </a:spcAft>
                        <a:buClrTx/>
                        <a:buSzTx/>
                        <a:buFontTx/>
                        <a:buNone/>
                        <a:tabLst/>
                        <a:defRPr/>
                      </a:pPr>
                      <a:r>
                        <a:rPr lang="zh-CN" altLang="en-US" sz="1300" b="1" u="none" strike="noStrike" dirty="0">
                          <a:solidFill>
                            <a:schemeClr val="bg1"/>
                          </a:solidFill>
                          <a:effectLst/>
                          <a:latin typeface="微软雅黑" pitchFamily="34" charset="-122"/>
                          <a:ea typeface="微软雅黑" pitchFamily="34" charset="-122"/>
                        </a:rPr>
                        <a:t>（套）</a:t>
                      </a:r>
                      <a:r>
                        <a:rPr lang="zh-CN" altLang="en-US" sz="1300" b="1" u="none" strike="noStrike" dirty="0">
                          <a:solidFill>
                            <a:schemeClr val="bg1"/>
                          </a:solidFill>
                          <a:effectLst/>
                          <a:latin typeface="+mn-ea"/>
                          <a:ea typeface="+mn-ea"/>
                        </a:rPr>
                        <a:t>↓</a:t>
                      </a:r>
                      <a:endParaRPr lang="zh-CN" altLang="en-US" sz="1300" b="1" i="0" u="none" strike="noStrike" dirty="0">
                        <a:solidFill>
                          <a:schemeClr val="bg1"/>
                        </a:solidFill>
                        <a:effectLst/>
                        <a:latin typeface="+mn-ea"/>
                        <a:ea typeface="+mn-ea"/>
                      </a:endParaRPr>
                    </a:p>
                  </a:txBody>
                  <a:tcPr marL="9525" marR="9525" marT="9525" marB="0" anchor="ctr">
                    <a:solidFill>
                      <a:schemeClr val="tx2">
                        <a:lumMod val="60000"/>
                        <a:lumOff val="40000"/>
                      </a:schemeClr>
                    </a:solidFill>
                  </a:tcPr>
                </a:tc>
                <a:tc>
                  <a:txBody>
                    <a:bodyPr/>
                    <a:lstStyle/>
                    <a:p>
                      <a:pPr algn="ctr" rtl="0" fontAlgn="ctr"/>
                      <a:r>
                        <a:rPr lang="zh-CN" altLang="en-US" sz="1300" b="1" u="none" strike="noStrike" dirty="0">
                          <a:solidFill>
                            <a:schemeClr val="bg1"/>
                          </a:solidFill>
                          <a:effectLst/>
                          <a:latin typeface="微软雅黑" pitchFamily="34" charset="-122"/>
                          <a:ea typeface="微软雅黑" pitchFamily="34" charset="-122"/>
                        </a:rPr>
                        <a:t>成交面积</a:t>
                      </a:r>
                      <a:endParaRPr lang="en-US" altLang="zh-CN" sz="1300" b="1" u="none" strike="noStrike" dirty="0">
                        <a:solidFill>
                          <a:schemeClr val="bg1"/>
                        </a:solidFill>
                        <a:effectLst/>
                        <a:latin typeface="微软雅黑" pitchFamily="34" charset="-122"/>
                        <a:ea typeface="微软雅黑" pitchFamily="34" charset="-122"/>
                      </a:endParaRPr>
                    </a:p>
                    <a:p>
                      <a:pPr algn="ctr" rtl="0" fontAlgn="ctr"/>
                      <a:r>
                        <a:rPr lang="zh-CN" altLang="en-US" sz="1300" b="1" u="none" strike="noStrike" dirty="0">
                          <a:solidFill>
                            <a:schemeClr val="bg1"/>
                          </a:solidFill>
                          <a:effectLst/>
                          <a:latin typeface="微软雅黑" pitchFamily="34" charset="-122"/>
                          <a:ea typeface="微软雅黑" pitchFamily="34" charset="-122"/>
                        </a:rPr>
                        <a:t>（万㎡）</a:t>
                      </a:r>
                      <a:endParaRPr lang="zh-CN" altLang="en-US" sz="1300" b="1" i="0" u="none" strike="noStrike" dirty="0">
                        <a:solidFill>
                          <a:schemeClr val="bg1"/>
                        </a:solidFill>
                        <a:effectLst/>
                        <a:latin typeface="微软雅黑" pitchFamily="34" charset="-122"/>
                        <a:ea typeface="微软雅黑" pitchFamily="34" charset="-122"/>
                      </a:endParaRPr>
                    </a:p>
                  </a:txBody>
                  <a:tcPr marL="9525" marR="9525" marT="9525" marB="0" anchor="ctr">
                    <a:solidFill>
                      <a:schemeClr val="tx2">
                        <a:lumMod val="60000"/>
                        <a:lumOff val="40000"/>
                      </a:schemeClr>
                    </a:solidFill>
                  </a:tcPr>
                </a:tc>
                <a:tc>
                  <a:txBody>
                    <a:bodyPr/>
                    <a:lstStyle/>
                    <a:p>
                      <a:pPr algn="ctr" rtl="0" fontAlgn="b"/>
                      <a:r>
                        <a:rPr lang="zh-CN" altLang="en-US" sz="1300" b="1" u="none" strike="noStrike" dirty="0">
                          <a:solidFill>
                            <a:schemeClr val="bg1"/>
                          </a:solidFill>
                          <a:effectLst/>
                          <a:latin typeface="微软雅黑" pitchFamily="34" charset="-122"/>
                          <a:ea typeface="微软雅黑" pitchFamily="34" charset="-122"/>
                        </a:rPr>
                        <a:t>成交单价</a:t>
                      </a:r>
                      <a:endParaRPr lang="en-US" altLang="zh-CN" sz="1300" b="1" u="none" strike="noStrike" dirty="0">
                        <a:solidFill>
                          <a:schemeClr val="bg1"/>
                        </a:solidFill>
                        <a:effectLst/>
                        <a:latin typeface="微软雅黑" pitchFamily="34" charset="-122"/>
                        <a:ea typeface="微软雅黑" pitchFamily="34" charset="-122"/>
                      </a:endParaRPr>
                    </a:p>
                    <a:p>
                      <a:pPr algn="ctr" rtl="0" fontAlgn="b"/>
                      <a:r>
                        <a:rPr lang="zh-CN" altLang="en-US" sz="1300" b="1" u="none" strike="noStrike" dirty="0">
                          <a:solidFill>
                            <a:schemeClr val="bg1"/>
                          </a:solidFill>
                          <a:effectLst/>
                          <a:latin typeface="微软雅黑" pitchFamily="34" charset="-122"/>
                          <a:ea typeface="微软雅黑" pitchFamily="34" charset="-122"/>
                        </a:rPr>
                        <a:t>（元</a:t>
                      </a:r>
                      <a:r>
                        <a:rPr lang="en-US" altLang="zh-CN" sz="1300" b="1" u="none" strike="noStrike" dirty="0">
                          <a:solidFill>
                            <a:schemeClr val="bg1"/>
                          </a:solidFill>
                          <a:effectLst/>
                          <a:latin typeface="微软雅黑" pitchFamily="34" charset="-122"/>
                          <a:ea typeface="微软雅黑" pitchFamily="34" charset="-122"/>
                        </a:rPr>
                        <a:t>/㎡</a:t>
                      </a:r>
                      <a:r>
                        <a:rPr lang="zh-CN" altLang="en-US" sz="1300" b="1" u="none" strike="noStrike" dirty="0">
                          <a:solidFill>
                            <a:schemeClr val="bg1"/>
                          </a:solidFill>
                          <a:effectLst/>
                          <a:latin typeface="微软雅黑" pitchFamily="34" charset="-122"/>
                          <a:ea typeface="微软雅黑" pitchFamily="34" charset="-122"/>
                        </a:rPr>
                        <a:t>）</a:t>
                      </a:r>
                      <a:endParaRPr lang="zh-CN" altLang="en-US" sz="1300" b="1" i="0" u="none" strike="noStrike" dirty="0">
                        <a:solidFill>
                          <a:schemeClr val="bg1"/>
                        </a:solidFill>
                        <a:effectLst/>
                        <a:latin typeface="微软雅黑" pitchFamily="34" charset="-122"/>
                        <a:ea typeface="微软雅黑" pitchFamily="34" charset="-122"/>
                      </a:endParaRPr>
                    </a:p>
                  </a:txBody>
                  <a:tcPr marL="9525" marR="9525" marT="9525" marB="0" anchor="ctr">
                    <a:solidFill>
                      <a:schemeClr val="tx2">
                        <a:lumMod val="60000"/>
                        <a:lumOff val="40000"/>
                      </a:schemeClr>
                    </a:solidFill>
                  </a:tcPr>
                </a:tc>
                <a:tc>
                  <a:txBody>
                    <a:bodyPr/>
                    <a:lstStyle/>
                    <a:p>
                      <a:pPr algn="ctr" rtl="0" fontAlgn="b"/>
                      <a:r>
                        <a:rPr lang="zh-CN" altLang="en-US" sz="1300" b="1" u="none" strike="noStrike" dirty="0">
                          <a:solidFill>
                            <a:schemeClr val="bg1"/>
                          </a:solidFill>
                          <a:effectLst/>
                          <a:latin typeface="微软雅黑" pitchFamily="34" charset="-122"/>
                          <a:ea typeface="微软雅黑" pitchFamily="34" charset="-122"/>
                        </a:rPr>
                        <a:t>成交总额</a:t>
                      </a:r>
                      <a:endParaRPr lang="en-US" altLang="zh-CN" sz="1300" b="1" u="none" strike="noStrike" dirty="0">
                        <a:solidFill>
                          <a:schemeClr val="bg1"/>
                        </a:solidFill>
                        <a:effectLst/>
                        <a:latin typeface="微软雅黑" pitchFamily="34" charset="-122"/>
                        <a:ea typeface="微软雅黑" pitchFamily="34" charset="-122"/>
                      </a:endParaRPr>
                    </a:p>
                    <a:p>
                      <a:pPr algn="ctr" rtl="0" fontAlgn="b"/>
                      <a:r>
                        <a:rPr lang="zh-CN" altLang="en-US" sz="1300" b="1" u="none" strike="noStrike" dirty="0">
                          <a:solidFill>
                            <a:schemeClr val="bg1"/>
                          </a:solidFill>
                          <a:effectLst/>
                          <a:latin typeface="微软雅黑" pitchFamily="34" charset="-122"/>
                          <a:ea typeface="微软雅黑" pitchFamily="34" charset="-122"/>
                        </a:rPr>
                        <a:t>（亿元）</a:t>
                      </a:r>
                      <a:endParaRPr lang="zh-CN" altLang="en-US" sz="1300" b="1" i="0" u="none" strike="noStrike" dirty="0">
                        <a:solidFill>
                          <a:schemeClr val="bg1"/>
                        </a:solidFill>
                        <a:effectLst/>
                        <a:latin typeface="微软雅黑" pitchFamily="34" charset="-122"/>
                        <a:ea typeface="微软雅黑" pitchFamily="34" charset="-122"/>
                      </a:endParaRPr>
                    </a:p>
                  </a:txBody>
                  <a:tcPr marL="9525" marR="9525" marT="9525" marB="0" anchor="ctr">
                    <a:solidFill>
                      <a:schemeClr val="tx2">
                        <a:lumMod val="60000"/>
                        <a:lumOff val="40000"/>
                      </a:schemeClr>
                    </a:solidFill>
                  </a:tcPr>
                </a:tc>
                <a:extLst>
                  <a:ext uri="{0D108BD9-81ED-4DB2-BD59-A6C34878D82A}">
                    <a16:rowId xmlns:a16="http://schemas.microsoft.com/office/drawing/2014/main" val="10000"/>
                  </a:ext>
                </a:extLst>
              </a:tr>
              <a:tr h="208223">
                <a:tc>
                  <a:txBody>
                    <a:bodyPr/>
                    <a:lstStyle/>
                    <a:p>
                      <a:pPr algn="ctr" fontAlgn="ctr"/>
                      <a:r>
                        <a:rPr lang="zh-CN" altLang="en-US" sz="1300" b="0" i="0" u="none" strike="noStrike" kern="1200" dirty="0">
                          <a:solidFill>
                            <a:srgbClr val="000000"/>
                          </a:solidFill>
                          <a:effectLst/>
                          <a:latin typeface="+mn-ea"/>
                          <a:ea typeface="+mn-ea"/>
                          <a:cs typeface="+mn-cs"/>
                        </a:rPr>
                        <a:t>永定河孔雀城剑桥郡</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401</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3.67</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10492</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3.85 </a:t>
                      </a:r>
                    </a:p>
                  </a:txBody>
                  <a:tcPr marL="9525" marR="9525" marT="9525" marB="0" anchor="ctr">
                    <a:solidFill>
                      <a:schemeClr val="tx2">
                        <a:lumMod val="20000"/>
                        <a:lumOff val="80000"/>
                      </a:schemeClr>
                    </a:solidFill>
                  </a:tcPr>
                </a:tc>
                <a:extLst>
                  <a:ext uri="{0D108BD9-81ED-4DB2-BD59-A6C34878D82A}">
                    <a16:rowId xmlns:a16="http://schemas.microsoft.com/office/drawing/2014/main" val="10001"/>
                  </a:ext>
                </a:extLst>
              </a:tr>
              <a:tr h="171450">
                <a:tc>
                  <a:txBody>
                    <a:bodyPr/>
                    <a:lstStyle/>
                    <a:p>
                      <a:pPr algn="ctr" fontAlgn="ctr"/>
                      <a:r>
                        <a:rPr lang="zh-CN" altLang="en-US" sz="1300" b="0" i="0" u="none" strike="noStrike" kern="1200">
                          <a:solidFill>
                            <a:srgbClr val="000000"/>
                          </a:solidFill>
                          <a:effectLst/>
                          <a:latin typeface="+mn-ea"/>
                          <a:ea typeface="+mn-ea"/>
                          <a:cs typeface="+mn-cs"/>
                        </a:rPr>
                        <a:t>福缘小区</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193</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1.56</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11494</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1.79 </a:t>
                      </a:r>
                    </a:p>
                  </a:txBody>
                  <a:tcPr marL="9525" marR="9525" marT="9525" marB="0" anchor="ctr">
                    <a:solidFill>
                      <a:schemeClr val="tx2">
                        <a:lumMod val="20000"/>
                        <a:lumOff val="80000"/>
                      </a:schemeClr>
                    </a:solidFill>
                  </a:tcPr>
                </a:tc>
                <a:extLst>
                  <a:ext uri="{0D108BD9-81ED-4DB2-BD59-A6C34878D82A}">
                    <a16:rowId xmlns:a16="http://schemas.microsoft.com/office/drawing/2014/main" val="10002"/>
                  </a:ext>
                </a:extLst>
              </a:tr>
              <a:tr h="171450">
                <a:tc>
                  <a:txBody>
                    <a:bodyPr/>
                    <a:lstStyle/>
                    <a:p>
                      <a:pPr algn="ctr" fontAlgn="ctr"/>
                      <a:r>
                        <a:rPr lang="zh-CN" altLang="en-US" sz="1300" b="0" i="0" u="none" strike="noStrike" kern="1200">
                          <a:solidFill>
                            <a:srgbClr val="000000"/>
                          </a:solidFill>
                          <a:effectLst/>
                          <a:latin typeface="+mn-ea"/>
                          <a:ea typeface="+mn-ea"/>
                          <a:cs typeface="+mn-cs"/>
                        </a:rPr>
                        <a:t>学府锦园</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146</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1.26</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10810</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1.36 </a:t>
                      </a:r>
                    </a:p>
                  </a:txBody>
                  <a:tcPr marL="9525" marR="9525" marT="9525" marB="0" anchor="ctr">
                    <a:solidFill>
                      <a:schemeClr val="tx2">
                        <a:lumMod val="20000"/>
                        <a:lumOff val="80000"/>
                      </a:schemeClr>
                    </a:solidFill>
                  </a:tcPr>
                </a:tc>
                <a:extLst>
                  <a:ext uri="{0D108BD9-81ED-4DB2-BD59-A6C34878D82A}">
                    <a16:rowId xmlns:a16="http://schemas.microsoft.com/office/drawing/2014/main" val="10003"/>
                  </a:ext>
                </a:extLst>
              </a:tr>
              <a:tr h="171450">
                <a:tc>
                  <a:txBody>
                    <a:bodyPr/>
                    <a:lstStyle/>
                    <a:p>
                      <a:pPr algn="ctr" fontAlgn="ctr"/>
                      <a:r>
                        <a:rPr lang="zh-CN" altLang="en-US" sz="1300" b="0" i="0" u="none" strike="noStrike" kern="1200">
                          <a:solidFill>
                            <a:srgbClr val="000000"/>
                          </a:solidFill>
                          <a:effectLst/>
                          <a:latin typeface="+mn-ea"/>
                          <a:ea typeface="+mn-ea"/>
                          <a:cs typeface="+mn-cs"/>
                        </a:rPr>
                        <a:t>孔雀城</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137</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1.29</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11662</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1.50 </a:t>
                      </a:r>
                    </a:p>
                  </a:txBody>
                  <a:tcPr marL="9525" marR="9525" marT="9525" marB="0" anchor="ctr">
                    <a:solidFill>
                      <a:schemeClr val="tx2">
                        <a:lumMod val="20000"/>
                        <a:lumOff val="80000"/>
                      </a:schemeClr>
                    </a:solidFill>
                  </a:tcPr>
                </a:tc>
                <a:extLst>
                  <a:ext uri="{0D108BD9-81ED-4DB2-BD59-A6C34878D82A}">
                    <a16:rowId xmlns:a16="http://schemas.microsoft.com/office/drawing/2014/main" val="10004"/>
                  </a:ext>
                </a:extLst>
              </a:tr>
              <a:tr h="171450">
                <a:tc>
                  <a:txBody>
                    <a:bodyPr/>
                    <a:lstStyle/>
                    <a:p>
                      <a:pPr algn="ctr" fontAlgn="ctr"/>
                      <a:r>
                        <a:rPr lang="zh-CN" altLang="en-US" sz="1300" b="0" i="0" u="none" strike="noStrike" kern="1200">
                          <a:solidFill>
                            <a:srgbClr val="000000"/>
                          </a:solidFill>
                          <a:effectLst/>
                          <a:latin typeface="+mn-ea"/>
                          <a:ea typeface="+mn-ea"/>
                          <a:cs typeface="+mn-cs"/>
                        </a:rPr>
                        <a:t>浩庭花园</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115</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0.96</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8084</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0.77 </a:t>
                      </a:r>
                    </a:p>
                  </a:txBody>
                  <a:tcPr marL="9525" marR="9525" marT="9525" marB="0" anchor="ctr">
                    <a:solidFill>
                      <a:schemeClr val="tx2">
                        <a:lumMod val="20000"/>
                        <a:lumOff val="80000"/>
                      </a:schemeClr>
                    </a:solidFill>
                  </a:tcPr>
                </a:tc>
                <a:extLst>
                  <a:ext uri="{0D108BD9-81ED-4DB2-BD59-A6C34878D82A}">
                    <a16:rowId xmlns:a16="http://schemas.microsoft.com/office/drawing/2014/main" val="10005"/>
                  </a:ext>
                </a:extLst>
              </a:tr>
              <a:tr h="171450">
                <a:tc>
                  <a:txBody>
                    <a:bodyPr/>
                    <a:lstStyle/>
                    <a:p>
                      <a:pPr algn="ctr" fontAlgn="ctr"/>
                      <a:r>
                        <a:rPr lang="zh-CN" altLang="en-US" sz="1300" b="0" i="0" u="none" strike="noStrike" kern="1200">
                          <a:solidFill>
                            <a:srgbClr val="000000"/>
                          </a:solidFill>
                          <a:effectLst/>
                          <a:latin typeface="+mn-ea"/>
                          <a:ea typeface="+mn-ea"/>
                          <a:cs typeface="+mn-cs"/>
                        </a:rPr>
                        <a:t>尚品国际</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92</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1.02</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7543</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0.77 </a:t>
                      </a:r>
                    </a:p>
                  </a:txBody>
                  <a:tcPr marL="9525" marR="9525" marT="9525" marB="0" anchor="ctr">
                    <a:solidFill>
                      <a:schemeClr val="tx2">
                        <a:lumMod val="20000"/>
                        <a:lumOff val="80000"/>
                      </a:schemeClr>
                    </a:solidFill>
                  </a:tcPr>
                </a:tc>
                <a:extLst>
                  <a:ext uri="{0D108BD9-81ED-4DB2-BD59-A6C34878D82A}">
                    <a16:rowId xmlns:a16="http://schemas.microsoft.com/office/drawing/2014/main" val="10006"/>
                  </a:ext>
                </a:extLst>
              </a:tr>
              <a:tr h="171450">
                <a:tc>
                  <a:txBody>
                    <a:bodyPr/>
                    <a:lstStyle/>
                    <a:p>
                      <a:pPr algn="ctr" fontAlgn="ctr"/>
                      <a:r>
                        <a:rPr lang="zh-CN" altLang="en-US" sz="1300" b="0" i="0" u="none" strike="noStrike" kern="1200" dirty="0">
                          <a:solidFill>
                            <a:srgbClr val="000000"/>
                          </a:solidFill>
                          <a:effectLst/>
                          <a:latin typeface="+mn-ea"/>
                          <a:ea typeface="+mn-ea"/>
                          <a:cs typeface="+mn-cs"/>
                        </a:rPr>
                        <a:t>永定河</a:t>
                      </a:r>
                      <a:r>
                        <a:rPr lang="en-US" altLang="zh-CN" sz="1300" b="0" i="0" u="none" strike="noStrike" kern="1200" dirty="0">
                          <a:solidFill>
                            <a:srgbClr val="000000"/>
                          </a:solidFill>
                          <a:effectLst/>
                          <a:latin typeface="+mn-ea"/>
                          <a:ea typeface="+mn-ea"/>
                          <a:cs typeface="+mn-cs"/>
                        </a:rPr>
                        <a:t>·</a:t>
                      </a:r>
                      <a:r>
                        <a:rPr lang="zh-CN" altLang="en-US" sz="1300" b="0" i="0" u="none" strike="noStrike" kern="1200" dirty="0">
                          <a:solidFill>
                            <a:srgbClr val="000000"/>
                          </a:solidFill>
                          <a:effectLst/>
                          <a:latin typeface="+mn-ea"/>
                          <a:ea typeface="+mn-ea"/>
                          <a:cs typeface="+mn-cs"/>
                        </a:rPr>
                        <a:t>孔雀英国宫</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69</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0.62</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9355</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0.58 </a:t>
                      </a:r>
                    </a:p>
                  </a:txBody>
                  <a:tcPr marL="9525" marR="9525" marT="9525" marB="0" anchor="ctr">
                    <a:solidFill>
                      <a:schemeClr val="tx2">
                        <a:lumMod val="20000"/>
                        <a:lumOff val="80000"/>
                      </a:schemeClr>
                    </a:solidFill>
                  </a:tcPr>
                </a:tc>
                <a:extLst>
                  <a:ext uri="{0D108BD9-81ED-4DB2-BD59-A6C34878D82A}">
                    <a16:rowId xmlns:a16="http://schemas.microsoft.com/office/drawing/2014/main" val="10007"/>
                  </a:ext>
                </a:extLst>
              </a:tr>
              <a:tr h="171450">
                <a:tc>
                  <a:txBody>
                    <a:bodyPr/>
                    <a:lstStyle/>
                    <a:p>
                      <a:pPr algn="ctr" fontAlgn="ctr"/>
                      <a:r>
                        <a:rPr lang="zh-CN" altLang="en-US" sz="1300" b="0" i="0" u="none" strike="noStrike" kern="1200">
                          <a:solidFill>
                            <a:srgbClr val="000000"/>
                          </a:solidFill>
                          <a:effectLst/>
                          <a:latin typeface="+mn-ea"/>
                          <a:ea typeface="+mn-ea"/>
                          <a:cs typeface="+mn-cs"/>
                        </a:rPr>
                        <a:t>金海太阳公园</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67</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0.73</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11398</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0.84 </a:t>
                      </a:r>
                    </a:p>
                  </a:txBody>
                  <a:tcPr marL="9525" marR="9525" marT="9525" marB="0" anchor="ctr">
                    <a:solidFill>
                      <a:schemeClr val="tx2">
                        <a:lumMod val="20000"/>
                        <a:lumOff val="80000"/>
                      </a:schemeClr>
                    </a:solidFill>
                  </a:tcPr>
                </a:tc>
                <a:extLst>
                  <a:ext uri="{0D108BD9-81ED-4DB2-BD59-A6C34878D82A}">
                    <a16:rowId xmlns:a16="http://schemas.microsoft.com/office/drawing/2014/main" val="10008"/>
                  </a:ext>
                </a:extLst>
              </a:tr>
              <a:tr h="171450">
                <a:tc>
                  <a:txBody>
                    <a:bodyPr/>
                    <a:lstStyle/>
                    <a:p>
                      <a:pPr algn="ctr" fontAlgn="ctr"/>
                      <a:r>
                        <a:rPr lang="zh-CN" altLang="en-US" sz="1300" b="0" i="0" u="none" strike="noStrike" kern="1200">
                          <a:solidFill>
                            <a:srgbClr val="000000"/>
                          </a:solidFill>
                          <a:effectLst/>
                          <a:latin typeface="+mn-ea"/>
                          <a:ea typeface="+mn-ea"/>
                          <a:cs typeface="+mn-cs"/>
                        </a:rPr>
                        <a:t>牛驼温泉孔雀城</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50</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0.75</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9069</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0.68 </a:t>
                      </a:r>
                    </a:p>
                  </a:txBody>
                  <a:tcPr marL="9525" marR="9525" marT="9525" marB="0" anchor="ctr">
                    <a:solidFill>
                      <a:schemeClr val="tx2">
                        <a:lumMod val="20000"/>
                        <a:lumOff val="80000"/>
                      </a:schemeClr>
                    </a:solidFill>
                  </a:tcPr>
                </a:tc>
                <a:extLst>
                  <a:ext uri="{0D108BD9-81ED-4DB2-BD59-A6C34878D82A}">
                    <a16:rowId xmlns:a16="http://schemas.microsoft.com/office/drawing/2014/main" val="10009"/>
                  </a:ext>
                </a:extLst>
              </a:tr>
              <a:tr h="259224">
                <a:tc>
                  <a:txBody>
                    <a:bodyPr/>
                    <a:lstStyle/>
                    <a:p>
                      <a:pPr algn="ctr" fontAlgn="ctr"/>
                      <a:r>
                        <a:rPr lang="zh-CN" altLang="en-US" sz="1300" b="0" i="0" u="none" strike="noStrike" kern="1200" dirty="0">
                          <a:solidFill>
                            <a:srgbClr val="000000"/>
                          </a:solidFill>
                          <a:effectLst/>
                          <a:latin typeface="+mn-ea"/>
                          <a:ea typeface="+mn-ea"/>
                          <a:cs typeface="+mn-cs"/>
                        </a:rPr>
                        <a:t>牛驼温泉孔雀城漪泉苑</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45</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0.72</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10228</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0.73 </a:t>
                      </a:r>
                    </a:p>
                  </a:txBody>
                  <a:tcPr marL="9525" marR="9525" marT="9525" marB="0" anchor="ctr">
                    <a:solidFill>
                      <a:schemeClr val="tx2">
                        <a:lumMod val="20000"/>
                        <a:lumOff val="80000"/>
                      </a:schemeClr>
                    </a:solidFill>
                  </a:tcPr>
                </a:tc>
                <a:extLst>
                  <a:ext uri="{0D108BD9-81ED-4DB2-BD59-A6C34878D82A}">
                    <a16:rowId xmlns:a16="http://schemas.microsoft.com/office/drawing/2014/main" val="10010"/>
                  </a:ext>
                </a:extLst>
              </a:tr>
            </a:tbl>
          </a:graphicData>
        </a:graphic>
      </p:graphicFrame>
      <p:graphicFrame>
        <p:nvGraphicFramePr>
          <p:cNvPr id="13" name="表格 12"/>
          <p:cNvGraphicFramePr>
            <a:graphicFrameLocks noGrp="1"/>
          </p:cNvGraphicFramePr>
          <p:nvPr>
            <p:extLst>
              <p:ext uri="{D42A27DB-BD31-4B8C-83A1-F6EECF244321}">
                <p14:modId xmlns:p14="http://schemas.microsoft.com/office/powerpoint/2010/main" val="892311482"/>
              </p:ext>
            </p:extLst>
          </p:nvPr>
        </p:nvGraphicFramePr>
        <p:xfrm>
          <a:off x="1536857" y="4062806"/>
          <a:ext cx="6175827" cy="2482793"/>
        </p:xfrm>
        <a:graphic>
          <a:graphicData uri="http://schemas.openxmlformats.org/drawingml/2006/table">
            <a:tbl>
              <a:tblPr>
                <a:tableStyleId>{5C22544A-7EE6-4342-B048-85BDC9FD1C3A}</a:tableStyleId>
              </a:tblPr>
              <a:tblGrid>
                <a:gridCol w="1752253">
                  <a:extLst>
                    <a:ext uri="{9D8B030D-6E8A-4147-A177-3AD203B41FA5}">
                      <a16:colId xmlns:a16="http://schemas.microsoft.com/office/drawing/2014/main" val="20000"/>
                    </a:ext>
                  </a:extLst>
                </a:gridCol>
                <a:gridCol w="967190">
                  <a:extLst>
                    <a:ext uri="{9D8B030D-6E8A-4147-A177-3AD203B41FA5}">
                      <a16:colId xmlns:a16="http://schemas.microsoft.com/office/drawing/2014/main" val="20001"/>
                    </a:ext>
                  </a:extLst>
                </a:gridCol>
                <a:gridCol w="1152128">
                  <a:extLst>
                    <a:ext uri="{9D8B030D-6E8A-4147-A177-3AD203B41FA5}">
                      <a16:colId xmlns:a16="http://schemas.microsoft.com/office/drawing/2014/main" val="20002"/>
                    </a:ext>
                  </a:extLst>
                </a:gridCol>
                <a:gridCol w="1152128">
                  <a:extLst>
                    <a:ext uri="{9D8B030D-6E8A-4147-A177-3AD203B41FA5}">
                      <a16:colId xmlns:a16="http://schemas.microsoft.com/office/drawing/2014/main" val="20003"/>
                    </a:ext>
                  </a:extLst>
                </a:gridCol>
                <a:gridCol w="1152128">
                  <a:extLst>
                    <a:ext uri="{9D8B030D-6E8A-4147-A177-3AD203B41FA5}">
                      <a16:colId xmlns:a16="http://schemas.microsoft.com/office/drawing/2014/main" val="20004"/>
                    </a:ext>
                  </a:extLst>
                </a:gridCol>
              </a:tblGrid>
              <a:tr h="304800">
                <a:tc>
                  <a:txBody>
                    <a:bodyPr/>
                    <a:lstStyle/>
                    <a:p>
                      <a:pPr algn="ctr" rtl="0" fontAlgn="ctr"/>
                      <a:r>
                        <a:rPr lang="zh-CN" altLang="en-US" sz="1300" b="1" u="none" strike="noStrike" dirty="0">
                          <a:solidFill>
                            <a:schemeClr val="bg1"/>
                          </a:solidFill>
                          <a:effectLst/>
                          <a:latin typeface="微软雅黑" pitchFamily="34" charset="-122"/>
                          <a:ea typeface="微软雅黑" pitchFamily="34" charset="-122"/>
                        </a:rPr>
                        <a:t>项目名称</a:t>
                      </a:r>
                      <a:endParaRPr lang="zh-CN" altLang="en-US" sz="1300" b="1" i="0" u="none" strike="noStrike" dirty="0">
                        <a:solidFill>
                          <a:schemeClr val="bg1"/>
                        </a:solidFill>
                        <a:effectLst/>
                        <a:latin typeface="微软雅黑" pitchFamily="34" charset="-122"/>
                        <a:ea typeface="微软雅黑" pitchFamily="34" charset="-122"/>
                      </a:endParaRPr>
                    </a:p>
                  </a:txBody>
                  <a:tcPr marL="9525" marR="9525" marT="9525" marB="0" anchor="ctr">
                    <a:solidFill>
                      <a:schemeClr val="tx2">
                        <a:lumMod val="60000"/>
                        <a:lumOff val="40000"/>
                      </a:schemeClr>
                    </a:solidFill>
                  </a:tcPr>
                </a:tc>
                <a:tc>
                  <a:txBody>
                    <a:bodyPr/>
                    <a:lstStyle/>
                    <a:p>
                      <a:pPr algn="ctr" rtl="0" fontAlgn="ctr"/>
                      <a:r>
                        <a:rPr lang="zh-CN" altLang="en-US" sz="1300" b="1" u="none" strike="noStrike" dirty="0">
                          <a:solidFill>
                            <a:schemeClr val="bg1"/>
                          </a:solidFill>
                          <a:effectLst/>
                          <a:latin typeface="微软雅黑" pitchFamily="34" charset="-122"/>
                          <a:ea typeface="微软雅黑" pitchFamily="34" charset="-122"/>
                        </a:rPr>
                        <a:t>成交套数</a:t>
                      </a:r>
                      <a:endParaRPr lang="en-US" altLang="zh-CN" sz="1300" b="1" u="none" strike="noStrike" dirty="0">
                        <a:solidFill>
                          <a:schemeClr val="bg1"/>
                        </a:solidFill>
                        <a:effectLst/>
                        <a:latin typeface="微软雅黑" pitchFamily="34" charset="-122"/>
                        <a:ea typeface="微软雅黑" pitchFamily="34" charset="-122"/>
                      </a:endParaRPr>
                    </a:p>
                    <a:p>
                      <a:pPr marL="0" marR="0" indent="0" algn="ctr" defTabSz="457200" rtl="0" eaLnBrk="1" fontAlgn="ctr" latinLnBrk="0" hangingPunct="1">
                        <a:lnSpc>
                          <a:spcPct val="100000"/>
                        </a:lnSpc>
                        <a:spcBef>
                          <a:spcPts val="0"/>
                        </a:spcBef>
                        <a:spcAft>
                          <a:spcPts val="0"/>
                        </a:spcAft>
                        <a:buClrTx/>
                        <a:buSzTx/>
                        <a:buFontTx/>
                        <a:buNone/>
                        <a:tabLst/>
                        <a:defRPr/>
                      </a:pPr>
                      <a:r>
                        <a:rPr lang="zh-CN" altLang="en-US" sz="1300" b="1" u="none" strike="noStrike" dirty="0">
                          <a:solidFill>
                            <a:schemeClr val="bg1"/>
                          </a:solidFill>
                          <a:effectLst/>
                          <a:latin typeface="微软雅黑" pitchFamily="34" charset="-122"/>
                          <a:ea typeface="微软雅黑" pitchFamily="34" charset="-122"/>
                        </a:rPr>
                        <a:t>（套）</a:t>
                      </a:r>
                      <a:r>
                        <a:rPr lang="zh-CN" altLang="en-US" sz="1300" b="1" u="none" strike="noStrike" dirty="0">
                          <a:solidFill>
                            <a:schemeClr val="bg1"/>
                          </a:solidFill>
                          <a:effectLst/>
                          <a:latin typeface="+mn-ea"/>
                          <a:ea typeface="+mn-ea"/>
                        </a:rPr>
                        <a:t>↓</a:t>
                      </a:r>
                      <a:endParaRPr lang="zh-CN" altLang="en-US" sz="1300" b="1" i="0" u="none" strike="noStrike" dirty="0">
                        <a:solidFill>
                          <a:schemeClr val="bg1"/>
                        </a:solidFill>
                        <a:effectLst/>
                        <a:latin typeface="+mn-ea"/>
                        <a:ea typeface="+mn-ea"/>
                      </a:endParaRPr>
                    </a:p>
                  </a:txBody>
                  <a:tcPr marL="9525" marR="9525" marT="9525" marB="0" anchor="ctr">
                    <a:solidFill>
                      <a:schemeClr val="tx2">
                        <a:lumMod val="60000"/>
                        <a:lumOff val="40000"/>
                      </a:schemeClr>
                    </a:solidFill>
                  </a:tcPr>
                </a:tc>
                <a:tc>
                  <a:txBody>
                    <a:bodyPr/>
                    <a:lstStyle/>
                    <a:p>
                      <a:pPr algn="ctr" rtl="0" fontAlgn="ctr"/>
                      <a:r>
                        <a:rPr lang="zh-CN" altLang="en-US" sz="1300" b="1" u="none" strike="noStrike" dirty="0">
                          <a:solidFill>
                            <a:schemeClr val="bg1"/>
                          </a:solidFill>
                          <a:effectLst/>
                          <a:latin typeface="微软雅黑" pitchFamily="34" charset="-122"/>
                          <a:ea typeface="微软雅黑" pitchFamily="34" charset="-122"/>
                        </a:rPr>
                        <a:t>成交面积</a:t>
                      </a:r>
                      <a:endParaRPr lang="en-US" altLang="zh-CN" sz="1300" b="1" u="none" strike="noStrike" dirty="0">
                        <a:solidFill>
                          <a:schemeClr val="bg1"/>
                        </a:solidFill>
                        <a:effectLst/>
                        <a:latin typeface="微软雅黑" pitchFamily="34" charset="-122"/>
                        <a:ea typeface="微软雅黑" pitchFamily="34" charset="-122"/>
                      </a:endParaRPr>
                    </a:p>
                    <a:p>
                      <a:pPr algn="ctr" rtl="0" fontAlgn="ctr"/>
                      <a:r>
                        <a:rPr lang="zh-CN" altLang="en-US" sz="1300" b="1" u="none" strike="noStrike" dirty="0">
                          <a:solidFill>
                            <a:schemeClr val="bg1"/>
                          </a:solidFill>
                          <a:effectLst/>
                          <a:latin typeface="微软雅黑" pitchFamily="34" charset="-122"/>
                          <a:ea typeface="微软雅黑" pitchFamily="34" charset="-122"/>
                        </a:rPr>
                        <a:t>（万㎡）</a:t>
                      </a:r>
                      <a:endParaRPr lang="zh-CN" altLang="en-US" sz="1300" b="1" i="0" u="none" strike="noStrike" dirty="0">
                        <a:solidFill>
                          <a:schemeClr val="bg1"/>
                        </a:solidFill>
                        <a:effectLst/>
                        <a:latin typeface="微软雅黑" pitchFamily="34" charset="-122"/>
                        <a:ea typeface="微软雅黑" pitchFamily="34" charset="-122"/>
                      </a:endParaRPr>
                    </a:p>
                  </a:txBody>
                  <a:tcPr marL="9525" marR="9525" marT="9525" marB="0" anchor="ctr">
                    <a:solidFill>
                      <a:schemeClr val="tx2">
                        <a:lumMod val="60000"/>
                        <a:lumOff val="40000"/>
                      </a:schemeClr>
                    </a:solidFill>
                  </a:tcPr>
                </a:tc>
                <a:tc>
                  <a:txBody>
                    <a:bodyPr/>
                    <a:lstStyle/>
                    <a:p>
                      <a:pPr algn="ctr" rtl="0" fontAlgn="b"/>
                      <a:r>
                        <a:rPr lang="zh-CN" altLang="en-US" sz="1300" b="1" u="none" strike="noStrike" dirty="0">
                          <a:solidFill>
                            <a:schemeClr val="bg1"/>
                          </a:solidFill>
                          <a:effectLst/>
                          <a:latin typeface="微软雅黑" pitchFamily="34" charset="-122"/>
                          <a:ea typeface="微软雅黑" pitchFamily="34" charset="-122"/>
                        </a:rPr>
                        <a:t>成交单价</a:t>
                      </a:r>
                      <a:endParaRPr lang="en-US" altLang="zh-CN" sz="1300" b="1" u="none" strike="noStrike" dirty="0">
                        <a:solidFill>
                          <a:schemeClr val="bg1"/>
                        </a:solidFill>
                        <a:effectLst/>
                        <a:latin typeface="微软雅黑" pitchFamily="34" charset="-122"/>
                        <a:ea typeface="微软雅黑" pitchFamily="34" charset="-122"/>
                      </a:endParaRPr>
                    </a:p>
                    <a:p>
                      <a:pPr algn="ctr" rtl="0" fontAlgn="b"/>
                      <a:r>
                        <a:rPr lang="zh-CN" altLang="en-US" sz="1300" b="1" u="none" strike="noStrike" dirty="0">
                          <a:solidFill>
                            <a:schemeClr val="bg1"/>
                          </a:solidFill>
                          <a:effectLst/>
                          <a:latin typeface="微软雅黑" pitchFamily="34" charset="-122"/>
                          <a:ea typeface="微软雅黑" pitchFamily="34" charset="-122"/>
                        </a:rPr>
                        <a:t>（元</a:t>
                      </a:r>
                      <a:r>
                        <a:rPr lang="en-US" altLang="zh-CN" sz="1300" b="1" u="none" strike="noStrike" dirty="0">
                          <a:solidFill>
                            <a:schemeClr val="bg1"/>
                          </a:solidFill>
                          <a:effectLst/>
                          <a:latin typeface="微软雅黑" pitchFamily="34" charset="-122"/>
                          <a:ea typeface="微软雅黑" pitchFamily="34" charset="-122"/>
                        </a:rPr>
                        <a:t>/㎡</a:t>
                      </a:r>
                      <a:r>
                        <a:rPr lang="zh-CN" altLang="en-US" sz="1300" b="1" u="none" strike="noStrike" dirty="0">
                          <a:solidFill>
                            <a:schemeClr val="bg1"/>
                          </a:solidFill>
                          <a:effectLst/>
                          <a:latin typeface="微软雅黑" pitchFamily="34" charset="-122"/>
                          <a:ea typeface="微软雅黑" pitchFamily="34" charset="-122"/>
                        </a:rPr>
                        <a:t>）</a:t>
                      </a:r>
                      <a:endParaRPr lang="zh-CN" altLang="en-US" sz="1300" b="1" i="0" u="none" strike="noStrike" dirty="0">
                        <a:solidFill>
                          <a:schemeClr val="bg1"/>
                        </a:solidFill>
                        <a:effectLst/>
                        <a:latin typeface="微软雅黑" pitchFamily="34" charset="-122"/>
                        <a:ea typeface="微软雅黑" pitchFamily="34" charset="-122"/>
                      </a:endParaRPr>
                    </a:p>
                  </a:txBody>
                  <a:tcPr marL="9525" marR="9525" marT="9525" marB="0" anchor="ctr">
                    <a:solidFill>
                      <a:schemeClr val="tx2">
                        <a:lumMod val="60000"/>
                        <a:lumOff val="40000"/>
                      </a:schemeClr>
                    </a:solidFill>
                  </a:tcPr>
                </a:tc>
                <a:tc>
                  <a:txBody>
                    <a:bodyPr/>
                    <a:lstStyle/>
                    <a:p>
                      <a:pPr algn="ctr" rtl="0" fontAlgn="b"/>
                      <a:r>
                        <a:rPr lang="zh-CN" altLang="en-US" sz="1300" b="1" u="none" strike="noStrike" dirty="0">
                          <a:solidFill>
                            <a:schemeClr val="bg1"/>
                          </a:solidFill>
                          <a:effectLst/>
                          <a:latin typeface="微软雅黑" pitchFamily="34" charset="-122"/>
                          <a:ea typeface="微软雅黑" pitchFamily="34" charset="-122"/>
                        </a:rPr>
                        <a:t>成交总额</a:t>
                      </a:r>
                      <a:endParaRPr lang="en-US" altLang="zh-CN" sz="1300" b="1" u="none" strike="noStrike" dirty="0">
                        <a:solidFill>
                          <a:schemeClr val="bg1"/>
                        </a:solidFill>
                        <a:effectLst/>
                        <a:latin typeface="微软雅黑" pitchFamily="34" charset="-122"/>
                        <a:ea typeface="微软雅黑" pitchFamily="34" charset="-122"/>
                      </a:endParaRPr>
                    </a:p>
                    <a:p>
                      <a:pPr algn="ctr" rtl="0" fontAlgn="b"/>
                      <a:r>
                        <a:rPr lang="zh-CN" altLang="en-US" sz="1300" b="1" u="none" strike="noStrike" dirty="0">
                          <a:solidFill>
                            <a:schemeClr val="bg1"/>
                          </a:solidFill>
                          <a:effectLst/>
                          <a:latin typeface="微软雅黑" pitchFamily="34" charset="-122"/>
                          <a:ea typeface="微软雅黑" pitchFamily="34" charset="-122"/>
                        </a:rPr>
                        <a:t>（亿元）</a:t>
                      </a:r>
                      <a:endParaRPr lang="zh-CN" altLang="en-US" sz="1300" b="1" i="0" u="none" strike="noStrike" dirty="0">
                        <a:solidFill>
                          <a:schemeClr val="bg1"/>
                        </a:solidFill>
                        <a:effectLst/>
                        <a:latin typeface="微软雅黑" pitchFamily="34" charset="-122"/>
                        <a:ea typeface="微软雅黑" pitchFamily="34" charset="-122"/>
                      </a:endParaRPr>
                    </a:p>
                  </a:txBody>
                  <a:tcPr marL="9525" marR="9525" marT="9525" marB="0" anchor="ctr">
                    <a:solidFill>
                      <a:schemeClr val="tx2">
                        <a:lumMod val="60000"/>
                        <a:lumOff val="40000"/>
                      </a:schemeClr>
                    </a:solidFill>
                  </a:tcPr>
                </a:tc>
                <a:extLst>
                  <a:ext uri="{0D108BD9-81ED-4DB2-BD59-A6C34878D82A}">
                    <a16:rowId xmlns:a16="http://schemas.microsoft.com/office/drawing/2014/main" val="10000"/>
                  </a:ext>
                </a:extLst>
              </a:tr>
              <a:tr h="208223">
                <a:tc>
                  <a:txBody>
                    <a:bodyPr/>
                    <a:lstStyle/>
                    <a:p>
                      <a:pPr algn="ctr" fontAlgn="ctr"/>
                      <a:r>
                        <a:rPr lang="zh-CN" altLang="en-US" sz="1300" b="0" i="0" u="none" strike="noStrike" kern="1200" dirty="0">
                          <a:solidFill>
                            <a:srgbClr val="000000"/>
                          </a:solidFill>
                          <a:effectLst/>
                          <a:latin typeface="+mn-ea"/>
                          <a:ea typeface="+mn-ea"/>
                          <a:cs typeface="+mn-cs"/>
                        </a:rPr>
                        <a:t>永定河孔雀城剑桥郡</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3874</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37.04</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9595</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35.54</a:t>
                      </a:r>
                    </a:p>
                  </a:txBody>
                  <a:tcPr marL="9525" marR="9525" marT="9525" marB="0" anchor="ctr">
                    <a:solidFill>
                      <a:schemeClr val="tx2">
                        <a:lumMod val="20000"/>
                        <a:lumOff val="80000"/>
                      </a:schemeClr>
                    </a:solidFill>
                  </a:tcPr>
                </a:tc>
                <a:extLst>
                  <a:ext uri="{0D108BD9-81ED-4DB2-BD59-A6C34878D82A}">
                    <a16:rowId xmlns:a16="http://schemas.microsoft.com/office/drawing/2014/main" val="10001"/>
                  </a:ext>
                </a:extLst>
              </a:tr>
              <a:tr h="171450">
                <a:tc>
                  <a:txBody>
                    <a:bodyPr/>
                    <a:lstStyle/>
                    <a:p>
                      <a:pPr algn="ctr" fontAlgn="ctr"/>
                      <a:r>
                        <a:rPr lang="zh-CN" altLang="en-US" sz="1300" b="0" i="0" u="none" strike="noStrike" kern="1200">
                          <a:solidFill>
                            <a:srgbClr val="000000"/>
                          </a:solidFill>
                          <a:effectLst/>
                          <a:latin typeface="+mn-ea"/>
                          <a:ea typeface="+mn-ea"/>
                          <a:cs typeface="+mn-cs"/>
                        </a:rPr>
                        <a:t>永定河</a:t>
                      </a:r>
                      <a:r>
                        <a:rPr lang="en-US" altLang="zh-CN" sz="1300" b="0" i="0" u="none" strike="noStrike" kern="1200">
                          <a:solidFill>
                            <a:srgbClr val="000000"/>
                          </a:solidFill>
                          <a:effectLst/>
                          <a:latin typeface="+mn-ea"/>
                          <a:ea typeface="+mn-ea"/>
                          <a:cs typeface="+mn-cs"/>
                        </a:rPr>
                        <a:t>·</a:t>
                      </a:r>
                      <a:r>
                        <a:rPr lang="zh-CN" altLang="en-US" sz="1300" b="0" i="0" u="none" strike="noStrike" kern="1200">
                          <a:solidFill>
                            <a:srgbClr val="000000"/>
                          </a:solidFill>
                          <a:effectLst/>
                          <a:latin typeface="+mn-ea"/>
                          <a:ea typeface="+mn-ea"/>
                          <a:cs typeface="+mn-cs"/>
                        </a:rPr>
                        <a:t>孔雀英国宫</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2686</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23.51</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8268</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19.44</a:t>
                      </a:r>
                    </a:p>
                  </a:txBody>
                  <a:tcPr marL="9525" marR="9525" marT="9525" marB="0" anchor="ctr">
                    <a:solidFill>
                      <a:schemeClr val="tx2">
                        <a:lumMod val="20000"/>
                        <a:lumOff val="80000"/>
                      </a:schemeClr>
                    </a:solidFill>
                  </a:tcPr>
                </a:tc>
                <a:extLst>
                  <a:ext uri="{0D108BD9-81ED-4DB2-BD59-A6C34878D82A}">
                    <a16:rowId xmlns:a16="http://schemas.microsoft.com/office/drawing/2014/main" val="10002"/>
                  </a:ext>
                </a:extLst>
              </a:tr>
              <a:tr h="171450">
                <a:tc>
                  <a:txBody>
                    <a:bodyPr/>
                    <a:lstStyle/>
                    <a:p>
                      <a:pPr algn="ctr" fontAlgn="ctr"/>
                      <a:r>
                        <a:rPr lang="zh-CN" altLang="en-US" sz="1300" b="0" i="0" u="none" strike="noStrike" kern="1200">
                          <a:solidFill>
                            <a:srgbClr val="000000"/>
                          </a:solidFill>
                          <a:effectLst/>
                          <a:latin typeface="+mn-ea"/>
                          <a:ea typeface="+mn-ea"/>
                          <a:cs typeface="+mn-cs"/>
                        </a:rPr>
                        <a:t>孔雀城</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2660</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23.43</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9346</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21.90</a:t>
                      </a:r>
                    </a:p>
                  </a:txBody>
                  <a:tcPr marL="9525" marR="9525" marT="9525" marB="0" anchor="ctr">
                    <a:solidFill>
                      <a:schemeClr val="tx2">
                        <a:lumMod val="20000"/>
                        <a:lumOff val="80000"/>
                      </a:schemeClr>
                    </a:solidFill>
                  </a:tcPr>
                </a:tc>
                <a:extLst>
                  <a:ext uri="{0D108BD9-81ED-4DB2-BD59-A6C34878D82A}">
                    <a16:rowId xmlns:a16="http://schemas.microsoft.com/office/drawing/2014/main" val="10003"/>
                  </a:ext>
                </a:extLst>
              </a:tr>
              <a:tr h="171450">
                <a:tc>
                  <a:txBody>
                    <a:bodyPr/>
                    <a:lstStyle/>
                    <a:p>
                      <a:pPr algn="ctr" fontAlgn="ctr"/>
                      <a:r>
                        <a:rPr lang="zh-CN" altLang="en-US" sz="1300" b="0" i="0" u="none" strike="noStrike" kern="1200">
                          <a:solidFill>
                            <a:srgbClr val="000000"/>
                          </a:solidFill>
                          <a:effectLst/>
                          <a:latin typeface="+mn-ea"/>
                          <a:ea typeface="+mn-ea"/>
                          <a:cs typeface="+mn-cs"/>
                        </a:rPr>
                        <a:t>金海太阳公园</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1522</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14.96</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9363</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14.01</a:t>
                      </a:r>
                    </a:p>
                  </a:txBody>
                  <a:tcPr marL="9525" marR="9525" marT="9525" marB="0" anchor="ctr">
                    <a:solidFill>
                      <a:schemeClr val="tx2">
                        <a:lumMod val="20000"/>
                        <a:lumOff val="80000"/>
                      </a:schemeClr>
                    </a:solidFill>
                  </a:tcPr>
                </a:tc>
                <a:extLst>
                  <a:ext uri="{0D108BD9-81ED-4DB2-BD59-A6C34878D82A}">
                    <a16:rowId xmlns:a16="http://schemas.microsoft.com/office/drawing/2014/main" val="10004"/>
                  </a:ext>
                </a:extLst>
              </a:tr>
              <a:tr h="171450">
                <a:tc>
                  <a:txBody>
                    <a:bodyPr/>
                    <a:lstStyle/>
                    <a:p>
                      <a:pPr algn="ctr" fontAlgn="ctr"/>
                      <a:r>
                        <a:rPr lang="zh-CN" altLang="en-US" sz="1300" b="0" i="0" u="none" strike="noStrike" kern="1200">
                          <a:solidFill>
                            <a:srgbClr val="000000"/>
                          </a:solidFill>
                          <a:effectLst/>
                          <a:latin typeface="+mn-ea"/>
                          <a:ea typeface="+mn-ea"/>
                          <a:cs typeface="+mn-cs"/>
                        </a:rPr>
                        <a:t>绿宸万华城</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1093</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10.28</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6968</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7.16</a:t>
                      </a:r>
                    </a:p>
                  </a:txBody>
                  <a:tcPr marL="9525" marR="9525" marT="9525" marB="0" anchor="ctr">
                    <a:solidFill>
                      <a:schemeClr val="tx2">
                        <a:lumMod val="20000"/>
                        <a:lumOff val="80000"/>
                      </a:schemeClr>
                    </a:solidFill>
                  </a:tcPr>
                </a:tc>
                <a:extLst>
                  <a:ext uri="{0D108BD9-81ED-4DB2-BD59-A6C34878D82A}">
                    <a16:rowId xmlns:a16="http://schemas.microsoft.com/office/drawing/2014/main" val="10005"/>
                  </a:ext>
                </a:extLst>
              </a:tr>
              <a:tr h="171450">
                <a:tc>
                  <a:txBody>
                    <a:bodyPr/>
                    <a:lstStyle/>
                    <a:p>
                      <a:pPr algn="ctr" fontAlgn="ctr"/>
                      <a:r>
                        <a:rPr lang="zh-CN" altLang="en-US" sz="1300" b="0" i="0" u="none" strike="noStrike" kern="1200">
                          <a:solidFill>
                            <a:srgbClr val="000000"/>
                          </a:solidFill>
                          <a:effectLst/>
                          <a:latin typeface="+mn-ea"/>
                          <a:ea typeface="+mn-ea"/>
                          <a:cs typeface="+mn-cs"/>
                        </a:rPr>
                        <a:t>牛驼温泉孔雀城</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931</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11.66</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7681</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8.96</a:t>
                      </a:r>
                    </a:p>
                  </a:txBody>
                  <a:tcPr marL="9525" marR="9525" marT="9525" marB="0" anchor="ctr">
                    <a:solidFill>
                      <a:schemeClr val="tx2">
                        <a:lumMod val="20000"/>
                        <a:lumOff val="80000"/>
                      </a:schemeClr>
                    </a:solidFill>
                  </a:tcPr>
                </a:tc>
                <a:extLst>
                  <a:ext uri="{0D108BD9-81ED-4DB2-BD59-A6C34878D82A}">
                    <a16:rowId xmlns:a16="http://schemas.microsoft.com/office/drawing/2014/main" val="10006"/>
                  </a:ext>
                </a:extLst>
              </a:tr>
              <a:tr h="171450">
                <a:tc>
                  <a:txBody>
                    <a:bodyPr/>
                    <a:lstStyle/>
                    <a:p>
                      <a:pPr algn="ctr" fontAlgn="ctr"/>
                      <a:r>
                        <a:rPr lang="zh-CN" altLang="en-US" sz="1300" b="0" i="0" u="none" strike="noStrike" kern="1200">
                          <a:solidFill>
                            <a:srgbClr val="000000"/>
                          </a:solidFill>
                          <a:effectLst/>
                          <a:latin typeface="+mn-ea"/>
                          <a:ea typeface="+mn-ea"/>
                          <a:cs typeface="+mn-cs"/>
                        </a:rPr>
                        <a:t>福缘小区</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793</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6.82</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9149</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6.24</a:t>
                      </a:r>
                    </a:p>
                  </a:txBody>
                  <a:tcPr marL="9525" marR="9525" marT="9525" marB="0" anchor="ctr">
                    <a:solidFill>
                      <a:schemeClr val="tx2">
                        <a:lumMod val="20000"/>
                        <a:lumOff val="80000"/>
                      </a:schemeClr>
                    </a:solidFill>
                  </a:tcPr>
                </a:tc>
                <a:extLst>
                  <a:ext uri="{0D108BD9-81ED-4DB2-BD59-A6C34878D82A}">
                    <a16:rowId xmlns:a16="http://schemas.microsoft.com/office/drawing/2014/main" val="10007"/>
                  </a:ext>
                </a:extLst>
              </a:tr>
              <a:tr h="171450">
                <a:tc>
                  <a:txBody>
                    <a:bodyPr/>
                    <a:lstStyle/>
                    <a:p>
                      <a:pPr algn="ctr" fontAlgn="ctr"/>
                      <a:r>
                        <a:rPr lang="zh-CN" altLang="en-US" sz="1300" b="0" i="0" u="none" strike="noStrike" kern="1200">
                          <a:solidFill>
                            <a:srgbClr val="000000"/>
                          </a:solidFill>
                          <a:effectLst/>
                          <a:latin typeface="+mn-ea"/>
                          <a:ea typeface="+mn-ea"/>
                          <a:cs typeface="+mn-cs"/>
                        </a:rPr>
                        <a:t>天顺家园</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696</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6.39</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8022</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5.12</a:t>
                      </a:r>
                    </a:p>
                  </a:txBody>
                  <a:tcPr marL="9525" marR="9525" marT="9525" marB="0" anchor="ctr">
                    <a:solidFill>
                      <a:schemeClr val="tx2">
                        <a:lumMod val="20000"/>
                        <a:lumOff val="80000"/>
                      </a:schemeClr>
                    </a:solidFill>
                  </a:tcPr>
                </a:tc>
                <a:extLst>
                  <a:ext uri="{0D108BD9-81ED-4DB2-BD59-A6C34878D82A}">
                    <a16:rowId xmlns:a16="http://schemas.microsoft.com/office/drawing/2014/main" val="10008"/>
                  </a:ext>
                </a:extLst>
              </a:tr>
              <a:tr h="171450">
                <a:tc>
                  <a:txBody>
                    <a:bodyPr/>
                    <a:lstStyle/>
                    <a:p>
                      <a:pPr algn="ctr" fontAlgn="ctr"/>
                      <a:r>
                        <a:rPr lang="zh-CN" altLang="en-US" sz="1300" b="0" i="0" u="none" strike="noStrike" kern="1200">
                          <a:solidFill>
                            <a:srgbClr val="000000"/>
                          </a:solidFill>
                          <a:effectLst/>
                          <a:latin typeface="+mn-ea"/>
                          <a:ea typeface="+mn-ea"/>
                          <a:cs typeface="+mn-cs"/>
                        </a:rPr>
                        <a:t>溪湖公馆</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532</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4.01</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mn-ea"/>
                          <a:ea typeface="+mn-ea"/>
                          <a:cs typeface="+mn-cs"/>
                        </a:rPr>
                        <a:t>8074</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3.24</a:t>
                      </a:r>
                    </a:p>
                  </a:txBody>
                  <a:tcPr marL="9525" marR="9525" marT="9525" marB="0" anchor="ctr">
                    <a:solidFill>
                      <a:schemeClr val="tx2">
                        <a:lumMod val="20000"/>
                        <a:lumOff val="80000"/>
                      </a:schemeClr>
                    </a:solidFill>
                  </a:tcPr>
                </a:tc>
                <a:extLst>
                  <a:ext uri="{0D108BD9-81ED-4DB2-BD59-A6C34878D82A}">
                    <a16:rowId xmlns:a16="http://schemas.microsoft.com/office/drawing/2014/main" val="10009"/>
                  </a:ext>
                </a:extLst>
              </a:tr>
              <a:tr h="171450">
                <a:tc>
                  <a:txBody>
                    <a:bodyPr/>
                    <a:lstStyle/>
                    <a:p>
                      <a:pPr algn="ctr" fontAlgn="ctr"/>
                      <a:r>
                        <a:rPr lang="zh-CN" altLang="en-US" sz="1300" b="0" i="0" u="none" strike="noStrike" kern="1200" dirty="0">
                          <a:solidFill>
                            <a:srgbClr val="000000"/>
                          </a:solidFill>
                          <a:effectLst/>
                          <a:latin typeface="+mn-ea"/>
                          <a:ea typeface="+mn-ea"/>
                          <a:cs typeface="+mn-cs"/>
                        </a:rPr>
                        <a:t>东郦湖</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500</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4.03</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7974</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mn-ea"/>
                          <a:ea typeface="+mn-ea"/>
                          <a:cs typeface="+mn-cs"/>
                        </a:rPr>
                        <a:t>3.22</a:t>
                      </a:r>
                    </a:p>
                  </a:txBody>
                  <a:tcPr marL="9525" marR="9525" marT="9525" marB="0" anchor="ctr">
                    <a:solidFill>
                      <a:schemeClr val="tx2">
                        <a:lumMod val="20000"/>
                        <a:lumOff val="80000"/>
                      </a:schemeClr>
                    </a:solidFill>
                  </a:tcPr>
                </a:tc>
                <a:extLst>
                  <a:ext uri="{0D108BD9-81ED-4DB2-BD59-A6C34878D82A}">
                    <a16:rowId xmlns:a16="http://schemas.microsoft.com/office/drawing/2014/main" val="10010"/>
                  </a:ext>
                </a:extLst>
              </a:tr>
            </a:tbl>
          </a:graphicData>
        </a:graphic>
      </p:graphicFrame>
      <p:sp>
        <p:nvSpPr>
          <p:cNvPr id="8" name="矩形 7"/>
          <p:cNvSpPr/>
          <p:nvPr/>
        </p:nvSpPr>
        <p:spPr>
          <a:xfrm>
            <a:off x="1536857" y="609746"/>
            <a:ext cx="2684518" cy="327546"/>
          </a:xfrm>
          <a:prstGeom prst="rect">
            <a:avLst/>
          </a:prstGeom>
          <a:solidFill>
            <a:schemeClr val="accent6">
              <a:lumMod val="75000"/>
              <a:alpha val="46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400" b="1" dirty="0">
                <a:latin typeface="微软雅黑" pitchFamily="34" charset="-122"/>
                <a:ea typeface="微软雅黑" pitchFamily="34" charset="-122"/>
              </a:rPr>
              <a:t>8</a:t>
            </a:r>
            <a:r>
              <a:rPr lang="zh-CN" altLang="en-US" sz="1400" b="1" dirty="0">
                <a:latin typeface="微软雅黑" pitchFamily="34" charset="-122"/>
                <a:ea typeface="微软雅黑" pitchFamily="34" charset="-122"/>
              </a:rPr>
              <a:t>月项目成交排行</a:t>
            </a:r>
            <a:r>
              <a:rPr lang="en-US" altLang="zh-CN" sz="1400" b="1" dirty="0">
                <a:latin typeface="微软雅黑" pitchFamily="34" charset="-122"/>
                <a:ea typeface="微软雅黑" pitchFamily="34" charset="-122"/>
              </a:rPr>
              <a:t>TOP10</a:t>
            </a:r>
            <a:endParaRPr lang="zh-CN" altLang="en-US" sz="1400" b="1" dirty="0">
              <a:latin typeface="微软雅黑" pitchFamily="34" charset="-122"/>
              <a:ea typeface="微软雅黑" pitchFamily="34" charset="-122"/>
            </a:endParaRPr>
          </a:p>
        </p:txBody>
      </p:sp>
      <p:sp>
        <p:nvSpPr>
          <p:cNvPr id="9" name="矩形 8"/>
          <p:cNvSpPr/>
          <p:nvPr/>
        </p:nvSpPr>
        <p:spPr>
          <a:xfrm>
            <a:off x="1536857" y="3686391"/>
            <a:ext cx="2684518" cy="327546"/>
          </a:xfrm>
          <a:prstGeom prst="rect">
            <a:avLst/>
          </a:prstGeom>
          <a:solidFill>
            <a:schemeClr val="accent6">
              <a:lumMod val="75000"/>
              <a:alpha val="46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400" b="1" dirty="0">
                <a:latin typeface="微软雅黑" pitchFamily="34" charset="-122"/>
                <a:ea typeface="微软雅黑" pitchFamily="34" charset="-122"/>
              </a:rPr>
              <a:t>1-8</a:t>
            </a:r>
            <a:r>
              <a:rPr lang="zh-CN" altLang="en-US" sz="1400" b="1" dirty="0">
                <a:latin typeface="微软雅黑" pitchFamily="34" charset="-122"/>
                <a:ea typeface="微软雅黑" pitchFamily="34" charset="-122"/>
              </a:rPr>
              <a:t>月项目成交排行</a:t>
            </a:r>
            <a:r>
              <a:rPr lang="en-US" altLang="zh-CN" sz="1400" b="1" dirty="0">
                <a:latin typeface="微软雅黑" pitchFamily="34" charset="-122"/>
                <a:ea typeface="微软雅黑" pitchFamily="34" charset="-122"/>
              </a:rPr>
              <a:t>TOP10</a:t>
            </a:r>
            <a:endParaRPr lang="zh-CN" altLang="en-US" sz="1400" b="1" dirty="0">
              <a:latin typeface="微软雅黑" pitchFamily="34" charset="-122"/>
              <a:ea typeface="微软雅黑" pitchFamily="34" charset="-122"/>
            </a:endParaRPr>
          </a:p>
        </p:txBody>
      </p:sp>
    </p:spTree>
    <p:extLst>
      <p:ext uri="{BB962C8B-B14F-4D97-AF65-F5344CB8AC3E}">
        <p14:creationId xmlns:p14="http://schemas.microsoft.com/office/powerpoint/2010/main" val="19879316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香河</a:t>
            </a:r>
            <a:r>
              <a:rPr lang="en-US" altLang="zh-CN" dirty="0"/>
              <a:t>| </a:t>
            </a:r>
            <a:r>
              <a:rPr lang="zh-CN" altLang="en-US" sz="1800" dirty="0">
                <a:solidFill>
                  <a:schemeClr val="tx1">
                    <a:lumMod val="75000"/>
                    <a:lumOff val="25000"/>
                  </a:schemeClr>
                </a:solidFill>
              </a:rPr>
              <a:t>土地市场</a:t>
            </a:r>
          </a:p>
        </p:txBody>
      </p:sp>
      <p:sp>
        <p:nvSpPr>
          <p:cNvPr id="4" name="灯片编号占位符 3"/>
          <p:cNvSpPr>
            <a:spLocks noGrp="1"/>
          </p:cNvSpPr>
          <p:nvPr>
            <p:ph type="sldNum" sz="quarter" idx="4"/>
          </p:nvPr>
        </p:nvSpPr>
        <p:spPr/>
        <p:txBody>
          <a:bodyPr/>
          <a:lstStyle/>
          <a:p>
            <a:pPr>
              <a:defRPr/>
            </a:pPr>
            <a:fld id="{3E8B6F27-EC4F-B34E-9F32-10CC92E9AB18}" type="slidenum">
              <a:rPr lang="zh-CN" altLang="en-US" smtClean="0"/>
              <a:pPr>
                <a:defRPr/>
              </a:pPr>
              <a:t>58</a:t>
            </a:fld>
            <a:endParaRPr lang="zh-CN" altLang="en-US" dirty="0"/>
          </a:p>
        </p:txBody>
      </p:sp>
      <p:sp>
        <p:nvSpPr>
          <p:cNvPr id="10" name="TextBox 9"/>
          <p:cNvSpPr txBox="1"/>
          <p:nvPr/>
        </p:nvSpPr>
        <p:spPr>
          <a:xfrm>
            <a:off x="2215486" y="4575665"/>
            <a:ext cx="4884539" cy="307777"/>
          </a:xfrm>
          <a:prstGeom prst="rect">
            <a:avLst/>
          </a:prstGeom>
          <a:noFill/>
        </p:spPr>
        <p:txBody>
          <a:bodyPr wrap="square" rtlCol="0">
            <a:spAutoFit/>
          </a:bodyPr>
          <a:lstStyle/>
          <a:p>
            <a:pPr algn="ctr"/>
            <a:r>
              <a:rPr lang="en-US" altLang="zh-CN" sz="1400" b="1" dirty="0">
                <a:solidFill>
                  <a:schemeClr val="tx1">
                    <a:lumMod val="50000"/>
                  </a:schemeClr>
                </a:solidFill>
                <a:latin typeface="微软雅黑" pitchFamily="34" charset="-122"/>
                <a:ea typeface="微软雅黑" pitchFamily="34" charset="-122"/>
              </a:rPr>
              <a:t>2016.01-2016.09</a:t>
            </a:r>
            <a:r>
              <a:rPr lang="zh-CN" altLang="en-US" sz="1400" b="1" dirty="0">
                <a:solidFill>
                  <a:schemeClr val="tx1">
                    <a:lumMod val="50000"/>
                  </a:schemeClr>
                </a:solidFill>
                <a:latin typeface="微软雅黑" pitchFamily="34" charset="-122"/>
                <a:ea typeface="微软雅黑" pitchFamily="34" charset="-122"/>
              </a:rPr>
              <a:t>香河土地市场成交情况</a:t>
            </a:r>
          </a:p>
        </p:txBody>
      </p:sp>
      <p:graphicFrame>
        <p:nvGraphicFramePr>
          <p:cNvPr id="11" name="表格 10"/>
          <p:cNvGraphicFramePr>
            <a:graphicFrameLocks noGrp="1"/>
          </p:cNvGraphicFramePr>
          <p:nvPr>
            <p:extLst>
              <p:ext uri="{D42A27DB-BD31-4B8C-83A1-F6EECF244321}">
                <p14:modId xmlns:p14="http://schemas.microsoft.com/office/powerpoint/2010/main" val="1351490054"/>
              </p:ext>
            </p:extLst>
          </p:nvPr>
        </p:nvGraphicFramePr>
        <p:xfrm>
          <a:off x="692673" y="4883442"/>
          <a:ext cx="7858914" cy="1728187"/>
        </p:xfrm>
        <a:graphic>
          <a:graphicData uri="http://schemas.openxmlformats.org/drawingml/2006/table">
            <a:tbl>
              <a:tblPr>
                <a:tableStyleId>{5C22544A-7EE6-4342-B048-85BDC9FD1C3A}</a:tableStyleId>
              </a:tblPr>
              <a:tblGrid>
                <a:gridCol w="1113729">
                  <a:extLst>
                    <a:ext uri="{9D8B030D-6E8A-4147-A177-3AD203B41FA5}">
                      <a16:colId xmlns:a16="http://schemas.microsoft.com/office/drawing/2014/main" val="20000"/>
                    </a:ext>
                  </a:extLst>
                </a:gridCol>
                <a:gridCol w="617517">
                  <a:extLst>
                    <a:ext uri="{9D8B030D-6E8A-4147-A177-3AD203B41FA5}">
                      <a16:colId xmlns:a16="http://schemas.microsoft.com/office/drawing/2014/main" val="20001"/>
                    </a:ext>
                  </a:extLst>
                </a:gridCol>
                <a:gridCol w="1235034">
                  <a:extLst>
                    <a:ext uri="{9D8B030D-6E8A-4147-A177-3AD203B41FA5}">
                      <a16:colId xmlns:a16="http://schemas.microsoft.com/office/drawing/2014/main" val="20002"/>
                    </a:ext>
                  </a:extLst>
                </a:gridCol>
                <a:gridCol w="1235034">
                  <a:extLst>
                    <a:ext uri="{9D8B030D-6E8A-4147-A177-3AD203B41FA5}">
                      <a16:colId xmlns:a16="http://schemas.microsoft.com/office/drawing/2014/main" val="20003"/>
                    </a:ext>
                  </a:extLst>
                </a:gridCol>
                <a:gridCol w="1235034">
                  <a:extLst>
                    <a:ext uri="{9D8B030D-6E8A-4147-A177-3AD203B41FA5}">
                      <a16:colId xmlns:a16="http://schemas.microsoft.com/office/drawing/2014/main" val="20004"/>
                    </a:ext>
                  </a:extLst>
                </a:gridCol>
                <a:gridCol w="1235034">
                  <a:extLst>
                    <a:ext uri="{9D8B030D-6E8A-4147-A177-3AD203B41FA5}">
                      <a16:colId xmlns:a16="http://schemas.microsoft.com/office/drawing/2014/main" val="20005"/>
                    </a:ext>
                  </a:extLst>
                </a:gridCol>
                <a:gridCol w="1187532">
                  <a:extLst>
                    <a:ext uri="{9D8B030D-6E8A-4147-A177-3AD203B41FA5}">
                      <a16:colId xmlns:a16="http://schemas.microsoft.com/office/drawing/2014/main" val="20006"/>
                    </a:ext>
                  </a:extLst>
                </a:gridCol>
              </a:tblGrid>
              <a:tr h="467252">
                <a:tc>
                  <a:txBody>
                    <a:bodyPr/>
                    <a:lstStyle/>
                    <a:p>
                      <a:pPr algn="ctr" fontAlgn="ctr"/>
                      <a:r>
                        <a:rPr lang="zh-CN" altLang="en-US" sz="1300" b="1" u="none" strike="noStrike" dirty="0">
                          <a:solidFill>
                            <a:schemeClr val="bg1"/>
                          </a:solidFill>
                          <a:effectLst/>
                          <a:latin typeface="微软雅黑" panose="020B0503020204020204" pitchFamily="34" charset="-122"/>
                          <a:ea typeface="微软雅黑" panose="020B0503020204020204" pitchFamily="34" charset="-122"/>
                        </a:rPr>
                        <a:t>　</a:t>
                      </a:r>
                      <a:endParaRPr lang="zh-CN" altLang="en-US" sz="1300" b="1" i="0" u="none" strike="noStrike" dirty="0">
                        <a:solidFill>
                          <a:schemeClr val="bg1"/>
                        </a:solidFill>
                        <a:effectLst/>
                        <a:latin typeface="微软雅黑" panose="020B0503020204020204" pitchFamily="34" charset="-122"/>
                        <a:ea typeface="微软雅黑" panose="020B0503020204020204" pitchFamily="34" charset="-122"/>
                      </a:endParaRPr>
                    </a:p>
                  </a:txBody>
                  <a:tcPr marL="9525" marR="9525" marT="9525" marB="0" anchor="ctr">
                    <a:solidFill>
                      <a:schemeClr val="tx2">
                        <a:lumMod val="60000"/>
                        <a:lumOff val="40000"/>
                      </a:schemeClr>
                    </a:solidFill>
                  </a:tcPr>
                </a:tc>
                <a:tc>
                  <a:txBody>
                    <a:bodyPr/>
                    <a:lstStyle/>
                    <a:p>
                      <a:pPr algn="ctr" fontAlgn="ctr"/>
                      <a:r>
                        <a:rPr lang="zh-CN" altLang="en-US" sz="1300" b="1" u="none" strike="noStrike" dirty="0">
                          <a:solidFill>
                            <a:schemeClr val="bg1"/>
                          </a:solidFill>
                          <a:effectLst/>
                          <a:latin typeface="微软雅黑" panose="020B0503020204020204" pitchFamily="34" charset="-122"/>
                          <a:ea typeface="微软雅黑" panose="020B0503020204020204" pitchFamily="34" charset="-122"/>
                        </a:rPr>
                        <a:t>宗数</a:t>
                      </a:r>
                      <a:endParaRPr lang="zh-CN" altLang="en-US" sz="1300" b="1" i="0" u="none" strike="noStrike" dirty="0">
                        <a:solidFill>
                          <a:schemeClr val="bg1"/>
                        </a:solidFill>
                        <a:effectLst/>
                        <a:latin typeface="微软雅黑" panose="020B0503020204020204" pitchFamily="34" charset="-122"/>
                        <a:ea typeface="微软雅黑" panose="020B0503020204020204" pitchFamily="34" charset="-122"/>
                      </a:endParaRPr>
                    </a:p>
                  </a:txBody>
                  <a:tcPr marL="9525" marR="9525" marT="9525" marB="0" anchor="ctr">
                    <a:solidFill>
                      <a:schemeClr val="tx2">
                        <a:lumMod val="60000"/>
                        <a:lumOff val="40000"/>
                      </a:schemeClr>
                    </a:solidFill>
                  </a:tcPr>
                </a:tc>
                <a:tc>
                  <a:txBody>
                    <a:bodyPr/>
                    <a:lstStyle/>
                    <a:p>
                      <a:pPr algn="ctr" fontAlgn="ctr"/>
                      <a:r>
                        <a:rPr lang="zh-CN" altLang="en-US" sz="1300" b="1" u="none" strike="noStrike" dirty="0">
                          <a:solidFill>
                            <a:schemeClr val="bg1"/>
                          </a:solidFill>
                          <a:effectLst/>
                          <a:latin typeface="微软雅黑" panose="020B0503020204020204" pitchFamily="34" charset="-122"/>
                          <a:ea typeface="微软雅黑" panose="020B0503020204020204" pitchFamily="34" charset="-122"/>
                        </a:rPr>
                        <a:t>土地出让金</a:t>
                      </a:r>
                      <a:endParaRPr lang="en-US" altLang="zh-CN" sz="1300" b="1" u="none" strike="noStrike" dirty="0">
                        <a:solidFill>
                          <a:schemeClr val="bg1"/>
                        </a:solidFill>
                        <a:effectLst/>
                        <a:latin typeface="微软雅黑" panose="020B0503020204020204" pitchFamily="34" charset="-122"/>
                        <a:ea typeface="微软雅黑" panose="020B0503020204020204" pitchFamily="34" charset="-122"/>
                      </a:endParaRPr>
                    </a:p>
                    <a:p>
                      <a:pPr algn="ctr" fontAlgn="ctr"/>
                      <a:r>
                        <a:rPr lang="zh-CN" altLang="en-US" sz="1300" b="1" u="none" strike="noStrike" dirty="0">
                          <a:solidFill>
                            <a:schemeClr val="bg1"/>
                          </a:solidFill>
                          <a:effectLst/>
                          <a:latin typeface="微软雅黑" panose="020B0503020204020204" pitchFamily="34" charset="-122"/>
                          <a:ea typeface="微软雅黑" panose="020B0503020204020204" pitchFamily="34" charset="-122"/>
                        </a:rPr>
                        <a:t>（亿元）</a:t>
                      </a:r>
                      <a:endParaRPr lang="zh-CN" altLang="en-US" sz="1300" b="1" i="0" u="none" strike="noStrike" dirty="0">
                        <a:solidFill>
                          <a:schemeClr val="bg1"/>
                        </a:solidFill>
                        <a:effectLst/>
                        <a:latin typeface="微软雅黑" panose="020B0503020204020204" pitchFamily="34" charset="-122"/>
                        <a:ea typeface="微软雅黑" panose="020B0503020204020204" pitchFamily="34" charset="-122"/>
                      </a:endParaRPr>
                    </a:p>
                  </a:txBody>
                  <a:tcPr marL="9525" marR="9525" marT="9525" marB="0" anchor="ctr">
                    <a:solidFill>
                      <a:schemeClr val="tx2">
                        <a:lumMod val="60000"/>
                        <a:lumOff val="40000"/>
                      </a:schemeClr>
                    </a:solidFill>
                  </a:tcPr>
                </a:tc>
                <a:tc>
                  <a:txBody>
                    <a:bodyPr/>
                    <a:lstStyle/>
                    <a:p>
                      <a:pPr algn="ctr" fontAlgn="ctr"/>
                      <a:r>
                        <a:rPr lang="zh-CN" altLang="en-US" sz="1300" b="1" u="none" strike="noStrike" dirty="0">
                          <a:solidFill>
                            <a:schemeClr val="bg1"/>
                          </a:solidFill>
                          <a:effectLst/>
                          <a:latin typeface="微软雅黑" panose="020B0503020204020204" pitchFamily="34" charset="-122"/>
                          <a:ea typeface="微软雅黑" panose="020B0503020204020204" pitchFamily="34" charset="-122"/>
                        </a:rPr>
                        <a:t>建设用地面积</a:t>
                      </a:r>
                      <a:endParaRPr lang="en-US" altLang="zh-CN" sz="1300" b="1" u="none" strike="noStrike" dirty="0">
                        <a:solidFill>
                          <a:schemeClr val="bg1"/>
                        </a:solidFill>
                        <a:effectLst/>
                        <a:latin typeface="微软雅黑" panose="020B0503020204020204" pitchFamily="34" charset="-122"/>
                        <a:ea typeface="微软雅黑" panose="020B0503020204020204" pitchFamily="34" charset="-122"/>
                      </a:endParaRPr>
                    </a:p>
                    <a:p>
                      <a:pPr algn="ctr" fontAlgn="ctr"/>
                      <a:r>
                        <a:rPr lang="en-US" altLang="zh-CN" sz="1300" b="1" u="none" strike="noStrike" dirty="0">
                          <a:solidFill>
                            <a:schemeClr val="bg1"/>
                          </a:solidFill>
                          <a:effectLst/>
                          <a:latin typeface="微软雅黑" panose="020B0503020204020204" pitchFamily="34" charset="-122"/>
                          <a:ea typeface="微软雅黑" panose="020B0503020204020204" pitchFamily="34" charset="-122"/>
                        </a:rPr>
                        <a:t>(</a:t>
                      </a:r>
                      <a:r>
                        <a:rPr lang="zh-CN" altLang="en-US" sz="1300" b="1" u="none" strike="noStrike" dirty="0">
                          <a:solidFill>
                            <a:schemeClr val="bg1"/>
                          </a:solidFill>
                          <a:effectLst/>
                          <a:latin typeface="微软雅黑" panose="020B0503020204020204" pitchFamily="34" charset="-122"/>
                          <a:ea typeface="微软雅黑" panose="020B0503020204020204" pitchFamily="34" charset="-122"/>
                        </a:rPr>
                        <a:t>万㎡</a:t>
                      </a:r>
                      <a:r>
                        <a:rPr lang="en-US" altLang="zh-CN" sz="1300" b="1" u="none" strike="noStrike" dirty="0">
                          <a:solidFill>
                            <a:schemeClr val="bg1"/>
                          </a:solidFill>
                          <a:effectLst/>
                          <a:latin typeface="微软雅黑" panose="020B0503020204020204" pitchFamily="34" charset="-122"/>
                          <a:ea typeface="微软雅黑" panose="020B0503020204020204" pitchFamily="34" charset="-122"/>
                        </a:rPr>
                        <a:t>)</a:t>
                      </a:r>
                      <a:endParaRPr lang="en-US" altLang="zh-CN" sz="1300" b="1" i="0" u="none" strike="noStrike" dirty="0">
                        <a:solidFill>
                          <a:schemeClr val="bg1"/>
                        </a:solidFill>
                        <a:effectLst/>
                        <a:latin typeface="微软雅黑" panose="020B0503020204020204" pitchFamily="34" charset="-122"/>
                        <a:ea typeface="微软雅黑" panose="020B0503020204020204" pitchFamily="34" charset="-122"/>
                      </a:endParaRPr>
                    </a:p>
                  </a:txBody>
                  <a:tcPr marL="9525" marR="9525" marT="9525" marB="0" anchor="ctr">
                    <a:solidFill>
                      <a:schemeClr val="tx2">
                        <a:lumMod val="60000"/>
                        <a:lumOff val="40000"/>
                      </a:schemeClr>
                    </a:solidFill>
                  </a:tcPr>
                </a:tc>
                <a:tc>
                  <a:txBody>
                    <a:bodyPr/>
                    <a:lstStyle/>
                    <a:p>
                      <a:pPr algn="ctr" fontAlgn="ctr"/>
                      <a:r>
                        <a:rPr lang="zh-CN" altLang="en-US" sz="1300" b="1" u="none" strike="noStrike" dirty="0">
                          <a:solidFill>
                            <a:schemeClr val="bg1"/>
                          </a:solidFill>
                          <a:effectLst/>
                          <a:latin typeface="微软雅黑" panose="020B0503020204020204" pitchFamily="34" charset="-122"/>
                          <a:ea typeface="微软雅黑" panose="020B0503020204020204" pitchFamily="34" charset="-122"/>
                        </a:rPr>
                        <a:t>规划建筑面积</a:t>
                      </a:r>
                      <a:endParaRPr lang="en-US" altLang="zh-CN" sz="1300" b="1" u="none" strike="noStrike" dirty="0">
                        <a:solidFill>
                          <a:schemeClr val="bg1"/>
                        </a:solidFill>
                        <a:effectLst/>
                        <a:latin typeface="微软雅黑" panose="020B0503020204020204" pitchFamily="34" charset="-122"/>
                        <a:ea typeface="微软雅黑" panose="020B0503020204020204" pitchFamily="34" charset="-122"/>
                      </a:endParaRPr>
                    </a:p>
                    <a:p>
                      <a:pPr algn="ctr" fontAlgn="ctr"/>
                      <a:r>
                        <a:rPr lang="en-US" altLang="zh-CN" sz="1300" b="1" u="none" strike="noStrike" dirty="0">
                          <a:solidFill>
                            <a:schemeClr val="bg1"/>
                          </a:solidFill>
                          <a:effectLst/>
                          <a:latin typeface="微软雅黑" panose="020B0503020204020204" pitchFamily="34" charset="-122"/>
                          <a:ea typeface="微软雅黑" panose="020B0503020204020204" pitchFamily="34" charset="-122"/>
                        </a:rPr>
                        <a:t>(</a:t>
                      </a:r>
                      <a:r>
                        <a:rPr lang="zh-CN" altLang="en-US" sz="1300" b="1" u="none" strike="noStrike" dirty="0">
                          <a:solidFill>
                            <a:schemeClr val="bg1"/>
                          </a:solidFill>
                          <a:effectLst/>
                          <a:latin typeface="微软雅黑" panose="020B0503020204020204" pitchFamily="34" charset="-122"/>
                          <a:ea typeface="微软雅黑" panose="020B0503020204020204" pitchFamily="34" charset="-122"/>
                        </a:rPr>
                        <a:t>万㎡</a:t>
                      </a:r>
                      <a:r>
                        <a:rPr lang="en-US" altLang="zh-CN" sz="1300" b="1" u="none" strike="noStrike" dirty="0">
                          <a:solidFill>
                            <a:schemeClr val="bg1"/>
                          </a:solidFill>
                          <a:effectLst/>
                          <a:latin typeface="微软雅黑" panose="020B0503020204020204" pitchFamily="34" charset="-122"/>
                          <a:ea typeface="微软雅黑" panose="020B0503020204020204" pitchFamily="34" charset="-122"/>
                        </a:rPr>
                        <a:t>)</a:t>
                      </a:r>
                      <a:endParaRPr lang="en-US" altLang="zh-CN" sz="1300" b="1" i="0" u="none" strike="noStrike" dirty="0">
                        <a:solidFill>
                          <a:schemeClr val="bg1"/>
                        </a:solidFill>
                        <a:effectLst/>
                        <a:latin typeface="微软雅黑" panose="020B0503020204020204" pitchFamily="34" charset="-122"/>
                        <a:ea typeface="微软雅黑" panose="020B0503020204020204" pitchFamily="34" charset="-122"/>
                      </a:endParaRPr>
                    </a:p>
                  </a:txBody>
                  <a:tcPr marL="9525" marR="9525" marT="9525" marB="0" anchor="ctr">
                    <a:solidFill>
                      <a:schemeClr val="tx2">
                        <a:lumMod val="60000"/>
                        <a:lumOff val="40000"/>
                      </a:schemeClr>
                    </a:solidFill>
                  </a:tcPr>
                </a:tc>
                <a:tc>
                  <a:txBody>
                    <a:bodyPr/>
                    <a:lstStyle/>
                    <a:p>
                      <a:pPr algn="ctr" fontAlgn="ctr"/>
                      <a:r>
                        <a:rPr lang="zh-CN" altLang="en-US" sz="1300" b="1" u="none" strike="noStrike" dirty="0">
                          <a:solidFill>
                            <a:schemeClr val="bg1"/>
                          </a:solidFill>
                          <a:effectLst/>
                          <a:latin typeface="微软雅黑" panose="020B0503020204020204" pitchFamily="34" charset="-122"/>
                          <a:ea typeface="微软雅黑" panose="020B0503020204020204" pitchFamily="34" charset="-122"/>
                        </a:rPr>
                        <a:t>成交楼面地价</a:t>
                      </a:r>
                      <a:endParaRPr lang="en-US" altLang="zh-CN" sz="1300" b="1" u="none" strike="noStrike" dirty="0">
                        <a:solidFill>
                          <a:schemeClr val="bg1"/>
                        </a:solidFill>
                        <a:effectLst/>
                        <a:latin typeface="微软雅黑" panose="020B0503020204020204" pitchFamily="34" charset="-122"/>
                        <a:ea typeface="微软雅黑" panose="020B0503020204020204" pitchFamily="34" charset="-122"/>
                      </a:endParaRPr>
                    </a:p>
                    <a:p>
                      <a:pPr algn="ctr" fontAlgn="ctr"/>
                      <a:r>
                        <a:rPr lang="en-US" altLang="zh-CN" sz="1300" b="1" u="none" strike="noStrike" dirty="0">
                          <a:solidFill>
                            <a:schemeClr val="bg1"/>
                          </a:solidFill>
                          <a:effectLst/>
                          <a:latin typeface="微软雅黑" panose="020B0503020204020204" pitchFamily="34" charset="-122"/>
                          <a:ea typeface="微软雅黑" panose="020B0503020204020204" pitchFamily="34" charset="-122"/>
                        </a:rPr>
                        <a:t>(</a:t>
                      </a:r>
                      <a:r>
                        <a:rPr lang="zh-CN" altLang="en-US" sz="1300" b="1" u="none" strike="noStrike" dirty="0">
                          <a:solidFill>
                            <a:schemeClr val="bg1"/>
                          </a:solidFill>
                          <a:effectLst/>
                          <a:latin typeface="微软雅黑" panose="020B0503020204020204" pitchFamily="34" charset="-122"/>
                          <a:ea typeface="微软雅黑" panose="020B0503020204020204" pitchFamily="34" charset="-122"/>
                        </a:rPr>
                        <a:t>元</a:t>
                      </a:r>
                      <a:r>
                        <a:rPr lang="en-US" altLang="zh-CN" sz="1300" b="1" u="none" strike="noStrike" dirty="0">
                          <a:solidFill>
                            <a:schemeClr val="bg1"/>
                          </a:solidFill>
                          <a:effectLst/>
                          <a:latin typeface="微软雅黑" panose="020B0503020204020204" pitchFamily="34" charset="-122"/>
                          <a:ea typeface="微软雅黑" panose="020B0503020204020204" pitchFamily="34" charset="-122"/>
                        </a:rPr>
                        <a:t>/㎡)</a:t>
                      </a:r>
                      <a:endParaRPr lang="en-US" altLang="zh-CN" sz="1300" b="1" i="0" u="none" strike="noStrike" dirty="0">
                        <a:solidFill>
                          <a:schemeClr val="bg1"/>
                        </a:solidFill>
                        <a:effectLst/>
                        <a:latin typeface="微软雅黑" panose="020B0503020204020204" pitchFamily="34" charset="-122"/>
                        <a:ea typeface="微软雅黑" panose="020B0503020204020204" pitchFamily="34" charset="-122"/>
                      </a:endParaRPr>
                    </a:p>
                  </a:txBody>
                  <a:tcPr marL="9525" marR="9525" marT="9525" marB="0" anchor="ctr">
                    <a:solidFill>
                      <a:schemeClr val="tx2">
                        <a:lumMod val="60000"/>
                        <a:lumOff val="40000"/>
                      </a:schemeClr>
                    </a:solidFill>
                  </a:tcPr>
                </a:tc>
                <a:tc>
                  <a:txBody>
                    <a:bodyPr/>
                    <a:lstStyle/>
                    <a:p>
                      <a:pPr algn="ctr" fontAlgn="ctr"/>
                      <a:r>
                        <a:rPr lang="zh-CN" altLang="en-US" sz="1300" b="1" u="none" strike="noStrike" dirty="0">
                          <a:solidFill>
                            <a:schemeClr val="bg1"/>
                          </a:solidFill>
                          <a:effectLst/>
                          <a:latin typeface="微软雅黑" panose="020B0503020204020204" pitchFamily="34" charset="-122"/>
                          <a:ea typeface="微软雅黑" panose="020B0503020204020204" pitchFamily="34" charset="-122"/>
                        </a:rPr>
                        <a:t>平均溢价率</a:t>
                      </a:r>
                      <a:endParaRPr lang="zh-CN" altLang="en-US" sz="1300" b="1" i="0" u="none" strike="noStrike" dirty="0">
                        <a:solidFill>
                          <a:schemeClr val="bg1"/>
                        </a:solidFill>
                        <a:effectLst/>
                        <a:latin typeface="微软雅黑" panose="020B0503020204020204" pitchFamily="34" charset="-122"/>
                        <a:ea typeface="微软雅黑" panose="020B0503020204020204" pitchFamily="34" charset="-122"/>
                      </a:endParaRPr>
                    </a:p>
                  </a:txBody>
                  <a:tcPr marL="9525" marR="9525" marT="9525" marB="0" anchor="ctr">
                    <a:solidFill>
                      <a:schemeClr val="tx2">
                        <a:lumMod val="60000"/>
                        <a:lumOff val="40000"/>
                      </a:schemeClr>
                    </a:solidFill>
                  </a:tcPr>
                </a:tc>
                <a:extLst>
                  <a:ext uri="{0D108BD9-81ED-4DB2-BD59-A6C34878D82A}">
                    <a16:rowId xmlns:a16="http://schemas.microsoft.com/office/drawing/2014/main" val="10000"/>
                  </a:ext>
                </a:extLst>
              </a:tr>
              <a:tr h="252187">
                <a:tc>
                  <a:txBody>
                    <a:bodyPr/>
                    <a:lstStyle/>
                    <a:p>
                      <a:pPr algn="ctr" fontAlgn="b"/>
                      <a:r>
                        <a:rPr lang="en-US" altLang="zh-CN" sz="1300" u="none" strike="noStrike" dirty="0">
                          <a:solidFill>
                            <a:schemeClr val="tx1">
                              <a:lumMod val="50000"/>
                            </a:schemeClr>
                          </a:solidFill>
                          <a:effectLst/>
                          <a:latin typeface="微软雅黑" panose="020B0503020204020204" pitchFamily="34" charset="-122"/>
                          <a:ea typeface="微软雅黑" panose="020B0503020204020204" pitchFamily="34" charset="-122"/>
                        </a:rPr>
                        <a:t>2016</a:t>
                      </a:r>
                      <a:r>
                        <a:rPr lang="zh-CN" altLang="en-US" sz="1300" u="none" strike="noStrike" dirty="0">
                          <a:solidFill>
                            <a:schemeClr val="tx1">
                              <a:lumMod val="50000"/>
                            </a:schemeClr>
                          </a:solidFill>
                          <a:effectLst/>
                          <a:latin typeface="微软雅黑" panose="020B0503020204020204" pitchFamily="34" charset="-122"/>
                          <a:ea typeface="微软雅黑" panose="020B0503020204020204" pitchFamily="34" charset="-122"/>
                        </a:rPr>
                        <a:t>年</a:t>
                      </a:r>
                      <a:r>
                        <a:rPr lang="en-US" altLang="zh-CN" sz="1300" u="none" strike="noStrike" dirty="0">
                          <a:solidFill>
                            <a:schemeClr val="tx1">
                              <a:lumMod val="50000"/>
                            </a:schemeClr>
                          </a:solidFill>
                          <a:effectLst/>
                          <a:latin typeface="微软雅黑" panose="020B0503020204020204" pitchFamily="34" charset="-122"/>
                          <a:ea typeface="微软雅黑" panose="020B0503020204020204" pitchFamily="34" charset="-122"/>
                        </a:rPr>
                        <a:t>1</a:t>
                      </a:r>
                      <a:r>
                        <a:rPr lang="zh-CN" altLang="en-US" sz="1300" u="none" strike="noStrike" dirty="0">
                          <a:solidFill>
                            <a:schemeClr val="tx1">
                              <a:lumMod val="50000"/>
                            </a:schemeClr>
                          </a:solidFill>
                          <a:effectLst/>
                          <a:latin typeface="微软雅黑" panose="020B0503020204020204" pitchFamily="34" charset="-122"/>
                          <a:ea typeface="微软雅黑" panose="020B0503020204020204" pitchFamily="34" charset="-122"/>
                        </a:rPr>
                        <a:t>月</a:t>
                      </a:r>
                      <a:endParaRPr lang="zh-CN" altLang="en-US" sz="1300" b="0" i="0" u="none" strike="noStrike" dirty="0">
                        <a:solidFill>
                          <a:schemeClr val="tx1">
                            <a:lumMod val="50000"/>
                          </a:schemeClr>
                        </a:solidFill>
                        <a:effectLst/>
                        <a:latin typeface="微软雅黑" panose="020B0503020204020204" pitchFamily="34" charset="-122"/>
                        <a:ea typeface="微软雅黑" panose="020B0503020204020204" pitchFamily="34" charset="-122"/>
                      </a:endParaRPr>
                    </a:p>
                  </a:txBody>
                  <a:tcPr marL="9525" marR="9525" marT="9525" marB="0" anchor="ctr">
                    <a:solidFill>
                      <a:schemeClr val="tx2">
                        <a:lumMod val="20000"/>
                        <a:lumOff val="80000"/>
                      </a:schemeClr>
                    </a:solidFill>
                  </a:tcPr>
                </a:tc>
                <a:tc>
                  <a:txBody>
                    <a:bodyPr/>
                    <a:lstStyle/>
                    <a:p>
                      <a:pPr algn="ctr" fontAlgn="b"/>
                      <a:r>
                        <a:rPr lang="en-US" altLang="zh-CN" sz="1300" u="none" strike="noStrike" dirty="0">
                          <a:solidFill>
                            <a:schemeClr val="tx1">
                              <a:lumMod val="50000"/>
                            </a:schemeClr>
                          </a:solidFill>
                          <a:effectLst/>
                          <a:latin typeface="微软雅黑" panose="020B0503020204020204" pitchFamily="34" charset="-122"/>
                          <a:ea typeface="微软雅黑" panose="020B0503020204020204" pitchFamily="34" charset="-122"/>
                        </a:rPr>
                        <a:t>12</a:t>
                      </a:r>
                      <a:endParaRPr lang="en-US" altLang="zh-CN" sz="1300" b="0" i="0" u="none" strike="noStrike" dirty="0">
                        <a:solidFill>
                          <a:schemeClr val="tx1">
                            <a:lumMod val="50000"/>
                          </a:schemeClr>
                        </a:solidFill>
                        <a:effectLst/>
                        <a:latin typeface="微软雅黑" panose="020B0503020204020204" pitchFamily="34" charset="-122"/>
                        <a:ea typeface="微软雅黑" panose="020B0503020204020204" pitchFamily="34" charset="-122"/>
                      </a:endParaRPr>
                    </a:p>
                  </a:txBody>
                  <a:tcPr marL="9525" marR="9525" marT="9525" marB="0" anchor="ctr">
                    <a:solidFill>
                      <a:schemeClr val="tx2">
                        <a:lumMod val="20000"/>
                        <a:lumOff val="80000"/>
                      </a:schemeClr>
                    </a:solidFill>
                  </a:tcPr>
                </a:tc>
                <a:tc>
                  <a:txBody>
                    <a:bodyPr/>
                    <a:lstStyle/>
                    <a:p>
                      <a:pPr algn="ctr" fontAlgn="b"/>
                      <a:r>
                        <a:rPr lang="en-US" altLang="zh-CN" sz="1300" u="none" strike="noStrike" dirty="0">
                          <a:solidFill>
                            <a:schemeClr val="tx1">
                              <a:lumMod val="50000"/>
                            </a:schemeClr>
                          </a:solidFill>
                          <a:effectLst/>
                          <a:latin typeface="微软雅黑" panose="020B0503020204020204" pitchFamily="34" charset="-122"/>
                          <a:ea typeface="微软雅黑" panose="020B0503020204020204" pitchFamily="34" charset="-122"/>
                        </a:rPr>
                        <a:t>5.5</a:t>
                      </a:r>
                      <a:endParaRPr lang="en-US" altLang="zh-CN" sz="1300" b="0" i="0" u="none" strike="noStrike" dirty="0">
                        <a:solidFill>
                          <a:schemeClr val="tx1">
                            <a:lumMod val="50000"/>
                          </a:schemeClr>
                        </a:solidFill>
                        <a:effectLst/>
                        <a:latin typeface="微软雅黑" panose="020B0503020204020204" pitchFamily="34" charset="-122"/>
                        <a:ea typeface="微软雅黑" panose="020B0503020204020204" pitchFamily="34" charset="-122"/>
                      </a:endParaRPr>
                    </a:p>
                  </a:txBody>
                  <a:tcPr marL="9525" marR="9525" marT="9525" marB="0" anchor="ctr">
                    <a:solidFill>
                      <a:schemeClr val="tx2">
                        <a:lumMod val="20000"/>
                        <a:lumOff val="80000"/>
                      </a:schemeClr>
                    </a:solidFill>
                  </a:tcPr>
                </a:tc>
                <a:tc>
                  <a:txBody>
                    <a:bodyPr/>
                    <a:lstStyle/>
                    <a:p>
                      <a:pPr algn="ctr" fontAlgn="b"/>
                      <a:r>
                        <a:rPr lang="en-US" altLang="zh-CN" sz="1300" u="none" strike="noStrike" dirty="0">
                          <a:solidFill>
                            <a:schemeClr val="tx1">
                              <a:lumMod val="50000"/>
                            </a:schemeClr>
                          </a:solidFill>
                          <a:effectLst/>
                          <a:latin typeface="微软雅黑" panose="020B0503020204020204" pitchFamily="34" charset="-122"/>
                          <a:ea typeface="微软雅黑" panose="020B0503020204020204" pitchFamily="34" charset="-122"/>
                        </a:rPr>
                        <a:t>20.3</a:t>
                      </a:r>
                      <a:endParaRPr lang="en-US" altLang="zh-CN" sz="1300" b="0" i="0" u="none" strike="noStrike" dirty="0">
                        <a:solidFill>
                          <a:schemeClr val="tx1">
                            <a:lumMod val="50000"/>
                          </a:schemeClr>
                        </a:solidFill>
                        <a:effectLst/>
                        <a:latin typeface="微软雅黑" panose="020B0503020204020204" pitchFamily="34" charset="-122"/>
                        <a:ea typeface="微软雅黑" panose="020B0503020204020204" pitchFamily="34" charset="-122"/>
                      </a:endParaRPr>
                    </a:p>
                  </a:txBody>
                  <a:tcPr marL="9525" marR="9525" marT="9525" marB="0" anchor="ctr">
                    <a:solidFill>
                      <a:schemeClr val="tx2">
                        <a:lumMod val="20000"/>
                        <a:lumOff val="80000"/>
                      </a:schemeClr>
                    </a:solidFill>
                  </a:tcPr>
                </a:tc>
                <a:tc>
                  <a:txBody>
                    <a:bodyPr/>
                    <a:lstStyle/>
                    <a:p>
                      <a:pPr algn="ctr" fontAlgn="b"/>
                      <a:r>
                        <a:rPr lang="en-US" altLang="zh-CN" sz="1300" u="none" strike="noStrike" dirty="0">
                          <a:solidFill>
                            <a:schemeClr val="tx1">
                              <a:lumMod val="50000"/>
                            </a:schemeClr>
                          </a:solidFill>
                          <a:effectLst/>
                          <a:latin typeface="微软雅黑" panose="020B0503020204020204" pitchFamily="34" charset="-122"/>
                          <a:ea typeface="微软雅黑" panose="020B0503020204020204" pitchFamily="34" charset="-122"/>
                        </a:rPr>
                        <a:t>52.5</a:t>
                      </a:r>
                      <a:endParaRPr lang="en-US" altLang="zh-CN" sz="1300" b="0" i="0" u="none" strike="noStrike" dirty="0">
                        <a:solidFill>
                          <a:schemeClr val="tx1">
                            <a:lumMod val="50000"/>
                          </a:schemeClr>
                        </a:solidFill>
                        <a:effectLst/>
                        <a:latin typeface="微软雅黑" panose="020B0503020204020204" pitchFamily="34" charset="-122"/>
                        <a:ea typeface="微软雅黑" panose="020B0503020204020204" pitchFamily="34" charset="-122"/>
                      </a:endParaRPr>
                    </a:p>
                  </a:txBody>
                  <a:tcPr marL="9525" marR="9525" marT="9525" marB="0" anchor="ctr">
                    <a:solidFill>
                      <a:schemeClr val="tx2">
                        <a:lumMod val="20000"/>
                        <a:lumOff val="80000"/>
                      </a:schemeClr>
                    </a:solidFill>
                  </a:tcPr>
                </a:tc>
                <a:tc>
                  <a:txBody>
                    <a:bodyPr/>
                    <a:lstStyle/>
                    <a:p>
                      <a:pPr algn="ctr" fontAlgn="b"/>
                      <a:r>
                        <a:rPr lang="en-US" altLang="zh-CN" sz="1300" u="none" strike="noStrike" dirty="0">
                          <a:solidFill>
                            <a:schemeClr val="tx1">
                              <a:lumMod val="50000"/>
                            </a:schemeClr>
                          </a:solidFill>
                          <a:effectLst/>
                          <a:latin typeface="微软雅黑" panose="020B0503020204020204" pitchFamily="34" charset="-122"/>
                          <a:ea typeface="微软雅黑" panose="020B0503020204020204" pitchFamily="34" charset="-122"/>
                        </a:rPr>
                        <a:t>1041</a:t>
                      </a:r>
                      <a:endParaRPr lang="en-US" altLang="zh-CN" sz="1300" b="0" i="0" u="none" strike="noStrike" dirty="0">
                        <a:solidFill>
                          <a:schemeClr val="tx1">
                            <a:lumMod val="50000"/>
                          </a:schemeClr>
                        </a:solidFill>
                        <a:effectLst/>
                        <a:latin typeface="微软雅黑" panose="020B0503020204020204" pitchFamily="34" charset="-122"/>
                        <a:ea typeface="微软雅黑" panose="020B0503020204020204" pitchFamily="34" charset="-122"/>
                      </a:endParaRPr>
                    </a:p>
                  </a:txBody>
                  <a:tcPr marL="9525" marR="9525" marT="9525" marB="0" anchor="ctr">
                    <a:solidFill>
                      <a:schemeClr val="tx2">
                        <a:lumMod val="20000"/>
                        <a:lumOff val="80000"/>
                      </a:schemeClr>
                    </a:solidFill>
                  </a:tcPr>
                </a:tc>
                <a:tc>
                  <a:txBody>
                    <a:bodyPr/>
                    <a:lstStyle/>
                    <a:p>
                      <a:pPr algn="ctr" fontAlgn="b"/>
                      <a:r>
                        <a:rPr lang="en-US" altLang="zh-CN" sz="1300" u="none" strike="noStrike" dirty="0">
                          <a:solidFill>
                            <a:schemeClr val="tx1">
                              <a:lumMod val="50000"/>
                            </a:schemeClr>
                          </a:solidFill>
                          <a:effectLst/>
                          <a:latin typeface="微软雅黑" panose="020B0503020204020204" pitchFamily="34" charset="-122"/>
                          <a:ea typeface="微软雅黑" panose="020B0503020204020204" pitchFamily="34" charset="-122"/>
                        </a:rPr>
                        <a:t>0.55%</a:t>
                      </a:r>
                      <a:endParaRPr lang="en-US" altLang="zh-CN" sz="1300" b="0" i="0" u="none" strike="noStrike" dirty="0">
                        <a:solidFill>
                          <a:schemeClr val="tx1">
                            <a:lumMod val="50000"/>
                          </a:schemeClr>
                        </a:solidFill>
                        <a:effectLst/>
                        <a:latin typeface="微软雅黑" panose="020B0503020204020204" pitchFamily="34" charset="-122"/>
                        <a:ea typeface="微软雅黑" panose="020B0503020204020204" pitchFamily="34" charset="-122"/>
                      </a:endParaRPr>
                    </a:p>
                  </a:txBody>
                  <a:tcPr marL="9525" marR="9525" marT="9525" marB="0" anchor="ctr">
                    <a:solidFill>
                      <a:schemeClr val="tx2">
                        <a:lumMod val="20000"/>
                        <a:lumOff val="80000"/>
                      </a:schemeClr>
                    </a:solidFill>
                  </a:tcPr>
                </a:tc>
                <a:extLst>
                  <a:ext uri="{0D108BD9-81ED-4DB2-BD59-A6C34878D82A}">
                    <a16:rowId xmlns:a16="http://schemas.microsoft.com/office/drawing/2014/main" val="10001"/>
                  </a:ext>
                </a:extLst>
              </a:tr>
              <a:tr h="252187">
                <a:tc>
                  <a:txBody>
                    <a:bodyPr/>
                    <a:lstStyle/>
                    <a:p>
                      <a:pPr algn="ctr" fontAlgn="ctr"/>
                      <a:r>
                        <a:rPr lang="en-US" altLang="zh-CN" sz="1300" u="none" strike="noStrike" dirty="0">
                          <a:solidFill>
                            <a:schemeClr val="tx1">
                              <a:lumMod val="50000"/>
                            </a:schemeClr>
                          </a:solidFill>
                          <a:effectLst/>
                          <a:latin typeface="微软雅黑" panose="020B0503020204020204" pitchFamily="34" charset="-122"/>
                          <a:ea typeface="微软雅黑" panose="020B0503020204020204" pitchFamily="34" charset="-122"/>
                        </a:rPr>
                        <a:t>2016</a:t>
                      </a:r>
                      <a:r>
                        <a:rPr lang="zh-CN" altLang="en-US" sz="1300" u="none" strike="noStrike" dirty="0">
                          <a:solidFill>
                            <a:schemeClr val="tx1">
                              <a:lumMod val="50000"/>
                            </a:schemeClr>
                          </a:solidFill>
                          <a:effectLst/>
                          <a:latin typeface="微软雅黑" panose="020B0503020204020204" pitchFamily="34" charset="-122"/>
                          <a:ea typeface="微软雅黑" panose="020B0503020204020204" pitchFamily="34" charset="-122"/>
                        </a:rPr>
                        <a:t>年</a:t>
                      </a:r>
                      <a:r>
                        <a:rPr lang="en-US" altLang="zh-CN" sz="1300" u="none" strike="noStrike" dirty="0">
                          <a:solidFill>
                            <a:schemeClr val="tx1">
                              <a:lumMod val="50000"/>
                            </a:schemeClr>
                          </a:solidFill>
                          <a:effectLst/>
                          <a:latin typeface="微软雅黑" panose="020B0503020204020204" pitchFamily="34" charset="-122"/>
                          <a:ea typeface="微软雅黑" panose="020B0503020204020204" pitchFamily="34" charset="-122"/>
                        </a:rPr>
                        <a:t>3</a:t>
                      </a:r>
                      <a:r>
                        <a:rPr lang="zh-CN" altLang="en-US" sz="1300" u="none" strike="noStrike" dirty="0">
                          <a:solidFill>
                            <a:schemeClr val="tx1">
                              <a:lumMod val="50000"/>
                            </a:schemeClr>
                          </a:solidFill>
                          <a:effectLst/>
                          <a:latin typeface="微软雅黑" panose="020B0503020204020204" pitchFamily="34" charset="-122"/>
                          <a:ea typeface="微软雅黑" panose="020B0503020204020204" pitchFamily="34" charset="-122"/>
                        </a:rPr>
                        <a:t>月</a:t>
                      </a:r>
                      <a:endParaRPr lang="zh-CN" altLang="en-US" sz="1300" b="0" i="0" u="none" strike="noStrike" dirty="0">
                        <a:solidFill>
                          <a:schemeClr val="tx1">
                            <a:lumMod val="50000"/>
                          </a:schemeClr>
                        </a:solidFill>
                        <a:effectLst/>
                        <a:latin typeface="微软雅黑" panose="020B0503020204020204" pitchFamily="34" charset="-122"/>
                        <a:ea typeface="微软雅黑" panose="020B0503020204020204" pitchFamily="34" charset="-122"/>
                      </a:endParaRPr>
                    </a:p>
                  </a:txBody>
                  <a:tcPr marL="9525" marR="9525" marT="9525" marB="0" anchor="ctr">
                    <a:solidFill>
                      <a:schemeClr val="tx2">
                        <a:lumMod val="20000"/>
                        <a:lumOff val="80000"/>
                      </a:schemeClr>
                    </a:solidFill>
                  </a:tcPr>
                </a:tc>
                <a:tc>
                  <a:txBody>
                    <a:bodyPr/>
                    <a:lstStyle/>
                    <a:p>
                      <a:pPr algn="ctr" fontAlgn="ctr"/>
                      <a:r>
                        <a:rPr lang="en-US" altLang="zh-CN" sz="1300" u="none" strike="noStrike" dirty="0">
                          <a:solidFill>
                            <a:schemeClr val="tx1">
                              <a:lumMod val="50000"/>
                            </a:schemeClr>
                          </a:solidFill>
                          <a:effectLst/>
                          <a:latin typeface="微软雅黑" panose="020B0503020204020204" pitchFamily="34" charset="-122"/>
                          <a:ea typeface="微软雅黑" panose="020B0503020204020204" pitchFamily="34" charset="-122"/>
                        </a:rPr>
                        <a:t>20</a:t>
                      </a:r>
                      <a:endParaRPr lang="en-US" altLang="zh-CN" sz="1300" b="0" i="0" u="none" strike="noStrike" dirty="0">
                        <a:solidFill>
                          <a:schemeClr val="tx1">
                            <a:lumMod val="50000"/>
                          </a:schemeClr>
                        </a:solidFill>
                        <a:effectLst/>
                        <a:latin typeface="微软雅黑" panose="020B0503020204020204" pitchFamily="34" charset="-122"/>
                        <a:ea typeface="微软雅黑" panose="020B0503020204020204" pitchFamily="34" charset="-122"/>
                      </a:endParaRPr>
                    </a:p>
                  </a:txBody>
                  <a:tcPr marL="9525" marR="9525" marT="9525" marB="0" anchor="ctr">
                    <a:solidFill>
                      <a:schemeClr val="tx2">
                        <a:lumMod val="20000"/>
                        <a:lumOff val="80000"/>
                      </a:schemeClr>
                    </a:solidFill>
                  </a:tcPr>
                </a:tc>
                <a:tc>
                  <a:txBody>
                    <a:bodyPr/>
                    <a:lstStyle/>
                    <a:p>
                      <a:pPr algn="ctr" fontAlgn="ctr"/>
                      <a:r>
                        <a:rPr lang="en-US" altLang="zh-CN" sz="1300" u="none" strike="noStrike">
                          <a:solidFill>
                            <a:schemeClr val="tx1">
                              <a:lumMod val="50000"/>
                            </a:schemeClr>
                          </a:solidFill>
                          <a:effectLst/>
                          <a:latin typeface="微软雅黑" panose="020B0503020204020204" pitchFamily="34" charset="-122"/>
                          <a:ea typeface="微软雅黑" panose="020B0503020204020204" pitchFamily="34" charset="-122"/>
                        </a:rPr>
                        <a:t>8.2</a:t>
                      </a:r>
                      <a:endParaRPr lang="en-US" altLang="zh-CN" sz="1300" b="0" i="0" u="none" strike="noStrike">
                        <a:solidFill>
                          <a:schemeClr val="tx1">
                            <a:lumMod val="50000"/>
                          </a:schemeClr>
                        </a:solidFill>
                        <a:effectLst/>
                        <a:latin typeface="微软雅黑" panose="020B0503020204020204" pitchFamily="34" charset="-122"/>
                        <a:ea typeface="微软雅黑" panose="020B0503020204020204" pitchFamily="34" charset="-122"/>
                      </a:endParaRPr>
                    </a:p>
                  </a:txBody>
                  <a:tcPr marL="9525" marR="9525" marT="9525" marB="0" anchor="ctr">
                    <a:solidFill>
                      <a:schemeClr val="tx2">
                        <a:lumMod val="20000"/>
                        <a:lumOff val="80000"/>
                      </a:schemeClr>
                    </a:solidFill>
                  </a:tcPr>
                </a:tc>
                <a:tc>
                  <a:txBody>
                    <a:bodyPr/>
                    <a:lstStyle/>
                    <a:p>
                      <a:pPr algn="ctr" fontAlgn="ctr"/>
                      <a:r>
                        <a:rPr lang="en-US" altLang="zh-CN" sz="1300" u="none" strike="noStrike" dirty="0">
                          <a:solidFill>
                            <a:schemeClr val="tx1">
                              <a:lumMod val="50000"/>
                            </a:schemeClr>
                          </a:solidFill>
                          <a:effectLst/>
                          <a:latin typeface="微软雅黑" panose="020B0503020204020204" pitchFamily="34" charset="-122"/>
                          <a:ea typeface="微软雅黑" panose="020B0503020204020204" pitchFamily="34" charset="-122"/>
                        </a:rPr>
                        <a:t>29.1</a:t>
                      </a:r>
                      <a:endParaRPr lang="en-US" altLang="zh-CN" sz="1300" b="0" i="0" u="none" strike="noStrike" dirty="0">
                        <a:solidFill>
                          <a:schemeClr val="tx1">
                            <a:lumMod val="50000"/>
                          </a:schemeClr>
                        </a:solidFill>
                        <a:effectLst/>
                        <a:latin typeface="微软雅黑" panose="020B0503020204020204" pitchFamily="34" charset="-122"/>
                        <a:ea typeface="微软雅黑" panose="020B0503020204020204" pitchFamily="34" charset="-122"/>
                      </a:endParaRPr>
                    </a:p>
                  </a:txBody>
                  <a:tcPr marL="9525" marR="9525" marT="9525" marB="0" anchor="ctr">
                    <a:solidFill>
                      <a:schemeClr val="tx2">
                        <a:lumMod val="20000"/>
                        <a:lumOff val="80000"/>
                      </a:schemeClr>
                    </a:solidFill>
                  </a:tcPr>
                </a:tc>
                <a:tc>
                  <a:txBody>
                    <a:bodyPr/>
                    <a:lstStyle/>
                    <a:p>
                      <a:pPr algn="ctr" fontAlgn="ctr"/>
                      <a:r>
                        <a:rPr lang="en-US" altLang="zh-CN" sz="1300" u="none" strike="noStrike" dirty="0">
                          <a:solidFill>
                            <a:schemeClr val="tx1">
                              <a:lumMod val="50000"/>
                            </a:schemeClr>
                          </a:solidFill>
                          <a:effectLst/>
                          <a:latin typeface="微软雅黑" panose="020B0503020204020204" pitchFamily="34" charset="-122"/>
                          <a:ea typeface="微软雅黑" panose="020B0503020204020204" pitchFamily="34" charset="-122"/>
                        </a:rPr>
                        <a:t>75.1</a:t>
                      </a:r>
                      <a:endParaRPr lang="en-US" altLang="zh-CN" sz="1300" b="0" i="0" u="none" strike="noStrike" dirty="0">
                        <a:solidFill>
                          <a:schemeClr val="tx1">
                            <a:lumMod val="50000"/>
                          </a:schemeClr>
                        </a:solidFill>
                        <a:effectLst/>
                        <a:latin typeface="微软雅黑" panose="020B0503020204020204" pitchFamily="34" charset="-122"/>
                        <a:ea typeface="微软雅黑" panose="020B0503020204020204" pitchFamily="34" charset="-122"/>
                      </a:endParaRPr>
                    </a:p>
                  </a:txBody>
                  <a:tcPr marL="9525" marR="9525" marT="9525" marB="0" anchor="ctr">
                    <a:solidFill>
                      <a:schemeClr val="tx2">
                        <a:lumMod val="20000"/>
                        <a:lumOff val="80000"/>
                      </a:schemeClr>
                    </a:solidFill>
                  </a:tcPr>
                </a:tc>
                <a:tc>
                  <a:txBody>
                    <a:bodyPr/>
                    <a:lstStyle/>
                    <a:p>
                      <a:pPr algn="ctr" fontAlgn="ctr"/>
                      <a:r>
                        <a:rPr lang="en-US" altLang="zh-CN" sz="1300" u="none" strike="noStrike" dirty="0">
                          <a:solidFill>
                            <a:schemeClr val="tx1">
                              <a:lumMod val="50000"/>
                            </a:schemeClr>
                          </a:solidFill>
                          <a:effectLst/>
                          <a:latin typeface="微软雅黑" panose="020B0503020204020204" pitchFamily="34" charset="-122"/>
                          <a:ea typeface="微软雅黑" panose="020B0503020204020204" pitchFamily="34" charset="-122"/>
                        </a:rPr>
                        <a:t>1086</a:t>
                      </a:r>
                      <a:endParaRPr lang="en-US" altLang="zh-CN" sz="1300" b="0" i="0" u="none" strike="noStrike" dirty="0">
                        <a:solidFill>
                          <a:schemeClr val="tx1">
                            <a:lumMod val="50000"/>
                          </a:schemeClr>
                        </a:solidFill>
                        <a:effectLst/>
                        <a:latin typeface="微软雅黑" panose="020B0503020204020204" pitchFamily="34" charset="-122"/>
                        <a:ea typeface="微软雅黑" panose="020B0503020204020204" pitchFamily="34" charset="-122"/>
                      </a:endParaRPr>
                    </a:p>
                  </a:txBody>
                  <a:tcPr marL="9525" marR="9525" marT="9525" marB="0" anchor="ctr">
                    <a:solidFill>
                      <a:schemeClr val="tx2">
                        <a:lumMod val="20000"/>
                        <a:lumOff val="80000"/>
                      </a:schemeClr>
                    </a:solidFill>
                  </a:tcPr>
                </a:tc>
                <a:tc>
                  <a:txBody>
                    <a:bodyPr/>
                    <a:lstStyle/>
                    <a:p>
                      <a:pPr algn="ctr" fontAlgn="ctr"/>
                      <a:r>
                        <a:rPr lang="en-US" altLang="zh-CN" sz="1300" u="none" strike="noStrike" dirty="0">
                          <a:solidFill>
                            <a:schemeClr val="tx1">
                              <a:lumMod val="50000"/>
                            </a:schemeClr>
                          </a:solidFill>
                          <a:effectLst/>
                          <a:latin typeface="微软雅黑" panose="020B0503020204020204" pitchFamily="34" charset="-122"/>
                          <a:ea typeface="微软雅黑" panose="020B0503020204020204" pitchFamily="34" charset="-122"/>
                        </a:rPr>
                        <a:t>0.48%</a:t>
                      </a:r>
                      <a:endParaRPr lang="en-US" altLang="zh-CN" sz="1300" b="0" i="0" u="none" strike="noStrike" dirty="0">
                        <a:solidFill>
                          <a:schemeClr val="tx1">
                            <a:lumMod val="50000"/>
                          </a:schemeClr>
                        </a:solidFill>
                        <a:effectLst/>
                        <a:latin typeface="微软雅黑" panose="020B0503020204020204" pitchFamily="34" charset="-122"/>
                        <a:ea typeface="微软雅黑" panose="020B0503020204020204" pitchFamily="34" charset="-122"/>
                      </a:endParaRPr>
                    </a:p>
                  </a:txBody>
                  <a:tcPr marL="9525" marR="9525" marT="9525" marB="0" anchor="ctr">
                    <a:solidFill>
                      <a:schemeClr val="tx2">
                        <a:lumMod val="20000"/>
                        <a:lumOff val="80000"/>
                      </a:schemeClr>
                    </a:solidFill>
                  </a:tcPr>
                </a:tc>
                <a:extLst>
                  <a:ext uri="{0D108BD9-81ED-4DB2-BD59-A6C34878D82A}">
                    <a16:rowId xmlns:a16="http://schemas.microsoft.com/office/drawing/2014/main" val="10002"/>
                  </a:ext>
                </a:extLst>
              </a:tr>
              <a:tr h="252187">
                <a:tc>
                  <a:txBody>
                    <a:bodyPr/>
                    <a:lstStyle/>
                    <a:p>
                      <a:pPr marL="0" marR="0" indent="0" algn="ctr" defTabSz="457200" rtl="0" eaLnBrk="1" fontAlgn="ctr" latinLnBrk="0" hangingPunct="1">
                        <a:lnSpc>
                          <a:spcPct val="100000"/>
                        </a:lnSpc>
                        <a:spcBef>
                          <a:spcPts val="0"/>
                        </a:spcBef>
                        <a:spcAft>
                          <a:spcPts val="0"/>
                        </a:spcAft>
                        <a:buClrTx/>
                        <a:buSzTx/>
                        <a:buFontTx/>
                        <a:buNone/>
                        <a:tabLst/>
                        <a:defRPr/>
                      </a:pPr>
                      <a:r>
                        <a:rPr lang="en-US" altLang="zh-CN" sz="1300" u="none" strike="noStrike" dirty="0">
                          <a:solidFill>
                            <a:schemeClr val="tx1">
                              <a:lumMod val="50000"/>
                            </a:schemeClr>
                          </a:solidFill>
                          <a:effectLst/>
                          <a:latin typeface="微软雅黑" panose="020B0503020204020204" pitchFamily="34" charset="-122"/>
                          <a:ea typeface="微软雅黑" panose="020B0503020204020204" pitchFamily="34" charset="-122"/>
                        </a:rPr>
                        <a:t>2016</a:t>
                      </a:r>
                      <a:r>
                        <a:rPr lang="zh-CN" altLang="en-US" sz="1300" u="none" strike="noStrike" dirty="0">
                          <a:solidFill>
                            <a:schemeClr val="tx1">
                              <a:lumMod val="50000"/>
                            </a:schemeClr>
                          </a:solidFill>
                          <a:effectLst/>
                          <a:latin typeface="微软雅黑" panose="020B0503020204020204" pitchFamily="34" charset="-122"/>
                          <a:ea typeface="微软雅黑" panose="020B0503020204020204" pitchFamily="34" charset="-122"/>
                        </a:rPr>
                        <a:t>年</a:t>
                      </a:r>
                      <a:r>
                        <a:rPr lang="en-US" altLang="zh-CN" sz="1300" u="none" strike="noStrike" dirty="0">
                          <a:solidFill>
                            <a:schemeClr val="tx1">
                              <a:lumMod val="50000"/>
                            </a:schemeClr>
                          </a:solidFill>
                          <a:effectLst/>
                          <a:latin typeface="微软雅黑" panose="020B0503020204020204" pitchFamily="34" charset="-122"/>
                          <a:ea typeface="微软雅黑" panose="020B0503020204020204" pitchFamily="34" charset="-122"/>
                        </a:rPr>
                        <a:t>6</a:t>
                      </a:r>
                      <a:r>
                        <a:rPr lang="zh-CN" altLang="en-US" sz="1300" u="none" strike="noStrike" dirty="0">
                          <a:solidFill>
                            <a:schemeClr val="tx1">
                              <a:lumMod val="50000"/>
                            </a:schemeClr>
                          </a:solidFill>
                          <a:effectLst/>
                          <a:latin typeface="微软雅黑" panose="020B0503020204020204" pitchFamily="34" charset="-122"/>
                          <a:ea typeface="微软雅黑" panose="020B0503020204020204" pitchFamily="34" charset="-122"/>
                        </a:rPr>
                        <a:t>月</a:t>
                      </a:r>
                      <a:endParaRPr lang="zh-CN" altLang="en-US" sz="1300" b="0" i="0" u="none" strike="noStrike" dirty="0">
                        <a:solidFill>
                          <a:schemeClr val="tx1">
                            <a:lumMod val="50000"/>
                          </a:schemeClr>
                        </a:solidFill>
                        <a:effectLst/>
                        <a:latin typeface="微软雅黑" panose="020B0503020204020204" pitchFamily="34" charset="-122"/>
                        <a:ea typeface="微软雅黑" panose="020B0503020204020204" pitchFamily="34" charset="-122"/>
                      </a:endParaRPr>
                    </a:p>
                  </a:txBody>
                  <a:tcPr marL="9525" marR="9525" marT="9525" marB="0" anchor="ctr">
                    <a:solidFill>
                      <a:schemeClr val="tx2">
                        <a:lumMod val="20000"/>
                        <a:lumOff val="80000"/>
                      </a:schemeClr>
                    </a:solidFill>
                  </a:tcPr>
                </a:tc>
                <a:tc>
                  <a:txBody>
                    <a:bodyPr/>
                    <a:lstStyle/>
                    <a:p>
                      <a:pPr algn="ctr" fontAlgn="ctr"/>
                      <a:r>
                        <a:rPr lang="en-US" altLang="zh-CN" sz="1300" u="none" strike="noStrike" kern="1200" dirty="0">
                          <a:solidFill>
                            <a:schemeClr val="tx1">
                              <a:lumMod val="50000"/>
                            </a:schemeClr>
                          </a:solidFill>
                          <a:effectLst/>
                          <a:latin typeface="微软雅黑" panose="020B0503020204020204" pitchFamily="34" charset="-122"/>
                          <a:ea typeface="微软雅黑" panose="020B0503020204020204" pitchFamily="34" charset="-122"/>
                          <a:cs typeface="+mn-cs"/>
                        </a:rPr>
                        <a:t>2</a:t>
                      </a:r>
                    </a:p>
                  </a:txBody>
                  <a:tcPr marL="9525" marR="9525" marT="9525" marB="0" anchor="ctr">
                    <a:solidFill>
                      <a:schemeClr val="tx2">
                        <a:lumMod val="20000"/>
                        <a:lumOff val="80000"/>
                      </a:schemeClr>
                    </a:solidFill>
                  </a:tcPr>
                </a:tc>
                <a:tc>
                  <a:txBody>
                    <a:bodyPr/>
                    <a:lstStyle/>
                    <a:p>
                      <a:pPr algn="ctr" fontAlgn="ctr"/>
                      <a:r>
                        <a:rPr lang="en-US" altLang="zh-CN" sz="1300" u="none" strike="noStrike" kern="1200" dirty="0">
                          <a:solidFill>
                            <a:schemeClr val="tx1">
                              <a:lumMod val="50000"/>
                            </a:schemeClr>
                          </a:solidFill>
                          <a:effectLst/>
                          <a:latin typeface="微软雅黑" panose="020B0503020204020204" pitchFamily="34" charset="-122"/>
                          <a:ea typeface="微软雅黑" panose="020B0503020204020204" pitchFamily="34" charset="-122"/>
                          <a:cs typeface="+mn-cs"/>
                        </a:rPr>
                        <a:t>0.6</a:t>
                      </a:r>
                    </a:p>
                  </a:txBody>
                  <a:tcPr marL="9525" marR="9525" marT="9525" marB="0" anchor="ctr">
                    <a:solidFill>
                      <a:schemeClr val="tx2">
                        <a:lumMod val="20000"/>
                        <a:lumOff val="80000"/>
                      </a:schemeClr>
                    </a:solidFill>
                  </a:tcPr>
                </a:tc>
                <a:tc>
                  <a:txBody>
                    <a:bodyPr/>
                    <a:lstStyle/>
                    <a:p>
                      <a:pPr algn="ctr" fontAlgn="ctr"/>
                      <a:r>
                        <a:rPr lang="en-US" altLang="zh-CN" sz="1300" u="none" strike="noStrike" kern="1200" dirty="0">
                          <a:solidFill>
                            <a:schemeClr val="tx1">
                              <a:lumMod val="50000"/>
                            </a:schemeClr>
                          </a:solidFill>
                          <a:effectLst/>
                          <a:latin typeface="微软雅黑" panose="020B0503020204020204" pitchFamily="34" charset="-122"/>
                          <a:ea typeface="微软雅黑" panose="020B0503020204020204" pitchFamily="34" charset="-122"/>
                          <a:cs typeface="+mn-cs"/>
                        </a:rPr>
                        <a:t>15.4</a:t>
                      </a:r>
                    </a:p>
                  </a:txBody>
                  <a:tcPr marL="9525" marR="9525" marT="9525" marB="0" anchor="ctr">
                    <a:solidFill>
                      <a:schemeClr val="tx2">
                        <a:lumMod val="20000"/>
                        <a:lumOff val="80000"/>
                      </a:schemeClr>
                    </a:solidFill>
                  </a:tcPr>
                </a:tc>
                <a:tc>
                  <a:txBody>
                    <a:bodyPr/>
                    <a:lstStyle/>
                    <a:p>
                      <a:pPr algn="ctr" fontAlgn="ctr"/>
                      <a:r>
                        <a:rPr lang="en-US" altLang="zh-CN" sz="1300" u="none" strike="noStrike" kern="1200" dirty="0">
                          <a:solidFill>
                            <a:schemeClr val="tx1">
                              <a:lumMod val="50000"/>
                            </a:schemeClr>
                          </a:solidFill>
                          <a:effectLst/>
                          <a:latin typeface="微软雅黑" panose="020B0503020204020204" pitchFamily="34" charset="-122"/>
                          <a:ea typeface="微软雅黑" panose="020B0503020204020204" pitchFamily="34" charset="-122"/>
                          <a:cs typeface="+mn-cs"/>
                        </a:rPr>
                        <a:t>15.4</a:t>
                      </a:r>
                    </a:p>
                  </a:txBody>
                  <a:tcPr marL="9525" marR="9525" marT="9525" marB="0" anchor="ctr">
                    <a:solidFill>
                      <a:schemeClr val="tx2">
                        <a:lumMod val="20000"/>
                        <a:lumOff val="80000"/>
                      </a:schemeClr>
                    </a:solidFill>
                  </a:tcPr>
                </a:tc>
                <a:tc>
                  <a:txBody>
                    <a:bodyPr/>
                    <a:lstStyle/>
                    <a:p>
                      <a:pPr algn="ctr" fontAlgn="ctr"/>
                      <a:r>
                        <a:rPr lang="en-US" altLang="zh-CN" sz="1300" u="none" strike="noStrike" kern="1200" dirty="0">
                          <a:solidFill>
                            <a:schemeClr val="tx1">
                              <a:lumMod val="50000"/>
                            </a:schemeClr>
                          </a:solidFill>
                          <a:effectLst/>
                          <a:latin typeface="微软雅黑" panose="020B0503020204020204" pitchFamily="34" charset="-122"/>
                          <a:ea typeface="微软雅黑" panose="020B0503020204020204" pitchFamily="34" charset="-122"/>
                          <a:cs typeface="+mn-cs"/>
                        </a:rPr>
                        <a:t>356</a:t>
                      </a:r>
                    </a:p>
                  </a:txBody>
                  <a:tcPr marL="9525" marR="9525" marT="9525" marB="0" anchor="ctr">
                    <a:solidFill>
                      <a:schemeClr val="tx2">
                        <a:lumMod val="20000"/>
                        <a:lumOff val="80000"/>
                      </a:schemeClr>
                    </a:solidFill>
                  </a:tcPr>
                </a:tc>
                <a:tc>
                  <a:txBody>
                    <a:bodyPr/>
                    <a:lstStyle/>
                    <a:p>
                      <a:pPr algn="ctr" fontAlgn="ctr"/>
                      <a:r>
                        <a:rPr lang="en-US" altLang="zh-CN" sz="1300" u="none" strike="noStrike" kern="1200" dirty="0">
                          <a:solidFill>
                            <a:schemeClr val="tx1">
                              <a:lumMod val="50000"/>
                            </a:schemeClr>
                          </a:solidFill>
                          <a:effectLst/>
                          <a:latin typeface="微软雅黑" panose="020B0503020204020204" pitchFamily="34" charset="-122"/>
                          <a:ea typeface="微软雅黑" panose="020B0503020204020204" pitchFamily="34" charset="-122"/>
                          <a:cs typeface="+mn-cs"/>
                        </a:rPr>
                        <a:t>8.89%</a:t>
                      </a:r>
                    </a:p>
                  </a:txBody>
                  <a:tcPr marL="9525" marR="9525" marT="9525" marB="0" anchor="ctr">
                    <a:solidFill>
                      <a:schemeClr val="tx2">
                        <a:lumMod val="20000"/>
                        <a:lumOff val="80000"/>
                      </a:schemeClr>
                    </a:solidFill>
                  </a:tcPr>
                </a:tc>
                <a:extLst>
                  <a:ext uri="{0D108BD9-81ED-4DB2-BD59-A6C34878D82A}">
                    <a16:rowId xmlns:a16="http://schemas.microsoft.com/office/drawing/2014/main" val="10003"/>
                  </a:ext>
                </a:extLst>
              </a:tr>
              <a:tr h="252187">
                <a:tc>
                  <a:txBody>
                    <a:bodyPr/>
                    <a:lstStyle/>
                    <a:p>
                      <a:pPr marL="0" marR="0" indent="0" algn="ctr" defTabSz="457200" rtl="0" eaLnBrk="1" fontAlgn="ctr" latinLnBrk="0" hangingPunct="1">
                        <a:lnSpc>
                          <a:spcPct val="100000"/>
                        </a:lnSpc>
                        <a:spcBef>
                          <a:spcPts val="0"/>
                        </a:spcBef>
                        <a:spcAft>
                          <a:spcPts val="0"/>
                        </a:spcAft>
                        <a:buClrTx/>
                        <a:buSzTx/>
                        <a:buFontTx/>
                        <a:buNone/>
                        <a:tabLst/>
                        <a:defRPr/>
                      </a:pPr>
                      <a:r>
                        <a:rPr lang="en-US" altLang="zh-CN" sz="1300" u="none" strike="noStrike" dirty="0">
                          <a:solidFill>
                            <a:schemeClr val="tx1">
                              <a:lumMod val="50000"/>
                            </a:schemeClr>
                          </a:solidFill>
                          <a:effectLst/>
                          <a:latin typeface="微软雅黑" panose="020B0503020204020204" pitchFamily="34" charset="-122"/>
                          <a:ea typeface="微软雅黑" panose="020B0503020204020204" pitchFamily="34" charset="-122"/>
                        </a:rPr>
                        <a:t>2016</a:t>
                      </a:r>
                      <a:r>
                        <a:rPr lang="zh-CN" altLang="en-US" sz="1300" u="none" strike="noStrike" dirty="0">
                          <a:solidFill>
                            <a:schemeClr val="tx1">
                              <a:lumMod val="50000"/>
                            </a:schemeClr>
                          </a:solidFill>
                          <a:effectLst/>
                          <a:latin typeface="微软雅黑" panose="020B0503020204020204" pitchFamily="34" charset="-122"/>
                          <a:ea typeface="微软雅黑" panose="020B0503020204020204" pitchFamily="34" charset="-122"/>
                        </a:rPr>
                        <a:t>年</a:t>
                      </a:r>
                      <a:r>
                        <a:rPr lang="en-US" altLang="zh-CN" sz="1300" u="none" strike="noStrike" dirty="0">
                          <a:solidFill>
                            <a:schemeClr val="tx1">
                              <a:lumMod val="50000"/>
                            </a:schemeClr>
                          </a:solidFill>
                          <a:effectLst/>
                          <a:latin typeface="微软雅黑" panose="020B0503020204020204" pitchFamily="34" charset="-122"/>
                          <a:ea typeface="微软雅黑" panose="020B0503020204020204" pitchFamily="34" charset="-122"/>
                        </a:rPr>
                        <a:t>7</a:t>
                      </a:r>
                      <a:r>
                        <a:rPr lang="zh-CN" altLang="en-US" sz="1300" u="none" strike="noStrike" dirty="0">
                          <a:solidFill>
                            <a:schemeClr val="tx1">
                              <a:lumMod val="50000"/>
                            </a:schemeClr>
                          </a:solidFill>
                          <a:effectLst/>
                          <a:latin typeface="微软雅黑" panose="020B0503020204020204" pitchFamily="34" charset="-122"/>
                          <a:ea typeface="微软雅黑" panose="020B0503020204020204" pitchFamily="34" charset="-122"/>
                        </a:rPr>
                        <a:t>月</a:t>
                      </a:r>
                      <a:endParaRPr lang="zh-CN" altLang="en-US" sz="1300" b="0" i="0" u="none" strike="noStrike" dirty="0">
                        <a:solidFill>
                          <a:schemeClr val="tx1">
                            <a:lumMod val="50000"/>
                          </a:schemeClr>
                        </a:solidFill>
                        <a:effectLst/>
                        <a:latin typeface="微软雅黑" panose="020B0503020204020204" pitchFamily="34" charset="-122"/>
                        <a:ea typeface="微软雅黑" panose="020B0503020204020204" pitchFamily="34" charset="-122"/>
                      </a:endParaRPr>
                    </a:p>
                  </a:txBody>
                  <a:tcPr marL="9525" marR="9525" marT="9525" marB="0" anchor="ctr">
                    <a:solidFill>
                      <a:schemeClr val="tx2">
                        <a:lumMod val="20000"/>
                        <a:lumOff val="80000"/>
                      </a:schemeClr>
                    </a:solidFill>
                  </a:tcPr>
                </a:tc>
                <a:tc>
                  <a:txBody>
                    <a:bodyPr/>
                    <a:lstStyle/>
                    <a:p>
                      <a:pPr algn="ctr" fontAlgn="ctr"/>
                      <a:r>
                        <a:rPr lang="en-US" altLang="zh-CN" sz="1300" u="none" strike="noStrike" kern="1200">
                          <a:solidFill>
                            <a:schemeClr val="tx1">
                              <a:lumMod val="50000"/>
                            </a:schemeClr>
                          </a:solidFill>
                          <a:effectLst/>
                          <a:latin typeface="微软雅黑" panose="020B0503020204020204" pitchFamily="34" charset="-122"/>
                          <a:ea typeface="微软雅黑" panose="020B0503020204020204" pitchFamily="34" charset="-122"/>
                          <a:cs typeface="+mn-cs"/>
                        </a:rPr>
                        <a:t>9</a:t>
                      </a:r>
                    </a:p>
                  </a:txBody>
                  <a:tcPr marL="9525" marR="9525" marT="9525" marB="0" anchor="ctr">
                    <a:solidFill>
                      <a:schemeClr val="tx2">
                        <a:lumMod val="20000"/>
                        <a:lumOff val="80000"/>
                      </a:schemeClr>
                    </a:solidFill>
                  </a:tcPr>
                </a:tc>
                <a:tc>
                  <a:txBody>
                    <a:bodyPr/>
                    <a:lstStyle/>
                    <a:p>
                      <a:pPr algn="ctr" fontAlgn="ctr"/>
                      <a:r>
                        <a:rPr lang="en-US" altLang="zh-CN" sz="1300" u="none" strike="noStrike" kern="1200">
                          <a:solidFill>
                            <a:schemeClr val="tx1">
                              <a:lumMod val="50000"/>
                            </a:schemeClr>
                          </a:solidFill>
                          <a:effectLst/>
                          <a:latin typeface="微软雅黑" panose="020B0503020204020204" pitchFamily="34" charset="-122"/>
                          <a:ea typeface="微软雅黑" panose="020B0503020204020204" pitchFamily="34" charset="-122"/>
                          <a:cs typeface="+mn-cs"/>
                        </a:rPr>
                        <a:t>4.4</a:t>
                      </a:r>
                    </a:p>
                  </a:txBody>
                  <a:tcPr marL="9525" marR="9525" marT="9525" marB="0" anchor="ctr">
                    <a:solidFill>
                      <a:schemeClr val="tx2">
                        <a:lumMod val="20000"/>
                        <a:lumOff val="80000"/>
                      </a:schemeClr>
                    </a:solidFill>
                  </a:tcPr>
                </a:tc>
                <a:tc>
                  <a:txBody>
                    <a:bodyPr/>
                    <a:lstStyle/>
                    <a:p>
                      <a:pPr algn="ctr" fontAlgn="ctr"/>
                      <a:r>
                        <a:rPr lang="en-US" altLang="zh-CN" sz="1300" u="none" strike="noStrike" kern="1200">
                          <a:solidFill>
                            <a:schemeClr val="tx1">
                              <a:lumMod val="50000"/>
                            </a:schemeClr>
                          </a:solidFill>
                          <a:effectLst/>
                          <a:latin typeface="微软雅黑" panose="020B0503020204020204" pitchFamily="34" charset="-122"/>
                          <a:ea typeface="微软雅黑" panose="020B0503020204020204" pitchFamily="34" charset="-122"/>
                          <a:cs typeface="+mn-cs"/>
                        </a:rPr>
                        <a:t>13.9</a:t>
                      </a:r>
                    </a:p>
                  </a:txBody>
                  <a:tcPr marL="9525" marR="9525" marT="9525" marB="0" anchor="ctr">
                    <a:solidFill>
                      <a:schemeClr val="tx2">
                        <a:lumMod val="20000"/>
                        <a:lumOff val="80000"/>
                      </a:schemeClr>
                    </a:solidFill>
                  </a:tcPr>
                </a:tc>
                <a:tc>
                  <a:txBody>
                    <a:bodyPr/>
                    <a:lstStyle/>
                    <a:p>
                      <a:pPr algn="ctr" fontAlgn="ctr"/>
                      <a:r>
                        <a:rPr lang="en-US" altLang="zh-CN" sz="1300" u="none" strike="noStrike" kern="1200">
                          <a:solidFill>
                            <a:schemeClr val="tx1">
                              <a:lumMod val="50000"/>
                            </a:schemeClr>
                          </a:solidFill>
                          <a:effectLst/>
                          <a:latin typeface="微软雅黑" panose="020B0503020204020204" pitchFamily="34" charset="-122"/>
                          <a:ea typeface="微软雅黑" panose="020B0503020204020204" pitchFamily="34" charset="-122"/>
                          <a:cs typeface="+mn-cs"/>
                        </a:rPr>
                        <a:t>34.5</a:t>
                      </a:r>
                    </a:p>
                  </a:txBody>
                  <a:tcPr marL="9525" marR="9525" marT="9525" marB="0" anchor="ctr">
                    <a:solidFill>
                      <a:schemeClr val="tx2">
                        <a:lumMod val="20000"/>
                        <a:lumOff val="80000"/>
                      </a:schemeClr>
                    </a:solidFill>
                  </a:tcPr>
                </a:tc>
                <a:tc>
                  <a:txBody>
                    <a:bodyPr/>
                    <a:lstStyle/>
                    <a:p>
                      <a:pPr algn="ctr" fontAlgn="ctr"/>
                      <a:r>
                        <a:rPr lang="en-US" altLang="zh-CN" sz="1300" u="none" strike="noStrike" kern="1200" dirty="0">
                          <a:solidFill>
                            <a:schemeClr val="tx1">
                              <a:lumMod val="50000"/>
                            </a:schemeClr>
                          </a:solidFill>
                          <a:effectLst/>
                          <a:latin typeface="微软雅黑" panose="020B0503020204020204" pitchFamily="34" charset="-122"/>
                          <a:ea typeface="微软雅黑" panose="020B0503020204020204" pitchFamily="34" charset="-122"/>
                          <a:cs typeface="+mn-cs"/>
                        </a:rPr>
                        <a:t>1277</a:t>
                      </a:r>
                    </a:p>
                  </a:txBody>
                  <a:tcPr marL="9525" marR="9525" marT="9525" marB="0" anchor="ctr">
                    <a:solidFill>
                      <a:schemeClr val="tx2">
                        <a:lumMod val="20000"/>
                        <a:lumOff val="80000"/>
                      </a:schemeClr>
                    </a:solidFill>
                  </a:tcPr>
                </a:tc>
                <a:tc>
                  <a:txBody>
                    <a:bodyPr/>
                    <a:lstStyle/>
                    <a:p>
                      <a:pPr algn="ctr" fontAlgn="ctr"/>
                      <a:r>
                        <a:rPr lang="en-US" altLang="zh-CN" sz="1300" u="none" strike="noStrike" kern="1200" dirty="0">
                          <a:solidFill>
                            <a:schemeClr val="tx1">
                              <a:lumMod val="50000"/>
                            </a:schemeClr>
                          </a:solidFill>
                          <a:effectLst/>
                          <a:latin typeface="微软雅黑" panose="020B0503020204020204" pitchFamily="34" charset="-122"/>
                          <a:ea typeface="微软雅黑" panose="020B0503020204020204" pitchFamily="34" charset="-122"/>
                          <a:cs typeface="+mn-cs"/>
                        </a:rPr>
                        <a:t>1.06%</a:t>
                      </a:r>
                    </a:p>
                  </a:txBody>
                  <a:tcPr marL="9525" marR="9525" marT="9525" marB="0" anchor="ctr">
                    <a:solidFill>
                      <a:schemeClr val="tx2">
                        <a:lumMod val="20000"/>
                        <a:lumOff val="80000"/>
                      </a:schemeClr>
                    </a:solidFill>
                  </a:tcPr>
                </a:tc>
                <a:extLst>
                  <a:ext uri="{0D108BD9-81ED-4DB2-BD59-A6C34878D82A}">
                    <a16:rowId xmlns:a16="http://schemas.microsoft.com/office/drawing/2014/main" val="10004"/>
                  </a:ext>
                </a:extLst>
              </a:tr>
              <a:tr h="252187">
                <a:tc>
                  <a:txBody>
                    <a:bodyPr/>
                    <a:lstStyle/>
                    <a:p>
                      <a:pPr marL="0" marR="0" indent="0" algn="ctr" defTabSz="457200" rtl="0" eaLnBrk="1" fontAlgn="ctr" latinLnBrk="0" hangingPunct="1">
                        <a:lnSpc>
                          <a:spcPct val="100000"/>
                        </a:lnSpc>
                        <a:spcBef>
                          <a:spcPts val="0"/>
                        </a:spcBef>
                        <a:spcAft>
                          <a:spcPts val="0"/>
                        </a:spcAft>
                        <a:buClrTx/>
                        <a:buSzTx/>
                        <a:buFontTx/>
                        <a:buNone/>
                        <a:tabLst/>
                        <a:defRPr/>
                      </a:pPr>
                      <a:r>
                        <a:rPr lang="en-US" altLang="zh-CN" sz="1300" b="0" i="0" u="none" strike="noStrike" dirty="0">
                          <a:solidFill>
                            <a:schemeClr val="tx1">
                              <a:lumMod val="50000"/>
                            </a:schemeClr>
                          </a:solidFill>
                          <a:effectLst/>
                          <a:latin typeface="微软雅黑" panose="020B0503020204020204" pitchFamily="34" charset="-122"/>
                          <a:ea typeface="微软雅黑" panose="020B0503020204020204" pitchFamily="34" charset="-122"/>
                        </a:rPr>
                        <a:t>2016</a:t>
                      </a:r>
                      <a:r>
                        <a:rPr lang="zh-CN" altLang="en-US" sz="1300" b="0" i="0" u="none" strike="noStrike" dirty="0">
                          <a:solidFill>
                            <a:schemeClr val="tx1">
                              <a:lumMod val="50000"/>
                            </a:schemeClr>
                          </a:solidFill>
                          <a:effectLst/>
                          <a:latin typeface="微软雅黑" panose="020B0503020204020204" pitchFamily="34" charset="-122"/>
                          <a:ea typeface="微软雅黑" panose="020B0503020204020204" pitchFamily="34" charset="-122"/>
                        </a:rPr>
                        <a:t>年</a:t>
                      </a:r>
                      <a:r>
                        <a:rPr lang="en-US" altLang="zh-CN" sz="1300" b="0" i="0" u="none" strike="noStrike" dirty="0">
                          <a:solidFill>
                            <a:schemeClr val="tx1">
                              <a:lumMod val="50000"/>
                            </a:schemeClr>
                          </a:solidFill>
                          <a:effectLst/>
                          <a:latin typeface="微软雅黑" panose="020B0503020204020204" pitchFamily="34" charset="-122"/>
                          <a:ea typeface="微软雅黑" panose="020B0503020204020204" pitchFamily="34" charset="-122"/>
                        </a:rPr>
                        <a:t>9</a:t>
                      </a:r>
                      <a:r>
                        <a:rPr lang="zh-CN" altLang="en-US" sz="1300" b="0" i="0" u="none" strike="noStrike" dirty="0">
                          <a:solidFill>
                            <a:schemeClr val="tx1">
                              <a:lumMod val="50000"/>
                            </a:schemeClr>
                          </a:solidFill>
                          <a:effectLst/>
                          <a:latin typeface="微软雅黑" panose="020B0503020204020204" pitchFamily="34" charset="-122"/>
                          <a:ea typeface="微软雅黑" panose="020B0503020204020204" pitchFamily="34" charset="-122"/>
                        </a:rPr>
                        <a:t>月</a:t>
                      </a:r>
                    </a:p>
                  </a:txBody>
                  <a:tcPr marL="9525" marR="9525" marT="9525" marB="0" anchor="ctr">
                    <a:solidFill>
                      <a:schemeClr val="tx2">
                        <a:lumMod val="20000"/>
                        <a:lumOff val="80000"/>
                      </a:schemeClr>
                    </a:solidFill>
                  </a:tcPr>
                </a:tc>
                <a:tc>
                  <a:txBody>
                    <a:bodyPr/>
                    <a:lstStyle/>
                    <a:p>
                      <a:pPr algn="ctr" fontAlgn="ctr"/>
                      <a:r>
                        <a:rPr lang="en-US" altLang="zh-CN" sz="1300" u="none" strike="noStrike" kern="1200" dirty="0">
                          <a:solidFill>
                            <a:schemeClr val="tx1">
                              <a:lumMod val="50000"/>
                            </a:schemeClr>
                          </a:solidFill>
                          <a:effectLst/>
                          <a:latin typeface="微软雅黑" panose="020B0503020204020204" pitchFamily="34" charset="-122"/>
                          <a:ea typeface="微软雅黑" panose="020B0503020204020204" pitchFamily="34" charset="-122"/>
                          <a:cs typeface="+mn-cs"/>
                        </a:rPr>
                        <a:t>0</a:t>
                      </a:r>
                    </a:p>
                  </a:txBody>
                  <a:tcPr marL="9525" marR="9525" marT="9525" marB="0" anchor="ctr">
                    <a:solidFill>
                      <a:schemeClr val="tx2">
                        <a:lumMod val="20000"/>
                        <a:lumOff val="80000"/>
                      </a:schemeClr>
                    </a:solidFill>
                  </a:tcPr>
                </a:tc>
                <a:tc>
                  <a:txBody>
                    <a:bodyPr/>
                    <a:lstStyle/>
                    <a:p>
                      <a:pPr algn="ctr" fontAlgn="ctr"/>
                      <a:r>
                        <a:rPr lang="en-US" altLang="zh-CN" sz="1300" u="none" strike="noStrike" kern="1200" dirty="0">
                          <a:solidFill>
                            <a:schemeClr val="tx1">
                              <a:lumMod val="50000"/>
                            </a:schemeClr>
                          </a:solidFill>
                          <a:effectLst/>
                          <a:latin typeface="微软雅黑" panose="020B0503020204020204" pitchFamily="34" charset="-122"/>
                          <a:ea typeface="微软雅黑" panose="020B0503020204020204" pitchFamily="34" charset="-122"/>
                          <a:cs typeface="+mn-cs"/>
                        </a:rPr>
                        <a:t>——</a:t>
                      </a:r>
                    </a:p>
                  </a:txBody>
                  <a:tcPr marL="9525" marR="9525" marT="9525" marB="0" anchor="ctr">
                    <a:solidFill>
                      <a:schemeClr val="tx2">
                        <a:lumMod val="20000"/>
                        <a:lumOff val="80000"/>
                      </a:schemeClr>
                    </a:solidFill>
                  </a:tcPr>
                </a:tc>
                <a:tc>
                  <a:txBody>
                    <a:bodyPr/>
                    <a:lstStyle/>
                    <a:p>
                      <a:pPr algn="ctr" fontAlgn="ctr"/>
                      <a:r>
                        <a:rPr lang="en-US" altLang="zh-CN" sz="1300" u="none" strike="noStrike" kern="1200">
                          <a:solidFill>
                            <a:schemeClr val="tx1">
                              <a:lumMod val="50000"/>
                            </a:schemeClr>
                          </a:solidFill>
                          <a:effectLst/>
                          <a:latin typeface="微软雅黑" panose="020B0503020204020204" pitchFamily="34" charset="-122"/>
                          <a:ea typeface="微软雅黑" panose="020B0503020204020204" pitchFamily="34" charset="-122"/>
                          <a:cs typeface="+mn-cs"/>
                        </a:rPr>
                        <a:t>——</a:t>
                      </a:r>
                      <a:endParaRPr lang="en-US" altLang="zh-CN" sz="1300" u="none" strike="noStrike" kern="1200" dirty="0">
                        <a:solidFill>
                          <a:schemeClr val="tx1">
                            <a:lumMod val="50000"/>
                          </a:schemeClr>
                        </a:solidFill>
                        <a:effectLst/>
                        <a:latin typeface="微软雅黑" panose="020B0503020204020204" pitchFamily="34" charset="-122"/>
                        <a:ea typeface="微软雅黑" panose="020B0503020204020204" pitchFamily="34" charset="-122"/>
                        <a:cs typeface="+mn-cs"/>
                      </a:endParaRPr>
                    </a:p>
                  </a:txBody>
                  <a:tcPr marL="9525" marR="9525" marT="9525" marB="0" anchor="ctr">
                    <a:solidFill>
                      <a:schemeClr val="tx2">
                        <a:lumMod val="20000"/>
                        <a:lumOff val="80000"/>
                      </a:schemeClr>
                    </a:solidFill>
                  </a:tcPr>
                </a:tc>
                <a:tc>
                  <a:txBody>
                    <a:bodyPr/>
                    <a:lstStyle/>
                    <a:p>
                      <a:pPr algn="ctr" fontAlgn="ctr"/>
                      <a:r>
                        <a:rPr lang="en-US" altLang="zh-CN" sz="1300" u="none" strike="noStrike" kern="1200">
                          <a:solidFill>
                            <a:schemeClr val="tx1">
                              <a:lumMod val="50000"/>
                            </a:schemeClr>
                          </a:solidFill>
                          <a:effectLst/>
                          <a:latin typeface="微软雅黑" panose="020B0503020204020204" pitchFamily="34" charset="-122"/>
                          <a:ea typeface="微软雅黑" panose="020B0503020204020204" pitchFamily="34" charset="-122"/>
                          <a:cs typeface="+mn-cs"/>
                        </a:rPr>
                        <a:t>——</a:t>
                      </a:r>
                      <a:endParaRPr lang="en-US" altLang="zh-CN" sz="1300" u="none" strike="noStrike" kern="1200" dirty="0">
                        <a:solidFill>
                          <a:schemeClr val="tx1">
                            <a:lumMod val="50000"/>
                          </a:schemeClr>
                        </a:solidFill>
                        <a:effectLst/>
                        <a:latin typeface="微软雅黑" panose="020B0503020204020204" pitchFamily="34" charset="-122"/>
                        <a:ea typeface="微软雅黑" panose="020B0503020204020204" pitchFamily="34" charset="-122"/>
                        <a:cs typeface="+mn-cs"/>
                      </a:endParaRPr>
                    </a:p>
                  </a:txBody>
                  <a:tcPr marL="9525" marR="9525" marT="9525" marB="0" anchor="ctr">
                    <a:solidFill>
                      <a:schemeClr val="tx2">
                        <a:lumMod val="20000"/>
                        <a:lumOff val="80000"/>
                      </a:schemeClr>
                    </a:solidFill>
                  </a:tcPr>
                </a:tc>
                <a:tc>
                  <a:txBody>
                    <a:bodyPr/>
                    <a:lstStyle/>
                    <a:p>
                      <a:pPr algn="ctr" fontAlgn="ctr"/>
                      <a:r>
                        <a:rPr lang="en-US" altLang="zh-CN" sz="1300" u="none" strike="noStrike" kern="1200">
                          <a:solidFill>
                            <a:schemeClr val="tx1">
                              <a:lumMod val="50000"/>
                            </a:schemeClr>
                          </a:solidFill>
                          <a:effectLst/>
                          <a:latin typeface="微软雅黑" panose="020B0503020204020204" pitchFamily="34" charset="-122"/>
                          <a:ea typeface="微软雅黑" panose="020B0503020204020204" pitchFamily="34" charset="-122"/>
                          <a:cs typeface="+mn-cs"/>
                        </a:rPr>
                        <a:t>——</a:t>
                      </a:r>
                      <a:endParaRPr lang="en-US" altLang="zh-CN" sz="1300" u="none" strike="noStrike" kern="1200" dirty="0">
                        <a:solidFill>
                          <a:schemeClr val="tx1">
                            <a:lumMod val="50000"/>
                          </a:schemeClr>
                        </a:solidFill>
                        <a:effectLst/>
                        <a:latin typeface="微软雅黑" panose="020B0503020204020204" pitchFamily="34" charset="-122"/>
                        <a:ea typeface="微软雅黑" panose="020B0503020204020204" pitchFamily="34" charset="-122"/>
                        <a:cs typeface="+mn-cs"/>
                      </a:endParaRPr>
                    </a:p>
                  </a:txBody>
                  <a:tcPr marL="9525" marR="9525" marT="9525" marB="0" anchor="ctr">
                    <a:solidFill>
                      <a:schemeClr val="tx2">
                        <a:lumMod val="20000"/>
                        <a:lumOff val="80000"/>
                      </a:schemeClr>
                    </a:solidFill>
                  </a:tcPr>
                </a:tc>
                <a:tc>
                  <a:txBody>
                    <a:bodyPr/>
                    <a:lstStyle/>
                    <a:p>
                      <a:pPr algn="ctr" fontAlgn="ctr"/>
                      <a:r>
                        <a:rPr lang="en-US" altLang="zh-CN" sz="1300" u="none" strike="noStrike" kern="1200" dirty="0">
                          <a:solidFill>
                            <a:schemeClr val="tx1">
                              <a:lumMod val="50000"/>
                            </a:schemeClr>
                          </a:solidFill>
                          <a:effectLst/>
                          <a:latin typeface="微软雅黑" panose="020B0503020204020204" pitchFamily="34" charset="-122"/>
                          <a:ea typeface="微软雅黑" panose="020B0503020204020204" pitchFamily="34" charset="-122"/>
                          <a:cs typeface="+mn-cs"/>
                        </a:rPr>
                        <a:t>——</a:t>
                      </a:r>
                    </a:p>
                  </a:txBody>
                  <a:tcPr marL="9525" marR="9525" marT="9525" marB="0" anchor="ctr">
                    <a:solidFill>
                      <a:schemeClr val="tx2">
                        <a:lumMod val="20000"/>
                        <a:lumOff val="80000"/>
                      </a:schemeClr>
                    </a:solidFill>
                  </a:tcPr>
                </a:tc>
                <a:extLst>
                  <a:ext uri="{0D108BD9-81ED-4DB2-BD59-A6C34878D82A}">
                    <a16:rowId xmlns:a16="http://schemas.microsoft.com/office/drawing/2014/main" val="10005"/>
                  </a:ext>
                </a:extLst>
              </a:tr>
            </a:tbl>
          </a:graphicData>
        </a:graphic>
      </p:graphicFrame>
      <p:sp>
        <p:nvSpPr>
          <p:cNvPr id="13" name="TextBox 12"/>
          <p:cNvSpPr txBox="1"/>
          <p:nvPr/>
        </p:nvSpPr>
        <p:spPr>
          <a:xfrm>
            <a:off x="766782" y="984641"/>
            <a:ext cx="7695905" cy="1200329"/>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altLang="zh-CN" sz="1600" dirty="0">
                <a:solidFill>
                  <a:schemeClr val="tx1">
                    <a:lumMod val="50000"/>
                  </a:schemeClr>
                </a:solidFill>
                <a:latin typeface="微软雅黑" pitchFamily="34" charset="-122"/>
                <a:ea typeface="微软雅黑" pitchFamily="34" charset="-122"/>
              </a:rPr>
              <a:t>2016</a:t>
            </a:r>
            <a:r>
              <a:rPr lang="zh-CN" altLang="en-US" sz="1600" dirty="0">
                <a:solidFill>
                  <a:schemeClr val="tx1">
                    <a:lumMod val="50000"/>
                  </a:schemeClr>
                </a:solidFill>
                <a:latin typeface="微软雅黑" pitchFamily="34" charset="-122"/>
                <a:ea typeface="微软雅黑" pitchFamily="34" charset="-122"/>
              </a:rPr>
              <a:t>年</a:t>
            </a:r>
            <a:r>
              <a:rPr lang="en-US" altLang="zh-CN" sz="1600" dirty="0">
                <a:solidFill>
                  <a:schemeClr val="tx1">
                    <a:lumMod val="50000"/>
                  </a:schemeClr>
                </a:solidFill>
                <a:latin typeface="微软雅黑" pitchFamily="34" charset="-122"/>
                <a:ea typeface="微软雅黑" pitchFamily="34" charset="-122"/>
              </a:rPr>
              <a:t>9</a:t>
            </a:r>
            <a:r>
              <a:rPr lang="zh-CN" altLang="en-US" sz="1600" dirty="0">
                <a:solidFill>
                  <a:schemeClr val="tx1">
                    <a:lumMod val="50000"/>
                  </a:schemeClr>
                </a:solidFill>
                <a:latin typeface="微软雅黑" pitchFamily="34" charset="-122"/>
                <a:ea typeface="微软雅黑" pitchFamily="34" charset="-122"/>
              </a:rPr>
              <a:t>月：</a:t>
            </a:r>
            <a:r>
              <a:rPr lang="zh-CN" altLang="en-US" sz="1600" b="1" dirty="0">
                <a:solidFill>
                  <a:srgbClr val="C00000"/>
                </a:solidFill>
                <a:latin typeface="微软雅黑" pitchFamily="34" charset="-122"/>
                <a:ea typeface="微软雅黑" pitchFamily="34" charset="-122"/>
              </a:rPr>
              <a:t>零供应；零成交</a:t>
            </a:r>
            <a:r>
              <a:rPr lang="zh-CN" altLang="en-US" sz="1600" dirty="0">
                <a:solidFill>
                  <a:schemeClr val="tx1">
                    <a:lumMod val="50000"/>
                  </a:schemeClr>
                </a:solidFill>
                <a:latin typeface="微软雅黑" pitchFamily="34" charset="-122"/>
                <a:ea typeface="微软雅黑" pitchFamily="34" charset="-122"/>
              </a:rPr>
              <a:t>。</a:t>
            </a:r>
            <a:endParaRPr lang="en-US" altLang="zh-CN" sz="1600" dirty="0">
              <a:solidFill>
                <a:schemeClr val="tx1">
                  <a:lumMod val="50000"/>
                </a:schemeClr>
              </a:solidFill>
              <a:latin typeface="微软雅黑" pitchFamily="34" charset="-122"/>
              <a:ea typeface="微软雅黑" pitchFamily="34" charset="-122"/>
            </a:endParaRPr>
          </a:p>
          <a:p>
            <a:pPr marL="285750" indent="-285750" algn="just">
              <a:lnSpc>
                <a:spcPct val="150000"/>
              </a:lnSpc>
              <a:buFont typeface="Arial" panose="020B0604020202020204" pitchFamily="34" charset="0"/>
              <a:buChar char="•"/>
            </a:pPr>
            <a:r>
              <a:rPr lang="en-US" altLang="zh-CN" sz="1600" dirty="0">
                <a:solidFill>
                  <a:schemeClr val="tx1">
                    <a:lumMod val="50000"/>
                  </a:schemeClr>
                </a:solidFill>
                <a:latin typeface="微软雅黑" pitchFamily="34" charset="-122"/>
                <a:ea typeface="微软雅黑" pitchFamily="34" charset="-122"/>
              </a:rPr>
              <a:t>2016</a:t>
            </a:r>
            <a:r>
              <a:rPr lang="zh-CN" altLang="en-US" sz="1600" dirty="0">
                <a:solidFill>
                  <a:schemeClr val="tx1">
                    <a:lumMod val="50000"/>
                  </a:schemeClr>
                </a:solidFill>
                <a:latin typeface="微软雅黑" pitchFamily="34" charset="-122"/>
                <a:ea typeface="微软雅黑" pitchFamily="34" charset="-122"/>
              </a:rPr>
              <a:t>年</a:t>
            </a:r>
            <a:r>
              <a:rPr lang="en-US" altLang="zh-CN" sz="1600" dirty="0">
                <a:solidFill>
                  <a:schemeClr val="tx1">
                    <a:lumMod val="50000"/>
                  </a:schemeClr>
                </a:solidFill>
                <a:latin typeface="微软雅黑" pitchFamily="34" charset="-122"/>
                <a:ea typeface="微软雅黑" pitchFamily="34" charset="-122"/>
              </a:rPr>
              <a:t>1-9</a:t>
            </a:r>
            <a:r>
              <a:rPr lang="zh-CN" altLang="en-US" sz="1600" dirty="0">
                <a:solidFill>
                  <a:schemeClr val="tx1">
                    <a:lumMod val="50000"/>
                  </a:schemeClr>
                </a:solidFill>
                <a:latin typeface="微软雅黑" pitchFamily="34" charset="-122"/>
                <a:ea typeface="微软雅黑" pitchFamily="34" charset="-122"/>
              </a:rPr>
              <a:t>月：供应土地</a:t>
            </a:r>
            <a:r>
              <a:rPr lang="en-US" altLang="zh-CN" sz="1600" dirty="0">
                <a:solidFill>
                  <a:schemeClr val="tx1">
                    <a:lumMod val="50000"/>
                  </a:schemeClr>
                </a:solidFill>
                <a:latin typeface="微软雅黑" pitchFamily="34" charset="-122"/>
                <a:ea typeface="微软雅黑" pitchFamily="34" charset="-122"/>
              </a:rPr>
              <a:t>62</a:t>
            </a:r>
            <a:r>
              <a:rPr lang="zh-CN" altLang="en-US" sz="1600" dirty="0">
                <a:solidFill>
                  <a:schemeClr val="tx1">
                    <a:lumMod val="50000"/>
                  </a:schemeClr>
                </a:solidFill>
                <a:latin typeface="微软雅黑" pitchFamily="34" charset="-122"/>
                <a:ea typeface="微软雅黑" pitchFamily="34" charset="-122"/>
              </a:rPr>
              <a:t>宗，其中住宅用地供应</a:t>
            </a:r>
            <a:r>
              <a:rPr lang="en-US" altLang="zh-CN" sz="1600" dirty="0">
                <a:solidFill>
                  <a:schemeClr val="tx1">
                    <a:lumMod val="50000"/>
                  </a:schemeClr>
                </a:solidFill>
                <a:latin typeface="微软雅黑" pitchFamily="34" charset="-122"/>
                <a:ea typeface="微软雅黑" pitchFamily="34" charset="-122"/>
              </a:rPr>
              <a:t>46</a:t>
            </a:r>
            <a:r>
              <a:rPr lang="zh-CN" altLang="en-US" sz="1600" dirty="0">
                <a:solidFill>
                  <a:schemeClr val="tx1">
                    <a:lumMod val="50000"/>
                  </a:schemeClr>
                </a:solidFill>
                <a:latin typeface="微软雅黑" pitchFamily="34" charset="-122"/>
                <a:ea typeface="微软雅黑" pitchFamily="34" charset="-122"/>
              </a:rPr>
              <a:t>宗；成交共</a:t>
            </a:r>
            <a:r>
              <a:rPr lang="en-US" altLang="zh-CN" sz="1600" dirty="0">
                <a:solidFill>
                  <a:schemeClr val="tx1">
                    <a:lumMod val="50000"/>
                  </a:schemeClr>
                </a:solidFill>
                <a:latin typeface="微软雅黑" pitchFamily="34" charset="-122"/>
                <a:ea typeface="微软雅黑" pitchFamily="34" charset="-122"/>
              </a:rPr>
              <a:t>43</a:t>
            </a:r>
            <a:r>
              <a:rPr lang="zh-CN" altLang="en-US" sz="1600" dirty="0">
                <a:solidFill>
                  <a:schemeClr val="tx1">
                    <a:lumMod val="50000"/>
                  </a:schemeClr>
                </a:solidFill>
                <a:latin typeface="微软雅黑" pitchFamily="34" charset="-122"/>
                <a:ea typeface="微软雅黑" pitchFamily="34" charset="-122"/>
              </a:rPr>
              <a:t>宗，</a:t>
            </a:r>
            <a:r>
              <a:rPr lang="zh-CN" altLang="en-US" sz="1600" dirty="0">
                <a:latin typeface="微软雅黑" pitchFamily="34" charset="-122"/>
                <a:ea typeface="微软雅黑" pitchFamily="34" charset="-122"/>
              </a:rPr>
              <a:t>成交建设</a:t>
            </a:r>
            <a:endParaRPr lang="en-US" altLang="zh-CN" sz="1600" dirty="0">
              <a:latin typeface="微软雅黑" pitchFamily="34" charset="-122"/>
              <a:ea typeface="微软雅黑" pitchFamily="34" charset="-122"/>
            </a:endParaRPr>
          </a:p>
          <a:p>
            <a:pPr algn="just">
              <a:lnSpc>
                <a:spcPct val="150000"/>
              </a:lnSpc>
            </a:pPr>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用地面积</a:t>
            </a:r>
            <a:r>
              <a:rPr lang="en-US" altLang="zh-CN" sz="1600" dirty="0">
                <a:latin typeface="微软雅黑" pitchFamily="34" charset="-122"/>
                <a:ea typeface="微软雅黑" pitchFamily="34" charset="-122"/>
              </a:rPr>
              <a:t>78.8</a:t>
            </a:r>
            <a:r>
              <a:rPr lang="zh-CN" altLang="en-US" sz="1600" dirty="0">
                <a:latin typeface="微软雅黑" pitchFamily="34" charset="-122"/>
                <a:ea typeface="微软雅黑" pitchFamily="34" charset="-122"/>
              </a:rPr>
              <a:t>万㎡，其中</a:t>
            </a:r>
            <a:r>
              <a:rPr lang="zh-CN" altLang="en-US" sz="1600" dirty="0">
                <a:solidFill>
                  <a:schemeClr val="tx1">
                    <a:lumMod val="50000"/>
                  </a:schemeClr>
                </a:solidFill>
                <a:latin typeface="微软雅黑" pitchFamily="34" charset="-122"/>
                <a:ea typeface="微软雅黑" pitchFamily="34" charset="-122"/>
              </a:rPr>
              <a:t>住宅用地成交</a:t>
            </a:r>
            <a:r>
              <a:rPr lang="en-US" altLang="zh-CN" sz="1600" dirty="0">
                <a:solidFill>
                  <a:schemeClr val="tx1">
                    <a:lumMod val="50000"/>
                  </a:schemeClr>
                </a:solidFill>
                <a:latin typeface="微软雅黑" pitchFamily="34" charset="-122"/>
                <a:ea typeface="微软雅黑" pitchFamily="34" charset="-122"/>
              </a:rPr>
              <a:t>32</a:t>
            </a:r>
            <a:r>
              <a:rPr lang="zh-CN" altLang="en-US" sz="1600" dirty="0">
                <a:solidFill>
                  <a:schemeClr val="tx1">
                    <a:lumMod val="50000"/>
                  </a:schemeClr>
                </a:solidFill>
                <a:latin typeface="微软雅黑" pitchFamily="34" charset="-122"/>
                <a:ea typeface="微软雅黑" pitchFamily="34" charset="-122"/>
              </a:rPr>
              <a:t>宗，占成交的</a:t>
            </a:r>
            <a:r>
              <a:rPr lang="en-US" altLang="zh-CN" sz="1600" dirty="0">
                <a:solidFill>
                  <a:schemeClr val="tx1">
                    <a:lumMod val="50000"/>
                  </a:schemeClr>
                </a:solidFill>
                <a:latin typeface="微软雅黑" pitchFamily="34" charset="-122"/>
                <a:ea typeface="微软雅黑" pitchFamily="34" charset="-122"/>
              </a:rPr>
              <a:t>74%</a:t>
            </a:r>
            <a:r>
              <a:rPr lang="zh-CN" altLang="en-US" sz="1600" dirty="0">
                <a:solidFill>
                  <a:schemeClr val="tx1">
                    <a:lumMod val="50000"/>
                  </a:schemeClr>
                </a:solidFill>
                <a:latin typeface="微软雅黑" pitchFamily="34" charset="-122"/>
                <a:ea typeface="微软雅黑" pitchFamily="34" charset="-122"/>
              </a:rPr>
              <a:t>。</a:t>
            </a:r>
            <a:endParaRPr lang="en-US" altLang="zh-CN" sz="1600" dirty="0">
              <a:solidFill>
                <a:schemeClr val="tx1">
                  <a:lumMod val="50000"/>
                </a:schemeClr>
              </a:solidFill>
              <a:latin typeface="微软雅黑" pitchFamily="34" charset="-122"/>
              <a:ea typeface="微软雅黑" pitchFamily="34" charset="-122"/>
            </a:endParaRPr>
          </a:p>
        </p:txBody>
      </p:sp>
      <p:sp>
        <p:nvSpPr>
          <p:cNvPr id="14" name="文本占位符 2"/>
          <p:cNvSpPr txBox="1">
            <a:spLocks/>
          </p:cNvSpPr>
          <p:nvPr/>
        </p:nvSpPr>
        <p:spPr>
          <a:xfrm>
            <a:off x="255961" y="657616"/>
            <a:ext cx="5107262" cy="454025"/>
          </a:xfrm>
          <a:prstGeom prst="rect">
            <a:avLst/>
          </a:prstGeom>
        </p:spPr>
        <p:txBody>
          <a:bodyPr vert="horz"/>
          <a:lstStyle>
            <a:lvl1pPr marL="0" indent="0" algn="l" defTabSz="457200" rtl="0" eaLnBrk="1" latinLnBrk="0" hangingPunct="1">
              <a:spcBef>
                <a:spcPct val="20000"/>
              </a:spcBef>
              <a:buFont typeface="Arial"/>
              <a:buNone/>
              <a:defRPr sz="1600" kern="1200">
                <a:solidFill>
                  <a:schemeClr val="tx1">
                    <a:lumMod val="75000"/>
                    <a:lumOff val="25000"/>
                  </a:schemeClr>
                </a:solidFill>
                <a:latin typeface="Microsoft YaHei"/>
                <a:ea typeface="+mn-ea"/>
                <a:cs typeface="Microsoft YaHei"/>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85750" indent="-285750">
              <a:buClr>
                <a:schemeClr val="tx1"/>
              </a:buClr>
              <a:buFont typeface="Wingdings" pitchFamily="2" charset="2"/>
              <a:buChar char="Ø"/>
            </a:pPr>
            <a:r>
              <a:rPr lang="zh-CN" altLang="en-US" sz="1800" b="1" dirty="0">
                <a:solidFill>
                  <a:schemeClr val="tx1"/>
                </a:solidFill>
                <a:latin typeface="微软雅黑" pitchFamily="34" charset="-122"/>
                <a:ea typeface="微软雅黑" pitchFamily="34" charset="-122"/>
              </a:rPr>
              <a:t>土地市场：连续</a:t>
            </a:r>
            <a:r>
              <a:rPr lang="en-US" altLang="zh-CN" sz="1800" b="1" dirty="0">
                <a:solidFill>
                  <a:schemeClr val="tx1"/>
                </a:solidFill>
                <a:latin typeface="微软雅黑" pitchFamily="34" charset="-122"/>
                <a:ea typeface="微软雅黑" pitchFamily="34" charset="-122"/>
              </a:rPr>
              <a:t>2</a:t>
            </a:r>
            <a:r>
              <a:rPr lang="zh-CN" altLang="en-US" sz="1800" b="1" dirty="0">
                <a:solidFill>
                  <a:schemeClr val="tx1"/>
                </a:solidFill>
                <a:latin typeface="微软雅黑" pitchFamily="34" charset="-122"/>
                <a:ea typeface="微软雅黑" pitchFamily="34" charset="-122"/>
              </a:rPr>
              <a:t>个月零供应及成交</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8886" y="2197490"/>
            <a:ext cx="7297737" cy="2481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3021266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香河</a:t>
            </a:r>
            <a:r>
              <a:rPr lang="en-US" altLang="zh-CN" dirty="0"/>
              <a:t>| </a:t>
            </a:r>
            <a:r>
              <a:rPr lang="zh-CN" altLang="en-US" sz="1800" dirty="0">
                <a:solidFill>
                  <a:schemeClr val="tx1">
                    <a:lumMod val="75000"/>
                    <a:lumOff val="25000"/>
                  </a:schemeClr>
                </a:solidFill>
              </a:rPr>
              <a:t>商品房市场</a:t>
            </a:r>
            <a:endParaRPr lang="zh-CN" altLang="en-US" sz="1800" dirty="0"/>
          </a:p>
        </p:txBody>
      </p:sp>
      <p:sp>
        <p:nvSpPr>
          <p:cNvPr id="4" name="灯片编号占位符 3"/>
          <p:cNvSpPr>
            <a:spLocks noGrp="1"/>
          </p:cNvSpPr>
          <p:nvPr>
            <p:ph type="sldNum" sz="quarter" idx="4"/>
          </p:nvPr>
        </p:nvSpPr>
        <p:spPr/>
        <p:txBody>
          <a:bodyPr/>
          <a:lstStyle/>
          <a:p>
            <a:pPr>
              <a:defRPr/>
            </a:pPr>
            <a:fld id="{3E8B6F27-EC4F-B34E-9F32-10CC92E9AB18}" type="slidenum">
              <a:rPr lang="zh-CN" altLang="en-US" smtClean="0"/>
              <a:pPr>
                <a:defRPr/>
              </a:pPr>
              <a:t>59</a:t>
            </a:fld>
            <a:endParaRPr lang="zh-CN" altLang="en-US" dirty="0"/>
          </a:p>
        </p:txBody>
      </p:sp>
      <p:sp>
        <p:nvSpPr>
          <p:cNvPr id="7" name="文本占位符 2"/>
          <p:cNvSpPr txBox="1">
            <a:spLocks/>
          </p:cNvSpPr>
          <p:nvPr/>
        </p:nvSpPr>
        <p:spPr>
          <a:xfrm>
            <a:off x="586365" y="714375"/>
            <a:ext cx="6589135" cy="454025"/>
          </a:xfrm>
          <a:prstGeom prst="rect">
            <a:avLst/>
          </a:prstGeom>
        </p:spPr>
        <p:txBody>
          <a:bodyPr vert="horz"/>
          <a:lstStyle>
            <a:lvl1pPr marL="0" indent="0" algn="l" defTabSz="457200" rtl="0" eaLnBrk="1" latinLnBrk="0" hangingPunct="1">
              <a:spcBef>
                <a:spcPct val="20000"/>
              </a:spcBef>
              <a:buFont typeface="Arial"/>
              <a:buNone/>
              <a:defRPr sz="1600" kern="1200">
                <a:solidFill>
                  <a:schemeClr val="tx1">
                    <a:lumMod val="75000"/>
                    <a:lumOff val="25000"/>
                  </a:schemeClr>
                </a:solidFill>
                <a:latin typeface="Microsoft YaHei"/>
                <a:ea typeface="+mn-ea"/>
                <a:cs typeface="Microsoft YaHei"/>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85750" indent="-285750">
              <a:buClr>
                <a:schemeClr val="tx1"/>
              </a:buClr>
              <a:buFont typeface="Wingdings" pitchFamily="2" charset="2"/>
              <a:buChar char="Ø"/>
            </a:pPr>
            <a:r>
              <a:rPr lang="zh-CN" altLang="en-US" sz="1800" b="1" dirty="0">
                <a:solidFill>
                  <a:schemeClr val="tx1"/>
                </a:solidFill>
                <a:latin typeface="微软雅黑" pitchFamily="34" charset="-122"/>
                <a:ea typeface="微软雅黑" pitchFamily="34" charset="-122"/>
              </a:rPr>
              <a:t>商品房：均价再创新高，去化周期下降至不足</a:t>
            </a:r>
            <a:r>
              <a:rPr lang="en-US" altLang="zh-CN" sz="1800" b="1" dirty="0">
                <a:solidFill>
                  <a:schemeClr val="tx1"/>
                </a:solidFill>
                <a:latin typeface="微软雅黑" pitchFamily="34" charset="-122"/>
                <a:ea typeface="微软雅黑" pitchFamily="34" charset="-122"/>
              </a:rPr>
              <a:t>4</a:t>
            </a:r>
            <a:r>
              <a:rPr lang="zh-CN" altLang="en-US" sz="1800" b="1" dirty="0">
                <a:solidFill>
                  <a:schemeClr val="tx1"/>
                </a:solidFill>
                <a:latin typeface="微软雅黑" pitchFamily="34" charset="-122"/>
                <a:ea typeface="微软雅黑" pitchFamily="34" charset="-122"/>
              </a:rPr>
              <a:t>个月</a:t>
            </a:r>
          </a:p>
        </p:txBody>
      </p:sp>
      <p:graphicFrame>
        <p:nvGraphicFramePr>
          <p:cNvPr id="8" name="图表 7"/>
          <p:cNvGraphicFramePr>
            <a:graphicFrameLocks/>
          </p:cNvGraphicFramePr>
          <p:nvPr>
            <p:extLst>
              <p:ext uri="{D42A27DB-BD31-4B8C-83A1-F6EECF244321}">
                <p14:modId xmlns:p14="http://schemas.microsoft.com/office/powerpoint/2010/main" val="3847518488"/>
              </p:ext>
            </p:extLst>
          </p:nvPr>
        </p:nvGraphicFramePr>
        <p:xfrm>
          <a:off x="962451" y="1562953"/>
          <a:ext cx="7185262" cy="24765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图表 8"/>
          <p:cNvGraphicFramePr>
            <a:graphicFrameLocks/>
          </p:cNvGraphicFramePr>
          <p:nvPr>
            <p:extLst>
              <p:ext uri="{D42A27DB-BD31-4B8C-83A1-F6EECF244321}">
                <p14:modId xmlns:p14="http://schemas.microsoft.com/office/powerpoint/2010/main" val="2813947006"/>
              </p:ext>
            </p:extLst>
          </p:nvPr>
        </p:nvGraphicFramePr>
        <p:xfrm>
          <a:off x="962451" y="4237475"/>
          <a:ext cx="7185262" cy="24840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26202941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香河</a:t>
            </a:r>
            <a:r>
              <a:rPr lang="en-US" altLang="zh-CN" dirty="0"/>
              <a:t>| </a:t>
            </a:r>
            <a:r>
              <a:rPr lang="zh-CN" altLang="en-US" sz="1800" dirty="0">
                <a:solidFill>
                  <a:schemeClr val="tx1">
                    <a:lumMod val="75000"/>
                    <a:lumOff val="25000"/>
                  </a:schemeClr>
                </a:solidFill>
              </a:rPr>
              <a:t>商品住宅市场</a:t>
            </a:r>
            <a:endParaRPr lang="zh-CN" altLang="en-US" sz="1800" dirty="0"/>
          </a:p>
        </p:txBody>
      </p:sp>
      <p:sp>
        <p:nvSpPr>
          <p:cNvPr id="4" name="灯片编号占位符 3"/>
          <p:cNvSpPr>
            <a:spLocks noGrp="1"/>
          </p:cNvSpPr>
          <p:nvPr>
            <p:ph type="sldNum" sz="quarter" idx="4"/>
          </p:nvPr>
        </p:nvSpPr>
        <p:spPr/>
        <p:txBody>
          <a:bodyPr/>
          <a:lstStyle/>
          <a:p>
            <a:pPr>
              <a:defRPr/>
            </a:pPr>
            <a:fld id="{3E8B6F27-EC4F-B34E-9F32-10CC92E9AB18}" type="slidenum">
              <a:rPr lang="zh-CN" altLang="en-US" smtClean="0"/>
              <a:pPr>
                <a:defRPr/>
              </a:pPr>
              <a:t>60</a:t>
            </a:fld>
            <a:endParaRPr lang="zh-CN" altLang="en-US" dirty="0"/>
          </a:p>
        </p:txBody>
      </p:sp>
      <p:sp>
        <p:nvSpPr>
          <p:cNvPr id="8" name="文本占位符 2"/>
          <p:cNvSpPr txBox="1">
            <a:spLocks/>
          </p:cNvSpPr>
          <p:nvPr/>
        </p:nvSpPr>
        <p:spPr>
          <a:xfrm>
            <a:off x="416371" y="790107"/>
            <a:ext cx="6881235" cy="454025"/>
          </a:xfrm>
          <a:prstGeom prst="rect">
            <a:avLst/>
          </a:prstGeom>
        </p:spPr>
        <p:txBody>
          <a:bodyPr vert="horz"/>
          <a:lstStyle>
            <a:lvl1pPr marL="0" indent="0" algn="l" defTabSz="457200" rtl="0" eaLnBrk="1" latinLnBrk="0" hangingPunct="1">
              <a:spcBef>
                <a:spcPct val="20000"/>
              </a:spcBef>
              <a:buFont typeface="Arial"/>
              <a:buNone/>
              <a:defRPr sz="1600" kern="1200">
                <a:solidFill>
                  <a:schemeClr val="tx1">
                    <a:lumMod val="75000"/>
                    <a:lumOff val="25000"/>
                  </a:schemeClr>
                </a:solidFill>
                <a:latin typeface="Microsoft YaHei"/>
                <a:ea typeface="+mn-ea"/>
                <a:cs typeface="Microsoft YaHei"/>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85750" indent="-285750">
              <a:buClr>
                <a:schemeClr val="tx1"/>
              </a:buClr>
              <a:buFont typeface="Wingdings" pitchFamily="2" charset="2"/>
              <a:buChar char="Ø"/>
            </a:pPr>
            <a:r>
              <a:rPr lang="zh-CN" altLang="en-US" sz="1800" b="1" dirty="0">
                <a:solidFill>
                  <a:schemeClr val="tx1"/>
                </a:solidFill>
                <a:latin typeface="微软雅黑" pitchFamily="34" charset="-122"/>
                <a:ea typeface="微软雅黑" pitchFamily="34" charset="-122"/>
              </a:rPr>
              <a:t>商品住宅：百万以下成交占比不足二成</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4660" y="1365202"/>
            <a:ext cx="7967663" cy="2578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4127296"/>
            <a:ext cx="4708478" cy="2487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4133472"/>
            <a:ext cx="4572000" cy="2481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4677361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香河</a:t>
            </a:r>
            <a:r>
              <a:rPr lang="en-US" altLang="zh-CN" dirty="0"/>
              <a:t>| </a:t>
            </a:r>
            <a:r>
              <a:rPr lang="zh-CN" altLang="en-US" sz="1800" dirty="0">
                <a:solidFill>
                  <a:schemeClr val="tx1">
                    <a:lumMod val="75000"/>
                    <a:lumOff val="25000"/>
                  </a:schemeClr>
                </a:solidFill>
              </a:rPr>
              <a:t>项目预售情况</a:t>
            </a:r>
          </a:p>
        </p:txBody>
      </p:sp>
      <p:sp>
        <p:nvSpPr>
          <p:cNvPr id="4" name="灯片编号占位符 3"/>
          <p:cNvSpPr>
            <a:spLocks noGrp="1"/>
          </p:cNvSpPr>
          <p:nvPr>
            <p:ph type="sldNum" sz="quarter" idx="4"/>
          </p:nvPr>
        </p:nvSpPr>
        <p:spPr/>
        <p:txBody>
          <a:bodyPr/>
          <a:lstStyle/>
          <a:p>
            <a:pPr>
              <a:defRPr/>
            </a:pPr>
            <a:fld id="{3E8B6F27-EC4F-B34E-9F32-10CC92E9AB18}" type="slidenum">
              <a:rPr lang="zh-CN" altLang="en-US" smtClean="0"/>
              <a:pPr>
                <a:defRPr/>
              </a:pPr>
              <a:t>61</a:t>
            </a:fld>
            <a:endParaRPr lang="zh-CN" altLang="en-US" dirty="0"/>
          </a:p>
        </p:txBody>
      </p:sp>
      <p:graphicFrame>
        <p:nvGraphicFramePr>
          <p:cNvPr id="9" name="表格 8"/>
          <p:cNvGraphicFramePr>
            <a:graphicFrameLocks noGrp="1"/>
          </p:cNvGraphicFramePr>
          <p:nvPr>
            <p:extLst>
              <p:ext uri="{D42A27DB-BD31-4B8C-83A1-F6EECF244321}">
                <p14:modId xmlns:p14="http://schemas.microsoft.com/office/powerpoint/2010/main" val="2231444762"/>
              </p:ext>
            </p:extLst>
          </p:nvPr>
        </p:nvGraphicFramePr>
        <p:xfrm>
          <a:off x="1812209" y="3002608"/>
          <a:ext cx="5040000" cy="3528000"/>
        </p:xfrm>
        <a:graphic>
          <a:graphicData uri="http://schemas.openxmlformats.org/drawingml/2006/table">
            <a:tbl>
              <a:tblPr firstRow="1">
                <a:tableStyleId>{93296810-A885-4BE3-A3E7-6D5BEEA58F35}</a:tableStyleId>
              </a:tblPr>
              <a:tblGrid>
                <a:gridCol w="1692000">
                  <a:extLst>
                    <a:ext uri="{9D8B030D-6E8A-4147-A177-3AD203B41FA5}">
                      <a16:colId xmlns:a16="http://schemas.microsoft.com/office/drawing/2014/main" val="20000"/>
                    </a:ext>
                  </a:extLst>
                </a:gridCol>
                <a:gridCol w="1674000">
                  <a:extLst>
                    <a:ext uri="{9D8B030D-6E8A-4147-A177-3AD203B41FA5}">
                      <a16:colId xmlns:a16="http://schemas.microsoft.com/office/drawing/2014/main" val="20001"/>
                    </a:ext>
                  </a:extLst>
                </a:gridCol>
                <a:gridCol w="1674000">
                  <a:extLst>
                    <a:ext uri="{9D8B030D-6E8A-4147-A177-3AD203B41FA5}">
                      <a16:colId xmlns:a16="http://schemas.microsoft.com/office/drawing/2014/main" val="20002"/>
                    </a:ext>
                  </a:extLst>
                </a:gridCol>
              </a:tblGrid>
              <a:tr h="360000">
                <a:tc>
                  <a:txBody>
                    <a:bodyPr/>
                    <a:lstStyle/>
                    <a:p>
                      <a:pPr algn="ctr" rtl="0" fontAlgn="ctr"/>
                      <a:r>
                        <a:rPr lang="zh-CN" altLang="en-US" sz="1300" u="none" strike="noStrike" dirty="0">
                          <a:solidFill>
                            <a:schemeClr val="bg1"/>
                          </a:solidFill>
                          <a:effectLst/>
                          <a:latin typeface="黑体" pitchFamily="2" charset="-122"/>
                          <a:ea typeface="黑体" pitchFamily="2" charset="-122"/>
                        </a:rPr>
                        <a:t>项目名称</a:t>
                      </a:r>
                      <a:endParaRPr lang="zh-CN" altLang="en-US" sz="1300" b="1" i="0" u="none" strike="noStrike" dirty="0">
                        <a:solidFill>
                          <a:schemeClr val="bg1"/>
                        </a:solidFill>
                        <a:effectLst/>
                        <a:latin typeface="黑体" pitchFamily="2" charset="-122"/>
                        <a:ea typeface="黑体" pitchFamily="2" charset="-122"/>
                      </a:endParaRPr>
                    </a:p>
                  </a:txBody>
                  <a:tcPr marL="9525" marR="9525" marT="9525" marB="0" anchor="ctr">
                    <a:solidFill>
                      <a:schemeClr val="tx2">
                        <a:lumMod val="60000"/>
                        <a:lumOff val="40000"/>
                      </a:schemeClr>
                    </a:solidFill>
                  </a:tcPr>
                </a:tc>
                <a:tc>
                  <a:txBody>
                    <a:bodyPr/>
                    <a:lstStyle/>
                    <a:p>
                      <a:pPr algn="ctr" rtl="0" fontAlgn="ctr"/>
                      <a:r>
                        <a:rPr lang="zh-CN" altLang="en-US" sz="1300" b="1" u="none" strike="noStrike" kern="1200" dirty="0">
                          <a:solidFill>
                            <a:schemeClr val="bg1"/>
                          </a:solidFill>
                          <a:effectLst/>
                          <a:latin typeface="黑体" pitchFamily="2" charset="-122"/>
                          <a:ea typeface="黑体" pitchFamily="2" charset="-122"/>
                          <a:cs typeface="+mn-cs"/>
                        </a:rPr>
                        <a:t>批准销售套数（套）</a:t>
                      </a:r>
                      <a:endParaRPr lang="zh-CN" altLang="en-US" sz="1300" b="1" i="0" u="none" strike="noStrike" kern="1200" dirty="0">
                        <a:solidFill>
                          <a:schemeClr val="bg1"/>
                        </a:solidFill>
                        <a:effectLst/>
                        <a:latin typeface="黑体" pitchFamily="2" charset="-122"/>
                        <a:ea typeface="黑体" pitchFamily="2" charset="-122"/>
                        <a:cs typeface="+mn-cs"/>
                      </a:endParaRPr>
                    </a:p>
                  </a:txBody>
                  <a:tcPr marL="9525" marR="9525" marT="9525" marB="0" anchor="ctr">
                    <a:solidFill>
                      <a:schemeClr val="tx2">
                        <a:lumMod val="60000"/>
                        <a:lumOff val="40000"/>
                      </a:schemeClr>
                    </a:solidFill>
                  </a:tcPr>
                </a:tc>
                <a:tc>
                  <a:txBody>
                    <a:bodyPr/>
                    <a:lstStyle/>
                    <a:p>
                      <a:pPr algn="ctr" rtl="0" fontAlgn="ctr"/>
                      <a:r>
                        <a:rPr lang="zh-CN" altLang="en-US" sz="1300" b="1" u="none" strike="noStrike" dirty="0">
                          <a:solidFill>
                            <a:schemeClr val="bg1"/>
                          </a:solidFill>
                          <a:effectLst/>
                          <a:latin typeface="黑体" pitchFamily="2" charset="-122"/>
                          <a:ea typeface="黑体" pitchFamily="2" charset="-122"/>
                        </a:rPr>
                        <a:t>准许销售</a:t>
                      </a:r>
                      <a:r>
                        <a:rPr lang="zh-CN" altLang="en-US" sz="1300" b="1" u="none" strike="noStrike" kern="1200" dirty="0">
                          <a:solidFill>
                            <a:schemeClr val="bg1"/>
                          </a:solidFill>
                          <a:effectLst/>
                          <a:latin typeface="黑体" pitchFamily="2" charset="-122"/>
                          <a:ea typeface="黑体" pitchFamily="2" charset="-122"/>
                          <a:cs typeface="+mn-cs"/>
                        </a:rPr>
                        <a:t>面积（㎡）</a:t>
                      </a:r>
                      <a:endParaRPr lang="zh-CN" altLang="en-US" sz="1300" b="1" i="0" u="none" strike="noStrike" kern="1200" dirty="0">
                        <a:solidFill>
                          <a:schemeClr val="bg1"/>
                        </a:solidFill>
                        <a:effectLst/>
                        <a:latin typeface="黑体" pitchFamily="2" charset="-122"/>
                        <a:ea typeface="黑体" pitchFamily="2" charset="-122"/>
                        <a:cs typeface="+mn-cs"/>
                      </a:endParaRPr>
                    </a:p>
                  </a:txBody>
                  <a:tcPr marL="9525" marR="9525" marT="9525" marB="0" anchor="ctr">
                    <a:solidFill>
                      <a:schemeClr val="tx2">
                        <a:lumMod val="60000"/>
                        <a:lumOff val="40000"/>
                      </a:schemeClr>
                    </a:solidFill>
                  </a:tcPr>
                </a:tc>
                <a:extLst>
                  <a:ext uri="{0D108BD9-81ED-4DB2-BD59-A6C34878D82A}">
                    <a16:rowId xmlns:a16="http://schemas.microsoft.com/office/drawing/2014/main" val="10000"/>
                  </a:ext>
                </a:extLst>
              </a:tr>
              <a:tr h="288000">
                <a:tc>
                  <a:txBody>
                    <a:bodyPr/>
                    <a:lstStyle/>
                    <a:p>
                      <a:pPr algn="ctr" fontAlgn="ctr"/>
                      <a:r>
                        <a:rPr lang="zh-CN" altLang="en-US" sz="1300" b="0" i="0" u="none" strike="noStrike" kern="1200" dirty="0">
                          <a:solidFill>
                            <a:srgbClr val="000000"/>
                          </a:solidFill>
                          <a:effectLst/>
                          <a:latin typeface="黑体" pitchFamily="2" charset="-122"/>
                          <a:ea typeface="黑体" pitchFamily="2" charset="-122"/>
                          <a:cs typeface="+mn-cs"/>
                        </a:rPr>
                        <a:t>专家公寓</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1177</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112907</a:t>
                      </a:r>
                    </a:p>
                  </a:txBody>
                  <a:tcPr marL="9525" marR="9525" marT="9525" marB="0" anchor="ctr">
                    <a:solidFill>
                      <a:schemeClr val="tx2">
                        <a:lumMod val="20000"/>
                        <a:lumOff val="80000"/>
                      </a:schemeClr>
                    </a:solidFill>
                  </a:tcPr>
                </a:tc>
                <a:extLst>
                  <a:ext uri="{0D108BD9-81ED-4DB2-BD59-A6C34878D82A}">
                    <a16:rowId xmlns:a16="http://schemas.microsoft.com/office/drawing/2014/main" val="10001"/>
                  </a:ext>
                </a:extLst>
              </a:tr>
              <a:tr h="28800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大运河孔雀城</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935</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133356</a:t>
                      </a:r>
                    </a:p>
                  </a:txBody>
                  <a:tcPr marL="9525" marR="9525" marT="9525" marB="0" anchor="ctr">
                    <a:solidFill>
                      <a:schemeClr val="tx2">
                        <a:lumMod val="20000"/>
                        <a:lumOff val="80000"/>
                      </a:schemeClr>
                    </a:solidFill>
                  </a:tcPr>
                </a:tc>
                <a:extLst>
                  <a:ext uri="{0D108BD9-81ED-4DB2-BD59-A6C34878D82A}">
                    <a16:rowId xmlns:a16="http://schemas.microsoft.com/office/drawing/2014/main" val="10002"/>
                  </a:ext>
                </a:extLst>
              </a:tr>
              <a:tr h="28800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尚乘华府</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912</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94503</a:t>
                      </a:r>
                    </a:p>
                  </a:txBody>
                  <a:tcPr marL="9525" marR="9525" marT="9525" marB="0" anchor="ctr">
                    <a:solidFill>
                      <a:schemeClr val="tx2">
                        <a:lumMod val="20000"/>
                        <a:lumOff val="80000"/>
                      </a:schemeClr>
                    </a:solidFill>
                  </a:tcPr>
                </a:tc>
                <a:extLst>
                  <a:ext uri="{0D108BD9-81ED-4DB2-BD59-A6C34878D82A}">
                    <a16:rowId xmlns:a16="http://schemas.microsoft.com/office/drawing/2014/main" val="10003"/>
                  </a:ext>
                </a:extLst>
              </a:tr>
              <a:tr h="28800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富力新城</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815</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79996</a:t>
                      </a:r>
                    </a:p>
                  </a:txBody>
                  <a:tcPr marL="9525" marR="9525" marT="9525" marB="0" anchor="ctr">
                    <a:solidFill>
                      <a:schemeClr val="tx2">
                        <a:lumMod val="20000"/>
                        <a:lumOff val="80000"/>
                      </a:schemeClr>
                    </a:solidFill>
                  </a:tcPr>
                </a:tc>
                <a:extLst>
                  <a:ext uri="{0D108BD9-81ED-4DB2-BD59-A6C34878D82A}">
                    <a16:rowId xmlns:a16="http://schemas.microsoft.com/office/drawing/2014/main" val="10004"/>
                  </a:ext>
                </a:extLst>
              </a:tr>
              <a:tr h="28800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兴业公寓</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810</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73292</a:t>
                      </a:r>
                    </a:p>
                  </a:txBody>
                  <a:tcPr marL="9525" marR="9525" marT="9525" marB="0" anchor="ctr">
                    <a:solidFill>
                      <a:schemeClr val="tx2">
                        <a:lumMod val="20000"/>
                        <a:lumOff val="80000"/>
                      </a:schemeClr>
                    </a:solidFill>
                  </a:tcPr>
                </a:tc>
                <a:extLst>
                  <a:ext uri="{0D108BD9-81ED-4DB2-BD59-A6C34878D82A}">
                    <a16:rowId xmlns:a16="http://schemas.microsoft.com/office/drawing/2014/main" val="10005"/>
                  </a:ext>
                </a:extLst>
              </a:tr>
              <a:tr h="28800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天悦小区</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511</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53922</a:t>
                      </a:r>
                    </a:p>
                  </a:txBody>
                  <a:tcPr marL="9525" marR="9525" marT="9525" marB="0" anchor="ctr">
                    <a:solidFill>
                      <a:schemeClr val="tx2">
                        <a:lumMod val="20000"/>
                        <a:lumOff val="80000"/>
                      </a:schemeClr>
                    </a:solidFill>
                  </a:tcPr>
                </a:tc>
                <a:extLst>
                  <a:ext uri="{0D108BD9-81ED-4DB2-BD59-A6C34878D82A}">
                    <a16:rowId xmlns:a16="http://schemas.microsoft.com/office/drawing/2014/main" val="10006"/>
                  </a:ext>
                </a:extLst>
              </a:tr>
              <a:tr h="28800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荣盛白鹭岛</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377</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33142</a:t>
                      </a:r>
                    </a:p>
                  </a:txBody>
                  <a:tcPr marL="9525" marR="9525" marT="9525" marB="0" anchor="ctr">
                    <a:solidFill>
                      <a:schemeClr val="tx2">
                        <a:lumMod val="20000"/>
                        <a:lumOff val="80000"/>
                      </a:schemeClr>
                    </a:solidFill>
                  </a:tcPr>
                </a:tc>
                <a:extLst>
                  <a:ext uri="{0D108BD9-81ED-4DB2-BD59-A6C34878D82A}">
                    <a16:rowId xmlns:a16="http://schemas.microsoft.com/office/drawing/2014/main" val="10007"/>
                  </a:ext>
                </a:extLst>
              </a:tr>
              <a:tr h="28800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京汉铂寓</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224</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21431</a:t>
                      </a:r>
                    </a:p>
                  </a:txBody>
                  <a:tcPr marL="9525" marR="9525" marT="9525" marB="0" anchor="ctr">
                    <a:solidFill>
                      <a:schemeClr val="tx2">
                        <a:lumMod val="20000"/>
                        <a:lumOff val="80000"/>
                      </a:schemeClr>
                    </a:solidFill>
                  </a:tcPr>
                </a:tc>
                <a:extLst>
                  <a:ext uri="{0D108BD9-81ED-4DB2-BD59-A6C34878D82A}">
                    <a16:rowId xmlns:a16="http://schemas.microsoft.com/office/drawing/2014/main" val="10008"/>
                  </a:ext>
                </a:extLst>
              </a:tr>
              <a:tr h="28800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爱晚康城</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190</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25263</a:t>
                      </a:r>
                    </a:p>
                  </a:txBody>
                  <a:tcPr marL="9525" marR="9525" marT="9525" marB="0" anchor="ctr">
                    <a:solidFill>
                      <a:schemeClr val="tx2">
                        <a:lumMod val="20000"/>
                        <a:lumOff val="80000"/>
                      </a:schemeClr>
                    </a:solidFill>
                  </a:tcPr>
                </a:tc>
                <a:extLst>
                  <a:ext uri="{0D108BD9-81ED-4DB2-BD59-A6C34878D82A}">
                    <a16:rowId xmlns:a16="http://schemas.microsoft.com/office/drawing/2014/main" val="10009"/>
                  </a:ext>
                </a:extLst>
              </a:tr>
              <a:tr h="28800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珠光逸景</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120</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14494</a:t>
                      </a:r>
                    </a:p>
                  </a:txBody>
                  <a:tcPr marL="9525" marR="9525" marT="9525" marB="0" anchor="ctr">
                    <a:solidFill>
                      <a:schemeClr val="tx2">
                        <a:lumMod val="20000"/>
                        <a:lumOff val="80000"/>
                      </a:schemeClr>
                    </a:solidFill>
                  </a:tcPr>
                </a:tc>
                <a:extLst>
                  <a:ext uri="{0D108BD9-81ED-4DB2-BD59-A6C34878D82A}">
                    <a16:rowId xmlns:a16="http://schemas.microsoft.com/office/drawing/2014/main" val="10010"/>
                  </a:ext>
                </a:extLst>
              </a:tr>
              <a:tr h="28800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香城壹号</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118</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10961</a:t>
                      </a:r>
                    </a:p>
                  </a:txBody>
                  <a:tcPr marL="9525" marR="9525" marT="9525" marB="0" anchor="ctr">
                    <a:solidFill>
                      <a:schemeClr val="tx2">
                        <a:lumMod val="20000"/>
                        <a:lumOff val="80000"/>
                      </a:schemeClr>
                    </a:solidFill>
                  </a:tcPr>
                </a:tc>
                <a:extLst>
                  <a:ext uri="{0D108BD9-81ED-4DB2-BD59-A6C34878D82A}">
                    <a16:rowId xmlns:a16="http://schemas.microsoft.com/office/drawing/2014/main" val="10011"/>
                  </a:ext>
                </a:extLst>
              </a:tr>
            </a:tbl>
          </a:graphicData>
        </a:graphic>
      </p:graphicFrame>
      <p:graphicFrame>
        <p:nvGraphicFramePr>
          <p:cNvPr id="12" name="表格 11"/>
          <p:cNvGraphicFramePr>
            <a:graphicFrameLocks noGrp="1"/>
          </p:cNvGraphicFramePr>
          <p:nvPr>
            <p:extLst>
              <p:ext uri="{D42A27DB-BD31-4B8C-83A1-F6EECF244321}">
                <p14:modId xmlns:p14="http://schemas.microsoft.com/office/powerpoint/2010/main" val="4135606674"/>
              </p:ext>
            </p:extLst>
          </p:nvPr>
        </p:nvGraphicFramePr>
        <p:xfrm>
          <a:off x="1822810" y="1124018"/>
          <a:ext cx="5040000" cy="1224000"/>
        </p:xfrm>
        <a:graphic>
          <a:graphicData uri="http://schemas.openxmlformats.org/drawingml/2006/table">
            <a:tbl>
              <a:tblPr>
                <a:tableStyleId>{5C22544A-7EE6-4342-B048-85BDC9FD1C3A}</a:tableStyleId>
              </a:tblPr>
              <a:tblGrid>
                <a:gridCol w="1692286">
                  <a:extLst>
                    <a:ext uri="{9D8B030D-6E8A-4147-A177-3AD203B41FA5}">
                      <a16:colId xmlns:a16="http://schemas.microsoft.com/office/drawing/2014/main" val="20000"/>
                    </a:ext>
                  </a:extLst>
                </a:gridCol>
                <a:gridCol w="1673857">
                  <a:extLst>
                    <a:ext uri="{9D8B030D-6E8A-4147-A177-3AD203B41FA5}">
                      <a16:colId xmlns:a16="http://schemas.microsoft.com/office/drawing/2014/main" val="20001"/>
                    </a:ext>
                  </a:extLst>
                </a:gridCol>
                <a:gridCol w="1673857">
                  <a:extLst>
                    <a:ext uri="{9D8B030D-6E8A-4147-A177-3AD203B41FA5}">
                      <a16:colId xmlns:a16="http://schemas.microsoft.com/office/drawing/2014/main" val="20002"/>
                    </a:ext>
                  </a:extLst>
                </a:gridCol>
              </a:tblGrid>
              <a:tr h="360000">
                <a:tc>
                  <a:txBody>
                    <a:bodyPr/>
                    <a:lstStyle/>
                    <a:p>
                      <a:pPr algn="ctr" rtl="0" fontAlgn="ctr"/>
                      <a:r>
                        <a:rPr lang="zh-CN" altLang="en-US" sz="1300" b="1" u="none" strike="noStrike" dirty="0">
                          <a:solidFill>
                            <a:schemeClr val="bg1"/>
                          </a:solidFill>
                          <a:effectLst/>
                          <a:latin typeface="黑体" pitchFamily="2" charset="-122"/>
                          <a:ea typeface="黑体" pitchFamily="2" charset="-122"/>
                        </a:rPr>
                        <a:t>项目名称</a:t>
                      </a:r>
                      <a:endParaRPr lang="zh-CN" altLang="en-US" sz="1300" b="1" i="0" u="none" strike="noStrike" dirty="0">
                        <a:solidFill>
                          <a:schemeClr val="bg1"/>
                        </a:solidFill>
                        <a:effectLst/>
                        <a:latin typeface="黑体" pitchFamily="2" charset="-122"/>
                        <a:ea typeface="黑体" pitchFamily="2" charset="-122"/>
                      </a:endParaRPr>
                    </a:p>
                  </a:txBody>
                  <a:tcPr marL="9525" marR="9525" marT="9525" marB="0" anchor="ctr">
                    <a:solidFill>
                      <a:schemeClr val="tx2">
                        <a:lumMod val="60000"/>
                        <a:lumOff val="40000"/>
                      </a:schemeClr>
                    </a:solidFill>
                  </a:tcPr>
                </a:tc>
                <a:tc>
                  <a:txBody>
                    <a:bodyPr/>
                    <a:lstStyle/>
                    <a:p>
                      <a:pPr algn="ctr" rtl="0" fontAlgn="ctr"/>
                      <a:r>
                        <a:rPr lang="zh-CN" altLang="en-US" sz="1300" b="1" u="none" strike="noStrike" kern="1200" dirty="0">
                          <a:solidFill>
                            <a:schemeClr val="bg1"/>
                          </a:solidFill>
                          <a:effectLst/>
                          <a:latin typeface="黑体" pitchFamily="2" charset="-122"/>
                          <a:ea typeface="黑体" pitchFamily="2" charset="-122"/>
                          <a:cs typeface="+mn-cs"/>
                        </a:rPr>
                        <a:t>批准销售套数（套）</a:t>
                      </a:r>
                      <a:endParaRPr lang="zh-CN" altLang="en-US" sz="1300" b="1" i="0" u="none" strike="noStrike" kern="1200" dirty="0">
                        <a:solidFill>
                          <a:schemeClr val="bg1"/>
                        </a:solidFill>
                        <a:effectLst/>
                        <a:latin typeface="黑体" pitchFamily="2" charset="-122"/>
                        <a:ea typeface="黑体" pitchFamily="2" charset="-122"/>
                        <a:cs typeface="+mn-cs"/>
                      </a:endParaRPr>
                    </a:p>
                  </a:txBody>
                  <a:tcPr marL="9525" marR="9525" marT="9525" marB="0" anchor="ctr">
                    <a:solidFill>
                      <a:schemeClr val="tx2">
                        <a:lumMod val="60000"/>
                        <a:lumOff val="40000"/>
                      </a:schemeClr>
                    </a:solidFill>
                  </a:tcPr>
                </a:tc>
                <a:tc>
                  <a:txBody>
                    <a:bodyPr/>
                    <a:lstStyle/>
                    <a:p>
                      <a:pPr algn="ctr" rtl="0" fontAlgn="ctr"/>
                      <a:r>
                        <a:rPr lang="zh-CN" altLang="en-US" sz="1300" b="1" u="none" strike="noStrike" dirty="0">
                          <a:solidFill>
                            <a:schemeClr val="bg1"/>
                          </a:solidFill>
                          <a:effectLst/>
                          <a:latin typeface="黑体" pitchFamily="2" charset="-122"/>
                          <a:ea typeface="黑体" pitchFamily="2" charset="-122"/>
                        </a:rPr>
                        <a:t>准许销售</a:t>
                      </a:r>
                      <a:r>
                        <a:rPr lang="zh-CN" altLang="en-US" sz="1300" b="1" u="none" strike="noStrike" kern="1200" dirty="0">
                          <a:solidFill>
                            <a:schemeClr val="bg1"/>
                          </a:solidFill>
                          <a:effectLst/>
                          <a:latin typeface="黑体" pitchFamily="2" charset="-122"/>
                          <a:ea typeface="黑体" pitchFamily="2" charset="-122"/>
                          <a:cs typeface="+mn-cs"/>
                        </a:rPr>
                        <a:t>面积（㎡）</a:t>
                      </a:r>
                      <a:endParaRPr lang="zh-CN" altLang="en-US" sz="1300" b="1" i="0" u="none" strike="noStrike" kern="1200" dirty="0">
                        <a:solidFill>
                          <a:schemeClr val="bg1"/>
                        </a:solidFill>
                        <a:effectLst/>
                        <a:latin typeface="黑体" pitchFamily="2" charset="-122"/>
                        <a:ea typeface="黑体" pitchFamily="2" charset="-122"/>
                        <a:cs typeface="+mn-cs"/>
                      </a:endParaRPr>
                    </a:p>
                  </a:txBody>
                  <a:tcPr marL="9525" marR="9525" marT="9525" marB="0" anchor="ctr">
                    <a:solidFill>
                      <a:schemeClr val="tx2">
                        <a:lumMod val="60000"/>
                        <a:lumOff val="40000"/>
                      </a:schemeClr>
                    </a:solidFill>
                  </a:tcPr>
                </a:tc>
                <a:extLst>
                  <a:ext uri="{0D108BD9-81ED-4DB2-BD59-A6C34878D82A}">
                    <a16:rowId xmlns:a16="http://schemas.microsoft.com/office/drawing/2014/main" val="10000"/>
                  </a:ext>
                </a:extLst>
              </a:tr>
              <a:tr h="288000">
                <a:tc>
                  <a:txBody>
                    <a:bodyPr/>
                    <a:lstStyle/>
                    <a:p>
                      <a:pPr algn="ctr" fontAlgn="ctr"/>
                      <a:r>
                        <a:rPr lang="zh-CN" altLang="en-US" sz="1300" b="0" i="0" u="none" strike="noStrike" kern="1200" dirty="0">
                          <a:solidFill>
                            <a:srgbClr val="000000"/>
                          </a:solidFill>
                          <a:effectLst/>
                          <a:latin typeface="黑体" pitchFamily="2" charset="-122"/>
                          <a:ea typeface="黑体" pitchFamily="2" charset="-122"/>
                          <a:cs typeface="+mn-cs"/>
                        </a:rPr>
                        <a:t>兴业公寓</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810</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73292</a:t>
                      </a:r>
                    </a:p>
                  </a:txBody>
                  <a:tcPr marL="9525" marR="9525" marT="9525" marB="0" anchor="ctr">
                    <a:solidFill>
                      <a:schemeClr val="tx2">
                        <a:lumMod val="20000"/>
                        <a:lumOff val="80000"/>
                      </a:schemeClr>
                    </a:solidFill>
                  </a:tcPr>
                </a:tc>
                <a:extLst>
                  <a:ext uri="{0D108BD9-81ED-4DB2-BD59-A6C34878D82A}">
                    <a16:rowId xmlns:a16="http://schemas.microsoft.com/office/drawing/2014/main" val="10001"/>
                  </a:ext>
                </a:extLst>
              </a:tr>
              <a:tr h="288000">
                <a:tc>
                  <a:txBody>
                    <a:bodyPr/>
                    <a:lstStyle/>
                    <a:p>
                      <a:pPr algn="ctr" fontAlgn="ctr"/>
                      <a:r>
                        <a:rPr lang="zh-CN" altLang="en-US" sz="1300" b="0" i="0" u="none" strike="noStrike" kern="1200" dirty="0">
                          <a:solidFill>
                            <a:srgbClr val="000000"/>
                          </a:solidFill>
                          <a:effectLst/>
                          <a:latin typeface="黑体" pitchFamily="2" charset="-122"/>
                          <a:ea typeface="黑体" pitchFamily="2" charset="-122"/>
                          <a:cs typeface="+mn-cs"/>
                        </a:rPr>
                        <a:t>大运河孔雀城</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416</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67374</a:t>
                      </a:r>
                    </a:p>
                  </a:txBody>
                  <a:tcPr marL="9525" marR="9525" marT="9525" marB="0" anchor="ctr">
                    <a:solidFill>
                      <a:schemeClr val="tx2">
                        <a:lumMod val="20000"/>
                        <a:lumOff val="80000"/>
                      </a:schemeClr>
                    </a:solidFill>
                  </a:tcPr>
                </a:tc>
                <a:extLst>
                  <a:ext uri="{0D108BD9-81ED-4DB2-BD59-A6C34878D82A}">
                    <a16:rowId xmlns:a16="http://schemas.microsoft.com/office/drawing/2014/main" val="10002"/>
                  </a:ext>
                </a:extLst>
              </a:tr>
              <a:tr h="28800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京汉铂寓</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112</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10716</a:t>
                      </a:r>
                    </a:p>
                  </a:txBody>
                  <a:tcPr marL="9525" marR="9525" marT="9525" marB="0" anchor="ctr">
                    <a:solidFill>
                      <a:schemeClr val="tx2">
                        <a:lumMod val="20000"/>
                        <a:lumOff val="80000"/>
                      </a:schemeClr>
                    </a:solidFill>
                  </a:tcPr>
                </a:tc>
                <a:extLst>
                  <a:ext uri="{0D108BD9-81ED-4DB2-BD59-A6C34878D82A}">
                    <a16:rowId xmlns:a16="http://schemas.microsoft.com/office/drawing/2014/main" val="10003"/>
                  </a:ext>
                </a:extLst>
              </a:tr>
            </a:tbl>
          </a:graphicData>
        </a:graphic>
      </p:graphicFrame>
      <p:sp>
        <p:nvSpPr>
          <p:cNvPr id="8" name="矩形 7"/>
          <p:cNvSpPr/>
          <p:nvPr/>
        </p:nvSpPr>
        <p:spPr>
          <a:xfrm>
            <a:off x="1829439" y="729904"/>
            <a:ext cx="2684518" cy="327546"/>
          </a:xfrm>
          <a:prstGeom prst="rect">
            <a:avLst/>
          </a:prstGeom>
          <a:solidFill>
            <a:schemeClr val="accent6">
              <a:lumMod val="75000"/>
              <a:alpha val="46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400" b="1" dirty="0">
                <a:latin typeface="微软雅黑" pitchFamily="34" charset="-122"/>
                <a:ea typeface="微软雅黑" pitchFamily="34" charset="-122"/>
              </a:rPr>
              <a:t>8</a:t>
            </a:r>
            <a:r>
              <a:rPr lang="zh-CN" altLang="en-US" sz="1400" b="1" dirty="0">
                <a:latin typeface="微软雅黑" pitchFamily="34" charset="-122"/>
                <a:ea typeface="微软雅黑" pitchFamily="34" charset="-122"/>
              </a:rPr>
              <a:t>月项目预售情况</a:t>
            </a:r>
          </a:p>
        </p:txBody>
      </p:sp>
      <p:sp>
        <p:nvSpPr>
          <p:cNvPr id="13" name="矩形 12"/>
          <p:cNvSpPr/>
          <p:nvPr/>
        </p:nvSpPr>
        <p:spPr>
          <a:xfrm>
            <a:off x="1812209" y="2587987"/>
            <a:ext cx="2684518" cy="327546"/>
          </a:xfrm>
          <a:prstGeom prst="rect">
            <a:avLst/>
          </a:prstGeom>
          <a:solidFill>
            <a:schemeClr val="accent6">
              <a:lumMod val="75000"/>
              <a:alpha val="46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400" b="1" dirty="0">
                <a:latin typeface="微软雅黑" pitchFamily="34" charset="-122"/>
                <a:ea typeface="微软雅黑" pitchFamily="34" charset="-122"/>
              </a:rPr>
              <a:t>1-8</a:t>
            </a:r>
            <a:r>
              <a:rPr lang="zh-CN" altLang="en-US" sz="1400" b="1" dirty="0">
                <a:latin typeface="微软雅黑" pitchFamily="34" charset="-122"/>
                <a:ea typeface="微软雅黑" pitchFamily="34" charset="-122"/>
              </a:rPr>
              <a:t>月项目预售情况</a:t>
            </a:r>
          </a:p>
        </p:txBody>
      </p:sp>
    </p:spTree>
    <p:extLst>
      <p:ext uri="{BB962C8B-B14F-4D97-AF65-F5344CB8AC3E}">
        <p14:creationId xmlns:p14="http://schemas.microsoft.com/office/powerpoint/2010/main" val="4139313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香河</a:t>
            </a:r>
            <a:r>
              <a:rPr lang="en-US" altLang="zh-CN" dirty="0"/>
              <a:t>| </a:t>
            </a:r>
            <a:r>
              <a:rPr lang="zh-CN" altLang="en-US" sz="1800" dirty="0">
                <a:solidFill>
                  <a:schemeClr val="tx1">
                    <a:lumMod val="75000"/>
                    <a:lumOff val="25000"/>
                  </a:schemeClr>
                </a:solidFill>
              </a:rPr>
              <a:t>项目成交情况</a:t>
            </a:r>
          </a:p>
        </p:txBody>
      </p:sp>
      <p:sp>
        <p:nvSpPr>
          <p:cNvPr id="4" name="灯片编号占位符 3"/>
          <p:cNvSpPr>
            <a:spLocks noGrp="1"/>
          </p:cNvSpPr>
          <p:nvPr>
            <p:ph type="sldNum" sz="quarter" idx="4"/>
          </p:nvPr>
        </p:nvSpPr>
        <p:spPr/>
        <p:txBody>
          <a:bodyPr/>
          <a:lstStyle/>
          <a:p>
            <a:pPr>
              <a:defRPr/>
            </a:pPr>
            <a:fld id="{3E8B6F27-EC4F-B34E-9F32-10CC92E9AB18}" type="slidenum">
              <a:rPr lang="zh-CN" altLang="en-US" smtClean="0"/>
              <a:pPr>
                <a:defRPr/>
              </a:pPr>
              <a:t>62</a:t>
            </a:fld>
            <a:endParaRPr lang="zh-CN" altLang="en-US" dirty="0"/>
          </a:p>
        </p:txBody>
      </p:sp>
      <p:graphicFrame>
        <p:nvGraphicFramePr>
          <p:cNvPr id="7" name="表格 6"/>
          <p:cNvGraphicFramePr>
            <a:graphicFrameLocks noGrp="1"/>
          </p:cNvGraphicFramePr>
          <p:nvPr>
            <p:extLst>
              <p:ext uri="{D42A27DB-BD31-4B8C-83A1-F6EECF244321}">
                <p14:modId xmlns:p14="http://schemas.microsoft.com/office/powerpoint/2010/main" val="2992506902"/>
              </p:ext>
            </p:extLst>
          </p:nvPr>
        </p:nvGraphicFramePr>
        <p:xfrm>
          <a:off x="1536857" y="1000398"/>
          <a:ext cx="6175827" cy="2482793"/>
        </p:xfrm>
        <a:graphic>
          <a:graphicData uri="http://schemas.openxmlformats.org/drawingml/2006/table">
            <a:tbl>
              <a:tblPr>
                <a:tableStyleId>{5C22544A-7EE6-4342-B048-85BDC9FD1C3A}</a:tableStyleId>
              </a:tblPr>
              <a:tblGrid>
                <a:gridCol w="1803243">
                  <a:extLst>
                    <a:ext uri="{9D8B030D-6E8A-4147-A177-3AD203B41FA5}">
                      <a16:colId xmlns:a16="http://schemas.microsoft.com/office/drawing/2014/main" val="20000"/>
                    </a:ext>
                  </a:extLst>
                </a:gridCol>
                <a:gridCol w="916200">
                  <a:extLst>
                    <a:ext uri="{9D8B030D-6E8A-4147-A177-3AD203B41FA5}">
                      <a16:colId xmlns:a16="http://schemas.microsoft.com/office/drawing/2014/main" val="20001"/>
                    </a:ext>
                  </a:extLst>
                </a:gridCol>
                <a:gridCol w="1152128">
                  <a:extLst>
                    <a:ext uri="{9D8B030D-6E8A-4147-A177-3AD203B41FA5}">
                      <a16:colId xmlns:a16="http://schemas.microsoft.com/office/drawing/2014/main" val="20002"/>
                    </a:ext>
                  </a:extLst>
                </a:gridCol>
                <a:gridCol w="1152128">
                  <a:extLst>
                    <a:ext uri="{9D8B030D-6E8A-4147-A177-3AD203B41FA5}">
                      <a16:colId xmlns:a16="http://schemas.microsoft.com/office/drawing/2014/main" val="20003"/>
                    </a:ext>
                  </a:extLst>
                </a:gridCol>
                <a:gridCol w="1152128">
                  <a:extLst>
                    <a:ext uri="{9D8B030D-6E8A-4147-A177-3AD203B41FA5}">
                      <a16:colId xmlns:a16="http://schemas.microsoft.com/office/drawing/2014/main" val="20004"/>
                    </a:ext>
                  </a:extLst>
                </a:gridCol>
              </a:tblGrid>
              <a:tr h="304800">
                <a:tc>
                  <a:txBody>
                    <a:bodyPr/>
                    <a:lstStyle/>
                    <a:p>
                      <a:pPr algn="ctr" rtl="0" fontAlgn="ctr"/>
                      <a:r>
                        <a:rPr lang="zh-CN" altLang="en-US" sz="1300" b="1" u="none" strike="noStrike" dirty="0">
                          <a:solidFill>
                            <a:schemeClr val="bg1"/>
                          </a:solidFill>
                          <a:effectLst/>
                          <a:latin typeface="黑体" pitchFamily="2" charset="-122"/>
                          <a:ea typeface="黑体" pitchFamily="2" charset="-122"/>
                        </a:rPr>
                        <a:t>项目名称</a:t>
                      </a:r>
                      <a:endParaRPr lang="zh-CN" altLang="en-US" sz="1300" b="1" i="0" u="none" strike="noStrike" dirty="0">
                        <a:solidFill>
                          <a:schemeClr val="bg1"/>
                        </a:solidFill>
                        <a:effectLst/>
                        <a:latin typeface="黑体" pitchFamily="2" charset="-122"/>
                        <a:ea typeface="黑体" pitchFamily="2" charset="-122"/>
                      </a:endParaRPr>
                    </a:p>
                  </a:txBody>
                  <a:tcPr marL="9525" marR="9525" marT="9525" marB="0" anchor="ctr">
                    <a:solidFill>
                      <a:schemeClr val="tx2">
                        <a:lumMod val="60000"/>
                        <a:lumOff val="40000"/>
                      </a:schemeClr>
                    </a:solidFill>
                  </a:tcPr>
                </a:tc>
                <a:tc>
                  <a:txBody>
                    <a:bodyPr/>
                    <a:lstStyle/>
                    <a:p>
                      <a:pPr algn="ctr" rtl="0" fontAlgn="ctr"/>
                      <a:r>
                        <a:rPr lang="zh-CN" altLang="en-US" sz="1300" b="1" u="none" strike="noStrike" dirty="0">
                          <a:solidFill>
                            <a:schemeClr val="bg1"/>
                          </a:solidFill>
                          <a:effectLst/>
                          <a:latin typeface="黑体" pitchFamily="2" charset="-122"/>
                          <a:ea typeface="黑体" pitchFamily="2" charset="-122"/>
                        </a:rPr>
                        <a:t>成交套数</a:t>
                      </a:r>
                      <a:endParaRPr lang="en-US" altLang="zh-CN" sz="1300" b="1" u="none" strike="noStrike" dirty="0">
                        <a:solidFill>
                          <a:schemeClr val="bg1"/>
                        </a:solidFill>
                        <a:effectLst/>
                        <a:latin typeface="黑体" pitchFamily="2" charset="-122"/>
                        <a:ea typeface="黑体" pitchFamily="2" charset="-122"/>
                      </a:endParaRPr>
                    </a:p>
                    <a:p>
                      <a:pPr marL="0" marR="0" indent="0" algn="ctr" defTabSz="457200" rtl="0" eaLnBrk="1" fontAlgn="ctr" latinLnBrk="0" hangingPunct="1">
                        <a:lnSpc>
                          <a:spcPct val="100000"/>
                        </a:lnSpc>
                        <a:spcBef>
                          <a:spcPts val="0"/>
                        </a:spcBef>
                        <a:spcAft>
                          <a:spcPts val="0"/>
                        </a:spcAft>
                        <a:buClrTx/>
                        <a:buSzTx/>
                        <a:buFontTx/>
                        <a:buNone/>
                        <a:tabLst/>
                        <a:defRPr/>
                      </a:pPr>
                      <a:r>
                        <a:rPr lang="zh-CN" altLang="en-US" sz="1300" b="1" u="none" strike="noStrike" dirty="0">
                          <a:solidFill>
                            <a:schemeClr val="bg1"/>
                          </a:solidFill>
                          <a:effectLst/>
                          <a:latin typeface="黑体" pitchFamily="2" charset="-122"/>
                          <a:ea typeface="黑体" pitchFamily="2" charset="-122"/>
                        </a:rPr>
                        <a:t>（套）↓</a:t>
                      </a:r>
                      <a:endParaRPr lang="zh-CN" altLang="en-US" sz="1300" b="1" i="0" u="none" strike="noStrike" dirty="0">
                        <a:solidFill>
                          <a:schemeClr val="bg1"/>
                        </a:solidFill>
                        <a:effectLst/>
                        <a:latin typeface="黑体" pitchFamily="2" charset="-122"/>
                        <a:ea typeface="黑体" pitchFamily="2" charset="-122"/>
                      </a:endParaRPr>
                    </a:p>
                  </a:txBody>
                  <a:tcPr marL="9525" marR="9525" marT="9525" marB="0" anchor="ctr">
                    <a:solidFill>
                      <a:schemeClr val="tx2">
                        <a:lumMod val="60000"/>
                        <a:lumOff val="40000"/>
                      </a:schemeClr>
                    </a:solidFill>
                  </a:tcPr>
                </a:tc>
                <a:tc>
                  <a:txBody>
                    <a:bodyPr/>
                    <a:lstStyle/>
                    <a:p>
                      <a:pPr algn="ctr" rtl="0" fontAlgn="ctr"/>
                      <a:r>
                        <a:rPr lang="zh-CN" altLang="en-US" sz="1300" b="1" u="none" strike="noStrike" dirty="0">
                          <a:solidFill>
                            <a:schemeClr val="bg1"/>
                          </a:solidFill>
                          <a:effectLst/>
                          <a:latin typeface="黑体" pitchFamily="2" charset="-122"/>
                          <a:ea typeface="黑体" pitchFamily="2" charset="-122"/>
                        </a:rPr>
                        <a:t>成交面积</a:t>
                      </a:r>
                      <a:endParaRPr lang="en-US" altLang="zh-CN" sz="1300" b="1" u="none" strike="noStrike" dirty="0">
                        <a:solidFill>
                          <a:schemeClr val="bg1"/>
                        </a:solidFill>
                        <a:effectLst/>
                        <a:latin typeface="黑体" pitchFamily="2" charset="-122"/>
                        <a:ea typeface="黑体" pitchFamily="2" charset="-122"/>
                      </a:endParaRPr>
                    </a:p>
                    <a:p>
                      <a:pPr algn="ctr" rtl="0" fontAlgn="ctr"/>
                      <a:r>
                        <a:rPr lang="zh-CN" altLang="en-US" sz="1300" b="1" u="none" strike="noStrike" dirty="0">
                          <a:solidFill>
                            <a:schemeClr val="bg1"/>
                          </a:solidFill>
                          <a:effectLst/>
                          <a:latin typeface="黑体" pitchFamily="2" charset="-122"/>
                          <a:ea typeface="黑体" pitchFamily="2" charset="-122"/>
                        </a:rPr>
                        <a:t>（万㎡）</a:t>
                      </a:r>
                      <a:endParaRPr lang="zh-CN" altLang="en-US" sz="1300" b="1" i="0" u="none" strike="noStrike" dirty="0">
                        <a:solidFill>
                          <a:schemeClr val="bg1"/>
                        </a:solidFill>
                        <a:effectLst/>
                        <a:latin typeface="黑体" pitchFamily="2" charset="-122"/>
                        <a:ea typeface="黑体" pitchFamily="2" charset="-122"/>
                      </a:endParaRPr>
                    </a:p>
                  </a:txBody>
                  <a:tcPr marL="9525" marR="9525" marT="9525" marB="0" anchor="ctr">
                    <a:solidFill>
                      <a:schemeClr val="tx2">
                        <a:lumMod val="60000"/>
                        <a:lumOff val="40000"/>
                      </a:schemeClr>
                    </a:solidFill>
                  </a:tcPr>
                </a:tc>
                <a:tc>
                  <a:txBody>
                    <a:bodyPr/>
                    <a:lstStyle/>
                    <a:p>
                      <a:pPr algn="ctr" rtl="0" fontAlgn="b"/>
                      <a:r>
                        <a:rPr lang="zh-CN" altLang="en-US" sz="1300" b="1" u="none" strike="noStrike" dirty="0">
                          <a:solidFill>
                            <a:schemeClr val="bg1"/>
                          </a:solidFill>
                          <a:effectLst/>
                          <a:latin typeface="黑体" pitchFamily="2" charset="-122"/>
                          <a:ea typeface="黑体" pitchFamily="2" charset="-122"/>
                        </a:rPr>
                        <a:t>成交单价</a:t>
                      </a:r>
                      <a:endParaRPr lang="en-US" altLang="zh-CN" sz="1300" b="1" u="none" strike="noStrike" dirty="0">
                        <a:solidFill>
                          <a:schemeClr val="bg1"/>
                        </a:solidFill>
                        <a:effectLst/>
                        <a:latin typeface="黑体" pitchFamily="2" charset="-122"/>
                        <a:ea typeface="黑体" pitchFamily="2" charset="-122"/>
                      </a:endParaRPr>
                    </a:p>
                    <a:p>
                      <a:pPr algn="ctr" rtl="0" fontAlgn="b"/>
                      <a:r>
                        <a:rPr lang="zh-CN" altLang="en-US" sz="1300" b="1" u="none" strike="noStrike" dirty="0">
                          <a:solidFill>
                            <a:schemeClr val="bg1"/>
                          </a:solidFill>
                          <a:effectLst/>
                          <a:latin typeface="黑体" pitchFamily="2" charset="-122"/>
                          <a:ea typeface="黑体" pitchFamily="2" charset="-122"/>
                        </a:rPr>
                        <a:t>（元</a:t>
                      </a:r>
                      <a:r>
                        <a:rPr lang="en-US" altLang="zh-CN" sz="1300" b="1" u="none" strike="noStrike" dirty="0">
                          <a:solidFill>
                            <a:schemeClr val="bg1"/>
                          </a:solidFill>
                          <a:effectLst/>
                          <a:latin typeface="黑体" pitchFamily="2" charset="-122"/>
                          <a:ea typeface="黑体" pitchFamily="2" charset="-122"/>
                        </a:rPr>
                        <a:t>/㎡</a:t>
                      </a:r>
                      <a:r>
                        <a:rPr lang="zh-CN" altLang="en-US" sz="1300" b="1" u="none" strike="noStrike" dirty="0">
                          <a:solidFill>
                            <a:schemeClr val="bg1"/>
                          </a:solidFill>
                          <a:effectLst/>
                          <a:latin typeface="黑体" pitchFamily="2" charset="-122"/>
                          <a:ea typeface="黑体" pitchFamily="2" charset="-122"/>
                        </a:rPr>
                        <a:t>）</a:t>
                      </a:r>
                      <a:endParaRPr lang="zh-CN" altLang="en-US" sz="1300" b="1" i="0" u="none" strike="noStrike" dirty="0">
                        <a:solidFill>
                          <a:schemeClr val="bg1"/>
                        </a:solidFill>
                        <a:effectLst/>
                        <a:latin typeface="黑体" pitchFamily="2" charset="-122"/>
                        <a:ea typeface="黑体" pitchFamily="2" charset="-122"/>
                      </a:endParaRPr>
                    </a:p>
                  </a:txBody>
                  <a:tcPr marL="9525" marR="9525" marT="9525" marB="0" anchor="ctr">
                    <a:solidFill>
                      <a:schemeClr val="tx2">
                        <a:lumMod val="60000"/>
                        <a:lumOff val="40000"/>
                      </a:schemeClr>
                    </a:solidFill>
                  </a:tcPr>
                </a:tc>
                <a:tc>
                  <a:txBody>
                    <a:bodyPr/>
                    <a:lstStyle/>
                    <a:p>
                      <a:pPr algn="ctr" rtl="0" fontAlgn="b"/>
                      <a:r>
                        <a:rPr lang="zh-CN" altLang="en-US" sz="1300" b="1" u="none" strike="noStrike" dirty="0">
                          <a:solidFill>
                            <a:schemeClr val="bg1"/>
                          </a:solidFill>
                          <a:effectLst/>
                          <a:latin typeface="黑体" pitchFamily="2" charset="-122"/>
                          <a:ea typeface="黑体" pitchFamily="2" charset="-122"/>
                        </a:rPr>
                        <a:t>成交总额</a:t>
                      </a:r>
                      <a:endParaRPr lang="en-US" altLang="zh-CN" sz="1300" b="1" u="none" strike="noStrike" dirty="0">
                        <a:solidFill>
                          <a:schemeClr val="bg1"/>
                        </a:solidFill>
                        <a:effectLst/>
                        <a:latin typeface="黑体" pitchFamily="2" charset="-122"/>
                        <a:ea typeface="黑体" pitchFamily="2" charset="-122"/>
                      </a:endParaRPr>
                    </a:p>
                    <a:p>
                      <a:pPr algn="ctr" rtl="0" fontAlgn="b"/>
                      <a:r>
                        <a:rPr lang="zh-CN" altLang="en-US" sz="1300" b="1" u="none" strike="noStrike" dirty="0">
                          <a:solidFill>
                            <a:schemeClr val="bg1"/>
                          </a:solidFill>
                          <a:effectLst/>
                          <a:latin typeface="黑体" pitchFamily="2" charset="-122"/>
                          <a:ea typeface="黑体" pitchFamily="2" charset="-122"/>
                        </a:rPr>
                        <a:t>（亿元）</a:t>
                      </a:r>
                      <a:endParaRPr lang="zh-CN" altLang="en-US" sz="1300" b="1" i="0" u="none" strike="noStrike" dirty="0">
                        <a:solidFill>
                          <a:schemeClr val="bg1"/>
                        </a:solidFill>
                        <a:effectLst/>
                        <a:latin typeface="黑体" pitchFamily="2" charset="-122"/>
                        <a:ea typeface="黑体" pitchFamily="2" charset="-122"/>
                      </a:endParaRPr>
                    </a:p>
                  </a:txBody>
                  <a:tcPr marL="9525" marR="9525" marT="9525" marB="0" anchor="ctr">
                    <a:solidFill>
                      <a:schemeClr val="tx2">
                        <a:lumMod val="60000"/>
                        <a:lumOff val="40000"/>
                      </a:schemeClr>
                    </a:solidFill>
                  </a:tcPr>
                </a:tc>
                <a:extLst>
                  <a:ext uri="{0D108BD9-81ED-4DB2-BD59-A6C34878D82A}">
                    <a16:rowId xmlns:a16="http://schemas.microsoft.com/office/drawing/2014/main" val="10000"/>
                  </a:ext>
                </a:extLst>
              </a:tr>
              <a:tr h="208223">
                <a:tc>
                  <a:txBody>
                    <a:bodyPr/>
                    <a:lstStyle/>
                    <a:p>
                      <a:pPr algn="ctr" fontAlgn="ctr"/>
                      <a:r>
                        <a:rPr lang="zh-CN" altLang="en-US" sz="1300" b="0" i="0" u="none" strike="noStrike" kern="1200" dirty="0">
                          <a:solidFill>
                            <a:srgbClr val="000000"/>
                          </a:solidFill>
                          <a:effectLst/>
                          <a:latin typeface="黑体" pitchFamily="2" charset="-122"/>
                          <a:ea typeface="黑体" pitchFamily="2" charset="-122"/>
                          <a:cs typeface="+mn-cs"/>
                        </a:rPr>
                        <a:t>大运河孔雀城</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392</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5.58</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11983</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6.69 </a:t>
                      </a:r>
                    </a:p>
                  </a:txBody>
                  <a:tcPr marL="9525" marR="9525" marT="9525" marB="0" anchor="ctr">
                    <a:solidFill>
                      <a:schemeClr val="tx2">
                        <a:lumMod val="20000"/>
                        <a:lumOff val="80000"/>
                      </a:schemeClr>
                    </a:solidFill>
                  </a:tcPr>
                </a:tc>
                <a:extLst>
                  <a:ext uri="{0D108BD9-81ED-4DB2-BD59-A6C34878D82A}">
                    <a16:rowId xmlns:a16="http://schemas.microsoft.com/office/drawing/2014/main" val="10001"/>
                  </a:ext>
                </a:extLst>
              </a:tr>
              <a:tr h="17145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富力新城</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341</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3.34</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7630</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2.55 </a:t>
                      </a:r>
                    </a:p>
                  </a:txBody>
                  <a:tcPr marL="9525" marR="9525" marT="9525" marB="0" anchor="ctr">
                    <a:solidFill>
                      <a:schemeClr val="tx2">
                        <a:lumMod val="20000"/>
                        <a:lumOff val="80000"/>
                      </a:schemeClr>
                    </a:solidFill>
                  </a:tcPr>
                </a:tc>
                <a:extLst>
                  <a:ext uri="{0D108BD9-81ED-4DB2-BD59-A6C34878D82A}">
                    <a16:rowId xmlns:a16="http://schemas.microsoft.com/office/drawing/2014/main" val="10002"/>
                  </a:ext>
                </a:extLst>
              </a:tr>
              <a:tr h="171450">
                <a:tc>
                  <a:txBody>
                    <a:bodyPr/>
                    <a:lstStyle/>
                    <a:p>
                      <a:pPr algn="ctr" fontAlgn="ctr"/>
                      <a:r>
                        <a:rPr lang="zh-CN" altLang="en-US" sz="1300" b="0" i="0" u="none" strike="noStrike" kern="1200" dirty="0">
                          <a:solidFill>
                            <a:srgbClr val="000000"/>
                          </a:solidFill>
                          <a:effectLst/>
                          <a:latin typeface="黑体" pitchFamily="2" charset="-122"/>
                          <a:ea typeface="黑体" pitchFamily="2" charset="-122"/>
                          <a:cs typeface="+mn-cs"/>
                        </a:rPr>
                        <a:t>爱晚康城</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285</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2.59</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11566</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2.99 </a:t>
                      </a:r>
                    </a:p>
                  </a:txBody>
                  <a:tcPr marL="9525" marR="9525" marT="9525" marB="0" anchor="ctr">
                    <a:solidFill>
                      <a:schemeClr val="tx2">
                        <a:lumMod val="20000"/>
                        <a:lumOff val="80000"/>
                      </a:schemeClr>
                    </a:solidFill>
                  </a:tcPr>
                </a:tc>
                <a:extLst>
                  <a:ext uri="{0D108BD9-81ED-4DB2-BD59-A6C34878D82A}">
                    <a16:rowId xmlns:a16="http://schemas.microsoft.com/office/drawing/2014/main" val="10003"/>
                  </a:ext>
                </a:extLst>
              </a:tr>
              <a:tr h="17145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专家公寓</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168</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1.69</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8414</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1.42 </a:t>
                      </a:r>
                    </a:p>
                  </a:txBody>
                  <a:tcPr marL="9525" marR="9525" marT="9525" marB="0" anchor="ctr">
                    <a:solidFill>
                      <a:schemeClr val="tx2">
                        <a:lumMod val="20000"/>
                        <a:lumOff val="80000"/>
                      </a:schemeClr>
                    </a:solidFill>
                  </a:tcPr>
                </a:tc>
                <a:extLst>
                  <a:ext uri="{0D108BD9-81ED-4DB2-BD59-A6C34878D82A}">
                    <a16:rowId xmlns:a16="http://schemas.microsoft.com/office/drawing/2014/main" val="10004"/>
                  </a:ext>
                </a:extLst>
              </a:tr>
              <a:tr h="17145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尚乘华府</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118</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1.06</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9321</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0.99 </a:t>
                      </a:r>
                    </a:p>
                  </a:txBody>
                  <a:tcPr marL="9525" marR="9525" marT="9525" marB="0" anchor="ctr">
                    <a:solidFill>
                      <a:schemeClr val="tx2">
                        <a:lumMod val="20000"/>
                        <a:lumOff val="80000"/>
                      </a:schemeClr>
                    </a:solidFill>
                  </a:tcPr>
                </a:tc>
                <a:extLst>
                  <a:ext uri="{0D108BD9-81ED-4DB2-BD59-A6C34878D82A}">
                    <a16:rowId xmlns:a16="http://schemas.microsoft.com/office/drawing/2014/main" val="10005"/>
                  </a:ext>
                </a:extLst>
              </a:tr>
              <a:tr h="17145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运河国际生态城</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92</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1.48</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9264</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1.37 </a:t>
                      </a:r>
                    </a:p>
                  </a:txBody>
                  <a:tcPr marL="9525" marR="9525" marT="9525" marB="0" anchor="ctr">
                    <a:solidFill>
                      <a:schemeClr val="tx2">
                        <a:lumMod val="20000"/>
                        <a:lumOff val="80000"/>
                      </a:schemeClr>
                    </a:solidFill>
                  </a:tcPr>
                </a:tc>
                <a:extLst>
                  <a:ext uri="{0D108BD9-81ED-4DB2-BD59-A6C34878D82A}">
                    <a16:rowId xmlns:a16="http://schemas.microsoft.com/office/drawing/2014/main" val="10006"/>
                  </a:ext>
                </a:extLst>
              </a:tr>
              <a:tr h="17145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新世界名苑</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49</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0.41</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8525</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0.35 </a:t>
                      </a:r>
                    </a:p>
                  </a:txBody>
                  <a:tcPr marL="9525" marR="9525" marT="9525" marB="0" anchor="ctr">
                    <a:solidFill>
                      <a:schemeClr val="tx2">
                        <a:lumMod val="20000"/>
                        <a:lumOff val="80000"/>
                      </a:schemeClr>
                    </a:solidFill>
                  </a:tcPr>
                </a:tc>
                <a:extLst>
                  <a:ext uri="{0D108BD9-81ED-4DB2-BD59-A6C34878D82A}">
                    <a16:rowId xmlns:a16="http://schemas.microsoft.com/office/drawing/2014/main" val="10007"/>
                  </a:ext>
                </a:extLst>
              </a:tr>
              <a:tr h="17145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龙胜四季城（燕都鑫城）</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45</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0.44</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9013</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0.40 </a:t>
                      </a:r>
                    </a:p>
                  </a:txBody>
                  <a:tcPr marL="9525" marR="9525" marT="9525" marB="0" anchor="ctr">
                    <a:solidFill>
                      <a:schemeClr val="tx2">
                        <a:lumMod val="20000"/>
                        <a:lumOff val="80000"/>
                      </a:schemeClr>
                    </a:solidFill>
                  </a:tcPr>
                </a:tc>
                <a:extLst>
                  <a:ext uri="{0D108BD9-81ED-4DB2-BD59-A6C34878D82A}">
                    <a16:rowId xmlns:a16="http://schemas.microsoft.com/office/drawing/2014/main" val="10008"/>
                  </a:ext>
                </a:extLst>
              </a:tr>
              <a:tr h="17145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天悦小区</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40</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0.41</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7757</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0.32 </a:t>
                      </a:r>
                    </a:p>
                  </a:txBody>
                  <a:tcPr marL="9525" marR="9525" marT="9525" marB="0" anchor="ctr">
                    <a:solidFill>
                      <a:schemeClr val="tx2">
                        <a:lumMod val="20000"/>
                        <a:lumOff val="80000"/>
                      </a:schemeClr>
                    </a:solidFill>
                  </a:tcPr>
                </a:tc>
                <a:extLst>
                  <a:ext uri="{0D108BD9-81ED-4DB2-BD59-A6C34878D82A}">
                    <a16:rowId xmlns:a16="http://schemas.microsoft.com/office/drawing/2014/main" val="10009"/>
                  </a:ext>
                </a:extLst>
              </a:tr>
              <a:tr h="171450">
                <a:tc>
                  <a:txBody>
                    <a:bodyPr/>
                    <a:lstStyle/>
                    <a:p>
                      <a:pPr algn="ctr" fontAlgn="ctr"/>
                      <a:r>
                        <a:rPr lang="zh-CN" altLang="en-US" sz="1300" b="0" i="0" u="none" strike="noStrike" kern="1200" dirty="0">
                          <a:solidFill>
                            <a:srgbClr val="000000"/>
                          </a:solidFill>
                          <a:effectLst/>
                          <a:latin typeface="黑体" pitchFamily="2" charset="-122"/>
                          <a:ea typeface="黑体" pitchFamily="2" charset="-122"/>
                          <a:cs typeface="+mn-cs"/>
                        </a:rPr>
                        <a:t>北京自在城</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34</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0.31</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9624</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0.30 </a:t>
                      </a:r>
                    </a:p>
                  </a:txBody>
                  <a:tcPr marL="9525" marR="9525" marT="9525" marB="0" anchor="ctr">
                    <a:solidFill>
                      <a:schemeClr val="tx2">
                        <a:lumMod val="20000"/>
                        <a:lumOff val="80000"/>
                      </a:schemeClr>
                    </a:solidFill>
                  </a:tcPr>
                </a:tc>
                <a:extLst>
                  <a:ext uri="{0D108BD9-81ED-4DB2-BD59-A6C34878D82A}">
                    <a16:rowId xmlns:a16="http://schemas.microsoft.com/office/drawing/2014/main" val="10010"/>
                  </a:ext>
                </a:extLst>
              </a:tr>
            </a:tbl>
          </a:graphicData>
        </a:graphic>
      </p:graphicFrame>
      <p:graphicFrame>
        <p:nvGraphicFramePr>
          <p:cNvPr id="8" name="表格 7"/>
          <p:cNvGraphicFramePr>
            <a:graphicFrameLocks noGrp="1"/>
          </p:cNvGraphicFramePr>
          <p:nvPr>
            <p:extLst>
              <p:ext uri="{D42A27DB-BD31-4B8C-83A1-F6EECF244321}">
                <p14:modId xmlns:p14="http://schemas.microsoft.com/office/powerpoint/2010/main" val="2658948721"/>
              </p:ext>
            </p:extLst>
          </p:nvPr>
        </p:nvGraphicFramePr>
        <p:xfrm>
          <a:off x="1536857" y="4024706"/>
          <a:ext cx="6175827" cy="2482793"/>
        </p:xfrm>
        <a:graphic>
          <a:graphicData uri="http://schemas.openxmlformats.org/drawingml/2006/table">
            <a:tbl>
              <a:tblPr>
                <a:tableStyleId>{5C22544A-7EE6-4342-B048-85BDC9FD1C3A}</a:tableStyleId>
              </a:tblPr>
              <a:tblGrid>
                <a:gridCol w="1777843">
                  <a:extLst>
                    <a:ext uri="{9D8B030D-6E8A-4147-A177-3AD203B41FA5}">
                      <a16:colId xmlns:a16="http://schemas.microsoft.com/office/drawing/2014/main" val="20000"/>
                    </a:ext>
                  </a:extLst>
                </a:gridCol>
                <a:gridCol w="941600">
                  <a:extLst>
                    <a:ext uri="{9D8B030D-6E8A-4147-A177-3AD203B41FA5}">
                      <a16:colId xmlns:a16="http://schemas.microsoft.com/office/drawing/2014/main" val="20001"/>
                    </a:ext>
                  </a:extLst>
                </a:gridCol>
                <a:gridCol w="1152128">
                  <a:extLst>
                    <a:ext uri="{9D8B030D-6E8A-4147-A177-3AD203B41FA5}">
                      <a16:colId xmlns:a16="http://schemas.microsoft.com/office/drawing/2014/main" val="20002"/>
                    </a:ext>
                  </a:extLst>
                </a:gridCol>
                <a:gridCol w="1152128">
                  <a:extLst>
                    <a:ext uri="{9D8B030D-6E8A-4147-A177-3AD203B41FA5}">
                      <a16:colId xmlns:a16="http://schemas.microsoft.com/office/drawing/2014/main" val="20003"/>
                    </a:ext>
                  </a:extLst>
                </a:gridCol>
                <a:gridCol w="1152128">
                  <a:extLst>
                    <a:ext uri="{9D8B030D-6E8A-4147-A177-3AD203B41FA5}">
                      <a16:colId xmlns:a16="http://schemas.microsoft.com/office/drawing/2014/main" val="20004"/>
                    </a:ext>
                  </a:extLst>
                </a:gridCol>
              </a:tblGrid>
              <a:tr h="304800">
                <a:tc>
                  <a:txBody>
                    <a:bodyPr/>
                    <a:lstStyle/>
                    <a:p>
                      <a:pPr algn="ctr" rtl="0" fontAlgn="ctr"/>
                      <a:r>
                        <a:rPr lang="zh-CN" altLang="en-US" sz="1300" b="1" u="none" strike="noStrike" dirty="0">
                          <a:solidFill>
                            <a:schemeClr val="bg1"/>
                          </a:solidFill>
                          <a:effectLst/>
                          <a:latin typeface="黑体" pitchFamily="2" charset="-122"/>
                          <a:ea typeface="黑体" pitchFamily="2" charset="-122"/>
                        </a:rPr>
                        <a:t>项目名称</a:t>
                      </a:r>
                      <a:endParaRPr lang="zh-CN" altLang="en-US" sz="1300" b="1" i="0" u="none" strike="noStrike" dirty="0">
                        <a:solidFill>
                          <a:schemeClr val="bg1"/>
                        </a:solidFill>
                        <a:effectLst/>
                        <a:latin typeface="黑体" pitchFamily="2" charset="-122"/>
                        <a:ea typeface="黑体" pitchFamily="2" charset="-122"/>
                      </a:endParaRPr>
                    </a:p>
                  </a:txBody>
                  <a:tcPr marL="9525" marR="9525" marT="9525" marB="0" anchor="ctr">
                    <a:solidFill>
                      <a:schemeClr val="tx2">
                        <a:lumMod val="60000"/>
                        <a:lumOff val="40000"/>
                      </a:schemeClr>
                    </a:solidFill>
                  </a:tcPr>
                </a:tc>
                <a:tc>
                  <a:txBody>
                    <a:bodyPr/>
                    <a:lstStyle/>
                    <a:p>
                      <a:pPr algn="ctr" rtl="0" fontAlgn="ctr"/>
                      <a:r>
                        <a:rPr lang="zh-CN" altLang="en-US" sz="1300" b="1" u="none" strike="noStrike" dirty="0">
                          <a:solidFill>
                            <a:schemeClr val="bg1"/>
                          </a:solidFill>
                          <a:effectLst/>
                          <a:latin typeface="黑体" pitchFamily="2" charset="-122"/>
                          <a:ea typeface="黑体" pitchFamily="2" charset="-122"/>
                        </a:rPr>
                        <a:t>成交套数</a:t>
                      </a:r>
                      <a:endParaRPr lang="en-US" altLang="zh-CN" sz="1300" b="1" u="none" strike="noStrike" dirty="0">
                        <a:solidFill>
                          <a:schemeClr val="bg1"/>
                        </a:solidFill>
                        <a:effectLst/>
                        <a:latin typeface="黑体" pitchFamily="2" charset="-122"/>
                        <a:ea typeface="黑体" pitchFamily="2" charset="-122"/>
                      </a:endParaRPr>
                    </a:p>
                    <a:p>
                      <a:pPr marL="0" marR="0" indent="0" algn="ctr" defTabSz="457200" rtl="0" eaLnBrk="1" fontAlgn="ctr" latinLnBrk="0" hangingPunct="1">
                        <a:lnSpc>
                          <a:spcPct val="100000"/>
                        </a:lnSpc>
                        <a:spcBef>
                          <a:spcPts val="0"/>
                        </a:spcBef>
                        <a:spcAft>
                          <a:spcPts val="0"/>
                        </a:spcAft>
                        <a:buClrTx/>
                        <a:buSzTx/>
                        <a:buFontTx/>
                        <a:buNone/>
                        <a:tabLst/>
                        <a:defRPr/>
                      </a:pPr>
                      <a:r>
                        <a:rPr lang="zh-CN" altLang="en-US" sz="1300" b="1" u="none" strike="noStrike" dirty="0">
                          <a:solidFill>
                            <a:schemeClr val="bg1"/>
                          </a:solidFill>
                          <a:effectLst/>
                          <a:latin typeface="黑体" pitchFamily="2" charset="-122"/>
                          <a:ea typeface="黑体" pitchFamily="2" charset="-122"/>
                        </a:rPr>
                        <a:t>（套）↓</a:t>
                      </a:r>
                      <a:endParaRPr lang="zh-CN" altLang="en-US" sz="1300" b="1" i="0" u="none" strike="noStrike" dirty="0">
                        <a:solidFill>
                          <a:schemeClr val="bg1"/>
                        </a:solidFill>
                        <a:effectLst/>
                        <a:latin typeface="黑体" pitchFamily="2" charset="-122"/>
                        <a:ea typeface="黑体" pitchFamily="2" charset="-122"/>
                      </a:endParaRPr>
                    </a:p>
                  </a:txBody>
                  <a:tcPr marL="9525" marR="9525" marT="9525" marB="0" anchor="ctr">
                    <a:solidFill>
                      <a:schemeClr val="tx2">
                        <a:lumMod val="60000"/>
                        <a:lumOff val="40000"/>
                      </a:schemeClr>
                    </a:solidFill>
                  </a:tcPr>
                </a:tc>
                <a:tc>
                  <a:txBody>
                    <a:bodyPr/>
                    <a:lstStyle/>
                    <a:p>
                      <a:pPr algn="ctr" rtl="0" fontAlgn="ctr"/>
                      <a:r>
                        <a:rPr lang="zh-CN" altLang="en-US" sz="1300" b="1" u="none" strike="noStrike" dirty="0">
                          <a:solidFill>
                            <a:schemeClr val="bg1"/>
                          </a:solidFill>
                          <a:effectLst/>
                          <a:latin typeface="黑体" pitchFamily="2" charset="-122"/>
                          <a:ea typeface="黑体" pitchFamily="2" charset="-122"/>
                        </a:rPr>
                        <a:t>成交面积</a:t>
                      </a:r>
                      <a:endParaRPr lang="en-US" altLang="zh-CN" sz="1300" b="1" u="none" strike="noStrike" dirty="0">
                        <a:solidFill>
                          <a:schemeClr val="bg1"/>
                        </a:solidFill>
                        <a:effectLst/>
                        <a:latin typeface="黑体" pitchFamily="2" charset="-122"/>
                        <a:ea typeface="黑体" pitchFamily="2" charset="-122"/>
                      </a:endParaRPr>
                    </a:p>
                    <a:p>
                      <a:pPr algn="ctr" rtl="0" fontAlgn="ctr"/>
                      <a:r>
                        <a:rPr lang="zh-CN" altLang="en-US" sz="1300" b="1" u="none" strike="noStrike" dirty="0">
                          <a:solidFill>
                            <a:schemeClr val="bg1"/>
                          </a:solidFill>
                          <a:effectLst/>
                          <a:latin typeface="黑体" pitchFamily="2" charset="-122"/>
                          <a:ea typeface="黑体" pitchFamily="2" charset="-122"/>
                        </a:rPr>
                        <a:t>（万㎡）</a:t>
                      </a:r>
                      <a:endParaRPr lang="zh-CN" altLang="en-US" sz="1300" b="1" i="0" u="none" strike="noStrike" dirty="0">
                        <a:solidFill>
                          <a:schemeClr val="bg1"/>
                        </a:solidFill>
                        <a:effectLst/>
                        <a:latin typeface="黑体" pitchFamily="2" charset="-122"/>
                        <a:ea typeface="黑体" pitchFamily="2" charset="-122"/>
                      </a:endParaRPr>
                    </a:p>
                  </a:txBody>
                  <a:tcPr marL="9525" marR="9525" marT="9525" marB="0" anchor="ctr">
                    <a:solidFill>
                      <a:schemeClr val="tx2">
                        <a:lumMod val="60000"/>
                        <a:lumOff val="40000"/>
                      </a:schemeClr>
                    </a:solidFill>
                  </a:tcPr>
                </a:tc>
                <a:tc>
                  <a:txBody>
                    <a:bodyPr/>
                    <a:lstStyle/>
                    <a:p>
                      <a:pPr algn="ctr" rtl="0" fontAlgn="b"/>
                      <a:r>
                        <a:rPr lang="zh-CN" altLang="en-US" sz="1300" b="1" u="none" strike="noStrike" dirty="0">
                          <a:solidFill>
                            <a:schemeClr val="bg1"/>
                          </a:solidFill>
                          <a:effectLst/>
                          <a:latin typeface="黑体" pitchFamily="2" charset="-122"/>
                          <a:ea typeface="黑体" pitchFamily="2" charset="-122"/>
                        </a:rPr>
                        <a:t>成交单价</a:t>
                      </a:r>
                      <a:endParaRPr lang="en-US" altLang="zh-CN" sz="1300" b="1" u="none" strike="noStrike" dirty="0">
                        <a:solidFill>
                          <a:schemeClr val="bg1"/>
                        </a:solidFill>
                        <a:effectLst/>
                        <a:latin typeface="黑体" pitchFamily="2" charset="-122"/>
                        <a:ea typeface="黑体" pitchFamily="2" charset="-122"/>
                      </a:endParaRPr>
                    </a:p>
                    <a:p>
                      <a:pPr algn="ctr" rtl="0" fontAlgn="b"/>
                      <a:r>
                        <a:rPr lang="zh-CN" altLang="en-US" sz="1300" b="1" u="none" strike="noStrike" dirty="0">
                          <a:solidFill>
                            <a:schemeClr val="bg1"/>
                          </a:solidFill>
                          <a:effectLst/>
                          <a:latin typeface="黑体" pitchFamily="2" charset="-122"/>
                          <a:ea typeface="黑体" pitchFamily="2" charset="-122"/>
                        </a:rPr>
                        <a:t>（元</a:t>
                      </a:r>
                      <a:r>
                        <a:rPr lang="en-US" altLang="zh-CN" sz="1300" b="1" u="none" strike="noStrike" dirty="0">
                          <a:solidFill>
                            <a:schemeClr val="bg1"/>
                          </a:solidFill>
                          <a:effectLst/>
                          <a:latin typeface="黑体" pitchFamily="2" charset="-122"/>
                          <a:ea typeface="黑体" pitchFamily="2" charset="-122"/>
                        </a:rPr>
                        <a:t>/㎡</a:t>
                      </a:r>
                      <a:r>
                        <a:rPr lang="zh-CN" altLang="en-US" sz="1300" b="1" u="none" strike="noStrike" dirty="0">
                          <a:solidFill>
                            <a:schemeClr val="bg1"/>
                          </a:solidFill>
                          <a:effectLst/>
                          <a:latin typeface="黑体" pitchFamily="2" charset="-122"/>
                          <a:ea typeface="黑体" pitchFamily="2" charset="-122"/>
                        </a:rPr>
                        <a:t>）</a:t>
                      </a:r>
                      <a:endParaRPr lang="zh-CN" altLang="en-US" sz="1300" b="1" i="0" u="none" strike="noStrike" dirty="0">
                        <a:solidFill>
                          <a:schemeClr val="bg1"/>
                        </a:solidFill>
                        <a:effectLst/>
                        <a:latin typeface="黑体" pitchFamily="2" charset="-122"/>
                        <a:ea typeface="黑体" pitchFamily="2" charset="-122"/>
                      </a:endParaRPr>
                    </a:p>
                  </a:txBody>
                  <a:tcPr marL="9525" marR="9525" marT="9525" marB="0" anchor="ctr">
                    <a:solidFill>
                      <a:schemeClr val="tx2">
                        <a:lumMod val="60000"/>
                        <a:lumOff val="40000"/>
                      </a:schemeClr>
                    </a:solidFill>
                  </a:tcPr>
                </a:tc>
                <a:tc>
                  <a:txBody>
                    <a:bodyPr/>
                    <a:lstStyle/>
                    <a:p>
                      <a:pPr algn="ctr" rtl="0" fontAlgn="b"/>
                      <a:r>
                        <a:rPr lang="zh-CN" altLang="en-US" sz="1300" b="1" u="none" strike="noStrike" dirty="0">
                          <a:solidFill>
                            <a:schemeClr val="bg1"/>
                          </a:solidFill>
                          <a:effectLst/>
                          <a:latin typeface="黑体" pitchFamily="2" charset="-122"/>
                          <a:ea typeface="黑体" pitchFamily="2" charset="-122"/>
                        </a:rPr>
                        <a:t>成交总额</a:t>
                      </a:r>
                      <a:endParaRPr lang="en-US" altLang="zh-CN" sz="1300" b="1" u="none" strike="noStrike" dirty="0">
                        <a:solidFill>
                          <a:schemeClr val="bg1"/>
                        </a:solidFill>
                        <a:effectLst/>
                        <a:latin typeface="黑体" pitchFamily="2" charset="-122"/>
                        <a:ea typeface="黑体" pitchFamily="2" charset="-122"/>
                      </a:endParaRPr>
                    </a:p>
                    <a:p>
                      <a:pPr algn="ctr" rtl="0" fontAlgn="b"/>
                      <a:r>
                        <a:rPr lang="zh-CN" altLang="en-US" sz="1300" b="1" u="none" strike="noStrike" dirty="0">
                          <a:solidFill>
                            <a:schemeClr val="bg1"/>
                          </a:solidFill>
                          <a:effectLst/>
                          <a:latin typeface="黑体" pitchFamily="2" charset="-122"/>
                          <a:ea typeface="黑体" pitchFamily="2" charset="-122"/>
                        </a:rPr>
                        <a:t>（亿元）</a:t>
                      </a:r>
                      <a:endParaRPr lang="zh-CN" altLang="en-US" sz="1300" b="1" i="0" u="none" strike="noStrike" dirty="0">
                        <a:solidFill>
                          <a:schemeClr val="bg1"/>
                        </a:solidFill>
                        <a:effectLst/>
                        <a:latin typeface="黑体" pitchFamily="2" charset="-122"/>
                        <a:ea typeface="黑体" pitchFamily="2" charset="-122"/>
                      </a:endParaRPr>
                    </a:p>
                  </a:txBody>
                  <a:tcPr marL="9525" marR="9525" marT="9525" marB="0" anchor="ctr">
                    <a:solidFill>
                      <a:schemeClr val="tx2">
                        <a:lumMod val="60000"/>
                        <a:lumOff val="40000"/>
                      </a:schemeClr>
                    </a:solidFill>
                  </a:tcPr>
                </a:tc>
                <a:extLst>
                  <a:ext uri="{0D108BD9-81ED-4DB2-BD59-A6C34878D82A}">
                    <a16:rowId xmlns:a16="http://schemas.microsoft.com/office/drawing/2014/main" val="10000"/>
                  </a:ext>
                </a:extLst>
              </a:tr>
              <a:tr h="208223">
                <a:tc>
                  <a:txBody>
                    <a:bodyPr/>
                    <a:lstStyle/>
                    <a:p>
                      <a:pPr algn="ctr" fontAlgn="ctr"/>
                      <a:r>
                        <a:rPr lang="zh-CN" altLang="en-US" sz="1300" b="0" i="0" u="none" strike="noStrike" kern="1200" dirty="0">
                          <a:solidFill>
                            <a:srgbClr val="000000"/>
                          </a:solidFill>
                          <a:effectLst/>
                          <a:latin typeface="黑体" pitchFamily="2" charset="-122"/>
                          <a:ea typeface="黑体" pitchFamily="2" charset="-122"/>
                          <a:cs typeface="+mn-cs"/>
                        </a:rPr>
                        <a:t>大运河孔雀城</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2121</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23.67</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8386</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19.85</a:t>
                      </a:r>
                    </a:p>
                  </a:txBody>
                  <a:tcPr marL="9525" marR="9525" marT="9525" marB="0" anchor="ctr">
                    <a:solidFill>
                      <a:schemeClr val="tx2">
                        <a:lumMod val="20000"/>
                        <a:lumOff val="80000"/>
                      </a:schemeClr>
                    </a:solidFill>
                  </a:tcPr>
                </a:tc>
                <a:extLst>
                  <a:ext uri="{0D108BD9-81ED-4DB2-BD59-A6C34878D82A}">
                    <a16:rowId xmlns:a16="http://schemas.microsoft.com/office/drawing/2014/main" val="10001"/>
                  </a:ext>
                </a:extLst>
              </a:tr>
              <a:tr h="17145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专家公寓</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735</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7.22</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7920</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5.72</a:t>
                      </a:r>
                    </a:p>
                  </a:txBody>
                  <a:tcPr marL="9525" marR="9525" marT="9525" marB="0" anchor="ctr">
                    <a:solidFill>
                      <a:schemeClr val="tx2">
                        <a:lumMod val="20000"/>
                        <a:lumOff val="80000"/>
                      </a:schemeClr>
                    </a:solidFill>
                  </a:tcPr>
                </a:tc>
                <a:extLst>
                  <a:ext uri="{0D108BD9-81ED-4DB2-BD59-A6C34878D82A}">
                    <a16:rowId xmlns:a16="http://schemas.microsoft.com/office/drawing/2014/main" val="10002"/>
                  </a:ext>
                </a:extLst>
              </a:tr>
              <a:tr h="17145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爱晚康城</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671</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8.29</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11473</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9.52</a:t>
                      </a:r>
                    </a:p>
                  </a:txBody>
                  <a:tcPr marL="9525" marR="9525" marT="9525" marB="0" anchor="ctr">
                    <a:solidFill>
                      <a:schemeClr val="tx2">
                        <a:lumMod val="20000"/>
                        <a:lumOff val="80000"/>
                      </a:schemeClr>
                    </a:solidFill>
                  </a:tcPr>
                </a:tc>
                <a:extLst>
                  <a:ext uri="{0D108BD9-81ED-4DB2-BD59-A6C34878D82A}">
                    <a16:rowId xmlns:a16="http://schemas.microsoft.com/office/drawing/2014/main" val="10003"/>
                  </a:ext>
                </a:extLst>
              </a:tr>
              <a:tr h="17145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新世界名苑</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638</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5.44</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8231</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4.48</a:t>
                      </a:r>
                    </a:p>
                  </a:txBody>
                  <a:tcPr marL="9525" marR="9525" marT="9525" marB="0" anchor="ctr">
                    <a:solidFill>
                      <a:schemeClr val="tx2">
                        <a:lumMod val="20000"/>
                        <a:lumOff val="80000"/>
                      </a:schemeClr>
                    </a:solidFill>
                  </a:tcPr>
                </a:tc>
                <a:extLst>
                  <a:ext uri="{0D108BD9-81ED-4DB2-BD59-A6C34878D82A}">
                    <a16:rowId xmlns:a16="http://schemas.microsoft.com/office/drawing/2014/main" val="10004"/>
                  </a:ext>
                </a:extLst>
              </a:tr>
              <a:tr h="17145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三田雍泓</a:t>
                      </a:r>
                      <a:r>
                        <a:rPr lang="en-US" altLang="zh-CN" sz="1300" b="0" i="0" u="none" strike="noStrike" kern="1200">
                          <a:solidFill>
                            <a:srgbClr val="000000"/>
                          </a:solidFill>
                          <a:effectLst/>
                          <a:latin typeface="黑体" pitchFamily="2" charset="-122"/>
                          <a:ea typeface="黑体" pitchFamily="2" charset="-122"/>
                          <a:cs typeface="+mn-cs"/>
                        </a:rPr>
                        <a:t>·</a:t>
                      </a:r>
                      <a:r>
                        <a:rPr lang="zh-CN" altLang="en-US" sz="1300" b="0" i="0" u="none" strike="noStrike" kern="1200">
                          <a:solidFill>
                            <a:srgbClr val="000000"/>
                          </a:solidFill>
                          <a:effectLst/>
                          <a:latin typeface="黑体" pitchFamily="2" charset="-122"/>
                          <a:ea typeface="黑体" pitchFamily="2" charset="-122"/>
                          <a:cs typeface="+mn-cs"/>
                        </a:rPr>
                        <a:t>青海城</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630</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7.12</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5931</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4.22</a:t>
                      </a:r>
                    </a:p>
                  </a:txBody>
                  <a:tcPr marL="9525" marR="9525" marT="9525" marB="0" anchor="ctr">
                    <a:solidFill>
                      <a:schemeClr val="tx2">
                        <a:lumMod val="20000"/>
                        <a:lumOff val="80000"/>
                      </a:schemeClr>
                    </a:solidFill>
                  </a:tcPr>
                </a:tc>
                <a:extLst>
                  <a:ext uri="{0D108BD9-81ED-4DB2-BD59-A6C34878D82A}">
                    <a16:rowId xmlns:a16="http://schemas.microsoft.com/office/drawing/2014/main" val="10005"/>
                  </a:ext>
                </a:extLst>
              </a:tr>
              <a:tr h="17145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珠光逸景</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519</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5.48</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7744</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4.24</a:t>
                      </a:r>
                    </a:p>
                  </a:txBody>
                  <a:tcPr marL="9525" marR="9525" marT="9525" marB="0" anchor="ctr">
                    <a:solidFill>
                      <a:schemeClr val="tx2">
                        <a:lumMod val="20000"/>
                        <a:lumOff val="80000"/>
                      </a:schemeClr>
                    </a:solidFill>
                  </a:tcPr>
                </a:tc>
                <a:extLst>
                  <a:ext uri="{0D108BD9-81ED-4DB2-BD59-A6C34878D82A}">
                    <a16:rowId xmlns:a16="http://schemas.microsoft.com/office/drawing/2014/main" val="10006"/>
                  </a:ext>
                </a:extLst>
              </a:tr>
              <a:tr h="17145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运河家园住宅小区</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513</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5.20</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8479</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4.41</a:t>
                      </a:r>
                    </a:p>
                  </a:txBody>
                  <a:tcPr marL="9525" marR="9525" marT="9525" marB="0" anchor="ctr">
                    <a:solidFill>
                      <a:schemeClr val="tx2">
                        <a:lumMod val="20000"/>
                        <a:lumOff val="80000"/>
                      </a:schemeClr>
                    </a:solidFill>
                  </a:tcPr>
                </a:tc>
                <a:extLst>
                  <a:ext uri="{0D108BD9-81ED-4DB2-BD59-A6C34878D82A}">
                    <a16:rowId xmlns:a16="http://schemas.microsoft.com/office/drawing/2014/main" val="10007"/>
                  </a:ext>
                </a:extLst>
              </a:tr>
              <a:tr h="17145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香公馆</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499</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4.31</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5367</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2.31</a:t>
                      </a:r>
                    </a:p>
                  </a:txBody>
                  <a:tcPr marL="9525" marR="9525" marT="9525" marB="0" anchor="ctr">
                    <a:solidFill>
                      <a:schemeClr val="tx2">
                        <a:lumMod val="20000"/>
                        <a:lumOff val="80000"/>
                      </a:schemeClr>
                    </a:solidFill>
                  </a:tcPr>
                </a:tc>
                <a:extLst>
                  <a:ext uri="{0D108BD9-81ED-4DB2-BD59-A6C34878D82A}">
                    <a16:rowId xmlns:a16="http://schemas.microsoft.com/office/drawing/2014/main" val="10008"/>
                  </a:ext>
                </a:extLst>
              </a:tr>
              <a:tr h="171450">
                <a:tc>
                  <a:txBody>
                    <a:bodyPr/>
                    <a:lstStyle/>
                    <a:p>
                      <a:pPr algn="ctr" fontAlgn="ctr"/>
                      <a:r>
                        <a:rPr lang="zh-CN" altLang="en-US" sz="1300" b="0" i="0" u="none" strike="noStrike" kern="1200">
                          <a:solidFill>
                            <a:srgbClr val="000000"/>
                          </a:solidFill>
                          <a:effectLst/>
                          <a:latin typeface="黑体" pitchFamily="2" charset="-122"/>
                          <a:ea typeface="黑体" pitchFamily="2" charset="-122"/>
                          <a:cs typeface="+mn-cs"/>
                        </a:rPr>
                        <a:t>荣盛白鹭岛</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435</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3.90</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a:solidFill>
                            <a:srgbClr val="000000"/>
                          </a:solidFill>
                          <a:effectLst/>
                          <a:latin typeface="黑体" pitchFamily="2" charset="-122"/>
                          <a:ea typeface="黑体" pitchFamily="2" charset="-122"/>
                          <a:cs typeface="+mn-cs"/>
                        </a:rPr>
                        <a:t>5953</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2.32</a:t>
                      </a:r>
                    </a:p>
                  </a:txBody>
                  <a:tcPr marL="9525" marR="9525" marT="9525" marB="0" anchor="ctr">
                    <a:solidFill>
                      <a:schemeClr val="tx2">
                        <a:lumMod val="20000"/>
                        <a:lumOff val="80000"/>
                      </a:schemeClr>
                    </a:solidFill>
                  </a:tcPr>
                </a:tc>
                <a:extLst>
                  <a:ext uri="{0D108BD9-81ED-4DB2-BD59-A6C34878D82A}">
                    <a16:rowId xmlns:a16="http://schemas.microsoft.com/office/drawing/2014/main" val="10009"/>
                  </a:ext>
                </a:extLst>
              </a:tr>
              <a:tr h="171450">
                <a:tc>
                  <a:txBody>
                    <a:bodyPr/>
                    <a:lstStyle/>
                    <a:p>
                      <a:pPr algn="ctr" fontAlgn="ctr"/>
                      <a:r>
                        <a:rPr lang="zh-CN" altLang="en-US" sz="1300" b="0" i="0" u="none" strike="noStrike" kern="1200" dirty="0">
                          <a:solidFill>
                            <a:srgbClr val="000000"/>
                          </a:solidFill>
                          <a:effectLst/>
                          <a:latin typeface="黑体" pitchFamily="2" charset="-122"/>
                          <a:ea typeface="黑体" pitchFamily="2" charset="-122"/>
                          <a:cs typeface="+mn-cs"/>
                        </a:rPr>
                        <a:t>秀兰住宅小区</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431</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4.36</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7792</a:t>
                      </a:r>
                    </a:p>
                  </a:txBody>
                  <a:tcPr marL="9525" marR="9525" marT="9525" marB="0" anchor="ctr">
                    <a:solidFill>
                      <a:schemeClr val="tx2">
                        <a:lumMod val="20000"/>
                        <a:lumOff val="80000"/>
                      </a:schemeClr>
                    </a:solidFill>
                  </a:tcPr>
                </a:tc>
                <a:tc>
                  <a:txBody>
                    <a:bodyPr/>
                    <a:lstStyle/>
                    <a:p>
                      <a:pPr algn="ctr" fontAlgn="ctr"/>
                      <a:r>
                        <a:rPr lang="en-US" altLang="zh-CN" sz="1300" b="0" i="0" u="none" strike="noStrike" kern="1200" dirty="0">
                          <a:solidFill>
                            <a:srgbClr val="000000"/>
                          </a:solidFill>
                          <a:effectLst/>
                          <a:latin typeface="黑体" pitchFamily="2" charset="-122"/>
                          <a:ea typeface="黑体" pitchFamily="2" charset="-122"/>
                          <a:cs typeface="+mn-cs"/>
                        </a:rPr>
                        <a:t>3.40</a:t>
                      </a:r>
                    </a:p>
                  </a:txBody>
                  <a:tcPr marL="9525" marR="9525" marT="9525" marB="0" anchor="ctr">
                    <a:solidFill>
                      <a:schemeClr val="tx2">
                        <a:lumMod val="20000"/>
                        <a:lumOff val="80000"/>
                      </a:schemeClr>
                    </a:solidFill>
                  </a:tcPr>
                </a:tc>
                <a:extLst>
                  <a:ext uri="{0D108BD9-81ED-4DB2-BD59-A6C34878D82A}">
                    <a16:rowId xmlns:a16="http://schemas.microsoft.com/office/drawing/2014/main" val="10010"/>
                  </a:ext>
                </a:extLst>
              </a:tr>
            </a:tbl>
          </a:graphicData>
        </a:graphic>
      </p:graphicFrame>
      <p:sp>
        <p:nvSpPr>
          <p:cNvPr id="9" name="矩形 8"/>
          <p:cNvSpPr/>
          <p:nvPr/>
        </p:nvSpPr>
        <p:spPr>
          <a:xfrm>
            <a:off x="1536857" y="622446"/>
            <a:ext cx="2684518" cy="327546"/>
          </a:xfrm>
          <a:prstGeom prst="rect">
            <a:avLst/>
          </a:prstGeom>
          <a:solidFill>
            <a:schemeClr val="accent6">
              <a:lumMod val="75000"/>
              <a:alpha val="46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400" b="1" dirty="0">
                <a:latin typeface="微软雅黑" pitchFamily="34" charset="-122"/>
                <a:ea typeface="微软雅黑" pitchFamily="34" charset="-122"/>
              </a:rPr>
              <a:t>8</a:t>
            </a:r>
            <a:r>
              <a:rPr lang="zh-CN" altLang="en-US" sz="1400" b="1" dirty="0">
                <a:latin typeface="微软雅黑" pitchFamily="34" charset="-122"/>
                <a:ea typeface="微软雅黑" pitchFamily="34" charset="-122"/>
              </a:rPr>
              <a:t>月项目成交排行</a:t>
            </a:r>
            <a:r>
              <a:rPr lang="en-US" altLang="zh-CN" sz="1400" b="1" dirty="0">
                <a:latin typeface="微软雅黑" pitchFamily="34" charset="-122"/>
                <a:ea typeface="微软雅黑" pitchFamily="34" charset="-122"/>
              </a:rPr>
              <a:t>TOP10</a:t>
            </a:r>
            <a:endParaRPr lang="zh-CN" altLang="en-US" sz="1400" b="1" dirty="0">
              <a:latin typeface="微软雅黑" pitchFamily="34" charset="-122"/>
              <a:ea typeface="微软雅黑" pitchFamily="34" charset="-122"/>
            </a:endParaRPr>
          </a:p>
        </p:txBody>
      </p:sp>
      <p:sp>
        <p:nvSpPr>
          <p:cNvPr id="10" name="矩形 9"/>
          <p:cNvSpPr/>
          <p:nvPr/>
        </p:nvSpPr>
        <p:spPr>
          <a:xfrm>
            <a:off x="1536857" y="3643503"/>
            <a:ext cx="2684518" cy="327546"/>
          </a:xfrm>
          <a:prstGeom prst="rect">
            <a:avLst/>
          </a:prstGeom>
          <a:solidFill>
            <a:schemeClr val="accent6">
              <a:lumMod val="75000"/>
              <a:alpha val="46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400" b="1" dirty="0">
                <a:latin typeface="微软雅黑" pitchFamily="34" charset="-122"/>
                <a:ea typeface="微软雅黑" pitchFamily="34" charset="-122"/>
              </a:rPr>
              <a:t>1-8</a:t>
            </a:r>
            <a:r>
              <a:rPr lang="zh-CN" altLang="en-US" sz="1400" b="1" dirty="0">
                <a:latin typeface="微软雅黑" pitchFamily="34" charset="-122"/>
                <a:ea typeface="微软雅黑" pitchFamily="34" charset="-122"/>
              </a:rPr>
              <a:t>月项目成交排行</a:t>
            </a:r>
            <a:r>
              <a:rPr lang="en-US" altLang="zh-CN" sz="1400" b="1" dirty="0">
                <a:latin typeface="微软雅黑" pitchFamily="34" charset="-122"/>
                <a:ea typeface="微软雅黑" pitchFamily="34" charset="-122"/>
              </a:rPr>
              <a:t>TOP10</a:t>
            </a:r>
            <a:endParaRPr lang="zh-CN" altLang="en-US" sz="1400" b="1" dirty="0">
              <a:latin typeface="微软雅黑" pitchFamily="34" charset="-122"/>
              <a:ea typeface="微软雅黑" pitchFamily="34" charset="-122"/>
            </a:endParaRPr>
          </a:p>
        </p:txBody>
      </p:sp>
    </p:spTree>
    <p:extLst>
      <p:ext uri="{BB962C8B-B14F-4D97-AF65-F5344CB8AC3E}">
        <p14:creationId xmlns:p14="http://schemas.microsoft.com/office/powerpoint/2010/main" val="237976917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solidFill>
                  <a:schemeClr val="tx1">
                    <a:lumMod val="75000"/>
                    <a:lumOff val="25000"/>
                  </a:schemeClr>
                </a:solidFill>
              </a:rPr>
              <a:t>总结及预测</a:t>
            </a:r>
          </a:p>
        </p:txBody>
      </p:sp>
      <p:sp>
        <p:nvSpPr>
          <p:cNvPr id="4" name="灯片编号占位符 3"/>
          <p:cNvSpPr>
            <a:spLocks noGrp="1"/>
          </p:cNvSpPr>
          <p:nvPr>
            <p:ph type="sldNum" sz="quarter" idx="4"/>
          </p:nvPr>
        </p:nvSpPr>
        <p:spPr/>
        <p:txBody>
          <a:bodyPr/>
          <a:lstStyle/>
          <a:p>
            <a:pPr>
              <a:defRPr/>
            </a:pPr>
            <a:fld id="{3E8B6F27-EC4F-B34E-9F32-10CC92E9AB18}" type="slidenum">
              <a:rPr lang="zh-CN" altLang="en-US" smtClean="0"/>
              <a:pPr>
                <a:defRPr/>
              </a:pPr>
              <a:t>63</a:t>
            </a:fld>
            <a:endParaRPr lang="zh-CN" altLang="en-US" dirty="0"/>
          </a:p>
        </p:txBody>
      </p:sp>
      <p:sp>
        <p:nvSpPr>
          <p:cNvPr id="5" name="文本占位符 2"/>
          <p:cNvSpPr txBox="1">
            <a:spLocks/>
          </p:cNvSpPr>
          <p:nvPr/>
        </p:nvSpPr>
        <p:spPr>
          <a:xfrm>
            <a:off x="1157514" y="3310113"/>
            <a:ext cx="6767286" cy="2900187"/>
          </a:xfrm>
          <a:prstGeom prst="rect">
            <a:avLst/>
          </a:prstGeom>
        </p:spPr>
        <p:txBody>
          <a:bodyPr vert="horz"/>
          <a:lstStyle>
            <a:lvl1pPr marL="0" indent="0" algn="l" defTabSz="457200" rtl="0" eaLnBrk="1" latinLnBrk="0" hangingPunct="1">
              <a:spcBef>
                <a:spcPct val="20000"/>
              </a:spcBef>
              <a:buFont typeface="Arial"/>
              <a:buNone/>
              <a:defRPr sz="1600" kern="1200">
                <a:solidFill>
                  <a:schemeClr val="tx1">
                    <a:lumMod val="75000"/>
                    <a:lumOff val="25000"/>
                  </a:schemeClr>
                </a:solidFill>
                <a:latin typeface="Microsoft YaHei"/>
                <a:ea typeface="+mn-ea"/>
                <a:cs typeface="Microsoft YaHei"/>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nSpc>
                <a:spcPct val="125000"/>
              </a:lnSpc>
            </a:pPr>
            <a:r>
              <a:rPr lang="zh-CN" altLang="en-US" sz="2000" b="1" spc="100" dirty="0">
                <a:solidFill>
                  <a:srgbClr val="0062B3"/>
                </a:solidFill>
                <a:latin typeface="微软雅黑" pitchFamily="34" charset="-122"/>
                <a:ea typeface="微软雅黑" pitchFamily="34" charset="-122"/>
              </a:rPr>
              <a:t>未来趋势预测：</a:t>
            </a:r>
            <a:endParaRPr lang="en-US" altLang="zh-CN" spc="100" dirty="0">
              <a:solidFill>
                <a:schemeClr val="tx1"/>
              </a:solidFill>
              <a:latin typeface="微软雅黑" pitchFamily="34" charset="-122"/>
              <a:ea typeface="微软雅黑" pitchFamily="34" charset="-122"/>
            </a:endParaRPr>
          </a:p>
          <a:p>
            <a:pPr marL="285750" indent="-285750">
              <a:lnSpc>
                <a:spcPct val="125000"/>
              </a:lnSpc>
              <a:buFont typeface="Wingdings" pitchFamily="2" charset="2"/>
              <a:buChar char="l"/>
            </a:pPr>
            <a:r>
              <a:rPr lang="zh-CN" altLang="en-US" spc="100" dirty="0">
                <a:solidFill>
                  <a:schemeClr val="tx1"/>
                </a:solidFill>
                <a:latin typeface="微软雅黑" pitchFamily="34" charset="-122"/>
                <a:ea typeface="微软雅黑" pitchFamily="34" charset="-122"/>
              </a:rPr>
              <a:t>库存触底，惜售式房荒与缺地式房荒严重，未来新盘均大概率成为香饽饽</a:t>
            </a:r>
            <a:endParaRPr lang="en-US" altLang="zh-CN" spc="100" dirty="0">
              <a:solidFill>
                <a:schemeClr val="tx1"/>
              </a:solidFill>
              <a:latin typeface="微软雅黑" pitchFamily="34" charset="-122"/>
              <a:ea typeface="微软雅黑" pitchFamily="34" charset="-122"/>
            </a:endParaRPr>
          </a:p>
          <a:p>
            <a:pPr marL="285750" indent="-285750">
              <a:lnSpc>
                <a:spcPct val="125000"/>
              </a:lnSpc>
              <a:buFont typeface="Wingdings" pitchFamily="2" charset="2"/>
              <a:buChar char="l"/>
            </a:pPr>
            <a:r>
              <a:rPr lang="zh-CN" altLang="en-US" spc="100" dirty="0">
                <a:solidFill>
                  <a:schemeClr val="tx1"/>
                </a:solidFill>
                <a:latin typeface="微软雅黑" pitchFamily="34" charset="-122"/>
                <a:ea typeface="微软雅黑" pitchFamily="34" charset="-122"/>
              </a:rPr>
              <a:t>新机场、五轨、六高速带动环京发展，接纳北京外溢人口，为房价上涨提供环境</a:t>
            </a:r>
            <a:endParaRPr lang="en-US" altLang="zh-CN" spc="100" dirty="0">
              <a:solidFill>
                <a:schemeClr val="tx1"/>
              </a:solidFill>
              <a:latin typeface="微软雅黑" pitchFamily="34" charset="-122"/>
              <a:ea typeface="微软雅黑" pitchFamily="34" charset="-122"/>
            </a:endParaRPr>
          </a:p>
          <a:p>
            <a:pPr marL="285750" indent="-285750">
              <a:lnSpc>
                <a:spcPct val="125000"/>
              </a:lnSpc>
              <a:buFont typeface="Wingdings" pitchFamily="2" charset="2"/>
              <a:buChar char="l"/>
            </a:pPr>
            <a:r>
              <a:rPr lang="zh-CN" altLang="en-US" spc="100" dirty="0">
                <a:solidFill>
                  <a:schemeClr val="tx1"/>
                </a:solidFill>
                <a:latin typeface="微软雅黑" pitchFamily="34" charset="-122"/>
                <a:ea typeface="微软雅黑" pitchFamily="34" charset="-122"/>
              </a:rPr>
              <a:t>随着北京楼市调控政策的推出，渐次降温将成大概率事件，环京楼市购房者的预期心理也将与北京同步</a:t>
            </a:r>
            <a:endParaRPr lang="en-US" altLang="zh-CN" spc="100" dirty="0">
              <a:solidFill>
                <a:schemeClr val="tx1"/>
              </a:solidFill>
              <a:latin typeface="微软雅黑" pitchFamily="34" charset="-122"/>
              <a:ea typeface="微软雅黑" pitchFamily="34" charset="-122"/>
            </a:endParaRPr>
          </a:p>
          <a:p>
            <a:pPr marL="285750" indent="-285750">
              <a:lnSpc>
                <a:spcPct val="125000"/>
              </a:lnSpc>
              <a:buFont typeface="Wingdings" pitchFamily="2" charset="2"/>
              <a:buChar char="l"/>
            </a:pPr>
            <a:r>
              <a:rPr lang="zh-CN" altLang="en-US" spc="100" dirty="0">
                <a:solidFill>
                  <a:schemeClr val="tx1"/>
                </a:solidFill>
                <a:latin typeface="微软雅黑" pitchFamily="34" charset="-122"/>
                <a:ea typeface="微软雅黑" pitchFamily="34" charset="-122"/>
              </a:rPr>
              <a:t>受全国房地产市场调控影响，环京楼市政策或将随之收紧</a:t>
            </a:r>
            <a:endParaRPr lang="en-US" altLang="zh-CN" spc="100" dirty="0">
              <a:solidFill>
                <a:schemeClr val="tx1"/>
              </a:solidFill>
              <a:latin typeface="微软雅黑" pitchFamily="34" charset="-122"/>
              <a:ea typeface="微软雅黑" pitchFamily="34" charset="-122"/>
            </a:endParaRPr>
          </a:p>
        </p:txBody>
      </p:sp>
      <p:sp>
        <p:nvSpPr>
          <p:cNvPr id="6" name="文本占位符 2"/>
          <p:cNvSpPr>
            <a:spLocks noGrp="1"/>
          </p:cNvSpPr>
          <p:nvPr>
            <p:ph type="body" sz="quarter" idx="13"/>
          </p:nvPr>
        </p:nvSpPr>
        <p:spPr>
          <a:xfrm>
            <a:off x="1157514" y="1325328"/>
            <a:ext cx="7160986" cy="1714755"/>
          </a:xfrm>
        </p:spPr>
        <p:txBody>
          <a:bodyPr/>
          <a:lstStyle/>
          <a:p>
            <a:pPr>
              <a:lnSpc>
                <a:spcPct val="125000"/>
              </a:lnSpc>
            </a:pPr>
            <a:r>
              <a:rPr lang="zh-CN" altLang="en-US" sz="2000" b="1" spc="100" dirty="0">
                <a:solidFill>
                  <a:srgbClr val="0062B3"/>
                </a:solidFill>
                <a:latin typeface="微软雅黑" pitchFamily="34" charset="-122"/>
                <a:ea typeface="微软雅黑" pitchFamily="34" charset="-122"/>
              </a:rPr>
              <a:t>市场主要特征：</a:t>
            </a:r>
            <a:endParaRPr lang="en-US" altLang="zh-CN" sz="1800" b="1" spc="100" dirty="0">
              <a:solidFill>
                <a:srgbClr val="C00000"/>
              </a:solidFill>
              <a:latin typeface="微软雅黑" pitchFamily="34" charset="-122"/>
              <a:ea typeface="微软雅黑" pitchFamily="34" charset="-122"/>
            </a:endParaRPr>
          </a:p>
          <a:p>
            <a:pPr marL="285750" indent="-285750">
              <a:lnSpc>
                <a:spcPct val="125000"/>
              </a:lnSpc>
              <a:buFont typeface="Wingdings" pitchFamily="2" charset="2"/>
              <a:buChar char="l"/>
            </a:pPr>
            <a:r>
              <a:rPr lang="en-US" altLang="zh-CN" spc="100" dirty="0">
                <a:solidFill>
                  <a:schemeClr val="tx1"/>
                </a:solidFill>
                <a:latin typeface="微软雅黑" pitchFamily="34" charset="-122"/>
                <a:ea typeface="微软雅黑" pitchFamily="34" charset="-122"/>
              </a:rPr>
              <a:t>9</a:t>
            </a:r>
            <a:r>
              <a:rPr lang="zh-CN" altLang="en-US" spc="100" dirty="0">
                <a:solidFill>
                  <a:schemeClr val="tx1"/>
                </a:solidFill>
                <a:latin typeface="微软雅黑" pitchFamily="34" charset="-122"/>
                <a:ea typeface="微软雅黑" pitchFamily="34" charset="-122"/>
              </a:rPr>
              <a:t>月土地市场冷淡异常，多处</a:t>
            </a:r>
            <a:r>
              <a:rPr lang="zh-CN" altLang="en-US" dirty="0">
                <a:solidFill>
                  <a:schemeClr val="tx1"/>
                </a:solidFill>
                <a:latin typeface="微软雅黑" pitchFamily="34" charset="-122"/>
                <a:ea typeface="微软雅黑" pitchFamily="34" charset="-122"/>
              </a:rPr>
              <a:t>零供应及成交</a:t>
            </a:r>
            <a:endParaRPr lang="en-US" altLang="zh-CN" dirty="0">
              <a:solidFill>
                <a:schemeClr val="tx1"/>
              </a:solidFill>
              <a:latin typeface="微软雅黑" pitchFamily="34" charset="-122"/>
              <a:ea typeface="微软雅黑" pitchFamily="34" charset="-122"/>
            </a:endParaRPr>
          </a:p>
          <a:p>
            <a:pPr marL="285750" indent="-285750">
              <a:lnSpc>
                <a:spcPct val="125000"/>
              </a:lnSpc>
              <a:buFont typeface="Wingdings" pitchFamily="2" charset="2"/>
              <a:buChar char="l"/>
            </a:pPr>
            <a:r>
              <a:rPr lang="zh-CN" altLang="en-US" spc="100" dirty="0">
                <a:solidFill>
                  <a:schemeClr val="tx1"/>
                </a:solidFill>
                <a:latin typeface="微软雅黑" pitchFamily="34" charset="-122"/>
                <a:ea typeface="微软雅黑" pitchFamily="34" charset="-122"/>
              </a:rPr>
              <a:t>新建商品房存量已枯竭，去化周期持续回落，最低仅剩</a:t>
            </a:r>
            <a:r>
              <a:rPr lang="en-US" altLang="zh-CN" spc="100" dirty="0">
                <a:solidFill>
                  <a:schemeClr val="tx1"/>
                </a:solidFill>
                <a:latin typeface="微软雅黑" pitchFamily="34" charset="-122"/>
                <a:ea typeface="微软雅黑" pitchFamily="34" charset="-122"/>
              </a:rPr>
              <a:t>0.8</a:t>
            </a:r>
            <a:r>
              <a:rPr lang="zh-CN" altLang="en-US" spc="100" dirty="0">
                <a:solidFill>
                  <a:schemeClr val="tx1"/>
                </a:solidFill>
                <a:latin typeface="微软雅黑" pitchFamily="34" charset="-122"/>
                <a:ea typeface="微软雅黑" pitchFamily="34" charset="-122"/>
              </a:rPr>
              <a:t>个月</a:t>
            </a:r>
            <a:endParaRPr lang="en-US" altLang="zh-CN" spc="100" dirty="0">
              <a:solidFill>
                <a:schemeClr val="tx1"/>
              </a:solidFill>
              <a:latin typeface="微软雅黑" pitchFamily="34" charset="-122"/>
              <a:ea typeface="微软雅黑" pitchFamily="34" charset="-122"/>
            </a:endParaRPr>
          </a:p>
          <a:p>
            <a:pPr marL="285750" indent="-285750">
              <a:lnSpc>
                <a:spcPct val="125000"/>
              </a:lnSpc>
              <a:buFont typeface="Wingdings" pitchFamily="2" charset="2"/>
              <a:buChar char="l"/>
            </a:pPr>
            <a:r>
              <a:rPr lang="zh-CN" altLang="en-US" spc="100" dirty="0">
                <a:solidFill>
                  <a:schemeClr val="tx1"/>
                </a:solidFill>
                <a:latin typeface="微软雅黑" pitchFamily="34" charset="-122"/>
                <a:ea typeface="微软雅黑" pitchFamily="34" charset="-122"/>
              </a:rPr>
              <a:t>商品房市场均价仍在上涨，涨幅趋缓</a:t>
            </a:r>
            <a:endParaRPr lang="en-US" altLang="zh-CN" spc="100" dirty="0">
              <a:solidFill>
                <a:schemeClr val="tx1"/>
              </a:solidFill>
              <a:latin typeface="微软雅黑" pitchFamily="34" charset="-122"/>
              <a:ea typeface="微软雅黑" pitchFamily="34" charset="-122"/>
            </a:endParaRPr>
          </a:p>
        </p:txBody>
      </p:sp>
    </p:spTree>
    <p:extLst>
      <p:ext uri="{BB962C8B-B14F-4D97-AF65-F5344CB8AC3E}">
        <p14:creationId xmlns:p14="http://schemas.microsoft.com/office/powerpoint/2010/main" val="2104514067"/>
      </p:ext>
    </p:extLst>
  </p:cSld>
  <p:clrMapOvr>
    <a:masterClrMapping/>
  </p:clrMapOvr>
</p:sld>
</file>

<file path=ppt/theme/theme1.xml><?xml version="1.0" encoding="utf-8"?>
<a:theme xmlns:a="http://schemas.openxmlformats.org/drawingml/2006/main" name="业绩主题模版">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基本">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基本">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基本">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4.xml><?xml version="1.0" encoding="utf-8"?>
<a:themeOverride xmlns:a="http://schemas.openxmlformats.org/drawingml/2006/main">
  <a:clrScheme name="基本">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5.xml><?xml version="1.0" encoding="utf-8"?>
<a:themeOverride xmlns:a="http://schemas.openxmlformats.org/drawingml/2006/main">
  <a:clrScheme name="基本">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6.xml><?xml version="1.0" encoding="utf-8"?>
<a:themeOverride xmlns:a="http://schemas.openxmlformats.org/drawingml/2006/main">
  <a:clrScheme name="基本">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7.xml><?xml version="1.0" encoding="utf-8"?>
<a:themeOverride xmlns:a="http://schemas.openxmlformats.org/drawingml/2006/main">
  <a:clrScheme name="基本">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8.xml><?xml version="1.0" encoding="utf-8"?>
<a:themeOverride xmlns:a="http://schemas.openxmlformats.org/drawingml/2006/main">
  <a:clrScheme name="基本">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9.xml><?xml version="1.0" encoding="utf-8"?>
<a:themeOverride xmlns:a="http://schemas.openxmlformats.org/drawingml/2006/main">
  <a:clrScheme name="基本">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0.xml><?xml version="1.0" encoding="utf-8"?>
<a:themeOverride xmlns:a="http://schemas.openxmlformats.org/drawingml/2006/main">
  <a:clrScheme name="基本">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1.xml><?xml version="1.0" encoding="utf-8"?>
<a:themeOverride xmlns:a="http://schemas.openxmlformats.org/drawingml/2006/main">
  <a:clrScheme name="基本">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2.xml><?xml version="1.0" encoding="utf-8"?>
<a:themeOverride xmlns:a="http://schemas.openxmlformats.org/drawingml/2006/main">
  <a:clrScheme name="基本">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3.xml><?xml version="1.0" encoding="utf-8"?>
<a:themeOverride xmlns:a="http://schemas.openxmlformats.org/drawingml/2006/main">
  <a:clrScheme name="基本">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4.xml><?xml version="1.0" encoding="utf-8"?>
<a:themeOverride xmlns:a="http://schemas.openxmlformats.org/drawingml/2006/main">
  <a:clrScheme name="基本">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5.xml><?xml version="1.0" encoding="utf-8"?>
<a:themeOverride xmlns:a="http://schemas.openxmlformats.org/drawingml/2006/main">
  <a:clrScheme name="基本">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6.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7.xml><?xml version="1.0" encoding="utf-8"?>
<a:themeOverride xmlns:a="http://schemas.openxmlformats.org/drawingml/2006/main">
  <a:clrScheme name="基本">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8.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9.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0.xml><?xml version="1.0" encoding="utf-8"?>
<a:themeOverride xmlns:a="http://schemas.openxmlformats.org/drawingml/2006/main">
  <a:clrScheme name="基本">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1.xml><?xml version="1.0" encoding="utf-8"?>
<a:themeOverride xmlns:a="http://schemas.openxmlformats.org/drawingml/2006/main">
  <a:clrScheme name="基本">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2.xml><?xml version="1.0" encoding="utf-8"?>
<a:themeOverride xmlns:a="http://schemas.openxmlformats.org/drawingml/2006/main">
  <a:clrScheme name="基本">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4.xml><?xml version="1.0" encoding="utf-8"?>
<a:themeOverride xmlns:a="http://schemas.openxmlformats.org/drawingml/2006/main">
  <a:clrScheme name="基本">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6.xml><?xml version="1.0" encoding="utf-8"?>
<a:themeOverride xmlns:a="http://schemas.openxmlformats.org/drawingml/2006/main">
  <a:clrScheme name="基本">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otalTime>9731</TotalTime>
  <Words>8115</Words>
  <Application>Microsoft Office PowerPoint</Application>
  <PresentationFormat>全屏显示(4:3)</PresentationFormat>
  <Paragraphs>2381</Paragraphs>
  <Slides>63</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63</vt:i4>
      </vt:variant>
    </vt:vector>
  </HeadingPairs>
  <TitlesOfParts>
    <vt:vector size="72" baseType="lpstr">
      <vt:lpstr>Hei</vt:lpstr>
      <vt:lpstr>黑体</vt:lpstr>
      <vt:lpstr>宋体</vt:lpstr>
      <vt:lpstr>Microsoft YaHei</vt:lpstr>
      <vt:lpstr>Microsoft YaHei</vt:lpstr>
      <vt:lpstr>Arial</vt:lpstr>
      <vt:lpstr>Calibri</vt:lpstr>
      <vt:lpstr>Wingdings</vt:lpstr>
      <vt:lpstr>业绩主题模版</vt:lpstr>
      <vt:lpstr>2016年9月北京房地产市场分析</vt:lpstr>
      <vt:lpstr>PowerPoint 演示文稿</vt:lpstr>
      <vt:lpstr>政策面|调控政策密集出台，或将抑制房价上涨</vt:lpstr>
      <vt:lpstr>政策面|收紧楼市政策成趋势，南京频出调控政策</vt:lpstr>
      <vt:lpstr>政策面|国庆节“20城”调控政策纷纷出台</vt:lpstr>
      <vt:lpstr>政策面| 京“930”新政出台</vt:lpstr>
      <vt:lpstr>政策面|供求双向调节，促进市场平稳发展 </vt:lpstr>
      <vt:lpstr>市场面|全国市场面向好，价格上涨城市明显增多</vt:lpstr>
      <vt:lpstr>资金面|全国利率继续维持低位，银行收紧态势趋显</vt:lpstr>
      <vt:lpstr>PowerPoint 演示文稿</vt:lpstr>
      <vt:lpstr>一手房|“金九”供应激增，年内中小户型集中供应</vt:lpstr>
      <vt:lpstr>一手房|房山成新房供应主力区域</vt:lpstr>
      <vt:lpstr>一手房| 9月别墅供应翻两番，自住房零供应</vt:lpstr>
      <vt:lpstr>一手房| 成交热度提高，价格结构性上涨</vt:lpstr>
      <vt:lpstr>一手房|“国庆周”新房网签量优于去年同期，环比大幅下降</vt:lpstr>
      <vt:lpstr>一手房| 公寓交易量止跌为升，自住房则大跌</vt:lpstr>
      <vt:lpstr>一手房| 各业态均价环比均上扬，普通住宅价格逼近4万/平</vt:lpstr>
      <vt:lpstr>一手房|房山成今年新房主力军，大兴，通州，门头沟房价高企</vt:lpstr>
      <vt:lpstr>一手房|90㎡以下的成交占比持续走低，刚需群体逐渐脱离新房市场</vt:lpstr>
      <vt:lpstr>一手房| 新建住宅成交高端化，刚需产品交易量大幅下滑</vt:lpstr>
      <vt:lpstr>一手房| 成交项目TOP10</vt:lpstr>
      <vt:lpstr>一手房|企业销售金额排行榜</vt:lpstr>
      <vt:lpstr>一手房| 存量继续下滑，公寓存量降幅领跑</vt:lpstr>
      <vt:lpstr>一手房| 公寓去化持续加速，去化时间仅为7个月</vt:lpstr>
      <vt:lpstr>PowerPoint 演示文稿</vt:lpstr>
      <vt:lpstr>PowerPoint 演示文稿</vt:lpstr>
      <vt:lpstr>PowerPoint 演示文稿</vt:lpstr>
      <vt:lpstr>PowerPoint 演示文稿</vt:lpstr>
      <vt:lpstr>PowerPoint 演示文稿</vt:lpstr>
      <vt:lpstr>土地市场| 迎来集中供应，海淀占4宗</vt:lpstr>
      <vt:lpstr>土地市场| 断顿两月迎成交，房山商业地块出让遇冷</vt:lpstr>
      <vt:lpstr>楼市预判|短期回归理性，中期看央行政策</vt:lpstr>
      <vt:lpstr>PowerPoint 演示文稿</vt:lpstr>
      <vt:lpstr>PowerPoint 演示文稿</vt:lpstr>
      <vt:lpstr>石家庄（主城区）| 土地市场</vt:lpstr>
      <vt:lpstr>石家庄（主城区）| 土地市场</vt:lpstr>
      <vt:lpstr>石家庄（主城区）| 普通住宅市场</vt:lpstr>
      <vt:lpstr>石家庄（主城区）| 普通住宅市场</vt:lpstr>
      <vt:lpstr>PowerPoint 演示文稿</vt:lpstr>
      <vt:lpstr>PowerPoint 演示文稿</vt:lpstr>
      <vt:lpstr>PowerPoint 演示文稿</vt:lpstr>
      <vt:lpstr>廊坊（安次+广阳）| 土地市场</vt:lpstr>
      <vt:lpstr>廊坊（安次+广阳）| 商品房市场</vt:lpstr>
      <vt:lpstr>廊坊（安次+广阳）| 商品住宅市场</vt:lpstr>
      <vt:lpstr>廊坊（安次+广阳）| 办公、商业市场</vt:lpstr>
      <vt:lpstr>廊坊（安次+广阳）| 项目预售情况</vt:lpstr>
      <vt:lpstr>廊坊（安次+广阳）| 项目成交情况</vt:lpstr>
      <vt:lpstr>燕郊| 土地市场</vt:lpstr>
      <vt:lpstr>燕郊| 商品房市场</vt:lpstr>
      <vt:lpstr>燕郊| 商品住宅市场</vt:lpstr>
      <vt:lpstr>燕郊| 项目预售情况</vt:lpstr>
      <vt:lpstr>燕郊| 项目成交情况</vt:lpstr>
      <vt:lpstr>固安| 土地市场</vt:lpstr>
      <vt:lpstr>固安| 商品房市场</vt:lpstr>
      <vt:lpstr>固安| 商品住宅市场</vt:lpstr>
      <vt:lpstr>固安| 项目预售情况</vt:lpstr>
      <vt:lpstr>固安| 项目成交情况</vt:lpstr>
      <vt:lpstr>香河| 土地市场</vt:lpstr>
      <vt:lpstr>香河| 商品房市场</vt:lpstr>
      <vt:lpstr>香河| 商品住宅市场</vt:lpstr>
      <vt:lpstr>香河| 项目预售情况</vt:lpstr>
      <vt:lpstr>香河| 项目成交情况</vt:lpstr>
      <vt:lpstr>总结及预测</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2014主题年模板</dc:title>
  <dc:creator>顾捷</dc:creator>
  <cp:lastModifiedBy>liu</cp:lastModifiedBy>
  <cp:revision>602</cp:revision>
  <dcterms:created xsi:type="dcterms:W3CDTF">2014-01-07T07:51:55Z</dcterms:created>
  <dcterms:modified xsi:type="dcterms:W3CDTF">2016-10-11T03:54:46Z</dcterms:modified>
</cp:coreProperties>
</file>